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3" r:id="rId4"/>
    <p:sldMasterId id="2147484129" r:id="rId5"/>
    <p:sldMasterId id="2147484074" r:id="rId6"/>
    <p:sldMasterId id="2147484209" r:id="rId7"/>
  </p:sldMasterIdLst>
  <p:notesMasterIdLst>
    <p:notesMasterId r:id="rId75"/>
  </p:notesMasterIdLst>
  <p:handoutMasterIdLst>
    <p:handoutMasterId r:id="rId76"/>
  </p:handoutMasterIdLst>
  <p:sldIdLst>
    <p:sldId id="316" r:id="rId25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Template Slides" id="{FBB67E76-04FE-4302-A0D6-4AB89CA6987A}">
          <p14:sldIdLst>
            <p14:sldId id="1881839131"/>
            <p14:sldId id="1881839121"/>
            <p14:sldId id="1881839129"/>
            <p14:sldId id="325"/>
            <p14:sldId id="1881838994"/>
            <p14:sldId id="419"/>
            <p14:sldId id="1881839055"/>
            <p14:sldId id="1881839056"/>
            <p14:sldId id="1881839134"/>
            <p14:sldId id="1881839135"/>
            <p14:sldId id="1881839136"/>
            <p14:sldId id="1881839137"/>
            <p14:sldId id="1881839138"/>
            <p14:sldId id="1881839139"/>
            <p14:sldId id="1881839140"/>
            <p14:sldId id="1881839141"/>
            <p14:sldId id="1881839142"/>
            <p14:sldId id="316"/>
            <p14:sldId id="1881838956"/>
            <p14:sldId id="1881838957"/>
            <p14:sldId id="1881838958"/>
            <p14:sldId id="1881838959"/>
            <p14:sldId id="1881839067"/>
            <p14:sldId id="317"/>
            <p14:sldId id="339"/>
            <p14:sldId id="366"/>
            <p14:sldId id="1881838960"/>
            <p14:sldId id="1881838961"/>
            <p14:sldId id="1881838962"/>
            <p14:sldId id="1881839119"/>
          </p14:sldIdLst>
        </p14:section>
        <p14:section name="Large Content [LIGHT] Template Slides" id="{60133F68-BC6E-364E-AB06-1A31FE4C371A}">
          <p14:sldIdLst>
            <p14:sldId id="1881839030"/>
            <p14:sldId id="1881839132"/>
            <p14:sldId id="1881839063"/>
            <p14:sldId id="1881839064"/>
            <p14:sldId id="1881839034"/>
            <p14:sldId id="1881839035"/>
            <p14:sldId id="1881839036"/>
            <p14:sldId id="1881839037"/>
            <p14:sldId id="1881839038"/>
            <p14:sldId id="1881839039"/>
          </p14:sldIdLst>
        </p14:section>
        <p14:section name="Small Content [LIGHT] Template Slides" id="{3C17C418-23C7-B140-923C-583C4A9B2930}">
          <p14:sldIdLst>
            <p14:sldId id="1881839040"/>
            <p14:sldId id="1881839133"/>
            <p14:sldId id="1881839042"/>
            <p14:sldId id="1881839043"/>
            <p14:sldId id="1881839044"/>
            <p14:sldId id="1881839045"/>
            <p14:sldId id="1881839046"/>
            <p14:sldId id="1881839047"/>
            <p14:sldId id="1881839048"/>
            <p14:sldId id="1881839049"/>
            <p14:sldId id="1881839050"/>
            <p14:sldId id="1881839051"/>
            <p14:sldId id="1881839052"/>
            <p14:sldId id="1881839053"/>
          </p14:sldIdLst>
        </p14:section>
        <p14:section name="Data visualization" id="{99F1D1C2-26B7-4958-9918-92B928ADFD3B}">
          <p14:sldIdLst>
            <p14:sldId id="1881839092"/>
            <p14:sldId id="1881839095"/>
            <p14:sldId id="1881839091"/>
            <p14:sldId id="1881839107"/>
            <p14:sldId id="1881839096"/>
            <p14:sldId id="1881839093"/>
            <p14:sldId id="1881839099"/>
            <p14:sldId id="1881839081"/>
            <p14:sldId id="1881839100"/>
            <p14:sldId id="1881839101"/>
          </p14:sldIdLst>
        </p14:section>
        <p14:section name="Ending slides" id="{9627547A-2946-4DF2-82C7-3620E77F356D}">
          <p14:sldIdLst>
            <p14:sldId id="1881839130"/>
            <p14:sldId id="1881839104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D"/>
    <a:srgbClr val="F6F6FA"/>
    <a:srgbClr val="1A1A24"/>
    <a:srgbClr val="747480"/>
    <a:srgbClr val="32FFFF"/>
    <a:srgbClr val="FF00FF"/>
    <a:srgbClr val="C5FD45"/>
    <a:srgbClr val="80FBFD"/>
    <a:srgbClr val="FFE600"/>
    <a:srgbClr val="EB4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 snapToObjects="1" showGuides="1">
      <p:cViewPr varScale="1">
        <p:scale>
          <a:sx n="91" d="100"/>
          <a:sy n="91" d="100"/>
        </p:scale>
        <p:origin x="322" y="91"/>
      </p:cViewPr>
      <p:guideLst/>
    </p:cSldViewPr>
  </p:slideViewPr>
  <p:outlineViewPr>
    <p:cViewPr>
      <p:scale>
        <a:sx n="33" d="100"/>
        <a:sy n="33" d="100"/>
      </p:scale>
      <p:origin x="0" y="-11262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244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.xml"/><Relationship Id="rId75" Type="http://schemas.openxmlformats.org/officeDocument/2006/relationships/notesMaster" Target="notesMasters/notesMaster1.xml"/><Relationship Id="rId76" Type="http://schemas.openxmlformats.org/officeDocument/2006/relationships/handoutMaster" Target="handoutMasters/handoutMaster1.xml"/><Relationship Id="rId77" Type="http://schemas.openxmlformats.org/officeDocument/2006/relationships/commentAuthors" Target="commentAuthors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F46A4B97-00A5-44E7-B49F-659C8D90A0D8}" type="datetimeFigureOut">
              <a:rPr lang="en-GB" smtClean="0">
                <a:latin typeface="Arial" pitchFamily="34" charset="0"/>
              </a:rPr>
              <a:t>11/07/2026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509B038-C0E1-4257-A8F7-E83797F429AE}" type="datetimeFigureOut">
              <a:rPr lang="en-GB" smtClean="0"/>
              <a:t>11/07/2026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6" y="369888"/>
            <a:ext cx="11224800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3898BEC-6674-4B10-9A95-1B1E7C9060E3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F851C8EF-1338-D82C-0A79-D82F19A8A65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3827" y="1209871"/>
            <a:ext cx="112248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6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7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3469-5BB8-40A8-9B5D-6AD61965D7D9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82DA146A-5709-F447-3346-204EE5B815A7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348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6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A00A-665A-4303-A29D-1ED41821011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DBBCF896-27E0-C01F-F29F-E119A69C26B8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59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4839-9649-4B53-A3EA-AC773061780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59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C4898-07B2-4A34-B4C1-97EA83C388D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5E68C722-CAA8-3CF2-F9DD-E5B39ADB52BF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9FAE36C1-9D06-0B3F-8C2C-7956FDBBC48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664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6926-A98A-4458-A31F-AAEB45E760CD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Highlight line 1">
            <a:extLst>
              <a:ext uri="{FF2B5EF4-FFF2-40B4-BE49-F238E27FC236}">
                <a16:creationId xmlns:a16="http://schemas.microsoft.com/office/drawing/2014/main" id="{34F207C9-9A8B-EF87-98D3-1C82E5A73D92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485523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Highlight line 2">
            <a:extLst>
              <a:ext uri="{FF2B5EF4-FFF2-40B4-BE49-F238E27FC236}">
                <a16:creationId xmlns:a16="http://schemas.microsoft.com/office/drawing/2014/main" id="{F2F8A8EF-34AC-8909-599F-945923D00AEF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312096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Highlight line 3">
            <a:extLst>
              <a:ext uri="{FF2B5EF4-FFF2-40B4-BE49-F238E27FC236}">
                <a16:creationId xmlns:a16="http://schemas.microsoft.com/office/drawing/2014/main" id="{FAEBBCA3-F771-49F4-C4AD-11D468F96AB6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8138670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64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593C-742F-4ACB-9EDA-A69C3A2A1B41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1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9568-CF1E-47A1-8D4A-16809EE0BA8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572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572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620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62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66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7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37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42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469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3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74D7-F369-4AAB-A2F9-B9A50811F718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D638E914-C7FD-199D-8EA9-54168F74DB4B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621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657C9-63D2-49CD-83E6-A14162FB84D8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8AD6562-534C-460E-9220-88AF17BCBE4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67D32DCB-72F6-BC64-6A9F-4F444D870309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437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ED27-72F6-4DF1-9F0D-AE3207A4D1FA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3BFD9291-7C93-C8C3-E865-14F1ED772B4B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386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A9678-3998-4221-9489-94AC1737C9CB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E5CC5342-66A4-BF03-2DC2-BB34A77EA40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8064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3949-B69A-4036-ABEF-E13ED583B59E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D8436614-E485-73D8-1866-645F4E1B657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1833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455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388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57C9-5C93-4E58-8D42-FE341B1F0959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3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2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B4B85666-74E6-3B59-B428-DA6F69438EFB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85775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535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521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DC9-FBF9-4117-BF57-FB1EF1DD1AAF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D1C9E-8438-3A10-53E8-497704D4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7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36304-4A4F-43F8-8665-AF62D176DEA2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36E374FE-EF38-20ED-2BF5-CB693F717A11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E7A756FE-60E8-9B30-EBA2-BFCA0731818E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692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C260-8204-40D7-BB54-DA19102078EB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11524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4810EDA4-155A-A258-0118-EFE8D82F818C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FDFC33E0-8D2C-02F1-3F63-6C8E60CA183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2171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C59E-718C-47C3-8D13-8A8A2A6017C0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977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29088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790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CDF6C7E5-B2CD-8A12-144D-E84B4B13BBE5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9E0B55F5-4343-46A7-2F1A-1F847817530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7537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28FD-5139-458C-8BB4-5CABE063094F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21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84D1-1BD5-4E29-9299-646D88205D2B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661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661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79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799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936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937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47795BA7-FED2-3A4E-668F-CA4916635A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F8E8AE1-116F-1D7C-AFB6-535FEA2AD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461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4B1E875-44CC-11CC-E72A-001D46438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59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D314131-1577-B46C-596B-C2AD516D1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736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83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2C1B3-7D36-416C-82D5-2DA170BC535E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7923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7923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923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923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7923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7923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7923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7923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77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77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77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77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77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77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77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77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162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162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162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162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162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162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162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162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347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8347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8347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8347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8347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8347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8347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8347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4881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14E7-DDEE-4D06-B617-424C13860159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82B2FB72-F2C5-9972-3E89-F35F455D0FAC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378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FF7D-9C9E-4720-B7AF-86D853AF0452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99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81F3BED-E626-F3AE-FF20-A6D76239471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1140D12-1777-AADD-5351-B92F135ED633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F57181-8F7C-581D-8E8B-8B2B0CB051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8A127C-FDD5-21E9-1FD6-D9B4A7D554F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F35FD06-DC07-383C-ACE2-7933BCD2218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455015A-145D-7CF9-4597-672713F8B4A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8067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1220A54-6882-53B1-3380-1A61010197C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8E9B09-FE70-E913-490B-27400CDE026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F9C0FF-258E-8363-A5DF-DBEE8F7DBB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C512783-0C4C-5151-CAE6-146AA9E6F5C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6DF74BF-1D17-9014-1B6E-93895F45C98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F9AC3AF-EFC6-BFFC-C56B-6DCC6CC17E8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302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50C8DF-4702-5EBD-26CC-DEBD6800743F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1712FD-9300-4754-120C-13FA331421A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7BB8EC-6C8D-276F-2D5F-057B2E2300D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77F8F2-2AD6-0080-797A-0C80FFAEFEE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47CE8A-37EB-3F17-0CED-93B3FA7CAE9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25292E-E104-D48F-8B82-AED824EB650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907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089FD7-604E-6D50-B8E8-386FF8CEA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93808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6936F3-C182-891A-97A0-CF098568C80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5A0015-0244-01BA-67B6-11CDC3C588A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D5A968-1B24-01BF-95A3-4FCB6124E7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2D456F-2780-F98C-DE5F-2372A03E577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F1A8A8B-F7CF-C180-B3E6-D7E79D33D8B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1991EC-BAEE-610D-F5B6-BC793FB3735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00667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698E1-9315-F464-C75D-F86E6E4A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3F6603-D012-19C2-19E4-3C9A6BAA4779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4A6F943-2F06-F19E-5B75-109F4C044A8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E842E1-A6BC-D328-7C47-CC041C18922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5AF6DD-7A60-6C0D-4712-147333F66FB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A72371-99F2-D052-C5A3-68A496195FCE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06455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EBDC9A-DAD0-DF95-C863-A513F5757B5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82E718-34C5-4345-6EDE-C2A2274567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04769FC2-AA96-BF7D-A57D-6136B16425B4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018A045E-469B-37B4-66BD-A077F6237FA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6664EF-CE5B-CE23-BD45-8EBEE44AB5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6DD499C-9F4F-85B2-7CED-8B5892C7AA7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24288A-4174-3DC7-2268-294BCF7472B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7925CB-5565-D7E0-CA9C-B423DA5657B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9404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92712F-14F6-2950-E68A-ADC32C53EBC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24F0FAD-7582-E59D-E125-54DD5BA160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FA849DF-1D4C-EAF0-08A5-7DDBACD55F3C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AFCBB4D7-2A1F-809A-E4FD-A2FEADA71C98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CE9ED0-A8F9-201F-B8D4-E7719F6A1A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839EC8-BF8D-8EE4-F606-CEE2A03CBD2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C72D34-A5B5-3A04-807D-A4539C621A76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33F9E4-7AB9-2619-EE33-D5ABBA23AD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066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4019ED-5B2C-404F-02EC-797AD0FF10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D27708-5BDE-7609-B2E7-5BB669F020F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ED53A776-F7E6-4162-5C9C-EBEC582A810E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AD73404A-FC7B-D657-2C28-CB0C86D6B749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0E09F0-6F36-3CCB-B830-9F7B497C4F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A4C3CD-8DDC-D023-1851-A260526E6035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B23B9A3-ECB2-23D6-6117-B089B1FA3213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EE98FE-B6F7-394F-EA0F-013620E0895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3467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E5DE78-B7B3-7321-F9AE-079289C97DAA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E3E6A4-E7C7-D8B1-D168-425F837286E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68A48E44-3626-12D9-7447-675C0E15D905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2D5DD4F1-1FCF-E20D-2541-C550DC2B1532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BEBDFF-ED3A-E888-AD12-6BA94B2A48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BC2A0E5-BD4A-D898-E5C9-D0B31466077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10A528C-196B-EA38-1C48-567C6808C71B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53CEB8-AAB6-262F-570B-0ECADEA0B52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8389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C7DE68-0AF4-0FBC-E65F-4833641C7E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0BD9D2-8DFC-5B4A-B844-B24A38A6307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E1C76AD-AD2A-6908-C0E9-04C4C1A81DE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CAE00036-4F0B-1437-BB6F-8AC8C14ABDC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85D981-4029-E7FA-8B11-18D394BA29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B284A9-7F86-7F5F-FBFB-890629FF0C7B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0E5AB5A-4698-308F-13D4-76EFF3ED9F4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9E603B-2DE7-EDE4-E8C7-0840DD22DB3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0680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2147BC-BA53-072F-B27C-857DCB3CC434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BCF8F7-16B2-8025-2163-4CF53707228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426E6F1-6C8E-DD12-2CA8-4211518D079A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4A734034-5634-67CA-4626-075282D8771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CC4E4E-DB60-AAA2-30B8-85FB27793E5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54C697-8757-DBD8-0F47-66719448588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7170ED6-7576-7DC6-7CD2-493AB81FDB3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BDFD37-5DF4-83FC-13C7-1622C7EA37E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5337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B5BDB1-ABE4-6C1A-A636-E9D325F7D597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B428B8-9D15-8754-5228-50D1CDED59D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DABE5942-11DC-26F6-D516-AA89EB12761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05EF7429-9EA5-A77D-C1E8-780C689FEFED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F71768-B5BE-EB31-9B39-6306726851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9D4A47-109F-97A9-8BB7-695E2DDB88C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5D0788-0739-0A60-6682-4C9C5F88BC55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AB39C3E-36D1-33F0-6E71-5D756B69DE0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2039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CF1D76-2CEC-4E02-ACB7-01F89831CB7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BD5D0521-4094-9D8B-52E6-631237D5BD0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3A4557-DC1B-62FA-EE9B-0CB917BAE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6BA2D9F-0D2F-D79E-E499-30F4B3FB3E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3FC8F491-4D00-1C16-D6B2-ACD7615366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969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863536-16E3-41B3-8EE3-6336C0F15EC9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ACB4367-2799-0576-B281-23496773778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162AF18-04FB-0708-AF33-E552339B93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BD16F51-032F-C324-8E27-9D3386376C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CB3712E-B0C7-5DF8-727F-B342B14E85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7784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6F9600-6ED5-4C9A-A224-B4DA76B2A99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AF7C041-0026-0AA4-CDB7-598AF37652E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DF9604-9FFE-5366-14B1-6E98FF54FD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4DC74D-09B1-00C3-C853-2FCB83D83F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BCCEAD-5BD2-139C-B8CA-47AA22CF5B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74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FB31CB-384F-4A8F-9510-FCD4F8A771B9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70CFE58-C48C-EB78-A7C2-9DAD5AE279F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F9EF071-FB10-CF45-4D4C-CC7A0F2F44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E95E037-9B68-6C43-6E58-19731A170D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8EF229A-7417-0859-E03A-6DE977AAA53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71246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A3CE14-CA98-4346-A092-1EF8A638A488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E60EA83-A995-4505-DF09-49ACD12C00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E24CB42-4B4A-FBF9-0318-8441E851EE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2A995D54-A48E-D49D-D858-C351B74BD9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24627D92-7A05-96EE-D2CC-1DCE97AE03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213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32A259-F8E3-4784-BD8A-EF60F0C6BC42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696C931-4C81-6F33-3CA2-708B10471C3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30BE3B6-2EB9-156E-3A7A-7F956DB53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1EE694-476F-48E9-DBF3-00C4B0D561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209E70-506F-D144-1E7B-6713638814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70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251F1-7BB6-483D-8AA9-8EF84A63B40F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0438EF0-1449-85A8-FBE7-6ACEB03F8A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53AE-2D42-C6F1-6790-6AC38AEF16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3A18AE-475B-441E-3104-964AD83660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5581FA5-36F5-CE9F-B03C-3AE4350125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8D62577-E867-CFB5-4396-A62B9BC976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914400" indent="-457200">
              <a:defRPr sz="1600">
                <a:solidFill>
                  <a:schemeClr val="tx1"/>
                </a:solidFill>
              </a:defRPr>
            </a:lvl2pPr>
            <a:lvl3pPr marL="914400" indent="-457200">
              <a:defRPr sz="1600">
                <a:solidFill>
                  <a:schemeClr val="tx1"/>
                </a:solidFill>
              </a:defRPr>
            </a:lvl3pPr>
            <a:lvl4pPr marL="914400" indent="-457200">
              <a:defRPr sz="1400">
                <a:solidFill>
                  <a:schemeClr val="tx1"/>
                </a:solidFill>
              </a:defRPr>
            </a:lvl4pPr>
            <a:lvl5pPr marL="914400" indent="-457200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989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95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855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650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1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75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22AE78-E772-4DEF-96E4-D0AB4115C50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53F1BC-17EA-77B8-592E-FCFE83B19F7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B26ED38-5705-7F09-4DBF-E084B72B07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5BFB2A-1E13-09AB-7074-98B802DA0A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F03636-2B32-4286-9F50-04A4BF52226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8241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F0D423-2F6A-40D7-A2CE-8B6843F98C8C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0806E92-9CA8-7CD6-8C03-853AAAF9884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98ACE82-2958-251A-9634-105994D77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A190E6F-E59B-12A9-9497-C41DFEF6B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2FA1C3C-0418-38FF-CF34-587CFC0C57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019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838CF-E956-4CBC-A657-88B9F9FEF98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E27BD-46C7-A524-5EB7-8B5FEEA62B7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4C2A58F-B939-7AED-F76A-0D247C5D6F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41374777-5950-D16E-5C8A-CEEBDD9C5F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6648B71-A102-284C-B1D1-FB11D93E1D1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374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0F7440-6F42-6C00-68CC-571F9367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2400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000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184577-3908-4D44-A0C0-6725FBA36825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000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400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solidFill>
                  <a:schemeClr val="tx1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6" name="SmartArt Placeholder 13">
            <a:extLst>
              <a:ext uri="{FF2B5EF4-FFF2-40B4-BE49-F238E27FC236}">
                <a16:creationId xmlns:a16="http://schemas.microsoft.com/office/drawing/2014/main" id="{C175892A-D780-3687-E55F-52F03613966A}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martArt Placeholder 14">
            <a:extLst>
              <a:ext uri="{FF2B5EF4-FFF2-40B4-BE49-F238E27FC236}">
                <a16:creationId xmlns:a16="http://schemas.microsoft.com/office/drawing/2014/main" id="{4A443555-765D-10C7-DCA6-95FCD6943CA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84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3F67A3-D43E-4843-89C3-3ED809E431D3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SmartArt Placeholder 13">
            <a:extLst>
              <a:ext uri="{FF2B5EF4-FFF2-40B4-BE49-F238E27FC236}">
                <a16:creationId xmlns:a16="http://schemas.microsoft.com/office/drawing/2014/main" id="{7EB1D1CC-D315-B6FA-1A39-C605B10441F2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SmartArt Placeholder 14">
            <a:extLst>
              <a:ext uri="{FF2B5EF4-FFF2-40B4-BE49-F238E27FC236}">
                <a16:creationId xmlns:a16="http://schemas.microsoft.com/office/drawing/2014/main" id="{442A224B-11FE-50D1-E5E3-DDE53EB0C4E8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5080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035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iler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34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F7F7-7376-4A8F-BC88-154581002E6B}" type="datetime3">
              <a:rPr lang="en-US" smtClean="0"/>
              <a:t>11 July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1" y="6516456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9588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E15DA5-AD3B-F42C-9F90-41E03DA74BA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85A6A1-4C45-4D21-360C-45A025A8C3A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D9164CD-BAAE-149D-12D2-AD957CC5B00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23FA8A-20E5-BBBF-683D-0D9F9C1083B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078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2A67DF-28B1-E2B6-D888-253B803BC8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30F8F5-10E4-3ACE-74FD-68004C6A9CC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BE0D9F-983D-7AA4-DE05-CABE1C853B2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2222131-BAC8-30B9-14D4-444B8413D206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58781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7B9A11-36F6-150D-9689-1F285012999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A79165-A103-A92C-B81E-0450D5593C40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9BF7F96-361A-536D-0E37-86D1C0C5431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7418670-9207-62B8-CA3D-AED7B026DC0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8185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282E3-E3FA-ACC5-A684-68BE7973AE1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17D3A1D-309B-7B64-A4CB-023CFE74438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230AF1F-89A7-77C7-CF6A-94213D9F75D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E1CC89-50B5-D555-52ED-73F7EB3FD52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618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6C1D5A-1C3A-FA28-B820-77473DD2C37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C8B2A2-C944-8A81-B196-6C56B212524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0E3DC7-07D5-44EF-DBDA-313849A255D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7FC04E-7B3D-C608-3A6A-B86EE70631C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2014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175F62C-ACB7-B628-70C8-7F02279578E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9A6B6C-0667-B0A9-1DDB-12BF6CDE04B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211DEC-70CD-AA64-CA97-2B2EED9A16D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DC2D54-DFA7-DD50-9EB9-997C21A6B0B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749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9F8BF4-8DE0-A541-C439-074C49D1FC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213CD9-DFE7-CDB8-EC2B-68C65D613EA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AF9987-8FA5-0288-2952-913544FEBA3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B011F4-52F2-D63D-62B4-551A0B54505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5280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D10F1C7-0F7C-3E77-D9E5-3A241B32FC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57DA754-0BBB-5F37-68B2-9F46C944180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8409072-EC3A-B8A8-2A95-C95691B5343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11AB0D8-3D01-BB54-2A37-0408D5FF63D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8208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1A3892-80EF-2F13-889C-02B2E55572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D80205-FC57-A852-810D-6C74086E418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8911994-9FBE-43E7-1E6A-E2CFA82D812D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6554DDD-3D11-756A-44F8-981EED004BC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0920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E35C7E-712B-7B3D-E75E-DA612AD1E3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DDDB73-B080-CD2D-C172-3B71EAB0219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C70E25-FF2B-E637-84B3-4C131AFB4EA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672F43-1143-C1A4-2A36-5D3DD1426FA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734880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932CF8-C87E-6945-CAC9-52370BDCF4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A5E7417-8C08-9C1E-6D4A-655F86AE3F7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8081DB-50A6-1A69-9F8F-6BC6A2FA658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BDA381-A133-7C6A-9482-DA60265C8701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7991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B6F3ED-6C65-79DE-95C4-1FCD54DC60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236DE7D-BE1C-38F4-32B6-26B022E339A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E719BC9-4258-5DBD-672D-CF6633E576D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CB19F1-10C3-F550-B019-EEB4F9920BA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6139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227367-4990-4CB5-BC91-0B86742CFD2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54197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23F665-7DCE-4AC8-9255-45198962C518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3448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FC1849-17DB-459D-8F82-7630FEC3884F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728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1BE447-BCDC-4EEC-980D-A27DDD97413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0400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0B95D1-C1EF-4E09-8CD4-3ADFDE140BB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2410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24DDF8-32C5-4452-B55F-4A8C15AB0F4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3332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10E464A-F9DB-4EEE-9330-F258545ED41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3038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F43A0B76-FA96-4AE1-9E7A-CA773A5CE7F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78773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0FDB31C-B2AC-44FE-9195-0148306780F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46426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DDB56C-2F99-49E1-A21E-C60A83819F31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2259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083A435D-0067-43E8-93B9-61A52CB8F46B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6015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44C4E7A6-E413-4802-A251-C1ED1804CD5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06334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8133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02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1.xml"/><Relationship Id="rId2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7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0250C1F-BD3B-48A5-B929-1D58369E7B8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2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66" r:id="rId9"/>
    <p:sldLayoutId id="2147484152" r:id="rId1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66" orient="horz" pos="550" userDrawn="1">
          <p15:clr>
            <a:srgbClr val="F26B43"/>
          </p15:clr>
        </p15:guide>
        <p15:guide id="67" orient="horz" pos="232" userDrawn="1">
          <p15:clr>
            <a:srgbClr val="F26B43"/>
          </p15:clr>
        </p15:guide>
        <p15:guide id="68" orient="horz" pos="3816" userDrawn="1">
          <p15:clr>
            <a:srgbClr val="F26B43"/>
          </p15:clr>
        </p15:guide>
        <p15:guide id="69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20pt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7515EF9-41B7-440A-A874-011C64F2FBA5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044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  <p:sldLayoutId id="2147484141" r:id="rId12"/>
    <p:sldLayoutId id="2147484207" r:id="rId13"/>
    <p:sldLayoutId id="2147484142" r:id="rId1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78" userDrawn="1">
          <p15:clr>
            <a:srgbClr val="F26B43"/>
          </p15:clr>
        </p15:guide>
        <p15:guide id="4" pos="302" userDrawn="1">
          <p15:clr>
            <a:srgbClr val="F26B43"/>
          </p15:clr>
        </p15:guide>
        <p15:guide id="50" orient="horz" pos="232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80" orient="horz" pos="3816" userDrawn="1">
          <p15:clr>
            <a:srgbClr val="F26B43"/>
          </p15:clr>
        </p15:guide>
        <p15:guide id="81" orient="horz" pos="89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505209A-9CC7-459A-A7CE-13339705E87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906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8" r:id="rId3"/>
    <p:sldLayoutId id="2147484153" r:id="rId4"/>
    <p:sldLayoutId id="2147484154" r:id="rId5"/>
    <p:sldLayoutId id="2147484116" r:id="rId6"/>
    <p:sldLayoutId id="2147484117" r:id="rId7"/>
    <p:sldLayoutId id="2147484118" r:id="rId8"/>
    <p:sldLayoutId id="2147484111" r:id="rId9"/>
    <p:sldLayoutId id="2147484112" r:id="rId10"/>
    <p:sldLayoutId id="2147484113" r:id="rId11"/>
    <p:sldLayoutId id="2147484114" r:id="rId12"/>
    <p:sldLayoutId id="2147484079" r:id="rId13"/>
    <p:sldLayoutId id="2147484080" r:id="rId14"/>
    <p:sldLayoutId id="2147484082" r:id="rId15"/>
    <p:sldLayoutId id="2147484083" r:id="rId16"/>
    <p:sldLayoutId id="2147484081" r:id="rId17"/>
    <p:sldLayoutId id="2147484155" r:id="rId18"/>
    <p:sldLayoutId id="2147484004" r:id="rId19"/>
    <p:sldLayoutId id="2147483984" r:id="rId20"/>
    <p:sldLayoutId id="2147484041" r:id="rId21"/>
    <p:sldLayoutId id="2147484084" r:id="rId22"/>
    <p:sldLayoutId id="2147484028" r:id="rId23"/>
    <p:sldLayoutId id="2147484014" r:id="rId24"/>
    <p:sldLayoutId id="2147484019" r:id="rId25"/>
    <p:sldLayoutId id="2147484208" r:id="rId26"/>
    <p:sldLayoutId id="2147484236" r:id="rId27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48" orient="horz" pos="527" userDrawn="1">
          <p15:clr>
            <a:srgbClr val="F26B43"/>
          </p15:clr>
        </p15:guide>
        <p15:guide id="57" orient="horz" pos="890" userDrawn="1">
          <p15:clr>
            <a:srgbClr val="F26B43"/>
          </p15:clr>
        </p15:guide>
        <p15:guide id="78" orient="horz" pos="3816" userDrawn="1">
          <p15:clr>
            <a:srgbClr val="F26B43"/>
          </p15:clr>
        </p15:guide>
        <p15:guide id="79" orient="horz" pos="23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237C16-C15A-4902-A3D7-A5F24B02ABAA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56997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  <p:sldLayoutId id="2147484223" r:id="rId14"/>
    <p:sldLayoutId id="2147484224" r:id="rId15"/>
    <p:sldLayoutId id="2147484225" r:id="rId16"/>
    <p:sldLayoutId id="2147484226" r:id="rId17"/>
    <p:sldLayoutId id="2147484227" r:id="rId18"/>
    <p:sldLayoutId id="2147484228" r:id="rId19"/>
    <p:sldLayoutId id="2147484229" r:id="rId20"/>
    <p:sldLayoutId id="2147484230" r:id="rId21"/>
    <p:sldLayoutId id="2147484231" r:id="rId22"/>
    <p:sldLayoutId id="2147484232" r:id="rId23"/>
    <p:sldLayoutId id="2147484233" r:id="rId24"/>
    <p:sldLayoutId id="2147484234" r:id="rId25"/>
    <p:sldLayoutId id="2147484235" r:id="rId2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C0F2D9-589A-5443-F977-6038BD0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/>
          <a:lstStyle/>
          <a:p>
            <a:r>
              <a:t>South Africa built the rail and did not build the adoption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240C4E-DB84-B488-D8CF-088824038E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Instant payments: India, Brazil and the South African decade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F2C1F-53C3-B3B0-4A7B-B92089CDC5C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4 September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25DD58-4974-549B-5F84-0ABC911DCE0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t>Draft — not for distribution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98CFE6-6DE2-2C53-6DED-8BE22EE73E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2356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rails, three outcomes: the divergence is four decisions, not the technology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484632" y="1325880"/>
            <a:ext cx="1122883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1A24"/>
                </a:solidFill>
                <a:latin typeface="EYInterstate"/>
              </a:rPr>
              <a:t>UPI is the largest system by volume, Pix the largest by value relative to GDP, PayShap carries less in a year than Pix carries in four days.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4632" y="1828800"/>
          <a:ext cx="1122883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318211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EYInterstate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EYInterstate"/>
                        </a:rPr>
                        <a:t>UPI (India), FY26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EYInterstate"/>
                        </a:rPr>
                        <a:t>Pix (Brazil), 2025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EYInterstate"/>
                        </a:rPr>
                        <a:t>PayShap (South Africa), 2026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Launch and operator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Aug 2016; NPCI, bank-owned non-profit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Nov 2020; Banco Central do Brasil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Mar 2023; PayInc, 50% SARB 50% 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Participation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Voluntary, 741 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Mandatory above 500k accounts, 816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Voluntary, 12 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Annual volume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241.6bn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79.8bn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c. 0.7bn run rate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Annual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c. $3.6trn, c. 1x GDP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c. $6.5trn, c. 3x GDP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c. $42bn, c. 0.1x GDP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Adult reach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c. 55%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93%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c. 13% (registered)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Consumer fee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Zero by law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Zero by regulation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Charged, above R50 on larger transfers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Merchant fee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Zero since 2020; law to reintroduce passed Aug 2026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Market-set, c. 0.33%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Not the primary channel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Subsidy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Rs 8,276 crore cumulative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None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None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Interface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Third-party apps, two at 79%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Account providers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Bank apps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A1A24"/>
                          </a:solidFill>
                          <a:latin typeface="EYInterstate Light"/>
                        </a:rPr>
                        <a:t>Launch shock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Demonetisation, Jio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Pandemic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A1A24"/>
                          </a:solidFill>
                          <a:latin typeface="EYInterstate Light"/>
                        </a:rPr>
                        <a:t>None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4632" y="5989320"/>
            <a:ext cx="112288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747480"/>
                </a:solidFill>
                <a:latin typeface="EYInterstate Light"/>
              </a:rPr>
              <a:t>Sources: NPCI, RBI, BCB, Febraban, PayInc statements; EY analysis. Companion papers: UPI at ten, Pix at five, PayShap at three (September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Operator, mandate, pricing and timing explain the gap; South Africa chose the incumbents' answer on all four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</p:sp>
      <p:sp>
        <p:nvSpPr>
          <p:cNvPr id="4" name="Rectangle 3"/>
          <p:cNvSpPr/>
          <p:nvPr/>
        </p:nvSpPr>
        <p:spPr>
          <a:xfrm>
            <a:off x="484632" y="1417320"/>
            <a:ext cx="5522976" cy="21031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" y="1417320"/>
            <a:ext cx="54864" cy="21031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90472"/>
            <a:ext cx="52943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56232"/>
            <a:ext cx="5294376" cy="1600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Brazil's central bank built and runs Pix. India's bank-owned non-profit runs UPI. South Africa's bank-owned clearing house ran PayShap until the SARB bought half in November 2025. Where the operator's incentive was volume, volume came.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417320"/>
            <a:ext cx="5522976" cy="21031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417320"/>
            <a:ext cx="54864" cy="21031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490472"/>
            <a:ext cx="52943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Mandate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856232"/>
            <a:ext cx="5294376" cy="1600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The BCB made participation compulsory above 500,000 accounts; every account was reachable on day one. UPI reached 741 banks through voluntary onboarding driven by the apps. PayShap reached 12 of 39 banks.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657600"/>
            <a:ext cx="5522976" cy="21031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" y="3657600"/>
            <a:ext cx="54864" cy="21031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730752"/>
            <a:ext cx="52943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96512"/>
            <a:ext cx="5294376" cy="1600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India banned merchant fees and paid a subsidy it has since cut to a tenth of stated cost. Brazil banned consumer and interparticipant fees and let merchant pricing compete to 0.33%. South Africa banned nothing and priced the rail through the incumbents, above the alternatives.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3657600"/>
            <a:ext cx="5522976" cy="21031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3657600"/>
            <a:ext cx="54864" cy="21031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730752"/>
            <a:ext cx="5294376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096512"/>
            <a:ext cx="5294376" cy="1600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UPI launched three months before demonetisation and alongside Jio. Pix launched in the second pandemic wave. PayShap launched into a stable cash economy with no forcing event, and adoption had to be earned on price and use case, where it was weakest.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943600"/>
            <a:ext cx="11228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A1A24"/>
                </a:solidFill>
                <a:latin typeface="EYInterstate"/>
              </a:rPr>
              <a:t>Pricing and mandate decide whether a rail leaves the floor; demand and income decide the ceiling. South Africa has a floor problem, which is the one a regulator can fix.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at the same age, PayShap is two orders of magnitude behind the comparators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</p:sp>
      <p:pic>
        <p:nvPicPr>
          <p:cNvPr id="4" name="Picture 3" descr="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17320"/>
            <a:ext cx="6766560" cy="37106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417320"/>
            <a:ext cx="4206240" cy="201168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54864" cy="201168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49047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Intensity is the constraint, not the 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56232"/>
            <a:ext cx="397763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Pix and UPI both settle near 460 transactions per user a year. The UK's Faster Payments and Sweden's Swish sit nearer 90 to 130 per adult. PayShap runs at about 117. Users times intensity sets the ceiling; price and acceptance decide which end of the bracket a rail reaches.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566160"/>
            <a:ext cx="4206240" cy="201168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566160"/>
            <a:ext cx="54864" cy="201168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63931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The evidence base is uneven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005072"/>
            <a:ext cx="397763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The Indian and Brazilian series are regulator-published. PayInc publishes no monthly series, the SARB publishes PayShap only inside charts, and there is no fraud series. Year two for South Africa is interpolated.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5989320"/>
            <a:ext cx="112288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747480"/>
                </a:solidFill>
                <a:latin typeface="EYInterstate Light"/>
              </a:rPr>
              <a:t>Sources: NPCI product statistics via PIB; BCB via Febraban and CNN Brasil; PayInc statements via TechCentral and Business Day. Log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scenarios for 2036, sorted by who prices the rail; the stall is the outcome if nothing is decided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  <p:txBody>
          <a:bodyPr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632" y="1371600"/>
          <a:ext cx="1122883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83080"/>
                <a:gridCol w="1965960"/>
                <a:gridCol w="1920240"/>
                <a:gridCol w="1920240"/>
                <a:gridCol w="1901952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/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A: Stall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B: Regulator's rail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C: Non-bank breakout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D: Incumbent pre-emption*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E: State as originator*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Who prices the rail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SARB by directive; market for merchants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Non-bank interface owner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First-mover acquirer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State pays at zero; interfaces compete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Trigger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Licensing slow; cards and fintechs hold the till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Mandate plus zero P2P fee, 2027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Non-bank licence plus grant or wage flow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Acquirer zero-rates the rail, 2027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SASSA G2P gateway on the rail, Q4 2027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Users 2036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12m (27%)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30m (70%)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36m (80%+)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28m (64%)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30m (70%)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Volume 2036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1.4bn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10.8bn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16.2bn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9.5bn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9.0bn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Merchant rate on rail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1.5%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0.6%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0.4%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0.5%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0.5%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Cash share by number (from 45%)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36%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17%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10%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20%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c. 20%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Interface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Bank apps, cards, big-tech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Account providers, terms equalised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Non-bank wallets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First-mover bank app and QR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Recipient's preferred account or wallet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Primacy outcome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Unchanged; mass market in cash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Contested on cost between 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Separated from balance sheet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Held by the first mover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Grant landing point made contestable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Comparator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United Kingdom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Brazil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India, Kenya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None; both comparators waited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India's direct benefit transfer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632" y="5852160"/>
            <a:ext cx="1122883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747480"/>
                </a:solidFill>
                <a:latin typeface="EYInterstate Light"/>
              </a:rPr>
              <a:t>* D and E are contingent on a single actor's decision; their paths are illustrative. E now follows the government's digital roadmap: SASSA pays grants over the rail to the recipient's preferred account or wallet from 2027, making the grant landing point contestable rather than nationalised. A sixth scenario, F, Capitec's on-us loop, is in the working papers. Signal: a zero consumer P2P rate in the 2027 fee schedule.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rail erodes 0% to 6% of six-bank NIR by 2036; the interface, not the fee pool, is what is at stake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</p:sp>
      <p:sp>
        <p:nvSpPr>
          <p:cNvPr id="5" name="Rectangle 4"/>
          <p:cNvSpPr/>
          <p:nvPr/>
        </p:nvSpPr>
        <p:spPr>
          <a:xfrm>
            <a:off x="7498079" y="1417320"/>
            <a:ext cx="4206240" cy="160020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54864" cy="1600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49047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Fee lines are the floor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56232"/>
            <a:ext cx="3977639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Consumer transfer fees, debit interchange at the SARB rate of 0.44%, acquirer margin, new merchant fees at the banks' share and cash handling fees, against a R386bn counterfactual. Worst case C at R23bn a year; cash handling cost savings claw back a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154680"/>
            <a:ext cx="4206240" cy="14173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3154680"/>
            <a:ext cx="54864" cy="14173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22783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The primacy proxy is adjustable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93592"/>
            <a:ext cx="397763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Landing points lost by the banks, valued per landing point per year. R600 is a placeholder; the whisker shows R200 to R2,000. Sizing on the mass-market unsecured book is the outstanding number.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709160"/>
            <a:ext cx="4206240" cy="109728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709160"/>
            <a:ext cx="54864" cy="109728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78231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B versus C is the merchant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148072"/>
            <a:ext cx="3977639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The R6bn gap is the banks' share of rail merchant fees, 70% against 25%, and the reason an incumbent might move first.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989320"/>
            <a:ext cx="112288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747480"/>
                </a:solidFill>
                <a:latin typeface="EYInterstate Light"/>
              </a:rPr>
              <a:t>Source: EY NIR scenario overlay v3 on the six-bank FY2025 baseline of R225.8bn. Orders of magnitude; three fee pools remain assumptions.</a:t>
            </a:r>
          </a:p>
        </p:txBody>
      </p:sp>
      <p:pic>
        <p:nvPicPr>
          <p:cNvPr id="18" name="Picture 17" descr="n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17320"/>
            <a:ext cx="6766560" cy="37106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every archetype plays its own tactic, the grant follows the interface and the mass market ends in Capitec's loop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7498079" y="1417320"/>
            <a:ext cx="4206240" cy="14173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417320"/>
            <a:ext cx="54864" cy="14173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49047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The stall fails as a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56232"/>
            <a:ext cx="397763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Across 2,000 scripted runs the market never lands on A: the regulator's gentle path reaches zero fee and mandate by 2030, SASSA's gateway is on the rail by 2029, and the market moves whether or not the issuer-heavy banks match.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971800"/>
            <a:ext cx="4206240" cy="141732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2971800"/>
            <a:ext cx="54864" cy="14173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304495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The on-us loop holds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410712"/>
            <a:ext cx="3977639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Capitec settles its own customers' payments on its own books and never on PayShap. Under best-response play the loop starts in 2027, takes a third of A2A volume off the rail and well over half the mass-market interface, and nothing opens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526280"/>
            <a:ext cx="4206240" cy="128016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526280"/>
            <a:ext cx="54864" cy="1280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599432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1A24"/>
                </a:solidFill>
                <a:latin typeface="EYInterstate"/>
              </a:rPr>
              <a:t>The state pays to the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965192"/>
            <a:ext cx="3977639" cy="7772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A1A24"/>
                </a:solidFill>
                <a:latin typeface="EYInterstate Light"/>
              </a:rPr>
              <a:t>The digital roadmap has SASSA paying grants over the rail into the recipient's preferred account or wallet from 2027, not a Postbank wallet. The grant lands where the recipient already banks, which is mostly Capitec; a Postbank default is a 15% variant.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989320"/>
            <a:ext cx="112288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747480"/>
                </a:solidFill>
                <a:latin typeface="EYInterstate Light"/>
              </a:rPr>
              <a:t>Source: EY market game v8, levers in levers.xlsx. Scripted and best-response players; myopic best responses, not equilibria. Roadmap milestones are stated intent, In Development v0.1.0.</a:t>
            </a:r>
          </a:p>
        </p:txBody>
      </p:sp>
      <p:pic>
        <p:nvPicPr>
          <p:cNvPr id="18" name="Picture 17" descr="g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1417320"/>
            <a:ext cx="6766560" cy="37106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takes to compete differs by archetype, and each faces one decision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632" y="1371600"/>
          <a:ext cx="1122883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94560"/>
                <a:gridCol w="4023360"/>
                <a:gridCol w="1188720"/>
                <a:gridCol w="2267712"/>
              </a:tblGrid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Archetype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Starting position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Build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Best / threat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EYInterstate"/>
                        </a:rPr>
                        <a:t>The single decision</a:t>
                      </a:r>
                    </a:p>
                  </a:txBody>
                  <a:tcPr marL="45720" marR="45720" marT="27432" marB="27432">
                    <a:solidFill>
                      <a:srgbClr val="1A1A24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Incumbent 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Balance sheet, merchant book, wrong cost base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Real-time core, native rail, API layer, rail-embedded fraud, two-sided data; one P&amp;L owner, quarterly pricing, manufacturer capability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A or D / C, 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Compete for the interface or manufacture behind it, by segment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Challenger banks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Cost base, consumer; Capitec has an acquiring base (R98.6bn merchant turnover, 456k business clients), the others do not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Rail-native acceptance on own devices (Capitec) or via fintechs (others); fraud and recovery; sponsor-bank wallet architecture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B, or D as pre-emptor / D if pre-empted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Take the merchant ground on the rail now, or reach it via fintechs, or wait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Payment fintechs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Merchant, checkout, no licence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Balance ledger, safeguarding, direct PayInc connection; float, credit and data on the merchant book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 or C / 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Take the licence or stay sponsored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Card schemes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Network, wallet position, most to lose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Real-time A2A over own network, credit on the rail; concede debit, defend credit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A / B, C, 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Fight the rail or run on 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Retailers and telcos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Till, float, reach, no machinery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Ledger, alias, rail connection, sponsor bank, all buyable; regulated-entity function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C / 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Pursue the licence and the flow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PayInc and SARB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The rail, half state-owned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Rate card, open standard, open directory, return mechanism, statistics series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B / 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Mandate and zero consumer fee in the 2027 cycle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EYInterstate Light"/>
                        </a:rPr>
                        <a:t>SASSA and Postbank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28m grants a month; G2P gateway on the rail by 2027 (roadmap, indicative)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SASSA-owned disbursement stack on SARB rails; domestic card scheme under study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E, which settles C against F / none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>
                          <a:solidFill>
                            <a:srgbClr val="1A1A24"/>
                          </a:solidFill>
                          <a:latin typeface="EYInterstate Light"/>
                        </a:rPr>
                        <a:t>Whether the gateway lands on time and who holds the interface when it does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632" y="5943600"/>
            <a:ext cx="1122883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747480"/>
                </a:solidFill>
                <a:latin typeface="EYInterstate Light"/>
              </a:rPr>
              <a:t>Unit cost governs all of it: Pix costs the BCB one centavo per ten transactions; UPI about 40 paise a transaction. A participant whose cost per payment is measured in rand cannot price at zero for the consumer or at half a percent for the merchant.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revenue the market favours the incumbents: two thirds of the pool is full-service and it moves 5% to 8% in every scenario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5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7680960" y="1417320"/>
            <a:ext cx="4023360" cy="137160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80960" y="1417320"/>
            <a:ext cx="54864" cy="13716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90472"/>
            <a:ext cx="37947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1A1A24"/>
                </a:solidFill>
                <a:latin typeface="EYInterstate"/>
              </a:rPr>
              <a:t>The bifurcation is a third of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856232"/>
            <a:ext cx="379476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0">
                <a:solidFill>
                  <a:srgbClr val="1A1A24"/>
                </a:solidFill>
                <a:latin typeface="EYInterstate Light"/>
              </a:rPr>
              <a:t>Capitec's loop and the state's wallet decide the mass-market interface and pool, about R111bn of a R328bn six-bank total by 2036. The mid-market and affluent pools move 8% and 5% in every scenario and stay with the incumbents.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926080"/>
            <a:ext cx="4023360" cy="137160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2926080"/>
            <a:ext cx="54864" cy="13716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999232"/>
            <a:ext cx="37947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1A1A24"/>
                </a:solidFill>
                <a:latin typeface="EYInterstate"/>
              </a:rPr>
              <a:t>Full-service loses fees, not the franchise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364992"/>
            <a:ext cx="379476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0">
                <a:solidFill>
                  <a:srgbClr val="1A1A24"/>
                </a:solidFill>
                <a:latin typeface="EYInterstate Light"/>
              </a:rPr>
              <a:t>Almost all of the mid-market and affluent loss is transaction and account fees going to zero as the price war spreads up-market. Credit interchange loses under R1bn; secured and unsecured lending income do not move.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434840"/>
            <a:ext cx="4023360" cy="1371600"/>
          </a:xfrm>
          <a:prstGeom prst="rect">
            <a:avLst/>
          </a:prstGeom>
          <a:solidFill>
            <a:srgbClr val="F6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4434840"/>
            <a:ext cx="54864" cy="13716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507992"/>
            <a:ext cx="37947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1A1A24"/>
                </a:solidFill>
                <a:latin typeface="EYInterstate"/>
              </a:rPr>
              <a:t>Payments do not hollow the middle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873752"/>
            <a:ext cx="379476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0">
                <a:solidFill>
                  <a:srgbClr val="1A1A24"/>
                </a:solidFill>
                <a:latin typeface="EYInterstate Light"/>
              </a:rPr>
              <a:t>The incumbents hold 86% of the mid-market interface and all of the anchored landing points. What would hollow the middle is the price of credit and of the account, and the cost to serve a relationship customer; those are outside this game.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989320"/>
            <a:ext cx="1122883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0">
                <a:solidFill>
                  <a:srgbClr val="747480"/>
                </a:solidFill>
                <a:latin typeface="EYInterstate Light"/>
              </a:rPr>
              <a:t>Source: EY market game v8, three-segment revenue board, 2,000 scripted runs. Revenue pools and the K-shaped split are assumptions flagged in levers.xlsx.</a:t>
            </a:r>
          </a:p>
        </p:txBody>
      </p:sp>
      <p:pic>
        <p:nvPicPr>
          <p:cNvPr id="18" name="Picture 17" descr="threebo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1417320"/>
            <a:ext cx="694944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rge Text [LIGHT]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B4A4574A-FF19-41AC-AC5C-2AEF6DC59539}"/>
    </a:ext>
  </a:extLst>
</a:theme>
</file>

<file path=ppt/theme/theme2.xml><?xml version="1.0" encoding="utf-8"?>
<a:theme xmlns:a="http://schemas.openxmlformats.org/drawingml/2006/main" name="Small Text [LIGHT]">
  <a:themeElements>
    <a:clrScheme name="Custom 87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  <a:latin typeface="EYInterstate Light"/>
            <a:ea typeface="+mn-ea"/>
            <a:cs typeface="+mn-cs"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42FBC55A-A29C-4CC5-8889-604B283E390C}"/>
    </a:ext>
  </a:extLst>
</a:theme>
</file>

<file path=ppt/theme/theme3.xml><?xml version="1.0" encoding="utf-8"?>
<a:theme xmlns:a="http://schemas.openxmlformats.org/drawingml/2006/main" name="EY Core Slides">
  <a:themeElements>
    <a:clrScheme name="Custom 88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DADDA970-60F5-479C-9C43-537F08503304}"/>
    </a:ext>
  </a:extLst>
</a:theme>
</file>

<file path=ppt/theme/theme4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B481CEBC-20DF-49DE-BE43-0D8071211E9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714879ae-1033-45c6-9be3-c577918c63c3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Light-global-widescreen-presentation-template-v2.4</Template>
  <TotalTime>1</TotalTime>
  <Words>2886</Words>
  <Application>Microsoft Office PowerPoint</Application>
  <PresentationFormat>Widescreen</PresentationFormat>
  <Paragraphs>585</Paragraphs>
  <Slides>67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</vt:lpstr>
      <vt:lpstr>Calibri</vt:lpstr>
      <vt:lpstr>EYInterstate</vt:lpstr>
      <vt:lpstr>EYInterstate Light</vt:lpstr>
      <vt:lpstr>Georgia Pro</vt:lpstr>
      <vt:lpstr>Times</vt:lpstr>
      <vt:lpstr>Wingdings</vt:lpstr>
      <vt:lpstr>Large Text [LIGHT]</vt:lpstr>
      <vt:lpstr>Small Text [LIGHT]</vt:lpstr>
      <vt:lpstr>EY Core Slides</vt:lpstr>
      <vt:lpstr>1_EY Core Slides</vt:lpstr>
      <vt:lpstr>Template guidance</vt:lpstr>
      <vt:lpstr>Key principles for using the template</vt:lpstr>
      <vt:lpstr>What good pacing looks like</vt:lpstr>
      <vt:lpstr>Accessibility tips</vt:lpstr>
      <vt:lpstr>Core template layouts  25 slide layouts to use</vt:lpstr>
      <vt:lpstr>Spectrum 1</vt:lpstr>
      <vt:lpstr>Spectrum 2</vt:lpstr>
      <vt:lpstr>Spectrum 3</vt:lpstr>
      <vt:lpstr>Yellow Frame</vt:lpstr>
      <vt:lpstr>Yellow Frame slide with author details</vt:lpstr>
      <vt:lpstr>Frame color 1</vt:lpstr>
      <vt:lpstr>Frame color 2</vt:lpstr>
      <vt:lpstr>Frame color 3</vt:lpstr>
      <vt:lpstr>Frame color 4</vt:lpstr>
      <vt:lpstr>Frame color 5</vt:lpstr>
      <vt:lpstr>Frame color 6</vt:lpstr>
      <vt:lpstr>Frame color 7</vt:lpstr>
      <vt:lpstr>Section header 1</vt:lpstr>
      <vt:lpstr>Section header 2</vt:lpstr>
      <vt:lpstr>Section header 3</vt:lpstr>
      <vt:lpstr>Section header 4</vt:lpstr>
      <vt:lpstr>Section header 5</vt:lpstr>
      <vt:lpstr>Section header 6</vt:lpstr>
      <vt:lpstr>Contents</vt:lpstr>
      <vt:lpstr>Agenda</vt:lpstr>
      <vt:lpstr>Key statement</vt:lpstr>
      <vt:lpstr>Key statement 2</vt:lpstr>
      <vt:lpstr>Quote goes here.</vt:lpstr>
      <vt:lpstr>Add media</vt:lpstr>
      <vt:lpstr>Blank</vt:lpstr>
      <vt:lpstr>Large content light  template layouts 10 slide layouts to use</vt:lpstr>
      <vt:lpstr>Title and content template layout</vt:lpstr>
      <vt:lpstr>Two content template layout</vt:lpstr>
      <vt:lpstr>Three content template layout</vt:lpstr>
      <vt:lpstr>Three content with highlight template layout</vt:lpstr>
      <vt:lpstr>Key numbers template layout</vt:lpstr>
      <vt:lpstr>Video and caption template layout</vt:lpstr>
      <vt:lpstr>Content and image template layout</vt:lpstr>
      <vt:lpstr>Team</vt:lpstr>
      <vt:lpstr>Title only template layout</vt:lpstr>
      <vt:lpstr>Small content light  template layouts  13 slide layouts to use</vt:lpstr>
      <vt:lpstr>Title and content template layout</vt:lpstr>
      <vt:lpstr>Two content template layout</vt:lpstr>
      <vt:lpstr>Three content template layout</vt:lpstr>
      <vt:lpstr>Four content template layout</vt:lpstr>
      <vt:lpstr>Eight content template layout</vt:lpstr>
      <vt:lpstr>Three content with highlight template layout</vt:lpstr>
      <vt:lpstr>Content and image template layout</vt:lpstr>
      <vt:lpstr>Content and two image template layout</vt:lpstr>
      <vt:lpstr>Content and three image template layout</vt:lpstr>
      <vt:lpstr>Video and caption template layout</vt:lpstr>
      <vt:lpstr>Team</vt:lpstr>
      <vt:lpstr>Teams</vt:lpstr>
      <vt:lpstr>Title only template layout</vt:lpstr>
      <vt:lpstr>Data visualization  9 slide layouts to use</vt:lpstr>
      <vt:lpstr>Primary color diagram</vt:lpstr>
      <vt:lpstr>Primary color charts</vt:lpstr>
      <vt:lpstr>Primary color table</vt:lpstr>
      <vt:lpstr>Spectrum gradients diagram 2</vt:lpstr>
      <vt:lpstr>Spectrum gradients charts</vt:lpstr>
      <vt:lpstr>Spectrum gradients charts 2</vt:lpstr>
      <vt:lpstr>Advanced color diagram</vt:lpstr>
      <vt:lpstr>Advanced color diagram 2</vt:lpstr>
      <vt:lpstr>Advanced color charts</vt:lpstr>
      <vt:lpstr>Boilerplate</vt:lpstr>
      <vt:lpstr>New PowerPoint template, October 2024  Our brand expansion includes new Breakthrough and Spectrum Frames. Spectrum Frames feature heavily in this template, but Breakthrough Frames do not.  Breakthrough Frames require a high level of design crafting from trained creative professionals. They’re not easily created in PowerPoint.   Instead, use the Spectrum Frames provided throughout this template.</vt:lpstr>
      <vt:lpstr>Color notes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Harris</dc:creator>
  <cp:lastModifiedBy>Michael Harris</cp:lastModifiedBy>
  <cp:revision>1</cp:revision>
  <dcterms:created xsi:type="dcterms:W3CDTF">2026-07-11T13:16:58Z</dcterms:created>
  <dcterms:modified xsi:type="dcterms:W3CDTF">2026-07-11T13:18:15Z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