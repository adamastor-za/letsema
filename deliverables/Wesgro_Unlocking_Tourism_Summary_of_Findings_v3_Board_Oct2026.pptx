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Seat share</c:v>
                </c:pt>
              </c:strCache>
            </c:strRef>
          </c:tx>
          <c:spPr>
            <a:solidFill>
              <a:srgbClr val="1F497D"/>
            </a:solidFill>
          </c:spPr>
          <c:dPt>
            <c:idx val="4"/>
            <c:spPr>
              <a:solidFill>
                <a:srgbClr val="D9D9D9"/>
              </a:solidFill>
            </c:spPr>
          </c:dPt>
          <c:dPt>
            <c:idx val="5"/>
            <c:spPr>
              <a:solidFill>
                <a:srgbClr val="D9D9D9"/>
              </a:solidFill>
            </c:spPr>
          </c:dPt>
          <c:dPt>
            <c:idx val="6"/>
            <c:spPr>
              <a:solidFill>
                <a:srgbClr val="D9D9D9"/>
              </a:solidFill>
            </c:spPr>
          </c:dPt>
          <c:dPt>
            <c:idx val="7"/>
            <c:spPr>
              <a:solidFill>
                <a:srgbClr val="D9D9D9"/>
              </a:solidFill>
            </c:spPr>
          </c:dPt>
          <c:dPt>
            <c:idx val="8"/>
            <c:spPr>
              <a:solidFill>
                <a:srgbClr val="D9D9D9"/>
              </a:solidFill>
            </c:spPr>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9.8</c:v>
                </c:pt>
                <c:pt idx="1">
                  <c:v>8.8</c:v>
                </c:pt>
                <c:pt idx="2">
                  <c:v>9.7</c:v>
                </c:pt>
                <c:pt idx="3">
                  <c:v>7.8</c:v>
                </c:pt>
                <c:pt idx="4">
                  <c:v>6.9</c:v>
                </c:pt>
                <c:pt idx="5">
                  <c:v>6.4</c:v>
                </c:pt>
                <c:pt idx="6">
                  <c:v>6.9</c:v>
                </c:pt>
                <c:pt idx="7">
                  <c:v>6.9</c:v>
                </c:pt>
                <c:pt idx="8">
                  <c:v>6.9</c:v>
                </c:pt>
                <c:pt idx="9">
                  <c:v>8.7</c:v>
                </c:pt>
                <c:pt idx="10">
                  <c:v>10.3</c:v>
                </c:pt>
                <c:pt idx="11">
                  <c:v>10.8</c:v>
                </c:pt>
              </c:numCache>
            </c:numRef>
          </c:val>
        </c:ser>
        <c:dLbls>
          <c:numFmt formatCode="0.0" sourceLinked="0"/>
          <c:txPr>
            <a:bodyPr/>
            <a:lstStyle/>
            <a:p>
              <a:pPr>
                <a:defRPr sz="900">
                  <a:solidFill>
                    <a:srgbClr val="404040"/>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D9D9D9"/>
            </a:solidFill>
          </a:ln>
        </c:spPr>
        <c:txPr>
          <a:bodyPr/>
          <a:lstStyle/>
          <a:p>
            <a:pPr>
              <a:defRPr sz="900"/>
            </a:pPr>
          </a:p>
        </c:txPr>
        <c:crossAx val="-2113994440"/>
        <c:crosses val="autoZero"/>
        <c:auto val="1"/>
        <c:lblAlgn val="ctr"/>
        <c:lblOffset val="100"/>
        <c:noMultiLvlLbl val="0"/>
      </c:catAx>
      <c:valAx>
        <c:axId val="-2113994440"/>
        <c:scaling>
          <c:max val="12.0"/>
          <c:min val="0.0"/>
        </c:scaling>
        <c:delete/>
        <c:axPos val="l"/>
        <c:majorTickMark val="out"/>
        <c:minorTickMark val="none"/>
        <c:tickLblPos val="nextTo"/>
        <c:txPr>
          <a:bodyPr/>
          <a:lstStyle/>
          <a:p>
            <a:pPr>
              <a:defRPr sz="900"/>
            </a:pPr>
          </a:p>
        </c:txPr>
        <c:crossAx val="-2068027336"/>
        <c:crosses val="autoZero"/>
      </c:valAx>
    </c:plotArea>
    <c:dispBlanksAs val="gap"/>
  </c:chart>
  <c:txPr>
    <a:bodyPr/>
    <a:lstStyle/>
    <a:p>
      <a:pPr>
        <a:defRPr sz="900">
          <a:solidFill>
            <a:srgbClr val="40404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7"/>
          <c:y val="0.01"/>
          <c:w val="0.7"/>
          <c:h val="0.98"/>
        </c:manualLayout>
      </c:layout>
      <c:barChart>
        <c:barDir val="bar"/>
        <c:grouping val="clustered"/>
        <c:ser>
          <c:idx val="0"/>
          <c:order val="0"/>
          <c:tx>
            <c:strRef>
              <c:f>Sheet1!$B$1</c:f>
              <c:strCache>
                <c:ptCount val="1"/>
                <c:pt idx="0">
                  <c:v>LF</c:v>
                </c:pt>
              </c:strCache>
            </c:strRef>
          </c:tx>
          <c:spPr>
            <a:solidFill>
              <a:srgbClr val="7F7F7F"/>
            </a:solidFill>
          </c:spPr>
          <c:dPt>
            <c:idx val="0"/>
            <c:spPr>
              <a:solidFill>
                <a:srgbClr val="1F497D"/>
              </a:solidFill>
            </c:spPr>
          </c:dPt>
          <c:dPt>
            <c:idx val="1"/>
            <c:spPr>
              <a:solidFill>
                <a:srgbClr val="1F497D"/>
              </a:solidFill>
            </c:spPr>
          </c:dPt>
          <c:dPt>
            <c:idx val="2"/>
            <c:spPr>
              <a:solidFill>
                <a:srgbClr val="1F497D"/>
              </a:solidFill>
            </c:spPr>
          </c:dPt>
          <c:dPt>
            <c:idx val="3"/>
            <c:spPr>
              <a:solidFill>
                <a:srgbClr val="1F497D"/>
              </a:solidFill>
            </c:spPr>
          </c:dPt>
          <c:dPt>
            <c:idx val="4"/>
            <c:spPr>
              <a:solidFill>
                <a:srgbClr val="1F497D"/>
              </a:solidFill>
            </c:spPr>
          </c:dPt>
          <c:dPt>
            <c:idx val="5"/>
            <c:spPr>
              <a:solidFill>
                <a:srgbClr val="1F497D"/>
              </a:solidFill>
            </c:spPr>
          </c:dPt>
          <c:dPt>
            <c:idx val="6"/>
            <c:spPr>
              <a:solidFill>
                <a:srgbClr val="1F497D"/>
              </a:solidFill>
            </c:spPr>
          </c:dPt>
          <c:dPt>
            <c:idx val="7"/>
            <c:spPr>
              <a:solidFill>
                <a:srgbClr val="1F497D"/>
              </a:solidFill>
            </c:spPr>
          </c:dPt>
          <c:dPt>
            <c:idx val="8"/>
            <c:spPr>
              <a:solidFill>
                <a:srgbClr val="1F497D"/>
              </a:solidFill>
            </c:spPr>
          </c:dPt>
          <c:dPt>
            <c:idx val="9"/>
            <c:spPr>
              <a:solidFill>
                <a:srgbClr val="1F497D"/>
              </a:solidFill>
            </c:spPr>
          </c:dPt>
          <c:dPt>
            <c:idx val="10"/>
            <c:spPr>
              <a:solidFill>
                <a:srgbClr val="1F497D"/>
              </a:solidFill>
            </c:spPr>
          </c:dPt>
          <c:cat>
            <c:strRef>
              <c:f>Sheet1!$A$2:$A$17</c:f>
              <c:strCache>
                <c:ptCount val="16"/>
                <c:pt idx="0">
                  <c:v>Newark</c:v>
                </c:pt>
                <c:pt idx="1">
                  <c:v>Luanda (NBJ)</c:v>
                </c:pt>
                <c:pt idx="2">
                  <c:v>Atlanta</c:v>
                </c:pt>
                <c:pt idx="3">
                  <c:v>Luanda (LAD)</c:v>
                </c:pt>
                <c:pt idx="4">
                  <c:v>Maputo</c:v>
                </c:pt>
                <c:pt idx="5">
                  <c:v>Frankfurt</c:v>
                </c:pt>
                <c:pt idx="6">
                  <c:v>London Heathrow</c:v>
                </c:pt>
                <c:pt idx="7">
                  <c:v>Gaborone</c:v>
                </c:pt>
                <c:pt idx="8">
                  <c:v>Mauritius</c:v>
                </c:pt>
                <c:pt idx="9">
                  <c:v>Harare</c:v>
                </c:pt>
                <c:pt idx="10">
                  <c:v>Washington</c:v>
                </c:pt>
                <c:pt idx="11">
                  <c:v>Maun</c:v>
                </c:pt>
                <c:pt idx="12">
                  <c:v>Windhoek</c:v>
                </c:pt>
                <c:pt idx="13">
                  <c:v>Paris</c:v>
                </c:pt>
                <c:pt idx="14">
                  <c:v>Istanbul</c:v>
                </c:pt>
                <c:pt idx="15">
                  <c:v>Amsterdam</c:v>
                </c:pt>
              </c:strCache>
            </c:strRef>
          </c:cat>
          <c:val>
            <c:numRef>
              <c:f>Sheet1!$B$2:$B$17</c:f>
              <c:numCache>
                <c:formatCode>General</c:formatCode>
                <c:ptCount val="16"/>
                <c:pt idx="0">
                  <c:v>88.6</c:v>
                </c:pt>
                <c:pt idx="1">
                  <c:v>86.2</c:v>
                </c:pt>
                <c:pt idx="2">
                  <c:v>84.3</c:v>
                </c:pt>
                <c:pt idx="3">
                  <c:v>83.4</c:v>
                </c:pt>
                <c:pt idx="4">
                  <c:v>83.3</c:v>
                </c:pt>
                <c:pt idx="5">
                  <c:v>83.0</c:v>
                </c:pt>
                <c:pt idx="6">
                  <c:v>83.0</c:v>
                </c:pt>
                <c:pt idx="7">
                  <c:v>82.3</c:v>
                </c:pt>
                <c:pt idx="8">
                  <c:v>81.8</c:v>
                </c:pt>
                <c:pt idx="9">
                  <c:v>81.3</c:v>
                </c:pt>
                <c:pt idx="10">
                  <c:v>80.2</c:v>
                </c:pt>
                <c:pt idx="11">
                  <c:v>79.0</c:v>
                </c:pt>
                <c:pt idx="12">
                  <c:v>78.5</c:v>
                </c:pt>
                <c:pt idx="13">
                  <c:v>76.7</c:v>
                </c:pt>
                <c:pt idx="14">
                  <c:v>75.5</c:v>
                </c:pt>
                <c:pt idx="15">
                  <c:v>75.4</c:v>
                </c:pt>
              </c:numCache>
            </c:numRef>
          </c:val>
        </c:ser>
        <c:dLbls>
          <c:numFmt formatCode="0.0" sourceLinked="0"/>
          <c:txPr>
            <a:bodyPr/>
            <a:lstStyle/>
            <a:p>
              <a:pPr>
                <a:defRPr sz="900" b="1">
                  <a:solidFill>
                    <a:srgbClr val="FFFFFF"/>
                  </a:solidFill>
                </a:defRPr>
              </a:pPr>
            </a:p>
          </c:txPr>
          <c:dLblPos val="inBase"/>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900"/>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txPr>
          <a:bodyPr/>
          <a:lstStyle/>
          <a:p>
            <a:pPr>
              <a:defRPr sz="900"/>
            </a:pPr>
          </a:p>
        </c:txPr>
        <c:crossAx val="-2068027336"/>
        <c:crosses val="autoZero"/>
      </c:valAx>
    </c:plotArea>
    <c:dispBlanksAs val="gap"/>
  </c:chart>
  <c:txPr>
    <a:bodyPr/>
    <a:lstStyle/>
    <a:p>
      <a:pPr>
        <a:defRPr sz="900">
          <a:solidFill>
            <a:srgbClr val="40404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7"/>
          <c:y val="0.04"/>
          <c:w val="0.68"/>
          <c:h val="0.84"/>
        </c:manualLayout>
      </c:layout>
      <c:scatterChart>
        <c:scatterStyle val="lineMarker"/>
        <c:varyColors val="0"/>
        <c:ser>
          <c:idx val="0"/>
          <c:order val="0"/>
          <c:tx>
            <c:strRef>
              <c:f>Sheet1!$B$1</c:f>
              <c:strCache>
                <c:ptCount val="1"/>
                <c:pt idx="0">
                  <c:v>Conservative</c:v>
                </c:pt>
              </c:strCache>
            </c:strRef>
          </c:tx>
          <c:spPr>
            <a:ln w="28575">
              <a:solidFill>
                <a:srgbClr val="7F7F7F"/>
              </a:solidFill>
            </a:ln>
          </c:spPr>
          <c:marker>
            <c:symbol val="circle"/>
            <c:size val="6"/>
            <c:spPr>
              <a:solidFill>
                <a:srgbClr val="7F7F7F"/>
              </a:solidFill>
              <a:ln>
                <a:solidFill>
                  <a:srgbClr val="7F7F7F"/>
                </a:solidFill>
              </a:ln>
            </c:spPr>
          </c:marker>
          <c:dLbls>
            <c:dLbl>
              <c:idx val="1"/>
              <c:tx>
                <c:rich>
                  <a:bodyPr/>
                  <a:lstStyle/>
                  <a:p>
                    <a:r>
                      <a:rPr sz="950" b="1">
                        <a:solidFill>
                          <a:srgbClr val="7F7F7F"/>
                        </a:solidFill>
                      </a:rPr>
                      <a:t>1.82m conservative</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Sheet1!$A$2:$A$3</c:f>
              <c:numCache>
                <c:formatCode>General</c:formatCode>
                <c:ptCount val="2"/>
                <c:pt idx="0">
                  <c:v>2024</c:v>
                </c:pt>
                <c:pt idx="1">
                  <c:v>2035</c:v>
                </c:pt>
              </c:numCache>
            </c:numRef>
          </c:xVal>
          <c:yVal>
            <c:numRef>
              <c:f>Sheet1!$B$2:$B$3</c:f>
              <c:numCache>
                <c:formatCode>General</c:formatCode>
                <c:ptCount val="2"/>
                <c:pt idx="0">
                  <c:v>1.445</c:v>
                </c:pt>
                <c:pt idx="1">
                  <c:v>1.823</c:v>
                </c:pt>
              </c:numCache>
            </c:numRef>
          </c:yVal>
          <c:smooth val="0"/>
        </c:ser>
        <c:ser>
          <c:idx val="1"/>
          <c:order val="1"/>
          <c:tx>
            <c:strRef>
              <c:f>Sheet1!$B$5</c:f>
              <c:strCache>
                <c:ptCount val="1"/>
                <c:pt idx="0">
                  <c:v>Base</c:v>
                </c:pt>
              </c:strCache>
            </c:strRef>
          </c:tx>
          <c:spPr>
            <a:ln w="28575">
              <a:solidFill>
                <a:srgbClr val="1F497D"/>
              </a:solidFill>
            </a:ln>
          </c:spPr>
          <c:marker>
            <c:symbol val="circle"/>
            <c:size val="6"/>
            <c:spPr>
              <a:solidFill>
                <a:srgbClr val="1F497D"/>
              </a:solidFill>
              <a:ln>
                <a:solidFill>
                  <a:srgbClr val="1F497D"/>
                </a:solidFill>
              </a:ln>
            </c:spPr>
          </c:marker>
          <c:dLbls>
            <c:dLbl>
              <c:idx val="5"/>
              <c:tx>
                <c:rich>
                  <a:bodyPr/>
                  <a:lstStyle/>
                  <a:p>
                    <a:r>
                      <a:rPr sz="950" b="1">
                        <a:solidFill>
                          <a:srgbClr val="1F497D"/>
                        </a:solidFill>
                      </a:rPr>
                      <a:t>2.18m base</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Sheet1!$A$6:$A$11</c:f>
              <c:numCache>
                <c:formatCode>General</c:formatCode>
                <c:ptCount val="6"/>
                <c:pt idx="0">
                  <c:v>2024</c:v>
                </c:pt>
                <c:pt idx="1">
                  <c:v>2028</c:v>
                </c:pt>
                <c:pt idx="2">
                  <c:v>2030</c:v>
                </c:pt>
                <c:pt idx="3">
                  <c:v>2032</c:v>
                </c:pt>
                <c:pt idx="4">
                  <c:v>2034</c:v>
                </c:pt>
                <c:pt idx="5">
                  <c:v>2035</c:v>
                </c:pt>
              </c:numCache>
            </c:numRef>
          </c:xVal>
          <c:yVal>
            <c:numRef>
              <c:f>Sheet1!$B$6:$B$11</c:f>
              <c:numCache>
                <c:formatCode>General</c:formatCode>
                <c:ptCount val="6"/>
                <c:pt idx="0">
                  <c:v>1.445</c:v>
                </c:pt>
                <c:pt idx="1">
                  <c:v>1.674</c:v>
                </c:pt>
                <c:pt idx="2">
                  <c:v>1.803</c:v>
                </c:pt>
                <c:pt idx="3">
                  <c:v>1.943</c:v>
                </c:pt>
                <c:pt idx="4">
                  <c:v>2.095</c:v>
                </c:pt>
                <c:pt idx="5">
                  <c:v>2.176</c:v>
                </c:pt>
              </c:numCache>
            </c:numRef>
          </c:yVal>
          <c:smooth val="0"/>
        </c:ser>
        <c:ser>
          <c:idx val="2"/>
          <c:order val="2"/>
          <c:tx>
            <c:strRef>
              <c:f>Sheet1!$B$13</c:f>
              <c:strCache>
                <c:ptCount val="1"/>
                <c:pt idx="0">
                  <c:v>Accelerated</c:v>
                </c:pt>
              </c:strCache>
            </c:strRef>
          </c:tx>
          <c:spPr>
            <a:ln w="28575">
              <a:solidFill>
                <a:srgbClr val="4F81BD"/>
              </a:solidFill>
            </a:ln>
          </c:spPr>
          <c:marker>
            <c:symbol val="circle"/>
            <c:size val="6"/>
            <c:spPr>
              <a:solidFill>
                <a:srgbClr val="4F81BD"/>
              </a:solidFill>
              <a:ln>
                <a:solidFill>
                  <a:srgbClr val="4F81BD"/>
                </a:solidFill>
              </a:ln>
            </c:spPr>
          </c:marker>
          <c:dLbls>
            <c:dLbl>
              <c:idx val="1"/>
              <c:tx>
                <c:rich>
                  <a:bodyPr/>
                  <a:lstStyle/>
                  <a:p>
                    <a:r>
                      <a:rPr sz="950" b="1">
                        <a:solidFill>
                          <a:srgbClr val="4F81BD"/>
                        </a:solidFill>
                      </a:rPr>
                      <a:t>2.52m accelerated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Sheet1!$A$14:$A$15</c:f>
              <c:numCache>
                <c:formatCode>General</c:formatCode>
                <c:ptCount val="2"/>
                <c:pt idx="0">
                  <c:v>2024</c:v>
                </c:pt>
                <c:pt idx="1">
                  <c:v>2035</c:v>
                </c:pt>
              </c:numCache>
            </c:numRef>
          </c:xVal>
          <c:yVal>
            <c:numRef>
              <c:f>Sheet1!$B$14:$B$15</c:f>
              <c:numCache>
                <c:formatCode>General</c:formatCode>
                <c:ptCount val="2"/>
                <c:pt idx="0">
                  <c:v>1.445</c:v>
                </c:pt>
                <c:pt idx="1">
                  <c:v>2.516</c:v>
                </c:pt>
              </c:numCache>
            </c:numRef>
          </c:yVal>
          <c:smooth val="0"/>
        </c:ser>
        <c:ser>
          <c:idx val="3"/>
          <c:order val="3"/>
          <c:tx>
            <c:strRef>
              <c:f>Sheet1!$B$17</c:f>
              <c:strCache>
                <c:ptCount val="1"/>
                <c:pt idx="0">
                  <c:v>Goal</c:v>
                </c:pt>
              </c:strCache>
            </c:strRef>
          </c:tx>
          <c:spPr>
            <a:ln w="19050">
              <a:noFill/>
            </a:ln>
          </c:spPr>
          <c:marker>
            <c:symbol val="diamond"/>
            <c:size val="11"/>
            <c:spPr>
              <a:solidFill>
                <a:srgbClr val="00AEEF"/>
              </a:solidFill>
              <a:ln>
                <a:solidFill>
                  <a:srgbClr val="00AEEF"/>
                </a:solidFill>
              </a:ln>
            </c:spPr>
          </c:marker>
          <c:dLbls>
            <c:dLbl>
              <c:idx val="0"/>
              <c:tx>
                <c:rich>
                  <a:bodyPr/>
                  <a:lstStyle/>
                  <a:p>
                    <a:r>
                      <a:rPr sz="950" b="1">
                        <a:solidFill>
                          <a:srgbClr val="00AEEF"/>
                        </a:solidFill>
                      </a:rPr>
                      <a:t>2.8m goal</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Sheet1!$A$18:$A$18</c:f>
              <c:numCache>
                <c:formatCode>General</c:formatCode>
                <c:ptCount val="1"/>
                <c:pt idx="0">
                  <c:v>2035</c:v>
                </c:pt>
              </c:numCache>
            </c:numRef>
          </c:xVal>
          <c:yVal>
            <c:numRef>
              <c:f>Sheet1!$B$18:$B$18</c:f>
              <c:numCache>
                <c:formatCode>General</c:formatCode>
                <c:ptCount val="1"/>
                <c:pt idx="0">
                  <c:v>2.8</c:v>
                </c:pt>
              </c:numCache>
            </c:numRef>
          </c:yVal>
          <c:smooth val="0"/>
        </c:ser>
        <c:ser>
          <c:idx val="4"/>
          <c:order val="4"/>
          <c:tx>
            <c:strRef>
              <c:f>Sheet1!$B$20</c:f>
              <c:strCache>
                <c:ptCount val="1"/>
                <c:pt idx="0">
                  <c:v>Seat ceiling</c:v>
                </c:pt>
              </c:strCache>
            </c:strRef>
          </c:tx>
          <c:spPr>
            <a:ln w="19050">
              <a:solidFill>
                <a:srgbClr val="D9D9D9"/>
              </a:solidFill>
              <a:prstDash val="dash"/>
            </a:ln>
          </c:spPr>
          <c:marker>
            <c:symbol val="none"/>
          </c:marker>
          <c:dLbls>
            <c:dLbl>
              <c:idx val="1"/>
              <c:tx>
                <c:rich>
                  <a:bodyPr/>
                  <a:lstStyle/>
                  <a:p>
                    <a:r>
                      <a:rPr sz="950" b="1">
                        <a:solidFill>
                          <a:srgbClr val="7F7F7F"/>
                        </a:solidFill>
                      </a:rPr>
                      <a:t>1.8m seat ceiling</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Sheet1!$A$21:$A$22</c:f>
              <c:numCache>
                <c:formatCode>General</c:formatCode>
                <c:ptCount val="2"/>
                <c:pt idx="0">
                  <c:v>2024</c:v>
                </c:pt>
                <c:pt idx="1">
                  <c:v>2035</c:v>
                </c:pt>
              </c:numCache>
            </c:numRef>
          </c:xVal>
          <c:yVal>
            <c:numRef>
              <c:f>Sheet1!$B$21:$B$22</c:f>
              <c:numCache>
                <c:formatCode>General</c:formatCode>
                <c:ptCount val="2"/>
                <c:pt idx="0">
                  <c:v>1.8</c:v>
                </c:pt>
                <c:pt idx="1">
                  <c:v>1.8</c:v>
                </c:pt>
              </c:numCache>
            </c:numRef>
          </c:yVal>
          <c:smooth val="0"/>
        </c:ser>
        <c:axId val="-2128940872"/>
        <c:axId val="-2129643912"/>
      </c:scatterChart>
      <c:valAx>
        <c:axId val="-2128940872"/>
        <c:scaling>
          <c:orientation val="minMax"/>
          <c:max val="2035.0"/>
          <c:min val="2024.0"/>
        </c:scaling>
        <c:delete val="0"/>
        <c:axPos val="b"/>
        <c:numFmt formatCode="0" sourceLinked="0"/>
        <c:majorTickMark val="out"/>
        <c:minorTickMark val="none"/>
        <c:tickLblPos val="nextTo"/>
        <c:spPr>
          <a:ln>
            <a:solidFill>
              <a:srgbClr val="D9D9D9"/>
            </a:solidFill>
          </a:ln>
        </c:spPr>
        <c:txPr>
          <a:bodyPr/>
          <a:lstStyle/>
          <a:p>
            <a:pPr>
              <a:defRPr sz="900">
                <a:solidFill>
                  <a:srgbClr val="7F7F7F"/>
                </a:solidFill>
              </a:defRPr>
            </a:pPr>
          </a:p>
        </c:txPr>
        <c:crossAx val="-2129643912"/>
        <c:crosses val="autoZero"/>
        <c:crossBetween val="midCat"/>
        <c:majorUnit val="1.0"/>
      </c:valAx>
      <c:valAx>
        <c:axId val="-2129643912"/>
        <c:scaling>
          <c:orientation val="minMax"/>
          <c:max val="3.0"/>
          <c:min val="1.0"/>
        </c:scaling>
        <c:delete val="0"/>
        <c:axPos val="l"/>
        <c:numFmt formatCode="0.0&quot;m&quot;" sourceLinked="0"/>
        <c:majorTickMark val="out"/>
        <c:minorTickMark val="none"/>
        <c:tickLblPos val="nextTo"/>
        <c:spPr>
          <a:ln>
            <a:solidFill>
              <a:srgbClr val="D9D9D9"/>
            </a:solidFill>
          </a:ln>
        </c:spPr>
        <c:txPr>
          <a:bodyPr/>
          <a:lstStyle/>
          <a:p>
            <a:pPr>
              <a:defRPr sz="900">
                <a:solidFill>
                  <a:srgbClr val="7F7F7F"/>
                </a:solidFill>
              </a:defRPr>
            </a:pPr>
          </a:p>
        </c:txPr>
        <c:crossAx val="-2128940872"/>
        <c:crosses val="autoZero"/>
        <c:crossBetween val="midCat"/>
        <c:majorUnit val="0.5"/>
      </c:valAx>
    </c:plotArea>
    <c:plotVisOnly val="1"/>
    <c:dispBlanksAs val="gap"/>
    <c:showDLblsOverMax val="0"/>
  </c:chart>
  <c:txPr>
    <a:bodyPr/>
    <a:lstStyle/>
    <a:p>
      <a:pPr>
        <a:defRPr sz="9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3"/>
          <c:y val="0.04"/>
          <c:w val="0.8"/>
          <c:h val="0.82"/>
        </c:manualLayout>
      </c:layout>
      <c:lineChart>
        <c:grouping val="standard"/>
        <c:varyColors val="0"/>
        <c:ser>
          <c:idx val="0"/>
          <c:order val="0"/>
          <c:tx>
            <c:strRef>
              <c:f>Sheet1!$B$1</c:f>
              <c:strCache>
                <c:ptCount val="1"/>
                <c:pt idx="0">
                  <c:v>Attractiveness</c:v>
                </c:pt>
              </c:strCache>
            </c:strRef>
          </c:tx>
          <c:spPr>
            <a:ln w="28575">
              <a:solidFill>
                <a:srgbClr val="1F497D"/>
              </a:solidFill>
            </a:ln>
          </c:spPr>
          <c:marker>
            <c:symbol val="circle"/>
            <c:size val="7"/>
            <c:spPr>
              <a:solidFill>
                <a:srgbClr val="1F497D"/>
              </a:solidFill>
              <a:ln>
                <a:solidFill>
                  <a:srgbClr val="1F497D"/>
                </a:solidFill>
              </a:ln>
            </c:spPr>
          </c:marker>
          <c:dLbls>
            <c:numFmt formatCode="0.0" sourceLinked="0"/>
            <c:txPr>
              <a:bodyPr/>
              <a:lstStyle/>
              <a:p>
                <a:pPr>
                  <a:defRPr sz="950">
                    <a:solidFill>
                      <a:srgbClr val="1F497D"/>
                    </a:solidFill>
                  </a:defRPr>
                </a:pPr>
              </a:p>
            </c:txPr>
            <c:dLblPos val="t"/>
            <c:showLegendKey val="0"/>
            <c:showVal val="1"/>
            <c:showCatName val="0"/>
            <c:showSerName val="0"/>
            <c:showPercent val="0"/>
            <c:showBubbleSize val="0"/>
            <c:showLeaderLines val="1"/>
          </c:dLbls>
          <c:cat>
            <c:strRef>
              <c:f>Sheet1!$A$2:$A$7</c:f>
              <c:strCache>
                <c:ptCount val="6"/>
                <c:pt idx="0">
                  <c:v>Cape Metro</c:v>
                </c:pt>
                <c:pt idx="1">
                  <c:v>Winelands</c:v>
                </c:pt>
                <c:pt idx="2">
                  <c:v>Garden Route</c:v>
                </c:pt>
                <c:pt idx="3">
                  <c:v>Overberg</c:v>
                </c:pt>
                <c:pt idx="4">
                  <c:v>West Coast</c:v>
                </c:pt>
                <c:pt idx="5">
                  <c:v>Central Karoo</c:v>
                </c:pt>
              </c:strCache>
            </c:strRef>
          </c:cat>
          <c:val>
            <c:numRef>
              <c:f>Sheet1!$B$2:$B$7</c:f>
              <c:numCache>
                <c:formatCode>General</c:formatCode>
                <c:ptCount val="6"/>
                <c:pt idx="0">
                  <c:v>4.8</c:v>
                </c:pt>
                <c:pt idx="1">
                  <c:v>4.0</c:v>
                </c:pt>
                <c:pt idx="2">
                  <c:v>4.3</c:v>
                </c:pt>
                <c:pt idx="3">
                  <c:v>4.3</c:v>
                </c:pt>
                <c:pt idx="4">
                  <c:v>4.3</c:v>
                </c:pt>
                <c:pt idx="5">
                  <c:v>3.3</c:v>
                </c:pt>
              </c:numCache>
            </c:numRef>
          </c:val>
          <c:smooth val="0"/>
        </c:ser>
        <c:ser>
          <c:idx val="1"/>
          <c:order val="1"/>
          <c:tx>
            <c:strRef>
              <c:f>Sheet1!$C$1</c:f>
              <c:strCache>
                <c:ptCount val="1"/>
                <c:pt idx="0">
                  <c:v>Accessibility</c:v>
                </c:pt>
              </c:strCache>
            </c:strRef>
          </c:tx>
          <c:spPr>
            <a:ln w="28575">
              <a:solidFill>
                <a:srgbClr val="00AEEF"/>
              </a:solidFill>
            </a:ln>
          </c:spPr>
          <c:marker>
            <c:symbol val="circle"/>
            <c:size val="7"/>
            <c:spPr>
              <a:solidFill>
                <a:srgbClr val="00AEEF"/>
              </a:solidFill>
              <a:ln>
                <a:solidFill>
                  <a:srgbClr val="00AEEF"/>
                </a:solidFill>
              </a:ln>
            </c:spPr>
          </c:marker>
          <c:dLbls>
            <c:numFmt formatCode="0.0" sourceLinked="0"/>
            <c:txPr>
              <a:bodyPr/>
              <a:lstStyle/>
              <a:p>
                <a:pPr>
                  <a:defRPr sz="950">
                    <a:solidFill>
                      <a:srgbClr val="00AEEF"/>
                    </a:solidFill>
                  </a:defRPr>
                </a:pPr>
              </a:p>
            </c:txPr>
            <c:dLblPos val="b"/>
            <c:showLegendKey val="0"/>
            <c:showVal val="1"/>
            <c:showCatName val="0"/>
            <c:showSerName val="0"/>
            <c:showPercent val="0"/>
            <c:showBubbleSize val="0"/>
            <c:showLeaderLines val="1"/>
          </c:dLbls>
          <c:cat>
            <c:strRef>
              <c:f>Sheet1!$A$2:$A$7</c:f>
              <c:strCache>
                <c:ptCount val="6"/>
                <c:pt idx="0">
                  <c:v>Cape Metro</c:v>
                </c:pt>
                <c:pt idx="1">
                  <c:v>Winelands</c:v>
                </c:pt>
                <c:pt idx="2">
                  <c:v>Garden Route</c:v>
                </c:pt>
                <c:pt idx="3">
                  <c:v>Overberg</c:v>
                </c:pt>
                <c:pt idx="4">
                  <c:v>West Coast</c:v>
                </c:pt>
                <c:pt idx="5">
                  <c:v>Central Karoo</c:v>
                </c:pt>
              </c:strCache>
            </c:strRef>
          </c:cat>
          <c:val>
            <c:numRef>
              <c:f>Sheet1!$C$2:$C$7</c:f>
              <c:numCache>
                <c:formatCode>General</c:formatCode>
                <c:ptCount val="6"/>
                <c:pt idx="0">
                  <c:v>4.7</c:v>
                </c:pt>
                <c:pt idx="1">
                  <c:v>3.3</c:v>
                </c:pt>
                <c:pt idx="2">
                  <c:v>3.0</c:v>
                </c:pt>
                <c:pt idx="3">
                  <c:v>2.0</c:v>
                </c:pt>
                <c:pt idx="4">
                  <c:v>2.0</c:v>
                </c:pt>
                <c:pt idx="5">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950"/>
            </a:pPr>
          </a:p>
        </c:txPr>
        <c:crossAx val="2140495176"/>
        <c:crosses val="autoZero"/>
        <c:auto val="1"/>
        <c:lblAlgn val="ctr"/>
        <c:lblOffset val="100"/>
        <c:noMultiLvlLbl val="0"/>
      </c:catAx>
      <c:valAx>
        <c:axId val="2140495176"/>
        <c:scaling>
          <c:max val="5.5"/>
          <c:min val="0.0"/>
        </c:scaling>
        <c:delete/>
        <c:axPos val="l"/>
        <c:majorTickMark val="out"/>
        <c:minorTickMark val="none"/>
        <c:tickLblPos val="nextTo"/>
        <c:spPr>
          <a:ln>
            <a:solidFill>
              <a:srgbClr val="D9D9D9"/>
            </a:solidFill>
          </a:ln>
        </c:spPr>
        <c:txPr>
          <a:bodyPr/>
          <a:lstStyle/>
          <a:p>
            <a:pPr>
              <a:defRPr sz="950">
                <a:solidFill>
                  <a:srgbClr val="7F7F7F"/>
                </a:solidFill>
              </a:defRPr>
            </a:pPr>
          </a:p>
        </c:txPr>
        <c:crossAx val="2118791784"/>
        <c:crosses val="autoZero"/>
      </c:valAx>
    </c:plotArea>
    <c:plotVisOnly val="1"/>
    <c:dispBlanksAs val="gap"/>
    <c:showDLblsOverMax val="0"/>
  </c:chart>
  <c:txPr>
    <a:bodyPr/>
    <a:lstStyle/>
    <a:p>
      <a:pPr>
        <a:defRPr sz="950">
          <a:solidFill>
            <a:srgbClr val="40404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Board-level summary of findings for the Wesgro Unlocking Tourism Growth study. Draft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session has three jobs. We test what the deliverables found, agree how the remaining gaps close and leave with one working answer and a plan to finish. The running order gives most time to the findings.</a:t>
            </a:r>
          </a:p>
          <a:p/>
          <a:p>
            <a:r>
              <a:t>Question for the room: Is anything missing from these three outcomes that you need from today?</a:t>
            </a:r>
          </a:p>
          <a:p/>
          <a:p>
            <a:r>
              <a:t>Sources: Session design by Letsema; no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objective is a strategy that doubles international arrivals by 2035, with jobs, SMME and airlift targets beside it. Six workstreams deliver it. Four of ten deliverables are final, three are in draft and three remain, including the M&amp;E toolkit and the final report.</a:t>
            </a:r>
          </a:p>
          <a:p/>
          <a:p>
            <a:r>
              <a:t>Question for the room: Do the four targets still define success, or should spend and length of stay sit beside arrivals?</a:t>
            </a:r>
          </a:p>
          <a:p/>
          <a:p>
            <a:r>
              <a:t>Sources: Inception Report p4; RFP s2 and s3.1 to 3.6; SLA Annexure B 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Nine documents have landed in eleven months, most of them in March and June. The contract ends on 31 October, before the final report, the M&amp;E toolkit and the launch. Clause 4.3 lets Wesgro extend by notice a month before expiry and a written addendum.</a:t>
            </a:r>
          </a:p>
          <a:p/>
          <a:p>
            <a:r>
              <a:t>Question for the room: Has Wesgro given notice under clause 4.3, and who signs the addendum?</a:t>
            </a:r>
          </a:p>
          <a:p/>
          <a:p>
            <a:r>
              <a:t>Sources: SLA clauses 4.1 and 4.3, Annexure B; cover dates of each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tree the deliverables were built to test: three pillars, six focus areas and eighteen themes. The supply and inclusion reports were explicitly framed by it, so their agreement with it is not independent evidence.</a:t>
            </a:r>
          </a:p>
          <a:p/>
          <a:p>
            <a:r>
              <a:t>Question for the room: Which branch of this tree did you expect the evidence to challenge most?</a:t>
            </a:r>
          </a:p>
          <a:p/>
          <a:p>
            <a:r>
              <a:t>Sources: Diagnostic v2 p64; Infrastructure Report pp2-3; SME plan p2.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Recovery is complete: Cape Town airport counted more international arrivals in FY24/25 than before COVID. But the base is narrow. Five markets give 61% of overseas arrivals, October to March carries 61% of visitors, the Metro holds 72.5% of GDPR and one airline serves Asia.</a:t>
            </a:r>
          </a:p>
          <a:p/>
          <a:p>
            <a:r>
              <a:t>Question for the room: Which of the four concentrations should the strategy break first?</a:t>
            </a:r>
          </a:p>
          <a:p/>
          <a:p>
            <a:r>
              <a:t>Sources: Diagnostic pp25 (arrivals), 28 and 32 (months), 29 (markets), 35 (airlines), 39 (GDPR).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comparator pulled one main lever, but none relied on it alone. The report finds three system components behind every case: institutional coordination, strategic marketing and accessibility. Melbourne’s figure is a forecast inside the norm; NZ’s return is as reported, with its basis not stated.</a:t>
            </a:r>
          </a:p>
          <a:p/>
          <a:p>
            <a:r>
              <a:t>Question for the room: Which comparator’s system is closest to what the Western Cape could build in five years?</a:t>
            </a:r>
          </a:p>
          <a:p/>
          <a:p>
            <a:r>
              <a:t>Sources: Benchmark pp7, 9, 17-18, 25-26, 47-49, 54, 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tally shows agreement on the coordination problem: collaboration and policy and data come first. DEDAT rates bilateral air agreements, funding and SA Tourism’s weakness as high-impact constraints. None of the sixteen organisations heard was an airline, SA Tourism, the City or Home Affairs.</a:t>
            </a:r>
          </a:p>
          <a:p/>
          <a:p>
            <a:r>
              <a:t>Question for the room: Who in this room can open doors to the airlines and Home Affairs within three weeks?</a:t>
            </a:r>
          </a:p>
          <a:p/>
          <a:p>
            <a:r>
              <a:t>Sources: Stakeholder Insights pp16, 20-46, 24-25.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June carries 6.4% of the year’s international seats against 10.8% in December: airlines take capacity out in winter, so green-season demand is what keeps seats in the schedule. Eleven routes run above 80% estimated load and airlines will raise fares before they add seats. Some 101,000 India and China journeys already route via hubs.</a:t>
            </a:r>
          </a:p>
          <a:p/>
          <a:p>
            <a:r>
              <a:t>Question for the room: Which full routes should Wesgro Air Access take to airlines first, and with what offer?</a:t>
            </a:r>
          </a:p>
          <a:p/>
          <a:p>
            <a:r>
              <a:t>Sources: MIDAS pp3, 13, 15, 17, 18-19, 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model’s best case reaches 2.52m, about 280,000 short of the goal, and only with confirmed direct India and China routes. The base case meets the report’s stated 1.8m inbound seat ceiling around 2030. A US visitor spends nearly four times as much as a Namibian visitor.</a:t>
            </a:r>
          </a:p>
          <a:p/>
          <a:p>
            <a:r>
              <a:t>Question for the room: Do we keep 2.8m arrivals as the headline goal, or add a spend goal beside it?</a:t>
            </a:r>
          </a:p>
          <a:p/>
          <a:p>
            <a:r>
              <a:t>Sources: Demand-Side pp14, 19-21, 37, 45-50, 53.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province has the assets: natural attractions score 3.3 or higher everywhere. What collapses with distance is access, then bookability. Most rural properties have no OTA presence and Overberg and West Coast marine and wildflower assets have no product. Only one of six touring routes has been scored.</a:t>
            </a:r>
          </a:p>
          <a:p/>
          <a:p>
            <a:r>
              <a:t>Question for the room: Which two routes should be scored and backed first?</a:t>
            </a:r>
          </a:p>
          <a:p/>
          <a:p>
            <a:r>
              <a:t>Sources: Infrastructure Report pp2, 29, 31-33, 36-40.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Foreign visitors spend R4m to R10m a year in these twenty communities, against R259m if they captured 1%. Distance is not the problem: 93 of 107 long-listed communities sit within 45 minutes of a tourism node or corridor. Organisation and safety are. Kliptown shows what happens when capital comes first.</a:t>
            </a:r>
          </a:p>
          <a:p/>
          <a:p>
            <a:r>
              <a:t>Question for the room: Which two or three communities should pilot a seller with a stake in 2027?</a:t>
            </a:r>
          </a:p>
          <a:p/>
          <a:p>
            <a:r>
              <a:t>Sources: SME plan pp5, 12, 16, 23-24, 27.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July tree keeps the three pillars but rewrites the hypothesis as supply-constrained. It grows from eighteen to twenty themes, adds brand equity and workforce skills and moves capital under governance. The team marked ten themes validated, eight refined and two new.</a:t>
            </a:r>
          </a:p>
          <a:p/>
          <a:p>
            <a:r>
              <a:t>Question for the room: Does "supply-constrained" still hold after the MIDAS and Demand-Side evidence?</a:t>
            </a:r>
          </a:p>
          <a:p/>
          <a:p>
            <a:r>
              <a:t>Sources: Hypothesis Tree v4 (title and markers); Diagnostic p64.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Fourteen focus areas are supported, five partly and one not yet tested. "Supported, Strong" needs two independent sources. The supply and inclusion reports were framed by the tree, so the strong verdicts lean on MIDAS, Demand-Side and Stakeholder evidence for independence.</a:t>
            </a:r>
          </a:p>
          <a:p/>
          <a:p>
            <a:r>
              <a:t>Question for the room: Which partly supported area matters most to the final answer: segments, brand, priority markets, resilience or capital?</a:t>
            </a:r>
          </a:p>
          <a:p/>
          <a:p>
            <a:r>
              <a:t>Sources: Appendix A1; Hypothesis Tree v4; all interim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change follows a finding. Air access splits because the constraint has moved from winning routes to holding capacity. Cruise gets its own focus area because the RFP targets it and evidence now exists. Seasonality is reworded because airlines withdraw winter seats. Evidence: 1 MIDAS pp13, 17, 22; 2 RFP s2 and the Wesgro/StratEcon cruise report via mobility factbase; 3 MIDAS p15, Demand-Side p37; 4 Infrastructure pp31-33; 5 Stakeholder p24 (DEDAT), MIDAS p22, Demand-Side p14; 6 MIDAS pp18-19, Demand-Side p20; 7 Stakeholder pp27, 43-44; 8 SME plan (De Rust).</a:t>
            </a:r>
          </a:p>
          <a:p/>
          <a:p>
            <a:r>
              <a:t>Question for the room: Which of the eight changes would you reject, and on what evidence?</a:t>
            </a:r>
          </a:p>
          <a:p/>
          <a:p>
            <a:r>
              <a:t>Sources: As listed on the slide; pages in the source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seven findings are the spine of the final report. Each is a fact with an action, and each is backed by at least two deliverables. Pages: 1 MIDAS p15, Demand-Side p37, Stakeholder p45; 2 MIDAS pp17, 22, Demand-Side pp21, 53; 3 MIDAS pp18-19, Demand-Side pp20, 45-50; 4 Stakeholder p42, Infrastructure pp31-33, Demand-Side pp45-50; 5 Infrastructure p29, Diagnostic p39; 6 SME plan pp5, 16, Stakeholder p25; 7 Stakeholder pp24-25, municipal factbase.</a:t>
            </a:r>
          </a:p>
          <a:p/>
          <a:p>
            <a:r>
              <a:t>Question for the room: Is there a finding here you would not put in front of the Board?</a:t>
            </a:r>
          </a:p>
          <a:p/>
          <a:p>
            <a:r>
              <a:t>Sources: As listed in the talking 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factbase phrase "capture-poor, not demand-poor" is half right. Demand sits in hubs, events and regions the province cannot yet sell, book or govern. But fares, safety, peak prices and funding also bind. Falsification test: if listing, packaging and hub co-marketing lift bookings by 2028 without moving arrivals, the demand constraints dominate.</a:t>
            </a:r>
          </a:p>
          <a:p/>
          <a:p>
            <a:r>
              <a:t>Question for the room: Which half of the answer should lead the final report?</a:t>
            </a:r>
          </a:p>
          <a:p/>
          <a:p>
            <a:r>
              <a:t>Sources: DSE factbase s1.1; MIDAS p22; Stakeholder pp24-25, 46; SME plan p27.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roadmap turns the findings into conditions, not projects. By 2028 the province must be bookable and have a green-season pipeline. By 2030, when the base case meets the seat ceiling, frequency deals and bilateral relief must be in place. Owners are the tier where the lever sits; no input commits anyone yet.</a:t>
            </a:r>
          </a:p>
          <a:p/>
          <a:p>
            <a:r>
              <a:t>Question for the room: Which 2028 condition is Wesgro prepared to be held to?</a:t>
            </a:r>
          </a:p>
          <a:p/>
          <a:p>
            <a:r>
              <a:t>Sources: Demand-Side pp19-21; MIDAS pp18-19, 22; SME plan p5; cruise report via mobility factbase.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top-right quadrant is the six-week work: the M&amp;E toolkit, investment returns, marketing, spend and jobs, stakeholder coverage, route scoring and the target metric. Safety and visas matter but cannot be closed by this study; we bound them and name national owners. Placement is a Letsema judgement for discussion.</a:t>
            </a:r>
          </a:p>
          <a:p/>
          <a:p>
            <a:r>
              <a:t>Question for the room: Would you move any gap into or out of the top-right quadrant?</a:t>
            </a:r>
          </a:p>
          <a:p/>
          <a:p>
            <a:r>
              <a:t>Sources: SLA Annexure B 1.1.2, 1.1.4, 1.1.6, 1.1.7, 1.1.8, 1.1.10; RFP s2 to s4.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plan closes the top-right gaps by week 4 and puts a draft report in front of Steercom in week 5. The first milestone is the extension decision: without it work stops on 31 October, in week 3. Approval dates are not yet set.</a:t>
            </a:r>
          </a:p>
          <a:p/>
          <a:p>
            <a:r>
              <a:t>Question for the room: Can Exco and the Board take the report in the week of 16 November?</a:t>
            </a:r>
          </a:p>
          <a:p/>
          <a:p>
            <a:r>
              <a:t>Sources: SLA clause 4.3; Annexure B 3.2.6, 3.2.9, 3.2.10.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decision unblocks part of the six-week plan. The extension comes first because everything after 31 October depends on it. The tree changes and the working answer set the report’s structure.</a:t>
            </a:r>
          </a:p>
          <a:p/>
          <a:p>
            <a:r>
              <a:t>Question for the room: Which of these six can we close before we leave the room?</a:t>
            </a:r>
          </a:p>
          <a:p/>
          <a:p>
            <a:r>
              <a:t>Sources: SLA clause 4.3; slides 15, 17, 19 and 20.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main deck. Appendix follows.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one full table in the deck. It records the verdict, strength and key evidence for each of the twenty v4 focus areas.</a:t>
            </a:r>
          </a:p>
          <a:p/>
          <a:p>
            <a:r>
              <a:t>Question for the room: Is any verdict here stronger than its evidence?</a:t>
            </a:r>
          </a:p>
          <a:p/>
          <a:p>
            <a:r>
              <a:t>Sources: As cited per row.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issues do not change the findings, but each must be fixed or footnoted before the Board sees the numbers. The M&amp;E toolkit needs one arrivals metric, one base year and one source.</a:t>
            </a:r>
          </a:p>
          <a:p/>
          <a:p>
            <a:r>
              <a:t>Question for the room: Which baseline should the M&amp;E toolkit adopt?</a:t>
            </a:r>
          </a:p>
          <a:p/>
          <a:p>
            <a:r>
              <a:t>Sources: As listed.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9.xml"/><Relationship Id="rId4" Type="http://schemas.openxmlformats.org/officeDocument/2006/relationships/chart" Target="../charts/chart1.xml"/><Relationship Id="rId5"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cover_bg.jp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411480" y="4709160"/>
            <a:ext cx="7772400" cy="502920"/>
          </a:xfrm>
        </p:spPr>
        <p:txBody>
          <a:bodyPr lIns="0" rIns="0" tIns="0" bIns="0"/>
          <a:lstStyle/>
          <a:p>
            <a:pPr algn="l"/>
            <a:r>
              <a:rPr sz="2800" b="1" i="0">
                <a:solidFill>
                  <a:srgbClr val="FFFFFF"/>
                </a:solidFill>
                <a:latin typeface="Arial"/>
              </a:rPr>
              <a:t>Unlocking Tourism Growth</a:t>
            </a:r>
          </a:p>
        </p:txBody>
      </p:sp>
      <p:pic>
        <p:nvPicPr>
          <p:cNvPr id="4" name="Picture 3" descr="letsema.png"/>
          <p:cNvPicPr>
            <a:picLocks noChangeAspect="1"/>
          </p:cNvPicPr>
          <p:nvPr/>
        </p:nvPicPr>
        <p:blipFill>
          <a:blip r:embed="rId3"/>
          <a:stretch>
            <a:fillRect/>
          </a:stretch>
        </p:blipFill>
        <p:spPr>
          <a:xfrm>
            <a:off x="411480" y="2697480"/>
            <a:ext cx="1874519" cy="245063"/>
          </a:xfrm>
          <a:prstGeom prst="rect">
            <a:avLst/>
          </a:prstGeom>
        </p:spPr>
      </p:pic>
      <p:sp>
        <p:nvSpPr>
          <p:cNvPr id="5" name="TextBox 4"/>
          <p:cNvSpPr txBox="1"/>
          <p:nvPr/>
        </p:nvSpPr>
        <p:spPr>
          <a:xfrm>
            <a:off x="411480" y="3035808"/>
            <a:ext cx="2743200" cy="228600"/>
          </a:xfrm>
          <a:prstGeom prst="rect">
            <a:avLst/>
          </a:prstGeom>
          <a:noFill/>
        </p:spPr>
        <p:txBody>
          <a:bodyPr wrap="square" anchor="t" lIns="36576" rIns="36576" tIns="21945" bIns="21945">
            <a:spAutoFit/>
          </a:bodyPr>
          <a:lstStyle/>
          <a:p>
            <a:pPr algn="l">
              <a:spcAft>
                <a:spcPts val="0"/>
              </a:spcAft>
            </a:pPr>
            <a:r>
              <a:rPr sz="800" b="0" i="1">
                <a:solidFill>
                  <a:srgbClr val="FFFFFF"/>
                </a:solidFill>
                <a:latin typeface="Arial"/>
              </a:rPr>
              <a:t>In partnership with</a:t>
            </a:r>
          </a:p>
        </p:txBody>
      </p:sp>
      <p:pic>
        <p:nvPicPr>
          <p:cNvPr id="6" name="Picture 5" descr="skift.png"/>
          <p:cNvPicPr>
            <a:picLocks noChangeAspect="1"/>
          </p:cNvPicPr>
          <p:nvPr/>
        </p:nvPicPr>
        <p:blipFill>
          <a:blip r:embed="rId4"/>
          <a:stretch>
            <a:fillRect/>
          </a:stretch>
        </p:blipFill>
        <p:spPr>
          <a:xfrm>
            <a:off x="411480" y="3273552"/>
            <a:ext cx="685800" cy="404132"/>
          </a:xfrm>
          <a:prstGeom prst="rect">
            <a:avLst/>
          </a:prstGeom>
        </p:spPr>
      </p:pic>
      <p:sp>
        <p:nvSpPr>
          <p:cNvPr id="7" name="TextBox 6"/>
          <p:cNvSpPr txBox="1"/>
          <p:nvPr/>
        </p:nvSpPr>
        <p:spPr>
          <a:xfrm>
            <a:off x="411480" y="5230368"/>
            <a:ext cx="7772400" cy="457200"/>
          </a:xfrm>
          <a:prstGeom prst="rect">
            <a:avLst/>
          </a:prstGeom>
          <a:noFill/>
        </p:spPr>
        <p:txBody>
          <a:bodyPr wrap="square" anchor="t" lIns="0" rIns="0" tIns="0" bIns="0">
            <a:spAutoFit/>
          </a:bodyPr>
          <a:lstStyle/>
          <a:p>
            <a:pPr algn="l">
              <a:spcAft>
                <a:spcPts val="0"/>
              </a:spcAft>
            </a:pPr>
            <a:r>
              <a:rPr sz="2200" b="0" i="0">
                <a:solidFill>
                  <a:srgbClr val="FFFFFF"/>
                </a:solidFill>
                <a:latin typeface="Arial"/>
              </a:rPr>
              <a:t>Summary of findings and the road to the final report</a:t>
            </a:r>
          </a:p>
        </p:txBody>
      </p:sp>
      <p:sp>
        <p:nvSpPr>
          <p:cNvPr id="8" name="TextBox 7"/>
          <p:cNvSpPr txBox="1"/>
          <p:nvPr/>
        </p:nvSpPr>
        <p:spPr>
          <a:xfrm>
            <a:off x="411480" y="5715000"/>
            <a:ext cx="7772400" cy="274320"/>
          </a:xfrm>
          <a:prstGeom prst="rect">
            <a:avLst/>
          </a:prstGeom>
          <a:noFill/>
        </p:spPr>
        <p:txBody>
          <a:bodyPr wrap="square" anchor="t" lIns="0" rIns="0" tIns="0" bIns="0">
            <a:spAutoFit/>
          </a:bodyPr>
          <a:lstStyle/>
          <a:p>
            <a:pPr algn="l">
              <a:spcAft>
                <a:spcPts val="0"/>
              </a:spcAft>
            </a:pPr>
            <a:r>
              <a:rPr sz="1200" b="0" i="0">
                <a:solidFill>
                  <a:srgbClr val="FFFFFF"/>
                </a:solidFill>
                <a:latin typeface="Arial"/>
              </a:rPr>
              <a:t>Working session | October 2026</a:t>
            </a:r>
          </a:p>
        </p:txBody>
      </p:sp>
      <p:pic>
        <p:nvPicPr>
          <p:cNvPr id="9" name="Picture 8" descr="flag.png"/>
          <p:cNvPicPr>
            <a:picLocks noChangeAspect="1"/>
          </p:cNvPicPr>
          <p:nvPr/>
        </p:nvPicPr>
        <p:blipFill>
          <a:blip r:embed="rId5"/>
          <a:stretch>
            <a:fillRect/>
          </a:stretch>
        </p:blipFill>
        <p:spPr>
          <a:xfrm>
            <a:off x="11539728" y="6153912"/>
            <a:ext cx="495344" cy="329184"/>
          </a:xfrm>
          <a:prstGeom prst="rect">
            <a:avLst/>
          </a:prstGeom>
        </p:spPr>
      </p:pic>
      <p:sp>
        <p:nvSpPr>
          <p:cNvPr id="10"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Today we test the evidence, close the gaps and agree the final report’s answer</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for the session</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63040"/>
            <a:ext cx="3667658" cy="45720"/>
          </a:xfrm>
          <a:prstGeom prst="rect">
            <a:avLst/>
          </a:prstGeom>
          <a:solidFill>
            <a:srgbClr val="00AEEF"/>
          </a:solidFill>
          <a:ln>
            <a:noFill/>
          </a:ln>
        </p:spPr>
        <p:txBody>
          <a:bodyPr rtlCol="0" anchor="ctr"/>
          <a:lstStyle/>
          <a:p>
            <a:pPr algn="ctr"/>
          </a:p>
        </p:txBody>
      </p:sp>
      <p:sp>
        <p:nvSpPr>
          <p:cNvPr id="9" name="TextBox 8"/>
          <p:cNvSpPr txBox="1"/>
          <p:nvPr/>
        </p:nvSpPr>
        <p:spPr>
          <a:xfrm>
            <a:off x="457200"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01</a:t>
            </a:r>
          </a:p>
        </p:txBody>
      </p:sp>
      <p:sp>
        <p:nvSpPr>
          <p:cNvPr id="10" name="TextBox 9"/>
          <p:cNvSpPr txBox="1"/>
          <p:nvPr/>
        </p:nvSpPr>
        <p:spPr>
          <a:xfrm>
            <a:off x="457200"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Reflect and challenge</a:t>
            </a:r>
          </a:p>
        </p:txBody>
      </p:sp>
      <p:sp>
        <p:nvSpPr>
          <p:cNvPr id="11" name="TextBox 10"/>
          <p:cNvSpPr txBox="1"/>
          <p:nvPr/>
        </p:nvSpPr>
        <p:spPr>
          <a:xfrm>
            <a:off x="457200"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Test each finding against its source page and against the strongest counter-case.</a:t>
            </a:r>
          </a:p>
        </p:txBody>
      </p:sp>
      <p:sp>
        <p:nvSpPr>
          <p:cNvPr id="12" name="Rectangle 11"/>
          <p:cNvSpPr/>
          <p:nvPr/>
        </p:nvSpPr>
        <p:spPr>
          <a:xfrm>
            <a:off x="4262018" y="1463040"/>
            <a:ext cx="3667658" cy="45720"/>
          </a:xfrm>
          <a:prstGeom prst="rect">
            <a:avLst/>
          </a:prstGeom>
          <a:solidFill>
            <a:srgbClr val="00AEEF"/>
          </a:solidFill>
          <a:ln>
            <a:noFill/>
          </a:ln>
        </p:spPr>
        <p:txBody>
          <a:bodyPr rtlCol="0" anchor="ctr"/>
          <a:lstStyle/>
          <a:p>
            <a:pPr algn="ctr"/>
          </a:p>
        </p:txBody>
      </p:sp>
      <p:sp>
        <p:nvSpPr>
          <p:cNvPr id="13" name="TextBox 12"/>
          <p:cNvSpPr txBox="1"/>
          <p:nvPr/>
        </p:nvSpPr>
        <p:spPr>
          <a:xfrm>
            <a:off x="4262018"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02</a:t>
            </a:r>
          </a:p>
        </p:txBody>
      </p:sp>
      <p:sp>
        <p:nvSpPr>
          <p:cNvPr id="14" name="TextBox 13"/>
          <p:cNvSpPr txBox="1"/>
          <p:nvPr/>
        </p:nvSpPr>
        <p:spPr>
          <a:xfrm>
            <a:off x="4262018"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Close the gaps</a:t>
            </a:r>
          </a:p>
        </p:txBody>
      </p:sp>
      <p:sp>
        <p:nvSpPr>
          <p:cNvPr id="15" name="TextBox 14"/>
          <p:cNvSpPr txBox="1"/>
          <p:nvPr/>
        </p:nvSpPr>
        <p:spPr>
          <a:xfrm>
            <a:off x="4262018"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Agree how each missing piece of evidence is analysed, bounded or parked.</a:t>
            </a:r>
          </a:p>
        </p:txBody>
      </p:sp>
      <p:sp>
        <p:nvSpPr>
          <p:cNvPr id="16" name="Rectangle 15"/>
          <p:cNvSpPr/>
          <p:nvPr/>
        </p:nvSpPr>
        <p:spPr>
          <a:xfrm>
            <a:off x="8066836" y="1463040"/>
            <a:ext cx="3667658" cy="45720"/>
          </a:xfrm>
          <a:prstGeom prst="rect">
            <a:avLst/>
          </a:prstGeom>
          <a:solidFill>
            <a:srgbClr val="00AEEF"/>
          </a:solidFill>
          <a:ln>
            <a:noFill/>
          </a:ln>
        </p:spPr>
        <p:txBody>
          <a:bodyPr rtlCol="0" anchor="ctr"/>
          <a:lstStyle/>
          <a:p>
            <a:pPr algn="ctr"/>
          </a:p>
        </p:txBody>
      </p:sp>
      <p:sp>
        <p:nvSpPr>
          <p:cNvPr id="17" name="TextBox 16"/>
          <p:cNvSpPr txBox="1"/>
          <p:nvPr/>
        </p:nvSpPr>
        <p:spPr>
          <a:xfrm>
            <a:off x="8066836"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03</a:t>
            </a:r>
          </a:p>
        </p:txBody>
      </p:sp>
      <p:sp>
        <p:nvSpPr>
          <p:cNvPr id="18" name="TextBox 17"/>
          <p:cNvSpPr txBox="1"/>
          <p:nvPr/>
        </p:nvSpPr>
        <p:spPr>
          <a:xfrm>
            <a:off x="8066836"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Align on the answer</a:t>
            </a:r>
          </a:p>
        </p:txBody>
      </p:sp>
      <p:sp>
        <p:nvSpPr>
          <p:cNvPr id="19" name="TextBox 18"/>
          <p:cNvSpPr txBox="1"/>
          <p:nvPr/>
        </p:nvSpPr>
        <p:spPr>
          <a:xfrm>
            <a:off x="8066836"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Agree the working answer, the tree changes and the six-week plan.</a:t>
            </a:r>
          </a:p>
        </p:txBody>
      </p:sp>
      <p:sp>
        <p:nvSpPr>
          <p:cNvPr id="20" name="TextBox 19"/>
          <p:cNvSpPr txBox="1"/>
          <p:nvPr/>
        </p:nvSpPr>
        <p:spPr>
          <a:xfrm>
            <a:off x="457200" y="3931920"/>
            <a:ext cx="7315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PROPOSED RUNNING ORDER, THREE HOURS</a:t>
            </a:r>
          </a:p>
        </p:txBody>
      </p:sp>
      <p:sp>
        <p:nvSpPr>
          <p:cNvPr id="21" name="Label Rectangle 20"/>
          <p:cNvSpPr/>
          <p:nvPr/>
        </p:nvSpPr>
        <p:spPr>
          <a:xfrm>
            <a:off x="475488" y="4251960"/>
            <a:ext cx="903198" cy="713232"/>
          </a:xfrm>
          <a:prstGeom prst="rect">
            <a:avLst/>
          </a:prstGeom>
          <a:solidFill>
            <a:srgbClr val="7F7F7F"/>
          </a:solidFill>
          <a:ln>
            <a:noFill/>
          </a:ln>
        </p:spPr>
        <p:txBody>
          <a:bodyPr rtlCol="0" anchor="ctr"/>
          <a:lstStyle/>
          <a:p>
            <a:pPr algn="ctr"/>
          </a:p>
        </p:txBody>
      </p:sp>
      <p:sp>
        <p:nvSpPr>
          <p:cNvPr id="22" name="Label TextBox 21"/>
          <p:cNvSpPr txBox="1"/>
          <p:nvPr/>
        </p:nvSpPr>
        <p:spPr>
          <a:xfrm>
            <a:off x="530352" y="4251960"/>
            <a:ext cx="811758"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Purpose and scope</a:t>
            </a:r>
          </a:p>
          <a:p>
            <a:pPr algn="l">
              <a:spcAft>
                <a:spcPts val="0"/>
              </a:spcAft>
            </a:pPr>
            <a:r>
              <a:rPr sz="900" b="0" i="0">
                <a:solidFill>
                  <a:srgbClr val="FFFFFF"/>
                </a:solidFill>
                <a:latin typeface="Arial"/>
              </a:rPr>
              <a:t>Slides 2-4</a:t>
            </a:r>
          </a:p>
        </p:txBody>
      </p:sp>
      <p:sp>
        <p:nvSpPr>
          <p:cNvPr id="23" name="Label TextBox 22"/>
          <p:cNvSpPr txBox="1"/>
          <p:nvPr/>
        </p:nvSpPr>
        <p:spPr>
          <a:xfrm>
            <a:off x="457200"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0:00</a:t>
            </a:r>
          </a:p>
        </p:txBody>
      </p:sp>
      <p:sp>
        <p:nvSpPr>
          <p:cNvPr id="24" name="Label Rectangle 23"/>
          <p:cNvSpPr/>
          <p:nvPr/>
        </p:nvSpPr>
        <p:spPr>
          <a:xfrm>
            <a:off x="1415262" y="4251960"/>
            <a:ext cx="3096006" cy="713232"/>
          </a:xfrm>
          <a:prstGeom prst="rect">
            <a:avLst/>
          </a:prstGeom>
          <a:solidFill>
            <a:srgbClr val="00AEEF"/>
          </a:solidFill>
          <a:ln>
            <a:noFill/>
          </a:ln>
        </p:spPr>
        <p:txBody>
          <a:bodyPr rtlCol="0" anchor="ctr"/>
          <a:lstStyle/>
          <a:p>
            <a:pPr algn="ctr"/>
          </a:p>
        </p:txBody>
      </p:sp>
      <p:sp>
        <p:nvSpPr>
          <p:cNvPr id="25" name="Label TextBox 24"/>
          <p:cNvSpPr txBox="1"/>
          <p:nvPr/>
        </p:nvSpPr>
        <p:spPr>
          <a:xfrm>
            <a:off x="1470126" y="4251960"/>
            <a:ext cx="3004566"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Original tree and deliverable findings</a:t>
            </a:r>
          </a:p>
          <a:p>
            <a:pPr algn="l">
              <a:spcAft>
                <a:spcPts val="0"/>
              </a:spcAft>
            </a:pPr>
            <a:r>
              <a:rPr sz="900" b="0" i="0">
                <a:solidFill>
                  <a:srgbClr val="FFFFFF"/>
                </a:solidFill>
                <a:latin typeface="Arial"/>
              </a:rPr>
              <a:t>Slides 5-12</a:t>
            </a:r>
          </a:p>
        </p:txBody>
      </p:sp>
      <p:sp>
        <p:nvSpPr>
          <p:cNvPr id="26" name="Label TextBox 25"/>
          <p:cNvSpPr txBox="1"/>
          <p:nvPr/>
        </p:nvSpPr>
        <p:spPr>
          <a:xfrm>
            <a:off x="1396974"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0:15</a:t>
            </a:r>
          </a:p>
        </p:txBody>
      </p:sp>
      <p:sp>
        <p:nvSpPr>
          <p:cNvPr id="27" name="Label Rectangle 26"/>
          <p:cNvSpPr/>
          <p:nvPr/>
        </p:nvSpPr>
        <p:spPr>
          <a:xfrm>
            <a:off x="4547844" y="4251960"/>
            <a:ext cx="1842973" cy="713232"/>
          </a:xfrm>
          <a:prstGeom prst="rect">
            <a:avLst/>
          </a:prstGeom>
          <a:solidFill>
            <a:srgbClr val="00AEEF"/>
          </a:solidFill>
          <a:ln>
            <a:noFill/>
          </a:ln>
        </p:spPr>
        <p:txBody>
          <a:bodyPr rtlCol="0" anchor="ctr"/>
          <a:lstStyle/>
          <a:p>
            <a:pPr algn="ctr"/>
          </a:p>
        </p:txBody>
      </p:sp>
      <p:sp>
        <p:nvSpPr>
          <p:cNvPr id="28" name="Label TextBox 27"/>
          <p:cNvSpPr txBox="1"/>
          <p:nvPr/>
        </p:nvSpPr>
        <p:spPr>
          <a:xfrm>
            <a:off x="4602708" y="4251960"/>
            <a:ext cx="1751533"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Revised tree and changes</a:t>
            </a:r>
          </a:p>
          <a:p>
            <a:pPr algn="l">
              <a:spcAft>
                <a:spcPts val="0"/>
              </a:spcAft>
            </a:pPr>
            <a:r>
              <a:rPr sz="900" b="0" i="0">
                <a:solidFill>
                  <a:srgbClr val="FFFFFF"/>
                </a:solidFill>
                <a:latin typeface="Arial"/>
              </a:rPr>
              <a:t>Slides 13-15</a:t>
            </a:r>
          </a:p>
        </p:txBody>
      </p:sp>
      <p:sp>
        <p:nvSpPr>
          <p:cNvPr id="29" name="Label TextBox 28"/>
          <p:cNvSpPr txBox="1"/>
          <p:nvPr/>
        </p:nvSpPr>
        <p:spPr>
          <a:xfrm>
            <a:off x="4529556"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1:05</a:t>
            </a:r>
          </a:p>
        </p:txBody>
      </p:sp>
      <p:sp>
        <p:nvSpPr>
          <p:cNvPr id="30" name="Label Rectangle 29"/>
          <p:cNvSpPr/>
          <p:nvPr/>
        </p:nvSpPr>
        <p:spPr>
          <a:xfrm>
            <a:off x="6427393" y="4251960"/>
            <a:ext cx="589940" cy="713232"/>
          </a:xfrm>
          <a:prstGeom prst="rect">
            <a:avLst/>
          </a:prstGeom>
          <a:solidFill>
            <a:srgbClr val="FFFFFF"/>
          </a:solidFill>
          <a:ln w="9525">
            <a:solidFill>
              <a:srgbClr val="D9D9D9"/>
            </a:solidFill>
          </a:ln>
        </p:spPr>
        <p:txBody>
          <a:bodyPr rtlCol="0" anchor="ctr"/>
          <a:lstStyle/>
          <a:p>
            <a:pPr algn="ctr"/>
          </a:p>
        </p:txBody>
      </p:sp>
      <p:sp>
        <p:nvSpPr>
          <p:cNvPr id="31" name="Label TextBox 30"/>
          <p:cNvSpPr txBox="1"/>
          <p:nvPr/>
        </p:nvSpPr>
        <p:spPr>
          <a:xfrm>
            <a:off x="6482257" y="4251960"/>
            <a:ext cx="498500" cy="713232"/>
          </a:xfrm>
          <a:prstGeom prst="rect">
            <a:avLst/>
          </a:prstGeom>
          <a:noFill/>
        </p:spPr>
        <p:txBody>
          <a:bodyPr wrap="square" anchor="ctr" lIns="18288" rIns="18288" tIns="10972" bIns="10972">
            <a:spAutoFit/>
          </a:bodyPr>
          <a:lstStyle/>
          <a:p>
            <a:pPr algn="l">
              <a:spcAft>
                <a:spcPts val="100"/>
              </a:spcAft>
            </a:pPr>
            <a:r>
              <a:rPr sz="1000" b="1" i="0">
                <a:solidFill>
                  <a:srgbClr val="7F7F7F"/>
                </a:solidFill>
                <a:latin typeface="Arial"/>
              </a:rPr>
              <a:t>Break</a:t>
            </a:r>
          </a:p>
        </p:txBody>
      </p:sp>
      <p:sp>
        <p:nvSpPr>
          <p:cNvPr id="32" name="Label TextBox 31"/>
          <p:cNvSpPr txBox="1"/>
          <p:nvPr/>
        </p:nvSpPr>
        <p:spPr>
          <a:xfrm>
            <a:off x="6409105"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1:35</a:t>
            </a:r>
          </a:p>
        </p:txBody>
      </p:sp>
      <p:sp>
        <p:nvSpPr>
          <p:cNvPr id="33" name="Label Rectangle 32"/>
          <p:cNvSpPr/>
          <p:nvPr/>
        </p:nvSpPr>
        <p:spPr>
          <a:xfrm>
            <a:off x="7053910" y="4251960"/>
            <a:ext cx="2469489" cy="713232"/>
          </a:xfrm>
          <a:prstGeom prst="rect">
            <a:avLst/>
          </a:prstGeom>
          <a:solidFill>
            <a:srgbClr val="4F81BD"/>
          </a:solidFill>
          <a:ln>
            <a:noFill/>
          </a:ln>
        </p:spPr>
        <p:txBody>
          <a:bodyPr rtlCol="0" anchor="ctr"/>
          <a:lstStyle/>
          <a:p>
            <a:pPr algn="ctr"/>
          </a:p>
        </p:txBody>
      </p:sp>
      <p:sp>
        <p:nvSpPr>
          <p:cNvPr id="34" name="Label TextBox 33"/>
          <p:cNvSpPr txBox="1"/>
          <p:nvPr/>
        </p:nvSpPr>
        <p:spPr>
          <a:xfrm>
            <a:off x="7108774" y="4251960"/>
            <a:ext cx="2378049"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Synthesis and gaps</a:t>
            </a:r>
          </a:p>
          <a:p>
            <a:pPr algn="l">
              <a:spcAft>
                <a:spcPts val="0"/>
              </a:spcAft>
            </a:pPr>
            <a:r>
              <a:rPr sz="900" b="0" i="0">
                <a:solidFill>
                  <a:srgbClr val="FFFFFF"/>
                </a:solidFill>
                <a:latin typeface="Arial"/>
              </a:rPr>
              <a:t>Slides 16-19</a:t>
            </a:r>
          </a:p>
        </p:txBody>
      </p:sp>
      <p:sp>
        <p:nvSpPr>
          <p:cNvPr id="35" name="Label TextBox 34"/>
          <p:cNvSpPr txBox="1"/>
          <p:nvPr/>
        </p:nvSpPr>
        <p:spPr>
          <a:xfrm>
            <a:off x="7035622"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1:45</a:t>
            </a:r>
          </a:p>
        </p:txBody>
      </p:sp>
      <p:sp>
        <p:nvSpPr>
          <p:cNvPr id="36" name="Label Rectangle 35"/>
          <p:cNvSpPr/>
          <p:nvPr/>
        </p:nvSpPr>
        <p:spPr>
          <a:xfrm>
            <a:off x="9559975" y="4251960"/>
            <a:ext cx="2156231" cy="713232"/>
          </a:xfrm>
          <a:prstGeom prst="rect">
            <a:avLst/>
          </a:prstGeom>
          <a:solidFill>
            <a:srgbClr val="1F497D"/>
          </a:solidFill>
          <a:ln>
            <a:noFill/>
          </a:ln>
        </p:spPr>
        <p:txBody>
          <a:bodyPr rtlCol="0" anchor="ctr"/>
          <a:lstStyle/>
          <a:p>
            <a:pPr algn="ctr"/>
          </a:p>
        </p:txBody>
      </p:sp>
      <p:sp>
        <p:nvSpPr>
          <p:cNvPr id="37" name="Label TextBox 36"/>
          <p:cNvSpPr txBox="1"/>
          <p:nvPr/>
        </p:nvSpPr>
        <p:spPr>
          <a:xfrm>
            <a:off x="9614839" y="4251960"/>
            <a:ext cx="2064791"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Plan and decisions</a:t>
            </a:r>
          </a:p>
          <a:p>
            <a:pPr algn="l">
              <a:spcAft>
                <a:spcPts val="0"/>
              </a:spcAft>
            </a:pPr>
            <a:r>
              <a:rPr sz="900" b="0" i="0">
                <a:solidFill>
                  <a:srgbClr val="FFFFFF"/>
                </a:solidFill>
                <a:latin typeface="Arial"/>
              </a:rPr>
              <a:t>Slides 20-21</a:t>
            </a:r>
          </a:p>
        </p:txBody>
      </p:sp>
      <p:sp>
        <p:nvSpPr>
          <p:cNvPr id="38" name="Label TextBox 37"/>
          <p:cNvSpPr txBox="1"/>
          <p:nvPr/>
        </p:nvSpPr>
        <p:spPr>
          <a:xfrm>
            <a:off x="9541687"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2:25</a:t>
            </a:r>
          </a:p>
        </p:txBody>
      </p:sp>
      <p:sp>
        <p:nvSpPr>
          <p:cNvPr id="39" name="Label TextBox 38"/>
          <p:cNvSpPr txBox="1"/>
          <p:nvPr/>
        </p:nvSpPr>
        <p:spPr>
          <a:xfrm>
            <a:off x="11185855" y="5010912"/>
            <a:ext cx="54864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3:00</a:t>
            </a:r>
          </a:p>
        </p:txBody>
      </p:sp>
      <p:sp>
        <p:nvSpPr>
          <p:cNvPr id="40" name="TextBox 39"/>
          <p:cNvSpPr txBox="1"/>
          <p:nvPr/>
        </p:nvSpPr>
        <p:spPr>
          <a:xfrm>
            <a:off x="457200" y="5349240"/>
            <a:ext cx="91440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Cyan blocks serve outcome 01, mid blue serves 02 and navy serves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The study must show how the Western Cape doubles international arrivals by 2035, across six workstreams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Inception Report (Nov 2025) p4 (objective); RFP SCM002-2025 s2 (targets) and s3.1 to 3.6 (scope); signed SLA Annexure B 3.2.1 to 3.2.10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3667658" cy="4526280"/>
          </a:xfrm>
          <a:prstGeom prst="rect">
            <a:avLst/>
          </a:prstGeom>
          <a:solidFill>
            <a:srgbClr val="F2F2F2"/>
          </a:solidFill>
          <a:ln>
            <a:noFill/>
          </a:ln>
        </p:spPr>
        <p:txBody>
          <a:bodyPr rtlCol="0" anchor="ctr"/>
          <a:lstStyle/>
          <a:p>
            <a:pPr algn="ctr"/>
          </a:p>
        </p:txBody>
      </p:sp>
      <p:sp>
        <p:nvSpPr>
          <p:cNvPr id="9" name="TextBox 8"/>
          <p:cNvSpPr txBox="1"/>
          <p:nvPr/>
        </p:nvSpPr>
        <p:spPr>
          <a:xfrm>
            <a:off x="640080" y="1554480"/>
            <a:ext cx="329184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STUDY OBJECTIVE</a:t>
            </a:r>
          </a:p>
        </p:txBody>
      </p:sp>
      <p:sp>
        <p:nvSpPr>
          <p:cNvPr id="10" name="TextBox 9"/>
          <p:cNvSpPr txBox="1"/>
          <p:nvPr/>
        </p:nvSpPr>
        <p:spPr>
          <a:xfrm>
            <a:off x="640080" y="1828800"/>
            <a:ext cx="3301898" cy="1600200"/>
          </a:xfrm>
          <a:prstGeom prst="rect">
            <a:avLst/>
          </a:prstGeom>
          <a:noFill/>
        </p:spPr>
        <p:txBody>
          <a:bodyPr wrap="square" anchor="t" lIns="0" rIns="0" tIns="0" bIns="0">
            <a:spAutoFit/>
          </a:bodyPr>
          <a:lstStyle/>
          <a:p>
            <a:pPr algn="l">
              <a:spcAft>
                <a:spcPts val="0"/>
              </a:spcAft>
            </a:pPr>
            <a:r>
              <a:rPr sz="1050" b="0" i="1">
                <a:solidFill>
                  <a:srgbClr val="404040"/>
                </a:solidFill>
                <a:latin typeface="Arial"/>
              </a:rPr>
              <a:t>“To develop an evidence-based tourism strategy that will double international tourist arrivals to the Western Cape by 2035, through a holistic approach that drives demand, strengthens supply and enables inclusive, sustainable and geographically dispersed growth aligned with WESGRO’s strategic priorities.”</a:t>
            </a:r>
          </a:p>
        </p:txBody>
      </p:sp>
      <p:sp>
        <p:nvSpPr>
          <p:cNvPr id="11" name="TextBox 10"/>
          <p:cNvSpPr txBox="1"/>
          <p:nvPr/>
        </p:nvSpPr>
        <p:spPr>
          <a:xfrm>
            <a:off x="640080" y="3200400"/>
            <a:ext cx="32004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Inception Report p4</a:t>
            </a:r>
          </a:p>
        </p:txBody>
      </p:sp>
      <p:sp>
        <p:nvSpPr>
          <p:cNvPr id="12" name="TextBox 11"/>
          <p:cNvSpPr txBox="1"/>
          <p:nvPr/>
        </p:nvSpPr>
        <p:spPr>
          <a:xfrm>
            <a:off x="640080" y="3749039"/>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2.8m</a:t>
            </a:r>
          </a:p>
        </p:txBody>
      </p:sp>
      <p:sp>
        <p:nvSpPr>
          <p:cNvPr id="13" name="TextBox 12"/>
          <p:cNvSpPr txBox="1"/>
          <p:nvPr/>
        </p:nvSpPr>
        <p:spPr>
          <a:xfrm>
            <a:off x="640080" y="4224527"/>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international visitors by 2035, from 1.4m</a:t>
            </a:r>
          </a:p>
        </p:txBody>
      </p:sp>
      <p:sp>
        <p:nvSpPr>
          <p:cNvPr id="14" name="TextBox 13"/>
          <p:cNvSpPr txBox="1"/>
          <p:nvPr/>
        </p:nvSpPr>
        <p:spPr>
          <a:xfrm>
            <a:off x="2331720" y="3749039"/>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300,000</a:t>
            </a:r>
          </a:p>
        </p:txBody>
      </p:sp>
      <p:sp>
        <p:nvSpPr>
          <p:cNvPr id="15" name="TextBox 14"/>
          <p:cNvSpPr txBox="1"/>
          <p:nvPr/>
        </p:nvSpPr>
        <p:spPr>
          <a:xfrm>
            <a:off x="2331720" y="4224527"/>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tourism-linked jobs, from 150,000</a:t>
            </a:r>
          </a:p>
        </p:txBody>
      </p:sp>
      <p:sp>
        <p:nvSpPr>
          <p:cNvPr id="16" name="TextBox 15"/>
          <p:cNvSpPr txBox="1"/>
          <p:nvPr/>
        </p:nvSpPr>
        <p:spPr>
          <a:xfrm>
            <a:off x="640080" y="4800600"/>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10,000</a:t>
            </a:r>
          </a:p>
        </p:txBody>
      </p:sp>
      <p:sp>
        <p:nvSpPr>
          <p:cNvPr id="17" name="TextBox 16"/>
          <p:cNvSpPr txBox="1"/>
          <p:nvPr/>
        </p:nvSpPr>
        <p:spPr>
          <a:xfrm>
            <a:off x="640080" y="5276088"/>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SMMEs onboarded and connected to global markets</a:t>
            </a:r>
          </a:p>
        </p:txBody>
      </p:sp>
      <p:sp>
        <p:nvSpPr>
          <p:cNvPr id="18" name="TextBox 17"/>
          <p:cNvSpPr txBox="1"/>
          <p:nvPr/>
        </p:nvSpPr>
        <p:spPr>
          <a:xfrm>
            <a:off x="2331720" y="4800600"/>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2x</a:t>
            </a:r>
          </a:p>
        </p:txBody>
      </p:sp>
      <p:sp>
        <p:nvSpPr>
          <p:cNvPr id="19" name="TextBox 18"/>
          <p:cNvSpPr txBox="1"/>
          <p:nvPr/>
        </p:nvSpPr>
        <p:spPr>
          <a:xfrm>
            <a:off x="2331720" y="5276088"/>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airlift and cruise volumes</a:t>
            </a:r>
          </a:p>
        </p:txBody>
      </p:sp>
      <p:sp>
        <p:nvSpPr>
          <p:cNvPr id="20" name="TextBox 19"/>
          <p:cNvSpPr txBox="1"/>
          <p:nvPr/>
        </p:nvSpPr>
        <p:spPr>
          <a:xfrm>
            <a:off x="5121783" y="1554480"/>
            <a:ext cx="661271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SIX SCOPE WORKSTREAMS, RFP SECTIONS 3.1 TO 3.6</a:t>
            </a:r>
          </a:p>
        </p:txBody>
      </p:sp>
      <p:sp>
        <p:nvSpPr>
          <p:cNvPr id="21" name="Label Pentagon 20"/>
          <p:cNvSpPr/>
          <p:nvPr/>
        </p:nvSpPr>
        <p:spPr>
          <a:xfrm>
            <a:off x="5121783" y="1874519"/>
            <a:ext cx="1041158" cy="502920"/>
          </a:xfrm>
          <a:prstGeom prst="homePlate">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3.1</a:t>
            </a:r>
          </a:p>
        </p:txBody>
      </p:sp>
      <p:sp>
        <p:nvSpPr>
          <p:cNvPr id="22" name="Label TextBox 21"/>
          <p:cNvSpPr txBox="1"/>
          <p:nvPr/>
        </p:nvSpPr>
        <p:spPr>
          <a:xfrm>
            <a:off x="5121783"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Market research and demand</a:t>
            </a:r>
          </a:p>
        </p:txBody>
      </p:sp>
      <p:sp>
        <p:nvSpPr>
          <p:cNvPr id="23" name="Label TextBox 22"/>
          <p:cNvSpPr txBox="1"/>
          <p:nvPr/>
        </p:nvSpPr>
        <p:spPr>
          <a:xfrm>
            <a:off x="5158359"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3.2.3</a:t>
            </a:r>
          </a:p>
        </p:txBody>
      </p:sp>
      <p:sp>
        <p:nvSpPr>
          <p:cNvPr id="24" name="Label Rounded Rectangle 23"/>
          <p:cNvSpPr/>
          <p:nvPr/>
        </p:nvSpPr>
        <p:spPr>
          <a:xfrm>
            <a:off x="5176647" y="3346704"/>
            <a:ext cx="931430" cy="219456"/>
          </a:xfrm>
          <a:prstGeom prst="roundRect">
            <a:avLst>
              <a:gd name="adj" fmla="val 50000"/>
            </a:avLst>
          </a:prstGeom>
          <a:solidFill>
            <a:srgbClr val="2E9E44"/>
          </a:solidFill>
          <a:ln>
            <a:noFill/>
          </a:ln>
        </p:spPr>
        <p:txBody>
          <a:bodyPr rtlCol="0" anchor="ctr"/>
          <a:lstStyle/>
          <a:p>
            <a:pPr algn="ctr"/>
          </a:p>
        </p:txBody>
      </p:sp>
      <p:sp>
        <p:nvSpPr>
          <p:cNvPr id="25" name="Label TextBox 24"/>
          <p:cNvSpPr txBox="1"/>
          <p:nvPr/>
        </p:nvSpPr>
        <p:spPr>
          <a:xfrm>
            <a:off x="5176647" y="3346704"/>
            <a:ext cx="931430" cy="219456"/>
          </a:xfrm>
          <a:prstGeom prst="rect">
            <a:avLst/>
          </a:prstGeom>
          <a:noFill/>
        </p:spPr>
        <p:txBody>
          <a:bodyPr wrap="square" anchor="ctr" lIns="0" rIns="0" tIns="0" bIns="0">
            <a:spAutoFit/>
          </a:bodyPr>
          <a:lstStyle/>
          <a:p>
            <a:pPr algn="ctr">
              <a:spcAft>
                <a:spcPts val="0"/>
              </a:spcAft>
            </a:pPr>
            <a:r>
              <a:rPr sz="800" b="1" i="0">
                <a:solidFill>
                  <a:srgbClr val="FFFFFF"/>
                </a:solidFill>
                <a:latin typeface="Arial"/>
              </a:rPr>
              <a:t>FINAL</a:t>
            </a:r>
          </a:p>
        </p:txBody>
      </p:sp>
      <p:sp>
        <p:nvSpPr>
          <p:cNvPr id="26" name="Label Chevron 25"/>
          <p:cNvSpPr/>
          <p:nvPr/>
        </p:nvSpPr>
        <p:spPr>
          <a:xfrm>
            <a:off x="6236093"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3.2</a:t>
            </a:r>
          </a:p>
        </p:txBody>
      </p:sp>
      <p:sp>
        <p:nvSpPr>
          <p:cNvPr id="27" name="Label TextBox 26"/>
          <p:cNvSpPr txBox="1"/>
          <p:nvPr/>
        </p:nvSpPr>
        <p:spPr>
          <a:xfrm>
            <a:off x="6236093"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Spatial and infrastructure readiness</a:t>
            </a:r>
          </a:p>
        </p:txBody>
      </p:sp>
      <p:sp>
        <p:nvSpPr>
          <p:cNvPr id="28" name="Label TextBox 27"/>
          <p:cNvSpPr txBox="1"/>
          <p:nvPr/>
        </p:nvSpPr>
        <p:spPr>
          <a:xfrm>
            <a:off x="6272669"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3.2.4</a:t>
            </a:r>
          </a:p>
        </p:txBody>
      </p:sp>
      <p:sp>
        <p:nvSpPr>
          <p:cNvPr id="29" name="Label Rounded Rectangle 28"/>
          <p:cNvSpPr/>
          <p:nvPr/>
        </p:nvSpPr>
        <p:spPr>
          <a:xfrm>
            <a:off x="6290957" y="3346704"/>
            <a:ext cx="931430" cy="219456"/>
          </a:xfrm>
          <a:prstGeom prst="roundRect">
            <a:avLst>
              <a:gd name="adj" fmla="val 50000"/>
            </a:avLst>
          </a:prstGeom>
          <a:solidFill>
            <a:srgbClr val="F2A900"/>
          </a:solidFill>
          <a:ln>
            <a:noFill/>
          </a:ln>
        </p:spPr>
        <p:txBody>
          <a:bodyPr rtlCol="0" anchor="ctr"/>
          <a:lstStyle/>
          <a:p>
            <a:pPr algn="ctr"/>
          </a:p>
        </p:txBody>
      </p:sp>
      <p:sp>
        <p:nvSpPr>
          <p:cNvPr id="30" name="Label TextBox 29"/>
          <p:cNvSpPr txBox="1"/>
          <p:nvPr/>
        </p:nvSpPr>
        <p:spPr>
          <a:xfrm>
            <a:off x="6290957"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DRAFT</a:t>
            </a:r>
          </a:p>
        </p:txBody>
      </p:sp>
      <p:sp>
        <p:nvSpPr>
          <p:cNvPr id="31" name="Label Chevron 30"/>
          <p:cNvSpPr/>
          <p:nvPr/>
        </p:nvSpPr>
        <p:spPr>
          <a:xfrm>
            <a:off x="7350404"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3.3</a:t>
            </a:r>
          </a:p>
        </p:txBody>
      </p:sp>
      <p:sp>
        <p:nvSpPr>
          <p:cNvPr id="32" name="Label TextBox 31"/>
          <p:cNvSpPr txBox="1"/>
          <p:nvPr/>
        </p:nvSpPr>
        <p:spPr>
          <a:xfrm>
            <a:off x="7350404"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SMME and inclusion strategy</a:t>
            </a:r>
          </a:p>
        </p:txBody>
      </p:sp>
      <p:sp>
        <p:nvSpPr>
          <p:cNvPr id="33" name="Label TextBox 32"/>
          <p:cNvSpPr txBox="1"/>
          <p:nvPr/>
        </p:nvSpPr>
        <p:spPr>
          <a:xfrm>
            <a:off x="7386980"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3.2.5</a:t>
            </a:r>
          </a:p>
        </p:txBody>
      </p:sp>
      <p:sp>
        <p:nvSpPr>
          <p:cNvPr id="34" name="Label Rounded Rectangle 33"/>
          <p:cNvSpPr/>
          <p:nvPr/>
        </p:nvSpPr>
        <p:spPr>
          <a:xfrm>
            <a:off x="7405268" y="3346704"/>
            <a:ext cx="931430" cy="219456"/>
          </a:xfrm>
          <a:prstGeom prst="roundRect">
            <a:avLst>
              <a:gd name="adj" fmla="val 50000"/>
            </a:avLst>
          </a:prstGeom>
          <a:solidFill>
            <a:srgbClr val="F2A900"/>
          </a:solidFill>
          <a:ln>
            <a:noFill/>
          </a:ln>
        </p:spPr>
        <p:txBody>
          <a:bodyPr rtlCol="0" anchor="ctr"/>
          <a:lstStyle/>
          <a:p>
            <a:pPr algn="ctr"/>
          </a:p>
        </p:txBody>
      </p:sp>
      <p:sp>
        <p:nvSpPr>
          <p:cNvPr id="35" name="Label TextBox 34"/>
          <p:cNvSpPr txBox="1"/>
          <p:nvPr/>
        </p:nvSpPr>
        <p:spPr>
          <a:xfrm>
            <a:off x="7405268"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DRAFT</a:t>
            </a:r>
          </a:p>
        </p:txBody>
      </p:sp>
      <p:sp>
        <p:nvSpPr>
          <p:cNvPr id="36" name="Label Chevron 35"/>
          <p:cNvSpPr/>
          <p:nvPr/>
        </p:nvSpPr>
        <p:spPr>
          <a:xfrm>
            <a:off x="8464715"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3.4</a:t>
            </a:r>
          </a:p>
        </p:txBody>
      </p:sp>
      <p:sp>
        <p:nvSpPr>
          <p:cNvPr id="37" name="Label TextBox 36"/>
          <p:cNvSpPr txBox="1"/>
          <p:nvPr/>
        </p:nvSpPr>
        <p:spPr>
          <a:xfrm>
            <a:off x="8464715"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Monitoring and evaluation</a:t>
            </a:r>
          </a:p>
        </p:txBody>
      </p:sp>
      <p:sp>
        <p:nvSpPr>
          <p:cNvPr id="38" name="Label TextBox 37"/>
          <p:cNvSpPr txBox="1"/>
          <p:nvPr/>
        </p:nvSpPr>
        <p:spPr>
          <a:xfrm>
            <a:off x="8501291"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3.2.6</a:t>
            </a:r>
          </a:p>
        </p:txBody>
      </p:sp>
      <p:sp>
        <p:nvSpPr>
          <p:cNvPr id="39" name="Label Rounded Rectangle 38"/>
          <p:cNvSpPr/>
          <p:nvPr/>
        </p:nvSpPr>
        <p:spPr>
          <a:xfrm>
            <a:off x="8519579" y="3346704"/>
            <a:ext cx="931430" cy="219456"/>
          </a:xfrm>
          <a:prstGeom prst="roundRect">
            <a:avLst>
              <a:gd name="adj" fmla="val 50000"/>
            </a:avLst>
          </a:prstGeom>
          <a:solidFill>
            <a:srgbClr val="D9D9D9"/>
          </a:solidFill>
          <a:ln>
            <a:noFill/>
          </a:ln>
        </p:spPr>
        <p:txBody>
          <a:bodyPr rtlCol="0" anchor="ctr"/>
          <a:lstStyle/>
          <a:p>
            <a:pPr algn="ctr"/>
          </a:p>
        </p:txBody>
      </p:sp>
      <p:sp>
        <p:nvSpPr>
          <p:cNvPr id="40" name="Label TextBox 39"/>
          <p:cNvSpPr txBox="1"/>
          <p:nvPr/>
        </p:nvSpPr>
        <p:spPr>
          <a:xfrm>
            <a:off x="8519579"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OUTSTANDING</a:t>
            </a:r>
          </a:p>
        </p:txBody>
      </p:sp>
      <p:sp>
        <p:nvSpPr>
          <p:cNvPr id="41" name="Label Chevron 40"/>
          <p:cNvSpPr/>
          <p:nvPr/>
        </p:nvSpPr>
        <p:spPr>
          <a:xfrm>
            <a:off x="9579025"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3.5</a:t>
            </a:r>
          </a:p>
        </p:txBody>
      </p:sp>
      <p:sp>
        <p:nvSpPr>
          <p:cNvPr id="42" name="Label TextBox 41"/>
          <p:cNvSpPr txBox="1"/>
          <p:nvPr/>
        </p:nvSpPr>
        <p:spPr>
          <a:xfrm>
            <a:off x="9579025"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Global benchmarking</a:t>
            </a:r>
          </a:p>
        </p:txBody>
      </p:sp>
      <p:sp>
        <p:nvSpPr>
          <p:cNvPr id="43" name="Label TextBox 42"/>
          <p:cNvSpPr txBox="1"/>
          <p:nvPr/>
        </p:nvSpPr>
        <p:spPr>
          <a:xfrm>
            <a:off x="9615601"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3.2.7</a:t>
            </a:r>
          </a:p>
        </p:txBody>
      </p:sp>
      <p:sp>
        <p:nvSpPr>
          <p:cNvPr id="44" name="Label Rounded Rectangle 43"/>
          <p:cNvSpPr/>
          <p:nvPr/>
        </p:nvSpPr>
        <p:spPr>
          <a:xfrm>
            <a:off x="9633889" y="3346704"/>
            <a:ext cx="931430" cy="219456"/>
          </a:xfrm>
          <a:prstGeom prst="roundRect">
            <a:avLst>
              <a:gd name="adj" fmla="val 50000"/>
            </a:avLst>
          </a:prstGeom>
          <a:solidFill>
            <a:srgbClr val="2E9E44"/>
          </a:solidFill>
          <a:ln>
            <a:noFill/>
          </a:ln>
        </p:spPr>
        <p:txBody>
          <a:bodyPr rtlCol="0" anchor="ctr"/>
          <a:lstStyle/>
          <a:p>
            <a:pPr algn="ctr"/>
          </a:p>
        </p:txBody>
      </p:sp>
      <p:sp>
        <p:nvSpPr>
          <p:cNvPr id="45" name="Label TextBox 44"/>
          <p:cNvSpPr txBox="1"/>
          <p:nvPr/>
        </p:nvSpPr>
        <p:spPr>
          <a:xfrm>
            <a:off x="9633889" y="3346704"/>
            <a:ext cx="931430" cy="219456"/>
          </a:xfrm>
          <a:prstGeom prst="rect">
            <a:avLst/>
          </a:prstGeom>
          <a:noFill/>
        </p:spPr>
        <p:txBody>
          <a:bodyPr wrap="square" anchor="ctr" lIns="0" rIns="0" tIns="0" bIns="0">
            <a:spAutoFit/>
          </a:bodyPr>
          <a:lstStyle/>
          <a:p>
            <a:pPr algn="ctr">
              <a:spcAft>
                <a:spcPts val="0"/>
              </a:spcAft>
            </a:pPr>
            <a:r>
              <a:rPr sz="800" b="1" i="0">
                <a:solidFill>
                  <a:srgbClr val="FFFFFF"/>
                </a:solidFill>
                <a:latin typeface="Arial"/>
              </a:rPr>
              <a:t>FINAL</a:t>
            </a:r>
          </a:p>
        </p:txBody>
      </p:sp>
      <p:sp>
        <p:nvSpPr>
          <p:cNvPr id="46" name="Label Chevron 45"/>
          <p:cNvSpPr/>
          <p:nvPr/>
        </p:nvSpPr>
        <p:spPr>
          <a:xfrm>
            <a:off x="10693336"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3.6</a:t>
            </a:r>
          </a:p>
        </p:txBody>
      </p:sp>
      <p:sp>
        <p:nvSpPr>
          <p:cNvPr id="47" name="Label TextBox 46"/>
          <p:cNvSpPr txBox="1"/>
          <p:nvPr/>
        </p:nvSpPr>
        <p:spPr>
          <a:xfrm>
            <a:off x="10693336"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Stakeholders and knowledge transfer</a:t>
            </a:r>
          </a:p>
        </p:txBody>
      </p:sp>
      <p:sp>
        <p:nvSpPr>
          <p:cNvPr id="48" name="Label Rounded Rectangle 47"/>
          <p:cNvSpPr/>
          <p:nvPr/>
        </p:nvSpPr>
        <p:spPr>
          <a:xfrm>
            <a:off x="10711624" y="3145536"/>
            <a:ext cx="1004582" cy="219456"/>
          </a:xfrm>
          <a:prstGeom prst="roundRect">
            <a:avLst>
              <a:gd name="adj" fmla="val 50000"/>
            </a:avLst>
          </a:prstGeom>
          <a:solidFill>
            <a:srgbClr val="F2A900"/>
          </a:solidFill>
          <a:ln>
            <a:noFill/>
          </a:ln>
        </p:spPr>
        <p:txBody>
          <a:bodyPr rtlCol="0" anchor="ctr"/>
          <a:lstStyle/>
          <a:p>
            <a:pPr algn="ctr"/>
          </a:p>
        </p:txBody>
      </p:sp>
      <p:sp>
        <p:nvSpPr>
          <p:cNvPr id="49" name="Label TextBox 48"/>
          <p:cNvSpPr txBox="1"/>
          <p:nvPr/>
        </p:nvSpPr>
        <p:spPr>
          <a:xfrm>
            <a:off x="10711624" y="314553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3.2.8 DRAFT</a:t>
            </a:r>
          </a:p>
        </p:txBody>
      </p:sp>
      <p:sp>
        <p:nvSpPr>
          <p:cNvPr id="50" name="Label Rounded Rectangle 49"/>
          <p:cNvSpPr/>
          <p:nvPr/>
        </p:nvSpPr>
        <p:spPr>
          <a:xfrm>
            <a:off x="10711624" y="3419856"/>
            <a:ext cx="1004582" cy="219456"/>
          </a:xfrm>
          <a:prstGeom prst="roundRect">
            <a:avLst>
              <a:gd name="adj" fmla="val 50000"/>
            </a:avLst>
          </a:prstGeom>
          <a:solidFill>
            <a:srgbClr val="D9D9D9"/>
          </a:solidFill>
          <a:ln>
            <a:noFill/>
          </a:ln>
        </p:spPr>
        <p:txBody>
          <a:bodyPr rtlCol="0" anchor="ctr"/>
          <a:lstStyle/>
          <a:p>
            <a:pPr algn="ctr"/>
          </a:p>
        </p:txBody>
      </p:sp>
      <p:sp>
        <p:nvSpPr>
          <p:cNvPr id="51" name="Label TextBox 50"/>
          <p:cNvSpPr txBox="1"/>
          <p:nvPr/>
        </p:nvSpPr>
        <p:spPr>
          <a:xfrm>
            <a:off x="10711624" y="341985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3.2.9 OUTSTANDING</a:t>
            </a:r>
          </a:p>
        </p:txBody>
      </p:sp>
      <p:sp>
        <p:nvSpPr>
          <p:cNvPr id="52" name="Label Rounded Rectangle 51"/>
          <p:cNvSpPr/>
          <p:nvPr/>
        </p:nvSpPr>
        <p:spPr>
          <a:xfrm>
            <a:off x="10711624" y="3694176"/>
            <a:ext cx="1004582" cy="219456"/>
          </a:xfrm>
          <a:prstGeom prst="roundRect">
            <a:avLst>
              <a:gd name="adj" fmla="val 50000"/>
            </a:avLst>
          </a:prstGeom>
          <a:solidFill>
            <a:srgbClr val="D9D9D9"/>
          </a:solidFill>
          <a:ln>
            <a:noFill/>
          </a:ln>
        </p:spPr>
        <p:txBody>
          <a:bodyPr rtlCol="0" anchor="ctr"/>
          <a:lstStyle/>
          <a:p>
            <a:pPr algn="ctr"/>
          </a:p>
        </p:txBody>
      </p:sp>
      <p:sp>
        <p:nvSpPr>
          <p:cNvPr id="53" name="Label TextBox 52"/>
          <p:cNvSpPr txBox="1"/>
          <p:nvPr/>
        </p:nvSpPr>
        <p:spPr>
          <a:xfrm>
            <a:off x="10711624" y="369417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3.2.10 OUTSTANDING</a:t>
            </a:r>
          </a:p>
        </p:txBody>
      </p:sp>
      <p:sp>
        <p:nvSpPr>
          <p:cNvPr id="54" name="Label TextBox 53"/>
          <p:cNvSpPr txBox="1"/>
          <p:nvPr/>
        </p:nvSpPr>
        <p:spPr>
          <a:xfrm>
            <a:off x="5121783" y="4251960"/>
            <a:ext cx="661271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ALL TEN SLA DELIVERABLES</a:t>
            </a:r>
          </a:p>
        </p:txBody>
      </p:sp>
      <p:sp>
        <p:nvSpPr>
          <p:cNvPr id="55" name="Label Rectangle 54"/>
          <p:cNvSpPr/>
          <p:nvPr/>
        </p:nvSpPr>
        <p:spPr>
          <a:xfrm>
            <a:off x="5121783"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3.2.1</a:t>
            </a:r>
          </a:p>
        </p:txBody>
      </p:sp>
      <p:sp>
        <p:nvSpPr>
          <p:cNvPr id="56" name="Label Rectangle 55"/>
          <p:cNvSpPr/>
          <p:nvPr/>
        </p:nvSpPr>
        <p:spPr>
          <a:xfrm>
            <a:off x="5787626"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3.2.2</a:t>
            </a:r>
          </a:p>
        </p:txBody>
      </p:sp>
      <p:sp>
        <p:nvSpPr>
          <p:cNvPr id="57" name="Label Rectangle 56"/>
          <p:cNvSpPr/>
          <p:nvPr/>
        </p:nvSpPr>
        <p:spPr>
          <a:xfrm>
            <a:off x="6453469"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3.2.3</a:t>
            </a:r>
          </a:p>
        </p:txBody>
      </p:sp>
      <p:sp>
        <p:nvSpPr>
          <p:cNvPr id="58" name="Label Rectangle 57"/>
          <p:cNvSpPr/>
          <p:nvPr/>
        </p:nvSpPr>
        <p:spPr>
          <a:xfrm>
            <a:off x="7119312"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3.2.7</a:t>
            </a:r>
          </a:p>
        </p:txBody>
      </p:sp>
      <p:sp>
        <p:nvSpPr>
          <p:cNvPr id="59" name="Label Rectangle 58"/>
          <p:cNvSpPr/>
          <p:nvPr/>
        </p:nvSpPr>
        <p:spPr>
          <a:xfrm>
            <a:off x="7785155"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3.2.4</a:t>
            </a:r>
          </a:p>
        </p:txBody>
      </p:sp>
      <p:sp>
        <p:nvSpPr>
          <p:cNvPr id="60" name="Label Rectangle 59"/>
          <p:cNvSpPr/>
          <p:nvPr/>
        </p:nvSpPr>
        <p:spPr>
          <a:xfrm>
            <a:off x="8450999"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3.2.5</a:t>
            </a:r>
          </a:p>
        </p:txBody>
      </p:sp>
      <p:sp>
        <p:nvSpPr>
          <p:cNvPr id="61" name="Label Rectangle 60"/>
          <p:cNvSpPr/>
          <p:nvPr/>
        </p:nvSpPr>
        <p:spPr>
          <a:xfrm>
            <a:off x="9116842"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3.2.8</a:t>
            </a:r>
          </a:p>
        </p:txBody>
      </p:sp>
      <p:sp>
        <p:nvSpPr>
          <p:cNvPr id="62" name="Label Rectangle 61"/>
          <p:cNvSpPr/>
          <p:nvPr/>
        </p:nvSpPr>
        <p:spPr>
          <a:xfrm>
            <a:off x="9782685"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3.2.6</a:t>
            </a:r>
          </a:p>
        </p:txBody>
      </p:sp>
      <p:sp>
        <p:nvSpPr>
          <p:cNvPr id="63" name="Label Rectangle 62"/>
          <p:cNvSpPr/>
          <p:nvPr/>
        </p:nvSpPr>
        <p:spPr>
          <a:xfrm>
            <a:off x="10448528"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3.2.9</a:t>
            </a:r>
          </a:p>
        </p:txBody>
      </p:sp>
      <p:sp>
        <p:nvSpPr>
          <p:cNvPr id="64" name="Label Rectangle 63"/>
          <p:cNvSpPr/>
          <p:nvPr/>
        </p:nvSpPr>
        <p:spPr>
          <a:xfrm>
            <a:off x="11114371"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3.2.10</a:t>
            </a:r>
          </a:p>
        </p:txBody>
      </p:sp>
      <p:sp>
        <p:nvSpPr>
          <p:cNvPr id="65" name="Label TextBox 64"/>
          <p:cNvSpPr txBox="1"/>
          <p:nvPr/>
        </p:nvSpPr>
        <p:spPr>
          <a:xfrm>
            <a:off x="5121783" y="5074920"/>
            <a:ext cx="2617652"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Four final</a:t>
            </a:r>
          </a:p>
        </p:txBody>
      </p:sp>
      <p:sp>
        <p:nvSpPr>
          <p:cNvPr id="66" name="Label TextBox 65"/>
          <p:cNvSpPr txBox="1"/>
          <p:nvPr/>
        </p:nvSpPr>
        <p:spPr>
          <a:xfrm>
            <a:off x="7785155" y="5074920"/>
            <a:ext cx="1951809"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Three draft</a:t>
            </a:r>
          </a:p>
        </p:txBody>
      </p:sp>
      <p:sp>
        <p:nvSpPr>
          <p:cNvPr id="67" name="Label TextBox 66"/>
          <p:cNvSpPr txBox="1"/>
          <p:nvPr/>
        </p:nvSpPr>
        <p:spPr>
          <a:xfrm>
            <a:off x="9782685" y="5074920"/>
            <a:ext cx="1951809"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Three outstanding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Nine documents have landed since November; the final report, M&amp;E toolkit and launch fall after the contract ends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Document cover dates; signed SLA clause 4.3 and Annexure B (term 1 November 2025 to 31 October 2026)</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685800" y="3282696"/>
            <a:ext cx="9284057" cy="201168"/>
          </a:xfrm>
          <a:prstGeom prst="rect">
            <a:avLst/>
          </a:prstGeom>
          <a:solidFill>
            <a:srgbClr val="DCEEF7"/>
          </a:solidFill>
          <a:ln>
            <a:noFill/>
          </a:ln>
        </p:spPr>
        <p:txBody>
          <a:bodyPr rtlCol="0" anchor="ctr"/>
          <a:lstStyle/>
          <a:p>
            <a:pPr algn="ctr"/>
          </a:p>
        </p:txBody>
      </p:sp>
      <p:cxnSp>
        <p:nvCxnSpPr>
          <p:cNvPr id="9" name="Label Connector 8"/>
          <p:cNvCxnSpPr/>
          <p:nvPr/>
        </p:nvCxnSpPr>
        <p:spPr>
          <a:xfrm>
            <a:off x="685800" y="3383280"/>
            <a:ext cx="10835640" cy="0"/>
          </a:xfrm>
          <a:prstGeom prst="line">
            <a:avLst/>
          </a:prstGeom>
          <a:ln w="15875">
            <a:solidFill>
              <a:srgbClr val="7F7F7F"/>
            </a:solidFill>
          </a:ln>
        </p:spPr>
      </p:cxnSp>
      <p:cxnSp>
        <p:nvCxnSpPr>
          <p:cNvPr id="10" name="Label Connector 9"/>
          <p:cNvCxnSpPr/>
          <p:nvPr/>
        </p:nvCxnSpPr>
        <p:spPr>
          <a:xfrm>
            <a:off x="685800" y="3282696"/>
            <a:ext cx="0" cy="201168"/>
          </a:xfrm>
          <a:prstGeom prst="line">
            <a:avLst/>
          </a:prstGeom>
          <a:ln w="12700">
            <a:solidFill>
              <a:srgbClr val="FFFFFF"/>
            </a:solidFill>
          </a:ln>
        </p:spPr>
      </p:cxnSp>
      <p:sp>
        <p:nvSpPr>
          <p:cNvPr id="11" name="Label TextBox 10"/>
          <p:cNvSpPr txBox="1"/>
          <p:nvPr/>
        </p:nvSpPr>
        <p:spPr>
          <a:xfrm>
            <a:off x="722376"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Nov</a:t>
            </a:r>
          </a:p>
        </p:txBody>
      </p:sp>
      <p:cxnSp>
        <p:nvCxnSpPr>
          <p:cNvPr id="12" name="Label Connector 11"/>
          <p:cNvCxnSpPr/>
          <p:nvPr/>
        </p:nvCxnSpPr>
        <p:spPr>
          <a:xfrm>
            <a:off x="1448873" y="3282696"/>
            <a:ext cx="0" cy="201168"/>
          </a:xfrm>
          <a:prstGeom prst="line">
            <a:avLst/>
          </a:prstGeom>
          <a:ln w="12700">
            <a:solidFill>
              <a:srgbClr val="FFFFFF"/>
            </a:solidFill>
          </a:ln>
        </p:spPr>
      </p:cxnSp>
      <p:sp>
        <p:nvSpPr>
          <p:cNvPr id="13" name="Label TextBox 12"/>
          <p:cNvSpPr txBox="1"/>
          <p:nvPr/>
        </p:nvSpPr>
        <p:spPr>
          <a:xfrm>
            <a:off x="1485449"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Dec</a:t>
            </a:r>
          </a:p>
        </p:txBody>
      </p:sp>
      <p:cxnSp>
        <p:nvCxnSpPr>
          <p:cNvPr id="14" name="Label Connector 13"/>
          <p:cNvCxnSpPr/>
          <p:nvPr/>
        </p:nvCxnSpPr>
        <p:spPr>
          <a:xfrm>
            <a:off x="2237382" y="3282696"/>
            <a:ext cx="0" cy="201168"/>
          </a:xfrm>
          <a:prstGeom prst="line">
            <a:avLst/>
          </a:prstGeom>
          <a:ln w="12700">
            <a:solidFill>
              <a:srgbClr val="FFFFFF"/>
            </a:solidFill>
          </a:ln>
        </p:spPr>
      </p:cxnSp>
      <p:sp>
        <p:nvSpPr>
          <p:cNvPr id="15" name="Label TextBox 14"/>
          <p:cNvSpPr txBox="1"/>
          <p:nvPr/>
        </p:nvSpPr>
        <p:spPr>
          <a:xfrm>
            <a:off x="2273958"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Jan</a:t>
            </a:r>
          </a:p>
        </p:txBody>
      </p:sp>
      <p:cxnSp>
        <p:nvCxnSpPr>
          <p:cNvPr id="16" name="Label Connector 15"/>
          <p:cNvCxnSpPr/>
          <p:nvPr/>
        </p:nvCxnSpPr>
        <p:spPr>
          <a:xfrm>
            <a:off x="3025891" y="3282696"/>
            <a:ext cx="0" cy="201168"/>
          </a:xfrm>
          <a:prstGeom prst="line">
            <a:avLst/>
          </a:prstGeom>
          <a:ln w="12700">
            <a:solidFill>
              <a:srgbClr val="FFFFFF"/>
            </a:solidFill>
          </a:ln>
        </p:spPr>
      </p:cxnSp>
      <p:sp>
        <p:nvSpPr>
          <p:cNvPr id="17" name="Label TextBox 16"/>
          <p:cNvSpPr txBox="1"/>
          <p:nvPr/>
        </p:nvSpPr>
        <p:spPr>
          <a:xfrm>
            <a:off x="3062467"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Feb</a:t>
            </a:r>
          </a:p>
        </p:txBody>
      </p:sp>
      <p:cxnSp>
        <p:nvCxnSpPr>
          <p:cNvPr id="18" name="Label Connector 17"/>
          <p:cNvCxnSpPr/>
          <p:nvPr/>
        </p:nvCxnSpPr>
        <p:spPr>
          <a:xfrm>
            <a:off x="3738092" y="3282696"/>
            <a:ext cx="0" cy="201168"/>
          </a:xfrm>
          <a:prstGeom prst="line">
            <a:avLst/>
          </a:prstGeom>
          <a:ln w="12700">
            <a:solidFill>
              <a:srgbClr val="FFFFFF"/>
            </a:solidFill>
          </a:ln>
        </p:spPr>
      </p:cxnSp>
      <p:sp>
        <p:nvSpPr>
          <p:cNvPr id="19" name="Label TextBox 18"/>
          <p:cNvSpPr txBox="1"/>
          <p:nvPr/>
        </p:nvSpPr>
        <p:spPr>
          <a:xfrm>
            <a:off x="3774668"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Mar</a:t>
            </a:r>
          </a:p>
        </p:txBody>
      </p:sp>
      <p:cxnSp>
        <p:nvCxnSpPr>
          <p:cNvPr id="20" name="Label Connector 19"/>
          <p:cNvCxnSpPr/>
          <p:nvPr/>
        </p:nvCxnSpPr>
        <p:spPr>
          <a:xfrm>
            <a:off x="4526601" y="3282696"/>
            <a:ext cx="0" cy="201168"/>
          </a:xfrm>
          <a:prstGeom prst="line">
            <a:avLst/>
          </a:prstGeom>
          <a:ln w="12700">
            <a:solidFill>
              <a:srgbClr val="FFFFFF"/>
            </a:solidFill>
          </a:ln>
        </p:spPr>
      </p:cxnSp>
      <p:sp>
        <p:nvSpPr>
          <p:cNvPr id="21" name="Label TextBox 20"/>
          <p:cNvSpPr txBox="1"/>
          <p:nvPr/>
        </p:nvSpPr>
        <p:spPr>
          <a:xfrm>
            <a:off x="4563177"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Apr</a:t>
            </a:r>
          </a:p>
        </p:txBody>
      </p:sp>
      <p:cxnSp>
        <p:nvCxnSpPr>
          <p:cNvPr id="22" name="Label Connector 21"/>
          <p:cNvCxnSpPr/>
          <p:nvPr/>
        </p:nvCxnSpPr>
        <p:spPr>
          <a:xfrm>
            <a:off x="5289675" y="3282696"/>
            <a:ext cx="0" cy="201168"/>
          </a:xfrm>
          <a:prstGeom prst="line">
            <a:avLst/>
          </a:prstGeom>
          <a:ln w="12700">
            <a:solidFill>
              <a:srgbClr val="FFFFFF"/>
            </a:solidFill>
          </a:ln>
        </p:spPr>
      </p:cxnSp>
      <p:sp>
        <p:nvSpPr>
          <p:cNvPr id="23" name="Label TextBox 22"/>
          <p:cNvSpPr txBox="1"/>
          <p:nvPr/>
        </p:nvSpPr>
        <p:spPr>
          <a:xfrm>
            <a:off x="5326251"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May</a:t>
            </a:r>
          </a:p>
        </p:txBody>
      </p:sp>
      <p:cxnSp>
        <p:nvCxnSpPr>
          <p:cNvPr id="24" name="Label Connector 23"/>
          <p:cNvCxnSpPr/>
          <p:nvPr/>
        </p:nvCxnSpPr>
        <p:spPr>
          <a:xfrm>
            <a:off x="6078184" y="3282696"/>
            <a:ext cx="0" cy="201168"/>
          </a:xfrm>
          <a:prstGeom prst="line">
            <a:avLst/>
          </a:prstGeom>
          <a:ln w="12700">
            <a:solidFill>
              <a:srgbClr val="FFFFFF"/>
            </a:solidFill>
          </a:ln>
        </p:spPr>
      </p:cxnSp>
      <p:sp>
        <p:nvSpPr>
          <p:cNvPr id="25" name="Label TextBox 24"/>
          <p:cNvSpPr txBox="1"/>
          <p:nvPr/>
        </p:nvSpPr>
        <p:spPr>
          <a:xfrm>
            <a:off x="6114760"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Jun</a:t>
            </a:r>
          </a:p>
        </p:txBody>
      </p:sp>
      <p:cxnSp>
        <p:nvCxnSpPr>
          <p:cNvPr id="26" name="Label Connector 25"/>
          <p:cNvCxnSpPr/>
          <p:nvPr/>
        </p:nvCxnSpPr>
        <p:spPr>
          <a:xfrm>
            <a:off x="6841257" y="3282696"/>
            <a:ext cx="0" cy="201168"/>
          </a:xfrm>
          <a:prstGeom prst="line">
            <a:avLst/>
          </a:prstGeom>
          <a:ln w="12700">
            <a:solidFill>
              <a:srgbClr val="FFFFFF"/>
            </a:solidFill>
          </a:ln>
        </p:spPr>
      </p:cxnSp>
      <p:sp>
        <p:nvSpPr>
          <p:cNvPr id="27" name="Label TextBox 26"/>
          <p:cNvSpPr txBox="1"/>
          <p:nvPr/>
        </p:nvSpPr>
        <p:spPr>
          <a:xfrm>
            <a:off x="6877833"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Jul</a:t>
            </a:r>
          </a:p>
        </p:txBody>
      </p:sp>
      <p:cxnSp>
        <p:nvCxnSpPr>
          <p:cNvPr id="28" name="Label Connector 27"/>
          <p:cNvCxnSpPr/>
          <p:nvPr/>
        </p:nvCxnSpPr>
        <p:spPr>
          <a:xfrm>
            <a:off x="7629766" y="3282696"/>
            <a:ext cx="0" cy="201168"/>
          </a:xfrm>
          <a:prstGeom prst="line">
            <a:avLst/>
          </a:prstGeom>
          <a:ln w="12700">
            <a:solidFill>
              <a:srgbClr val="FFFFFF"/>
            </a:solidFill>
          </a:ln>
        </p:spPr>
      </p:cxnSp>
      <p:sp>
        <p:nvSpPr>
          <p:cNvPr id="29" name="Label TextBox 28"/>
          <p:cNvSpPr txBox="1"/>
          <p:nvPr/>
        </p:nvSpPr>
        <p:spPr>
          <a:xfrm>
            <a:off x="7666342"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Aug</a:t>
            </a:r>
          </a:p>
        </p:txBody>
      </p:sp>
      <p:cxnSp>
        <p:nvCxnSpPr>
          <p:cNvPr id="30" name="Label Connector 29"/>
          <p:cNvCxnSpPr/>
          <p:nvPr/>
        </p:nvCxnSpPr>
        <p:spPr>
          <a:xfrm>
            <a:off x="8418275" y="3282696"/>
            <a:ext cx="0" cy="201168"/>
          </a:xfrm>
          <a:prstGeom prst="line">
            <a:avLst/>
          </a:prstGeom>
          <a:ln w="12700">
            <a:solidFill>
              <a:srgbClr val="FFFFFF"/>
            </a:solidFill>
          </a:ln>
        </p:spPr>
      </p:cxnSp>
      <p:sp>
        <p:nvSpPr>
          <p:cNvPr id="31" name="Label TextBox 30"/>
          <p:cNvSpPr txBox="1"/>
          <p:nvPr/>
        </p:nvSpPr>
        <p:spPr>
          <a:xfrm>
            <a:off x="8454851"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Sep</a:t>
            </a:r>
          </a:p>
        </p:txBody>
      </p:sp>
      <p:cxnSp>
        <p:nvCxnSpPr>
          <p:cNvPr id="32" name="Label Connector 31"/>
          <p:cNvCxnSpPr/>
          <p:nvPr/>
        </p:nvCxnSpPr>
        <p:spPr>
          <a:xfrm>
            <a:off x="9181348" y="3282696"/>
            <a:ext cx="0" cy="201168"/>
          </a:xfrm>
          <a:prstGeom prst="line">
            <a:avLst/>
          </a:prstGeom>
          <a:ln w="12700">
            <a:solidFill>
              <a:srgbClr val="FFFFFF"/>
            </a:solidFill>
          </a:ln>
        </p:spPr>
      </p:cxnSp>
      <p:sp>
        <p:nvSpPr>
          <p:cNvPr id="33" name="Label TextBox 32"/>
          <p:cNvSpPr txBox="1"/>
          <p:nvPr/>
        </p:nvSpPr>
        <p:spPr>
          <a:xfrm>
            <a:off x="9217924"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Oct</a:t>
            </a:r>
          </a:p>
        </p:txBody>
      </p:sp>
      <p:cxnSp>
        <p:nvCxnSpPr>
          <p:cNvPr id="34" name="Label Connector 33"/>
          <p:cNvCxnSpPr/>
          <p:nvPr/>
        </p:nvCxnSpPr>
        <p:spPr>
          <a:xfrm>
            <a:off x="9969857" y="3282696"/>
            <a:ext cx="0" cy="201168"/>
          </a:xfrm>
          <a:prstGeom prst="line">
            <a:avLst/>
          </a:prstGeom>
          <a:ln w="12700">
            <a:solidFill>
              <a:srgbClr val="FFFFFF"/>
            </a:solidFill>
          </a:ln>
        </p:spPr>
      </p:cxnSp>
      <p:sp>
        <p:nvSpPr>
          <p:cNvPr id="35" name="Label TextBox 34"/>
          <p:cNvSpPr txBox="1"/>
          <p:nvPr/>
        </p:nvSpPr>
        <p:spPr>
          <a:xfrm>
            <a:off x="10097873"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Nov</a:t>
            </a:r>
          </a:p>
        </p:txBody>
      </p:sp>
      <p:cxnSp>
        <p:nvCxnSpPr>
          <p:cNvPr id="36" name="Label Connector 35"/>
          <p:cNvCxnSpPr/>
          <p:nvPr/>
        </p:nvCxnSpPr>
        <p:spPr>
          <a:xfrm>
            <a:off x="10732930" y="3282696"/>
            <a:ext cx="0" cy="201168"/>
          </a:xfrm>
          <a:prstGeom prst="line">
            <a:avLst/>
          </a:prstGeom>
          <a:ln w="12700">
            <a:solidFill>
              <a:srgbClr val="FFFFFF"/>
            </a:solidFill>
          </a:ln>
        </p:spPr>
      </p:cxnSp>
      <p:sp>
        <p:nvSpPr>
          <p:cNvPr id="37" name="Label TextBox 36"/>
          <p:cNvSpPr txBox="1"/>
          <p:nvPr/>
        </p:nvSpPr>
        <p:spPr>
          <a:xfrm>
            <a:off x="10769506"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Dec</a:t>
            </a:r>
          </a:p>
        </p:txBody>
      </p:sp>
      <p:sp>
        <p:nvSpPr>
          <p:cNvPr id="38" name="Label TextBox 37"/>
          <p:cNvSpPr txBox="1"/>
          <p:nvPr/>
        </p:nvSpPr>
        <p:spPr>
          <a:xfrm>
            <a:off x="722376" y="3712464"/>
            <a:ext cx="54864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2025</a:t>
            </a:r>
          </a:p>
        </p:txBody>
      </p:sp>
      <p:sp>
        <p:nvSpPr>
          <p:cNvPr id="39" name="Label TextBox 38"/>
          <p:cNvSpPr txBox="1"/>
          <p:nvPr/>
        </p:nvSpPr>
        <p:spPr>
          <a:xfrm>
            <a:off x="2273958" y="3712464"/>
            <a:ext cx="54864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2026</a:t>
            </a:r>
          </a:p>
        </p:txBody>
      </p:sp>
      <p:sp>
        <p:nvSpPr>
          <p:cNvPr id="40" name="Label TextBox 39"/>
          <p:cNvSpPr txBox="1"/>
          <p:nvPr/>
        </p:nvSpPr>
        <p:spPr>
          <a:xfrm>
            <a:off x="7324537" y="3054096"/>
            <a:ext cx="1280160" cy="20116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Contract term</a:t>
            </a:r>
          </a:p>
        </p:txBody>
      </p:sp>
      <p:cxnSp>
        <p:nvCxnSpPr>
          <p:cNvPr id="41" name="Label Connector 40"/>
          <p:cNvCxnSpPr/>
          <p:nvPr/>
        </p:nvCxnSpPr>
        <p:spPr>
          <a:xfrm>
            <a:off x="1347130" y="3017520"/>
            <a:ext cx="0" cy="283464"/>
          </a:xfrm>
          <a:prstGeom prst="line">
            <a:avLst/>
          </a:prstGeom>
          <a:ln w="9525">
            <a:solidFill>
              <a:srgbClr val="D9D9D9"/>
            </a:solidFill>
          </a:ln>
        </p:spPr>
      </p:cxnSp>
      <p:sp>
        <p:nvSpPr>
          <p:cNvPr id="42" name="Label Oval 41"/>
          <p:cNvSpPr/>
          <p:nvPr/>
        </p:nvSpPr>
        <p:spPr>
          <a:xfrm>
            <a:off x="1264834" y="3300984"/>
            <a:ext cx="164592" cy="164592"/>
          </a:xfrm>
          <a:prstGeom prst="ellipse">
            <a:avLst/>
          </a:prstGeom>
          <a:solidFill>
            <a:srgbClr val="2E9E44"/>
          </a:solidFill>
          <a:ln>
            <a:noFill/>
          </a:ln>
        </p:spPr>
        <p:txBody>
          <a:bodyPr rtlCol="0" anchor="ctr"/>
          <a:lstStyle/>
          <a:p>
            <a:pPr algn="ctr"/>
          </a:p>
        </p:txBody>
      </p:sp>
      <p:sp>
        <p:nvSpPr>
          <p:cNvPr id="43" name="Label TextBox 42"/>
          <p:cNvSpPr txBox="1"/>
          <p:nvPr/>
        </p:nvSpPr>
        <p:spPr>
          <a:xfrm>
            <a:off x="1401994" y="256032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Inception Report</a:t>
            </a:r>
          </a:p>
          <a:p>
            <a:pPr algn="l">
              <a:spcAft>
                <a:spcPts val="0"/>
              </a:spcAft>
            </a:pPr>
            <a:r>
              <a:rPr sz="900" b="0" i="0">
                <a:solidFill>
                  <a:srgbClr val="7F7F7F"/>
                </a:solidFill>
                <a:latin typeface="Arial"/>
              </a:rPr>
              <a:t>Nov 2025, final</a:t>
            </a:r>
          </a:p>
        </p:txBody>
      </p:sp>
      <p:cxnSp>
        <p:nvCxnSpPr>
          <p:cNvPr id="44" name="Label Connector 43"/>
          <p:cNvCxnSpPr/>
          <p:nvPr/>
        </p:nvCxnSpPr>
        <p:spPr>
          <a:xfrm>
            <a:off x="1804974" y="3465576"/>
            <a:ext cx="0" cy="512063"/>
          </a:xfrm>
          <a:prstGeom prst="line">
            <a:avLst/>
          </a:prstGeom>
          <a:ln w="9525">
            <a:solidFill>
              <a:srgbClr val="D9D9D9"/>
            </a:solidFill>
          </a:ln>
        </p:spPr>
      </p:cxnSp>
      <p:sp>
        <p:nvSpPr>
          <p:cNvPr id="45" name="Label Oval 44"/>
          <p:cNvSpPr/>
          <p:nvPr/>
        </p:nvSpPr>
        <p:spPr>
          <a:xfrm>
            <a:off x="1722678" y="3300984"/>
            <a:ext cx="164592" cy="164592"/>
          </a:xfrm>
          <a:prstGeom prst="ellipse">
            <a:avLst/>
          </a:prstGeom>
          <a:solidFill>
            <a:srgbClr val="2E9E44"/>
          </a:solidFill>
          <a:ln>
            <a:noFill/>
          </a:ln>
        </p:spPr>
        <p:txBody>
          <a:bodyPr rtlCol="0" anchor="ctr"/>
          <a:lstStyle/>
          <a:p>
            <a:pPr algn="ctr"/>
          </a:p>
        </p:txBody>
      </p:sp>
      <p:sp>
        <p:nvSpPr>
          <p:cNvPr id="46" name="Label TextBox 45"/>
          <p:cNvSpPr txBox="1"/>
          <p:nvPr/>
        </p:nvSpPr>
        <p:spPr>
          <a:xfrm>
            <a:off x="1859838" y="3977639"/>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Current State Diagnostic</a:t>
            </a:r>
          </a:p>
          <a:p>
            <a:pPr algn="l">
              <a:spcAft>
                <a:spcPts val="0"/>
              </a:spcAft>
            </a:pPr>
            <a:r>
              <a:rPr sz="900" b="0" i="0">
                <a:solidFill>
                  <a:srgbClr val="7F7F7F"/>
                </a:solidFill>
                <a:latin typeface="Arial"/>
              </a:rPr>
              <a:t>Dec 2025, final</a:t>
            </a:r>
          </a:p>
        </p:txBody>
      </p:sp>
      <p:cxnSp>
        <p:nvCxnSpPr>
          <p:cNvPr id="47" name="Label Connector 46"/>
          <p:cNvCxnSpPr/>
          <p:nvPr/>
        </p:nvCxnSpPr>
        <p:spPr>
          <a:xfrm>
            <a:off x="4017886" y="3465576"/>
            <a:ext cx="0" cy="1060704"/>
          </a:xfrm>
          <a:prstGeom prst="line">
            <a:avLst/>
          </a:prstGeom>
          <a:ln w="9525">
            <a:solidFill>
              <a:srgbClr val="D9D9D9"/>
            </a:solidFill>
          </a:ln>
        </p:spPr>
      </p:cxnSp>
      <p:sp>
        <p:nvSpPr>
          <p:cNvPr id="48" name="Label Oval 47"/>
          <p:cNvSpPr/>
          <p:nvPr/>
        </p:nvSpPr>
        <p:spPr>
          <a:xfrm>
            <a:off x="3935590" y="3300984"/>
            <a:ext cx="164592" cy="164592"/>
          </a:xfrm>
          <a:prstGeom prst="ellipse">
            <a:avLst/>
          </a:prstGeom>
          <a:solidFill>
            <a:srgbClr val="F2A900"/>
          </a:solidFill>
          <a:ln>
            <a:noFill/>
          </a:ln>
        </p:spPr>
        <p:txBody>
          <a:bodyPr rtlCol="0" anchor="ctr"/>
          <a:lstStyle/>
          <a:p>
            <a:pPr algn="ctr"/>
          </a:p>
        </p:txBody>
      </p:sp>
      <p:sp>
        <p:nvSpPr>
          <p:cNvPr id="49" name="Label TextBox 48"/>
          <p:cNvSpPr txBox="1"/>
          <p:nvPr/>
        </p:nvSpPr>
        <p:spPr>
          <a:xfrm>
            <a:off x="4072750" y="452628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Stakeholder Insights</a:t>
            </a:r>
          </a:p>
          <a:p>
            <a:pPr algn="l">
              <a:spcAft>
                <a:spcPts val="0"/>
              </a:spcAft>
            </a:pPr>
            <a:r>
              <a:rPr sz="900" b="0" i="0">
                <a:solidFill>
                  <a:srgbClr val="7F7F7F"/>
                </a:solidFill>
                <a:latin typeface="Arial"/>
              </a:rPr>
              <a:t>Mar 2026, phase 1</a:t>
            </a:r>
          </a:p>
        </p:txBody>
      </p:sp>
      <p:cxnSp>
        <p:nvCxnSpPr>
          <p:cNvPr id="50" name="Label Connector 49"/>
          <p:cNvCxnSpPr/>
          <p:nvPr/>
        </p:nvCxnSpPr>
        <p:spPr>
          <a:xfrm>
            <a:off x="4119629" y="3017520"/>
            <a:ext cx="0" cy="283464"/>
          </a:xfrm>
          <a:prstGeom prst="line">
            <a:avLst/>
          </a:prstGeom>
          <a:ln w="9525">
            <a:solidFill>
              <a:srgbClr val="D9D9D9"/>
            </a:solidFill>
          </a:ln>
        </p:spPr>
      </p:cxnSp>
      <p:sp>
        <p:nvSpPr>
          <p:cNvPr id="51" name="Label Oval 50"/>
          <p:cNvSpPr/>
          <p:nvPr/>
        </p:nvSpPr>
        <p:spPr>
          <a:xfrm>
            <a:off x="4037333" y="3300984"/>
            <a:ext cx="164592" cy="164592"/>
          </a:xfrm>
          <a:prstGeom prst="ellipse">
            <a:avLst/>
          </a:prstGeom>
          <a:solidFill>
            <a:srgbClr val="F2A900"/>
          </a:solidFill>
          <a:ln>
            <a:noFill/>
          </a:ln>
        </p:spPr>
        <p:txBody>
          <a:bodyPr rtlCol="0" anchor="ctr"/>
          <a:lstStyle/>
          <a:p>
            <a:pPr algn="ctr"/>
          </a:p>
        </p:txBody>
      </p:sp>
      <p:sp>
        <p:nvSpPr>
          <p:cNvPr id="52" name="Label TextBox 51"/>
          <p:cNvSpPr txBox="1"/>
          <p:nvPr/>
        </p:nvSpPr>
        <p:spPr>
          <a:xfrm>
            <a:off x="2235965" y="256032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MIDAS Aviation</a:t>
            </a:r>
          </a:p>
          <a:p>
            <a:pPr algn="r">
              <a:spcAft>
                <a:spcPts val="0"/>
              </a:spcAft>
            </a:pPr>
            <a:r>
              <a:rPr sz="900" b="0" i="0">
                <a:solidFill>
                  <a:srgbClr val="7F7F7F"/>
                </a:solidFill>
                <a:latin typeface="Arial"/>
              </a:rPr>
              <a:t>Mar 2026, final draft</a:t>
            </a:r>
          </a:p>
        </p:txBody>
      </p:sp>
      <p:cxnSp>
        <p:nvCxnSpPr>
          <p:cNvPr id="53" name="Label Connector 52"/>
          <p:cNvCxnSpPr/>
          <p:nvPr/>
        </p:nvCxnSpPr>
        <p:spPr>
          <a:xfrm>
            <a:off x="4323115" y="2423160"/>
            <a:ext cx="0" cy="877824"/>
          </a:xfrm>
          <a:prstGeom prst="line">
            <a:avLst/>
          </a:prstGeom>
          <a:ln w="9525">
            <a:solidFill>
              <a:srgbClr val="D9D9D9"/>
            </a:solidFill>
          </a:ln>
        </p:spPr>
      </p:cxnSp>
      <p:sp>
        <p:nvSpPr>
          <p:cNvPr id="54" name="Label Oval 53"/>
          <p:cNvSpPr/>
          <p:nvPr/>
        </p:nvSpPr>
        <p:spPr>
          <a:xfrm>
            <a:off x="4240819" y="3300984"/>
            <a:ext cx="164592" cy="164592"/>
          </a:xfrm>
          <a:prstGeom prst="ellipse">
            <a:avLst/>
          </a:prstGeom>
          <a:solidFill>
            <a:srgbClr val="2E9E44"/>
          </a:solidFill>
          <a:ln>
            <a:noFill/>
          </a:ln>
        </p:spPr>
        <p:txBody>
          <a:bodyPr rtlCol="0" anchor="ctr"/>
          <a:lstStyle/>
          <a:p>
            <a:pPr algn="ctr"/>
          </a:p>
        </p:txBody>
      </p:sp>
      <p:sp>
        <p:nvSpPr>
          <p:cNvPr id="55" name="Label TextBox 54"/>
          <p:cNvSpPr txBox="1"/>
          <p:nvPr/>
        </p:nvSpPr>
        <p:spPr>
          <a:xfrm>
            <a:off x="4377979" y="196596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Global Benchmarking</a:t>
            </a:r>
          </a:p>
          <a:p>
            <a:pPr algn="l">
              <a:spcAft>
                <a:spcPts val="0"/>
              </a:spcAft>
            </a:pPr>
            <a:r>
              <a:rPr sz="900" b="0" i="0">
                <a:solidFill>
                  <a:srgbClr val="7F7F7F"/>
                </a:solidFill>
                <a:latin typeface="Arial"/>
              </a:rPr>
              <a:t>Mar 2026, final</a:t>
            </a:r>
          </a:p>
        </p:txBody>
      </p:sp>
      <p:cxnSp>
        <p:nvCxnSpPr>
          <p:cNvPr id="56" name="Label Connector 55"/>
          <p:cNvCxnSpPr/>
          <p:nvPr/>
        </p:nvCxnSpPr>
        <p:spPr>
          <a:xfrm>
            <a:off x="6357977" y="3017520"/>
            <a:ext cx="0" cy="283464"/>
          </a:xfrm>
          <a:prstGeom prst="line">
            <a:avLst/>
          </a:prstGeom>
          <a:ln w="9525">
            <a:solidFill>
              <a:srgbClr val="D9D9D9"/>
            </a:solidFill>
          </a:ln>
        </p:spPr>
      </p:cxnSp>
      <p:sp>
        <p:nvSpPr>
          <p:cNvPr id="57" name="Label Oval 56"/>
          <p:cNvSpPr/>
          <p:nvPr/>
        </p:nvSpPr>
        <p:spPr>
          <a:xfrm>
            <a:off x="6275681" y="3300984"/>
            <a:ext cx="164592" cy="164592"/>
          </a:xfrm>
          <a:prstGeom prst="ellipse">
            <a:avLst/>
          </a:prstGeom>
          <a:solidFill>
            <a:srgbClr val="2E9E44"/>
          </a:solidFill>
          <a:ln>
            <a:noFill/>
          </a:ln>
        </p:spPr>
        <p:txBody>
          <a:bodyPr rtlCol="0" anchor="ctr"/>
          <a:lstStyle/>
          <a:p>
            <a:pPr algn="ctr"/>
          </a:p>
        </p:txBody>
      </p:sp>
      <p:sp>
        <p:nvSpPr>
          <p:cNvPr id="58" name="Label TextBox 57"/>
          <p:cNvSpPr txBox="1"/>
          <p:nvPr/>
        </p:nvSpPr>
        <p:spPr>
          <a:xfrm>
            <a:off x="4474313" y="256032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Demand-Side Analysis</a:t>
            </a:r>
          </a:p>
          <a:p>
            <a:pPr algn="r">
              <a:spcAft>
                <a:spcPts val="0"/>
              </a:spcAft>
            </a:pPr>
            <a:r>
              <a:rPr sz="900" b="0" i="0">
                <a:solidFill>
                  <a:srgbClr val="7F7F7F"/>
                </a:solidFill>
                <a:latin typeface="Arial"/>
              </a:rPr>
              <a:t>Jun 2026, final</a:t>
            </a:r>
          </a:p>
        </p:txBody>
      </p:sp>
      <p:cxnSp>
        <p:nvCxnSpPr>
          <p:cNvPr id="59" name="Label Connector 58"/>
          <p:cNvCxnSpPr/>
          <p:nvPr/>
        </p:nvCxnSpPr>
        <p:spPr>
          <a:xfrm>
            <a:off x="6510592" y="3465576"/>
            <a:ext cx="0" cy="512063"/>
          </a:xfrm>
          <a:prstGeom prst="line">
            <a:avLst/>
          </a:prstGeom>
          <a:ln w="9525">
            <a:solidFill>
              <a:srgbClr val="D9D9D9"/>
            </a:solidFill>
          </a:ln>
        </p:spPr>
      </p:cxnSp>
      <p:sp>
        <p:nvSpPr>
          <p:cNvPr id="60" name="Label Oval 59"/>
          <p:cNvSpPr/>
          <p:nvPr/>
        </p:nvSpPr>
        <p:spPr>
          <a:xfrm>
            <a:off x="6428296" y="3300984"/>
            <a:ext cx="164592" cy="164592"/>
          </a:xfrm>
          <a:prstGeom prst="ellipse">
            <a:avLst/>
          </a:prstGeom>
          <a:solidFill>
            <a:srgbClr val="F2A900"/>
          </a:solidFill>
          <a:ln>
            <a:noFill/>
          </a:ln>
        </p:spPr>
        <p:txBody>
          <a:bodyPr rtlCol="0" anchor="ctr"/>
          <a:lstStyle/>
          <a:p>
            <a:pPr algn="ctr"/>
          </a:p>
        </p:txBody>
      </p:sp>
      <p:sp>
        <p:nvSpPr>
          <p:cNvPr id="61" name="Label TextBox 60"/>
          <p:cNvSpPr txBox="1"/>
          <p:nvPr/>
        </p:nvSpPr>
        <p:spPr>
          <a:xfrm>
            <a:off x="6565456" y="3977639"/>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Infrastructure Report</a:t>
            </a:r>
          </a:p>
          <a:p>
            <a:pPr algn="l">
              <a:spcAft>
                <a:spcPts val="0"/>
              </a:spcAft>
            </a:pPr>
            <a:r>
              <a:rPr sz="900" b="0" i="0">
                <a:solidFill>
                  <a:srgbClr val="7F7F7F"/>
                </a:solidFill>
                <a:latin typeface="Arial"/>
              </a:rPr>
              <a:t>Jun 2026, draft</a:t>
            </a:r>
          </a:p>
        </p:txBody>
      </p:sp>
      <p:cxnSp>
        <p:nvCxnSpPr>
          <p:cNvPr id="62" name="Label Connector 61"/>
          <p:cNvCxnSpPr/>
          <p:nvPr/>
        </p:nvCxnSpPr>
        <p:spPr>
          <a:xfrm>
            <a:off x="6917564" y="2423160"/>
            <a:ext cx="0" cy="877824"/>
          </a:xfrm>
          <a:prstGeom prst="line">
            <a:avLst/>
          </a:prstGeom>
          <a:ln w="9525">
            <a:solidFill>
              <a:srgbClr val="D9D9D9"/>
            </a:solidFill>
          </a:ln>
        </p:spPr>
      </p:cxnSp>
      <p:sp>
        <p:nvSpPr>
          <p:cNvPr id="63" name="Label Oval 62"/>
          <p:cNvSpPr/>
          <p:nvPr/>
        </p:nvSpPr>
        <p:spPr>
          <a:xfrm>
            <a:off x="6835268" y="3300984"/>
            <a:ext cx="164592" cy="164592"/>
          </a:xfrm>
          <a:prstGeom prst="ellipse">
            <a:avLst/>
          </a:prstGeom>
          <a:solidFill>
            <a:srgbClr val="F2A900"/>
          </a:solidFill>
          <a:ln>
            <a:noFill/>
          </a:ln>
        </p:spPr>
        <p:txBody>
          <a:bodyPr rtlCol="0" anchor="ctr"/>
          <a:lstStyle/>
          <a:p>
            <a:pPr algn="ctr"/>
          </a:p>
        </p:txBody>
      </p:sp>
      <p:sp>
        <p:nvSpPr>
          <p:cNvPr id="64" name="Label TextBox 63"/>
          <p:cNvSpPr txBox="1"/>
          <p:nvPr/>
        </p:nvSpPr>
        <p:spPr>
          <a:xfrm>
            <a:off x="6972428" y="196596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Hypothesis Tree v4</a:t>
            </a:r>
          </a:p>
          <a:p>
            <a:pPr algn="l">
              <a:spcAft>
                <a:spcPts val="0"/>
              </a:spcAft>
            </a:pPr>
            <a:r>
              <a:rPr sz="900" b="0" i="0">
                <a:solidFill>
                  <a:srgbClr val="7F7F7F"/>
                </a:solidFill>
                <a:latin typeface="Arial"/>
              </a:rPr>
              <a:t>Jul 2026, draft</a:t>
            </a:r>
          </a:p>
        </p:txBody>
      </p:sp>
      <p:cxnSp>
        <p:nvCxnSpPr>
          <p:cNvPr id="65" name="Label Connector 64"/>
          <p:cNvCxnSpPr/>
          <p:nvPr/>
        </p:nvCxnSpPr>
        <p:spPr>
          <a:xfrm>
            <a:off x="8774376" y="3465576"/>
            <a:ext cx="0" cy="1060704"/>
          </a:xfrm>
          <a:prstGeom prst="line">
            <a:avLst/>
          </a:prstGeom>
          <a:ln w="9525">
            <a:solidFill>
              <a:srgbClr val="D9D9D9"/>
            </a:solidFill>
          </a:ln>
        </p:spPr>
      </p:cxnSp>
      <p:sp>
        <p:nvSpPr>
          <p:cNvPr id="66" name="Label Oval 65"/>
          <p:cNvSpPr/>
          <p:nvPr/>
        </p:nvSpPr>
        <p:spPr>
          <a:xfrm>
            <a:off x="8692080" y="3300984"/>
            <a:ext cx="164592" cy="164592"/>
          </a:xfrm>
          <a:prstGeom prst="ellipse">
            <a:avLst/>
          </a:prstGeom>
          <a:solidFill>
            <a:srgbClr val="F2A900"/>
          </a:solidFill>
          <a:ln>
            <a:noFill/>
          </a:ln>
        </p:spPr>
        <p:txBody>
          <a:bodyPr rtlCol="0" anchor="ctr"/>
          <a:lstStyle/>
          <a:p>
            <a:pPr algn="ctr"/>
          </a:p>
        </p:txBody>
      </p:sp>
      <p:sp>
        <p:nvSpPr>
          <p:cNvPr id="67" name="Label TextBox 66"/>
          <p:cNvSpPr txBox="1"/>
          <p:nvPr/>
        </p:nvSpPr>
        <p:spPr>
          <a:xfrm>
            <a:off x="6890712" y="452628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SME and Inclusion Plan</a:t>
            </a:r>
          </a:p>
          <a:p>
            <a:pPr algn="r">
              <a:spcAft>
                <a:spcPts val="0"/>
              </a:spcAft>
            </a:pPr>
            <a:r>
              <a:rPr sz="900" b="0" i="0">
                <a:solidFill>
                  <a:srgbClr val="7F7F7F"/>
                </a:solidFill>
                <a:latin typeface="Arial"/>
              </a:rPr>
              <a:t>Sep 2026, draft</a:t>
            </a:r>
          </a:p>
        </p:txBody>
      </p:sp>
      <p:cxnSp>
        <p:nvCxnSpPr>
          <p:cNvPr id="68" name="Label Connector 67"/>
          <p:cNvCxnSpPr/>
          <p:nvPr/>
        </p:nvCxnSpPr>
        <p:spPr>
          <a:xfrm>
            <a:off x="9461142" y="1874519"/>
            <a:ext cx="0" cy="1399033"/>
          </a:xfrm>
          <a:prstGeom prst="line">
            <a:avLst/>
          </a:prstGeom>
          <a:ln w="19050">
            <a:solidFill>
              <a:srgbClr val="00AEEF"/>
            </a:solidFill>
          </a:ln>
        </p:spPr>
      </p:cxnSp>
      <p:sp>
        <p:nvSpPr>
          <p:cNvPr id="69" name="Label Diamond 68"/>
          <p:cNvSpPr/>
          <p:nvPr/>
        </p:nvSpPr>
        <p:spPr>
          <a:xfrm>
            <a:off x="9360558" y="3282696"/>
            <a:ext cx="201168" cy="201168"/>
          </a:xfrm>
          <a:prstGeom prst="diamond">
            <a:avLst/>
          </a:prstGeom>
          <a:solidFill>
            <a:srgbClr val="00AEEF"/>
          </a:solidFill>
          <a:ln>
            <a:noFill/>
          </a:ln>
        </p:spPr>
        <p:txBody>
          <a:bodyPr rtlCol="0" anchor="ctr"/>
          <a:lstStyle/>
          <a:p>
            <a:pPr algn="ctr"/>
          </a:p>
        </p:txBody>
      </p:sp>
      <p:sp>
        <p:nvSpPr>
          <p:cNvPr id="70" name="Label TextBox 69"/>
          <p:cNvSpPr txBox="1"/>
          <p:nvPr/>
        </p:nvSpPr>
        <p:spPr>
          <a:xfrm>
            <a:off x="7577478" y="1417320"/>
            <a:ext cx="1828800" cy="457200"/>
          </a:xfrm>
          <a:prstGeom prst="rect">
            <a:avLst/>
          </a:prstGeom>
          <a:noFill/>
        </p:spPr>
        <p:txBody>
          <a:bodyPr wrap="square" anchor="t" lIns="0" rIns="0" tIns="0" bIns="0">
            <a:spAutoFit/>
          </a:bodyPr>
          <a:lstStyle/>
          <a:p>
            <a:pPr algn="r">
              <a:spcAft>
                <a:spcPts val="0"/>
              </a:spcAft>
            </a:pPr>
            <a:r>
              <a:rPr sz="1000" b="1" i="0">
                <a:solidFill>
                  <a:srgbClr val="00AEEF"/>
                </a:solidFill>
                <a:latin typeface="Arial"/>
              </a:rPr>
              <a:t>This session</a:t>
            </a:r>
          </a:p>
          <a:p>
            <a:pPr algn="r">
              <a:spcAft>
                <a:spcPts val="0"/>
              </a:spcAft>
            </a:pPr>
            <a:r>
              <a:rPr sz="900" b="0" i="0">
                <a:solidFill>
                  <a:srgbClr val="7F7F7F"/>
                </a:solidFill>
                <a:latin typeface="Arial"/>
              </a:rPr>
              <a:t>Week of 12 Oct 2026</a:t>
            </a:r>
          </a:p>
        </p:txBody>
      </p:sp>
      <p:cxnSp>
        <p:nvCxnSpPr>
          <p:cNvPr id="71" name="Label Connector 70"/>
          <p:cNvCxnSpPr/>
          <p:nvPr/>
        </p:nvCxnSpPr>
        <p:spPr>
          <a:xfrm>
            <a:off x="9969857" y="1417320"/>
            <a:ext cx="0" cy="3611880"/>
          </a:xfrm>
          <a:prstGeom prst="line">
            <a:avLst/>
          </a:prstGeom>
          <a:ln w="25400">
            <a:solidFill>
              <a:srgbClr val="D9262B"/>
            </a:solidFill>
          </a:ln>
        </p:spPr>
      </p:cxnSp>
      <p:sp>
        <p:nvSpPr>
          <p:cNvPr id="72" name="Label TextBox 71"/>
          <p:cNvSpPr txBox="1"/>
          <p:nvPr/>
        </p:nvSpPr>
        <p:spPr>
          <a:xfrm>
            <a:off x="10024721" y="1417320"/>
            <a:ext cx="1463040" cy="457200"/>
          </a:xfrm>
          <a:prstGeom prst="rect">
            <a:avLst/>
          </a:prstGeom>
          <a:noFill/>
        </p:spPr>
        <p:txBody>
          <a:bodyPr wrap="square" anchor="t" lIns="0" rIns="0" tIns="0" bIns="0">
            <a:spAutoFit/>
          </a:bodyPr>
          <a:lstStyle/>
          <a:p>
            <a:pPr algn="l">
              <a:spcAft>
                <a:spcPts val="0"/>
              </a:spcAft>
            </a:pPr>
            <a:r>
              <a:rPr sz="1000" b="1" i="0">
                <a:solidFill>
                  <a:srgbClr val="D9262B"/>
                </a:solidFill>
                <a:latin typeface="Arial"/>
              </a:rPr>
              <a:t>Contract ends</a:t>
            </a:r>
          </a:p>
          <a:p>
            <a:pPr algn="l">
              <a:spcAft>
                <a:spcPts val="0"/>
              </a:spcAft>
            </a:pPr>
            <a:r>
              <a:rPr sz="900" b="0" i="0">
                <a:solidFill>
                  <a:srgbClr val="7F7F7F"/>
                </a:solidFill>
                <a:latin typeface="Arial"/>
              </a:rPr>
              <a:t>31 Oct 2026</a:t>
            </a:r>
          </a:p>
        </p:txBody>
      </p:sp>
      <p:sp>
        <p:nvSpPr>
          <p:cNvPr id="73" name="Label Oval 72"/>
          <p:cNvSpPr/>
          <p:nvPr/>
        </p:nvSpPr>
        <p:spPr>
          <a:xfrm>
            <a:off x="10100191" y="3310128"/>
            <a:ext cx="146304" cy="146304"/>
          </a:xfrm>
          <a:prstGeom prst="ellipse">
            <a:avLst/>
          </a:prstGeom>
          <a:solidFill>
            <a:srgbClr val="FFFFFF"/>
          </a:solidFill>
          <a:ln w="15875">
            <a:solidFill>
              <a:srgbClr val="7F7F7F"/>
            </a:solidFill>
          </a:ln>
        </p:spPr>
        <p:txBody>
          <a:bodyPr rtlCol="0" anchor="ctr"/>
          <a:lstStyle/>
          <a:p>
            <a:pPr algn="ctr"/>
          </a:p>
        </p:txBody>
      </p:sp>
      <p:sp>
        <p:nvSpPr>
          <p:cNvPr id="74" name="Label Oval 73"/>
          <p:cNvSpPr/>
          <p:nvPr/>
        </p:nvSpPr>
        <p:spPr>
          <a:xfrm>
            <a:off x="10278242" y="3310128"/>
            <a:ext cx="146304" cy="146304"/>
          </a:xfrm>
          <a:prstGeom prst="ellipse">
            <a:avLst/>
          </a:prstGeom>
          <a:solidFill>
            <a:srgbClr val="FFFFFF"/>
          </a:solidFill>
          <a:ln w="15875">
            <a:solidFill>
              <a:srgbClr val="7F7F7F"/>
            </a:solidFill>
          </a:ln>
        </p:spPr>
        <p:txBody>
          <a:bodyPr rtlCol="0" anchor="ctr"/>
          <a:lstStyle/>
          <a:p>
            <a:pPr algn="ctr"/>
          </a:p>
        </p:txBody>
      </p:sp>
      <p:sp>
        <p:nvSpPr>
          <p:cNvPr id="75" name="Label Oval 74"/>
          <p:cNvSpPr/>
          <p:nvPr/>
        </p:nvSpPr>
        <p:spPr>
          <a:xfrm>
            <a:off x="10456292" y="3310128"/>
            <a:ext cx="146304" cy="146304"/>
          </a:xfrm>
          <a:prstGeom prst="ellipse">
            <a:avLst/>
          </a:prstGeom>
          <a:solidFill>
            <a:srgbClr val="FFFFFF"/>
          </a:solidFill>
          <a:ln w="15875">
            <a:solidFill>
              <a:srgbClr val="7F7F7F"/>
            </a:solidFill>
          </a:ln>
        </p:spPr>
        <p:txBody>
          <a:bodyPr rtlCol="0" anchor="ctr"/>
          <a:lstStyle/>
          <a:p>
            <a:pPr algn="ctr"/>
          </a:p>
        </p:txBody>
      </p:sp>
      <p:cxnSp>
        <p:nvCxnSpPr>
          <p:cNvPr id="76" name="Label Connector 75"/>
          <p:cNvCxnSpPr/>
          <p:nvPr/>
        </p:nvCxnSpPr>
        <p:spPr>
          <a:xfrm>
            <a:off x="10173343" y="3465576"/>
            <a:ext cx="0" cy="512063"/>
          </a:xfrm>
          <a:prstGeom prst="line">
            <a:avLst/>
          </a:prstGeom>
          <a:ln w="9525">
            <a:solidFill>
              <a:srgbClr val="D9D9D9"/>
            </a:solidFill>
          </a:ln>
        </p:spPr>
      </p:cxnSp>
      <p:sp>
        <p:nvSpPr>
          <p:cNvPr id="77" name="Label TextBox 76"/>
          <p:cNvSpPr txBox="1"/>
          <p:nvPr/>
        </p:nvSpPr>
        <p:spPr>
          <a:xfrm>
            <a:off x="10228207" y="3977639"/>
            <a:ext cx="1600200" cy="6858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Outstanding</a:t>
            </a:r>
          </a:p>
          <a:p>
            <a:pPr algn="l">
              <a:spcAft>
                <a:spcPts val="0"/>
              </a:spcAft>
            </a:pPr>
            <a:r>
              <a:rPr sz="900" b="0" i="0">
                <a:solidFill>
                  <a:srgbClr val="7F7F7F"/>
                </a:solidFill>
                <a:latin typeface="Arial"/>
              </a:rPr>
              <a:t>M&amp;E toolkit, final report, launch</a:t>
            </a:r>
          </a:p>
        </p:txBody>
      </p:sp>
      <p:sp>
        <p:nvSpPr>
          <p:cNvPr id="78" name="TextBox 77"/>
          <p:cNvSpPr txBox="1"/>
          <p:nvPr/>
        </p:nvSpPr>
        <p:spPr>
          <a:xfrm>
            <a:off x="457200" y="5120640"/>
            <a:ext cx="8686800" cy="32004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Status: green final, amber draft, hollow outstanding.</a:t>
            </a:r>
          </a:p>
        </p:txBody>
      </p:sp>
      <p:sp>
        <p:nvSpPr>
          <p:cNvPr id="79" name="Rectangle 78"/>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80" name="TextBox 79"/>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remaining work needs an extension: clause 4.3 asks for notice a month before expiry and a written addendum.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In December the team framed the answer as a three-pillar hypothesis to test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02 | THE ORIGINAL TREE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Current State Diagnostic v2 (Dec 2025) p64, reproduced with the Diagnostic’s own wording</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3169767" y="1325880"/>
            <a:ext cx="5852160" cy="457200"/>
          </a:xfrm>
          <a:prstGeom prst="rect">
            <a:avLst/>
          </a:prstGeom>
          <a:solidFill>
            <a:srgbClr val="1F497D"/>
          </a:solidFill>
          <a:ln>
            <a:noFill/>
          </a:ln>
        </p:spPr>
        <p:txBody>
          <a:bodyPr rtlCol="0" anchor="ctr" wrap="square" lIns="36576" rIns="36576" tIns="21945" bIns="21945"/>
          <a:lstStyle/>
          <a:p>
            <a:pPr algn="ctr">
              <a:spcAft>
                <a:spcPts val="0"/>
              </a:spcAft>
            </a:pPr>
            <a:r>
              <a:rPr sz="1100" b="1" i="0">
                <a:solidFill>
                  <a:srgbClr val="FFFFFF"/>
                </a:solidFill>
                <a:latin typeface="Arial"/>
              </a:rPr>
              <a:t>FROM “RECOVERY” TO “GROWTH”</a:t>
            </a:r>
          </a:p>
          <a:p>
            <a:pPr algn="ctr">
              <a:spcAft>
                <a:spcPts val="0"/>
              </a:spcAft>
            </a:pPr>
            <a:r>
              <a:rPr sz="850" b="0" i="0">
                <a:solidFill>
                  <a:srgbClr val="FFFFFF"/>
                </a:solidFill>
                <a:latin typeface="Arial"/>
              </a:rPr>
              <a:t>Doubling International Tourism to The Western Cape By 2035</a:t>
            </a:r>
          </a:p>
        </p:txBody>
      </p:sp>
      <p:cxnSp>
        <p:nvCxnSpPr>
          <p:cNvPr id="9" name="Label Connector 8"/>
          <p:cNvCxnSpPr/>
          <p:nvPr/>
        </p:nvCxnSpPr>
        <p:spPr>
          <a:xfrm>
            <a:off x="2300173" y="1856231"/>
            <a:ext cx="7591349" cy="0"/>
          </a:xfrm>
          <a:prstGeom prst="line">
            <a:avLst/>
          </a:prstGeom>
          <a:ln w="9525">
            <a:solidFill>
              <a:srgbClr val="7F7F7F"/>
            </a:solidFill>
          </a:ln>
        </p:spPr>
      </p:cxnSp>
      <p:cxnSp>
        <p:nvCxnSpPr>
          <p:cNvPr id="10" name="Label Connector 9"/>
          <p:cNvCxnSpPr/>
          <p:nvPr/>
        </p:nvCxnSpPr>
        <p:spPr>
          <a:xfrm>
            <a:off x="2300173" y="1783080"/>
            <a:ext cx="0" cy="146304"/>
          </a:xfrm>
          <a:prstGeom prst="line">
            <a:avLst/>
          </a:prstGeom>
          <a:ln w="9525">
            <a:solidFill>
              <a:srgbClr val="7F7F7F"/>
            </a:solidFill>
          </a:ln>
        </p:spPr>
      </p:cxnSp>
      <p:sp>
        <p:nvSpPr>
          <p:cNvPr id="11" name="Label Rectangle 10"/>
          <p:cNvSpPr/>
          <p:nvPr/>
        </p:nvSpPr>
        <p:spPr>
          <a:xfrm>
            <a:off x="457200"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1  RESHAPE DEMAND</a:t>
            </a:r>
          </a:p>
          <a:p>
            <a:pPr algn="ctr">
              <a:spcAft>
                <a:spcPts val="0"/>
              </a:spcAft>
            </a:pPr>
            <a:r>
              <a:rPr sz="850" b="0" i="0">
                <a:solidFill>
                  <a:srgbClr val="FFFFFF"/>
                </a:solidFill>
                <a:latin typeface="Arial"/>
              </a:rPr>
              <a:t>Break through market, seasonality and geographic spread ceilings by reshaping the brand to unlock new traveller segments.</a:t>
            </a:r>
          </a:p>
        </p:txBody>
      </p:sp>
      <p:cxnSp>
        <p:nvCxnSpPr>
          <p:cNvPr id="12" name="Label Connector 11"/>
          <p:cNvCxnSpPr/>
          <p:nvPr/>
        </p:nvCxnSpPr>
        <p:spPr>
          <a:xfrm>
            <a:off x="6095847" y="1783080"/>
            <a:ext cx="0" cy="146304"/>
          </a:xfrm>
          <a:prstGeom prst="line">
            <a:avLst/>
          </a:prstGeom>
          <a:ln w="9525">
            <a:solidFill>
              <a:srgbClr val="7F7F7F"/>
            </a:solidFill>
          </a:ln>
        </p:spPr>
      </p:cxnSp>
      <p:sp>
        <p:nvSpPr>
          <p:cNvPr id="13" name="Label Rectangle 12"/>
          <p:cNvSpPr/>
          <p:nvPr/>
        </p:nvSpPr>
        <p:spPr>
          <a:xfrm>
            <a:off x="4252874"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2  TRANSFORM SUPPLY</a:t>
            </a:r>
          </a:p>
          <a:p>
            <a:pPr algn="ctr">
              <a:spcAft>
                <a:spcPts val="0"/>
              </a:spcAft>
            </a:pPr>
            <a:r>
              <a:rPr sz="850" b="0" i="0">
                <a:solidFill>
                  <a:srgbClr val="FFFFFF"/>
                </a:solidFill>
                <a:latin typeface="Arial"/>
              </a:rPr>
              <a:t>Remove mobility, infrastructure and product constraints to expand the destination’s physical carrying capacity.</a:t>
            </a:r>
          </a:p>
        </p:txBody>
      </p:sp>
      <p:cxnSp>
        <p:nvCxnSpPr>
          <p:cNvPr id="14" name="Label Connector 13"/>
          <p:cNvCxnSpPr/>
          <p:nvPr/>
        </p:nvCxnSpPr>
        <p:spPr>
          <a:xfrm>
            <a:off x="9891522" y="1783080"/>
            <a:ext cx="0" cy="146304"/>
          </a:xfrm>
          <a:prstGeom prst="line">
            <a:avLst/>
          </a:prstGeom>
          <a:ln w="9525">
            <a:solidFill>
              <a:srgbClr val="7F7F7F"/>
            </a:solidFill>
          </a:ln>
        </p:spPr>
      </p:cxnSp>
      <p:sp>
        <p:nvSpPr>
          <p:cNvPr id="15" name="Label Rectangle 14"/>
          <p:cNvSpPr/>
          <p:nvPr/>
        </p:nvSpPr>
        <p:spPr>
          <a:xfrm>
            <a:off x="8048548"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3  BUILD ENABLING CAPABILITY</a:t>
            </a:r>
          </a:p>
          <a:p>
            <a:pPr algn="ctr">
              <a:spcAft>
                <a:spcPts val="0"/>
              </a:spcAft>
            </a:pPr>
            <a:r>
              <a:rPr sz="850" b="0" i="0">
                <a:solidFill>
                  <a:srgbClr val="FFFFFF"/>
                </a:solidFill>
                <a:latin typeface="Arial"/>
              </a:rPr>
              <a:t>Cultivate an inclusive, well-governed tourism ecosystem that supports sustainable growth, returns and development.</a:t>
            </a:r>
          </a:p>
        </p:txBody>
      </p:sp>
      <p:cxnSp>
        <p:nvCxnSpPr>
          <p:cNvPr id="16" name="Label Connector 15"/>
          <p:cNvCxnSpPr/>
          <p:nvPr/>
        </p:nvCxnSpPr>
        <p:spPr>
          <a:xfrm>
            <a:off x="1351254" y="2587752"/>
            <a:ext cx="0" cy="109728"/>
          </a:xfrm>
          <a:prstGeom prst="line">
            <a:avLst/>
          </a:prstGeom>
          <a:ln w="9525">
            <a:solidFill>
              <a:srgbClr val="7F7F7F"/>
            </a:solidFill>
          </a:ln>
        </p:spPr>
      </p:cxnSp>
      <p:sp>
        <p:nvSpPr>
          <p:cNvPr id="17" name="Label Rectangle 16"/>
          <p:cNvSpPr/>
          <p:nvPr/>
        </p:nvSpPr>
        <p:spPr>
          <a:xfrm>
            <a:off x="457200"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1.1 Traveller, Brand and Proposition</a:t>
            </a:r>
          </a:p>
        </p:txBody>
      </p:sp>
      <p:sp>
        <p:nvSpPr>
          <p:cNvPr id="18" name="Label Rectangle 17"/>
          <p:cNvSpPr/>
          <p:nvPr/>
        </p:nvSpPr>
        <p:spPr>
          <a:xfrm>
            <a:off x="457200" y="3227832"/>
            <a:ext cx="1788109" cy="548640"/>
          </a:xfrm>
          <a:prstGeom prst="rect">
            <a:avLst/>
          </a:prstGeom>
          <a:solidFill>
            <a:srgbClr val="FFFFFF"/>
          </a:solidFill>
          <a:ln w="9525">
            <a:solidFill>
              <a:srgbClr val="7F7F7F"/>
            </a:solidFill>
          </a:ln>
        </p:spPr>
        <p:txBody>
          <a:bodyPr rtlCol="0" anchor="ctr"/>
          <a:lstStyle/>
          <a:p>
            <a:pPr algn="ctr"/>
          </a:p>
        </p:txBody>
      </p:sp>
      <p:sp>
        <p:nvSpPr>
          <p:cNvPr id="19" name="Label TextBox 18"/>
          <p:cNvSpPr txBox="1"/>
          <p:nvPr/>
        </p:nvSpPr>
        <p:spPr>
          <a:xfrm>
            <a:off x="484632"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Respond to Growth Segment Traveller Preferences</a:t>
            </a:r>
          </a:p>
        </p:txBody>
      </p:sp>
      <p:sp>
        <p:nvSpPr>
          <p:cNvPr id="20" name="Label Rectangle 19"/>
          <p:cNvSpPr/>
          <p:nvPr/>
        </p:nvSpPr>
        <p:spPr>
          <a:xfrm>
            <a:off x="457200" y="3849624"/>
            <a:ext cx="1788109" cy="548640"/>
          </a:xfrm>
          <a:prstGeom prst="rect">
            <a:avLst/>
          </a:prstGeom>
          <a:solidFill>
            <a:srgbClr val="FFFFFF"/>
          </a:solidFill>
          <a:ln w="9525">
            <a:solidFill>
              <a:srgbClr val="7F7F7F"/>
            </a:solidFill>
          </a:ln>
        </p:spPr>
        <p:txBody>
          <a:bodyPr rtlCol="0" anchor="ctr"/>
          <a:lstStyle/>
          <a:p>
            <a:pPr algn="ctr"/>
          </a:p>
        </p:txBody>
      </p:sp>
      <p:sp>
        <p:nvSpPr>
          <p:cNvPr id="21" name="Label TextBox 20"/>
          <p:cNvSpPr txBox="1"/>
          <p:nvPr/>
        </p:nvSpPr>
        <p:spPr>
          <a:xfrm>
            <a:off x="484632"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Develop the Seasonality and Spread Proposition</a:t>
            </a:r>
          </a:p>
        </p:txBody>
      </p:sp>
      <p:sp>
        <p:nvSpPr>
          <p:cNvPr id="22" name="Label Rectangle 21"/>
          <p:cNvSpPr/>
          <p:nvPr/>
        </p:nvSpPr>
        <p:spPr>
          <a:xfrm>
            <a:off x="457200" y="4471416"/>
            <a:ext cx="1788109" cy="548640"/>
          </a:xfrm>
          <a:prstGeom prst="rect">
            <a:avLst/>
          </a:prstGeom>
          <a:solidFill>
            <a:srgbClr val="FFFFFF"/>
          </a:solidFill>
          <a:ln w="9525">
            <a:solidFill>
              <a:srgbClr val="7F7F7F"/>
            </a:solidFill>
          </a:ln>
        </p:spPr>
        <p:txBody>
          <a:bodyPr rtlCol="0" anchor="ctr"/>
          <a:lstStyle/>
          <a:p>
            <a:pPr algn="ctr"/>
          </a:p>
        </p:txBody>
      </p:sp>
      <p:sp>
        <p:nvSpPr>
          <p:cNvPr id="23" name="Label TextBox 22"/>
          <p:cNvSpPr txBox="1"/>
          <p:nvPr/>
        </p:nvSpPr>
        <p:spPr>
          <a:xfrm>
            <a:off x="484632"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Facilitate Adoption Along the Path to Purchase</a:t>
            </a:r>
          </a:p>
        </p:txBody>
      </p:sp>
      <p:cxnSp>
        <p:nvCxnSpPr>
          <p:cNvPr id="24" name="Label Connector 23"/>
          <p:cNvCxnSpPr/>
          <p:nvPr/>
        </p:nvCxnSpPr>
        <p:spPr>
          <a:xfrm>
            <a:off x="3249091" y="2587752"/>
            <a:ext cx="0" cy="109728"/>
          </a:xfrm>
          <a:prstGeom prst="line">
            <a:avLst/>
          </a:prstGeom>
          <a:ln w="9525">
            <a:solidFill>
              <a:srgbClr val="7F7F7F"/>
            </a:solidFill>
          </a:ln>
        </p:spPr>
      </p:cxnSp>
      <p:sp>
        <p:nvSpPr>
          <p:cNvPr id="25" name="Label Rectangle 24"/>
          <p:cNvSpPr/>
          <p:nvPr/>
        </p:nvSpPr>
        <p:spPr>
          <a:xfrm>
            <a:off x="2355037"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1.2 Source Market Growth and Diversification</a:t>
            </a:r>
          </a:p>
        </p:txBody>
      </p:sp>
      <p:sp>
        <p:nvSpPr>
          <p:cNvPr id="26" name="Label Rectangle 25"/>
          <p:cNvSpPr/>
          <p:nvPr/>
        </p:nvSpPr>
        <p:spPr>
          <a:xfrm>
            <a:off x="2355037" y="3227832"/>
            <a:ext cx="1788109" cy="548640"/>
          </a:xfrm>
          <a:prstGeom prst="rect">
            <a:avLst/>
          </a:prstGeom>
          <a:solidFill>
            <a:srgbClr val="FFFFFF"/>
          </a:solidFill>
          <a:ln w="9525">
            <a:solidFill>
              <a:srgbClr val="7F7F7F"/>
            </a:solidFill>
          </a:ln>
        </p:spPr>
        <p:txBody>
          <a:bodyPr rtlCol="0" anchor="ctr"/>
          <a:lstStyle/>
          <a:p>
            <a:pPr algn="ctr"/>
          </a:p>
        </p:txBody>
      </p:sp>
      <p:sp>
        <p:nvSpPr>
          <p:cNvPr id="27" name="Label TextBox 26"/>
          <p:cNvSpPr txBox="1"/>
          <p:nvPr/>
        </p:nvSpPr>
        <p:spPr>
          <a:xfrm>
            <a:off x="2382469"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Pivot to Growth Markets (China, India, ME, ASEAN)</a:t>
            </a:r>
          </a:p>
        </p:txBody>
      </p:sp>
      <p:sp>
        <p:nvSpPr>
          <p:cNvPr id="28" name="Label Rectangle 27"/>
          <p:cNvSpPr/>
          <p:nvPr/>
        </p:nvSpPr>
        <p:spPr>
          <a:xfrm>
            <a:off x="2355037" y="3849624"/>
            <a:ext cx="1788109" cy="548640"/>
          </a:xfrm>
          <a:prstGeom prst="rect">
            <a:avLst/>
          </a:prstGeom>
          <a:solidFill>
            <a:srgbClr val="FFFFFF"/>
          </a:solidFill>
          <a:ln w="9525">
            <a:solidFill>
              <a:srgbClr val="7F7F7F"/>
            </a:solidFill>
          </a:ln>
        </p:spPr>
        <p:txBody>
          <a:bodyPr rtlCol="0" anchor="ctr"/>
          <a:lstStyle/>
          <a:p>
            <a:pPr algn="ctr"/>
          </a:p>
        </p:txBody>
      </p:sp>
      <p:sp>
        <p:nvSpPr>
          <p:cNvPr id="29" name="Label TextBox 28"/>
          <p:cNvSpPr txBox="1"/>
          <p:nvPr/>
        </p:nvSpPr>
        <p:spPr>
          <a:xfrm>
            <a:off x="2382469"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Increase Yield in Mature Markets (UK, Europe, N. America)</a:t>
            </a:r>
          </a:p>
        </p:txBody>
      </p:sp>
      <p:sp>
        <p:nvSpPr>
          <p:cNvPr id="30" name="Label Rectangle 29"/>
          <p:cNvSpPr/>
          <p:nvPr/>
        </p:nvSpPr>
        <p:spPr>
          <a:xfrm>
            <a:off x="2355037" y="4471416"/>
            <a:ext cx="1788109" cy="548640"/>
          </a:xfrm>
          <a:prstGeom prst="rect">
            <a:avLst/>
          </a:prstGeom>
          <a:solidFill>
            <a:srgbClr val="FFFFFF"/>
          </a:solidFill>
          <a:ln w="9525">
            <a:solidFill>
              <a:srgbClr val="7F7F7F"/>
            </a:solidFill>
          </a:ln>
        </p:spPr>
        <p:txBody>
          <a:bodyPr rtlCol="0" anchor="ctr"/>
          <a:lstStyle/>
          <a:p>
            <a:pPr algn="ctr"/>
          </a:p>
        </p:txBody>
      </p:sp>
      <p:sp>
        <p:nvSpPr>
          <p:cNvPr id="31" name="Label TextBox 30"/>
          <p:cNvSpPr txBox="1"/>
          <p:nvPr/>
        </p:nvSpPr>
        <p:spPr>
          <a:xfrm>
            <a:off x="2382469"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Build a Regional Foundation (Africa)</a:t>
            </a:r>
          </a:p>
        </p:txBody>
      </p:sp>
      <p:cxnSp>
        <p:nvCxnSpPr>
          <p:cNvPr id="32" name="Label Connector 31"/>
          <p:cNvCxnSpPr/>
          <p:nvPr/>
        </p:nvCxnSpPr>
        <p:spPr>
          <a:xfrm>
            <a:off x="5146929" y="2587752"/>
            <a:ext cx="0" cy="109728"/>
          </a:xfrm>
          <a:prstGeom prst="line">
            <a:avLst/>
          </a:prstGeom>
          <a:ln w="9525">
            <a:solidFill>
              <a:srgbClr val="7F7F7F"/>
            </a:solidFill>
          </a:ln>
        </p:spPr>
      </p:cxnSp>
      <p:sp>
        <p:nvSpPr>
          <p:cNvPr id="33" name="Label Rectangle 32"/>
          <p:cNvSpPr/>
          <p:nvPr/>
        </p:nvSpPr>
        <p:spPr>
          <a:xfrm>
            <a:off x="4252874"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2.1 Accessibility, Connectivity and Infrastructure</a:t>
            </a:r>
          </a:p>
        </p:txBody>
      </p:sp>
      <p:sp>
        <p:nvSpPr>
          <p:cNvPr id="34" name="Label Rectangle 33"/>
          <p:cNvSpPr/>
          <p:nvPr/>
        </p:nvSpPr>
        <p:spPr>
          <a:xfrm>
            <a:off x="4252874" y="3227832"/>
            <a:ext cx="1788109" cy="548640"/>
          </a:xfrm>
          <a:prstGeom prst="rect">
            <a:avLst/>
          </a:prstGeom>
          <a:solidFill>
            <a:srgbClr val="FFFFFF"/>
          </a:solidFill>
          <a:ln w="9525">
            <a:solidFill>
              <a:srgbClr val="7F7F7F"/>
            </a:solidFill>
          </a:ln>
        </p:spPr>
        <p:txBody>
          <a:bodyPr rtlCol="0" anchor="ctr"/>
          <a:lstStyle/>
          <a:p>
            <a:pPr algn="ctr"/>
          </a:p>
        </p:txBody>
      </p:sp>
      <p:sp>
        <p:nvSpPr>
          <p:cNvPr id="35" name="Label TextBox 34"/>
          <p:cNvSpPr txBox="1"/>
          <p:nvPr/>
        </p:nvSpPr>
        <p:spPr>
          <a:xfrm>
            <a:off x="4280306"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Close the Air Access and Cruise Capacity Gaps</a:t>
            </a:r>
          </a:p>
        </p:txBody>
      </p:sp>
      <p:sp>
        <p:nvSpPr>
          <p:cNvPr id="36" name="Label Rectangle 35"/>
          <p:cNvSpPr/>
          <p:nvPr/>
        </p:nvSpPr>
        <p:spPr>
          <a:xfrm>
            <a:off x="4252874" y="3849624"/>
            <a:ext cx="1788109" cy="548640"/>
          </a:xfrm>
          <a:prstGeom prst="rect">
            <a:avLst/>
          </a:prstGeom>
          <a:solidFill>
            <a:srgbClr val="FFFFFF"/>
          </a:solidFill>
          <a:ln w="9525">
            <a:solidFill>
              <a:srgbClr val="7F7F7F"/>
            </a:solidFill>
          </a:ln>
        </p:spPr>
        <p:txBody>
          <a:bodyPr rtlCol="0" anchor="ctr"/>
          <a:lstStyle/>
          <a:p>
            <a:pPr algn="ctr"/>
          </a:p>
        </p:txBody>
      </p:sp>
      <p:sp>
        <p:nvSpPr>
          <p:cNvPr id="37" name="Label TextBox 36"/>
          <p:cNvSpPr txBox="1"/>
          <p:nvPr/>
        </p:nvSpPr>
        <p:spPr>
          <a:xfrm>
            <a:off x="4280306"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Accelerate Tourism-Enabling Internal Mobility</a:t>
            </a:r>
          </a:p>
        </p:txBody>
      </p:sp>
      <p:sp>
        <p:nvSpPr>
          <p:cNvPr id="38" name="Label Rectangle 37"/>
          <p:cNvSpPr/>
          <p:nvPr/>
        </p:nvSpPr>
        <p:spPr>
          <a:xfrm>
            <a:off x="4252874" y="4471416"/>
            <a:ext cx="1788109" cy="548640"/>
          </a:xfrm>
          <a:prstGeom prst="rect">
            <a:avLst/>
          </a:prstGeom>
          <a:solidFill>
            <a:srgbClr val="FFFFFF"/>
          </a:solidFill>
          <a:ln w="9525">
            <a:solidFill>
              <a:srgbClr val="7F7F7F"/>
            </a:solidFill>
          </a:ln>
        </p:spPr>
        <p:txBody>
          <a:bodyPr rtlCol="0" anchor="ctr"/>
          <a:lstStyle/>
          <a:p>
            <a:pPr algn="ctr"/>
          </a:p>
        </p:txBody>
      </p:sp>
      <p:sp>
        <p:nvSpPr>
          <p:cNvPr id="39" name="Label TextBox 38"/>
          <p:cNvSpPr txBox="1"/>
          <p:nvPr/>
        </p:nvSpPr>
        <p:spPr>
          <a:xfrm>
            <a:off x="4280306"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Lead Removal of Infrastructure, Visa and Safety Deficits</a:t>
            </a:r>
          </a:p>
        </p:txBody>
      </p:sp>
      <p:cxnSp>
        <p:nvCxnSpPr>
          <p:cNvPr id="40" name="Label Connector 39"/>
          <p:cNvCxnSpPr/>
          <p:nvPr/>
        </p:nvCxnSpPr>
        <p:spPr>
          <a:xfrm>
            <a:off x="7044766" y="2587752"/>
            <a:ext cx="0" cy="109728"/>
          </a:xfrm>
          <a:prstGeom prst="line">
            <a:avLst/>
          </a:prstGeom>
          <a:ln w="9525">
            <a:solidFill>
              <a:srgbClr val="7F7F7F"/>
            </a:solidFill>
          </a:ln>
        </p:spPr>
      </p:cxnSp>
      <p:sp>
        <p:nvSpPr>
          <p:cNvPr id="41" name="Label Rectangle 40"/>
          <p:cNvSpPr/>
          <p:nvPr/>
        </p:nvSpPr>
        <p:spPr>
          <a:xfrm>
            <a:off x="6150711"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2.2 Product and Destination Capacity</a:t>
            </a:r>
          </a:p>
        </p:txBody>
      </p:sp>
      <p:sp>
        <p:nvSpPr>
          <p:cNvPr id="42" name="Label Rectangle 41"/>
          <p:cNvSpPr/>
          <p:nvPr/>
        </p:nvSpPr>
        <p:spPr>
          <a:xfrm>
            <a:off x="6150711" y="3227832"/>
            <a:ext cx="1788109" cy="548640"/>
          </a:xfrm>
          <a:prstGeom prst="rect">
            <a:avLst/>
          </a:prstGeom>
          <a:solidFill>
            <a:srgbClr val="FFFFFF"/>
          </a:solidFill>
          <a:ln w="9525">
            <a:solidFill>
              <a:srgbClr val="7F7F7F"/>
            </a:solidFill>
          </a:ln>
        </p:spPr>
        <p:txBody>
          <a:bodyPr rtlCol="0" anchor="ctr"/>
          <a:lstStyle/>
          <a:p>
            <a:pPr algn="ctr"/>
          </a:p>
        </p:txBody>
      </p:sp>
      <p:sp>
        <p:nvSpPr>
          <p:cNvPr id="43" name="Label TextBox 42"/>
          <p:cNvSpPr txBox="1"/>
          <p:nvPr/>
        </p:nvSpPr>
        <p:spPr>
          <a:xfrm>
            <a:off x="6178143"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Support Diversified Route and Product Development</a:t>
            </a:r>
          </a:p>
        </p:txBody>
      </p:sp>
      <p:sp>
        <p:nvSpPr>
          <p:cNvPr id="44" name="Label Rectangle 43"/>
          <p:cNvSpPr/>
          <p:nvPr/>
        </p:nvSpPr>
        <p:spPr>
          <a:xfrm>
            <a:off x="6150711" y="3849624"/>
            <a:ext cx="1788109" cy="548640"/>
          </a:xfrm>
          <a:prstGeom prst="rect">
            <a:avLst/>
          </a:prstGeom>
          <a:solidFill>
            <a:srgbClr val="FFFFFF"/>
          </a:solidFill>
          <a:ln w="9525">
            <a:solidFill>
              <a:srgbClr val="7F7F7F"/>
            </a:solidFill>
          </a:ln>
        </p:spPr>
        <p:txBody>
          <a:bodyPr rtlCol="0" anchor="ctr"/>
          <a:lstStyle/>
          <a:p>
            <a:pPr algn="ctr"/>
          </a:p>
        </p:txBody>
      </p:sp>
      <p:sp>
        <p:nvSpPr>
          <p:cNvPr id="45" name="Label TextBox 44"/>
          <p:cNvSpPr txBox="1"/>
          <p:nvPr/>
        </p:nvSpPr>
        <p:spPr>
          <a:xfrm>
            <a:off x="6178143"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Align Visitor Experience In-Destination</a:t>
            </a:r>
          </a:p>
        </p:txBody>
      </p:sp>
      <p:sp>
        <p:nvSpPr>
          <p:cNvPr id="46" name="Label Rectangle 45"/>
          <p:cNvSpPr/>
          <p:nvPr/>
        </p:nvSpPr>
        <p:spPr>
          <a:xfrm>
            <a:off x="6150711" y="4471416"/>
            <a:ext cx="1788109" cy="548640"/>
          </a:xfrm>
          <a:prstGeom prst="rect">
            <a:avLst/>
          </a:prstGeom>
          <a:solidFill>
            <a:srgbClr val="FFFFFF"/>
          </a:solidFill>
          <a:ln w="9525">
            <a:solidFill>
              <a:srgbClr val="7F7F7F"/>
            </a:solidFill>
          </a:ln>
        </p:spPr>
        <p:txBody>
          <a:bodyPr rtlCol="0" anchor="ctr"/>
          <a:lstStyle/>
          <a:p>
            <a:pPr algn="ctr"/>
          </a:p>
        </p:txBody>
      </p:sp>
      <p:sp>
        <p:nvSpPr>
          <p:cNvPr id="47" name="Label TextBox 46"/>
          <p:cNvSpPr txBox="1"/>
          <p:nvPr/>
        </p:nvSpPr>
        <p:spPr>
          <a:xfrm>
            <a:off x="6178143"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Balance Impact on Nature-Based Attractions</a:t>
            </a:r>
          </a:p>
        </p:txBody>
      </p:sp>
      <p:cxnSp>
        <p:nvCxnSpPr>
          <p:cNvPr id="48" name="Label Connector 47"/>
          <p:cNvCxnSpPr/>
          <p:nvPr/>
        </p:nvCxnSpPr>
        <p:spPr>
          <a:xfrm>
            <a:off x="8942603" y="2587752"/>
            <a:ext cx="0" cy="109728"/>
          </a:xfrm>
          <a:prstGeom prst="line">
            <a:avLst/>
          </a:prstGeom>
          <a:ln w="9525">
            <a:solidFill>
              <a:srgbClr val="7F7F7F"/>
            </a:solidFill>
          </a:ln>
        </p:spPr>
      </p:cxnSp>
      <p:sp>
        <p:nvSpPr>
          <p:cNvPr id="49" name="Label Rectangle 48"/>
          <p:cNvSpPr/>
          <p:nvPr/>
        </p:nvSpPr>
        <p:spPr>
          <a:xfrm>
            <a:off x="8048548"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3.1 Investment, Inclusion and Sustainability</a:t>
            </a:r>
          </a:p>
        </p:txBody>
      </p:sp>
      <p:sp>
        <p:nvSpPr>
          <p:cNvPr id="50" name="Label Rectangle 49"/>
          <p:cNvSpPr/>
          <p:nvPr/>
        </p:nvSpPr>
        <p:spPr>
          <a:xfrm>
            <a:off x="8048548" y="3227832"/>
            <a:ext cx="1788109" cy="548640"/>
          </a:xfrm>
          <a:prstGeom prst="rect">
            <a:avLst/>
          </a:prstGeom>
          <a:solidFill>
            <a:srgbClr val="FFFFFF"/>
          </a:solidFill>
          <a:ln w="9525">
            <a:solidFill>
              <a:srgbClr val="7F7F7F"/>
            </a:solidFill>
          </a:ln>
        </p:spPr>
        <p:txBody>
          <a:bodyPr rtlCol="0" anchor="ctr"/>
          <a:lstStyle/>
          <a:p>
            <a:pPr algn="ctr"/>
          </a:p>
        </p:txBody>
      </p:sp>
      <p:sp>
        <p:nvSpPr>
          <p:cNvPr id="51" name="Label TextBox 50"/>
          <p:cNvSpPr txBox="1"/>
          <p:nvPr/>
        </p:nvSpPr>
        <p:spPr>
          <a:xfrm>
            <a:off x="8075980"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Drive Community and SME Inclusion</a:t>
            </a:r>
          </a:p>
        </p:txBody>
      </p:sp>
      <p:sp>
        <p:nvSpPr>
          <p:cNvPr id="52" name="Label Rectangle 51"/>
          <p:cNvSpPr/>
          <p:nvPr/>
        </p:nvSpPr>
        <p:spPr>
          <a:xfrm>
            <a:off x="8048548" y="3849624"/>
            <a:ext cx="1788109" cy="548640"/>
          </a:xfrm>
          <a:prstGeom prst="rect">
            <a:avLst/>
          </a:prstGeom>
          <a:solidFill>
            <a:srgbClr val="FFFFFF"/>
          </a:solidFill>
          <a:ln w="9525">
            <a:solidFill>
              <a:srgbClr val="7F7F7F"/>
            </a:solidFill>
          </a:ln>
        </p:spPr>
        <p:txBody>
          <a:bodyPr rtlCol="0" anchor="ctr"/>
          <a:lstStyle/>
          <a:p>
            <a:pPr algn="ctr"/>
          </a:p>
        </p:txBody>
      </p:sp>
      <p:sp>
        <p:nvSpPr>
          <p:cNvPr id="53" name="Label TextBox 52"/>
          <p:cNvSpPr txBox="1"/>
          <p:nvPr/>
        </p:nvSpPr>
        <p:spPr>
          <a:xfrm>
            <a:off x="8075980"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Ensure Sustainable Destination Management</a:t>
            </a:r>
          </a:p>
        </p:txBody>
      </p:sp>
      <p:sp>
        <p:nvSpPr>
          <p:cNvPr id="54" name="Label Rectangle 53"/>
          <p:cNvSpPr/>
          <p:nvPr/>
        </p:nvSpPr>
        <p:spPr>
          <a:xfrm>
            <a:off x="8048548" y="4471416"/>
            <a:ext cx="1788109" cy="548640"/>
          </a:xfrm>
          <a:prstGeom prst="rect">
            <a:avLst/>
          </a:prstGeom>
          <a:solidFill>
            <a:srgbClr val="FFFFFF"/>
          </a:solidFill>
          <a:ln w="9525">
            <a:solidFill>
              <a:srgbClr val="7F7F7F"/>
            </a:solidFill>
          </a:ln>
        </p:spPr>
        <p:txBody>
          <a:bodyPr rtlCol="0" anchor="ctr"/>
          <a:lstStyle/>
          <a:p>
            <a:pPr algn="ctr"/>
          </a:p>
        </p:txBody>
      </p:sp>
      <p:sp>
        <p:nvSpPr>
          <p:cNvPr id="55" name="Label TextBox 54"/>
          <p:cNvSpPr txBox="1"/>
          <p:nvPr/>
        </p:nvSpPr>
        <p:spPr>
          <a:xfrm>
            <a:off x="8075980"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Crowd-In Capital with Targeted Investment Strategies</a:t>
            </a:r>
          </a:p>
        </p:txBody>
      </p:sp>
      <p:cxnSp>
        <p:nvCxnSpPr>
          <p:cNvPr id="56" name="Label Connector 55"/>
          <p:cNvCxnSpPr/>
          <p:nvPr/>
        </p:nvCxnSpPr>
        <p:spPr>
          <a:xfrm>
            <a:off x="10840440" y="2587752"/>
            <a:ext cx="0" cy="109728"/>
          </a:xfrm>
          <a:prstGeom prst="line">
            <a:avLst/>
          </a:prstGeom>
          <a:ln w="9525">
            <a:solidFill>
              <a:srgbClr val="7F7F7F"/>
            </a:solidFill>
          </a:ln>
        </p:spPr>
      </p:cxnSp>
      <p:sp>
        <p:nvSpPr>
          <p:cNvPr id="57" name="Label Rectangle 56"/>
          <p:cNvSpPr/>
          <p:nvPr/>
        </p:nvSpPr>
        <p:spPr>
          <a:xfrm>
            <a:off x="9946386"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3.2 Governance and Leadership</a:t>
            </a:r>
          </a:p>
        </p:txBody>
      </p:sp>
      <p:sp>
        <p:nvSpPr>
          <p:cNvPr id="58" name="Label Rectangle 57"/>
          <p:cNvSpPr/>
          <p:nvPr/>
        </p:nvSpPr>
        <p:spPr>
          <a:xfrm>
            <a:off x="9946386" y="3227832"/>
            <a:ext cx="1788109" cy="548640"/>
          </a:xfrm>
          <a:prstGeom prst="rect">
            <a:avLst/>
          </a:prstGeom>
          <a:solidFill>
            <a:srgbClr val="FFFFFF"/>
          </a:solidFill>
          <a:ln w="9525">
            <a:solidFill>
              <a:srgbClr val="7F7F7F"/>
            </a:solidFill>
          </a:ln>
        </p:spPr>
        <p:txBody>
          <a:bodyPr rtlCol="0" anchor="ctr"/>
          <a:lstStyle/>
          <a:p>
            <a:pPr algn="ctr"/>
          </a:p>
        </p:txBody>
      </p:sp>
      <p:sp>
        <p:nvSpPr>
          <p:cNvPr id="59" name="Label TextBox 58"/>
          <p:cNvSpPr txBox="1"/>
          <p:nvPr/>
        </p:nvSpPr>
        <p:spPr>
          <a:xfrm>
            <a:off x="9973817"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Review Institutional Arrangements (Wesgro, DEDAT, CTT)</a:t>
            </a:r>
          </a:p>
        </p:txBody>
      </p:sp>
      <p:sp>
        <p:nvSpPr>
          <p:cNvPr id="60" name="Label Rectangle 59"/>
          <p:cNvSpPr/>
          <p:nvPr/>
        </p:nvSpPr>
        <p:spPr>
          <a:xfrm>
            <a:off x="9946386" y="3849624"/>
            <a:ext cx="1788109" cy="548640"/>
          </a:xfrm>
          <a:prstGeom prst="rect">
            <a:avLst/>
          </a:prstGeom>
          <a:solidFill>
            <a:srgbClr val="FFFFFF"/>
          </a:solidFill>
          <a:ln w="9525">
            <a:solidFill>
              <a:srgbClr val="7F7F7F"/>
            </a:solidFill>
          </a:ln>
        </p:spPr>
        <p:txBody>
          <a:bodyPr rtlCol="0" anchor="ctr"/>
          <a:lstStyle/>
          <a:p>
            <a:pPr algn="ctr"/>
          </a:p>
        </p:txBody>
      </p:sp>
      <p:sp>
        <p:nvSpPr>
          <p:cNvPr id="61" name="Label TextBox 60"/>
          <p:cNvSpPr txBox="1"/>
          <p:nvPr/>
        </p:nvSpPr>
        <p:spPr>
          <a:xfrm>
            <a:off x="9973817"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Strengthen Industry and Government Collaboration</a:t>
            </a:r>
          </a:p>
        </p:txBody>
      </p:sp>
      <p:sp>
        <p:nvSpPr>
          <p:cNvPr id="62" name="Label Rectangle 61"/>
          <p:cNvSpPr/>
          <p:nvPr/>
        </p:nvSpPr>
        <p:spPr>
          <a:xfrm>
            <a:off x="9946386" y="4471416"/>
            <a:ext cx="1788109" cy="548640"/>
          </a:xfrm>
          <a:prstGeom prst="rect">
            <a:avLst/>
          </a:prstGeom>
          <a:solidFill>
            <a:srgbClr val="FFFFFF"/>
          </a:solidFill>
          <a:ln w="9525">
            <a:solidFill>
              <a:srgbClr val="7F7F7F"/>
            </a:solidFill>
          </a:ln>
        </p:spPr>
        <p:txBody>
          <a:bodyPr rtlCol="0" anchor="ctr"/>
          <a:lstStyle/>
          <a:p>
            <a:pPr algn="ctr"/>
          </a:p>
        </p:txBody>
      </p:sp>
      <p:sp>
        <p:nvSpPr>
          <p:cNvPr id="63" name="Label TextBox 62"/>
          <p:cNvSpPr txBox="1"/>
          <p:nvPr/>
        </p:nvSpPr>
        <p:spPr>
          <a:xfrm>
            <a:off x="9973817"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Expedite Tourism-Enabling Policy and Data Sharing</a:t>
            </a:r>
          </a:p>
        </p:txBody>
      </p:sp>
      <p:sp>
        <p:nvSpPr>
          <p:cNvPr id="64" name="Rectangle 63"/>
          <p:cNvSpPr/>
          <p:nvPr/>
        </p:nvSpPr>
        <p:spPr>
          <a:xfrm>
            <a:off x="457200" y="5120640"/>
            <a:ext cx="11277295" cy="777240"/>
          </a:xfrm>
          <a:prstGeom prst="rect">
            <a:avLst/>
          </a:prstGeom>
          <a:solidFill>
            <a:srgbClr val="F2F2F2"/>
          </a:solidFill>
          <a:ln>
            <a:noFill/>
          </a:ln>
        </p:spPr>
        <p:txBody>
          <a:bodyPr rtlCol="0" anchor="ctr"/>
          <a:lstStyle/>
          <a:p>
            <a:pPr algn="ctr"/>
          </a:p>
        </p:txBody>
      </p:sp>
      <p:sp>
        <p:nvSpPr>
          <p:cNvPr id="65" name="Rectangle 64"/>
          <p:cNvSpPr/>
          <p:nvPr/>
        </p:nvSpPr>
        <p:spPr>
          <a:xfrm>
            <a:off x="457200" y="5120640"/>
            <a:ext cx="64008" cy="777240"/>
          </a:xfrm>
          <a:prstGeom prst="rect">
            <a:avLst/>
          </a:prstGeom>
          <a:solidFill>
            <a:srgbClr val="00AEEF"/>
          </a:solidFill>
          <a:ln>
            <a:noFill/>
          </a:ln>
        </p:spPr>
        <p:txBody>
          <a:bodyPr rtlCol="0" anchor="ctr"/>
          <a:lstStyle/>
          <a:p>
            <a:pPr algn="ctr"/>
          </a:p>
        </p:txBody>
      </p:sp>
      <p:sp>
        <p:nvSpPr>
          <p:cNvPr id="66" name="TextBox 65"/>
          <p:cNvSpPr txBox="1"/>
          <p:nvPr/>
        </p:nvSpPr>
        <p:spPr>
          <a:xfrm>
            <a:off x="640080" y="5193792"/>
            <a:ext cx="11002975" cy="393192"/>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“To double tourism by 2035, the Western Cape must transition from recovery to growth, requiring a simultaneous pivot to high-growth markets (Demand), a physical expansion of accessibility and capacity (Supply) and the removal of systemic regulatory friction (Enablement).”</a:t>
            </a:r>
          </a:p>
        </p:txBody>
      </p:sp>
      <p:sp>
        <p:nvSpPr>
          <p:cNvPr id="67" name="TextBox 66"/>
          <p:cNvSpPr txBox="1"/>
          <p:nvPr/>
        </p:nvSpPr>
        <p:spPr>
          <a:xfrm>
            <a:off x="640080" y="5586983"/>
            <a:ext cx="11002975"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Diagnostic v2 p64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Arrivals have passed the pre-COVID peak, but five markets, one season and one metro still carry the province</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CURRENT STATE DIAGNOSTIC, DEC 2025</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Current State Diagnostic v2 (Dec 2025) pp25, 28-29, 32, 35, 39. Airport passenger arrivals are not the same measure as tourist arrivals (see appendix).</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63040"/>
            <a:ext cx="2145731" cy="3931920"/>
          </a:xfrm>
          <a:prstGeom prst="rect">
            <a:avLst/>
          </a:prstGeom>
          <a:solidFill>
            <a:srgbClr val="F2F2F2"/>
          </a:solidFill>
          <a:ln>
            <a:noFill/>
          </a:ln>
        </p:spPr>
        <p:txBody>
          <a:bodyPr rtlCol="0" anchor="ctr"/>
          <a:lstStyle/>
          <a:p>
            <a:pPr algn="ctr"/>
          </a:p>
        </p:txBody>
      </p:sp>
      <p:sp>
        <p:nvSpPr>
          <p:cNvPr id="9" name="Rectangle 8"/>
          <p:cNvSpPr/>
          <p:nvPr/>
        </p:nvSpPr>
        <p:spPr>
          <a:xfrm>
            <a:off x="457200" y="1463040"/>
            <a:ext cx="2145731" cy="54864"/>
          </a:xfrm>
          <a:prstGeom prst="rect">
            <a:avLst/>
          </a:prstGeom>
          <a:solidFill>
            <a:srgbClr val="00AEEF"/>
          </a:solidFill>
          <a:ln>
            <a:noFill/>
          </a:ln>
        </p:spPr>
        <p:txBody>
          <a:bodyPr rtlCol="0" anchor="ctr"/>
          <a:lstStyle/>
          <a:p>
            <a:pPr algn="ctr"/>
          </a:p>
        </p:txBody>
      </p:sp>
      <p:sp>
        <p:nvSpPr>
          <p:cNvPr id="10" name="TextBox 9"/>
          <p:cNvSpPr txBox="1"/>
          <p:nvPr/>
        </p:nvSpPr>
        <p:spPr>
          <a:xfrm>
            <a:off x="621792"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1.44m</a:t>
            </a:r>
          </a:p>
        </p:txBody>
      </p:sp>
      <p:sp>
        <p:nvSpPr>
          <p:cNvPr id="11" name="TextBox 10"/>
          <p:cNvSpPr txBox="1"/>
          <p:nvPr/>
        </p:nvSpPr>
        <p:spPr>
          <a:xfrm>
            <a:off x="621792"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international passenger arrivals at Cape Town airport, FY24/25, against 1.16m in FY19/20</a:t>
            </a:r>
          </a:p>
        </p:txBody>
      </p:sp>
      <p:sp>
        <p:nvSpPr>
          <p:cNvPr id="12" name="Label Rectangle 11"/>
          <p:cNvSpPr/>
          <p:nvPr/>
        </p:nvSpPr>
        <p:spPr>
          <a:xfrm>
            <a:off x="621792" y="4036695"/>
            <a:ext cx="127158" cy="718185"/>
          </a:xfrm>
          <a:prstGeom prst="rect">
            <a:avLst/>
          </a:prstGeom>
          <a:solidFill>
            <a:srgbClr val="D9D9D9"/>
          </a:solidFill>
          <a:ln>
            <a:noFill/>
          </a:ln>
        </p:spPr>
        <p:txBody>
          <a:bodyPr rtlCol="0" anchor="ctr"/>
          <a:lstStyle/>
          <a:p>
            <a:pPr algn="ctr"/>
          </a:p>
        </p:txBody>
      </p:sp>
      <p:sp>
        <p:nvSpPr>
          <p:cNvPr id="13" name="Label Rectangle 12"/>
          <p:cNvSpPr/>
          <p:nvPr/>
        </p:nvSpPr>
        <p:spPr>
          <a:xfrm>
            <a:off x="803446" y="3870960"/>
            <a:ext cx="127158" cy="883920"/>
          </a:xfrm>
          <a:prstGeom prst="rect">
            <a:avLst/>
          </a:prstGeom>
          <a:solidFill>
            <a:srgbClr val="D9D9D9"/>
          </a:solidFill>
          <a:ln>
            <a:noFill/>
          </a:ln>
        </p:spPr>
        <p:txBody>
          <a:bodyPr rtlCol="0" anchor="ctr"/>
          <a:lstStyle/>
          <a:p>
            <a:pPr algn="ctr"/>
          </a:p>
        </p:txBody>
      </p:sp>
      <p:sp>
        <p:nvSpPr>
          <p:cNvPr id="14" name="Label Rectangle 13"/>
          <p:cNvSpPr/>
          <p:nvPr/>
        </p:nvSpPr>
        <p:spPr>
          <a:xfrm>
            <a:off x="985101" y="3732847"/>
            <a:ext cx="127158" cy="1022032"/>
          </a:xfrm>
          <a:prstGeom prst="rect">
            <a:avLst/>
          </a:prstGeom>
          <a:solidFill>
            <a:srgbClr val="D9D9D9"/>
          </a:solidFill>
          <a:ln>
            <a:noFill/>
          </a:ln>
        </p:spPr>
        <p:txBody>
          <a:bodyPr rtlCol="0" anchor="ctr"/>
          <a:lstStyle/>
          <a:p>
            <a:pPr algn="ctr"/>
          </a:p>
        </p:txBody>
      </p:sp>
      <p:sp>
        <p:nvSpPr>
          <p:cNvPr id="15" name="Label Rectangle 14"/>
          <p:cNvSpPr/>
          <p:nvPr/>
        </p:nvSpPr>
        <p:spPr>
          <a:xfrm>
            <a:off x="1166756" y="3659187"/>
            <a:ext cx="127158" cy="1095692"/>
          </a:xfrm>
          <a:prstGeom prst="rect">
            <a:avLst/>
          </a:prstGeom>
          <a:solidFill>
            <a:srgbClr val="D9D9D9"/>
          </a:solidFill>
          <a:ln>
            <a:noFill/>
          </a:ln>
        </p:spPr>
        <p:txBody>
          <a:bodyPr rtlCol="0" anchor="ctr"/>
          <a:lstStyle/>
          <a:p>
            <a:pPr algn="ctr"/>
          </a:p>
        </p:txBody>
      </p:sp>
      <p:sp>
        <p:nvSpPr>
          <p:cNvPr id="16" name="Label Rectangle 15"/>
          <p:cNvSpPr/>
          <p:nvPr/>
        </p:nvSpPr>
        <p:spPr>
          <a:xfrm>
            <a:off x="1348410" y="3686810"/>
            <a:ext cx="127158" cy="1068070"/>
          </a:xfrm>
          <a:prstGeom prst="rect">
            <a:avLst/>
          </a:prstGeom>
          <a:solidFill>
            <a:srgbClr val="D9D9D9"/>
          </a:solidFill>
          <a:ln>
            <a:noFill/>
          </a:ln>
        </p:spPr>
        <p:txBody>
          <a:bodyPr rtlCol="0" anchor="ctr"/>
          <a:lstStyle/>
          <a:p>
            <a:pPr algn="ctr"/>
          </a:p>
        </p:txBody>
      </p:sp>
      <p:sp>
        <p:nvSpPr>
          <p:cNvPr id="17" name="Label Rectangle 16"/>
          <p:cNvSpPr/>
          <p:nvPr/>
        </p:nvSpPr>
        <p:spPr>
          <a:xfrm>
            <a:off x="1530065" y="4681220"/>
            <a:ext cx="127158" cy="73659"/>
          </a:xfrm>
          <a:prstGeom prst="rect">
            <a:avLst/>
          </a:prstGeom>
          <a:solidFill>
            <a:srgbClr val="D9D9D9"/>
          </a:solidFill>
          <a:ln>
            <a:noFill/>
          </a:ln>
        </p:spPr>
        <p:txBody>
          <a:bodyPr rtlCol="0" anchor="ctr"/>
          <a:lstStyle/>
          <a:p>
            <a:pPr algn="ctr"/>
          </a:p>
        </p:txBody>
      </p:sp>
      <p:sp>
        <p:nvSpPr>
          <p:cNvPr id="18" name="Label Rectangle 17"/>
          <p:cNvSpPr/>
          <p:nvPr/>
        </p:nvSpPr>
        <p:spPr>
          <a:xfrm>
            <a:off x="1711720" y="4404995"/>
            <a:ext cx="127158" cy="349885"/>
          </a:xfrm>
          <a:prstGeom prst="rect">
            <a:avLst/>
          </a:prstGeom>
          <a:solidFill>
            <a:srgbClr val="D9D9D9"/>
          </a:solidFill>
          <a:ln>
            <a:noFill/>
          </a:ln>
        </p:spPr>
        <p:txBody>
          <a:bodyPr rtlCol="0" anchor="ctr"/>
          <a:lstStyle/>
          <a:p>
            <a:pPr algn="ctr"/>
          </a:p>
        </p:txBody>
      </p:sp>
      <p:sp>
        <p:nvSpPr>
          <p:cNvPr id="19" name="Label Rectangle 18"/>
          <p:cNvSpPr/>
          <p:nvPr/>
        </p:nvSpPr>
        <p:spPr>
          <a:xfrm>
            <a:off x="1893374" y="3769677"/>
            <a:ext cx="127158" cy="985202"/>
          </a:xfrm>
          <a:prstGeom prst="rect">
            <a:avLst/>
          </a:prstGeom>
          <a:solidFill>
            <a:srgbClr val="D9D9D9"/>
          </a:solidFill>
          <a:ln>
            <a:noFill/>
          </a:ln>
        </p:spPr>
        <p:txBody>
          <a:bodyPr rtlCol="0" anchor="ctr"/>
          <a:lstStyle/>
          <a:p>
            <a:pPr algn="ctr"/>
          </a:p>
        </p:txBody>
      </p:sp>
      <p:sp>
        <p:nvSpPr>
          <p:cNvPr id="20" name="Label Rectangle 19"/>
          <p:cNvSpPr/>
          <p:nvPr/>
        </p:nvSpPr>
        <p:spPr>
          <a:xfrm>
            <a:off x="2075029" y="3502660"/>
            <a:ext cx="127158" cy="1252220"/>
          </a:xfrm>
          <a:prstGeom prst="rect">
            <a:avLst/>
          </a:prstGeom>
          <a:solidFill>
            <a:srgbClr val="D9D9D9"/>
          </a:solidFill>
          <a:ln>
            <a:noFill/>
          </a:ln>
        </p:spPr>
        <p:txBody>
          <a:bodyPr rtlCol="0" anchor="ctr"/>
          <a:lstStyle/>
          <a:p>
            <a:pPr algn="ctr"/>
          </a:p>
        </p:txBody>
      </p:sp>
      <p:sp>
        <p:nvSpPr>
          <p:cNvPr id="21" name="Label Rectangle 20"/>
          <p:cNvSpPr/>
          <p:nvPr/>
        </p:nvSpPr>
        <p:spPr>
          <a:xfrm>
            <a:off x="2256684" y="3429000"/>
            <a:ext cx="127158" cy="1325880"/>
          </a:xfrm>
          <a:prstGeom prst="rect">
            <a:avLst/>
          </a:prstGeom>
          <a:solidFill>
            <a:srgbClr val="1F497D"/>
          </a:solidFill>
          <a:ln>
            <a:noFill/>
          </a:ln>
        </p:spPr>
        <p:txBody>
          <a:bodyPr rtlCol="0" anchor="ctr"/>
          <a:lstStyle/>
          <a:p>
            <a:pPr algn="ctr"/>
          </a:p>
        </p:txBody>
      </p:sp>
      <p:cxnSp>
        <p:nvCxnSpPr>
          <p:cNvPr id="22" name="Label Connector 21"/>
          <p:cNvCxnSpPr/>
          <p:nvPr/>
        </p:nvCxnSpPr>
        <p:spPr>
          <a:xfrm>
            <a:off x="621792" y="4754880"/>
            <a:ext cx="1762050" cy="0"/>
          </a:xfrm>
          <a:prstGeom prst="line">
            <a:avLst/>
          </a:prstGeom>
          <a:ln w="6350">
            <a:solidFill>
              <a:srgbClr val="7F7F7F"/>
            </a:solidFill>
          </a:ln>
        </p:spPr>
      </p:cxnSp>
      <p:sp>
        <p:nvSpPr>
          <p:cNvPr id="23" name="Label TextBox 22"/>
          <p:cNvSpPr txBox="1"/>
          <p:nvPr/>
        </p:nvSpPr>
        <p:spPr>
          <a:xfrm>
            <a:off x="621792"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FY15/16 to FY24/25</a:t>
            </a:r>
          </a:p>
        </p:txBody>
      </p:sp>
      <p:sp>
        <p:nvSpPr>
          <p:cNvPr id="24" name="Rectangle 23"/>
          <p:cNvSpPr/>
          <p:nvPr/>
        </p:nvSpPr>
        <p:spPr>
          <a:xfrm>
            <a:off x="2740091" y="1463040"/>
            <a:ext cx="2145731" cy="3931920"/>
          </a:xfrm>
          <a:prstGeom prst="rect">
            <a:avLst/>
          </a:prstGeom>
          <a:solidFill>
            <a:srgbClr val="F2F2F2"/>
          </a:solidFill>
          <a:ln>
            <a:noFill/>
          </a:ln>
        </p:spPr>
        <p:txBody>
          <a:bodyPr rtlCol="0" anchor="ctr"/>
          <a:lstStyle/>
          <a:p>
            <a:pPr algn="ctr"/>
          </a:p>
        </p:txBody>
      </p:sp>
      <p:sp>
        <p:nvSpPr>
          <p:cNvPr id="25" name="Rectangle 24"/>
          <p:cNvSpPr/>
          <p:nvPr/>
        </p:nvSpPr>
        <p:spPr>
          <a:xfrm>
            <a:off x="2740091" y="1463040"/>
            <a:ext cx="2145731" cy="54864"/>
          </a:xfrm>
          <a:prstGeom prst="rect">
            <a:avLst/>
          </a:prstGeom>
          <a:solidFill>
            <a:srgbClr val="00AEEF"/>
          </a:solidFill>
          <a:ln>
            <a:noFill/>
          </a:ln>
        </p:spPr>
        <p:txBody>
          <a:bodyPr rtlCol="0" anchor="ctr"/>
          <a:lstStyle/>
          <a:p>
            <a:pPr algn="ctr"/>
          </a:p>
        </p:txBody>
      </p:sp>
      <p:sp>
        <p:nvSpPr>
          <p:cNvPr id="26" name="TextBox 25"/>
          <p:cNvSpPr txBox="1"/>
          <p:nvPr/>
        </p:nvSpPr>
        <p:spPr>
          <a:xfrm>
            <a:off x="2904683"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61%</a:t>
            </a:r>
          </a:p>
        </p:txBody>
      </p:sp>
      <p:sp>
        <p:nvSpPr>
          <p:cNvPr id="27" name="TextBox 26"/>
          <p:cNvSpPr txBox="1"/>
          <p:nvPr/>
        </p:nvSpPr>
        <p:spPr>
          <a:xfrm>
            <a:off x="2904683"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overseas air arrivals come from just five markets</a:t>
            </a:r>
          </a:p>
        </p:txBody>
      </p:sp>
      <p:sp>
        <p:nvSpPr>
          <p:cNvPr id="28" name="Label Rectangle 27"/>
          <p:cNvSpPr/>
          <p:nvPr/>
        </p:nvSpPr>
        <p:spPr>
          <a:xfrm>
            <a:off x="2904683" y="3429000"/>
            <a:ext cx="127158" cy="1325880"/>
          </a:xfrm>
          <a:prstGeom prst="rect">
            <a:avLst/>
          </a:prstGeom>
          <a:solidFill>
            <a:srgbClr val="1F497D"/>
          </a:solidFill>
          <a:ln>
            <a:noFill/>
          </a:ln>
        </p:spPr>
        <p:txBody>
          <a:bodyPr rtlCol="0" anchor="ctr"/>
          <a:lstStyle/>
          <a:p>
            <a:pPr algn="ctr"/>
          </a:p>
        </p:txBody>
      </p:sp>
      <p:sp>
        <p:nvSpPr>
          <p:cNvPr id="29" name="Label Rectangle 28"/>
          <p:cNvSpPr/>
          <p:nvPr/>
        </p:nvSpPr>
        <p:spPr>
          <a:xfrm>
            <a:off x="3086337" y="3429000"/>
            <a:ext cx="127158" cy="1325880"/>
          </a:xfrm>
          <a:prstGeom prst="rect">
            <a:avLst/>
          </a:prstGeom>
          <a:solidFill>
            <a:srgbClr val="1F497D"/>
          </a:solidFill>
          <a:ln>
            <a:noFill/>
          </a:ln>
        </p:spPr>
        <p:txBody>
          <a:bodyPr rtlCol="0" anchor="ctr"/>
          <a:lstStyle/>
          <a:p>
            <a:pPr algn="ctr"/>
          </a:p>
        </p:txBody>
      </p:sp>
      <p:sp>
        <p:nvSpPr>
          <p:cNvPr id="30" name="Label Rectangle 29"/>
          <p:cNvSpPr/>
          <p:nvPr/>
        </p:nvSpPr>
        <p:spPr>
          <a:xfrm>
            <a:off x="3267992" y="3649980"/>
            <a:ext cx="127158" cy="1104900"/>
          </a:xfrm>
          <a:prstGeom prst="rect">
            <a:avLst/>
          </a:prstGeom>
          <a:solidFill>
            <a:srgbClr val="1F497D"/>
          </a:solidFill>
          <a:ln>
            <a:noFill/>
          </a:ln>
        </p:spPr>
        <p:txBody>
          <a:bodyPr rtlCol="0" anchor="ctr"/>
          <a:lstStyle/>
          <a:p>
            <a:pPr algn="ctr"/>
          </a:p>
        </p:txBody>
      </p:sp>
      <p:sp>
        <p:nvSpPr>
          <p:cNvPr id="31" name="Label Rectangle 30"/>
          <p:cNvSpPr/>
          <p:nvPr/>
        </p:nvSpPr>
        <p:spPr>
          <a:xfrm>
            <a:off x="3449647" y="4312920"/>
            <a:ext cx="127158" cy="441959"/>
          </a:xfrm>
          <a:prstGeom prst="rect">
            <a:avLst/>
          </a:prstGeom>
          <a:solidFill>
            <a:srgbClr val="1F497D"/>
          </a:solidFill>
          <a:ln>
            <a:noFill/>
          </a:ln>
        </p:spPr>
        <p:txBody>
          <a:bodyPr rtlCol="0" anchor="ctr"/>
          <a:lstStyle/>
          <a:p>
            <a:pPr algn="ctr"/>
          </a:p>
        </p:txBody>
      </p:sp>
      <p:sp>
        <p:nvSpPr>
          <p:cNvPr id="32" name="Label Rectangle 31"/>
          <p:cNvSpPr/>
          <p:nvPr/>
        </p:nvSpPr>
        <p:spPr>
          <a:xfrm>
            <a:off x="3631301" y="4460240"/>
            <a:ext cx="127158" cy="294639"/>
          </a:xfrm>
          <a:prstGeom prst="rect">
            <a:avLst/>
          </a:prstGeom>
          <a:solidFill>
            <a:srgbClr val="1F497D"/>
          </a:solidFill>
          <a:ln>
            <a:noFill/>
          </a:ln>
        </p:spPr>
        <p:txBody>
          <a:bodyPr rtlCol="0" anchor="ctr"/>
          <a:lstStyle/>
          <a:p>
            <a:pPr algn="ctr"/>
          </a:p>
        </p:txBody>
      </p:sp>
      <p:sp>
        <p:nvSpPr>
          <p:cNvPr id="33" name="Label Rectangle 32"/>
          <p:cNvSpPr/>
          <p:nvPr/>
        </p:nvSpPr>
        <p:spPr>
          <a:xfrm>
            <a:off x="3812956" y="4533900"/>
            <a:ext cx="127158" cy="220979"/>
          </a:xfrm>
          <a:prstGeom prst="rect">
            <a:avLst/>
          </a:prstGeom>
          <a:solidFill>
            <a:srgbClr val="D9D9D9"/>
          </a:solidFill>
          <a:ln>
            <a:noFill/>
          </a:ln>
        </p:spPr>
        <p:txBody>
          <a:bodyPr rtlCol="0" anchor="ctr"/>
          <a:lstStyle/>
          <a:p>
            <a:pPr algn="ctr"/>
          </a:p>
        </p:txBody>
      </p:sp>
      <p:sp>
        <p:nvSpPr>
          <p:cNvPr id="34" name="Label Rectangle 33"/>
          <p:cNvSpPr/>
          <p:nvPr/>
        </p:nvSpPr>
        <p:spPr>
          <a:xfrm>
            <a:off x="3994611" y="4533900"/>
            <a:ext cx="127158" cy="220979"/>
          </a:xfrm>
          <a:prstGeom prst="rect">
            <a:avLst/>
          </a:prstGeom>
          <a:solidFill>
            <a:srgbClr val="D9D9D9"/>
          </a:solidFill>
          <a:ln>
            <a:noFill/>
          </a:ln>
        </p:spPr>
        <p:txBody>
          <a:bodyPr rtlCol="0" anchor="ctr"/>
          <a:lstStyle/>
          <a:p>
            <a:pPr algn="ctr"/>
          </a:p>
        </p:txBody>
      </p:sp>
      <p:sp>
        <p:nvSpPr>
          <p:cNvPr id="35" name="Label Rectangle 34"/>
          <p:cNvSpPr/>
          <p:nvPr/>
        </p:nvSpPr>
        <p:spPr>
          <a:xfrm>
            <a:off x="4176265" y="4533900"/>
            <a:ext cx="127158" cy="220979"/>
          </a:xfrm>
          <a:prstGeom prst="rect">
            <a:avLst/>
          </a:prstGeom>
          <a:solidFill>
            <a:srgbClr val="D9D9D9"/>
          </a:solidFill>
          <a:ln>
            <a:noFill/>
          </a:ln>
        </p:spPr>
        <p:txBody>
          <a:bodyPr rtlCol="0" anchor="ctr"/>
          <a:lstStyle/>
          <a:p>
            <a:pPr algn="ctr"/>
          </a:p>
        </p:txBody>
      </p:sp>
      <p:sp>
        <p:nvSpPr>
          <p:cNvPr id="36" name="Label Rectangle 35"/>
          <p:cNvSpPr/>
          <p:nvPr/>
        </p:nvSpPr>
        <p:spPr>
          <a:xfrm>
            <a:off x="4357920" y="4607560"/>
            <a:ext cx="127158" cy="147319"/>
          </a:xfrm>
          <a:prstGeom prst="rect">
            <a:avLst/>
          </a:prstGeom>
          <a:solidFill>
            <a:srgbClr val="D9D9D9"/>
          </a:solidFill>
          <a:ln>
            <a:noFill/>
          </a:ln>
        </p:spPr>
        <p:txBody>
          <a:bodyPr rtlCol="0" anchor="ctr"/>
          <a:lstStyle/>
          <a:p>
            <a:pPr algn="ctr"/>
          </a:p>
        </p:txBody>
      </p:sp>
      <p:sp>
        <p:nvSpPr>
          <p:cNvPr id="37" name="Label Rectangle 36"/>
          <p:cNvSpPr/>
          <p:nvPr/>
        </p:nvSpPr>
        <p:spPr>
          <a:xfrm>
            <a:off x="4539575" y="4607560"/>
            <a:ext cx="127158" cy="147319"/>
          </a:xfrm>
          <a:prstGeom prst="rect">
            <a:avLst/>
          </a:prstGeom>
          <a:solidFill>
            <a:srgbClr val="D9D9D9"/>
          </a:solidFill>
          <a:ln>
            <a:noFill/>
          </a:ln>
        </p:spPr>
        <p:txBody>
          <a:bodyPr rtlCol="0" anchor="ctr"/>
          <a:lstStyle/>
          <a:p>
            <a:pPr algn="ctr"/>
          </a:p>
        </p:txBody>
      </p:sp>
      <p:cxnSp>
        <p:nvCxnSpPr>
          <p:cNvPr id="38" name="Label Connector 37"/>
          <p:cNvCxnSpPr/>
          <p:nvPr/>
        </p:nvCxnSpPr>
        <p:spPr>
          <a:xfrm>
            <a:off x="2904683" y="4754880"/>
            <a:ext cx="1762050" cy="0"/>
          </a:xfrm>
          <a:prstGeom prst="line">
            <a:avLst/>
          </a:prstGeom>
          <a:ln w="6350">
            <a:solidFill>
              <a:srgbClr val="7F7F7F"/>
            </a:solidFill>
          </a:ln>
        </p:spPr>
      </p:cxnSp>
      <p:sp>
        <p:nvSpPr>
          <p:cNvPr id="39" name="Label TextBox 38"/>
          <p:cNvSpPr txBox="1"/>
          <p:nvPr/>
        </p:nvSpPr>
        <p:spPr>
          <a:xfrm>
            <a:off x="2904683"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UK, USA, Germany, Netherlands, France, then next five; Jan to Aug 2024</a:t>
            </a:r>
          </a:p>
        </p:txBody>
      </p:sp>
      <p:sp>
        <p:nvSpPr>
          <p:cNvPr id="40" name="Rectangle 39"/>
          <p:cNvSpPr/>
          <p:nvPr/>
        </p:nvSpPr>
        <p:spPr>
          <a:xfrm>
            <a:off x="5022982" y="1463040"/>
            <a:ext cx="2145731" cy="3931920"/>
          </a:xfrm>
          <a:prstGeom prst="rect">
            <a:avLst/>
          </a:prstGeom>
          <a:solidFill>
            <a:srgbClr val="F2F2F2"/>
          </a:solidFill>
          <a:ln>
            <a:noFill/>
          </a:ln>
        </p:spPr>
        <p:txBody>
          <a:bodyPr rtlCol="0" anchor="ctr"/>
          <a:lstStyle/>
          <a:p>
            <a:pPr algn="ctr"/>
          </a:p>
        </p:txBody>
      </p:sp>
      <p:sp>
        <p:nvSpPr>
          <p:cNvPr id="41" name="Rectangle 40"/>
          <p:cNvSpPr/>
          <p:nvPr/>
        </p:nvSpPr>
        <p:spPr>
          <a:xfrm>
            <a:off x="5022982" y="1463040"/>
            <a:ext cx="2145731" cy="54864"/>
          </a:xfrm>
          <a:prstGeom prst="rect">
            <a:avLst/>
          </a:prstGeom>
          <a:solidFill>
            <a:srgbClr val="00AEEF"/>
          </a:solidFill>
          <a:ln>
            <a:noFill/>
          </a:ln>
        </p:spPr>
        <p:txBody>
          <a:bodyPr rtlCol="0" anchor="ctr"/>
          <a:lstStyle/>
          <a:p>
            <a:pPr algn="ctr"/>
          </a:p>
        </p:txBody>
      </p:sp>
      <p:sp>
        <p:nvSpPr>
          <p:cNvPr id="42" name="TextBox 41"/>
          <p:cNvSpPr txBox="1"/>
          <p:nvPr/>
        </p:nvSpPr>
        <p:spPr>
          <a:xfrm>
            <a:off x="5187574"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61%</a:t>
            </a:r>
          </a:p>
        </p:txBody>
      </p:sp>
      <p:sp>
        <p:nvSpPr>
          <p:cNvPr id="43" name="TextBox 42"/>
          <p:cNvSpPr txBox="1"/>
          <p:nvPr/>
        </p:nvSpPr>
        <p:spPr>
          <a:xfrm>
            <a:off x="5187574"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overseas visitors travel October to March</a:t>
            </a:r>
          </a:p>
        </p:txBody>
      </p:sp>
      <p:sp>
        <p:nvSpPr>
          <p:cNvPr id="44" name="Label Rectangle 43"/>
          <p:cNvSpPr/>
          <p:nvPr/>
        </p:nvSpPr>
        <p:spPr>
          <a:xfrm>
            <a:off x="5187574" y="3836963"/>
            <a:ext cx="105965" cy="917916"/>
          </a:xfrm>
          <a:prstGeom prst="rect">
            <a:avLst/>
          </a:prstGeom>
          <a:solidFill>
            <a:srgbClr val="1F497D"/>
          </a:solidFill>
          <a:ln>
            <a:noFill/>
          </a:ln>
        </p:spPr>
        <p:txBody>
          <a:bodyPr rtlCol="0" anchor="ctr"/>
          <a:lstStyle/>
          <a:p>
            <a:pPr algn="ctr"/>
          </a:p>
        </p:txBody>
      </p:sp>
      <p:sp>
        <p:nvSpPr>
          <p:cNvPr id="45" name="Label Rectangle 44"/>
          <p:cNvSpPr/>
          <p:nvPr/>
        </p:nvSpPr>
        <p:spPr>
          <a:xfrm>
            <a:off x="5338952" y="3429000"/>
            <a:ext cx="105965" cy="1325879"/>
          </a:xfrm>
          <a:prstGeom prst="rect">
            <a:avLst/>
          </a:prstGeom>
          <a:solidFill>
            <a:srgbClr val="1F497D"/>
          </a:solidFill>
          <a:ln>
            <a:noFill/>
          </a:ln>
        </p:spPr>
        <p:txBody>
          <a:bodyPr rtlCol="0" anchor="ctr"/>
          <a:lstStyle/>
          <a:p>
            <a:pPr algn="ctr"/>
          </a:p>
        </p:txBody>
      </p:sp>
      <p:sp>
        <p:nvSpPr>
          <p:cNvPr id="46" name="Label Rectangle 45"/>
          <p:cNvSpPr/>
          <p:nvPr/>
        </p:nvSpPr>
        <p:spPr>
          <a:xfrm>
            <a:off x="5490331" y="3530990"/>
            <a:ext cx="105965" cy="1223889"/>
          </a:xfrm>
          <a:prstGeom prst="rect">
            <a:avLst/>
          </a:prstGeom>
          <a:solidFill>
            <a:srgbClr val="1F497D"/>
          </a:solidFill>
          <a:ln>
            <a:noFill/>
          </a:ln>
        </p:spPr>
        <p:txBody>
          <a:bodyPr rtlCol="0" anchor="ctr"/>
          <a:lstStyle/>
          <a:p>
            <a:pPr algn="ctr"/>
          </a:p>
        </p:txBody>
      </p:sp>
      <p:sp>
        <p:nvSpPr>
          <p:cNvPr id="47" name="Label Rectangle 46"/>
          <p:cNvSpPr/>
          <p:nvPr/>
        </p:nvSpPr>
        <p:spPr>
          <a:xfrm>
            <a:off x="5641710" y="3938953"/>
            <a:ext cx="105965" cy="815926"/>
          </a:xfrm>
          <a:prstGeom prst="rect">
            <a:avLst/>
          </a:prstGeom>
          <a:solidFill>
            <a:srgbClr val="D9D9D9"/>
          </a:solidFill>
          <a:ln>
            <a:noFill/>
          </a:ln>
        </p:spPr>
        <p:txBody>
          <a:bodyPr rtlCol="0" anchor="ctr"/>
          <a:lstStyle/>
          <a:p>
            <a:pPr algn="ctr"/>
          </a:p>
        </p:txBody>
      </p:sp>
      <p:sp>
        <p:nvSpPr>
          <p:cNvPr id="48" name="Label Rectangle 47"/>
          <p:cNvSpPr/>
          <p:nvPr/>
        </p:nvSpPr>
        <p:spPr>
          <a:xfrm>
            <a:off x="5793089" y="4040944"/>
            <a:ext cx="105965" cy="713935"/>
          </a:xfrm>
          <a:prstGeom prst="rect">
            <a:avLst/>
          </a:prstGeom>
          <a:solidFill>
            <a:srgbClr val="D9D9D9"/>
          </a:solidFill>
          <a:ln>
            <a:noFill/>
          </a:ln>
        </p:spPr>
        <p:txBody>
          <a:bodyPr rtlCol="0" anchor="ctr"/>
          <a:lstStyle/>
          <a:p>
            <a:pPr algn="ctr"/>
          </a:p>
        </p:txBody>
      </p:sp>
      <p:sp>
        <p:nvSpPr>
          <p:cNvPr id="49" name="Label Rectangle 48"/>
          <p:cNvSpPr/>
          <p:nvPr/>
        </p:nvSpPr>
        <p:spPr>
          <a:xfrm>
            <a:off x="5944468" y="4346916"/>
            <a:ext cx="105965" cy="407963"/>
          </a:xfrm>
          <a:prstGeom prst="rect">
            <a:avLst/>
          </a:prstGeom>
          <a:solidFill>
            <a:srgbClr val="D9D9D9"/>
          </a:solidFill>
          <a:ln>
            <a:noFill/>
          </a:ln>
        </p:spPr>
        <p:txBody>
          <a:bodyPr rtlCol="0" anchor="ctr"/>
          <a:lstStyle/>
          <a:p>
            <a:pPr algn="ctr"/>
          </a:p>
        </p:txBody>
      </p:sp>
      <p:sp>
        <p:nvSpPr>
          <p:cNvPr id="50" name="Label Rectangle 49"/>
          <p:cNvSpPr/>
          <p:nvPr/>
        </p:nvSpPr>
        <p:spPr>
          <a:xfrm>
            <a:off x="6095847" y="4142935"/>
            <a:ext cx="105965" cy="611944"/>
          </a:xfrm>
          <a:prstGeom prst="rect">
            <a:avLst/>
          </a:prstGeom>
          <a:solidFill>
            <a:srgbClr val="D9D9D9"/>
          </a:solidFill>
          <a:ln>
            <a:noFill/>
          </a:ln>
        </p:spPr>
        <p:txBody>
          <a:bodyPr rtlCol="0" anchor="ctr"/>
          <a:lstStyle/>
          <a:p>
            <a:pPr algn="ctr"/>
          </a:p>
        </p:txBody>
      </p:sp>
      <p:sp>
        <p:nvSpPr>
          <p:cNvPr id="51" name="Label Rectangle 50"/>
          <p:cNvSpPr/>
          <p:nvPr/>
        </p:nvSpPr>
        <p:spPr>
          <a:xfrm>
            <a:off x="6247226" y="4040944"/>
            <a:ext cx="105965" cy="713935"/>
          </a:xfrm>
          <a:prstGeom prst="rect">
            <a:avLst/>
          </a:prstGeom>
          <a:solidFill>
            <a:srgbClr val="D9D9D9"/>
          </a:solidFill>
          <a:ln>
            <a:noFill/>
          </a:ln>
        </p:spPr>
        <p:txBody>
          <a:bodyPr rtlCol="0" anchor="ctr"/>
          <a:lstStyle/>
          <a:p>
            <a:pPr algn="ctr"/>
          </a:p>
        </p:txBody>
      </p:sp>
      <p:sp>
        <p:nvSpPr>
          <p:cNvPr id="52" name="Label Rectangle 51"/>
          <p:cNvSpPr/>
          <p:nvPr/>
        </p:nvSpPr>
        <p:spPr>
          <a:xfrm>
            <a:off x="6398605" y="4040944"/>
            <a:ext cx="105965" cy="713935"/>
          </a:xfrm>
          <a:prstGeom prst="rect">
            <a:avLst/>
          </a:prstGeom>
          <a:solidFill>
            <a:srgbClr val="D9D9D9"/>
          </a:solidFill>
          <a:ln>
            <a:noFill/>
          </a:ln>
        </p:spPr>
        <p:txBody>
          <a:bodyPr rtlCol="0" anchor="ctr"/>
          <a:lstStyle/>
          <a:p>
            <a:pPr algn="ctr"/>
          </a:p>
        </p:txBody>
      </p:sp>
      <p:sp>
        <p:nvSpPr>
          <p:cNvPr id="53" name="Label Rectangle 52"/>
          <p:cNvSpPr/>
          <p:nvPr/>
        </p:nvSpPr>
        <p:spPr>
          <a:xfrm>
            <a:off x="6549984" y="3734972"/>
            <a:ext cx="105965" cy="1019907"/>
          </a:xfrm>
          <a:prstGeom prst="rect">
            <a:avLst/>
          </a:prstGeom>
          <a:solidFill>
            <a:srgbClr val="1F497D"/>
          </a:solidFill>
          <a:ln>
            <a:noFill/>
          </a:ln>
        </p:spPr>
        <p:txBody>
          <a:bodyPr rtlCol="0" anchor="ctr"/>
          <a:lstStyle/>
          <a:p>
            <a:pPr algn="ctr"/>
          </a:p>
        </p:txBody>
      </p:sp>
      <p:sp>
        <p:nvSpPr>
          <p:cNvPr id="54" name="Label Rectangle 53"/>
          <p:cNvSpPr/>
          <p:nvPr/>
        </p:nvSpPr>
        <p:spPr>
          <a:xfrm>
            <a:off x="6701363" y="3734972"/>
            <a:ext cx="105965" cy="1019907"/>
          </a:xfrm>
          <a:prstGeom prst="rect">
            <a:avLst/>
          </a:prstGeom>
          <a:solidFill>
            <a:srgbClr val="1F497D"/>
          </a:solidFill>
          <a:ln>
            <a:noFill/>
          </a:ln>
        </p:spPr>
        <p:txBody>
          <a:bodyPr rtlCol="0" anchor="ctr"/>
          <a:lstStyle/>
          <a:p>
            <a:pPr algn="ctr"/>
          </a:p>
        </p:txBody>
      </p:sp>
      <p:sp>
        <p:nvSpPr>
          <p:cNvPr id="55" name="Label Rectangle 54"/>
          <p:cNvSpPr/>
          <p:nvPr/>
        </p:nvSpPr>
        <p:spPr>
          <a:xfrm>
            <a:off x="6852742" y="4040944"/>
            <a:ext cx="105965" cy="713935"/>
          </a:xfrm>
          <a:prstGeom prst="rect">
            <a:avLst/>
          </a:prstGeom>
          <a:solidFill>
            <a:srgbClr val="1F497D"/>
          </a:solidFill>
          <a:ln>
            <a:noFill/>
          </a:ln>
        </p:spPr>
        <p:txBody>
          <a:bodyPr rtlCol="0" anchor="ctr"/>
          <a:lstStyle/>
          <a:p>
            <a:pPr algn="ctr"/>
          </a:p>
        </p:txBody>
      </p:sp>
      <p:cxnSp>
        <p:nvCxnSpPr>
          <p:cNvPr id="56" name="Label Connector 55"/>
          <p:cNvCxnSpPr/>
          <p:nvPr/>
        </p:nvCxnSpPr>
        <p:spPr>
          <a:xfrm>
            <a:off x="5187574" y="4754880"/>
            <a:ext cx="1771133" cy="0"/>
          </a:xfrm>
          <a:prstGeom prst="line">
            <a:avLst/>
          </a:prstGeom>
          <a:ln w="6350">
            <a:solidFill>
              <a:srgbClr val="7F7F7F"/>
            </a:solidFill>
          </a:ln>
        </p:spPr>
      </p:cxnSp>
      <p:sp>
        <p:nvSpPr>
          <p:cNvPr id="57" name="Label TextBox 56"/>
          <p:cNvSpPr txBox="1"/>
          <p:nvPr/>
        </p:nvSpPr>
        <p:spPr>
          <a:xfrm>
            <a:off x="5187574"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Visitors by month, Jan to Dec 2024</a:t>
            </a:r>
          </a:p>
        </p:txBody>
      </p:sp>
      <p:sp>
        <p:nvSpPr>
          <p:cNvPr id="58" name="Rectangle 57"/>
          <p:cNvSpPr/>
          <p:nvPr/>
        </p:nvSpPr>
        <p:spPr>
          <a:xfrm>
            <a:off x="7305873" y="1463040"/>
            <a:ext cx="2145731" cy="3931920"/>
          </a:xfrm>
          <a:prstGeom prst="rect">
            <a:avLst/>
          </a:prstGeom>
          <a:solidFill>
            <a:srgbClr val="F2F2F2"/>
          </a:solidFill>
          <a:ln>
            <a:noFill/>
          </a:ln>
        </p:spPr>
        <p:txBody>
          <a:bodyPr rtlCol="0" anchor="ctr"/>
          <a:lstStyle/>
          <a:p>
            <a:pPr algn="ctr"/>
          </a:p>
        </p:txBody>
      </p:sp>
      <p:sp>
        <p:nvSpPr>
          <p:cNvPr id="59" name="Rectangle 58"/>
          <p:cNvSpPr/>
          <p:nvPr/>
        </p:nvSpPr>
        <p:spPr>
          <a:xfrm>
            <a:off x="7305873" y="1463040"/>
            <a:ext cx="2145731" cy="54864"/>
          </a:xfrm>
          <a:prstGeom prst="rect">
            <a:avLst/>
          </a:prstGeom>
          <a:solidFill>
            <a:srgbClr val="00AEEF"/>
          </a:solidFill>
          <a:ln>
            <a:noFill/>
          </a:ln>
        </p:spPr>
        <p:txBody>
          <a:bodyPr rtlCol="0" anchor="ctr"/>
          <a:lstStyle/>
          <a:p>
            <a:pPr algn="ctr"/>
          </a:p>
        </p:txBody>
      </p:sp>
      <p:sp>
        <p:nvSpPr>
          <p:cNvPr id="60" name="TextBox 59"/>
          <p:cNvSpPr txBox="1"/>
          <p:nvPr/>
        </p:nvSpPr>
        <p:spPr>
          <a:xfrm>
            <a:off x="7470465"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72.5%</a:t>
            </a:r>
          </a:p>
        </p:txBody>
      </p:sp>
      <p:sp>
        <p:nvSpPr>
          <p:cNvPr id="61" name="TextBox 60"/>
          <p:cNvSpPr txBox="1"/>
          <p:nvPr/>
        </p:nvSpPr>
        <p:spPr>
          <a:xfrm>
            <a:off x="7470465"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provincial GDPR comes from the Cape Metro</a:t>
            </a:r>
          </a:p>
        </p:txBody>
      </p:sp>
      <p:sp>
        <p:nvSpPr>
          <p:cNvPr id="62" name="Label Rectangle 61"/>
          <p:cNvSpPr/>
          <p:nvPr/>
        </p:nvSpPr>
        <p:spPr>
          <a:xfrm>
            <a:off x="7470465" y="3429000"/>
            <a:ext cx="211930" cy="1325880"/>
          </a:xfrm>
          <a:prstGeom prst="rect">
            <a:avLst/>
          </a:prstGeom>
          <a:solidFill>
            <a:srgbClr val="1F497D"/>
          </a:solidFill>
          <a:ln>
            <a:noFill/>
          </a:ln>
        </p:spPr>
        <p:txBody>
          <a:bodyPr rtlCol="0" anchor="ctr"/>
          <a:lstStyle/>
          <a:p>
            <a:pPr algn="ctr"/>
          </a:p>
        </p:txBody>
      </p:sp>
      <p:sp>
        <p:nvSpPr>
          <p:cNvPr id="63" name="Label Rectangle 62"/>
          <p:cNvSpPr/>
          <p:nvPr/>
        </p:nvSpPr>
        <p:spPr>
          <a:xfrm>
            <a:off x="7773222" y="4550054"/>
            <a:ext cx="211930" cy="204825"/>
          </a:xfrm>
          <a:prstGeom prst="rect">
            <a:avLst/>
          </a:prstGeom>
          <a:solidFill>
            <a:srgbClr val="D9D9D9"/>
          </a:solidFill>
          <a:ln>
            <a:noFill/>
          </a:ln>
        </p:spPr>
        <p:txBody>
          <a:bodyPr rtlCol="0" anchor="ctr"/>
          <a:lstStyle/>
          <a:p>
            <a:pPr algn="ctr"/>
          </a:p>
        </p:txBody>
      </p:sp>
      <p:sp>
        <p:nvSpPr>
          <p:cNvPr id="64" name="Label Rectangle 63"/>
          <p:cNvSpPr/>
          <p:nvPr/>
        </p:nvSpPr>
        <p:spPr>
          <a:xfrm>
            <a:off x="8075980" y="4615891"/>
            <a:ext cx="211930" cy="138988"/>
          </a:xfrm>
          <a:prstGeom prst="rect">
            <a:avLst/>
          </a:prstGeom>
          <a:solidFill>
            <a:srgbClr val="D9D9D9"/>
          </a:solidFill>
          <a:ln>
            <a:noFill/>
          </a:ln>
        </p:spPr>
        <p:txBody>
          <a:bodyPr rtlCol="0" anchor="ctr"/>
          <a:lstStyle/>
          <a:p>
            <a:pPr algn="ctr"/>
          </a:p>
        </p:txBody>
      </p:sp>
      <p:sp>
        <p:nvSpPr>
          <p:cNvPr id="65" name="Label Rectangle 64"/>
          <p:cNvSpPr/>
          <p:nvPr/>
        </p:nvSpPr>
        <p:spPr>
          <a:xfrm>
            <a:off x="8378738" y="4667097"/>
            <a:ext cx="211930" cy="87782"/>
          </a:xfrm>
          <a:prstGeom prst="rect">
            <a:avLst/>
          </a:prstGeom>
          <a:solidFill>
            <a:srgbClr val="D9D9D9"/>
          </a:solidFill>
          <a:ln>
            <a:noFill/>
          </a:ln>
        </p:spPr>
        <p:txBody>
          <a:bodyPr rtlCol="0" anchor="ctr"/>
          <a:lstStyle/>
          <a:p>
            <a:pPr algn="ctr"/>
          </a:p>
        </p:txBody>
      </p:sp>
      <p:sp>
        <p:nvSpPr>
          <p:cNvPr id="66" name="Label Rectangle 65"/>
          <p:cNvSpPr/>
          <p:nvPr/>
        </p:nvSpPr>
        <p:spPr>
          <a:xfrm>
            <a:off x="8681496" y="4700016"/>
            <a:ext cx="211930" cy="54864"/>
          </a:xfrm>
          <a:prstGeom prst="rect">
            <a:avLst/>
          </a:prstGeom>
          <a:solidFill>
            <a:srgbClr val="D9D9D9"/>
          </a:solidFill>
          <a:ln>
            <a:noFill/>
          </a:ln>
        </p:spPr>
        <p:txBody>
          <a:bodyPr rtlCol="0" anchor="ctr"/>
          <a:lstStyle/>
          <a:p>
            <a:pPr algn="ctr"/>
          </a:p>
        </p:txBody>
      </p:sp>
      <p:sp>
        <p:nvSpPr>
          <p:cNvPr id="67" name="Label Rectangle 66"/>
          <p:cNvSpPr/>
          <p:nvPr/>
        </p:nvSpPr>
        <p:spPr>
          <a:xfrm>
            <a:off x="8984254" y="4736592"/>
            <a:ext cx="211930" cy="18288"/>
          </a:xfrm>
          <a:prstGeom prst="rect">
            <a:avLst/>
          </a:prstGeom>
          <a:solidFill>
            <a:srgbClr val="D9D9D9"/>
          </a:solidFill>
          <a:ln>
            <a:noFill/>
          </a:ln>
        </p:spPr>
        <p:txBody>
          <a:bodyPr rtlCol="0" anchor="ctr"/>
          <a:lstStyle/>
          <a:p>
            <a:pPr algn="ctr"/>
          </a:p>
        </p:txBody>
      </p:sp>
      <p:cxnSp>
        <p:nvCxnSpPr>
          <p:cNvPr id="68" name="Label Connector 67"/>
          <p:cNvCxnSpPr/>
          <p:nvPr/>
        </p:nvCxnSpPr>
        <p:spPr>
          <a:xfrm>
            <a:off x="7470465" y="4754880"/>
            <a:ext cx="1725719" cy="0"/>
          </a:xfrm>
          <a:prstGeom prst="line">
            <a:avLst/>
          </a:prstGeom>
          <a:ln w="6350">
            <a:solidFill>
              <a:srgbClr val="7F7F7F"/>
            </a:solidFill>
          </a:ln>
        </p:spPr>
      </p:cxnSp>
      <p:sp>
        <p:nvSpPr>
          <p:cNvPr id="69" name="Label TextBox 68"/>
          <p:cNvSpPr txBox="1"/>
          <p:nvPr/>
        </p:nvSpPr>
        <p:spPr>
          <a:xfrm>
            <a:off x="7470465"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Metro, then five districts</a:t>
            </a:r>
          </a:p>
        </p:txBody>
      </p:sp>
      <p:sp>
        <p:nvSpPr>
          <p:cNvPr id="70" name="Rectangle 69"/>
          <p:cNvSpPr/>
          <p:nvPr/>
        </p:nvSpPr>
        <p:spPr>
          <a:xfrm>
            <a:off x="9588764" y="1463040"/>
            <a:ext cx="2145731" cy="3931920"/>
          </a:xfrm>
          <a:prstGeom prst="rect">
            <a:avLst/>
          </a:prstGeom>
          <a:solidFill>
            <a:srgbClr val="F2F2F2"/>
          </a:solidFill>
          <a:ln>
            <a:noFill/>
          </a:ln>
        </p:spPr>
        <p:txBody>
          <a:bodyPr rtlCol="0" anchor="ctr"/>
          <a:lstStyle/>
          <a:p>
            <a:pPr algn="ctr"/>
          </a:p>
        </p:txBody>
      </p:sp>
      <p:sp>
        <p:nvSpPr>
          <p:cNvPr id="71" name="Rectangle 70"/>
          <p:cNvSpPr/>
          <p:nvPr/>
        </p:nvSpPr>
        <p:spPr>
          <a:xfrm>
            <a:off x="9588764" y="1463040"/>
            <a:ext cx="2145731" cy="54864"/>
          </a:xfrm>
          <a:prstGeom prst="rect">
            <a:avLst/>
          </a:prstGeom>
          <a:solidFill>
            <a:srgbClr val="00AEEF"/>
          </a:solidFill>
          <a:ln>
            <a:noFill/>
          </a:ln>
        </p:spPr>
        <p:txBody>
          <a:bodyPr rtlCol="0" anchor="ctr"/>
          <a:lstStyle/>
          <a:p>
            <a:pPr algn="ctr"/>
          </a:p>
        </p:txBody>
      </p:sp>
      <p:sp>
        <p:nvSpPr>
          <p:cNvPr id="72" name="TextBox 71"/>
          <p:cNvSpPr txBox="1"/>
          <p:nvPr/>
        </p:nvSpPr>
        <p:spPr>
          <a:xfrm>
            <a:off x="9753356"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1</a:t>
            </a:r>
          </a:p>
        </p:txBody>
      </p:sp>
      <p:sp>
        <p:nvSpPr>
          <p:cNvPr id="73" name="TextBox 72"/>
          <p:cNvSpPr txBox="1"/>
          <p:nvPr/>
        </p:nvSpPr>
        <p:spPr>
          <a:xfrm>
            <a:off x="9753356"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airline flies Cape Town to Asia, against ten to Africa</a:t>
            </a:r>
          </a:p>
        </p:txBody>
      </p:sp>
      <p:sp>
        <p:nvSpPr>
          <p:cNvPr id="74" name="Label Rectangle 73"/>
          <p:cNvSpPr/>
          <p:nvPr/>
        </p:nvSpPr>
        <p:spPr>
          <a:xfrm>
            <a:off x="9753356" y="3429000"/>
            <a:ext cx="254316" cy="1325880"/>
          </a:xfrm>
          <a:prstGeom prst="rect">
            <a:avLst/>
          </a:prstGeom>
          <a:solidFill>
            <a:srgbClr val="D9D9D9"/>
          </a:solidFill>
          <a:ln>
            <a:noFill/>
          </a:ln>
        </p:spPr>
        <p:txBody>
          <a:bodyPr rtlCol="0" anchor="ctr"/>
          <a:lstStyle/>
          <a:p>
            <a:pPr algn="ctr"/>
          </a:p>
        </p:txBody>
      </p:sp>
      <p:sp>
        <p:nvSpPr>
          <p:cNvPr id="75" name="Label Rectangle 74"/>
          <p:cNvSpPr/>
          <p:nvPr/>
        </p:nvSpPr>
        <p:spPr>
          <a:xfrm>
            <a:off x="10116665" y="3561588"/>
            <a:ext cx="254316" cy="1193292"/>
          </a:xfrm>
          <a:prstGeom prst="rect">
            <a:avLst/>
          </a:prstGeom>
          <a:solidFill>
            <a:srgbClr val="D9D9D9"/>
          </a:solidFill>
          <a:ln>
            <a:noFill/>
          </a:ln>
        </p:spPr>
        <p:txBody>
          <a:bodyPr rtlCol="0" anchor="ctr"/>
          <a:lstStyle/>
          <a:p>
            <a:pPr algn="ctr"/>
          </a:p>
        </p:txBody>
      </p:sp>
      <p:sp>
        <p:nvSpPr>
          <p:cNvPr id="76" name="Label Rectangle 75"/>
          <p:cNvSpPr/>
          <p:nvPr/>
        </p:nvSpPr>
        <p:spPr>
          <a:xfrm>
            <a:off x="10479974" y="4357116"/>
            <a:ext cx="254316" cy="397763"/>
          </a:xfrm>
          <a:prstGeom prst="rect">
            <a:avLst/>
          </a:prstGeom>
          <a:solidFill>
            <a:srgbClr val="D9D9D9"/>
          </a:solidFill>
          <a:ln>
            <a:noFill/>
          </a:ln>
        </p:spPr>
        <p:txBody>
          <a:bodyPr rtlCol="0" anchor="ctr"/>
          <a:lstStyle/>
          <a:p>
            <a:pPr algn="ctr"/>
          </a:p>
        </p:txBody>
      </p:sp>
      <p:sp>
        <p:nvSpPr>
          <p:cNvPr id="77" name="Label Rectangle 76"/>
          <p:cNvSpPr/>
          <p:nvPr/>
        </p:nvSpPr>
        <p:spPr>
          <a:xfrm>
            <a:off x="10843284" y="4489704"/>
            <a:ext cx="254316" cy="265176"/>
          </a:xfrm>
          <a:prstGeom prst="rect">
            <a:avLst/>
          </a:prstGeom>
          <a:solidFill>
            <a:srgbClr val="D9D9D9"/>
          </a:solidFill>
          <a:ln>
            <a:noFill/>
          </a:ln>
        </p:spPr>
        <p:txBody>
          <a:bodyPr rtlCol="0" anchor="ctr"/>
          <a:lstStyle/>
          <a:p>
            <a:pPr algn="ctr"/>
          </a:p>
        </p:txBody>
      </p:sp>
      <p:sp>
        <p:nvSpPr>
          <p:cNvPr id="78" name="Label Rectangle 77"/>
          <p:cNvSpPr/>
          <p:nvPr/>
        </p:nvSpPr>
        <p:spPr>
          <a:xfrm>
            <a:off x="11206593" y="4622292"/>
            <a:ext cx="254316" cy="132588"/>
          </a:xfrm>
          <a:prstGeom prst="rect">
            <a:avLst/>
          </a:prstGeom>
          <a:solidFill>
            <a:srgbClr val="1F497D"/>
          </a:solidFill>
          <a:ln>
            <a:noFill/>
          </a:ln>
        </p:spPr>
        <p:txBody>
          <a:bodyPr rtlCol="0" anchor="ctr"/>
          <a:lstStyle/>
          <a:p>
            <a:pPr algn="ctr"/>
          </a:p>
        </p:txBody>
      </p:sp>
      <p:cxnSp>
        <p:nvCxnSpPr>
          <p:cNvPr id="79" name="Label Connector 78"/>
          <p:cNvCxnSpPr/>
          <p:nvPr/>
        </p:nvCxnSpPr>
        <p:spPr>
          <a:xfrm>
            <a:off x="9753356" y="4754880"/>
            <a:ext cx="1707554" cy="0"/>
          </a:xfrm>
          <a:prstGeom prst="line">
            <a:avLst/>
          </a:prstGeom>
          <a:ln w="6350">
            <a:solidFill>
              <a:srgbClr val="7F7F7F"/>
            </a:solidFill>
          </a:ln>
        </p:spPr>
      </p:cxnSp>
      <p:sp>
        <p:nvSpPr>
          <p:cNvPr id="80" name="Label TextBox 79"/>
          <p:cNvSpPr txBox="1"/>
          <p:nvPr/>
        </p:nvSpPr>
        <p:spPr>
          <a:xfrm>
            <a:off x="9753356"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Africa, Europe, Americas, Middle East, Asia</a:t>
            </a:r>
          </a:p>
        </p:txBody>
      </p:sp>
      <p:sp>
        <p:nvSpPr>
          <p:cNvPr id="81" name="Rectangle 80"/>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82" name="TextBox 81"/>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destination has recovered; growth now needs new markets, new seasons and new regions.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Five of six benchmark destinations grew well above the 3 to 5% global norm, each by running a coordinated system</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GLOBAL BENCHMARKING,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Global Benchmarking Report (Mar 2026) pp7 (3-5% norm), 9 (growth and levers), 17-18 (Melbourne forecast and rooms), 25-26 (Chile), 47-49 (Valencia), 54 (NZ), 59 (three components)</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Oval 7"/>
          <p:cNvSpPr/>
          <p:nvPr/>
        </p:nvSpPr>
        <p:spPr>
          <a:xfrm>
            <a:off x="4910328" y="2720340"/>
            <a:ext cx="2377440" cy="1325880"/>
          </a:xfrm>
          <a:prstGeom prst="ellipse">
            <a:avLst/>
          </a:prstGeom>
          <a:solidFill>
            <a:srgbClr val="1F497D"/>
          </a:solidFill>
          <a:ln>
            <a:noFill/>
          </a:ln>
        </p:spPr>
        <p:txBody>
          <a:bodyPr rtlCol="0" anchor="ctr"/>
          <a:lstStyle/>
          <a:p>
            <a:pPr algn="ctr"/>
          </a:p>
        </p:txBody>
      </p:sp>
      <p:sp>
        <p:nvSpPr>
          <p:cNvPr id="9" name="Label TextBox 8"/>
          <p:cNvSpPr txBox="1"/>
          <p:nvPr/>
        </p:nvSpPr>
        <p:spPr>
          <a:xfrm>
            <a:off x="5047488" y="2811780"/>
            <a:ext cx="2103120" cy="1143000"/>
          </a:xfrm>
          <a:prstGeom prst="rect">
            <a:avLst/>
          </a:prstGeom>
          <a:noFill/>
        </p:spPr>
        <p:txBody>
          <a:bodyPr wrap="square" anchor="ctr" lIns="0" rIns="0" tIns="0" bIns="0">
            <a:spAutoFit/>
          </a:bodyPr>
          <a:lstStyle/>
          <a:p>
            <a:pPr algn="ctr">
              <a:spcAft>
                <a:spcPts val="100"/>
              </a:spcAft>
            </a:pPr>
            <a:r>
              <a:rPr sz="1100" b="1" i="0">
                <a:solidFill>
                  <a:srgbClr val="FFFFFF"/>
                </a:solidFill>
                <a:latin typeface="Arial"/>
              </a:rPr>
              <a:t>ONE SYSTEM</a:t>
            </a:r>
          </a:p>
          <a:p>
            <a:pPr algn="ctr">
              <a:spcAft>
                <a:spcPts val="100"/>
              </a:spcAft>
            </a:pPr>
            <a:r>
              <a:rPr sz="950" b="0" i="0">
                <a:solidFill>
                  <a:srgbClr val="FFFFFF"/>
                </a:solidFill>
                <a:latin typeface="Arial"/>
              </a:rPr>
              <a:t>Institutional coordination</a:t>
            </a:r>
          </a:p>
          <a:p>
            <a:pPr algn="ctr">
              <a:spcAft>
                <a:spcPts val="100"/>
              </a:spcAft>
            </a:pPr>
            <a:r>
              <a:rPr sz="950" b="0" i="0">
                <a:solidFill>
                  <a:srgbClr val="FFFFFF"/>
                </a:solidFill>
                <a:latin typeface="Arial"/>
              </a:rPr>
              <a:t>Strategic marketing</a:t>
            </a:r>
          </a:p>
          <a:p>
            <a:pPr algn="ctr">
              <a:spcAft>
                <a:spcPts val="100"/>
              </a:spcAft>
            </a:pPr>
            <a:r>
              <a:rPr sz="950" b="0" i="0">
                <a:solidFill>
                  <a:srgbClr val="FFFFFF"/>
                </a:solidFill>
                <a:latin typeface="Arial"/>
              </a:rPr>
              <a:t>Accessibility</a:t>
            </a:r>
          </a:p>
        </p:txBody>
      </p:sp>
      <p:cxnSp>
        <p:nvCxnSpPr>
          <p:cNvPr id="10" name="Label Connector 9"/>
          <p:cNvCxnSpPr/>
          <p:nvPr/>
        </p:nvCxnSpPr>
        <p:spPr>
          <a:xfrm flipV="1">
            <a:off x="6693408" y="2616410"/>
            <a:ext cx="258775" cy="192747"/>
          </a:xfrm>
          <a:prstGeom prst="line">
            <a:avLst/>
          </a:prstGeom>
          <a:ln w="15875">
            <a:solidFill>
              <a:srgbClr val="D9D9D9"/>
            </a:solidFill>
          </a:ln>
        </p:spPr>
      </p:cxnSp>
      <p:sp>
        <p:nvSpPr>
          <p:cNvPr id="11" name="Label Oval 10"/>
          <p:cNvSpPr/>
          <p:nvPr/>
        </p:nvSpPr>
        <p:spPr>
          <a:xfrm>
            <a:off x="6606540" y="1658155"/>
            <a:ext cx="1316736" cy="1027054"/>
          </a:xfrm>
          <a:prstGeom prst="ellipse">
            <a:avLst/>
          </a:prstGeom>
          <a:solidFill>
            <a:srgbClr val="DCEEF7"/>
          </a:solidFill>
          <a:ln>
            <a:noFill/>
          </a:ln>
        </p:spPr>
        <p:txBody>
          <a:bodyPr rtlCol="0" anchor="ctr"/>
          <a:lstStyle/>
          <a:p>
            <a:pPr algn="ctr"/>
          </a:p>
        </p:txBody>
      </p:sp>
      <p:sp>
        <p:nvSpPr>
          <p:cNvPr id="12" name="Label TextBox 11"/>
          <p:cNvSpPr txBox="1"/>
          <p:nvPr/>
        </p:nvSpPr>
        <p:spPr>
          <a:xfrm>
            <a:off x="6606540" y="1658155"/>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Chile</a:t>
            </a:r>
          </a:p>
          <a:p>
            <a:pPr algn="ctr">
              <a:spcAft>
                <a:spcPts val="0"/>
              </a:spcAft>
            </a:pPr>
            <a:r>
              <a:rPr sz="1400" b="1" i="0">
                <a:solidFill>
                  <a:srgbClr val="00AEEF"/>
                </a:solidFill>
                <a:latin typeface="Arial"/>
              </a:rPr>
              <a:t>~35%</a:t>
            </a:r>
          </a:p>
        </p:txBody>
      </p:sp>
      <p:sp>
        <p:nvSpPr>
          <p:cNvPr id="13" name="Label TextBox 12"/>
          <p:cNvSpPr txBox="1"/>
          <p:nvPr/>
        </p:nvSpPr>
        <p:spPr>
          <a:xfrm>
            <a:off x="7996427" y="1805922"/>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Gateway airport concession (~US$900m) and open skies</a:t>
            </a:r>
          </a:p>
        </p:txBody>
      </p:sp>
      <p:cxnSp>
        <p:nvCxnSpPr>
          <p:cNvPr id="14" name="Label Connector 13"/>
          <p:cNvCxnSpPr/>
          <p:nvPr/>
        </p:nvCxnSpPr>
        <p:spPr>
          <a:xfrm flipV="1">
            <a:off x="7287768" y="3383279"/>
            <a:ext cx="517550" cy="1"/>
          </a:xfrm>
          <a:prstGeom prst="line">
            <a:avLst/>
          </a:prstGeom>
          <a:ln w="15875">
            <a:solidFill>
              <a:srgbClr val="D9D9D9"/>
            </a:solidFill>
          </a:ln>
        </p:spPr>
      </p:cxnSp>
      <p:sp>
        <p:nvSpPr>
          <p:cNvPr id="15" name="Label Oval 14"/>
          <p:cNvSpPr/>
          <p:nvPr/>
        </p:nvSpPr>
        <p:spPr>
          <a:xfrm>
            <a:off x="7772399" y="2869752"/>
            <a:ext cx="1316736" cy="1027054"/>
          </a:xfrm>
          <a:prstGeom prst="ellipse">
            <a:avLst/>
          </a:prstGeom>
          <a:solidFill>
            <a:srgbClr val="DCEEF7"/>
          </a:solidFill>
          <a:ln>
            <a:noFill/>
          </a:ln>
        </p:spPr>
        <p:txBody>
          <a:bodyPr rtlCol="0" anchor="ctr"/>
          <a:lstStyle/>
          <a:p>
            <a:pPr algn="ctr"/>
          </a:p>
        </p:txBody>
      </p:sp>
      <p:sp>
        <p:nvSpPr>
          <p:cNvPr id="16" name="Label TextBox 15"/>
          <p:cNvSpPr txBox="1"/>
          <p:nvPr/>
        </p:nvSpPr>
        <p:spPr>
          <a:xfrm>
            <a:off x="7772399" y="2869752"/>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Kenya</a:t>
            </a:r>
          </a:p>
          <a:p>
            <a:pPr algn="ctr">
              <a:spcAft>
                <a:spcPts val="0"/>
              </a:spcAft>
            </a:pPr>
            <a:r>
              <a:rPr sz="1400" b="1" i="0">
                <a:solidFill>
                  <a:srgbClr val="00AEEF"/>
                </a:solidFill>
                <a:latin typeface="Arial"/>
              </a:rPr>
              <a:t>12.8-14.6%</a:t>
            </a:r>
          </a:p>
        </p:txBody>
      </p:sp>
      <p:sp>
        <p:nvSpPr>
          <p:cNvPr id="17" name="Label TextBox 16"/>
          <p:cNvSpPr txBox="1"/>
          <p:nvPr/>
        </p:nvSpPr>
        <p:spPr>
          <a:xfrm>
            <a:off x="9162288" y="3017520"/>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Conservancy model and a Nairobi gateway for MICE</a:t>
            </a:r>
          </a:p>
        </p:txBody>
      </p:sp>
      <p:cxnSp>
        <p:nvCxnSpPr>
          <p:cNvPr id="18" name="Label Connector 17"/>
          <p:cNvCxnSpPr/>
          <p:nvPr/>
        </p:nvCxnSpPr>
        <p:spPr>
          <a:xfrm>
            <a:off x="6693408" y="3957402"/>
            <a:ext cx="258775" cy="192747"/>
          </a:xfrm>
          <a:prstGeom prst="line">
            <a:avLst/>
          </a:prstGeom>
          <a:ln w="15875">
            <a:solidFill>
              <a:srgbClr val="D9D9D9"/>
            </a:solidFill>
          </a:ln>
        </p:spPr>
      </p:cxnSp>
      <p:sp>
        <p:nvSpPr>
          <p:cNvPr id="19" name="Label Oval 18"/>
          <p:cNvSpPr/>
          <p:nvPr/>
        </p:nvSpPr>
        <p:spPr>
          <a:xfrm>
            <a:off x="6606540" y="4081350"/>
            <a:ext cx="1316736" cy="1027054"/>
          </a:xfrm>
          <a:prstGeom prst="ellipse">
            <a:avLst/>
          </a:prstGeom>
          <a:solidFill>
            <a:srgbClr val="DCEEF7"/>
          </a:solidFill>
          <a:ln>
            <a:noFill/>
          </a:ln>
        </p:spPr>
        <p:txBody>
          <a:bodyPr rtlCol="0" anchor="ctr"/>
          <a:lstStyle/>
          <a:p>
            <a:pPr algn="ctr"/>
          </a:p>
        </p:txBody>
      </p:sp>
      <p:sp>
        <p:nvSpPr>
          <p:cNvPr id="20" name="Label TextBox 19"/>
          <p:cNvSpPr txBox="1"/>
          <p:nvPr/>
        </p:nvSpPr>
        <p:spPr>
          <a:xfrm>
            <a:off x="6606540" y="4081350"/>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Singapore</a:t>
            </a:r>
          </a:p>
          <a:p>
            <a:pPr algn="ctr">
              <a:spcAft>
                <a:spcPts val="0"/>
              </a:spcAft>
            </a:pPr>
            <a:r>
              <a:rPr sz="1400" b="1" i="0">
                <a:solidFill>
                  <a:srgbClr val="00AEEF"/>
                </a:solidFill>
                <a:latin typeface="Arial"/>
              </a:rPr>
              <a:t>~19%</a:t>
            </a:r>
          </a:p>
        </p:txBody>
      </p:sp>
      <p:sp>
        <p:nvSpPr>
          <p:cNvPr id="21" name="Label TextBox 20"/>
          <p:cNvSpPr txBox="1"/>
          <p:nvPr/>
        </p:nvSpPr>
        <p:spPr>
          <a:xfrm>
            <a:off x="7996428" y="4229117"/>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Aviation hub, stopover conversion and one agency</a:t>
            </a:r>
          </a:p>
        </p:txBody>
      </p:sp>
      <p:cxnSp>
        <p:nvCxnSpPr>
          <p:cNvPr id="22" name="Label Connector 21"/>
          <p:cNvCxnSpPr/>
          <p:nvPr/>
        </p:nvCxnSpPr>
        <p:spPr>
          <a:xfrm flipH="1">
            <a:off x="5245912" y="3957402"/>
            <a:ext cx="258776" cy="192747"/>
          </a:xfrm>
          <a:prstGeom prst="line">
            <a:avLst/>
          </a:prstGeom>
          <a:ln w="15875">
            <a:solidFill>
              <a:srgbClr val="D9D9D9"/>
            </a:solidFill>
          </a:ln>
        </p:spPr>
      </p:cxnSp>
      <p:sp>
        <p:nvSpPr>
          <p:cNvPr id="23" name="Label Oval 22"/>
          <p:cNvSpPr/>
          <p:nvPr/>
        </p:nvSpPr>
        <p:spPr>
          <a:xfrm>
            <a:off x="4274820" y="4081350"/>
            <a:ext cx="1316736" cy="1027054"/>
          </a:xfrm>
          <a:prstGeom prst="ellipse">
            <a:avLst/>
          </a:prstGeom>
          <a:solidFill>
            <a:srgbClr val="DCEEF7"/>
          </a:solidFill>
          <a:ln>
            <a:noFill/>
          </a:ln>
        </p:spPr>
        <p:txBody>
          <a:bodyPr rtlCol="0" anchor="ctr"/>
          <a:lstStyle/>
          <a:p>
            <a:pPr algn="ctr"/>
          </a:p>
        </p:txBody>
      </p:sp>
      <p:sp>
        <p:nvSpPr>
          <p:cNvPr id="24" name="Label TextBox 23"/>
          <p:cNvSpPr txBox="1"/>
          <p:nvPr/>
        </p:nvSpPr>
        <p:spPr>
          <a:xfrm>
            <a:off x="4274820" y="4081350"/>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New Zealand</a:t>
            </a:r>
          </a:p>
          <a:p>
            <a:pPr algn="ctr">
              <a:spcAft>
                <a:spcPts val="0"/>
              </a:spcAft>
            </a:pPr>
            <a:r>
              <a:rPr sz="1400" b="1" i="0">
                <a:solidFill>
                  <a:srgbClr val="00AEEF"/>
                </a:solidFill>
                <a:latin typeface="Arial"/>
              </a:rPr>
              <a:t>~12%</a:t>
            </a:r>
          </a:p>
        </p:txBody>
      </p:sp>
      <p:sp>
        <p:nvSpPr>
          <p:cNvPr id="25" name="Label TextBox 24"/>
          <p:cNvSpPr txBox="1"/>
          <p:nvPr/>
        </p:nvSpPr>
        <p:spPr>
          <a:xfrm>
            <a:off x="1915668" y="4229117"/>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Route-accountable marketing: 16,000+ bookings</a:t>
            </a:r>
          </a:p>
        </p:txBody>
      </p:sp>
      <p:cxnSp>
        <p:nvCxnSpPr>
          <p:cNvPr id="26" name="Label Connector 25"/>
          <p:cNvCxnSpPr/>
          <p:nvPr/>
        </p:nvCxnSpPr>
        <p:spPr>
          <a:xfrm flipH="1">
            <a:off x="4392777" y="3383280"/>
            <a:ext cx="517551" cy="0"/>
          </a:xfrm>
          <a:prstGeom prst="line">
            <a:avLst/>
          </a:prstGeom>
          <a:ln w="15875">
            <a:solidFill>
              <a:srgbClr val="D9D9D9"/>
            </a:solidFill>
          </a:ln>
        </p:spPr>
      </p:cxnSp>
      <p:sp>
        <p:nvSpPr>
          <p:cNvPr id="27" name="Label Oval 26"/>
          <p:cNvSpPr/>
          <p:nvPr/>
        </p:nvSpPr>
        <p:spPr>
          <a:xfrm>
            <a:off x="3108960" y="2869752"/>
            <a:ext cx="1316736" cy="1027054"/>
          </a:xfrm>
          <a:prstGeom prst="ellipse">
            <a:avLst/>
          </a:prstGeom>
          <a:solidFill>
            <a:srgbClr val="DCEEF7"/>
          </a:solidFill>
          <a:ln>
            <a:noFill/>
          </a:ln>
        </p:spPr>
        <p:txBody>
          <a:bodyPr rtlCol="0" anchor="ctr"/>
          <a:lstStyle/>
          <a:p>
            <a:pPr algn="ctr"/>
          </a:p>
        </p:txBody>
      </p:sp>
      <p:sp>
        <p:nvSpPr>
          <p:cNvPr id="28" name="Label TextBox 27"/>
          <p:cNvSpPr txBox="1"/>
          <p:nvPr/>
        </p:nvSpPr>
        <p:spPr>
          <a:xfrm>
            <a:off x="3108960" y="2869752"/>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Melbourne</a:t>
            </a:r>
          </a:p>
          <a:p>
            <a:pPr algn="ctr">
              <a:spcAft>
                <a:spcPts val="0"/>
              </a:spcAft>
            </a:pPr>
            <a:r>
              <a:rPr sz="1400" b="1" i="0">
                <a:solidFill>
                  <a:srgbClr val="00AEEF"/>
                </a:solidFill>
                <a:latin typeface="Arial"/>
              </a:rPr>
              <a:t>~4.3%*</a:t>
            </a:r>
          </a:p>
        </p:txBody>
      </p:sp>
      <p:sp>
        <p:nvSpPr>
          <p:cNvPr id="29" name="Label TextBox 28"/>
          <p:cNvSpPr txBox="1"/>
          <p:nvPr/>
        </p:nvSpPr>
        <p:spPr>
          <a:xfrm>
            <a:off x="749808" y="3017520"/>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Events engine backed by 5,000 new hotel rooms</a:t>
            </a:r>
          </a:p>
        </p:txBody>
      </p:sp>
      <p:cxnSp>
        <p:nvCxnSpPr>
          <p:cNvPr id="30" name="Label Connector 29"/>
          <p:cNvCxnSpPr/>
          <p:nvPr/>
        </p:nvCxnSpPr>
        <p:spPr>
          <a:xfrm flipH="1" flipV="1">
            <a:off x="5245912" y="2616410"/>
            <a:ext cx="258776" cy="192747"/>
          </a:xfrm>
          <a:prstGeom prst="line">
            <a:avLst/>
          </a:prstGeom>
          <a:ln w="15875">
            <a:solidFill>
              <a:srgbClr val="D9D9D9"/>
            </a:solidFill>
          </a:ln>
        </p:spPr>
      </p:cxnSp>
      <p:sp>
        <p:nvSpPr>
          <p:cNvPr id="31" name="Label Oval 30"/>
          <p:cNvSpPr/>
          <p:nvPr/>
        </p:nvSpPr>
        <p:spPr>
          <a:xfrm>
            <a:off x="4274820" y="1658155"/>
            <a:ext cx="1316736" cy="1027054"/>
          </a:xfrm>
          <a:prstGeom prst="ellipse">
            <a:avLst/>
          </a:prstGeom>
          <a:solidFill>
            <a:srgbClr val="DCEEF7"/>
          </a:solidFill>
          <a:ln>
            <a:noFill/>
          </a:ln>
        </p:spPr>
        <p:txBody>
          <a:bodyPr rtlCol="0" anchor="ctr"/>
          <a:lstStyle/>
          <a:p>
            <a:pPr algn="ctr"/>
          </a:p>
        </p:txBody>
      </p:sp>
      <p:sp>
        <p:nvSpPr>
          <p:cNvPr id="32" name="Label TextBox 31"/>
          <p:cNvSpPr txBox="1"/>
          <p:nvPr/>
        </p:nvSpPr>
        <p:spPr>
          <a:xfrm>
            <a:off x="4274820" y="1658155"/>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Valencia</a:t>
            </a:r>
          </a:p>
          <a:p>
            <a:pPr algn="ctr">
              <a:spcAft>
                <a:spcPts val="0"/>
              </a:spcAft>
            </a:pPr>
            <a:r>
              <a:rPr sz="1400" b="1" i="0">
                <a:solidFill>
                  <a:srgbClr val="00AEEF"/>
                </a:solidFill>
                <a:latin typeface="Arial"/>
              </a:rPr>
              <a:t>13-14%</a:t>
            </a:r>
          </a:p>
        </p:txBody>
      </p:sp>
      <p:sp>
        <p:nvSpPr>
          <p:cNvPr id="33" name="Label TextBox 32"/>
          <p:cNvSpPr txBox="1"/>
          <p:nvPr/>
        </p:nvSpPr>
        <p:spPr>
          <a:xfrm>
            <a:off x="1915668" y="1805922"/>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Quality charter (SICTED) and sector councils</a:t>
            </a:r>
          </a:p>
        </p:txBody>
      </p:sp>
      <p:sp>
        <p:nvSpPr>
          <p:cNvPr id="34" name="TextBox 33"/>
          <p:cNvSpPr txBox="1"/>
          <p:nvPr/>
        </p:nvSpPr>
        <p:spPr>
          <a:xfrm>
            <a:off x="457200" y="5285232"/>
            <a:ext cx="109728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Growth in international arrivals, 2023 to 2024, as reported. *Melbourne’s 4.3% is a forecast average and sits inside the norm.</a:t>
            </a:r>
          </a:p>
        </p:txBody>
      </p:sp>
      <p:sp>
        <p:nvSpPr>
          <p:cNvPr id="35" name="Rectangle 34"/>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6" name="TextBox 35"/>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Growth comes from a coordinated system, not one lever: Wesgro needs partners on access, marketing and institutions.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Fifteen of sixteen organisations raised collaboration and data, and DEDAT rates access and funding as high-impact limits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STAKEHOLDER INSIGHTS,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Stakeholder Insights Report (Mar 2026) pp16, 20-46 (counts are a Letsema tally of the appendix), 24-25 (DEDAT insights rated High)</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THEMES RAISED, BY NUMBER OF ORGANISATIONS (OF 16)</a:t>
            </a:r>
          </a:p>
        </p:txBody>
      </p:sp>
      <p:sp>
        <p:nvSpPr>
          <p:cNvPr id="9" name="Label TextBox 8"/>
          <p:cNvSpPr txBox="1"/>
          <p:nvPr/>
        </p:nvSpPr>
        <p:spPr>
          <a:xfrm>
            <a:off x="457200" y="173736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Industry and government collaboration</a:t>
            </a:r>
          </a:p>
        </p:txBody>
      </p:sp>
      <p:sp>
        <p:nvSpPr>
          <p:cNvPr id="10" name="Label Rectangle 9"/>
          <p:cNvSpPr/>
          <p:nvPr/>
        </p:nvSpPr>
        <p:spPr>
          <a:xfrm>
            <a:off x="3108960" y="1799539"/>
            <a:ext cx="3199042" cy="186537"/>
          </a:xfrm>
          <a:prstGeom prst="rect">
            <a:avLst/>
          </a:prstGeom>
          <a:solidFill>
            <a:srgbClr val="1F497D"/>
          </a:solidFill>
          <a:ln>
            <a:noFill/>
          </a:ln>
        </p:spPr>
        <p:txBody>
          <a:bodyPr rtlCol="0" anchor="ctr"/>
          <a:lstStyle/>
          <a:p>
            <a:pPr algn="ctr"/>
          </a:p>
        </p:txBody>
      </p:sp>
      <p:sp>
        <p:nvSpPr>
          <p:cNvPr id="11" name="Label TextBox 10"/>
          <p:cNvSpPr txBox="1"/>
          <p:nvPr/>
        </p:nvSpPr>
        <p:spPr>
          <a:xfrm>
            <a:off x="6353722" y="173736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15</a:t>
            </a:r>
          </a:p>
        </p:txBody>
      </p:sp>
      <p:sp>
        <p:nvSpPr>
          <p:cNvPr id="12" name="Label TextBox 11"/>
          <p:cNvSpPr txBox="1"/>
          <p:nvPr/>
        </p:nvSpPr>
        <p:spPr>
          <a:xfrm>
            <a:off x="457200" y="2048255"/>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Policy and data sharing</a:t>
            </a:r>
          </a:p>
        </p:txBody>
      </p:sp>
      <p:sp>
        <p:nvSpPr>
          <p:cNvPr id="13" name="Label Rectangle 12"/>
          <p:cNvSpPr/>
          <p:nvPr/>
        </p:nvSpPr>
        <p:spPr>
          <a:xfrm>
            <a:off x="3108960" y="2110435"/>
            <a:ext cx="3199042" cy="186537"/>
          </a:xfrm>
          <a:prstGeom prst="rect">
            <a:avLst/>
          </a:prstGeom>
          <a:solidFill>
            <a:srgbClr val="1F497D"/>
          </a:solidFill>
          <a:ln>
            <a:noFill/>
          </a:ln>
        </p:spPr>
        <p:txBody>
          <a:bodyPr rtlCol="0" anchor="ctr"/>
          <a:lstStyle/>
          <a:p>
            <a:pPr algn="ctr"/>
          </a:p>
        </p:txBody>
      </p:sp>
      <p:sp>
        <p:nvSpPr>
          <p:cNvPr id="14" name="Label TextBox 13"/>
          <p:cNvSpPr txBox="1"/>
          <p:nvPr/>
        </p:nvSpPr>
        <p:spPr>
          <a:xfrm>
            <a:off x="6353722" y="2048255"/>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15</a:t>
            </a:r>
          </a:p>
        </p:txBody>
      </p:sp>
      <p:sp>
        <p:nvSpPr>
          <p:cNvPr id="15" name="Label TextBox 14"/>
          <p:cNvSpPr txBox="1"/>
          <p:nvPr/>
        </p:nvSpPr>
        <p:spPr>
          <a:xfrm>
            <a:off x="457200" y="2359152"/>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Route and product diversification</a:t>
            </a:r>
          </a:p>
        </p:txBody>
      </p:sp>
      <p:sp>
        <p:nvSpPr>
          <p:cNvPr id="16" name="Label Rectangle 15"/>
          <p:cNvSpPr/>
          <p:nvPr/>
        </p:nvSpPr>
        <p:spPr>
          <a:xfrm>
            <a:off x="3108960" y="2421331"/>
            <a:ext cx="2345964" cy="186537"/>
          </a:xfrm>
          <a:prstGeom prst="rect">
            <a:avLst/>
          </a:prstGeom>
          <a:solidFill>
            <a:srgbClr val="4F81BD"/>
          </a:solidFill>
          <a:ln>
            <a:noFill/>
          </a:ln>
        </p:spPr>
        <p:txBody>
          <a:bodyPr rtlCol="0" anchor="ctr"/>
          <a:lstStyle/>
          <a:p>
            <a:pPr algn="ctr"/>
          </a:p>
        </p:txBody>
      </p:sp>
      <p:sp>
        <p:nvSpPr>
          <p:cNvPr id="17" name="Label TextBox 16"/>
          <p:cNvSpPr txBox="1"/>
          <p:nvPr/>
        </p:nvSpPr>
        <p:spPr>
          <a:xfrm>
            <a:off x="5500644" y="2359152"/>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11</a:t>
            </a:r>
          </a:p>
        </p:txBody>
      </p:sp>
      <p:sp>
        <p:nvSpPr>
          <p:cNvPr id="18" name="Label TextBox 17"/>
          <p:cNvSpPr txBox="1"/>
          <p:nvPr/>
        </p:nvSpPr>
        <p:spPr>
          <a:xfrm>
            <a:off x="457200" y="2670048"/>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Path to purchase</a:t>
            </a:r>
          </a:p>
        </p:txBody>
      </p:sp>
      <p:sp>
        <p:nvSpPr>
          <p:cNvPr id="19" name="Label Rectangle 18"/>
          <p:cNvSpPr/>
          <p:nvPr/>
        </p:nvSpPr>
        <p:spPr>
          <a:xfrm>
            <a:off x="3108960" y="2732227"/>
            <a:ext cx="2345964" cy="186537"/>
          </a:xfrm>
          <a:prstGeom prst="rect">
            <a:avLst/>
          </a:prstGeom>
          <a:solidFill>
            <a:srgbClr val="4F81BD"/>
          </a:solidFill>
          <a:ln>
            <a:noFill/>
          </a:ln>
        </p:spPr>
        <p:txBody>
          <a:bodyPr rtlCol="0" anchor="ctr"/>
          <a:lstStyle/>
          <a:p>
            <a:pPr algn="ctr"/>
          </a:p>
        </p:txBody>
      </p:sp>
      <p:sp>
        <p:nvSpPr>
          <p:cNvPr id="20" name="Label TextBox 19"/>
          <p:cNvSpPr txBox="1"/>
          <p:nvPr/>
        </p:nvSpPr>
        <p:spPr>
          <a:xfrm>
            <a:off x="5500644" y="2670048"/>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11</a:t>
            </a:r>
          </a:p>
        </p:txBody>
      </p:sp>
      <p:sp>
        <p:nvSpPr>
          <p:cNvPr id="21" name="Label TextBox 20"/>
          <p:cNvSpPr txBox="1"/>
          <p:nvPr/>
        </p:nvSpPr>
        <p:spPr>
          <a:xfrm>
            <a:off x="457200" y="2980944"/>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Growth segment preferences</a:t>
            </a:r>
          </a:p>
        </p:txBody>
      </p:sp>
      <p:sp>
        <p:nvSpPr>
          <p:cNvPr id="22" name="Label Rectangle 21"/>
          <p:cNvSpPr/>
          <p:nvPr/>
        </p:nvSpPr>
        <p:spPr>
          <a:xfrm>
            <a:off x="3108960" y="3043123"/>
            <a:ext cx="2132695" cy="186537"/>
          </a:xfrm>
          <a:prstGeom prst="rect">
            <a:avLst/>
          </a:prstGeom>
          <a:solidFill>
            <a:srgbClr val="4F81BD"/>
          </a:solidFill>
          <a:ln>
            <a:noFill/>
          </a:ln>
        </p:spPr>
        <p:txBody>
          <a:bodyPr rtlCol="0" anchor="ctr"/>
          <a:lstStyle/>
          <a:p>
            <a:pPr algn="ctr"/>
          </a:p>
        </p:txBody>
      </p:sp>
      <p:sp>
        <p:nvSpPr>
          <p:cNvPr id="23" name="Label TextBox 22"/>
          <p:cNvSpPr txBox="1"/>
          <p:nvPr/>
        </p:nvSpPr>
        <p:spPr>
          <a:xfrm>
            <a:off x="5287375" y="2980944"/>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10</a:t>
            </a:r>
          </a:p>
        </p:txBody>
      </p:sp>
      <p:sp>
        <p:nvSpPr>
          <p:cNvPr id="24" name="Label TextBox 23"/>
          <p:cNvSpPr txBox="1"/>
          <p:nvPr/>
        </p:nvSpPr>
        <p:spPr>
          <a:xfrm>
            <a:off x="457200" y="329184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Infrastructure, visa and safety</a:t>
            </a:r>
          </a:p>
        </p:txBody>
      </p:sp>
      <p:sp>
        <p:nvSpPr>
          <p:cNvPr id="25" name="Label Rectangle 24"/>
          <p:cNvSpPr/>
          <p:nvPr/>
        </p:nvSpPr>
        <p:spPr>
          <a:xfrm>
            <a:off x="3108960" y="3354019"/>
            <a:ext cx="2132695" cy="186537"/>
          </a:xfrm>
          <a:prstGeom prst="rect">
            <a:avLst/>
          </a:prstGeom>
          <a:solidFill>
            <a:srgbClr val="4F81BD"/>
          </a:solidFill>
          <a:ln>
            <a:noFill/>
          </a:ln>
        </p:spPr>
        <p:txBody>
          <a:bodyPr rtlCol="0" anchor="ctr"/>
          <a:lstStyle/>
          <a:p>
            <a:pPr algn="ctr"/>
          </a:p>
        </p:txBody>
      </p:sp>
      <p:sp>
        <p:nvSpPr>
          <p:cNvPr id="26" name="Label TextBox 25"/>
          <p:cNvSpPr txBox="1"/>
          <p:nvPr/>
        </p:nvSpPr>
        <p:spPr>
          <a:xfrm>
            <a:off x="5287375" y="329184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10</a:t>
            </a:r>
          </a:p>
        </p:txBody>
      </p:sp>
      <p:sp>
        <p:nvSpPr>
          <p:cNvPr id="27" name="Label TextBox 26"/>
          <p:cNvSpPr txBox="1"/>
          <p:nvPr/>
        </p:nvSpPr>
        <p:spPr>
          <a:xfrm>
            <a:off x="457200" y="3602736"/>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Seasonality and events</a:t>
            </a:r>
          </a:p>
        </p:txBody>
      </p:sp>
      <p:sp>
        <p:nvSpPr>
          <p:cNvPr id="28" name="Label Rectangle 27"/>
          <p:cNvSpPr/>
          <p:nvPr/>
        </p:nvSpPr>
        <p:spPr>
          <a:xfrm>
            <a:off x="3108960" y="3664915"/>
            <a:ext cx="1919425" cy="186537"/>
          </a:xfrm>
          <a:prstGeom prst="rect">
            <a:avLst/>
          </a:prstGeom>
          <a:solidFill>
            <a:srgbClr val="4F81BD"/>
          </a:solidFill>
          <a:ln>
            <a:noFill/>
          </a:ln>
        </p:spPr>
        <p:txBody>
          <a:bodyPr rtlCol="0" anchor="ctr"/>
          <a:lstStyle/>
          <a:p>
            <a:pPr algn="ctr"/>
          </a:p>
        </p:txBody>
      </p:sp>
      <p:sp>
        <p:nvSpPr>
          <p:cNvPr id="29" name="Label TextBox 28"/>
          <p:cNvSpPr txBox="1"/>
          <p:nvPr/>
        </p:nvSpPr>
        <p:spPr>
          <a:xfrm>
            <a:off x="5074105" y="3602736"/>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9</a:t>
            </a:r>
          </a:p>
        </p:txBody>
      </p:sp>
      <p:sp>
        <p:nvSpPr>
          <p:cNvPr id="30" name="Label TextBox 29"/>
          <p:cNvSpPr txBox="1"/>
          <p:nvPr/>
        </p:nvSpPr>
        <p:spPr>
          <a:xfrm>
            <a:off x="457200" y="3913632"/>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Community and SME inclusion</a:t>
            </a:r>
          </a:p>
        </p:txBody>
      </p:sp>
      <p:sp>
        <p:nvSpPr>
          <p:cNvPr id="31" name="Label Rectangle 30"/>
          <p:cNvSpPr/>
          <p:nvPr/>
        </p:nvSpPr>
        <p:spPr>
          <a:xfrm>
            <a:off x="3108960" y="3975811"/>
            <a:ext cx="1919425" cy="186537"/>
          </a:xfrm>
          <a:prstGeom prst="rect">
            <a:avLst/>
          </a:prstGeom>
          <a:solidFill>
            <a:srgbClr val="4F81BD"/>
          </a:solidFill>
          <a:ln>
            <a:noFill/>
          </a:ln>
        </p:spPr>
        <p:txBody>
          <a:bodyPr rtlCol="0" anchor="ctr"/>
          <a:lstStyle/>
          <a:p>
            <a:pPr algn="ctr"/>
          </a:p>
        </p:txBody>
      </p:sp>
      <p:sp>
        <p:nvSpPr>
          <p:cNvPr id="32" name="Label TextBox 31"/>
          <p:cNvSpPr txBox="1"/>
          <p:nvPr/>
        </p:nvSpPr>
        <p:spPr>
          <a:xfrm>
            <a:off x="5074105" y="3913632"/>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9</a:t>
            </a:r>
          </a:p>
        </p:txBody>
      </p:sp>
      <p:sp>
        <p:nvSpPr>
          <p:cNvPr id="33" name="Label TextBox 32"/>
          <p:cNvSpPr txBox="1"/>
          <p:nvPr/>
        </p:nvSpPr>
        <p:spPr>
          <a:xfrm>
            <a:off x="457200" y="4224528"/>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Internal mobility</a:t>
            </a:r>
          </a:p>
        </p:txBody>
      </p:sp>
      <p:sp>
        <p:nvSpPr>
          <p:cNvPr id="34" name="Label Rectangle 33"/>
          <p:cNvSpPr/>
          <p:nvPr/>
        </p:nvSpPr>
        <p:spPr>
          <a:xfrm>
            <a:off x="3108960" y="4286707"/>
            <a:ext cx="1706156" cy="186537"/>
          </a:xfrm>
          <a:prstGeom prst="rect">
            <a:avLst/>
          </a:prstGeom>
          <a:solidFill>
            <a:srgbClr val="4F81BD"/>
          </a:solidFill>
          <a:ln>
            <a:noFill/>
          </a:ln>
        </p:spPr>
        <p:txBody>
          <a:bodyPr rtlCol="0" anchor="ctr"/>
          <a:lstStyle/>
          <a:p>
            <a:pPr algn="ctr"/>
          </a:p>
        </p:txBody>
      </p:sp>
      <p:sp>
        <p:nvSpPr>
          <p:cNvPr id="35" name="Label TextBox 34"/>
          <p:cNvSpPr txBox="1"/>
          <p:nvPr/>
        </p:nvSpPr>
        <p:spPr>
          <a:xfrm>
            <a:off x="4860836" y="4224528"/>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36" name="Label TextBox 35"/>
          <p:cNvSpPr txBox="1"/>
          <p:nvPr/>
        </p:nvSpPr>
        <p:spPr>
          <a:xfrm>
            <a:off x="457200" y="4535424"/>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In-destination experience</a:t>
            </a:r>
          </a:p>
        </p:txBody>
      </p:sp>
      <p:sp>
        <p:nvSpPr>
          <p:cNvPr id="37" name="Label Rectangle 36"/>
          <p:cNvSpPr/>
          <p:nvPr/>
        </p:nvSpPr>
        <p:spPr>
          <a:xfrm>
            <a:off x="3108960" y="4597603"/>
            <a:ext cx="1706156" cy="186537"/>
          </a:xfrm>
          <a:prstGeom prst="rect">
            <a:avLst/>
          </a:prstGeom>
          <a:solidFill>
            <a:srgbClr val="4F81BD"/>
          </a:solidFill>
          <a:ln>
            <a:noFill/>
          </a:ln>
        </p:spPr>
        <p:txBody>
          <a:bodyPr rtlCol="0" anchor="ctr"/>
          <a:lstStyle/>
          <a:p>
            <a:pPr algn="ctr"/>
          </a:p>
        </p:txBody>
      </p:sp>
      <p:sp>
        <p:nvSpPr>
          <p:cNvPr id="38" name="Label TextBox 37"/>
          <p:cNvSpPr txBox="1"/>
          <p:nvPr/>
        </p:nvSpPr>
        <p:spPr>
          <a:xfrm>
            <a:off x="4860836" y="4535424"/>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39" name="Label TextBox 38"/>
          <p:cNvSpPr txBox="1"/>
          <p:nvPr/>
        </p:nvSpPr>
        <p:spPr>
          <a:xfrm>
            <a:off x="457200" y="484632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Growth markets</a:t>
            </a:r>
          </a:p>
        </p:txBody>
      </p:sp>
      <p:sp>
        <p:nvSpPr>
          <p:cNvPr id="40" name="Label Rectangle 39"/>
          <p:cNvSpPr/>
          <p:nvPr/>
        </p:nvSpPr>
        <p:spPr>
          <a:xfrm>
            <a:off x="3108960" y="4908499"/>
            <a:ext cx="1706156" cy="186537"/>
          </a:xfrm>
          <a:prstGeom prst="rect">
            <a:avLst/>
          </a:prstGeom>
          <a:solidFill>
            <a:srgbClr val="4F81BD"/>
          </a:solidFill>
          <a:ln>
            <a:noFill/>
          </a:ln>
        </p:spPr>
        <p:txBody>
          <a:bodyPr rtlCol="0" anchor="ctr"/>
          <a:lstStyle/>
          <a:p>
            <a:pPr algn="ctr"/>
          </a:p>
        </p:txBody>
      </p:sp>
      <p:sp>
        <p:nvSpPr>
          <p:cNvPr id="41" name="Label TextBox 40"/>
          <p:cNvSpPr txBox="1"/>
          <p:nvPr/>
        </p:nvSpPr>
        <p:spPr>
          <a:xfrm>
            <a:off x="4860836" y="484632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42" name="TextBox 41"/>
          <p:cNvSpPr txBox="1"/>
          <p:nvPr/>
        </p:nvSpPr>
        <p:spPr>
          <a:xfrm>
            <a:off x="457200" y="5212080"/>
            <a:ext cx="6521272"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Letsema tally of the sixteen organisations in the report’s appendix.</a:t>
            </a:r>
          </a:p>
        </p:txBody>
      </p:sp>
      <p:sp>
        <p:nvSpPr>
          <p:cNvPr id="43" name="TextBox 42"/>
          <p:cNvSpPr txBox="1"/>
          <p:nvPr/>
        </p:nvSpPr>
        <p:spPr>
          <a:xfrm>
            <a:off x="7975396" y="1417320"/>
            <a:ext cx="375909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DEDAT, RATED HIGH IMPACT</a:t>
            </a:r>
          </a:p>
        </p:txBody>
      </p:sp>
      <p:sp>
        <p:nvSpPr>
          <p:cNvPr id="44" name="Rectangle 43"/>
          <p:cNvSpPr/>
          <p:nvPr/>
        </p:nvSpPr>
        <p:spPr>
          <a:xfrm>
            <a:off x="7975396" y="1737360"/>
            <a:ext cx="3759098" cy="786384"/>
          </a:xfrm>
          <a:prstGeom prst="rect">
            <a:avLst/>
          </a:prstGeom>
          <a:solidFill>
            <a:srgbClr val="F2F2F2"/>
          </a:solidFill>
          <a:ln>
            <a:noFill/>
          </a:ln>
        </p:spPr>
        <p:txBody>
          <a:bodyPr rtlCol="0" anchor="ctr"/>
          <a:lstStyle/>
          <a:p>
            <a:pPr algn="ctr"/>
          </a:p>
        </p:txBody>
      </p:sp>
      <p:sp>
        <p:nvSpPr>
          <p:cNvPr id="45" name="Rectangle 44"/>
          <p:cNvSpPr/>
          <p:nvPr/>
        </p:nvSpPr>
        <p:spPr>
          <a:xfrm>
            <a:off x="7975396" y="1737360"/>
            <a:ext cx="64008" cy="786384"/>
          </a:xfrm>
          <a:prstGeom prst="rect">
            <a:avLst/>
          </a:prstGeom>
          <a:solidFill>
            <a:srgbClr val="00AEEF"/>
          </a:solidFill>
          <a:ln>
            <a:noFill/>
          </a:ln>
        </p:spPr>
        <p:txBody>
          <a:bodyPr rtlCol="0" anchor="ctr"/>
          <a:lstStyle/>
          <a:p>
            <a:pPr algn="ctr"/>
          </a:p>
        </p:txBody>
      </p:sp>
      <p:sp>
        <p:nvSpPr>
          <p:cNvPr id="46" name="TextBox 45"/>
          <p:cNvSpPr txBox="1"/>
          <p:nvPr/>
        </p:nvSpPr>
        <p:spPr>
          <a:xfrm>
            <a:off x="8158276" y="1810512"/>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“Restrictive bilateral air agreements are limiting airlift growth”</a:t>
            </a:r>
          </a:p>
        </p:txBody>
      </p:sp>
      <p:sp>
        <p:nvSpPr>
          <p:cNvPr id="47" name="TextBox 46"/>
          <p:cNvSpPr txBox="1"/>
          <p:nvPr/>
        </p:nvSpPr>
        <p:spPr>
          <a:xfrm>
            <a:off x="8158276" y="2212848"/>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p24</a:t>
            </a:r>
          </a:p>
        </p:txBody>
      </p:sp>
      <p:sp>
        <p:nvSpPr>
          <p:cNvPr id="48" name="Rectangle 47"/>
          <p:cNvSpPr/>
          <p:nvPr/>
        </p:nvSpPr>
        <p:spPr>
          <a:xfrm>
            <a:off x="7975396" y="2633472"/>
            <a:ext cx="3759098" cy="786384"/>
          </a:xfrm>
          <a:prstGeom prst="rect">
            <a:avLst/>
          </a:prstGeom>
          <a:solidFill>
            <a:srgbClr val="F2F2F2"/>
          </a:solidFill>
          <a:ln>
            <a:noFill/>
          </a:ln>
        </p:spPr>
        <p:txBody>
          <a:bodyPr rtlCol="0" anchor="ctr"/>
          <a:lstStyle/>
          <a:p>
            <a:pPr algn="ctr"/>
          </a:p>
        </p:txBody>
      </p:sp>
      <p:sp>
        <p:nvSpPr>
          <p:cNvPr id="49" name="Rectangle 48"/>
          <p:cNvSpPr/>
          <p:nvPr/>
        </p:nvSpPr>
        <p:spPr>
          <a:xfrm>
            <a:off x="7975396" y="2633472"/>
            <a:ext cx="64008" cy="786384"/>
          </a:xfrm>
          <a:prstGeom prst="rect">
            <a:avLst/>
          </a:prstGeom>
          <a:solidFill>
            <a:srgbClr val="00AEEF"/>
          </a:solidFill>
          <a:ln>
            <a:noFill/>
          </a:ln>
        </p:spPr>
        <p:txBody>
          <a:bodyPr rtlCol="0" anchor="ctr"/>
          <a:lstStyle/>
          <a:p>
            <a:pPr algn="ctr"/>
          </a:p>
        </p:txBody>
      </p:sp>
      <p:sp>
        <p:nvSpPr>
          <p:cNvPr id="50" name="TextBox 49"/>
          <p:cNvSpPr txBox="1"/>
          <p:nvPr/>
        </p:nvSpPr>
        <p:spPr>
          <a:xfrm>
            <a:off x="8158276" y="2706624"/>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“Tourism funding is materially below peer destinations”</a:t>
            </a:r>
          </a:p>
        </p:txBody>
      </p:sp>
      <p:sp>
        <p:nvSpPr>
          <p:cNvPr id="51" name="TextBox 50"/>
          <p:cNvSpPr txBox="1"/>
          <p:nvPr/>
        </p:nvSpPr>
        <p:spPr>
          <a:xfrm>
            <a:off x="8158276" y="3108960"/>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p25</a:t>
            </a:r>
          </a:p>
        </p:txBody>
      </p:sp>
      <p:sp>
        <p:nvSpPr>
          <p:cNvPr id="52" name="Rectangle 51"/>
          <p:cNvSpPr/>
          <p:nvPr/>
        </p:nvSpPr>
        <p:spPr>
          <a:xfrm>
            <a:off x="7975396" y="3529584"/>
            <a:ext cx="3759098" cy="786384"/>
          </a:xfrm>
          <a:prstGeom prst="rect">
            <a:avLst/>
          </a:prstGeom>
          <a:solidFill>
            <a:srgbClr val="F2F2F2"/>
          </a:solidFill>
          <a:ln>
            <a:noFill/>
          </a:ln>
        </p:spPr>
        <p:txBody>
          <a:bodyPr rtlCol="0" anchor="ctr"/>
          <a:lstStyle/>
          <a:p>
            <a:pPr algn="ctr"/>
          </a:p>
        </p:txBody>
      </p:sp>
      <p:sp>
        <p:nvSpPr>
          <p:cNvPr id="53" name="Rectangle 52"/>
          <p:cNvSpPr/>
          <p:nvPr/>
        </p:nvSpPr>
        <p:spPr>
          <a:xfrm>
            <a:off x="7975396" y="3529584"/>
            <a:ext cx="64008" cy="786384"/>
          </a:xfrm>
          <a:prstGeom prst="rect">
            <a:avLst/>
          </a:prstGeom>
          <a:solidFill>
            <a:srgbClr val="00AEEF"/>
          </a:solidFill>
          <a:ln>
            <a:noFill/>
          </a:ln>
        </p:spPr>
        <p:txBody>
          <a:bodyPr rtlCol="0" anchor="ctr"/>
          <a:lstStyle/>
          <a:p>
            <a:pPr algn="ctr"/>
          </a:p>
        </p:txBody>
      </p:sp>
      <p:sp>
        <p:nvSpPr>
          <p:cNvPr id="54" name="TextBox 53"/>
          <p:cNvSpPr txBox="1"/>
          <p:nvPr/>
        </p:nvSpPr>
        <p:spPr>
          <a:xfrm>
            <a:off x="8158276" y="3602736"/>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“SA Tourism’s institutional weakness is constraining implementation”</a:t>
            </a:r>
          </a:p>
        </p:txBody>
      </p:sp>
      <p:sp>
        <p:nvSpPr>
          <p:cNvPr id="55" name="TextBox 54"/>
          <p:cNvSpPr txBox="1"/>
          <p:nvPr/>
        </p:nvSpPr>
        <p:spPr>
          <a:xfrm>
            <a:off x="8158276" y="4005072"/>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p25</a:t>
            </a:r>
          </a:p>
        </p:txBody>
      </p:sp>
      <p:sp>
        <p:nvSpPr>
          <p:cNvPr id="56" name="Rectangle 55"/>
          <p:cNvSpPr/>
          <p:nvPr/>
        </p:nvSpPr>
        <p:spPr>
          <a:xfrm>
            <a:off x="7975396" y="4480560"/>
            <a:ext cx="3759098" cy="868680"/>
          </a:xfrm>
          <a:prstGeom prst="rect">
            <a:avLst/>
          </a:prstGeom>
          <a:solidFill>
            <a:srgbClr val="FFFFFF"/>
          </a:solidFill>
          <a:ln w="12700">
            <a:solidFill>
              <a:srgbClr val="1F497D"/>
            </a:solidFill>
          </a:ln>
        </p:spPr>
        <p:txBody>
          <a:bodyPr rtlCol="0" anchor="ctr"/>
          <a:lstStyle/>
          <a:p>
            <a:pPr algn="ctr"/>
          </a:p>
        </p:txBody>
      </p:sp>
      <p:sp>
        <p:nvSpPr>
          <p:cNvPr id="57" name="TextBox 56"/>
          <p:cNvSpPr txBox="1"/>
          <p:nvPr/>
        </p:nvSpPr>
        <p:spPr>
          <a:xfrm>
            <a:off x="8112556" y="4526280"/>
            <a:ext cx="3484778" cy="777240"/>
          </a:xfrm>
          <a:prstGeom prst="rect">
            <a:avLst/>
          </a:prstGeom>
          <a:noFill/>
        </p:spPr>
        <p:txBody>
          <a:bodyPr wrap="square" anchor="ctr" lIns="0" rIns="0" tIns="0" bIns="0">
            <a:spAutoFit/>
          </a:bodyPr>
          <a:lstStyle/>
          <a:p>
            <a:pPr algn="l">
              <a:spcAft>
                <a:spcPts val="200"/>
              </a:spcAft>
            </a:pPr>
            <a:r>
              <a:rPr sz="900" b="1" i="0">
                <a:solidFill>
                  <a:srgbClr val="1F497D"/>
                </a:solidFill>
                <a:latin typeface="Arial"/>
              </a:rPr>
              <a:t>NOT YET HEARD</a:t>
            </a:r>
          </a:p>
          <a:p>
            <a:pPr algn="l">
              <a:spcAft>
                <a:spcPts val="0"/>
              </a:spcAft>
            </a:pPr>
            <a:r>
              <a:rPr sz="1050" b="0" i="0">
                <a:solidFill>
                  <a:srgbClr val="404040"/>
                </a:solidFill>
                <a:latin typeface="Arial"/>
              </a:rPr>
              <a:t>Airlines, SA Tourism, the City of Cape Town and Home Affairs.</a:t>
            </a:r>
          </a:p>
        </p:txBody>
      </p:sp>
      <p:sp>
        <p:nvSpPr>
          <p:cNvPr id="58" name="Rectangle 57"/>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59" name="TextBox 58"/>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coordination problem is agreed; hear the missing voices before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Airlines withdraw winter seats and run eleven routes above 80% estimated load, so new seats follow proven demand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MIDAS AVIATION,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MIDAS Aviation Market Assessment (Mar 2026) pp3, 13, 15, 17-19, 22. Load factors and India and China volumes are GDS estimates (year to November 2025).</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5570067"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ANNUAL INTERNATIONAL SEATS BY MONTH, 2025 (%)</a:t>
            </a:r>
          </a:p>
        </p:txBody>
      </p:sp>
      <p:graphicFrame>
        <p:nvGraphicFramePr>
          <p:cNvPr id="9" name="Chart 8"/>
          <p:cNvGraphicFramePr>
            <a:graphicFrameLocks noGrp="1"/>
          </p:cNvGraphicFramePr>
          <p:nvPr/>
        </p:nvGraphicFramePr>
        <p:xfrm>
          <a:off x="411480" y="1645920"/>
          <a:ext cx="5661507" cy="2606040"/>
        </p:xfrm>
        <a:graphic>
          <a:graphicData uri="http://schemas.openxmlformats.org/drawingml/2006/chart">
            <c:chart xmlns:c="http://schemas.openxmlformats.org/drawingml/2006/chart" r:id="rId4"/>
          </a:graphicData>
        </a:graphic>
      </p:graphicFrame>
      <p:sp>
        <p:nvSpPr>
          <p:cNvPr id="10" name="Label TextBox 9"/>
          <p:cNvSpPr txBox="1"/>
          <p:nvPr/>
        </p:nvSpPr>
        <p:spPr>
          <a:xfrm>
            <a:off x="457200" y="4279392"/>
            <a:ext cx="5570067"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Grey: May to September green season.</a:t>
            </a:r>
          </a:p>
        </p:txBody>
      </p:sp>
      <p:sp>
        <p:nvSpPr>
          <p:cNvPr id="11" name="TextBox 10"/>
          <p:cNvSpPr txBox="1"/>
          <p:nvPr/>
        </p:nvSpPr>
        <p:spPr>
          <a:xfrm>
            <a:off x="6210147" y="1417320"/>
            <a:ext cx="5570067"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ESTIMATED LOAD FACTOR BY ROUTE (%)</a:t>
            </a:r>
          </a:p>
        </p:txBody>
      </p:sp>
      <p:graphicFrame>
        <p:nvGraphicFramePr>
          <p:cNvPr id="12" name="Chart 11"/>
          <p:cNvGraphicFramePr>
            <a:graphicFrameLocks noGrp="1"/>
          </p:cNvGraphicFramePr>
          <p:nvPr/>
        </p:nvGraphicFramePr>
        <p:xfrm>
          <a:off x="6164427" y="1645920"/>
          <a:ext cx="5615787" cy="2606040"/>
        </p:xfrm>
        <a:graphic>
          <a:graphicData uri="http://schemas.openxmlformats.org/drawingml/2006/chart">
            <c:chart xmlns:c="http://schemas.openxmlformats.org/drawingml/2006/chart" r:id="rId5"/>
          </a:graphicData>
        </a:graphic>
      </p:graphicFrame>
      <p:cxnSp>
        <p:nvCxnSpPr>
          <p:cNvPr id="13" name="Connector 12"/>
          <p:cNvCxnSpPr/>
          <p:nvPr/>
        </p:nvCxnSpPr>
        <p:spPr>
          <a:xfrm>
            <a:off x="10825531" y="1664208"/>
            <a:ext cx="0" cy="2569464"/>
          </a:xfrm>
          <a:prstGeom prst="line">
            <a:avLst/>
          </a:prstGeom>
          <a:ln w="19050">
            <a:solidFill>
              <a:srgbClr val="00AEEF"/>
            </a:solidFill>
            <a:prstDash val="dash"/>
          </a:ln>
        </p:spPr>
      </p:cxnSp>
      <p:sp>
        <p:nvSpPr>
          <p:cNvPr id="14" name="TextBox 13"/>
          <p:cNvSpPr txBox="1"/>
          <p:nvPr/>
        </p:nvSpPr>
        <p:spPr>
          <a:xfrm>
            <a:off x="10414051" y="4251960"/>
            <a:ext cx="822960" cy="201168"/>
          </a:xfrm>
          <a:prstGeom prst="rect">
            <a:avLst/>
          </a:prstGeom>
          <a:noFill/>
        </p:spPr>
        <p:txBody>
          <a:bodyPr wrap="square" anchor="t" lIns="0" rIns="0" tIns="0" bIns="0">
            <a:spAutoFit/>
          </a:bodyPr>
          <a:lstStyle/>
          <a:p>
            <a:pPr algn="ctr">
              <a:spcAft>
                <a:spcPts val="0"/>
              </a:spcAft>
            </a:pPr>
            <a:r>
              <a:rPr sz="900" b="1" i="0">
                <a:solidFill>
                  <a:srgbClr val="00AEEF"/>
                </a:solidFill>
                <a:latin typeface="Arial"/>
              </a:rPr>
              <a:t>80%</a:t>
            </a:r>
          </a:p>
        </p:txBody>
      </p:sp>
      <p:sp>
        <p:nvSpPr>
          <p:cNvPr id="15" name="TextBox 14"/>
          <p:cNvSpPr txBox="1"/>
          <p:nvPr/>
        </p:nvSpPr>
        <p:spPr>
          <a:xfrm>
            <a:off x="7033107" y="4279392"/>
            <a:ext cx="4747107"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Top 16 of 27 routes; network average 76.0%.</a:t>
            </a:r>
          </a:p>
        </p:txBody>
      </p:sp>
      <p:sp>
        <p:nvSpPr>
          <p:cNvPr id="16" name="TextBox 15"/>
          <p:cNvSpPr txBox="1"/>
          <p:nvPr/>
        </p:nvSpPr>
        <p:spPr>
          <a:xfrm>
            <a:off x="457200"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17</a:t>
            </a:r>
          </a:p>
          <a:p>
            <a:pPr algn="l">
              <a:spcAft>
                <a:spcPts val="0"/>
              </a:spcAft>
            </a:pPr>
            <a:r>
              <a:rPr sz="1000" b="0" i="0">
                <a:solidFill>
                  <a:srgbClr val="404040"/>
                </a:solidFill>
                <a:latin typeface="Arial"/>
              </a:rPr>
              <a:t>mainline routes added in 2015-25, more than any peer airport</a:t>
            </a:r>
          </a:p>
        </p:txBody>
      </p:sp>
      <p:sp>
        <p:nvSpPr>
          <p:cNvPr id="17" name="TextBox 16"/>
          <p:cNvSpPr txBox="1"/>
          <p:nvPr/>
        </p:nvSpPr>
        <p:spPr>
          <a:xfrm>
            <a:off x="4262018"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101,000</a:t>
            </a:r>
          </a:p>
          <a:p>
            <a:pPr algn="l">
              <a:spcAft>
                <a:spcPts val="0"/>
              </a:spcAft>
            </a:pPr>
            <a:r>
              <a:rPr sz="1000" b="0" i="0">
                <a:solidFill>
                  <a:srgbClr val="404040"/>
                </a:solidFill>
                <a:latin typeface="Arial"/>
              </a:rPr>
              <a:t>India and China passenger journeys a year already route via hubs</a:t>
            </a:r>
          </a:p>
        </p:txBody>
      </p:sp>
      <p:sp>
        <p:nvSpPr>
          <p:cNvPr id="18" name="TextBox 17"/>
          <p:cNvSpPr txBox="1"/>
          <p:nvPr/>
        </p:nvSpPr>
        <p:spPr>
          <a:xfrm>
            <a:off x="8066836"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Fares first</a:t>
            </a:r>
          </a:p>
          <a:p>
            <a:pPr algn="l">
              <a:spcAft>
                <a:spcPts val="0"/>
              </a:spcAft>
            </a:pPr>
            <a:r>
              <a:rPr sz="1000" b="0" i="0">
                <a:solidFill>
                  <a:srgbClr val="404040"/>
                </a:solidFill>
                <a:latin typeface="Arial"/>
              </a:rPr>
              <a:t>Airlines will raise fares before adding seats on long-haul routes</a:t>
            </a:r>
          </a:p>
        </p:txBody>
      </p:sp>
      <p:sp>
        <p:nvSpPr>
          <p:cNvPr id="19" name="Rectangle 18"/>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20" name="TextBox 19"/>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Hold winter seats with demand, buy frequency on full routes and convert hub traffic 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No modelled scenario reaches 2.8m by 2035; the accelerated case stops at 2.52m and needs direct India and China routes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DEMAND-SIDE ANALYSIS, JUN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Demand-Side Analysis (Jun 2026) pp14, 19-21, 37, 45-50, 53. Base path from p21; other scenarios show 2024 and 2035 values only.</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457200" y="1371600"/>
          <a:ext cx="7472476" cy="3657600"/>
        </p:xfrm>
        <a:graphic>
          <a:graphicData uri="http://schemas.openxmlformats.org/drawingml/2006/chart">
            <c:chart xmlns:c="http://schemas.openxmlformats.org/drawingml/2006/chart" r:id="rId4"/>
          </a:graphicData>
        </a:graphic>
      </p:graphicFrame>
      <p:sp>
        <p:nvSpPr>
          <p:cNvPr id="9" name="TextBox 8"/>
          <p:cNvSpPr txBox="1"/>
          <p:nvPr/>
        </p:nvSpPr>
        <p:spPr>
          <a:xfrm>
            <a:off x="457200" y="5074920"/>
            <a:ext cx="747247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International arrivals, millions. The base case meets the 1.8m seat ceiling around 2030.</a:t>
            </a:r>
          </a:p>
        </p:txBody>
      </p:sp>
      <p:sp>
        <p:nvSpPr>
          <p:cNvPr id="10" name="TextBox 9"/>
          <p:cNvSpPr txBox="1"/>
          <p:nvPr/>
        </p:nvSpPr>
        <p:spPr>
          <a:xfrm>
            <a:off x="8158276" y="1417320"/>
            <a:ext cx="357621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 THREE LEVERS THE REPORT NAMES</a:t>
            </a:r>
          </a:p>
        </p:txBody>
      </p:sp>
      <p:sp>
        <p:nvSpPr>
          <p:cNvPr id="11" name="Rectangle 10"/>
          <p:cNvSpPr/>
          <p:nvPr/>
        </p:nvSpPr>
        <p:spPr>
          <a:xfrm>
            <a:off x="8158276" y="1737360"/>
            <a:ext cx="3576218" cy="987552"/>
          </a:xfrm>
          <a:prstGeom prst="rect">
            <a:avLst/>
          </a:prstGeom>
          <a:solidFill>
            <a:srgbClr val="F2F2F2"/>
          </a:solidFill>
          <a:ln>
            <a:noFill/>
          </a:ln>
        </p:spPr>
        <p:txBody>
          <a:bodyPr rtlCol="0" anchor="ctr"/>
          <a:lstStyle/>
          <a:p>
            <a:pPr algn="ctr"/>
          </a:p>
        </p:txBody>
      </p:sp>
      <p:sp>
        <p:nvSpPr>
          <p:cNvPr id="12" name="Label num"/>
          <p:cNvSpPr txBox="1"/>
          <p:nvPr/>
        </p:nvSpPr>
        <p:spPr>
          <a:xfrm>
            <a:off x="8268004" y="1810512"/>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1</a:t>
            </a:r>
          </a:p>
        </p:txBody>
      </p:sp>
      <p:sp>
        <p:nvSpPr>
          <p:cNvPr id="13" name="TextBox 12"/>
          <p:cNvSpPr txBox="1"/>
          <p:nvPr/>
        </p:nvSpPr>
        <p:spPr>
          <a:xfrm>
            <a:off x="8661196" y="1828800"/>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Air access</a:t>
            </a:r>
          </a:p>
        </p:txBody>
      </p:sp>
      <p:sp>
        <p:nvSpPr>
          <p:cNvPr id="14" name="TextBox 13"/>
          <p:cNvSpPr txBox="1"/>
          <p:nvPr/>
        </p:nvSpPr>
        <p:spPr>
          <a:xfrm>
            <a:off x="8661196" y="2103120"/>
            <a:ext cx="2981858" cy="59436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Hub carriers are the gateways; seat capacity sets a hard ceiling.</a:t>
            </a:r>
          </a:p>
        </p:txBody>
      </p:sp>
      <p:sp>
        <p:nvSpPr>
          <p:cNvPr id="15" name="Rectangle 14"/>
          <p:cNvSpPr/>
          <p:nvPr/>
        </p:nvSpPr>
        <p:spPr>
          <a:xfrm>
            <a:off x="8158276" y="2834639"/>
            <a:ext cx="3576218" cy="987552"/>
          </a:xfrm>
          <a:prstGeom prst="rect">
            <a:avLst/>
          </a:prstGeom>
          <a:solidFill>
            <a:srgbClr val="F2F2F2"/>
          </a:solidFill>
          <a:ln>
            <a:noFill/>
          </a:ln>
        </p:spPr>
        <p:txBody>
          <a:bodyPr rtlCol="0" anchor="ctr"/>
          <a:lstStyle/>
          <a:p>
            <a:pPr algn="ctr"/>
          </a:p>
        </p:txBody>
      </p:sp>
      <p:sp>
        <p:nvSpPr>
          <p:cNvPr id="16" name="Label num"/>
          <p:cNvSpPr txBox="1"/>
          <p:nvPr/>
        </p:nvSpPr>
        <p:spPr>
          <a:xfrm>
            <a:off x="8268004" y="2907791"/>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2</a:t>
            </a:r>
          </a:p>
        </p:txBody>
      </p:sp>
      <p:sp>
        <p:nvSpPr>
          <p:cNvPr id="17" name="TextBox 16"/>
          <p:cNvSpPr txBox="1"/>
          <p:nvPr/>
        </p:nvSpPr>
        <p:spPr>
          <a:xfrm>
            <a:off x="8661196" y="2926079"/>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Market activation</a:t>
            </a:r>
          </a:p>
        </p:txBody>
      </p:sp>
      <p:sp>
        <p:nvSpPr>
          <p:cNvPr id="18" name="TextBox 17"/>
          <p:cNvSpPr txBox="1"/>
          <p:nvPr/>
        </p:nvSpPr>
        <p:spPr>
          <a:xfrm>
            <a:off x="8661196" y="3200399"/>
            <a:ext cx="2981858" cy="59436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China, India and the Gulf book on their own platforms.</a:t>
            </a:r>
          </a:p>
        </p:txBody>
      </p:sp>
      <p:sp>
        <p:nvSpPr>
          <p:cNvPr id="19" name="Rectangle 18"/>
          <p:cNvSpPr/>
          <p:nvPr/>
        </p:nvSpPr>
        <p:spPr>
          <a:xfrm>
            <a:off x="8158276" y="3931920"/>
            <a:ext cx="3576218" cy="987552"/>
          </a:xfrm>
          <a:prstGeom prst="rect">
            <a:avLst/>
          </a:prstGeom>
          <a:solidFill>
            <a:srgbClr val="F2F2F2"/>
          </a:solidFill>
          <a:ln>
            <a:noFill/>
          </a:ln>
        </p:spPr>
        <p:txBody>
          <a:bodyPr rtlCol="0" anchor="ctr"/>
          <a:lstStyle/>
          <a:p>
            <a:pPr algn="ctr"/>
          </a:p>
        </p:txBody>
      </p:sp>
      <p:sp>
        <p:nvSpPr>
          <p:cNvPr id="20" name="Label num"/>
          <p:cNvSpPr txBox="1"/>
          <p:nvPr/>
        </p:nvSpPr>
        <p:spPr>
          <a:xfrm>
            <a:off x="8268004" y="4005072"/>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3</a:t>
            </a:r>
          </a:p>
        </p:txBody>
      </p:sp>
      <p:sp>
        <p:nvSpPr>
          <p:cNvPr id="21" name="TextBox 20"/>
          <p:cNvSpPr txBox="1"/>
          <p:nvPr/>
        </p:nvSpPr>
        <p:spPr>
          <a:xfrm>
            <a:off x="8661196" y="4023359"/>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Seasonality and spread</a:t>
            </a:r>
          </a:p>
        </p:txBody>
      </p:sp>
      <p:sp>
        <p:nvSpPr>
          <p:cNvPr id="22" name="TextBox 21"/>
          <p:cNvSpPr txBox="1"/>
          <p:nvPr/>
        </p:nvSpPr>
        <p:spPr>
          <a:xfrm>
            <a:off x="8661196" y="4297680"/>
            <a:ext cx="2981858" cy="59436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Conferences peak September to November; regional capacity sits idle.</a:t>
            </a:r>
          </a:p>
        </p:txBody>
      </p:sp>
      <p:sp>
        <p:nvSpPr>
          <p:cNvPr id="23" name="TextBox 22"/>
          <p:cNvSpPr txBox="1"/>
          <p:nvPr/>
        </p:nvSpPr>
        <p:spPr>
          <a:xfrm>
            <a:off x="8158276" y="5029200"/>
            <a:ext cx="3576218" cy="457200"/>
          </a:xfrm>
          <a:prstGeom prst="rect">
            <a:avLst/>
          </a:prstGeom>
          <a:noFill/>
        </p:spPr>
        <p:txBody>
          <a:bodyPr wrap="square" anchor="t" lIns="0" rIns="0" tIns="0" bIns="0">
            <a:spAutoFit/>
          </a:bodyPr>
          <a:lstStyle/>
          <a:p>
            <a:pPr algn="l">
              <a:spcAft>
                <a:spcPts val="400"/>
              </a:spcAft>
            </a:pPr>
            <a:r>
              <a:rPr sz="1200" b="1" i="0">
                <a:solidFill>
                  <a:srgbClr val="1F497D"/>
                </a:solidFill>
                <a:latin typeface="Arial"/>
              </a:rPr>
              <a:t>R32,900 </a:t>
            </a:r>
            <a:r>
              <a:rPr sz="950" b="0" i="0">
                <a:solidFill>
                  <a:srgbClr val="404040"/>
                </a:solidFill>
                <a:latin typeface="Arial"/>
              </a:rPr>
              <a:t>per US visit against R8,600 from Namibia.</a:t>
            </a:r>
          </a:p>
        </p:txBody>
      </p:sp>
      <p:sp>
        <p:nvSpPr>
          <p:cNvPr id="24" name="Rectangle 23"/>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25" name="TextBox 24"/>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Pursue yield, convert where travellers book and add seats before the ceiling binds.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Natural attractions score above 3 in every region, but accessibility falls from 4.7 in the Metro to 1.0 in the Central Karoo</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INFRASTRUCTURE REPORT, JUN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Infrastructure Report (Jun 2026) pp2, 29, 31-33, 36-40. Natural attractions row on p29, a page titled Transport &amp; Enabling Structures; category titles on pp27-29 appear swapped.</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411480" y="1371600"/>
          <a:ext cx="7472476" cy="2697480"/>
        </p:xfrm>
        <a:graphic>
          <a:graphicData uri="http://schemas.openxmlformats.org/drawingml/2006/chart">
            <c:chart xmlns:c="http://schemas.openxmlformats.org/drawingml/2006/chart" r:id="rId4"/>
          </a:graphicData>
        </a:graphic>
      </p:graphicFrame>
      <p:sp>
        <p:nvSpPr>
          <p:cNvPr id="9" name="TextBox 8"/>
          <p:cNvSpPr txBox="1"/>
          <p:nvPr/>
        </p:nvSpPr>
        <p:spPr>
          <a:xfrm>
            <a:off x="6883530" y="2227112"/>
            <a:ext cx="109728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Attractiveness</a:t>
            </a:r>
          </a:p>
        </p:txBody>
      </p:sp>
      <p:sp>
        <p:nvSpPr>
          <p:cNvPr id="10" name="TextBox 9"/>
          <p:cNvSpPr txBox="1"/>
          <p:nvPr/>
        </p:nvSpPr>
        <p:spPr>
          <a:xfrm>
            <a:off x="6883530" y="3152103"/>
            <a:ext cx="1097280" cy="27432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Accessibility</a:t>
            </a:r>
          </a:p>
        </p:txBody>
      </p:sp>
      <p:sp>
        <p:nvSpPr>
          <p:cNvPr id="11" name="TextBox 10"/>
          <p:cNvSpPr txBox="1"/>
          <p:nvPr/>
        </p:nvSpPr>
        <p:spPr>
          <a:xfrm>
            <a:off x="457200" y="4069080"/>
            <a:ext cx="747247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Natural attractions, scored 1 to 5, Cape Metro outwards.</a:t>
            </a:r>
          </a:p>
        </p:txBody>
      </p:sp>
      <p:sp>
        <p:nvSpPr>
          <p:cNvPr id="12" name="TextBox 11"/>
          <p:cNvSpPr txBox="1"/>
          <p:nvPr/>
        </p:nvSpPr>
        <p:spPr>
          <a:xfrm>
            <a:off x="457200" y="4407408"/>
            <a:ext cx="7472476"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SIX TOURING ROUTES: ONLY ONE SCORED FOR READINESS</a:t>
            </a:r>
          </a:p>
        </p:txBody>
      </p:sp>
      <p:cxnSp>
        <p:nvCxnSpPr>
          <p:cNvPr id="13" name="Label Connector 12"/>
          <p:cNvCxnSpPr/>
          <p:nvPr/>
        </p:nvCxnSpPr>
        <p:spPr>
          <a:xfrm>
            <a:off x="1079906" y="4937760"/>
            <a:ext cx="6227064" cy="0"/>
          </a:xfrm>
          <a:prstGeom prst="line">
            <a:avLst/>
          </a:prstGeom>
          <a:ln w="38100">
            <a:solidFill>
              <a:srgbClr val="D9D9D9"/>
            </a:solidFill>
          </a:ln>
        </p:spPr>
      </p:cxnSp>
      <p:sp>
        <p:nvSpPr>
          <p:cNvPr id="14" name="Label Oval 13"/>
          <p:cNvSpPr/>
          <p:nvPr/>
        </p:nvSpPr>
        <p:spPr>
          <a:xfrm>
            <a:off x="979322" y="4837176"/>
            <a:ext cx="201168" cy="201168"/>
          </a:xfrm>
          <a:prstGeom prst="ellipse">
            <a:avLst/>
          </a:prstGeom>
          <a:solidFill>
            <a:srgbClr val="FFFFFF"/>
          </a:solidFill>
          <a:ln w="19050">
            <a:solidFill>
              <a:srgbClr val="7F7F7F"/>
            </a:solidFill>
          </a:ln>
        </p:spPr>
        <p:txBody>
          <a:bodyPr rtlCol="0" anchor="ctr"/>
          <a:lstStyle/>
          <a:p>
            <a:pPr algn="ctr"/>
          </a:p>
        </p:txBody>
      </p:sp>
      <p:sp>
        <p:nvSpPr>
          <p:cNvPr id="15" name="Label TextBox 14"/>
          <p:cNvSpPr txBox="1"/>
          <p:nvPr/>
        </p:nvSpPr>
        <p:spPr>
          <a:xfrm>
            <a:off x="484632" y="5074920"/>
            <a:ext cx="1190548" cy="411480"/>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Cape Town and Peninsula</a:t>
            </a:r>
          </a:p>
        </p:txBody>
      </p:sp>
      <p:sp>
        <p:nvSpPr>
          <p:cNvPr id="16" name="Label Oval 15"/>
          <p:cNvSpPr/>
          <p:nvPr/>
        </p:nvSpPr>
        <p:spPr>
          <a:xfrm>
            <a:off x="2224735" y="4837176"/>
            <a:ext cx="201168" cy="201168"/>
          </a:xfrm>
          <a:prstGeom prst="ellipse">
            <a:avLst/>
          </a:prstGeom>
          <a:solidFill>
            <a:srgbClr val="1F497D"/>
          </a:solidFill>
          <a:ln w="19050">
            <a:solidFill>
              <a:srgbClr val="1F497D"/>
            </a:solidFill>
          </a:ln>
        </p:spPr>
        <p:txBody>
          <a:bodyPr rtlCol="0" anchor="ctr"/>
          <a:lstStyle/>
          <a:p>
            <a:pPr algn="ctr"/>
          </a:p>
        </p:txBody>
      </p:sp>
      <p:sp>
        <p:nvSpPr>
          <p:cNvPr id="17" name="Label TextBox 16"/>
          <p:cNvSpPr txBox="1"/>
          <p:nvPr/>
        </p:nvSpPr>
        <p:spPr>
          <a:xfrm>
            <a:off x="1730044" y="5074920"/>
            <a:ext cx="1190548" cy="411480"/>
          </a:xfrm>
          <a:prstGeom prst="rect">
            <a:avLst/>
          </a:prstGeom>
          <a:noFill/>
        </p:spPr>
        <p:txBody>
          <a:bodyPr wrap="square" anchor="t" lIns="0" rIns="0" tIns="0" bIns="0">
            <a:spAutoFit/>
          </a:bodyPr>
          <a:lstStyle/>
          <a:p>
            <a:pPr algn="ctr">
              <a:spcAft>
                <a:spcPts val="0"/>
              </a:spcAft>
            </a:pPr>
            <a:r>
              <a:rPr sz="900" b="1" i="0">
                <a:solidFill>
                  <a:srgbClr val="1F497D"/>
                </a:solidFill>
                <a:latin typeface="Arial"/>
              </a:rPr>
              <a:t>Winelands
Scored: Developing</a:t>
            </a:r>
          </a:p>
        </p:txBody>
      </p:sp>
      <p:sp>
        <p:nvSpPr>
          <p:cNvPr id="18" name="Label Oval 17"/>
          <p:cNvSpPr/>
          <p:nvPr/>
        </p:nvSpPr>
        <p:spPr>
          <a:xfrm>
            <a:off x="3470148" y="4837176"/>
            <a:ext cx="201168" cy="201168"/>
          </a:xfrm>
          <a:prstGeom prst="ellipse">
            <a:avLst/>
          </a:prstGeom>
          <a:solidFill>
            <a:srgbClr val="FFFFFF"/>
          </a:solidFill>
          <a:ln w="19050">
            <a:solidFill>
              <a:srgbClr val="7F7F7F"/>
            </a:solidFill>
          </a:ln>
        </p:spPr>
        <p:txBody>
          <a:bodyPr rtlCol="0" anchor="ctr"/>
          <a:lstStyle/>
          <a:p>
            <a:pPr algn="ctr"/>
          </a:p>
        </p:txBody>
      </p:sp>
      <p:sp>
        <p:nvSpPr>
          <p:cNvPr id="19" name="Label TextBox 18"/>
          <p:cNvSpPr txBox="1"/>
          <p:nvPr/>
        </p:nvSpPr>
        <p:spPr>
          <a:xfrm>
            <a:off x="2975457" y="5074920"/>
            <a:ext cx="1190548" cy="411480"/>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Garden Route and Klein Karoo</a:t>
            </a:r>
          </a:p>
        </p:txBody>
      </p:sp>
      <p:sp>
        <p:nvSpPr>
          <p:cNvPr id="20" name="Label Oval 19"/>
          <p:cNvSpPr/>
          <p:nvPr/>
        </p:nvSpPr>
        <p:spPr>
          <a:xfrm>
            <a:off x="4715560" y="4837176"/>
            <a:ext cx="201168" cy="201168"/>
          </a:xfrm>
          <a:prstGeom prst="ellipse">
            <a:avLst/>
          </a:prstGeom>
          <a:solidFill>
            <a:srgbClr val="FFFFFF"/>
          </a:solidFill>
          <a:ln w="19050">
            <a:solidFill>
              <a:srgbClr val="7F7F7F"/>
            </a:solidFill>
          </a:ln>
        </p:spPr>
        <p:txBody>
          <a:bodyPr rtlCol="0" anchor="ctr"/>
          <a:lstStyle/>
          <a:p>
            <a:pPr algn="ctr"/>
          </a:p>
        </p:txBody>
      </p:sp>
      <p:sp>
        <p:nvSpPr>
          <p:cNvPr id="21" name="Label TextBox 20"/>
          <p:cNvSpPr txBox="1"/>
          <p:nvPr/>
        </p:nvSpPr>
        <p:spPr>
          <a:xfrm>
            <a:off x="4220870" y="5074920"/>
            <a:ext cx="1190548" cy="411480"/>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Overberg Whale Coast</a:t>
            </a:r>
          </a:p>
        </p:txBody>
      </p:sp>
      <p:sp>
        <p:nvSpPr>
          <p:cNvPr id="22" name="Label Oval 21"/>
          <p:cNvSpPr/>
          <p:nvPr/>
        </p:nvSpPr>
        <p:spPr>
          <a:xfrm>
            <a:off x="5960973" y="4837176"/>
            <a:ext cx="201168" cy="201168"/>
          </a:xfrm>
          <a:prstGeom prst="ellipse">
            <a:avLst/>
          </a:prstGeom>
          <a:solidFill>
            <a:srgbClr val="FFFFFF"/>
          </a:solidFill>
          <a:ln w="19050">
            <a:solidFill>
              <a:srgbClr val="7F7F7F"/>
            </a:solidFill>
          </a:ln>
        </p:spPr>
        <p:txBody>
          <a:bodyPr rtlCol="0" anchor="ctr"/>
          <a:lstStyle/>
          <a:p>
            <a:pPr algn="ctr"/>
          </a:p>
        </p:txBody>
      </p:sp>
      <p:sp>
        <p:nvSpPr>
          <p:cNvPr id="23" name="Label TextBox 22"/>
          <p:cNvSpPr txBox="1"/>
          <p:nvPr/>
        </p:nvSpPr>
        <p:spPr>
          <a:xfrm>
            <a:off x="5466283" y="5074920"/>
            <a:ext cx="1190548" cy="411480"/>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West Coast and Cederberg</a:t>
            </a:r>
          </a:p>
        </p:txBody>
      </p:sp>
      <p:sp>
        <p:nvSpPr>
          <p:cNvPr id="24" name="Label Oval 23"/>
          <p:cNvSpPr/>
          <p:nvPr/>
        </p:nvSpPr>
        <p:spPr>
          <a:xfrm>
            <a:off x="7206386" y="4837176"/>
            <a:ext cx="201168" cy="201168"/>
          </a:xfrm>
          <a:prstGeom prst="ellipse">
            <a:avLst/>
          </a:prstGeom>
          <a:solidFill>
            <a:srgbClr val="FFFFFF"/>
          </a:solidFill>
          <a:ln w="19050">
            <a:solidFill>
              <a:srgbClr val="7F7F7F"/>
            </a:solidFill>
          </a:ln>
        </p:spPr>
        <p:txBody>
          <a:bodyPr rtlCol="0" anchor="ctr"/>
          <a:lstStyle/>
          <a:p>
            <a:pPr algn="ctr"/>
          </a:p>
        </p:txBody>
      </p:sp>
      <p:sp>
        <p:nvSpPr>
          <p:cNvPr id="25" name="Label TextBox 24"/>
          <p:cNvSpPr txBox="1"/>
          <p:nvPr/>
        </p:nvSpPr>
        <p:spPr>
          <a:xfrm>
            <a:off x="6711696" y="5074920"/>
            <a:ext cx="1190548" cy="411480"/>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Route 62 and Cape Karoo</a:t>
            </a:r>
          </a:p>
        </p:txBody>
      </p:sp>
      <p:sp>
        <p:nvSpPr>
          <p:cNvPr id="26" name="Rectangle 25"/>
          <p:cNvSpPr/>
          <p:nvPr/>
        </p:nvSpPr>
        <p:spPr>
          <a:xfrm>
            <a:off x="8158276" y="1417320"/>
            <a:ext cx="54864" cy="1051560"/>
          </a:xfrm>
          <a:prstGeom prst="rect">
            <a:avLst/>
          </a:prstGeom>
          <a:solidFill>
            <a:srgbClr val="00AEEF"/>
          </a:solidFill>
          <a:ln>
            <a:noFill/>
          </a:ln>
        </p:spPr>
        <p:txBody>
          <a:bodyPr rtlCol="0" anchor="ctr"/>
          <a:lstStyle/>
          <a:p>
            <a:pPr algn="ctr"/>
          </a:p>
        </p:txBody>
      </p:sp>
      <p:sp>
        <p:nvSpPr>
          <p:cNvPr id="27" name="TextBox 26"/>
          <p:cNvSpPr txBox="1"/>
          <p:nvPr/>
        </p:nvSpPr>
        <p:spPr>
          <a:xfrm>
            <a:off x="8341156" y="1417320"/>
            <a:ext cx="3393338" cy="109728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50,332</a:t>
            </a:r>
          </a:p>
          <a:p>
            <a:pPr algn="l">
              <a:spcAft>
                <a:spcPts val="0"/>
              </a:spcAft>
            </a:pPr>
            <a:r>
              <a:rPr sz="1000" b="0" i="0">
                <a:solidFill>
                  <a:srgbClr val="404040"/>
                </a:solidFill>
                <a:latin typeface="Arial"/>
              </a:rPr>
              <a:t>tourism assets mapped and scored across six regions</a:t>
            </a:r>
          </a:p>
        </p:txBody>
      </p:sp>
      <p:sp>
        <p:nvSpPr>
          <p:cNvPr id="28" name="Rectangle 27"/>
          <p:cNvSpPr/>
          <p:nvPr/>
        </p:nvSpPr>
        <p:spPr>
          <a:xfrm>
            <a:off x="8158276" y="2697480"/>
            <a:ext cx="54864" cy="1051560"/>
          </a:xfrm>
          <a:prstGeom prst="rect">
            <a:avLst/>
          </a:prstGeom>
          <a:solidFill>
            <a:srgbClr val="00AEEF"/>
          </a:solidFill>
          <a:ln>
            <a:noFill/>
          </a:ln>
        </p:spPr>
        <p:txBody>
          <a:bodyPr rtlCol="0" anchor="ctr"/>
          <a:lstStyle/>
          <a:p>
            <a:pPr algn="ctr"/>
          </a:p>
        </p:txBody>
      </p:sp>
      <p:sp>
        <p:nvSpPr>
          <p:cNvPr id="29" name="TextBox 28"/>
          <p:cNvSpPr txBox="1"/>
          <p:nvPr/>
        </p:nvSpPr>
        <p:spPr>
          <a:xfrm>
            <a:off x="8341156" y="2697480"/>
            <a:ext cx="3393338" cy="109728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No mid-scale</a:t>
            </a:r>
          </a:p>
          <a:p>
            <a:pPr algn="l">
              <a:spcAft>
                <a:spcPts val="0"/>
              </a:spcAft>
            </a:pPr>
            <a:r>
              <a:rPr sz="1000" b="0" i="0">
                <a:solidFill>
                  <a:srgbClr val="404040"/>
                </a:solidFill>
                <a:latin typeface="Arial"/>
              </a:rPr>
              <a:t>branded accommodation province-wide; most rural properties have no OTA presence</a:t>
            </a:r>
          </a:p>
        </p:txBody>
      </p:sp>
      <p:sp>
        <p:nvSpPr>
          <p:cNvPr id="30" name="Rectangle 29"/>
          <p:cNvSpPr/>
          <p:nvPr/>
        </p:nvSpPr>
        <p:spPr>
          <a:xfrm>
            <a:off x="8158276" y="3977639"/>
            <a:ext cx="54864" cy="1051560"/>
          </a:xfrm>
          <a:prstGeom prst="rect">
            <a:avLst/>
          </a:prstGeom>
          <a:solidFill>
            <a:srgbClr val="00AEEF"/>
          </a:solidFill>
          <a:ln>
            <a:noFill/>
          </a:ln>
        </p:spPr>
        <p:txBody>
          <a:bodyPr rtlCol="0" anchor="ctr"/>
          <a:lstStyle/>
          <a:p>
            <a:pPr algn="ctr"/>
          </a:p>
        </p:txBody>
      </p:sp>
      <p:sp>
        <p:nvSpPr>
          <p:cNvPr id="31" name="TextBox 30"/>
          <p:cNvSpPr txBox="1"/>
          <p:nvPr/>
        </p:nvSpPr>
        <p:spPr>
          <a:xfrm>
            <a:off x="8341156" y="3977639"/>
            <a:ext cx="3393338" cy="109728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No product</a:t>
            </a:r>
          </a:p>
          <a:p>
            <a:pPr algn="l">
              <a:spcAft>
                <a:spcPts val="0"/>
              </a:spcAft>
            </a:pPr>
            <a:r>
              <a:rPr sz="1000" b="0" i="0">
                <a:solidFill>
                  <a:srgbClr val="404040"/>
                </a:solidFill>
                <a:latin typeface="Arial"/>
              </a:rPr>
              <a:t>for Overberg and West Coast marine and wildflower assets: no tours, interpretation or booking</a:t>
            </a:r>
          </a:p>
        </p:txBody>
      </p:sp>
      <p:sp>
        <p:nvSpPr>
          <p:cNvPr id="32" name="Rectangle 31"/>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3" name="TextBox 32"/>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Activate before you build: make existing regional assets bookable and invest route by route.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Twenty communities hold 18.4% of residents but receive 0.02 to 0.04% of foreign spend, and most sit beside demand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SME AND COMMUNITY INCLUSION PLAN, SEP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SME and Community Inclusion Plan (Sep 2026) pp5, 12, 16, 23-24, 27. Bars drawn to scale: full width equals 20%.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TWENTY PRIORITY COMMUNITIES, TO SCALE</a:t>
            </a:r>
          </a:p>
        </p:txBody>
      </p:sp>
      <p:sp>
        <p:nvSpPr>
          <p:cNvPr id="9" name="Label TextBox 8"/>
          <p:cNvSpPr txBox="1"/>
          <p:nvPr/>
        </p:nvSpPr>
        <p:spPr>
          <a:xfrm>
            <a:off x="457200" y="1737360"/>
            <a:ext cx="2743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provincial residents</a:t>
            </a:r>
          </a:p>
        </p:txBody>
      </p:sp>
      <p:sp>
        <p:nvSpPr>
          <p:cNvPr id="10" name="Label Rectangle 9"/>
          <p:cNvSpPr/>
          <p:nvPr/>
        </p:nvSpPr>
        <p:spPr>
          <a:xfrm>
            <a:off x="457200" y="2029968"/>
            <a:ext cx="6521272" cy="457200"/>
          </a:xfrm>
          <a:prstGeom prst="rect">
            <a:avLst/>
          </a:prstGeom>
          <a:solidFill>
            <a:srgbClr val="F2F2F2"/>
          </a:solidFill>
          <a:ln>
            <a:noFill/>
          </a:ln>
        </p:spPr>
        <p:txBody>
          <a:bodyPr rtlCol="0" anchor="ctr"/>
          <a:lstStyle/>
          <a:p>
            <a:pPr algn="ctr"/>
          </a:p>
        </p:txBody>
      </p:sp>
      <p:sp>
        <p:nvSpPr>
          <p:cNvPr id="11" name="Label Rectangle 10"/>
          <p:cNvSpPr/>
          <p:nvPr/>
        </p:nvSpPr>
        <p:spPr>
          <a:xfrm>
            <a:off x="457200" y="2029968"/>
            <a:ext cx="5999570" cy="457200"/>
          </a:xfrm>
          <a:prstGeom prst="rect">
            <a:avLst/>
          </a:prstGeom>
          <a:solidFill>
            <a:srgbClr val="1F497D"/>
          </a:solidFill>
          <a:ln>
            <a:noFill/>
          </a:ln>
        </p:spPr>
        <p:txBody>
          <a:bodyPr rtlCol="0" anchor="ctr"/>
          <a:lstStyle/>
          <a:p>
            <a:pPr algn="ctr"/>
          </a:p>
        </p:txBody>
      </p:sp>
      <p:sp>
        <p:nvSpPr>
          <p:cNvPr id="12" name="Label TextBox 11"/>
          <p:cNvSpPr txBox="1"/>
          <p:nvPr/>
        </p:nvSpPr>
        <p:spPr>
          <a:xfrm>
            <a:off x="566928" y="2029968"/>
            <a:ext cx="1828800" cy="457200"/>
          </a:xfrm>
          <a:prstGeom prst="rect">
            <a:avLst/>
          </a:prstGeom>
          <a:noFill/>
        </p:spPr>
        <p:txBody>
          <a:bodyPr wrap="square" anchor="ctr" lIns="0" rIns="0" tIns="0" bIns="0">
            <a:spAutoFit/>
          </a:bodyPr>
          <a:lstStyle/>
          <a:p>
            <a:pPr algn="l">
              <a:spcAft>
                <a:spcPts val="0"/>
              </a:spcAft>
            </a:pPr>
            <a:r>
              <a:rPr sz="1600" b="1" i="0">
                <a:solidFill>
                  <a:srgbClr val="FFFFFF"/>
                </a:solidFill>
                <a:latin typeface="Arial"/>
              </a:rPr>
              <a:t>18.4%</a:t>
            </a:r>
          </a:p>
        </p:txBody>
      </p:sp>
      <p:sp>
        <p:nvSpPr>
          <p:cNvPr id="13" name="Label TextBox 12"/>
          <p:cNvSpPr txBox="1"/>
          <p:nvPr/>
        </p:nvSpPr>
        <p:spPr>
          <a:xfrm>
            <a:off x="457200" y="2651760"/>
            <a:ext cx="36576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foreign direct visitor spend</a:t>
            </a:r>
          </a:p>
        </p:txBody>
      </p:sp>
      <p:sp>
        <p:nvSpPr>
          <p:cNvPr id="14" name="Label Rectangle 13"/>
          <p:cNvSpPr/>
          <p:nvPr/>
        </p:nvSpPr>
        <p:spPr>
          <a:xfrm>
            <a:off x="457200" y="2944368"/>
            <a:ext cx="6521272" cy="457200"/>
          </a:xfrm>
          <a:prstGeom prst="rect">
            <a:avLst/>
          </a:prstGeom>
          <a:solidFill>
            <a:srgbClr val="F2F2F2"/>
          </a:solidFill>
          <a:ln>
            <a:noFill/>
          </a:ln>
        </p:spPr>
        <p:txBody>
          <a:bodyPr rtlCol="0" anchor="ctr"/>
          <a:lstStyle/>
          <a:p>
            <a:pPr algn="ctr"/>
          </a:p>
        </p:txBody>
      </p:sp>
      <p:sp>
        <p:nvSpPr>
          <p:cNvPr id="15" name="Label Rectangle 14"/>
          <p:cNvSpPr/>
          <p:nvPr/>
        </p:nvSpPr>
        <p:spPr>
          <a:xfrm>
            <a:off x="457200" y="2944368"/>
            <a:ext cx="22860" cy="457200"/>
          </a:xfrm>
          <a:prstGeom prst="rect">
            <a:avLst/>
          </a:prstGeom>
          <a:solidFill>
            <a:srgbClr val="00AEEF"/>
          </a:solidFill>
          <a:ln>
            <a:noFill/>
          </a:ln>
        </p:spPr>
        <p:txBody>
          <a:bodyPr rtlCol="0" anchor="ctr"/>
          <a:lstStyle/>
          <a:p>
            <a:pPr algn="ctr"/>
          </a:p>
        </p:txBody>
      </p:sp>
      <p:sp>
        <p:nvSpPr>
          <p:cNvPr id="16" name="Label TextBox 15"/>
          <p:cNvSpPr txBox="1"/>
          <p:nvPr/>
        </p:nvSpPr>
        <p:spPr>
          <a:xfrm>
            <a:off x="594360" y="2944368"/>
            <a:ext cx="4572000" cy="457200"/>
          </a:xfrm>
          <a:prstGeom prst="rect">
            <a:avLst/>
          </a:prstGeom>
          <a:noFill/>
        </p:spPr>
        <p:txBody>
          <a:bodyPr wrap="square" anchor="ctr" lIns="0" rIns="0" tIns="0" bIns="0">
            <a:spAutoFit/>
          </a:bodyPr>
          <a:lstStyle/>
          <a:p>
            <a:pPr algn="l">
              <a:spcAft>
                <a:spcPts val="0"/>
              </a:spcAft>
            </a:pPr>
            <a:r>
              <a:rPr sz="1600" b="1" i="0">
                <a:solidFill>
                  <a:srgbClr val="00AEEF"/>
                </a:solidFill>
                <a:latin typeface="Arial"/>
              </a:rPr>
              <a:t>0.02-0.04%</a:t>
            </a:r>
            <a:r>
              <a:rPr sz="1000" b="0" i="0">
                <a:solidFill>
                  <a:srgbClr val="404040"/>
                </a:solidFill>
                <a:latin typeface="Arial"/>
              </a:rPr>
              <a:t>   R4m to R10m a year</a:t>
            </a:r>
          </a:p>
        </p:txBody>
      </p:sp>
      <p:sp>
        <p:nvSpPr>
          <p:cNvPr id="17" name="Rectangle 16"/>
          <p:cNvSpPr/>
          <p:nvPr/>
        </p:nvSpPr>
        <p:spPr>
          <a:xfrm>
            <a:off x="457200" y="3611880"/>
            <a:ext cx="6521272" cy="685800"/>
          </a:xfrm>
          <a:prstGeom prst="rect">
            <a:avLst/>
          </a:prstGeom>
          <a:solidFill>
            <a:srgbClr val="DCEEF7"/>
          </a:solidFill>
          <a:ln>
            <a:noFill/>
          </a:ln>
        </p:spPr>
        <p:txBody>
          <a:bodyPr rtlCol="0" anchor="ctr"/>
          <a:lstStyle/>
          <a:p>
            <a:pPr algn="ctr"/>
          </a:p>
        </p:txBody>
      </p:sp>
      <p:sp>
        <p:nvSpPr>
          <p:cNvPr id="18" name="TextBox 17"/>
          <p:cNvSpPr txBox="1"/>
          <p:nvPr/>
        </p:nvSpPr>
        <p:spPr>
          <a:xfrm>
            <a:off x="594360" y="3611880"/>
            <a:ext cx="6246952" cy="685800"/>
          </a:xfrm>
          <a:prstGeom prst="rect">
            <a:avLst/>
          </a:prstGeom>
          <a:noFill/>
        </p:spPr>
        <p:txBody>
          <a:bodyPr wrap="square" anchor="ctr" lIns="0" rIns="0" tIns="0" bIns="0">
            <a:spAutoFit/>
          </a:bodyPr>
          <a:lstStyle/>
          <a:p>
            <a:pPr algn="l">
              <a:spcAft>
                <a:spcPts val="0"/>
              </a:spcAft>
            </a:pPr>
            <a:r>
              <a:rPr sz="1600" b="1" i="0">
                <a:solidFill>
                  <a:srgbClr val="1F497D"/>
                </a:solidFill>
                <a:latin typeface="Arial"/>
              </a:rPr>
              <a:t>R259m a year </a:t>
            </a:r>
            <a:r>
              <a:rPr sz="1000" b="0" i="0">
                <a:solidFill>
                  <a:srgbClr val="404040"/>
                </a:solidFill>
                <a:latin typeface="Arial"/>
              </a:rPr>
              <a:t>if they captured 1% of foreign direct spend; R547m at the 2035 ambition</a:t>
            </a:r>
          </a:p>
        </p:txBody>
      </p:sp>
      <p:sp>
        <p:nvSpPr>
          <p:cNvPr id="19" name="TextBox 18"/>
          <p:cNvSpPr txBox="1"/>
          <p:nvPr/>
        </p:nvSpPr>
        <p:spPr>
          <a:xfrm>
            <a:off x="457200"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11 of 20</a:t>
            </a:r>
          </a:p>
          <a:p>
            <a:pPr algn="l">
              <a:spcAft>
                <a:spcPts val="0"/>
              </a:spcAft>
            </a:pPr>
            <a:r>
              <a:rPr sz="950" b="0" i="0">
                <a:solidFill>
                  <a:srgbClr val="404040"/>
                </a:solidFill>
                <a:latin typeface="Arial"/>
              </a:rPr>
              <a:t>are held back by organisation; 9 by safety perception</a:t>
            </a:r>
          </a:p>
        </p:txBody>
      </p:sp>
      <p:sp>
        <p:nvSpPr>
          <p:cNvPr id="20" name="TextBox 19"/>
          <p:cNvSpPr txBox="1"/>
          <p:nvPr/>
        </p:nvSpPr>
        <p:spPr>
          <a:xfrm>
            <a:off x="2676677"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93 of 107</a:t>
            </a:r>
          </a:p>
          <a:p>
            <a:pPr algn="l">
              <a:spcAft>
                <a:spcPts val="0"/>
              </a:spcAft>
            </a:pPr>
            <a:r>
              <a:rPr sz="950" b="0" i="0">
                <a:solidFill>
                  <a:srgbClr val="404040"/>
                </a:solidFill>
                <a:latin typeface="Arial"/>
              </a:rPr>
              <a:t>communities sit within 45 minutes of a tourism node or corridor</a:t>
            </a:r>
          </a:p>
        </p:txBody>
      </p:sp>
      <p:sp>
        <p:nvSpPr>
          <p:cNvPr id="21" name="TextBox 20"/>
          <p:cNvSpPr txBox="1"/>
          <p:nvPr/>
        </p:nvSpPr>
        <p:spPr>
          <a:xfrm>
            <a:off x="4896154"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~R497m</a:t>
            </a:r>
          </a:p>
          <a:p>
            <a:pPr algn="l">
              <a:spcAft>
                <a:spcPts val="0"/>
              </a:spcAft>
            </a:pPr>
            <a:r>
              <a:rPr sz="950" b="0" i="0">
                <a:solidFill>
                  <a:srgbClr val="404040"/>
                </a:solidFill>
                <a:latin typeface="Arial"/>
              </a:rPr>
              <a:t>spent in Kliptown before any operator; ~4,000 visitors a year</a:t>
            </a:r>
          </a:p>
        </p:txBody>
      </p:sp>
      <p:sp>
        <p:nvSpPr>
          <p:cNvPr id="22" name="TextBox 21"/>
          <p:cNvSpPr txBox="1"/>
          <p:nvPr/>
        </p:nvSpPr>
        <p:spPr>
          <a:xfrm>
            <a:off x="8158276" y="1417320"/>
            <a:ext cx="357621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 ORDER THAT WORKED IN THE CASES</a:t>
            </a:r>
          </a:p>
        </p:txBody>
      </p:sp>
      <p:sp>
        <p:nvSpPr>
          <p:cNvPr id="23" name="Label Oval 22"/>
          <p:cNvSpPr/>
          <p:nvPr/>
        </p:nvSpPr>
        <p:spPr>
          <a:xfrm>
            <a:off x="8158276" y="1783080"/>
            <a:ext cx="566928" cy="566928"/>
          </a:xfrm>
          <a:prstGeom prst="ellipse">
            <a:avLst/>
          </a:prstGeom>
          <a:solidFill>
            <a:srgbClr val="00AEEF"/>
          </a:solidFill>
          <a:ln>
            <a:noFill/>
          </a:ln>
        </p:spPr>
        <p:txBody>
          <a:bodyPr rtlCol="0" anchor="ctr" wrap="square" lIns="0" rIns="0" tIns="0" bIns="0"/>
          <a:lstStyle/>
          <a:p>
            <a:pPr algn="ctr">
              <a:spcAft>
                <a:spcPts val="0"/>
              </a:spcAft>
            </a:pPr>
            <a:r>
              <a:rPr sz="1800" b="1" i="0">
                <a:solidFill>
                  <a:srgbClr val="FFFFFF"/>
                </a:solidFill>
                <a:latin typeface="Arial"/>
              </a:rPr>
              <a:t>1</a:t>
            </a:r>
          </a:p>
        </p:txBody>
      </p:sp>
      <p:sp>
        <p:nvSpPr>
          <p:cNvPr id="24" name="Label TextBox 23"/>
          <p:cNvSpPr txBox="1"/>
          <p:nvPr/>
        </p:nvSpPr>
        <p:spPr>
          <a:xfrm>
            <a:off x="8889796" y="1783080"/>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A seller with a stake</a:t>
            </a:r>
          </a:p>
        </p:txBody>
      </p:sp>
      <p:cxnSp>
        <p:nvCxnSpPr>
          <p:cNvPr id="25" name="Label Connector 24"/>
          <p:cNvCxnSpPr/>
          <p:nvPr/>
        </p:nvCxnSpPr>
        <p:spPr>
          <a:xfrm>
            <a:off x="8441740" y="2368296"/>
            <a:ext cx="0" cy="329184"/>
          </a:xfrm>
          <a:prstGeom prst="line">
            <a:avLst/>
          </a:prstGeom>
          <a:ln w="15875">
            <a:solidFill>
              <a:srgbClr val="7F7F7F"/>
            </a:solidFill>
            <a:tailEnd type="triangle" w="med" len="med"/>
          </a:ln>
        </p:spPr>
      </p:cxnSp>
      <p:sp>
        <p:nvSpPr>
          <p:cNvPr id="26" name="Label Oval 25"/>
          <p:cNvSpPr/>
          <p:nvPr/>
        </p:nvSpPr>
        <p:spPr>
          <a:xfrm>
            <a:off x="8158276" y="2715768"/>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2</a:t>
            </a:r>
          </a:p>
        </p:txBody>
      </p:sp>
      <p:sp>
        <p:nvSpPr>
          <p:cNvPr id="27" name="Label TextBox 26"/>
          <p:cNvSpPr txBox="1"/>
          <p:nvPr/>
        </p:nvSpPr>
        <p:spPr>
          <a:xfrm>
            <a:off x="8889796" y="2715768"/>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A safe, workable visit</a:t>
            </a:r>
          </a:p>
        </p:txBody>
      </p:sp>
      <p:cxnSp>
        <p:nvCxnSpPr>
          <p:cNvPr id="28" name="Label Connector 27"/>
          <p:cNvCxnSpPr/>
          <p:nvPr/>
        </p:nvCxnSpPr>
        <p:spPr>
          <a:xfrm>
            <a:off x="8441740" y="3300984"/>
            <a:ext cx="0" cy="329184"/>
          </a:xfrm>
          <a:prstGeom prst="line">
            <a:avLst/>
          </a:prstGeom>
          <a:ln w="15875">
            <a:solidFill>
              <a:srgbClr val="7F7F7F"/>
            </a:solidFill>
            <a:tailEnd type="triangle" w="med" len="med"/>
          </a:ln>
        </p:spPr>
      </p:cxnSp>
      <p:sp>
        <p:nvSpPr>
          <p:cNvPr id="29" name="Label Oval 28"/>
          <p:cNvSpPr/>
          <p:nvPr/>
        </p:nvSpPr>
        <p:spPr>
          <a:xfrm>
            <a:off x="8158276" y="3648456"/>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3</a:t>
            </a:r>
          </a:p>
        </p:txBody>
      </p:sp>
      <p:sp>
        <p:nvSpPr>
          <p:cNvPr id="30" name="Label TextBox 29"/>
          <p:cNvSpPr txBox="1"/>
          <p:nvPr/>
        </p:nvSpPr>
        <p:spPr>
          <a:xfrm>
            <a:off x="8889796" y="3648456"/>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Product that keeps spend local</a:t>
            </a:r>
          </a:p>
        </p:txBody>
      </p:sp>
      <p:cxnSp>
        <p:nvCxnSpPr>
          <p:cNvPr id="31" name="Label Connector 30"/>
          <p:cNvCxnSpPr/>
          <p:nvPr/>
        </p:nvCxnSpPr>
        <p:spPr>
          <a:xfrm>
            <a:off x="8441740" y="4233672"/>
            <a:ext cx="0" cy="329184"/>
          </a:xfrm>
          <a:prstGeom prst="line">
            <a:avLst/>
          </a:prstGeom>
          <a:ln w="15875">
            <a:solidFill>
              <a:srgbClr val="7F7F7F"/>
            </a:solidFill>
            <a:tailEnd type="triangle" w="med" len="med"/>
          </a:ln>
        </p:spPr>
      </p:cxnSp>
      <p:sp>
        <p:nvSpPr>
          <p:cNvPr id="32" name="Label Oval 31"/>
          <p:cNvSpPr/>
          <p:nvPr/>
        </p:nvSpPr>
        <p:spPr>
          <a:xfrm>
            <a:off x="8158276" y="4581144"/>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4</a:t>
            </a:r>
          </a:p>
        </p:txBody>
      </p:sp>
      <p:sp>
        <p:nvSpPr>
          <p:cNvPr id="33" name="Label TextBox 32"/>
          <p:cNvSpPr txBox="1"/>
          <p:nvPr/>
        </p:nvSpPr>
        <p:spPr>
          <a:xfrm>
            <a:off x="8889796" y="4581144"/>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Then exposure</a:t>
            </a:r>
          </a:p>
        </p:txBody>
      </p:sp>
      <p:sp>
        <p:nvSpPr>
          <p:cNvPr id="34" name="Rectangle 33"/>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5" name="TextBox 34"/>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Fund a seller with a stake and pilot two or three communities before any capital.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In July the team recast the tree around one claim: growth is supply-constrained and needs capacity and coordination</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04 | THE TREE, REVISED AND TESTED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Hypothesis Tree DRAFT v4 (Jul 2026), reproduced with the team’s markers; comparison with Current State Diagnostic v2 (Dec 2025) p64</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2171700" y="1325880"/>
            <a:ext cx="5486400" cy="457200"/>
          </a:xfrm>
          <a:prstGeom prst="rect">
            <a:avLst/>
          </a:prstGeom>
          <a:solidFill>
            <a:srgbClr val="1F497D"/>
          </a:solidFill>
          <a:ln>
            <a:noFill/>
          </a:ln>
        </p:spPr>
        <p:txBody>
          <a:bodyPr rtlCol="0" anchor="ctr" wrap="square" lIns="36576" rIns="36576" tIns="21945" bIns="21945"/>
          <a:lstStyle/>
          <a:p>
            <a:pPr algn="ctr">
              <a:spcAft>
                <a:spcPts val="0"/>
              </a:spcAft>
            </a:pPr>
            <a:r>
              <a:rPr sz="1100" b="1" i="0">
                <a:solidFill>
                  <a:srgbClr val="FFFFFF"/>
                </a:solidFill>
                <a:latin typeface="Arial"/>
              </a:rPr>
              <a:t>Unlocking International Tourism Growth</a:t>
            </a:r>
          </a:p>
          <a:p>
            <a:pPr algn="ctr">
              <a:spcAft>
                <a:spcPts val="0"/>
              </a:spcAft>
            </a:pPr>
            <a:r>
              <a:rPr sz="850" b="0" i="0">
                <a:solidFill>
                  <a:srgbClr val="FFFFFF"/>
                </a:solidFill>
                <a:latin typeface="Arial"/>
              </a:rPr>
              <a:t>2.8m international visitors and 300,000 tourism jobs by 2035</a:t>
            </a:r>
          </a:p>
        </p:txBody>
      </p:sp>
      <p:cxnSp>
        <p:nvCxnSpPr>
          <p:cNvPr id="9" name="Label Connector 8"/>
          <p:cNvCxnSpPr/>
          <p:nvPr/>
        </p:nvCxnSpPr>
        <p:spPr>
          <a:xfrm>
            <a:off x="1906524" y="1856231"/>
            <a:ext cx="6016752" cy="0"/>
          </a:xfrm>
          <a:prstGeom prst="line">
            <a:avLst/>
          </a:prstGeom>
          <a:ln w="9525">
            <a:solidFill>
              <a:srgbClr val="7F7F7F"/>
            </a:solidFill>
          </a:ln>
        </p:spPr>
      </p:cxnSp>
      <p:cxnSp>
        <p:nvCxnSpPr>
          <p:cNvPr id="10" name="Label Connector 9"/>
          <p:cNvCxnSpPr/>
          <p:nvPr/>
        </p:nvCxnSpPr>
        <p:spPr>
          <a:xfrm>
            <a:off x="1906524" y="1783080"/>
            <a:ext cx="0" cy="146304"/>
          </a:xfrm>
          <a:prstGeom prst="line">
            <a:avLst/>
          </a:prstGeom>
          <a:ln w="9525">
            <a:solidFill>
              <a:srgbClr val="7F7F7F"/>
            </a:solidFill>
          </a:ln>
        </p:spPr>
      </p:cxnSp>
      <p:sp>
        <p:nvSpPr>
          <p:cNvPr id="11" name="Label Rectangle 10"/>
          <p:cNvSpPr/>
          <p:nvPr/>
        </p:nvSpPr>
        <p:spPr>
          <a:xfrm>
            <a:off x="457200" y="1929384"/>
            <a:ext cx="2898648"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RESHAPE DEMAND</a:t>
            </a:r>
          </a:p>
          <a:p>
            <a:pPr algn="ctr">
              <a:spcAft>
                <a:spcPts val="0"/>
              </a:spcAft>
            </a:pPr>
            <a:r>
              <a:rPr sz="800" b="0" i="0">
                <a:solidFill>
                  <a:srgbClr val="FFFFFF"/>
                </a:solidFill>
                <a:latin typeface="Arial"/>
              </a:rPr>
              <a:t>Convert proven demand by targeting high-value segments in priority markets and flattening the seasonal curve.</a:t>
            </a:r>
          </a:p>
        </p:txBody>
      </p:sp>
      <p:cxnSp>
        <p:nvCxnSpPr>
          <p:cNvPr id="12" name="Label Connector 11"/>
          <p:cNvCxnSpPr/>
          <p:nvPr/>
        </p:nvCxnSpPr>
        <p:spPr>
          <a:xfrm>
            <a:off x="4914900" y="1783080"/>
            <a:ext cx="0" cy="146304"/>
          </a:xfrm>
          <a:prstGeom prst="line">
            <a:avLst/>
          </a:prstGeom>
          <a:ln w="9525">
            <a:solidFill>
              <a:srgbClr val="7F7F7F"/>
            </a:solidFill>
          </a:ln>
        </p:spPr>
      </p:cxnSp>
      <p:sp>
        <p:nvSpPr>
          <p:cNvPr id="13" name="Label Rectangle 12"/>
          <p:cNvSpPr/>
          <p:nvPr/>
        </p:nvSpPr>
        <p:spPr>
          <a:xfrm>
            <a:off x="3465576" y="1929384"/>
            <a:ext cx="2898648"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TRANSFORM SUPPLY</a:t>
            </a:r>
          </a:p>
          <a:p>
            <a:pPr algn="ctr">
              <a:spcAft>
                <a:spcPts val="0"/>
              </a:spcAft>
            </a:pPr>
            <a:r>
              <a:rPr sz="800" b="0" i="0">
                <a:solidFill>
                  <a:srgbClr val="FFFFFF"/>
                </a:solidFill>
                <a:latin typeface="Arial"/>
              </a:rPr>
              <a:t>Remove the mobility, infrastructure and product constraints that cap the destination’s capacity to convert demand.</a:t>
            </a:r>
          </a:p>
        </p:txBody>
      </p:sp>
      <p:cxnSp>
        <p:nvCxnSpPr>
          <p:cNvPr id="14" name="Label Connector 13"/>
          <p:cNvCxnSpPr/>
          <p:nvPr/>
        </p:nvCxnSpPr>
        <p:spPr>
          <a:xfrm>
            <a:off x="7923276" y="1783080"/>
            <a:ext cx="0" cy="146304"/>
          </a:xfrm>
          <a:prstGeom prst="line">
            <a:avLst/>
          </a:prstGeom>
          <a:ln w="9525">
            <a:solidFill>
              <a:srgbClr val="7F7F7F"/>
            </a:solidFill>
          </a:ln>
        </p:spPr>
      </p:cxnSp>
      <p:sp>
        <p:nvSpPr>
          <p:cNvPr id="15" name="Label Rectangle 14"/>
          <p:cNvSpPr/>
          <p:nvPr/>
        </p:nvSpPr>
        <p:spPr>
          <a:xfrm>
            <a:off x="6473952" y="1929384"/>
            <a:ext cx="2898648"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BUILD ENABLING CAPABILITY</a:t>
            </a:r>
          </a:p>
          <a:p>
            <a:pPr algn="ctr">
              <a:spcAft>
                <a:spcPts val="0"/>
              </a:spcAft>
            </a:pPr>
            <a:r>
              <a:rPr sz="800" b="0" i="0">
                <a:solidFill>
                  <a:srgbClr val="FFFFFF"/>
                </a:solidFill>
                <a:latin typeface="Arial"/>
              </a:rPr>
              <a:t>Coordinate institutions, investment and communities so growth is governed, financed and shared.</a:t>
            </a:r>
          </a:p>
        </p:txBody>
      </p:sp>
      <p:cxnSp>
        <p:nvCxnSpPr>
          <p:cNvPr id="16" name="Label Connector 15"/>
          <p:cNvCxnSpPr/>
          <p:nvPr/>
        </p:nvCxnSpPr>
        <p:spPr>
          <a:xfrm>
            <a:off x="1154430" y="2587752"/>
            <a:ext cx="0" cy="109728"/>
          </a:xfrm>
          <a:prstGeom prst="line">
            <a:avLst/>
          </a:prstGeom>
          <a:ln w="9525">
            <a:solidFill>
              <a:srgbClr val="7F7F7F"/>
            </a:solidFill>
          </a:ln>
        </p:spPr>
      </p:cxnSp>
      <p:sp>
        <p:nvSpPr>
          <p:cNvPr id="17" name="Label Rectangle 16"/>
          <p:cNvSpPr/>
          <p:nvPr/>
        </p:nvSpPr>
        <p:spPr>
          <a:xfrm>
            <a:off x="457200"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Traveller, Brand and Proposition</a:t>
            </a:r>
          </a:p>
        </p:txBody>
      </p:sp>
      <p:sp>
        <p:nvSpPr>
          <p:cNvPr id="18" name="Label Rectangle 17"/>
          <p:cNvSpPr/>
          <p:nvPr/>
        </p:nvSpPr>
        <p:spPr>
          <a:xfrm>
            <a:off x="457200" y="3209544"/>
            <a:ext cx="1394460" cy="475488"/>
          </a:xfrm>
          <a:prstGeom prst="rect">
            <a:avLst/>
          </a:prstGeom>
          <a:solidFill>
            <a:srgbClr val="FFFFFF"/>
          </a:solidFill>
          <a:ln w="9525">
            <a:solidFill>
              <a:srgbClr val="7F7F7F"/>
            </a:solidFill>
          </a:ln>
        </p:spPr>
        <p:txBody>
          <a:bodyPr rtlCol="0" anchor="ctr"/>
          <a:lstStyle/>
          <a:p>
            <a:pPr algn="ctr"/>
          </a:p>
        </p:txBody>
      </p:sp>
      <p:sp>
        <p:nvSpPr>
          <p:cNvPr id="19" name="Label TextBox 18"/>
          <p:cNvSpPr txBox="1"/>
          <p:nvPr/>
        </p:nvSpPr>
        <p:spPr>
          <a:xfrm>
            <a:off x="484632"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Target the Four Priority High-Value Traveller Segments</a:t>
            </a:r>
          </a:p>
        </p:txBody>
      </p:sp>
      <p:sp>
        <p:nvSpPr>
          <p:cNvPr id="20" name="Label Oval 19"/>
          <p:cNvSpPr/>
          <p:nvPr/>
        </p:nvSpPr>
        <p:spPr>
          <a:xfrm>
            <a:off x="1705356" y="3255264"/>
            <a:ext cx="91440" cy="91440"/>
          </a:xfrm>
          <a:prstGeom prst="ellipse">
            <a:avLst/>
          </a:prstGeom>
          <a:solidFill>
            <a:srgbClr val="E97132"/>
          </a:solidFill>
          <a:ln>
            <a:noFill/>
          </a:ln>
        </p:spPr>
        <p:txBody>
          <a:bodyPr rtlCol="0" anchor="ctr"/>
          <a:lstStyle/>
          <a:p>
            <a:pPr algn="ctr"/>
          </a:p>
        </p:txBody>
      </p:sp>
      <p:sp>
        <p:nvSpPr>
          <p:cNvPr id="21" name="Label Rectangle 20"/>
          <p:cNvSpPr/>
          <p:nvPr/>
        </p:nvSpPr>
        <p:spPr>
          <a:xfrm>
            <a:off x="457200" y="3739896"/>
            <a:ext cx="1394460" cy="475488"/>
          </a:xfrm>
          <a:prstGeom prst="rect">
            <a:avLst/>
          </a:prstGeom>
          <a:solidFill>
            <a:srgbClr val="FFFFFF"/>
          </a:solidFill>
          <a:ln w="9525">
            <a:solidFill>
              <a:srgbClr val="7F7F7F"/>
            </a:solidFill>
          </a:ln>
        </p:spPr>
        <p:txBody>
          <a:bodyPr rtlCol="0" anchor="ctr"/>
          <a:lstStyle/>
          <a:p>
            <a:pPr algn="ctr"/>
          </a:p>
        </p:txBody>
      </p:sp>
      <p:sp>
        <p:nvSpPr>
          <p:cNvPr id="22" name="Label TextBox 21"/>
          <p:cNvSpPr txBox="1"/>
          <p:nvPr/>
        </p:nvSpPr>
        <p:spPr>
          <a:xfrm>
            <a:off x="484632"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Extend Cape Town’s Brand Equity to the Province</a:t>
            </a:r>
          </a:p>
        </p:txBody>
      </p:sp>
      <p:sp>
        <p:nvSpPr>
          <p:cNvPr id="23" name="Label Oval 22"/>
          <p:cNvSpPr/>
          <p:nvPr/>
        </p:nvSpPr>
        <p:spPr>
          <a:xfrm>
            <a:off x="1705356" y="3785615"/>
            <a:ext cx="91440" cy="91440"/>
          </a:xfrm>
          <a:prstGeom prst="ellipse">
            <a:avLst/>
          </a:prstGeom>
          <a:solidFill>
            <a:srgbClr val="196B24"/>
          </a:solidFill>
          <a:ln>
            <a:noFill/>
          </a:ln>
        </p:spPr>
        <p:txBody>
          <a:bodyPr rtlCol="0" anchor="ctr"/>
          <a:lstStyle/>
          <a:p>
            <a:pPr algn="ctr"/>
          </a:p>
        </p:txBody>
      </p:sp>
      <p:sp>
        <p:nvSpPr>
          <p:cNvPr id="24" name="Label Rectangle 23"/>
          <p:cNvSpPr/>
          <p:nvPr/>
        </p:nvSpPr>
        <p:spPr>
          <a:xfrm>
            <a:off x="457200" y="4270248"/>
            <a:ext cx="1394460" cy="475488"/>
          </a:xfrm>
          <a:prstGeom prst="rect">
            <a:avLst/>
          </a:prstGeom>
          <a:solidFill>
            <a:srgbClr val="FFFFFF"/>
          </a:solidFill>
          <a:ln w="9525">
            <a:solidFill>
              <a:srgbClr val="7F7F7F"/>
            </a:solidFill>
          </a:ln>
        </p:spPr>
        <p:txBody>
          <a:bodyPr rtlCol="0" anchor="ctr"/>
          <a:lstStyle/>
          <a:p>
            <a:pPr algn="ctr"/>
          </a:p>
        </p:txBody>
      </p:sp>
      <p:sp>
        <p:nvSpPr>
          <p:cNvPr id="25" name="Label TextBox 24"/>
          <p:cNvSpPr txBox="1"/>
          <p:nvPr/>
        </p:nvSpPr>
        <p:spPr>
          <a:xfrm>
            <a:off x="484632"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Flatten Seasonality with MICE and Regional Spread</a:t>
            </a:r>
          </a:p>
        </p:txBody>
      </p:sp>
      <p:sp>
        <p:nvSpPr>
          <p:cNvPr id="26" name="Label Oval 25"/>
          <p:cNvSpPr/>
          <p:nvPr/>
        </p:nvSpPr>
        <p:spPr>
          <a:xfrm>
            <a:off x="1705356" y="4315968"/>
            <a:ext cx="91440" cy="91440"/>
          </a:xfrm>
          <a:prstGeom prst="ellipse">
            <a:avLst/>
          </a:prstGeom>
          <a:solidFill>
            <a:srgbClr val="E97132"/>
          </a:solidFill>
          <a:ln>
            <a:noFill/>
          </a:ln>
        </p:spPr>
        <p:txBody>
          <a:bodyPr rtlCol="0" anchor="ctr"/>
          <a:lstStyle/>
          <a:p>
            <a:pPr algn="ctr"/>
          </a:p>
        </p:txBody>
      </p:sp>
      <p:sp>
        <p:nvSpPr>
          <p:cNvPr id="27" name="Label Rectangle 26"/>
          <p:cNvSpPr/>
          <p:nvPr/>
        </p:nvSpPr>
        <p:spPr>
          <a:xfrm>
            <a:off x="457200" y="4800600"/>
            <a:ext cx="1394460" cy="475488"/>
          </a:xfrm>
          <a:prstGeom prst="rect">
            <a:avLst/>
          </a:prstGeom>
          <a:solidFill>
            <a:srgbClr val="FFFFFF"/>
          </a:solidFill>
          <a:ln w="9525">
            <a:solidFill>
              <a:srgbClr val="7F7F7F"/>
            </a:solidFill>
          </a:ln>
        </p:spPr>
        <p:txBody>
          <a:bodyPr rtlCol="0" anchor="ctr"/>
          <a:lstStyle/>
          <a:p>
            <a:pPr algn="ctr"/>
          </a:p>
        </p:txBody>
      </p:sp>
      <p:sp>
        <p:nvSpPr>
          <p:cNvPr id="28" name="Label TextBox 27"/>
          <p:cNvSpPr txBox="1"/>
          <p:nvPr/>
        </p:nvSpPr>
        <p:spPr>
          <a:xfrm>
            <a:off x="484632" y="4800600"/>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Embed the Destination in Market-Native Booking Platforms</a:t>
            </a:r>
          </a:p>
        </p:txBody>
      </p:sp>
      <p:sp>
        <p:nvSpPr>
          <p:cNvPr id="29" name="Label Oval 28"/>
          <p:cNvSpPr/>
          <p:nvPr/>
        </p:nvSpPr>
        <p:spPr>
          <a:xfrm>
            <a:off x="1705356" y="4846320"/>
            <a:ext cx="91440" cy="91440"/>
          </a:xfrm>
          <a:prstGeom prst="ellipse">
            <a:avLst/>
          </a:prstGeom>
          <a:solidFill>
            <a:srgbClr val="E97132"/>
          </a:solidFill>
          <a:ln>
            <a:noFill/>
          </a:ln>
        </p:spPr>
        <p:txBody>
          <a:bodyPr rtlCol="0" anchor="ctr"/>
          <a:lstStyle/>
          <a:p>
            <a:pPr algn="ctr"/>
          </a:p>
        </p:txBody>
      </p:sp>
      <p:cxnSp>
        <p:nvCxnSpPr>
          <p:cNvPr id="30" name="Label Connector 29"/>
          <p:cNvCxnSpPr/>
          <p:nvPr/>
        </p:nvCxnSpPr>
        <p:spPr>
          <a:xfrm>
            <a:off x="2658618" y="2587752"/>
            <a:ext cx="0" cy="109728"/>
          </a:xfrm>
          <a:prstGeom prst="line">
            <a:avLst/>
          </a:prstGeom>
          <a:ln w="9525">
            <a:solidFill>
              <a:srgbClr val="7F7F7F"/>
            </a:solidFill>
          </a:ln>
        </p:spPr>
      </p:cxnSp>
      <p:sp>
        <p:nvSpPr>
          <p:cNvPr id="31" name="Label Rectangle 30"/>
          <p:cNvSpPr/>
          <p:nvPr/>
        </p:nvSpPr>
        <p:spPr>
          <a:xfrm>
            <a:off x="1961388"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Source Market Growth and Diversification</a:t>
            </a:r>
          </a:p>
        </p:txBody>
      </p:sp>
      <p:sp>
        <p:nvSpPr>
          <p:cNvPr id="32" name="Label Rectangle 31"/>
          <p:cNvSpPr/>
          <p:nvPr/>
        </p:nvSpPr>
        <p:spPr>
          <a:xfrm>
            <a:off x="1961388" y="3209544"/>
            <a:ext cx="1394460" cy="475488"/>
          </a:xfrm>
          <a:prstGeom prst="rect">
            <a:avLst/>
          </a:prstGeom>
          <a:solidFill>
            <a:srgbClr val="FFFFFF"/>
          </a:solidFill>
          <a:ln w="9525">
            <a:solidFill>
              <a:srgbClr val="7F7F7F"/>
            </a:solidFill>
          </a:ln>
        </p:spPr>
        <p:txBody>
          <a:bodyPr rtlCol="0" anchor="ctr"/>
          <a:lstStyle/>
          <a:p>
            <a:pPr algn="ctr"/>
          </a:p>
        </p:txBody>
      </p:sp>
      <p:sp>
        <p:nvSpPr>
          <p:cNvPr id="33" name="Label TextBox 32"/>
          <p:cNvSpPr txBox="1"/>
          <p:nvPr/>
        </p:nvSpPr>
        <p:spPr>
          <a:xfrm>
            <a:off x="1988819"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Grow Priority Markets (India, China, Gulf, ASEAN)</a:t>
            </a:r>
          </a:p>
        </p:txBody>
      </p:sp>
      <p:sp>
        <p:nvSpPr>
          <p:cNvPr id="34" name="Label Oval 33"/>
          <p:cNvSpPr/>
          <p:nvPr/>
        </p:nvSpPr>
        <p:spPr>
          <a:xfrm>
            <a:off x="3209544" y="3255264"/>
            <a:ext cx="91440" cy="91440"/>
          </a:xfrm>
          <a:prstGeom prst="ellipse">
            <a:avLst/>
          </a:prstGeom>
          <a:solidFill>
            <a:srgbClr val="E97132"/>
          </a:solidFill>
          <a:ln>
            <a:noFill/>
          </a:ln>
        </p:spPr>
        <p:txBody>
          <a:bodyPr rtlCol="0" anchor="ctr"/>
          <a:lstStyle/>
          <a:p>
            <a:pPr algn="ctr"/>
          </a:p>
        </p:txBody>
      </p:sp>
      <p:sp>
        <p:nvSpPr>
          <p:cNvPr id="35" name="Label Rectangle 34"/>
          <p:cNvSpPr/>
          <p:nvPr/>
        </p:nvSpPr>
        <p:spPr>
          <a:xfrm>
            <a:off x="1961388" y="3739896"/>
            <a:ext cx="1394460" cy="475488"/>
          </a:xfrm>
          <a:prstGeom prst="rect">
            <a:avLst/>
          </a:prstGeom>
          <a:solidFill>
            <a:srgbClr val="FFFFFF"/>
          </a:solidFill>
          <a:ln w="9525">
            <a:solidFill>
              <a:srgbClr val="7F7F7F"/>
            </a:solidFill>
          </a:ln>
        </p:spPr>
        <p:txBody>
          <a:bodyPr rtlCol="0" anchor="ctr"/>
          <a:lstStyle/>
          <a:p>
            <a:pPr algn="ctr"/>
          </a:p>
        </p:txBody>
      </p:sp>
      <p:sp>
        <p:nvSpPr>
          <p:cNvPr id="36" name="Label TextBox 35"/>
          <p:cNvSpPr txBox="1"/>
          <p:nvPr/>
        </p:nvSpPr>
        <p:spPr>
          <a:xfrm>
            <a:off x="1988819"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Increase Yield in Mature Markets (UK, Europe, N. America)</a:t>
            </a:r>
          </a:p>
        </p:txBody>
      </p:sp>
      <p:sp>
        <p:nvSpPr>
          <p:cNvPr id="37" name="Label Oval 36"/>
          <p:cNvSpPr/>
          <p:nvPr/>
        </p:nvSpPr>
        <p:spPr>
          <a:xfrm>
            <a:off x="3209544" y="3785615"/>
            <a:ext cx="91440" cy="91440"/>
          </a:xfrm>
          <a:prstGeom prst="ellipse">
            <a:avLst/>
          </a:prstGeom>
          <a:solidFill>
            <a:srgbClr val="156082"/>
          </a:solidFill>
          <a:ln>
            <a:noFill/>
          </a:ln>
        </p:spPr>
        <p:txBody>
          <a:bodyPr rtlCol="0" anchor="ctr"/>
          <a:lstStyle/>
          <a:p>
            <a:pPr algn="ctr"/>
          </a:p>
        </p:txBody>
      </p:sp>
      <p:sp>
        <p:nvSpPr>
          <p:cNvPr id="38" name="Label Rectangle 37"/>
          <p:cNvSpPr/>
          <p:nvPr/>
        </p:nvSpPr>
        <p:spPr>
          <a:xfrm>
            <a:off x="1961388" y="4270248"/>
            <a:ext cx="1394460" cy="475488"/>
          </a:xfrm>
          <a:prstGeom prst="rect">
            <a:avLst/>
          </a:prstGeom>
          <a:solidFill>
            <a:srgbClr val="FFFFFF"/>
          </a:solidFill>
          <a:ln w="9525">
            <a:solidFill>
              <a:srgbClr val="7F7F7F"/>
            </a:solidFill>
          </a:ln>
        </p:spPr>
        <p:txBody>
          <a:bodyPr rtlCol="0" anchor="ctr"/>
          <a:lstStyle/>
          <a:p>
            <a:pPr algn="ctr"/>
          </a:p>
        </p:txBody>
      </p:sp>
      <p:sp>
        <p:nvSpPr>
          <p:cNvPr id="39" name="Label TextBox 38"/>
          <p:cNvSpPr txBox="1"/>
          <p:nvPr/>
        </p:nvSpPr>
        <p:spPr>
          <a:xfrm>
            <a:off x="1988819"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Grow Regional Top-Up and Counter-Seasonal Demand (Africa)</a:t>
            </a:r>
          </a:p>
        </p:txBody>
      </p:sp>
      <p:sp>
        <p:nvSpPr>
          <p:cNvPr id="40" name="Label Oval 39"/>
          <p:cNvSpPr/>
          <p:nvPr/>
        </p:nvSpPr>
        <p:spPr>
          <a:xfrm>
            <a:off x="3209544" y="4315968"/>
            <a:ext cx="91440" cy="91440"/>
          </a:xfrm>
          <a:prstGeom prst="ellipse">
            <a:avLst/>
          </a:prstGeom>
          <a:solidFill>
            <a:srgbClr val="E97132"/>
          </a:solidFill>
          <a:ln>
            <a:noFill/>
          </a:ln>
        </p:spPr>
        <p:txBody>
          <a:bodyPr rtlCol="0" anchor="ctr"/>
          <a:lstStyle/>
          <a:p>
            <a:pPr algn="ctr"/>
          </a:p>
        </p:txBody>
      </p:sp>
      <p:cxnSp>
        <p:nvCxnSpPr>
          <p:cNvPr id="41" name="Label Connector 40"/>
          <p:cNvCxnSpPr/>
          <p:nvPr/>
        </p:nvCxnSpPr>
        <p:spPr>
          <a:xfrm>
            <a:off x="4162806" y="2587752"/>
            <a:ext cx="0" cy="109728"/>
          </a:xfrm>
          <a:prstGeom prst="line">
            <a:avLst/>
          </a:prstGeom>
          <a:ln w="9525">
            <a:solidFill>
              <a:srgbClr val="7F7F7F"/>
            </a:solidFill>
          </a:ln>
        </p:spPr>
      </p:cxnSp>
      <p:sp>
        <p:nvSpPr>
          <p:cNvPr id="42" name="Label Rectangle 41"/>
          <p:cNvSpPr/>
          <p:nvPr/>
        </p:nvSpPr>
        <p:spPr>
          <a:xfrm>
            <a:off x="3465576"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Accessibility, Connectivity and Infrastructure</a:t>
            </a:r>
          </a:p>
        </p:txBody>
      </p:sp>
      <p:sp>
        <p:nvSpPr>
          <p:cNvPr id="43" name="Label Rectangle 42"/>
          <p:cNvSpPr/>
          <p:nvPr/>
        </p:nvSpPr>
        <p:spPr>
          <a:xfrm>
            <a:off x="3465576" y="3209544"/>
            <a:ext cx="1394460" cy="475488"/>
          </a:xfrm>
          <a:prstGeom prst="rect">
            <a:avLst/>
          </a:prstGeom>
          <a:solidFill>
            <a:srgbClr val="FFFFFF"/>
          </a:solidFill>
          <a:ln w="9525">
            <a:solidFill>
              <a:srgbClr val="7F7F7F"/>
            </a:solidFill>
          </a:ln>
        </p:spPr>
        <p:txBody>
          <a:bodyPr rtlCol="0" anchor="ctr"/>
          <a:lstStyle/>
          <a:p>
            <a:pPr algn="ctr"/>
          </a:p>
        </p:txBody>
      </p:sp>
      <p:sp>
        <p:nvSpPr>
          <p:cNvPr id="44" name="Label TextBox 43"/>
          <p:cNvSpPr txBox="1"/>
          <p:nvPr/>
        </p:nvSpPr>
        <p:spPr>
          <a:xfrm>
            <a:off x="3493008"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Close the Air Access and Cruise Capacity Gaps</a:t>
            </a:r>
          </a:p>
        </p:txBody>
      </p:sp>
      <p:sp>
        <p:nvSpPr>
          <p:cNvPr id="45" name="Label Oval 44"/>
          <p:cNvSpPr/>
          <p:nvPr/>
        </p:nvSpPr>
        <p:spPr>
          <a:xfrm>
            <a:off x="4713732" y="3255264"/>
            <a:ext cx="91440" cy="91440"/>
          </a:xfrm>
          <a:prstGeom prst="ellipse">
            <a:avLst/>
          </a:prstGeom>
          <a:solidFill>
            <a:srgbClr val="156082"/>
          </a:solidFill>
          <a:ln>
            <a:noFill/>
          </a:ln>
        </p:spPr>
        <p:txBody>
          <a:bodyPr rtlCol="0" anchor="ctr"/>
          <a:lstStyle/>
          <a:p>
            <a:pPr algn="ctr"/>
          </a:p>
        </p:txBody>
      </p:sp>
      <p:sp>
        <p:nvSpPr>
          <p:cNvPr id="46" name="Label Rectangle 45"/>
          <p:cNvSpPr/>
          <p:nvPr/>
        </p:nvSpPr>
        <p:spPr>
          <a:xfrm>
            <a:off x="3465576" y="3739896"/>
            <a:ext cx="1394460" cy="475488"/>
          </a:xfrm>
          <a:prstGeom prst="rect">
            <a:avLst/>
          </a:prstGeom>
          <a:solidFill>
            <a:srgbClr val="FFFFFF"/>
          </a:solidFill>
          <a:ln w="9525">
            <a:solidFill>
              <a:srgbClr val="7F7F7F"/>
            </a:solidFill>
          </a:ln>
        </p:spPr>
        <p:txBody>
          <a:bodyPr rtlCol="0" anchor="ctr"/>
          <a:lstStyle/>
          <a:p>
            <a:pPr algn="ctr"/>
          </a:p>
        </p:txBody>
      </p:sp>
      <p:sp>
        <p:nvSpPr>
          <p:cNvPr id="47" name="Label TextBox 46"/>
          <p:cNvSpPr txBox="1"/>
          <p:nvPr/>
        </p:nvSpPr>
        <p:spPr>
          <a:xfrm>
            <a:off x="3493008"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Accelerate Tourism-Enabling Internal Mobility</a:t>
            </a:r>
          </a:p>
        </p:txBody>
      </p:sp>
      <p:sp>
        <p:nvSpPr>
          <p:cNvPr id="48" name="Label Oval 47"/>
          <p:cNvSpPr/>
          <p:nvPr/>
        </p:nvSpPr>
        <p:spPr>
          <a:xfrm>
            <a:off x="4713732" y="3785615"/>
            <a:ext cx="91440" cy="91440"/>
          </a:xfrm>
          <a:prstGeom prst="ellipse">
            <a:avLst/>
          </a:prstGeom>
          <a:solidFill>
            <a:srgbClr val="156082"/>
          </a:solidFill>
          <a:ln>
            <a:noFill/>
          </a:ln>
        </p:spPr>
        <p:txBody>
          <a:bodyPr rtlCol="0" anchor="ctr"/>
          <a:lstStyle/>
          <a:p>
            <a:pPr algn="ctr"/>
          </a:p>
        </p:txBody>
      </p:sp>
      <p:sp>
        <p:nvSpPr>
          <p:cNvPr id="49" name="Label Rectangle 48"/>
          <p:cNvSpPr/>
          <p:nvPr/>
        </p:nvSpPr>
        <p:spPr>
          <a:xfrm>
            <a:off x="3465576" y="4270248"/>
            <a:ext cx="1394460" cy="475488"/>
          </a:xfrm>
          <a:prstGeom prst="rect">
            <a:avLst/>
          </a:prstGeom>
          <a:solidFill>
            <a:srgbClr val="FFFFFF"/>
          </a:solidFill>
          <a:ln w="9525">
            <a:solidFill>
              <a:srgbClr val="7F7F7F"/>
            </a:solidFill>
          </a:ln>
        </p:spPr>
        <p:txBody>
          <a:bodyPr rtlCol="0" anchor="ctr"/>
          <a:lstStyle/>
          <a:p>
            <a:pPr algn="ctr"/>
          </a:p>
        </p:txBody>
      </p:sp>
      <p:sp>
        <p:nvSpPr>
          <p:cNvPr id="50" name="Label TextBox 49"/>
          <p:cNvSpPr txBox="1"/>
          <p:nvPr/>
        </p:nvSpPr>
        <p:spPr>
          <a:xfrm>
            <a:off x="3493008"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Lead Removal of Infrastructure, Visa and Safety Deficits</a:t>
            </a:r>
          </a:p>
        </p:txBody>
      </p:sp>
      <p:sp>
        <p:nvSpPr>
          <p:cNvPr id="51" name="Label Oval 50"/>
          <p:cNvSpPr/>
          <p:nvPr/>
        </p:nvSpPr>
        <p:spPr>
          <a:xfrm>
            <a:off x="4713732" y="4315968"/>
            <a:ext cx="91440" cy="91440"/>
          </a:xfrm>
          <a:prstGeom prst="ellipse">
            <a:avLst/>
          </a:prstGeom>
          <a:solidFill>
            <a:srgbClr val="156082"/>
          </a:solidFill>
          <a:ln>
            <a:noFill/>
          </a:ln>
        </p:spPr>
        <p:txBody>
          <a:bodyPr rtlCol="0" anchor="ctr"/>
          <a:lstStyle/>
          <a:p>
            <a:pPr algn="ctr"/>
          </a:p>
        </p:txBody>
      </p:sp>
      <p:cxnSp>
        <p:nvCxnSpPr>
          <p:cNvPr id="52" name="Label Connector 51"/>
          <p:cNvCxnSpPr/>
          <p:nvPr/>
        </p:nvCxnSpPr>
        <p:spPr>
          <a:xfrm>
            <a:off x="5666994" y="2587752"/>
            <a:ext cx="0" cy="109728"/>
          </a:xfrm>
          <a:prstGeom prst="line">
            <a:avLst/>
          </a:prstGeom>
          <a:ln w="9525">
            <a:solidFill>
              <a:srgbClr val="7F7F7F"/>
            </a:solidFill>
          </a:ln>
        </p:spPr>
      </p:cxnSp>
      <p:sp>
        <p:nvSpPr>
          <p:cNvPr id="53" name="Label Rectangle 52"/>
          <p:cNvSpPr/>
          <p:nvPr/>
        </p:nvSpPr>
        <p:spPr>
          <a:xfrm>
            <a:off x="4969764"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Product and Destination Capacity</a:t>
            </a:r>
          </a:p>
        </p:txBody>
      </p:sp>
      <p:sp>
        <p:nvSpPr>
          <p:cNvPr id="54" name="Label Rectangle 53"/>
          <p:cNvSpPr/>
          <p:nvPr/>
        </p:nvSpPr>
        <p:spPr>
          <a:xfrm>
            <a:off x="4969764" y="3209544"/>
            <a:ext cx="1394460" cy="475488"/>
          </a:xfrm>
          <a:prstGeom prst="rect">
            <a:avLst/>
          </a:prstGeom>
          <a:solidFill>
            <a:srgbClr val="FFFFFF"/>
          </a:solidFill>
          <a:ln w="9525">
            <a:solidFill>
              <a:srgbClr val="7F7F7F"/>
            </a:solidFill>
          </a:ln>
        </p:spPr>
        <p:txBody>
          <a:bodyPr rtlCol="0" anchor="ctr"/>
          <a:lstStyle/>
          <a:p>
            <a:pPr algn="ctr"/>
          </a:p>
        </p:txBody>
      </p:sp>
      <p:sp>
        <p:nvSpPr>
          <p:cNvPr id="55" name="Label TextBox 54"/>
          <p:cNvSpPr txBox="1"/>
          <p:nvPr/>
        </p:nvSpPr>
        <p:spPr>
          <a:xfrm>
            <a:off x="4997196"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Support Diversified Route and Product Development</a:t>
            </a:r>
          </a:p>
        </p:txBody>
      </p:sp>
      <p:sp>
        <p:nvSpPr>
          <p:cNvPr id="56" name="Label Oval 55"/>
          <p:cNvSpPr/>
          <p:nvPr/>
        </p:nvSpPr>
        <p:spPr>
          <a:xfrm>
            <a:off x="6217920" y="3255264"/>
            <a:ext cx="91440" cy="91440"/>
          </a:xfrm>
          <a:prstGeom prst="ellipse">
            <a:avLst/>
          </a:prstGeom>
          <a:solidFill>
            <a:srgbClr val="156082"/>
          </a:solidFill>
          <a:ln>
            <a:noFill/>
          </a:ln>
        </p:spPr>
        <p:txBody>
          <a:bodyPr rtlCol="0" anchor="ctr"/>
          <a:lstStyle/>
          <a:p>
            <a:pPr algn="ctr"/>
          </a:p>
        </p:txBody>
      </p:sp>
      <p:sp>
        <p:nvSpPr>
          <p:cNvPr id="57" name="Label Rectangle 56"/>
          <p:cNvSpPr/>
          <p:nvPr/>
        </p:nvSpPr>
        <p:spPr>
          <a:xfrm>
            <a:off x="4969764" y="3739896"/>
            <a:ext cx="1394460" cy="475488"/>
          </a:xfrm>
          <a:prstGeom prst="rect">
            <a:avLst/>
          </a:prstGeom>
          <a:solidFill>
            <a:srgbClr val="FFFFFF"/>
          </a:solidFill>
          <a:ln w="9525">
            <a:solidFill>
              <a:srgbClr val="7F7F7F"/>
            </a:solidFill>
          </a:ln>
        </p:spPr>
        <p:txBody>
          <a:bodyPr rtlCol="0" anchor="ctr"/>
          <a:lstStyle/>
          <a:p>
            <a:pPr algn="ctr"/>
          </a:p>
        </p:txBody>
      </p:sp>
      <p:sp>
        <p:nvSpPr>
          <p:cNvPr id="58" name="Label TextBox 57"/>
          <p:cNvSpPr txBox="1"/>
          <p:nvPr/>
        </p:nvSpPr>
        <p:spPr>
          <a:xfrm>
            <a:off x="4997196"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Align Visitor Experience In-Destination</a:t>
            </a:r>
          </a:p>
        </p:txBody>
      </p:sp>
      <p:sp>
        <p:nvSpPr>
          <p:cNvPr id="59" name="Label Oval 58"/>
          <p:cNvSpPr/>
          <p:nvPr/>
        </p:nvSpPr>
        <p:spPr>
          <a:xfrm>
            <a:off x="6217920" y="3785615"/>
            <a:ext cx="91440" cy="91440"/>
          </a:xfrm>
          <a:prstGeom prst="ellipse">
            <a:avLst/>
          </a:prstGeom>
          <a:solidFill>
            <a:srgbClr val="156082"/>
          </a:solidFill>
          <a:ln>
            <a:noFill/>
          </a:ln>
        </p:spPr>
        <p:txBody>
          <a:bodyPr rtlCol="0" anchor="ctr"/>
          <a:lstStyle/>
          <a:p>
            <a:pPr algn="ctr"/>
          </a:p>
        </p:txBody>
      </p:sp>
      <p:sp>
        <p:nvSpPr>
          <p:cNvPr id="60" name="Label Rectangle 59"/>
          <p:cNvSpPr/>
          <p:nvPr/>
        </p:nvSpPr>
        <p:spPr>
          <a:xfrm>
            <a:off x="4969764" y="4270248"/>
            <a:ext cx="1394460" cy="475488"/>
          </a:xfrm>
          <a:prstGeom prst="rect">
            <a:avLst/>
          </a:prstGeom>
          <a:solidFill>
            <a:srgbClr val="FFFFFF"/>
          </a:solidFill>
          <a:ln w="9525">
            <a:solidFill>
              <a:srgbClr val="7F7F7F"/>
            </a:solidFill>
          </a:ln>
        </p:spPr>
        <p:txBody>
          <a:bodyPr rtlCol="0" anchor="ctr"/>
          <a:lstStyle/>
          <a:p>
            <a:pPr algn="ctr"/>
          </a:p>
        </p:txBody>
      </p:sp>
      <p:sp>
        <p:nvSpPr>
          <p:cNvPr id="61" name="Label TextBox 60"/>
          <p:cNvSpPr txBox="1"/>
          <p:nvPr/>
        </p:nvSpPr>
        <p:spPr>
          <a:xfrm>
            <a:off x="4997196"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Sustainably Maximise Nature-Based and Cultural Attractions</a:t>
            </a:r>
          </a:p>
        </p:txBody>
      </p:sp>
      <p:sp>
        <p:nvSpPr>
          <p:cNvPr id="62" name="Label Oval 61"/>
          <p:cNvSpPr/>
          <p:nvPr/>
        </p:nvSpPr>
        <p:spPr>
          <a:xfrm>
            <a:off x="6217920" y="4315968"/>
            <a:ext cx="91440" cy="91440"/>
          </a:xfrm>
          <a:prstGeom prst="ellipse">
            <a:avLst/>
          </a:prstGeom>
          <a:solidFill>
            <a:srgbClr val="156082"/>
          </a:solidFill>
          <a:ln>
            <a:noFill/>
          </a:ln>
        </p:spPr>
        <p:txBody>
          <a:bodyPr rtlCol="0" anchor="ctr"/>
          <a:lstStyle/>
          <a:p>
            <a:pPr algn="ctr"/>
          </a:p>
        </p:txBody>
      </p:sp>
      <p:cxnSp>
        <p:nvCxnSpPr>
          <p:cNvPr id="63" name="Label Connector 62"/>
          <p:cNvCxnSpPr/>
          <p:nvPr/>
        </p:nvCxnSpPr>
        <p:spPr>
          <a:xfrm>
            <a:off x="7171182" y="2587752"/>
            <a:ext cx="0" cy="109728"/>
          </a:xfrm>
          <a:prstGeom prst="line">
            <a:avLst/>
          </a:prstGeom>
          <a:ln w="9525">
            <a:solidFill>
              <a:srgbClr val="7F7F7F"/>
            </a:solidFill>
          </a:ln>
        </p:spPr>
      </p:cxnSp>
      <p:sp>
        <p:nvSpPr>
          <p:cNvPr id="64" name="Label Rectangle 63"/>
          <p:cNvSpPr/>
          <p:nvPr/>
        </p:nvSpPr>
        <p:spPr>
          <a:xfrm>
            <a:off x="6473952"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Inclusion and Sustainability</a:t>
            </a:r>
          </a:p>
        </p:txBody>
      </p:sp>
      <p:sp>
        <p:nvSpPr>
          <p:cNvPr id="65" name="Label Rectangle 64"/>
          <p:cNvSpPr/>
          <p:nvPr/>
        </p:nvSpPr>
        <p:spPr>
          <a:xfrm>
            <a:off x="6473952" y="3209544"/>
            <a:ext cx="1394460" cy="475488"/>
          </a:xfrm>
          <a:prstGeom prst="rect">
            <a:avLst/>
          </a:prstGeom>
          <a:solidFill>
            <a:srgbClr val="FFFFFF"/>
          </a:solidFill>
          <a:ln w="9525">
            <a:solidFill>
              <a:srgbClr val="7F7F7F"/>
            </a:solidFill>
          </a:ln>
        </p:spPr>
        <p:txBody>
          <a:bodyPr rtlCol="0" anchor="ctr"/>
          <a:lstStyle/>
          <a:p>
            <a:pPr algn="ctr"/>
          </a:p>
        </p:txBody>
      </p:sp>
      <p:sp>
        <p:nvSpPr>
          <p:cNvPr id="66" name="Label TextBox 65"/>
          <p:cNvSpPr txBox="1"/>
          <p:nvPr/>
        </p:nvSpPr>
        <p:spPr>
          <a:xfrm>
            <a:off x="6501384"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Include MSMEs and Communities in Tourism Value Chains</a:t>
            </a:r>
          </a:p>
        </p:txBody>
      </p:sp>
      <p:sp>
        <p:nvSpPr>
          <p:cNvPr id="67" name="Label Oval 66"/>
          <p:cNvSpPr/>
          <p:nvPr/>
        </p:nvSpPr>
        <p:spPr>
          <a:xfrm>
            <a:off x="7722108" y="3255264"/>
            <a:ext cx="91440" cy="91440"/>
          </a:xfrm>
          <a:prstGeom prst="ellipse">
            <a:avLst/>
          </a:prstGeom>
          <a:solidFill>
            <a:srgbClr val="E97132"/>
          </a:solidFill>
          <a:ln>
            <a:noFill/>
          </a:ln>
        </p:spPr>
        <p:txBody>
          <a:bodyPr rtlCol="0" anchor="ctr"/>
          <a:lstStyle/>
          <a:p>
            <a:pPr algn="ctr"/>
          </a:p>
        </p:txBody>
      </p:sp>
      <p:sp>
        <p:nvSpPr>
          <p:cNvPr id="68" name="Label Rectangle 67"/>
          <p:cNvSpPr/>
          <p:nvPr/>
        </p:nvSpPr>
        <p:spPr>
          <a:xfrm>
            <a:off x="6473952" y="3739896"/>
            <a:ext cx="1394460" cy="475488"/>
          </a:xfrm>
          <a:prstGeom prst="rect">
            <a:avLst/>
          </a:prstGeom>
          <a:solidFill>
            <a:srgbClr val="FFFFFF"/>
          </a:solidFill>
          <a:ln w="9525">
            <a:solidFill>
              <a:srgbClr val="7F7F7F"/>
            </a:solidFill>
          </a:ln>
        </p:spPr>
        <p:txBody>
          <a:bodyPr rtlCol="0" anchor="ctr"/>
          <a:lstStyle/>
          <a:p>
            <a:pPr algn="ctr"/>
          </a:p>
        </p:txBody>
      </p:sp>
      <p:sp>
        <p:nvSpPr>
          <p:cNvPr id="69" name="Label TextBox 68"/>
          <p:cNvSpPr txBox="1"/>
          <p:nvPr/>
        </p:nvSpPr>
        <p:spPr>
          <a:xfrm>
            <a:off x="6501384"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Develop the Tourism Workforce and Service Skills</a:t>
            </a:r>
          </a:p>
        </p:txBody>
      </p:sp>
      <p:sp>
        <p:nvSpPr>
          <p:cNvPr id="70" name="Label Oval 69"/>
          <p:cNvSpPr/>
          <p:nvPr/>
        </p:nvSpPr>
        <p:spPr>
          <a:xfrm>
            <a:off x="7722108" y="3785615"/>
            <a:ext cx="91440" cy="91440"/>
          </a:xfrm>
          <a:prstGeom prst="ellipse">
            <a:avLst/>
          </a:prstGeom>
          <a:solidFill>
            <a:srgbClr val="E97132"/>
          </a:solidFill>
          <a:ln>
            <a:noFill/>
          </a:ln>
        </p:spPr>
        <p:txBody>
          <a:bodyPr rtlCol="0" anchor="ctr"/>
          <a:lstStyle/>
          <a:p>
            <a:pPr algn="ctr"/>
          </a:p>
        </p:txBody>
      </p:sp>
      <p:sp>
        <p:nvSpPr>
          <p:cNvPr id="71" name="Label Rectangle 70"/>
          <p:cNvSpPr/>
          <p:nvPr/>
        </p:nvSpPr>
        <p:spPr>
          <a:xfrm>
            <a:off x="6473952" y="4270248"/>
            <a:ext cx="1394460" cy="475488"/>
          </a:xfrm>
          <a:prstGeom prst="rect">
            <a:avLst/>
          </a:prstGeom>
          <a:solidFill>
            <a:srgbClr val="FFFFFF"/>
          </a:solidFill>
          <a:ln w="9525">
            <a:solidFill>
              <a:srgbClr val="7F7F7F"/>
            </a:solidFill>
          </a:ln>
        </p:spPr>
        <p:txBody>
          <a:bodyPr rtlCol="0" anchor="ctr"/>
          <a:lstStyle/>
          <a:p>
            <a:pPr algn="ctr"/>
          </a:p>
        </p:txBody>
      </p:sp>
      <p:sp>
        <p:nvSpPr>
          <p:cNvPr id="72" name="Label TextBox 71"/>
          <p:cNvSpPr txBox="1"/>
          <p:nvPr/>
        </p:nvSpPr>
        <p:spPr>
          <a:xfrm>
            <a:off x="6501384"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Ensure Sustainable and Resilient Destination Management</a:t>
            </a:r>
          </a:p>
        </p:txBody>
      </p:sp>
      <p:sp>
        <p:nvSpPr>
          <p:cNvPr id="73" name="Label Oval 72"/>
          <p:cNvSpPr/>
          <p:nvPr/>
        </p:nvSpPr>
        <p:spPr>
          <a:xfrm>
            <a:off x="7722108" y="4315968"/>
            <a:ext cx="91440" cy="91440"/>
          </a:xfrm>
          <a:prstGeom prst="ellipse">
            <a:avLst/>
          </a:prstGeom>
          <a:solidFill>
            <a:srgbClr val="196B24"/>
          </a:solidFill>
          <a:ln>
            <a:noFill/>
          </a:ln>
        </p:spPr>
        <p:txBody>
          <a:bodyPr rtlCol="0" anchor="ctr"/>
          <a:lstStyle/>
          <a:p>
            <a:pPr algn="ctr"/>
          </a:p>
        </p:txBody>
      </p:sp>
      <p:cxnSp>
        <p:nvCxnSpPr>
          <p:cNvPr id="74" name="Label Connector 73"/>
          <p:cNvCxnSpPr/>
          <p:nvPr/>
        </p:nvCxnSpPr>
        <p:spPr>
          <a:xfrm>
            <a:off x="8675369" y="2587752"/>
            <a:ext cx="0" cy="109728"/>
          </a:xfrm>
          <a:prstGeom prst="line">
            <a:avLst/>
          </a:prstGeom>
          <a:ln w="9525">
            <a:solidFill>
              <a:srgbClr val="7F7F7F"/>
            </a:solidFill>
          </a:ln>
        </p:spPr>
      </p:cxnSp>
      <p:sp>
        <p:nvSpPr>
          <p:cNvPr id="75" name="Label Rectangle 74"/>
          <p:cNvSpPr/>
          <p:nvPr/>
        </p:nvSpPr>
        <p:spPr>
          <a:xfrm>
            <a:off x="7978140" y="2697480"/>
            <a:ext cx="1394460" cy="438912"/>
          </a:xfrm>
          <a:prstGeom prst="rect">
            <a:avLst/>
          </a:prstGeom>
          <a:solidFill>
            <a:srgbClr val="C9E8F6"/>
          </a:solidFill>
          <a:ln>
            <a:noFill/>
          </a:ln>
        </p:spPr>
        <p:txBody>
          <a:bodyPr rtlCol="0" anchor="ctr" wrap="square" lIns="36576" rIns="36576" tIns="21945" bIns="21945"/>
          <a:lstStyle/>
          <a:p>
            <a:pPr algn="ctr">
              <a:spcAft>
                <a:spcPts val="0"/>
              </a:spcAft>
            </a:pPr>
            <a:r>
              <a:rPr sz="850" b="1" i="0">
                <a:solidFill>
                  <a:srgbClr val="1F497D"/>
                </a:solidFill>
                <a:latin typeface="Arial"/>
              </a:rPr>
              <a:t>Governance, Leadership and Investment</a:t>
            </a:r>
          </a:p>
        </p:txBody>
      </p:sp>
      <p:sp>
        <p:nvSpPr>
          <p:cNvPr id="76" name="Label Rectangle 75"/>
          <p:cNvSpPr/>
          <p:nvPr/>
        </p:nvSpPr>
        <p:spPr>
          <a:xfrm>
            <a:off x="7978140" y="3209544"/>
            <a:ext cx="1394460" cy="475488"/>
          </a:xfrm>
          <a:prstGeom prst="rect">
            <a:avLst/>
          </a:prstGeom>
          <a:solidFill>
            <a:srgbClr val="FFFFFF"/>
          </a:solidFill>
          <a:ln w="9525">
            <a:solidFill>
              <a:srgbClr val="7F7F7F"/>
            </a:solidFill>
          </a:ln>
        </p:spPr>
        <p:txBody>
          <a:bodyPr rtlCol="0" anchor="ctr"/>
          <a:lstStyle/>
          <a:p>
            <a:pPr algn="ctr"/>
          </a:p>
        </p:txBody>
      </p:sp>
      <p:sp>
        <p:nvSpPr>
          <p:cNvPr id="77" name="Label TextBox 76"/>
          <p:cNvSpPr txBox="1"/>
          <p:nvPr/>
        </p:nvSpPr>
        <p:spPr>
          <a:xfrm>
            <a:off x="8005571" y="3209544"/>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Review Institutional Arrangements (local, provincial and national)</a:t>
            </a:r>
          </a:p>
        </p:txBody>
      </p:sp>
      <p:sp>
        <p:nvSpPr>
          <p:cNvPr id="78" name="Label Oval 77"/>
          <p:cNvSpPr/>
          <p:nvPr/>
        </p:nvSpPr>
        <p:spPr>
          <a:xfrm>
            <a:off x="9226296" y="3255264"/>
            <a:ext cx="91440" cy="91440"/>
          </a:xfrm>
          <a:prstGeom prst="ellipse">
            <a:avLst/>
          </a:prstGeom>
          <a:solidFill>
            <a:srgbClr val="156082"/>
          </a:solidFill>
          <a:ln>
            <a:noFill/>
          </a:ln>
        </p:spPr>
        <p:txBody>
          <a:bodyPr rtlCol="0" anchor="ctr"/>
          <a:lstStyle/>
          <a:p>
            <a:pPr algn="ctr"/>
          </a:p>
        </p:txBody>
      </p:sp>
      <p:sp>
        <p:nvSpPr>
          <p:cNvPr id="79" name="Label Rectangle 78"/>
          <p:cNvSpPr/>
          <p:nvPr/>
        </p:nvSpPr>
        <p:spPr>
          <a:xfrm>
            <a:off x="7978140" y="3739896"/>
            <a:ext cx="1394460" cy="475488"/>
          </a:xfrm>
          <a:prstGeom prst="rect">
            <a:avLst/>
          </a:prstGeom>
          <a:solidFill>
            <a:srgbClr val="FFFFFF"/>
          </a:solidFill>
          <a:ln w="9525">
            <a:solidFill>
              <a:srgbClr val="7F7F7F"/>
            </a:solidFill>
          </a:ln>
        </p:spPr>
        <p:txBody>
          <a:bodyPr rtlCol="0" anchor="ctr"/>
          <a:lstStyle/>
          <a:p>
            <a:pPr algn="ctr"/>
          </a:p>
        </p:txBody>
      </p:sp>
      <p:sp>
        <p:nvSpPr>
          <p:cNvPr id="80" name="Label TextBox 79"/>
          <p:cNvSpPr txBox="1"/>
          <p:nvPr/>
        </p:nvSpPr>
        <p:spPr>
          <a:xfrm>
            <a:off x="8005571" y="3739896"/>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Strengthen Industry and Government Collaboration</a:t>
            </a:r>
          </a:p>
        </p:txBody>
      </p:sp>
      <p:sp>
        <p:nvSpPr>
          <p:cNvPr id="81" name="Label Oval 80"/>
          <p:cNvSpPr/>
          <p:nvPr/>
        </p:nvSpPr>
        <p:spPr>
          <a:xfrm>
            <a:off x="9226296" y="3785615"/>
            <a:ext cx="91440" cy="91440"/>
          </a:xfrm>
          <a:prstGeom prst="ellipse">
            <a:avLst/>
          </a:prstGeom>
          <a:solidFill>
            <a:srgbClr val="156082"/>
          </a:solidFill>
          <a:ln>
            <a:noFill/>
          </a:ln>
        </p:spPr>
        <p:txBody>
          <a:bodyPr rtlCol="0" anchor="ctr"/>
          <a:lstStyle/>
          <a:p>
            <a:pPr algn="ctr"/>
          </a:p>
        </p:txBody>
      </p:sp>
      <p:sp>
        <p:nvSpPr>
          <p:cNvPr id="82" name="Label Rectangle 81"/>
          <p:cNvSpPr/>
          <p:nvPr/>
        </p:nvSpPr>
        <p:spPr>
          <a:xfrm>
            <a:off x="7978140" y="4270248"/>
            <a:ext cx="1394460" cy="475488"/>
          </a:xfrm>
          <a:prstGeom prst="rect">
            <a:avLst/>
          </a:prstGeom>
          <a:solidFill>
            <a:srgbClr val="FFFFFF"/>
          </a:solidFill>
          <a:ln w="9525">
            <a:solidFill>
              <a:srgbClr val="7F7F7F"/>
            </a:solidFill>
          </a:ln>
        </p:spPr>
        <p:txBody>
          <a:bodyPr rtlCol="0" anchor="ctr"/>
          <a:lstStyle/>
          <a:p>
            <a:pPr algn="ctr"/>
          </a:p>
        </p:txBody>
      </p:sp>
      <p:sp>
        <p:nvSpPr>
          <p:cNvPr id="83" name="Label TextBox 82"/>
          <p:cNvSpPr txBox="1"/>
          <p:nvPr/>
        </p:nvSpPr>
        <p:spPr>
          <a:xfrm>
            <a:off x="8005571" y="4270248"/>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Expedite Enabling Policy and Build the Data Layer</a:t>
            </a:r>
          </a:p>
        </p:txBody>
      </p:sp>
      <p:sp>
        <p:nvSpPr>
          <p:cNvPr id="84" name="Label Oval 83"/>
          <p:cNvSpPr/>
          <p:nvPr/>
        </p:nvSpPr>
        <p:spPr>
          <a:xfrm>
            <a:off x="9226296" y="4315968"/>
            <a:ext cx="91440" cy="91440"/>
          </a:xfrm>
          <a:prstGeom prst="ellipse">
            <a:avLst/>
          </a:prstGeom>
          <a:solidFill>
            <a:srgbClr val="E97132"/>
          </a:solidFill>
          <a:ln>
            <a:noFill/>
          </a:ln>
        </p:spPr>
        <p:txBody>
          <a:bodyPr rtlCol="0" anchor="ctr"/>
          <a:lstStyle/>
          <a:p>
            <a:pPr algn="ctr"/>
          </a:p>
        </p:txBody>
      </p:sp>
      <p:sp>
        <p:nvSpPr>
          <p:cNvPr id="85" name="Label Rectangle 84"/>
          <p:cNvSpPr/>
          <p:nvPr/>
        </p:nvSpPr>
        <p:spPr>
          <a:xfrm>
            <a:off x="7978140" y="4800600"/>
            <a:ext cx="1394460" cy="475488"/>
          </a:xfrm>
          <a:prstGeom prst="rect">
            <a:avLst/>
          </a:prstGeom>
          <a:solidFill>
            <a:srgbClr val="FFFFFF"/>
          </a:solidFill>
          <a:ln w="9525">
            <a:solidFill>
              <a:srgbClr val="7F7F7F"/>
            </a:solidFill>
          </a:ln>
        </p:spPr>
        <p:txBody>
          <a:bodyPr rtlCol="0" anchor="ctr"/>
          <a:lstStyle/>
          <a:p>
            <a:pPr algn="ctr"/>
          </a:p>
        </p:txBody>
      </p:sp>
      <p:sp>
        <p:nvSpPr>
          <p:cNvPr id="86" name="Label TextBox 85"/>
          <p:cNvSpPr txBox="1"/>
          <p:nvPr/>
        </p:nvSpPr>
        <p:spPr>
          <a:xfrm>
            <a:off x="8005571" y="4800600"/>
            <a:ext cx="1193292" cy="475488"/>
          </a:xfrm>
          <a:prstGeom prst="rect">
            <a:avLst/>
          </a:prstGeom>
          <a:noFill/>
        </p:spPr>
        <p:txBody>
          <a:bodyPr wrap="square" anchor="ctr" lIns="18288" rIns="18288" tIns="10972" bIns="10972">
            <a:spAutoFit/>
          </a:bodyPr>
          <a:lstStyle/>
          <a:p>
            <a:pPr algn="ctr">
              <a:spcAft>
                <a:spcPts val="0"/>
              </a:spcAft>
            </a:pPr>
            <a:r>
              <a:rPr sz="800" b="0" i="0">
                <a:solidFill>
                  <a:srgbClr val="404040"/>
                </a:solidFill>
                <a:latin typeface="Arial"/>
              </a:rPr>
              <a:t>Crowd-In Capital with Targeted Investment Strategies</a:t>
            </a:r>
          </a:p>
        </p:txBody>
      </p:sp>
      <p:sp>
        <p:nvSpPr>
          <p:cNvPr id="87" name="Label Oval 86"/>
          <p:cNvSpPr/>
          <p:nvPr/>
        </p:nvSpPr>
        <p:spPr>
          <a:xfrm>
            <a:off x="9226296" y="4846320"/>
            <a:ext cx="91440" cy="91440"/>
          </a:xfrm>
          <a:prstGeom prst="ellipse">
            <a:avLst/>
          </a:prstGeom>
          <a:solidFill>
            <a:srgbClr val="156082"/>
          </a:solidFill>
          <a:ln>
            <a:noFill/>
          </a:ln>
        </p:spPr>
        <p:txBody>
          <a:bodyPr rtlCol="0" anchor="ctr"/>
          <a:lstStyle/>
          <a:p>
            <a:pPr algn="ctr"/>
          </a:p>
        </p:txBody>
      </p:sp>
      <p:sp>
        <p:nvSpPr>
          <p:cNvPr id="88" name="Label Oval 87"/>
          <p:cNvSpPr/>
          <p:nvPr/>
        </p:nvSpPr>
        <p:spPr>
          <a:xfrm>
            <a:off x="457200" y="5413248"/>
            <a:ext cx="128016" cy="128016"/>
          </a:xfrm>
          <a:prstGeom prst="ellipse">
            <a:avLst/>
          </a:prstGeom>
          <a:solidFill>
            <a:srgbClr val="156082"/>
          </a:solidFill>
          <a:ln>
            <a:noFill/>
          </a:ln>
        </p:spPr>
        <p:txBody>
          <a:bodyPr rtlCol="0" anchor="ctr"/>
          <a:lstStyle/>
          <a:p>
            <a:pPr algn="ctr"/>
          </a:p>
        </p:txBody>
      </p:sp>
      <p:sp>
        <p:nvSpPr>
          <p:cNvPr id="89" name="Label TextBox 88"/>
          <p:cNvSpPr txBox="1"/>
          <p:nvPr/>
        </p:nvSpPr>
        <p:spPr>
          <a:xfrm>
            <a:off x="640080" y="5358384"/>
            <a:ext cx="914400" cy="237744"/>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Validated</a:t>
            </a:r>
          </a:p>
        </p:txBody>
      </p:sp>
      <p:sp>
        <p:nvSpPr>
          <p:cNvPr id="90" name="Label Oval 89"/>
          <p:cNvSpPr/>
          <p:nvPr/>
        </p:nvSpPr>
        <p:spPr>
          <a:xfrm>
            <a:off x="1600200" y="5413248"/>
            <a:ext cx="128016" cy="128016"/>
          </a:xfrm>
          <a:prstGeom prst="ellipse">
            <a:avLst/>
          </a:prstGeom>
          <a:solidFill>
            <a:srgbClr val="E97132"/>
          </a:solidFill>
          <a:ln>
            <a:noFill/>
          </a:ln>
        </p:spPr>
        <p:txBody>
          <a:bodyPr rtlCol="0" anchor="ctr"/>
          <a:lstStyle/>
          <a:p>
            <a:pPr algn="ctr"/>
          </a:p>
        </p:txBody>
      </p:sp>
      <p:sp>
        <p:nvSpPr>
          <p:cNvPr id="91" name="Label TextBox 90"/>
          <p:cNvSpPr txBox="1"/>
          <p:nvPr/>
        </p:nvSpPr>
        <p:spPr>
          <a:xfrm>
            <a:off x="1783080" y="5358384"/>
            <a:ext cx="914400" cy="237744"/>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Refined</a:t>
            </a:r>
          </a:p>
        </p:txBody>
      </p:sp>
      <p:sp>
        <p:nvSpPr>
          <p:cNvPr id="92" name="Label Oval 91"/>
          <p:cNvSpPr/>
          <p:nvPr/>
        </p:nvSpPr>
        <p:spPr>
          <a:xfrm>
            <a:off x="2743200" y="5413248"/>
            <a:ext cx="128016" cy="128016"/>
          </a:xfrm>
          <a:prstGeom prst="ellipse">
            <a:avLst/>
          </a:prstGeom>
          <a:solidFill>
            <a:srgbClr val="196B24"/>
          </a:solidFill>
          <a:ln>
            <a:noFill/>
          </a:ln>
        </p:spPr>
        <p:txBody>
          <a:bodyPr rtlCol="0" anchor="ctr"/>
          <a:lstStyle/>
          <a:p>
            <a:pPr algn="ctr"/>
          </a:p>
        </p:txBody>
      </p:sp>
      <p:sp>
        <p:nvSpPr>
          <p:cNvPr id="93" name="Label TextBox 92"/>
          <p:cNvSpPr txBox="1"/>
          <p:nvPr/>
        </p:nvSpPr>
        <p:spPr>
          <a:xfrm>
            <a:off x="2926080" y="5358384"/>
            <a:ext cx="914400" cy="237744"/>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New</a:t>
            </a:r>
          </a:p>
        </p:txBody>
      </p:sp>
      <p:sp>
        <p:nvSpPr>
          <p:cNvPr id="94" name="Label TextBox 93"/>
          <p:cNvSpPr txBox="1"/>
          <p:nvPr/>
        </p:nvSpPr>
        <p:spPr>
          <a:xfrm>
            <a:off x="3931920" y="5358384"/>
            <a:ext cx="4572000" cy="237744"/>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Markers are the team’s own, as in the v4 file.</a:t>
            </a:r>
          </a:p>
        </p:txBody>
      </p:sp>
      <p:sp>
        <p:nvSpPr>
          <p:cNvPr id="95" name="Rectangle 94"/>
          <p:cNvSpPr/>
          <p:nvPr/>
        </p:nvSpPr>
        <p:spPr>
          <a:xfrm>
            <a:off x="9601200" y="1325880"/>
            <a:ext cx="2133295" cy="4480560"/>
          </a:xfrm>
          <a:prstGeom prst="rect">
            <a:avLst/>
          </a:prstGeom>
          <a:solidFill>
            <a:srgbClr val="F2F2F2"/>
          </a:solidFill>
          <a:ln>
            <a:noFill/>
          </a:ln>
        </p:spPr>
        <p:txBody>
          <a:bodyPr rtlCol="0" anchor="ctr"/>
          <a:lstStyle/>
          <a:p>
            <a:pPr algn="ctr"/>
          </a:p>
        </p:txBody>
      </p:sp>
      <p:sp>
        <p:nvSpPr>
          <p:cNvPr id="96" name="TextBox 95"/>
          <p:cNvSpPr txBox="1"/>
          <p:nvPr/>
        </p:nvSpPr>
        <p:spPr>
          <a:xfrm>
            <a:off x="9765792" y="1463040"/>
            <a:ext cx="1858975"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WHAT CHANGED SINCE DECEMBER</a:t>
            </a:r>
          </a:p>
        </p:txBody>
      </p:sp>
      <p:sp>
        <p:nvSpPr>
          <p:cNvPr id="97" name="TextBox 96"/>
          <p:cNvSpPr txBox="1"/>
          <p:nvPr/>
        </p:nvSpPr>
        <p:spPr>
          <a:xfrm>
            <a:off x="9765792" y="1828800"/>
            <a:ext cx="1858975" cy="114300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20 themes</a:t>
            </a:r>
          </a:p>
          <a:p>
            <a:pPr algn="l">
              <a:spcAft>
                <a:spcPts val="0"/>
              </a:spcAft>
            </a:pPr>
            <a:r>
              <a:rPr sz="1000" b="0" i="0">
                <a:solidFill>
                  <a:srgbClr val="404040"/>
                </a:solidFill>
                <a:latin typeface="Arial"/>
              </a:rPr>
              <a:t>from 18: brand equity and workforce skills added; capital moved under governance</a:t>
            </a:r>
          </a:p>
        </p:txBody>
      </p:sp>
      <p:sp>
        <p:nvSpPr>
          <p:cNvPr id="98" name="TextBox 97"/>
          <p:cNvSpPr txBox="1"/>
          <p:nvPr/>
        </p:nvSpPr>
        <p:spPr>
          <a:xfrm>
            <a:off x="9765792" y="3063240"/>
            <a:ext cx="1858975" cy="114300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2 new</a:t>
            </a:r>
          </a:p>
          <a:p>
            <a:pPr algn="l">
              <a:spcAft>
                <a:spcPts val="0"/>
              </a:spcAft>
            </a:pPr>
            <a:r>
              <a:rPr sz="1000" b="0" i="0">
                <a:solidFill>
                  <a:srgbClr val="404040"/>
                </a:solidFill>
                <a:latin typeface="Arial"/>
              </a:rPr>
              <a:t>brand equity to the province; sustainable and resilient management</a:t>
            </a:r>
          </a:p>
        </p:txBody>
      </p:sp>
      <p:sp>
        <p:nvSpPr>
          <p:cNvPr id="99" name="TextBox 98"/>
          <p:cNvSpPr txBox="1"/>
          <p:nvPr/>
        </p:nvSpPr>
        <p:spPr>
          <a:xfrm>
            <a:off x="9765792" y="4297680"/>
            <a:ext cx="1858975" cy="1143000"/>
          </a:xfrm>
          <a:prstGeom prst="rect">
            <a:avLst/>
          </a:prstGeom>
          <a:noFill/>
        </p:spPr>
        <p:txBody>
          <a:bodyPr wrap="square" anchor="t" lIns="0" rIns="0" tIns="0" bIns="0">
            <a:spAutoFit/>
          </a:bodyPr>
          <a:lstStyle/>
          <a:p>
            <a:pPr algn="l">
              <a:spcAft>
                <a:spcPts val="100"/>
              </a:spcAft>
            </a:pPr>
            <a:r>
              <a:rPr sz="1800" b="1" i="0">
                <a:solidFill>
                  <a:srgbClr val="1F497D"/>
                </a:solidFill>
                <a:latin typeface="Arial"/>
              </a:rPr>
              <a:t>10, 8, 2</a:t>
            </a:r>
          </a:p>
          <a:p>
            <a:pPr algn="l">
              <a:spcAft>
                <a:spcPts val="0"/>
              </a:spcAft>
            </a:pPr>
            <a:r>
              <a:rPr sz="1000" b="0" i="0">
                <a:solidFill>
                  <a:srgbClr val="404040"/>
                </a:solidFill>
                <a:latin typeface="Arial"/>
              </a:rPr>
              <a:t>validated, refined and new, by the team’s own markers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Fourteen of twenty focus areas are supported, five are partly supported and one, workforce skills, is untested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04 | THE TREE, REVISED AND TESTED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assessment against all interim deliverables; evidence and pages in appendix A1. Supply and inclusion reports were framed by the tree.</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TextBox 7"/>
          <p:cNvSpPr txBox="1"/>
          <p:nvPr/>
        </p:nvSpPr>
        <p:spPr>
          <a:xfrm>
            <a:off x="457200" y="1417320"/>
            <a:ext cx="1463040" cy="96012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Reshape demand</a:t>
            </a:r>
          </a:p>
        </p:txBody>
      </p:sp>
      <p:sp>
        <p:nvSpPr>
          <p:cNvPr id="9" name="Label Rectangle 8"/>
          <p:cNvSpPr/>
          <p:nvPr/>
        </p:nvSpPr>
        <p:spPr>
          <a:xfrm>
            <a:off x="2011680" y="1417320"/>
            <a:ext cx="1326271" cy="960120"/>
          </a:xfrm>
          <a:prstGeom prst="rect">
            <a:avLst/>
          </a:prstGeom>
          <a:solidFill>
            <a:srgbClr val="FDECC8"/>
          </a:solidFill>
          <a:ln>
            <a:noFill/>
          </a:ln>
        </p:spPr>
        <p:txBody>
          <a:bodyPr rtlCol="0" anchor="ctr"/>
          <a:lstStyle/>
          <a:p>
            <a:pPr algn="ctr"/>
          </a:p>
        </p:txBody>
      </p:sp>
      <p:sp>
        <p:nvSpPr>
          <p:cNvPr id="10" name="Label Rectangle 9"/>
          <p:cNvSpPr/>
          <p:nvPr/>
        </p:nvSpPr>
        <p:spPr>
          <a:xfrm>
            <a:off x="2011680" y="1417320"/>
            <a:ext cx="1326271" cy="54864"/>
          </a:xfrm>
          <a:prstGeom prst="rect">
            <a:avLst/>
          </a:prstGeom>
          <a:solidFill>
            <a:srgbClr val="F2A900"/>
          </a:solidFill>
          <a:ln>
            <a:noFill/>
          </a:ln>
        </p:spPr>
        <p:txBody>
          <a:bodyPr rtlCol="0" anchor="ctr"/>
          <a:lstStyle/>
          <a:p>
            <a:pPr algn="ctr"/>
          </a:p>
        </p:txBody>
      </p:sp>
      <p:sp>
        <p:nvSpPr>
          <p:cNvPr id="11" name="Label TextBox 10"/>
          <p:cNvSpPr txBox="1"/>
          <p:nvPr/>
        </p:nvSpPr>
        <p:spPr>
          <a:xfrm>
            <a:off x="2066544"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1a</a:t>
            </a:r>
          </a:p>
        </p:txBody>
      </p:sp>
      <p:sp>
        <p:nvSpPr>
          <p:cNvPr id="12" name="Label TextBox 11"/>
          <p:cNvSpPr txBox="1"/>
          <p:nvPr/>
        </p:nvSpPr>
        <p:spPr>
          <a:xfrm>
            <a:off x="2066544"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Priority segments</a:t>
            </a:r>
          </a:p>
        </p:txBody>
      </p:sp>
      <p:sp>
        <p:nvSpPr>
          <p:cNvPr id="13" name="Label Oval 12"/>
          <p:cNvSpPr/>
          <p:nvPr/>
        </p:nvSpPr>
        <p:spPr>
          <a:xfrm>
            <a:off x="2066544" y="2194560"/>
            <a:ext cx="82296" cy="82296"/>
          </a:xfrm>
          <a:prstGeom prst="ellipse">
            <a:avLst/>
          </a:prstGeom>
          <a:solidFill>
            <a:srgbClr val="F2A900"/>
          </a:solidFill>
          <a:ln w="9525">
            <a:solidFill>
              <a:srgbClr val="F2A900"/>
            </a:solidFill>
          </a:ln>
        </p:spPr>
        <p:txBody>
          <a:bodyPr rtlCol="0" anchor="ctr"/>
          <a:lstStyle/>
          <a:p>
            <a:pPr algn="ctr"/>
          </a:p>
        </p:txBody>
      </p:sp>
      <p:sp>
        <p:nvSpPr>
          <p:cNvPr id="14" name="Label Oval 13"/>
          <p:cNvSpPr/>
          <p:nvPr/>
        </p:nvSpPr>
        <p:spPr>
          <a:xfrm>
            <a:off x="2176272" y="2194560"/>
            <a:ext cx="82296" cy="82296"/>
          </a:xfrm>
          <a:prstGeom prst="ellipse">
            <a:avLst/>
          </a:prstGeom>
          <a:solidFill>
            <a:srgbClr val="FFFFFF"/>
          </a:solidFill>
          <a:ln w="9525">
            <a:solidFill>
              <a:srgbClr val="F2A900"/>
            </a:solidFill>
          </a:ln>
        </p:spPr>
        <p:txBody>
          <a:bodyPr rtlCol="0" anchor="ctr"/>
          <a:lstStyle/>
          <a:p>
            <a:pPr algn="ctr"/>
          </a:p>
        </p:txBody>
      </p:sp>
      <p:sp>
        <p:nvSpPr>
          <p:cNvPr id="15" name="Label Oval 14"/>
          <p:cNvSpPr/>
          <p:nvPr/>
        </p:nvSpPr>
        <p:spPr>
          <a:xfrm>
            <a:off x="2286000" y="2194560"/>
            <a:ext cx="82296" cy="82296"/>
          </a:xfrm>
          <a:prstGeom prst="ellipse">
            <a:avLst/>
          </a:prstGeom>
          <a:solidFill>
            <a:srgbClr val="FFFFFF"/>
          </a:solidFill>
          <a:ln w="9525">
            <a:solidFill>
              <a:srgbClr val="F2A900"/>
            </a:solidFill>
          </a:ln>
        </p:spPr>
        <p:txBody>
          <a:bodyPr rtlCol="0" anchor="ctr"/>
          <a:lstStyle/>
          <a:p>
            <a:pPr algn="ctr"/>
          </a:p>
        </p:txBody>
      </p:sp>
      <p:sp>
        <p:nvSpPr>
          <p:cNvPr id="16" name="Label TextBox 15"/>
          <p:cNvSpPr txBox="1"/>
          <p:nvPr/>
        </p:nvSpPr>
        <p:spPr>
          <a:xfrm>
            <a:off x="2468880"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Unsized</a:t>
            </a:r>
          </a:p>
        </p:txBody>
      </p:sp>
      <p:sp>
        <p:nvSpPr>
          <p:cNvPr id="17" name="Label Rectangle 16"/>
          <p:cNvSpPr/>
          <p:nvPr/>
        </p:nvSpPr>
        <p:spPr>
          <a:xfrm>
            <a:off x="3411103" y="1417320"/>
            <a:ext cx="1326271" cy="960120"/>
          </a:xfrm>
          <a:prstGeom prst="rect">
            <a:avLst/>
          </a:prstGeom>
          <a:solidFill>
            <a:srgbClr val="FDECC8"/>
          </a:solidFill>
          <a:ln>
            <a:noFill/>
          </a:ln>
        </p:spPr>
        <p:txBody>
          <a:bodyPr rtlCol="0" anchor="ctr"/>
          <a:lstStyle/>
          <a:p>
            <a:pPr algn="ctr"/>
          </a:p>
        </p:txBody>
      </p:sp>
      <p:sp>
        <p:nvSpPr>
          <p:cNvPr id="18" name="Label Rectangle 17"/>
          <p:cNvSpPr/>
          <p:nvPr/>
        </p:nvSpPr>
        <p:spPr>
          <a:xfrm>
            <a:off x="3411103" y="1417320"/>
            <a:ext cx="1326271" cy="54864"/>
          </a:xfrm>
          <a:prstGeom prst="rect">
            <a:avLst/>
          </a:prstGeom>
          <a:solidFill>
            <a:srgbClr val="F2A900"/>
          </a:solidFill>
          <a:ln>
            <a:noFill/>
          </a:ln>
        </p:spPr>
        <p:txBody>
          <a:bodyPr rtlCol="0" anchor="ctr"/>
          <a:lstStyle/>
          <a:p>
            <a:pPr algn="ctr"/>
          </a:p>
        </p:txBody>
      </p:sp>
      <p:sp>
        <p:nvSpPr>
          <p:cNvPr id="19" name="Label TextBox 18"/>
          <p:cNvSpPr txBox="1"/>
          <p:nvPr/>
        </p:nvSpPr>
        <p:spPr>
          <a:xfrm>
            <a:off x="3465967"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1b</a:t>
            </a:r>
          </a:p>
        </p:txBody>
      </p:sp>
      <p:sp>
        <p:nvSpPr>
          <p:cNvPr id="20" name="Label TextBox 19"/>
          <p:cNvSpPr txBox="1"/>
          <p:nvPr/>
        </p:nvSpPr>
        <p:spPr>
          <a:xfrm>
            <a:off x="3465967"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Brand to province</a:t>
            </a:r>
          </a:p>
        </p:txBody>
      </p:sp>
      <p:sp>
        <p:nvSpPr>
          <p:cNvPr id="21" name="Label Oval 20"/>
          <p:cNvSpPr/>
          <p:nvPr/>
        </p:nvSpPr>
        <p:spPr>
          <a:xfrm>
            <a:off x="3465967" y="2194560"/>
            <a:ext cx="82296" cy="82296"/>
          </a:xfrm>
          <a:prstGeom prst="ellipse">
            <a:avLst/>
          </a:prstGeom>
          <a:solidFill>
            <a:srgbClr val="F2A900"/>
          </a:solidFill>
          <a:ln w="9525">
            <a:solidFill>
              <a:srgbClr val="F2A900"/>
            </a:solidFill>
          </a:ln>
        </p:spPr>
        <p:txBody>
          <a:bodyPr rtlCol="0" anchor="ctr"/>
          <a:lstStyle/>
          <a:p>
            <a:pPr algn="ctr"/>
          </a:p>
        </p:txBody>
      </p:sp>
      <p:sp>
        <p:nvSpPr>
          <p:cNvPr id="22" name="Label Oval 21"/>
          <p:cNvSpPr/>
          <p:nvPr/>
        </p:nvSpPr>
        <p:spPr>
          <a:xfrm>
            <a:off x="3575695" y="2194560"/>
            <a:ext cx="82296" cy="82296"/>
          </a:xfrm>
          <a:prstGeom prst="ellipse">
            <a:avLst/>
          </a:prstGeom>
          <a:solidFill>
            <a:srgbClr val="FFFFFF"/>
          </a:solidFill>
          <a:ln w="9525">
            <a:solidFill>
              <a:srgbClr val="F2A900"/>
            </a:solidFill>
          </a:ln>
        </p:spPr>
        <p:txBody>
          <a:bodyPr rtlCol="0" anchor="ctr"/>
          <a:lstStyle/>
          <a:p>
            <a:pPr algn="ctr"/>
          </a:p>
        </p:txBody>
      </p:sp>
      <p:sp>
        <p:nvSpPr>
          <p:cNvPr id="23" name="Label Oval 22"/>
          <p:cNvSpPr/>
          <p:nvPr/>
        </p:nvSpPr>
        <p:spPr>
          <a:xfrm>
            <a:off x="3685423" y="2194560"/>
            <a:ext cx="82296" cy="82296"/>
          </a:xfrm>
          <a:prstGeom prst="ellipse">
            <a:avLst/>
          </a:prstGeom>
          <a:solidFill>
            <a:srgbClr val="FFFFFF"/>
          </a:solidFill>
          <a:ln w="9525">
            <a:solidFill>
              <a:srgbClr val="F2A900"/>
            </a:solidFill>
          </a:ln>
        </p:spPr>
        <p:txBody>
          <a:bodyPr rtlCol="0" anchor="ctr"/>
          <a:lstStyle/>
          <a:p>
            <a:pPr algn="ctr"/>
          </a:p>
        </p:txBody>
      </p:sp>
      <p:sp>
        <p:nvSpPr>
          <p:cNvPr id="24" name="Label TextBox 23"/>
          <p:cNvSpPr txBox="1"/>
          <p:nvPr/>
        </p:nvSpPr>
        <p:spPr>
          <a:xfrm>
            <a:off x="3868303"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No brand data</a:t>
            </a:r>
          </a:p>
        </p:txBody>
      </p:sp>
      <p:sp>
        <p:nvSpPr>
          <p:cNvPr id="25" name="Label Rectangle 24"/>
          <p:cNvSpPr/>
          <p:nvPr/>
        </p:nvSpPr>
        <p:spPr>
          <a:xfrm>
            <a:off x="4810527" y="1417320"/>
            <a:ext cx="1326271" cy="960120"/>
          </a:xfrm>
          <a:prstGeom prst="rect">
            <a:avLst/>
          </a:prstGeom>
          <a:solidFill>
            <a:srgbClr val="D6EFDA"/>
          </a:solidFill>
          <a:ln>
            <a:noFill/>
          </a:ln>
        </p:spPr>
        <p:txBody>
          <a:bodyPr rtlCol="0" anchor="ctr"/>
          <a:lstStyle/>
          <a:p>
            <a:pPr algn="ctr"/>
          </a:p>
        </p:txBody>
      </p:sp>
      <p:sp>
        <p:nvSpPr>
          <p:cNvPr id="26" name="Label Rectangle 25"/>
          <p:cNvSpPr/>
          <p:nvPr/>
        </p:nvSpPr>
        <p:spPr>
          <a:xfrm>
            <a:off x="4810527" y="1417320"/>
            <a:ext cx="1326271" cy="54864"/>
          </a:xfrm>
          <a:prstGeom prst="rect">
            <a:avLst/>
          </a:prstGeom>
          <a:solidFill>
            <a:srgbClr val="2E9E44"/>
          </a:solidFill>
          <a:ln>
            <a:noFill/>
          </a:ln>
        </p:spPr>
        <p:txBody>
          <a:bodyPr rtlCol="0" anchor="ctr"/>
          <a:lstStyle/>
          <a:p>
            <a:pPr algn="ctr"/>
          </a:p>
        </p:txBody>
      </p:sp>
      <p:sp>
        <p:nvSpPr>
          <p:cNvPr id="27" name="Label TextBox 26"/>
          <p:cNvSpPr txBox="1"/>
          <p:nvPr/>
        </p:nvSpPr>
        <p:spPr>
          <a:xfrm>
            <a:off x="4865391"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1c</a:t>
            </a:r>
          </a:p>
        </p:txBody>
      </p:sp>
      <p:sp>
        <p:nvSpPr>
          <p:cNvPr id="28" name="Label TextBox 27"/>
          <p:cNvSpPr txBox="1"/>
          <p:nvPr/>
        </p:nvSpPr>
        <p:spPr>
          <a:xfrm>
            <a:off x="4865391"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Seasonality and MICE</a:t>
            </a:r>
          </a:p>
        </p:txBody>
      </p:sp>
      <p:sp>
        <p:nvSpPr>
          <p:cNvPr id="29" name="Label Oval 28"/>
          <p:cNvSpPr/>
          <p:nvPr/>
        </p:nvSpPr>
        <p:spPr>
          <a:xfrm>
            <a:off x="4865391" y="2194560"/>
            <a:ext cx="82296" cy="82296"/>
          </a:xfrm>
          <a:prstGeom prst="ellipse">
            <a:avLst/>
          </a:prstGeom>
          <a:solidFill>
            <a:srgbClr val="2E9E44"/>
          </a:solidFill>
          <a:ln w="9525">
            <a:solidFill>
              <a:srgbClr val="2E9E44"/>
            </a:solidFill>
          </a:ln>
        </p:spPr>
        <p:txBody>
          <a:bodyPr rtlCol="0" anchor="ctr"/>
          <a:lstStyle/>
          <a:p>
            <a:pPr algn="ctr"/>
          </a:p>
        </p:txBody>
      </p:sp>
      <p:sp>
        <p:nvSpPr>
          <p:cNvPr id="30" name="Label Oval 29"/>
          <p:cNvSpPr/>
          <p:nvPr/>
        </p:nvSpPr>
        <p:spPr>
          <a:xfrm>
            <a:off x="4975119" y="2194560"/>
            <a:ext cx="82296" cy="82296"/>
          </a:xfrm>
          <a:prstGeom prst="ellipse">
            <a:avLst/>
          </a:prstGeom>
          <a:solidFill>
            <a:srgbClr val="2E9E44"/>
          </a:solidFill>
          <a:ln w="9525">
            <a:solidFill>
              <a:srgbClr val="2E9E44"/>
            </a:solidFill>
          </a:ln>
        </p:spPr>
        <p:txBody>
          <a:bodyPr rtlCol="0" anchor="ctr"/>
          <a:lstStyle/>
          <a:p>
            <a:pPr algn="ctr"/>
          </a:p>
        </p:txBody>
      </p:sp>
      <p:sp>
        <p:nvSpPr>
          <p:cNvPr id="31" name="Label Oval 30"/>
          <p:cNvSpPr/>
          <p:nvPr/>
        </p:nvSpPr>
        <p:spPr>
          <a:xfrm>
            <a:off x="5084847" y="2194560"/>
            <a:ext cx="82296" cy="82296"/>
          </a:xfrm>
          <a:prstGeom prst="ellipse">
            <a:avLst/>
          </a:prstGeom>
          <a:solidFill>
            <a:srgbClr val="2E9E44"/>
          </a:solidFill>
          <a:ln w="9525">
            <a:solidFill>
              <a:srgbClr val="2E9E44"/>
            </a:solidFill>
          </a:ln>
        </p:spPr>
        <p:txBody>
          <a:bodyPr rtlCol="0" anchor="ctr"/>
          <a:lstStyle/>
          <a:p>
            <a:pPr algn="ctr"/>
          </a:p>
        </p:txBody>
      </p:sp>
      <p:sp>
        <p:nvSpPr>
          <p:cNvPr id="32" name="Label TextBox 31"/>
          <p:cNvSpPr txBox="1"/>
          <p:nvPr/>
        </p:nvSpPr>
        <p:spPr>
          <a:xfrm>
            <a:off x="5267727"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Seats, ICCA</a:t>
            </a:r>
          </a:p>
        </p:txBody>
      </p:sp>
      <p:sp>
        <p:nvSpPr>
          <p:cNvPr id="33" name="Label Rectangle 32"/>
          <p:cNvSpPr/>
          <p:nvPr/>
        </p:nvSpPr>
        <p:spPr>
          <a:xfrm>
            <a:off x="6209951" y="1417320"/>
            <a:ext cx="1326271" cy="960120"/>
          </a:xfrm>
          <a:prstGeom prst="rect">
            <a:avLst/>
          </a:prstGeom>
          <a:solidFill>
            <a:srgbClr val="D6EFDA"/>
          </a:solidFill>
          <a:ln>
            <a:noFill/>
          </a:ln>
        </p:spPr>
        <p:txBody>
          <a:bodyPr rtlCol="0" anchor="ctr"/>
          <a:lstStyle/>
          <a:p>
            <a:pPr algn="ctr"/>
          </a:p>
        </p:txBody>
      </p:sp>
      <p:sp>
        <p:nvSpPr>
          <p:cNvPr id="34" name="Label Rectangle 33"/>
          <p:cNvSpPr/>
          <p:nvPr/>
        </p:nvSpPr>
        <p:spPr>
          <a:xfrm>
            <a:off x="6209951" y="1417320"/>
            <a:ext cx="1326271" cy="54864"/>
          </a:xfrm>
          <a:prstGeom prst="rect">
            <a:avLst/>
          </a:prstGeom>
          <a:solidFill>
            <a:srgbClr val="2E9E44"/>
          </a:solidFill>
          <a:ln>
            <a:noFill/>
          </a:ln>
        </p:spPr>
        <p:txBody>
          <a:bodyPr rtlCol="0" anchor="ctr"/>
          <a:lstStyle/>
          <a:p>
            <a:pPr algn="ctr"/>
          </a:p>
        </p:txBody>
      </p:sp>
      <p:sp>
        <p:nvSpPr>
          <p:cNvPr id="35" name="Label TextBox 34"/>
          <p:cNvSpPr txBox="1"/>
          <p:nvPr/>
        </p:nvSpPr>
        <p:spPr>
          <a:xfrm>
            <a:off x="6264815"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1d</a:t>
            </a:r>
          </a:p>
        </p:txBody>
      </p:sp>
      <p:sp>
        <p:nvSpPr>
          <p:cNvPr id="36" name="Label TextBox 35"/>
          <p:cNvSpPr txBox="1"/>
          <p:nvPr/>
        </p:nvSpPr>
        <p:spPr>
          <a:xfrm>
            <a:off x="6264815"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Native booking</a:t>
            </a:r>
          </a:p>
        </p:txBody>
      </p:sp>
      <p:sp>
        <p:nvSpPr>
          <p:cNvPr id="37" name="Label Oval 36"/>
          <p:cNvSpPr/>
          <p:nvPr/>
        </p:nvSpPr>
        <p:spPr>
          <a:xfrm>
            <a:off x="6264815" y="2194560"/>
            <a:ext cx="82296" cy="82296"/>
          </a:xfrm>
          <a:prstGeom prst="ellipse">
            <a:avLst/>
          </a:prstGeom>
          <a:solidFill>
            <a:srgbClr val="2E9E44"/>
          </a:solidFill>
          <a:ln w="9525">
            <a:solidFill>
              <a:srgbClr val="2E9E44"/>
            </a:solidFill>
          </a:ln>
        </p:spPr>
        <p:txBody>
          <a:bodyPr rtlCol="0" anchor="ctr"/>
          <a:lstStyle/>
          <a:p>
            <a:pPr algn="ctr"/>
          </a:p>
        </p:txBody>
      </p:sp>
      <p:sp>
        <p:nvSpPr>
          <p:cNvPr id="38" name="Label Oval 37"/>
          <p:cNvSpPr/>
          <p:nvPr/>
        </p:nvSpPr>
        <p:spPr>
          <a:xfrm>
            <a:off x="6374543" y="2194560"/>
            <a:ext cx="82296" cy="82296"/>
          </a:xfrm>
          <a:prstGeom prst="ellipse">
            <a:avLst/>
          </a:prstGeom>
          <a:solidFill>
            <a:srgbClr val="2E9E44"/>
          </a:solidFill>
          <a:ln w="9525">
            <a:solidFill>
              <a:srgbClr val="2E9E44"/>
            </a:solidFill>
          </a:ln>
        </p:spPr>
        <p:txBody>
          <a:bodyPr rtlCol="0" anchor="ctr"/>
          <a:lstStyle/>
          <a:p>
            <a:pPr algn="ctr"/>
          </a:p>
        </p:txBody>
      </p:sp>
      <p:sp>
        <p:nvSpPr>
          <p:cNvPr id="39" name="Label Oval 38"/>
          <p:cNvSpPr/>
          <p:nvPr/>
        </p:nvSpPr>
        <p:spPr>
          <a:xfrm>
            <a:off x="6484271" y="2194560"/>
            <a:ext cx="82296" cy="82296"/>
          </a:xfrm>
          <a:prstGeom prst="ellipse">
            <a:avLst/>
          </a:prstGeom>
          <a:solidFill>
            <a:srgbClr val="2E9E44"/>
          </a:solidFill>
          <a:ln w="9525">
            <a:solidFill>
              <a:srgbClr val="2E9E44"/>
            </a:solidFill>
          </a:ln>
        </p:spPr>
        <p:txBody>
          <a:bodyPr rtlCol="0" anchor="ctr"/>
          <a:lstStyle/>
          <a:p>
            <a:pPr algn="ctr"/>
          </a:p>
        </p:txBody>
      </p:sp>
      <p:sp>
        <p:nvSpPr>
          <p:cNvPr id="40" name="Label TextBox 39"/>
          <p:cNvSpPr txBox="1"/>
          <p:nvPr/>
        </p:nvSpPr>
        <p:spPr>
          <a:xfrm>
            <a:off x="6667151"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OTA gaps</a:t>
            </a:r>
          </a:p>
        </p:txBody>
      </p:sp>
      <p:sp>
        <p:nvSpPr>
          <p:cNvPr id="41" name="Label Rectangle 40"/>
          <p:cNvSpPr/>
          <p:nvPr/>
        </p:nvSpPr>
        <p:spPr>
          <a:xfrm>
            <a:off x="7609375" y="1417320"/>
            <a:ext cx="1326271" cy="960120"/>
          </a:xfrm>
          <a:prstGeom prst="rect">
            <a:avLst/>
          </a:prstGeom>
          <a:solidFill>
            <a:srgbClr val="FDECC8"/>
          </a:solidFill>
          <a:ln>
            <a:noFill/>
          </a:ln>
        </p:spPr>
        <p:txBody>
          <a:bodyPr rtlCol="0" anchor="ctr"/>
          <a:lstStyle/>
          <a:p>
            <a:pPr algn="ctr"/>
          </a:p>
        </p:txBody>
      </p:sp>
      <p:sp>
        <p:nvSpPr>
          <p:cNvPr id="42" name="Label Rectangle 41"/>
          <p:cNvSpPr/>
          <p:nvPr/>
        </p:nvSpPr>
        <p:spPr>
          <a:xfrm>
            <a:off x="7609375" y="1417320"/>
            <a:ext cx="1326271" cy="54864"/>
          </a:xfrm>
          <a:prstGeom prst="rect">
            <a:avLst/>
          </a:prstGeom>
          <a:solidFill>
            <a:srgbClr val="F2A900"/>
          </a:solidFill>
          <a:ln>
            <a:noFill/>
          </a:ln>
        </p:spPr>
        <p:txBody>
          <a:bodyPr rtlCol="0" anchor="ctr"/>
          <a:lstStyle/>
          <a:p>
            <a:pPr algn="ctr"/>
          </a:p>
        </p:txBody>
      </p:sp>
      <p:sp>
        <p:nvSpPr>
          <p:cNvPr id="43" name="Label TextBox 42"/>
          <p:cNvSpPr txBox="1"/>
          <p:nvPr/>
        </p:nvSpPr>
        <p:spPr>
          <a:xfrm>
            <a:off x="7664239"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1e</a:t>
            </a:r>
          </a:p>
        </p:txBody>
      </p:sp>
      <p:sp>
        <p:nvSpPr>
          <p:cNvPr id="44" name="Label TextBox 43"/>
          <p:cNvSpPr txBox="1"/>
          <p:nvPr/>
        </p:nvSpPr>
        <p:spPr>
          <a:xfrm>
            <a:off x="7664239"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Priority markets</a:t>
            </a:r>
          </a:p>
        </p:txBody>
      </p:sp>
      <p:sp>
        <p:nvSpPr>
          <p:cNvPr id="45" name="Label Oval 44"/>
          <p:cNvSpPr/>
          <p:nvPr/>
        </p:nvSpPr>
        <p:spPr>
          <a:xfrm>
            <a:off x="7664239" y="2194560"/>
            <a:ext cx="82296" cy="82296"/>
          </a:xfrm>
          <a:prstGeom prst="ellipse">
            <a:avLst/>
          </a:prstGeom>
          <a:solidFill>
            <a:srgbClr val="F2A900"/>
          </a:solidFill>
          <a:ln w="9525">
            <a:solidFill>
              <a:srgbClr val="F2A900"/>
            </a:solidFill>
          </a:ln>
        </p:spPr>
        <p:txBody>
          <a:bodyPr rtlCol="0" anchor="ctr"/>
          <a:lstStyle/>
          <a:p>
            <a:pPr algn="ctr"/>
          </a:p>
        </p:txBody>
      </p:sp>
      <p:sp>
        <p:nvSpPr>
          <p:cNvPr id="46" name="Label Oval 45"/>
          <p:cNvSpPr/>
          <p:nvPr/>
        </p:nvSpPr>
        <p:spPr>
          <a:xfrm>
            <a:off x="7773967" y="2194560"/>
            <a:ext cx="82296" cy="82296"/>
          </a:xfrm>
          <a:prstGeom prst="ellipse">
            <a:avLst/>
          </a:prstGeom>
          <a:solidFill>
            <a:srgbClr val="F2A900"/>
          </a:solidFill>
          <a:ln w="9525">
            <a:solidFill>
              <a:srgbClr val="F2A900"/>
            </a:solidFill>
          </a:ln>
        </p:spPr>
        <p:txBody>
          <a:bodyPr rtlCol="0" anchor="ctr"/>
          <a:lstStyle/>
          <a:p>
            <a:pPr algn="ctr"/>
          </a:p>
        </p:txBody>
      </p:sp>
      <p:sp>
        <p:nvSpPr>
          <p:cNvPr id="47" name="Label Oval 46"/>
          <p:cNvSpPr/>
          <p:nvPr/>
        </p:nvSpPr>
        <p:spPr>
          <a:xfrm>
            <a:off x="7883695" y="2194560"/>
            <a:ext cx="82296" cy="82296"/>
          </a:xfrm>
          <a:prstGeom prst="ellipse">
            <a:avLst/>
          </a:prstGeom>
          <a:solidFill>
            <a:srgbClr val="F2A900"/>
          </a:solidFill>
          <a:ln w="9525">
            <a:solidFill>
              <a:srgbClr val="F2A900"/>
            </a:solidFill>
          </a:ln>
        </p:spPr>
        <p:txBody>
          <a:bodyPr rtlCol="0" anchor="ctr"/>
          <a:lstStyle/>
          <a:p>
            <a:pPr algn="ctr"/>
          </a:p>
        </p:txBody>
      </p:sp>
      <p:sp>
        <p:nvSpPr>
          <p:cNvPr id="48" name="Label TextBox 47"/>
          <p:cNvSpPr txBox="1"/>
          <p:nvPr/>
        </p:nvSpPr>
        <p:spPr>
          <a:xfrm>
            <a:off x="8066575"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Hub traffic</a:t>
            </a:r>
          </a:p>
        </p:txBody>
      </p:sp>
      <p:sp>
        <p:nvSpPr>
          <p:cNvPr id="49" name="Label Rectangle 48"/>
          <p:cNvSpPr/>
          <p:nvPr/>
        </p:nvSpPr>
        <p:spPr>
          <a:xfrm>
            <a:off x="9008799" y="1417320"/>
            <a:ext cx="1326271" cy="960120"/>
          </a:xfrm>
          <a:prstGeom prst="rect">
            <a:avLst/>
          </a:prstGeom>
          <a:solidFill>
            <a:srgbClr val="D6EFDA"/>
          </a:solidFill>
          <a:ln>
            <a:noFill/>
          </a:ln>
        </p:spPr>
        <p:txBody>
          <a:bodyPr rtlCol="0" anchor="ctr"/>
          <a:lstStyle/>
          <a:p>
            <a:pPr algn="ctr"/>
          </a:p>
        </p:txBody>
      </p:sp>
      <p:sp>
        <p:nvSpPr>
          <p:cNvPr id="50" name="Label Rectangle 49"/>
          <p:cNvSpPr/>
          <p:nvPr/>
        </p:nvSpPr>
        <p:spPr>
          <a:xfrm>
            <a:off x="9008799" y="1417320"/>
            <a:ext cx="1326271" cy="54864"/>
          </a:xfrm>
          <a:prstGeom prst="rect">
            <a:avLst/>
          </a:prstGeom>
          <a:solidFill>
            <a:srgbClr val="2E9E44"/>
          </a:solidFill>
          <a:ln>
            <a:noFill/>
          </a:ln>
        </p:spPr>
        <p:txBody>
          <a:bodyPr rtlCol="0" anchor="ctr"/>
          <a:lstStyle/>
          <a:p>
            <a:pPr algn="ctr"/>
          </a:p>
        </p:txBody>
      </p:sp>
      <p:sp>
        <p:nvSpPr>
          <p:cNvPr id="51" name="Label TextBox 50"/>
          <p:cNvSpPr txBox="1"/>
          <p:nvPr/>
        </p:nvSpPr>
        <p:spPr>
          <a:xfrm>
            <a:off x="9063663"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1f</a:t>
            </a:r>
          </a:p>
        </p:txBody>
      </p:sp>
      <p:sp>
        <p:nvSpPr>
          <p:cNvPr id="52" name="Label TextBox 51"/>
          <p:cNvSpPr txBox="1"/>
          <p:nvPr/>
        </p:nvSpPr>
        <p:spPr>
          <a:xfrm>
            <a:off x="9063663"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Mature-market yield</a:t>
            </a:r>
          </a:p>
        </p:txBody>
      </p:sp>
      <p:sp>
        <p:nvSpPr>
          <p:cNvPr id="53" name="Label Oval 52"/>
          <p:cNvSpPr/>
          <p:nvPr/>
        </p:nvSpPr>
        <p:spPr>
          <a:xfrm>
            <a:off x="9063663" y="2194560"/>
            <a:ext cx="82296" cy="82296"/>
          </a:xfrm>
          <a:prstGeom prst="ellipse">
            <a:avLst/>
          </a:prstGeom>
          <a:solidFill>
            <a:srgbClr val="2E9E44"/>
          </a:solidFill>
          <a:ln w="9525">
            <a:solidFill>
              <a:srgbClr val="2E9E44"/>
            </a:solidFill>
          </a:ln>
        </p:spPr>
        <p:txBody>
          <a:bodyPr rtlCol="0" anchor="ctr"/>
          <a:lstStyle/>
          <a:p>
            <a:pPr algn="ctr"/>
          </a:p>
        </p:txBody>
      </p:sp>
      <p:sp>
        <p:nvSpPr>
          <p:cNvPr id="54" name="Label Oval 53"/>
          <p:cNvSpPr/>
          <p:nvPr/>
        </p:nvSpPr>
        <p:spPr>
          <a:xfrm>
            <a:off x="9173391" y="2194560"/>
            <a:ext cx="82296" cy="82296"/>
          </a:xfrm>
          <a:prstGeom prst="ellipse">
            <a:avLst/>
          </a:prstGeom>
          <a:solidFill>
            <a:srgbClr val="2E9E44"/>
          </a:solidFill>
          <a:ln w="9525">
            <a:solidFill>
              <a:srgbClr val="2E9E44"/>
            </a:solidFill>
          </a:ln>
        </p:spPr>
        <p:txBody>
          <a:bodyPr rtlCol="0" anchor="ctr"/>
          <a:lstStyle/>
          <a:p>
            <a:pPr algn="ctr"/>
          </a:p>
        </p:txBody>
      </p:sp>
      <p:sp>
        <p:nvSpPr>
          <p:cNvPr id="55" name="Label Oval 54"/>
          <p:cNvSpPr/>
          <p:nvPr/>
        </p:nvSpPr>
        <p:spPr>
          <a:xfrm>
            <a:off x="9283119" y="2194560"/>
            <a:ext cx="82296" cy="82296"/>
          </a:xfrm>
          <a:prstGeom prst="ellipse">
            <a:avLst/>
          </a:prstGeom>
          <a:solidFill>
            <a:srgbClr val="2E9E44"/>
          </a:solidFill>
          <a:ln w="9525">
            <a:solidFill>
              <a:srgbClr val="2E9E44"/>
            </a:solidFill>
          </a:ln>
        </p:spPr>
        <p:txBody>
          <a:bodyPr rtlCol="0" anchor="ctr"/>
          <a:lstStyle/>
          <a:p>
            <a:pPr algn="ctr"/>
          </a:p>
        </p:txBody>
      </p:sp>
      <p:sp>
        <p:nvSpPr>
          <p:cNvPr id="56" name="Label TextBox 55"/>
          <p:cNvSpPr txBox="1"/>
          <p:nvPr/>
        </p:nvSpPr>
        <p:spPr>
          <a:xfrm>
            <a:off x="9465999"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Full routes</a:t>
            </a:r>
          </a:p>
        </p:txBody>
      </p:sp>
      <p:sp>
        <p:nvSpPr>
          <p:cNvPr id="57" name="Label Rectangle 56"/>
          <p:cNvSpPr/>
          <p:nvPr/>
        </p:nvSpPr>
        <p:spPr>
          <a:xfrm>
            <a:off x="10408223" y="1417320"/>
            <a:ext cx="1326271" cy="960120"/>
          </a:xfrm>
          <a:prstGeom prst="rect">
            <a:avLst/>
          </a:prstGeom>
          <a:solidFill>
            <a:srgbClr val="D6EFDA"/>
          </a:solidFill>
          <a:ln>
            <a:noFill/>
          </a:ln>
        </p:spPr>
        <p:txBody>
          <a:bodyPr rtlCol="0" anchor="ctr"/>
          <a:lstStyle/>
          <a:p>
            <a:pPr algn="ctr"/>
          </a:p>
        </p:txBody>
      </p:sp>
      <p:sp>
        <p:nvSpPr>
          <p:cNvPr id="58" name="Label Rectangle 57"/>
          <p:cNvSpPr/>
          <p:nvPr/>
        </p:nvSpPr>
        <p:spPr>
          <a:xfrm>
            <a:off x="10408223" y="1417320"/>
            <a:ext cx="1326271" cy="54864"/>
          </a:xfrm>
          <a:prstGeom prst="rect">
            <a:avLst/>
          </a:prstGeom>
          <a:solidFill>
            <a:srgbClr val="2E9E44"/>
          </a:solidFill>
          <a:ln>
            <a:noFill/>
          </a:ln>
        </p:spPr>
        <p:txBody>
          <a:bodyPr rtlCol="0" anchor="ctr"/>
          <a:lstStyle/>
          <a:p>
            <a:pPr algn="ctr"/>
          </a:p>
        </p:txBody>
      </p:sp>
      <p:sp>
        <p:nvSpPr>
          <p:cNvPr id="59" name="Label TextBox 58"/>
          <p:cNvSpPr txBox="1"/>
          <p:nvPr/>
        </p:nvSpPr>
        <p:spPr>
          <a:xfrm>
            <a:off x="10463087" y="1490472"/>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1g</a:t>
            </a:r>
          </a:p>
        </p:txBody>
      </p:sp>
      <p:sp>
        <p:nvSpPr>
          <p:cNvPr id="60" name="Label TextBox 59"/>
          <p:cNvSpPr txBox="1"/>
          <p:nvPr/>
        </p:nvSpPr>
        <p:spPr>
          <a:xfrm>
            <a:off x="10463087" y="1636776"/>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Africa regional</a:t>
            </a:r>
          </a:p>
        </p:txBody>
      </p:sp>
      <p:sp>
        <p:nvSpPr>
          <p:cNvPr id="61" name="Label Oval 60"/>
          <p:cNvSpPr/>
          <p:nvPr/>
        </p:nvSpPr>
        <p:spPr>
          <a:xfrm>
            <a:off x="10463087" y="2194560"/>
            <a:ext cx="82296" cy="82296"/>
          </a:xfrm>
          <a:prstGeom prst="ellipse">
            <a:avLst/>
          </a:prstGeom>
          <a:solidFill>
            <a:srgbClr val="2E9E44"/>
          </a:solidFill>
          <a:ln w="9525">
            <a:solidFill>
              <a:srgbClr val="2E9E44"/>
            </a:solidFill>
          </a:ln>
        </p:spPr>
        <p:txBody>
          <a:bodyPr rtlCol="0" anchor="ctr"/>
          <a:lstStyle/>
          <a:p>
            <a:pPr algn="ctr"/>
          </a:p>
        </p:txBody>
      </p:sp>
      <p:sp>
        <p:nvSpPr>
          <p:cNvPr id="62" name="Label Oval 61"/>
          <p:cNvSpPr/>
          <p:nvPr/>
        </p:nvSpPr>
        <p:spPr>
          <a:xfrm>
            <a:off x="10572815" y="2194560"/>
            <a:ext cx="82296" cy="82296"/>
          </a:xfrm>
          <a:prstGeom prst="ellipse">
            <a:avLst/>
          </a:prstGeom>
          <a:solidFill>
            <a:srgbClr val="2E9E44"/>
          </a:solidFill>
          <a:ln w="9525">
            <a:solidFill>
              <a:srgbClr val="2E9E44"/>
            </a:solidFill>
          </a:ln>
        </p:spPr>
        <p:txBody>
          <a:bodyPr rtlCol="0" anchor="ctr"/>
          <a:lstStyle/>
          <a:p>
            <a:pPr algn="ctr"/>
          </a:p>
        </p:txBody>
      </p:sp>
      <p:sp>
        <p:nvSpPr>
          <p:cNvPr id="63" name="Label Oval 62"/>
          <p:cNvSpPr/>
          <p:nvPr/>
        </p:nvSpPr>
        <p:spPr>
          <a:xfrm>
            <a:off x="10682543" y="2194560"/>
            <a:ext cx="82296" cy="82296"/>
          </a:xfrm>
          <a:prstGeom prst="ellipse">
            <a:avLst/>
          </a:prstGeom>
          <a:solidFill>
            <a:srgbClr val="FFFFFF"/>
          </a:solidFill>
          <a:ln w="9525">
            <a:solidFill>
              <a:srgbClr val="2E9E44"/>
            </a:solidFill>
          </a:ln>
        </p:spPr>
        <p:txBody>
          <a:bodyPr rtlCol="0" anchor="ctr"/>
          <a:lstStyle/>
          <a:p>
            <a:pPr algn="ctr"/>
          </a:p>
        </p:txBody>
      </p:sp>
      <p:sp>
        <p:nvSpPr>
          <p:cNvPr id="64" name="Label TextBox 63"/>
          <p:cNvSpPr txBox="1"/>
          <p:nvPr/>
        </p:nvSpPr>
        <p:spPr>
          <a:xfrm>
            <a:off x="10865423" y="2139696"/>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Regional loads</a:t>
            </a:r>
          </a:p>
        </p:txBody>
      </p:sp>
      <p:sp>
        <p:nvSpPr>
          <p:cNvPr id="65" name="Label TextBox 64"/>
          <p:cNvSpPr txBox="1"/>
          <p:nvPr/>
        </p:nvSpPr>
        <p:spPr>
          <a:xfrm>
            <a:off x="457200" y="2505456"/>
            <a:ext cx="1463040" cy="96012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Transform supply</a:t>
            </a:r>
          </a:p>
        </p:txBody>
      </p:sp>
      <p:sp>
        <p:nvSpPr>
          <p:cNvPr id="66" name="Label Rectangle 65"/>
          <p:cNvSpPr/>
          <p:nvPr/>
        </p:nvSpPr>
        <p:spPr>
          <a:xfrm>
            <a:off x="2011680" y="2505456"/>
            <a:ext cx="1559509" cy="960120"/>
          </a:xfrm>
          <a:prstGeom prst="rect">
            <a:avLst/>
          </a:prstGeom>
          <a:solidFill>
            <a:srgbClr val="D6EFDA"/>
          </a:solidFill>
          <a:ln>
            <a:noFill/>
          </a:ln>
        </p:spPr>
        <p:txBody>
          <a:bodyPr rtlCol="0" anchor="ctr"/>
          <a:lstStyle/>
          <a:p>
            <a:pPr algn="ctr"/>
          </a:p>
        </p:txBody>
      </p:sp>
      <p:sp>
        <p:nvSpPr>
          <p:cNvPr id="67" name="Label Rectangle 66"/>
          <p:cNvSpPr/>
          <p:nvPr/>
        </p:nvSpPr>
        <p:spPr>
          <a:xfrm>
            <a:off x="2011680" y="2505456"/>
            <a:ext cx="1559509" cy="54864"/>
          </a:xfrm>
          <a:prstGeom prst="rect">
            <a:avLst/>
          </a:prstGeom>
          <a:solidFill>
            <a:srgbClr val="2E9E44"/>
          </a:solidFill>
          <a:ln>
            <a:noFill/>
          </a:ln>
        </p:spPr>
        <p:txBody>
          <a:bodyPr rtlCol="0" anchor="ctr"/>
          <a:lstStyle/>
          <a:p>
            <a:pPr algn="ctr"/>
          </a:p>
        </p:txBody>
      </p:sp>
      <p:sp>
        <p:nvSpPr>
          <p:cNvPr id="68" name="Label TextBox 67"/>
          <p:cNvSpPr txBox="1"/>
          <p:nvPr/>
        </p:nvSpPr>
        <p:spPr>
          <a:xfrm>
            <a:off x="2066544"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2a</a:t>
            </a:r>
          </a:p>
        </p:txBody>
      </p:sp>
      <p:sp>
        <p:nvSpPr>
          <p:cNvPr id="69" name="Label TextBox 68"/>
          <p:cNvSpPr txBox="1"/>
          <p:nvPr/>
        </p:nvSpPr>
        <p:spPr>
          <a:xfrm>
            <a:off x="2066544"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Air and cruise</a:t>
            </a:r>
          </a:p>
        </p:txBody>
      </p:sp>
      <p:sp>
        <p:nvSpPr>
          <p:cNvPr id="70" name="Label Oval 69"/>
          <p:cNvSpPr/>
          <p:nvPr/>
        </p:nvSpPr>
        <p:spPr>
          <a:xfrm>
            <a:off x="2066544" y="3282696"/>
            <a:ext cx="82296" cy="82296"/>
          </a:xfrm>
          <a:prstGeom prst="ellipse">
            <a:avLst/>
          </a:prstGeom>
          <a:solidFill>
            <a:srgbClr val="2E9E44"/>
          </a:solidFill>
          <a:ln w="9525">
            <a:solidFill>
              <a:srgbClr val="2E9E44"/>
            </a:solidFill>
          </a:ln>
        </p:spPr>
        <p:txBody>
          <a:bodyPr rtlCol="0" anchor="ctr"/>
          <a:lstStyle/>
          <a:p>
            <a:pPr algn="ctr"/>
          </a:p>
        </p:txBody>
      </p:sp>
      <p:sp>
        <p:nvSpPr>
          <p:cNvPr id="71" name="Label Oval 70"/>
          <p:cNvSpPr/>
          <p:nvPr/>
        </p:nvSpPr>
        <p:spPr>
          <a:xfrm>
            <a:off x="2176272" y="3282696"/>
            <a:ext cx="82296" cy="82296"/>
          </a:xfrm>
          <a:prstGeom prst="ellipse">
            <a:avLst/>
          </a:prstGeom>
          <a:solidFill>
            <a:srgbClr val="2E9E44"/>
          </a:solidFill>
          <a:ln w="9525">
            <a:solidFill>
              <a:srgbClr val="2E9E44"/>
            </a:solidFill>
          </a:ln>
        </p:spPr>
        <p:txBody>
          <a:bodyPr rtlCol="0" anchor="ctr"/>
          <a:lstStyle/>
          <a:p>
            <a:pPr algn="ctr"/>
          </a:p>
        </p:txBody>
      </p:sp>
      <p:sp>
        <p:nvSpPr>
          <p:cNvPr id="72" name="Label Oval 71"/>
          <p:cNvSpPr/>
          <p:nvPr/>
        </p:nvSpPr>
        <p:spPr>
          <a:xfrm>
            <a:off x="2286000" y="3282696"/>
            <a:ext cx="82296" cy="82296"/>
          </a:xfrm>
          <a:prstGeom prst="ellipse">
            <a:avLst/>
          </a:prstGeom>
          <a:solidFill>
            <a:srgbClr val="2E9E44"/>
          </a:solidFill>
          <a:ln w="9525">
            <a:solidFill>
              <a:srgbClr val="2E9E44"/>
            </a:solidFill>
          </a:ln>
        </p:spPr>
        <p:txBody>
          <a:bodyPr rtlCol="0" anchor="ctr"/>
          <a:lstStyle/>
          <a:p>
            <a:pPr algn="ctr"/>
          </a:p>
        </p:txBody>
      </p:sp>
      <p:sp>
        <p:nvSpPr>
          <p:cNvPr id="73" name="Label TextBox 72"/>
          <p:cNvSpPr txBox="1"/>
          <p:nvPr/>
        </p:nvSpPr>
        <p:spPr>
          <a:xfrm>
            <a:off x="2468880"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Routes, cruise</a:t>
            </a:r>
          </a:p>
        </p:txBody>
      </p:sp>
      <p:sp>
        <p:nvSpPr>
          <p:cNvPr id="74" name="Label Rectangle 73"/>
          <p:cNvSpPr/>
          <p:nvPr/>
        </p:nvSpPr>
        <p:spPr>
          <a:xfrm>
            <a:off x="3644341" y="2505456"/>
            <a:ext cx="1559509" cy="960120"/>
          </a:xfrm>
          <a:prstGeom prst="rect">
            <a:avLst/>
          </a:prstGeom>
          <a:solidFill>
            <a:srgbClr val="D6EFDA"/>
          </a:solidFill>
          <a:ln>
            <a:noFill/>
          </a:ln>
        </p:spPr>
        <p:txBody>
          <a:bodyPr rtlCol="0" anchor="ctr"/>
          <a:lstStyle/>
          <a:p>
            <a:pPr algn="ctr"/>
          </a:p>
        </p:txBody>
      </p:sp>
      <p:sp>
        <p:nvSpPr>
          <p:cNvPr id="75" name="Label Rectangle 74"/>
          <p:cNvSpPr/>
          <p:nvPr/>
        </p:nvSpPr>
        <p:spPr>
          <a:xfrm>
            <a:off x="3644341" y="2505456"/>
            <a:ext cx="1559509" cy="54864"/>
          </a:xfrm>
          <a:prstGeom prst="rect">
            <a:avLst/>
          </a:prstGeom>
          <a:solidFill>
            <a:srgbClr val="2E9E44"/>
          </a:solidFill>
          <a:ln>
            <a:noFill/>
          </a:ln>
        </p:spPr>
        <p:txBody>
          <a:bodyPr rtlCol="0" anchor="ctr"/>
          <a:lstStyle/>
          <a:p>
            <a:pPr algn="ctr"/>
          </a:p>
        </p:txBody>
      </p:sp>
      <p:sp>
        <p:nvSpPr>
          <p:cNvPr id="76" name="Label TextBox 75"/>
          <p:cNvSpPr txBox="1"/>
          <p:nvPr/>
        </p:nvSpPr>
        <p:spPr>
          <a:xfrm>
            <a:off x="3699205"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2b</a:t>
            </a:r>
          </a:p>
        </p:txBody>
      </p:sp>
      <p:sp>
        <p:nvSpPr>
          <p:cNvPr id="77" name="Label TextBox 76"/>
          <p:cNvSpPr txBox="1"/>
          <p:nvPr/>
        </p:nvSpPr>
        <p:spPr>
          <a:xfrm>
            <a:off x="3699205"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Internal mobility</a:t>
            </a:r>
          </a:p>
        </p:txBody>
      </p:sp>
      <p:sp>
        <p:nvSpPr>
          <p:cNvPr id="78" name="Label Oval 77"/>
          <p:cNvSpPr/>
          <p:nvPr/>
        </p:nvSpPr>
        <p:spPr>
          <a:xfrm>
            <a:off x="3699205" y="3282696"/>
            <a:ext cx="82296" cy="82296"/>
          </a:xfrm>
          <a:prstGeom prst="ellipse">
            <a:avLst/>
          </a:prstGeom>
          <a:solidFill>
            <a:srgbClr val="2E9E44"/>
          </a:solidFill>
          <a:ln w="9525">
            <a:solidFill>
              <a:srgbClr val="2E9E44"/>
            </a:solidFill>
          </a:ln>
        </p:spPr>
        <p:txBody>
          <a:bodyPr rtlCol="0" anchor="ctr"/>
          <a:lstStyle/>
          <a:p>
            <a:pPr algn="ctr"/>
          </a:p>
        </p:txBody>
      </p:sp>
      <p:sp>
        <p:nvSpPr>
          <p:cNvPr id="79" name="Label Oval 78"/>
          <p:cNvSpPr/>
          <p:nvPr/>
        </p:nvSpPr>
        <p:spPr>
          <a:xfrm>
            <a:off x="3808933" y="3282696"/>
            <a:ext cx="82296" cy="82296"/>
          </a:xfrm>
          <a:prstGeom prst="ellipse">
            <a:avLst/>
          </a:prstGeom>
          <a:solidFill>
            <a:srgbClr val="2E9E44"/>
          </a:solidFill>
          <a:ln w="9525">
            <a:solidFill>
              <a:srgbClr val="2E9E44"/>
            </a:solidFill>
          </a:ln>
        </p:spPr>
        <p:txBody>
          <a:bodyPr rtlCol="0" anchor="ctr"/>
          <a:lstStyle/>
          <a:p>
            <a:pPr algn="ctr"/>
          </a:p>
        </p:txBody>
      </p:sp>
      <p:sp>
        <p:nvSpPr>
          <p:cNvPr id="80" name="Label Oval 79"/>
          <p:cNvSpPr/>
          <p:nvPr/>
        </p:nvSpPr>
        <p:spPr>
          <a:xfrm>
            <a:off x="3918661" y="3282696"/>
            <a:ext cx="82296" cy="82296"/>
          </a:xfrm>
          <a:prstGeom prst="ellipse">
            <a:avLst/>
          </a:prstGeom>
          <a:solidFill>
            <a:srgbClr val="2E9E44"/>
          </a:solidFill>
          <a:ln w="9525">
            <a:solidFill>
              <a:srgbClr val="2E9E44"/>
            </a:solidFill>
          </a:ln>
        </p:spPr>
        <p:txBody>
          <a:bodyPr rtlCol="0" anchor="ctr"/>
          <a:lstStyle/>
          <a:p>
            <a:pPr algn="ctr"/>
          </a:p>
        </p:txBody>
      </p:sp>
      <p:sp>
        <p:nvSpPr>
          <p:cNvPr id="81" name="Label TextBox 80"/>
          <p:cNvSpPr txBox="1"/>
          <p:nvPr/>
        </p:nvSpPr>
        <p:spPr>
          <a:xfrm>
            <a:off x="4101541"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Access decay</a:t>
            </a:r>
          </a:p>
        </p:txBody>
      </p:sp>
      <p:sp>
        <p:nvSpPr>
          <p:cNvPr id="82" name="Label Rectangle 81"/>
          <p:cNvSpPr/>
          <p:nvPr/>
        </p:nvSpPr>
        <p:spPr>
          <a:xfrm>
            <a:off x="5277002" y="2505456"/>
            <a:ext cx="1559509" cy="960120"/>
          </a:xfrm>
          <a:prstGeom prst="rect">
            <a:avLst/>
          </a:prstGeom>
          <a:solidFill>
            <a:srgbClr val="D6EFDA"/>
          </a:solidFill>
          <a:ln>
            <a:noFill/>
          </a:ln>
        </p:spPr>
        <p:txBody>
          <a:bodyPr rtlCol="0" anchor="ctr"/>
          <a:lstStyle/>
          <a:p>
            <a:pPr algn="ctr"/>
          </a:p>
        </p:txBody>
      </p:sp>
      <p:sp>
        <p:nvSpPr>
          <p:cNvPr id="83" name="Label Rectangle 82"/>
          <p:cNvSpPr/>
          <p:nvPr/>
        </p:nvSpPr>
        <p:spPr>
          <a:xfrm>
            <a:off x="5277002" y="2505456"/>
            <a:ext cx="1559509" cy="54864"/>
          </a:xfrm>
          <a:prstGeom prst="rect">
            <a:avLst/>
          </a:prstGeom>
          <a:solidFill>
            <a:srgbClr val="2E9E44"/>
          </a:solidFill>
          <a:ln>
            <a:noFill/>
          </a:ln>
        </p:spPr>
        <p:txBody>
          <a:bodyPr rtlCol="0" anchor="ctr"/>
          <a:lstStyle/>
          <a:p>
            <a:pPr algn="ctr"/>
          </a:p>
        </p:txBody>
      </p:sp>
      <p:sp>
        <p:nvSpPr>
          <p:cNvPr id="84" name="Label TextBox 83"/>
          <p:cNvSpPr txBox="1"/>
          <p:nvPr/>
        </p:nvSpPr>
        <p:spPr>
          <a:xfrm>
            <a:off x="5331866"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2c</a:t>
            </a:r>
          </a:p>
        </p:txBody>
      </p:sp>
      <p:sp>
        <p:nvSpPr>
          <p:cNvPr id="85" name="Label TextBox 84"/>
          <p:cNvSpPr txBox="1"/>
          <p:nvPr/>
        </p:nvSpPr>
        <p:spPr>
          <a:xfrm>
            <a:off x="5331866"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Visa and safety</a:t>
            </a:r>
          </a:p>
        </p:txBody>
      </p:sp>
      <p:sp>
        <p:nvSpPr>
          <p:cNvPr id="86" name="Label Oval 85"/>
          <p:cNvSpPr/>
          <p:nvPr/>
        </p:nvSpPr>
        <p:spPr>
          <a:xfrm>
            <a:off x="5331866" y="3282696"/>
            <a:ext cx="82296" cy="82296"/>
          </a:xfrm>
          <a:prstGeom prst="ellipse">
            <a:avLst/>
          </a:prstGeom>
          <a:solidFill>
            <a:srgbClr val="2E9E44"/>
          </a:solidFill>
          <a:ln w="9525">
            <a:solidFill>
              <a:srgbClr val="2E9E44"/>
            </a:solidFill>
          </a:ln>
        </p:spPr>
        <p:txBody>
          <a:bodyPr rtlCol="0" anchor="ctr"/>
          <a:lstStyle/>
          <a:p>
            <a:pPr algn="ctr"/>
          </a:p>
        </p:txBody>
      </p:sp>
      <p:sp>
        <p:nvSpPr>
          <p:cNvPr id="87" name="Label Oval 86"/>
          <p:cNvSpPr/>
          <p:nvPr/>
        </p:nvSpPr>
        <p:spPr>
          <a:xfrm>
            <a:off x="5441594" y="3282696"/>
            <a:ext cx="82296" cy="82296"/>
          </a:xfrm>
          <a:prstGeom prst="ellipse">
            <a:avLst/>
          </a:prstGeom>
          <a:solidFill>
            <a:srgbClr val="2E9E44"/>
          </a:solidFill>
          <a:ln w="9525">
            <a:solidFill>
              <a:srgbClr val="2E9E44"/>
            </a:solidFill>
          </a:ln>
        </p:spPr>
        <p:txBody>
          <a:bodyPr rtlCol="0" anchor="ctr"/>
          <a:lstStyle/>
          <a:p>
            <a:pPr algn="ctr"/>
          </a:p>
        </p:txBody>
      </p:sp>
      <p:sp>
        <p:nvSpPr>
          <p:cNvPr id="88" name="Label Oval 87"/>
          <p:cNvSpPr/>
          <p:nvPr/>
        </p:nvSpPr>
        <p:spPr>
          <a:xfrm>
            <a:off x="5551322" y="3282696"/>
            <a:ext cx="82296" cy="82296"/>
          </a:xfrm>
          <a:prstGeom prst="ellipse">
            <a:avLst/>
          </a:prstGeom>
          <a:solidFill>
            <a:srgbClr val="2E9E44"/>
          </a:solidFill>
          <a:ln w="9525">
            <a:solidFill>
              <a:srgbClr val="2E9E44"/>
            </a:solidFill>
          </a:ln>
        </p:spPr>
        <p:txBody>
          <a:bodyPr rtlCol="0" anchor="ctr"/>
          <a:lstStyle/>
          <a:p>
            <a:pPr algn="ctr"/>
          </a:p>
        </p:txBody>
      </p:sp>
      <p:sp>
        <p:nvSpPr>
          <p:cNvPr id="89" name="Label TextBox 88"/>
          <p:cNvSpPr txBox="1"/>
          <p:nvPr/>
        </p:nvSpPr>
        <p:spPr>
          <a:xfrm>
            <a:off x="5734202"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eVisa, safety</a:t>
            </a:r>
          </a:p>
        </p:txBody>
      </p:sp>
      <p:sp>
        <p:nvSpPr>
          <p:cNvPr id="90" name="Label Rectangle 89"/>
          <p:cNvSpPr/>
          <p:nvPr/>
        </p:nvSpPr>
        <p:spPr>
          <a:xfrm>
            <a:off x="6909663" y="2505456"/>
            <a:ext cx="1559509" cy="960120"/>
          </a:xfrm>
          <a:prstGeom prst="rect">
            <a:avLst/>
          </a:prstGeom>
          <a:solidFill>
            <a:srgbClr val="D6EFDA"/>
          </a:solidFill>
          <a:ln>
            <a:noFill/>
          </a:ln>
        </p:spPr>
        <p:txBody>
          <a:bodyPr rtlCol="0" anchor="ctr"/>
          <a:lstStyle/>
          <a:p>
            <a:pPr algn="ctr"/>
          </a:p>
        </p:txBody>
      </p:sp>
      <p:sp>
        <p:nvSpPr>
          <p:cNvPr id="91" name="Label Rectangle 90"/>
          <p:cNvSpPr/>
          <p:nvPr/>
        </p:nvSpPr>
        <p:spPr>
          <a:xfrm>
            <a:off x="6909663" y="2505456"/>
            <a:ext cx="1559509" cy="54864"/>
          </a:xfrm>
          <a:prstGeom prst="rect">
            <a:avLst/>
          </a:prstGeom>
          <a:solidFill>
            <a:srgbClr val="2E9E44"/>
          </a:solidFill>
          <a:ln>
            <a:noFill/>
          </a:ln>
        </p:spPr>
        <p:txBody>
          <a:bodyPr rtlCol="0" anchor="ctr"/>
          <a:lstStyle/>
          <a:p>
            <a:pPr algn="ctr"/>
          </a:p>
        </p:txBody>
      </p:sp>
      <p:sp>
        <p:nvSpPr>
          <p:cNvPr id="92" name="Label TextBox 91"/>
          <p:cNvSpPr txBox="1"/>
          <p:nvPr/>
        </p:nvSpPr>
        <p:spPr>
          <a:xfrm>
            <a:off x="6964527"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2d</a:t>
            </a:r>
          </a:p>
        </p:txBody>
      </p:sp>
      <p:sp>
        <p:nvSpPr>
          <p:cNvPr id="93" name="Label TextBox 92"/>
          <p:cNvSpPr txBox="1"/>
          <p:nvPr/>
        </p:nvSpPr>
        <p:spPr>
          <a:xfrm>
            <a:off x="6964527"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Route and product</a:t>
            </a:r>
          </a:p>
        </p:txBody>
      </p:sp>
      <p:sp>
        <p:nvSpPr>
          <p:cNvPr id="94" name="Label Oval 93"/>
          <p:cNvSpPr/>
          <p:nvPr/>
        </p:nvSpPr>
        <p:spPr>
          <a:xfrm>
            <a:off x="6964527" y="3282696"/>
            <a:ext cx="82296" cy="82296"/>
          </a:xfrm>
          <a:prstGeom prst="ellipse">
            <a:avLst/>
          </a:prstGeom>
          <a:solidFill>
            <a:srgbClr val="2E9E44"/>
          </a:solidFill>
          <a:ln w="9525">
            <a:solidFill>
              <a:srgbClr val="2E9E44"/>
            </a:solidFill>
          </a:ln>
        </p:spPr>
        <p:txBody>
          <a:bodyPr rtlCol="0" anchor="ctr"/>
          <a:lstStyle/>
          <a:p>
            <a:pPr algn="ctr"/>
          </a:p>
        </p:txBody>
      </p:sp>
      <p:sp>
        <p:nvSpPr>
          <p:cNvPr id="95" name="Label Oval 94"/>
          <p:cNvSpPr/>
          <p:nvPr/>
        </p:nvSpPr>
        <p:spPr>
          <a:xfrm>
            <a:off x="7074255" y="3282696"/>
            <a:ext cx="82296" cy="82296"/>
          </a:xfrm>
          <a:prstGeom prst="ellipse">
            <a:avLst/>
          </a:prstGeom>
          <a:solidFill>
            <a:srgbClr val="2E9E44"/>
          </a:solidFill>
          <a:ln w="9525">
            <a:solidFill>
              <a:srgbClr val="2E9E44"/>
            </a:solidFill>
          </a:ln>
        </p:spPr>
        <p:txBody>
          <a:bodyPr rtlCol="0" anchor="ctr"/>
          <a:lstStyle/>
          <a:p>
            <a:pPr algn="ctr"/>
          </a:p>
        </p:txBody>
      </p:sp>
      <p:sp>
        <p:nvSpPr>
          <p:cNvPr id="96" name="Label Oval 95"/>
          <p:cNvSpPr/>
          <p:nvPr/>
        </p:nvSpPr>
        <p:spPr>
          <a:xfrm>
            <a:off x="7183983" y="3282696"/>
            <a:ext cx="82296" cy="82296"/>
          </a:xfrm>
          <a:prstGeom prst="ellipse">
            <a:avLst/>
          </a:prstGeom>
          <a:solidFill>
            <a:srgbClr val="2E9E44"/>
          </a:solidFill>
          <a:ln w="9525">
            <a:solidFill>
              <a:srgbClr val="2E9E44"/>
            </a:solidFill>
          </a:ln>
        </p:spPr>
        <p:txBody>
          <a:bodyPr rtlCol="0" anchor="ctr"/>
          <a:lstStyle/>
          <a:p>
            <a:pPr algn="ctr"/>
          </a:p>
        </p:txBody>
      </p:sp>
      <p:sp>
        <p:nvSpPr>
          <p:cNvPr id="97" name="Label TextBox 96"/>
          <p:cNvSpPr txBox="1"/>
          <p:nvPr/>
        </p:nvSpPr>
        <p:spPr>
          <a:xfrm>
            <a:off x="7366863"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Idle assets</a:t>
            </a:r>
          </a:p>
        </p:txBody>
      </p:sp>
      <p:sp>
        <p:nvSpPr>
          <p:cNvPr id="98" name="Label Rectangle 97"/>
          <p:cNvSpPr/>
          <p:nvPr/>
        </p:nvSpPr>
        <p:spPr>
          <a:xfrm>
            <a:off x="8542324" y="2505456"/>
            <a:ext cx="1559509" cy="960120"/>
          </a:xfrm>
          <a:prstGeom prst="rect">
            <a:avLst/>
          </a:prstGeom>
          <a:solidFill>
            <a:srgbClr val="D6EFDA"/>
          </a:solidFill>
          <a:ln>
            <a:noFill/>
          </a:ln>
        </p:spPr>
        <p:txBody>
          <a:bodyPr rtlCol="0" anchor="ctr"/>
          <a:lstStyle/>
          <a:p>
            <a:pPr algn="ctr"/>
          </a:p>
        </p:txBody>
      </p:sp>
      <p:sp>
        <p:nvSpPr>
          <p:cNvPr id="99" name="Label Rectangle 98"/>
          <p:cNvSpPr/>
          <p:nvPr/>
        </p:nvSpPr>
        <p:spPr>
          <a:xfrm>
            <a:off x="8542324" y="2505456"/>
            <a:ext cx="1559509" cy="54864"/>
          </a:xfrm>
          <a:prstGeom prst="rect">
            <a:avLst/>
          </a:prstGeom>
          <a:solidFill>
            <a:srgbClr val="2E9E44"/>
          </a:solidFill>
          <a:ln>
            <a:noFill/>
          </a:ln>
        </p:spPr>
        <p:txBody>
          <a:bodyPr rtlCol="0" anchor="ctr"/>
          <a:lstStyle/>
          <a:p>
            <a:pPr algn="ctr"/>
          </a:p>
        </p:txBody>
      </p:sp>
      <p:sp>
        <p:nvSpPr>
          <p:cNvPr id="100" name="Label TextBox 99"/>
          <p:cNvSpPr txBox="1"/>
          <p:nvPr/>
        </p:nvSpPr>
        <p:spPr>
          <a:xfrm>
            <a:off x="8597188"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2e</a:t>
            </a:r>
          </a:p>
        </p:txBody>
      </p:sp>
      <p:sp>
        <p:nvSpPr>
          <p:cNvPr id="101" name="Label TextBox 100"/>
          <p:cNvSpPr txBox="1"/>
          <p:nvPr/>
        </p:nvSpPr>
        <p:spPr>
          <a:xfrm>
            <a:off x="8597188"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Visitor experience</a:t>
            </a:r>
          </a:p>
        </p:txBody>
      </p:sp>
      <p:sp>
        <p:nvSpPr>
          <p:cNvPr id="102" name="Label Oval 101"/>
          <p:cNvSpPr/>
          <p:nvPr/>
        </p:nvSpPr>
        <p:spPr>
          <a:xfrm>
            <a:off x="8597188" y="3282696"/>
            <a:ext cx="82296" cy="82296"/>
          </a:xfrm>
          <a:prstGeom prst="ellipse">
            <a:avLst/>
          </a:prstGeom>
          <a:solidFill>
            <a:srgbClr val="2E9E44"/>
          </a:solidFill>
          <a:ln w="9525">
            <a:solidFill>
              <a:srgbClr val="2E9E44"/>
            </a:solidFill>
          </a:ln>
        </p:spPr>
        <p:txBody>
          <a:bodyPr rtlCol="0" anchor="ctr"/>
          <a:lstStyle/>
          <a:p>
            <a:pPr algn="ctr"/>
          </a:p>
        </p:txBody>
      </p:sp>
      <p:sp>
        <p:nvSpPr>
          <p:cNvPr id="103" name="Label Oval 102"/>
          <p:cNvSpPr/>
          <p:nvPr/>
        </p:nvSpPr>
        <p:spPr>
          <a:xfrm>
            <a:off x="8706916" y="3282696"/>
            <a:ext cx="82296" cy="82296"/>
          </a:xfrm>
          <a:prstGeom prst="ellipse">
            <a:avLst/>
          </a:prstGeom>
          <a:solidFill>
            <a:srgbClr val="2E9E44"/>
          </a:solidFill>
          <a:ln w="9525">
            <a:solidFill>
              <a:srgbClr val="2E9E44"/>
            </a:solidFill>
          </a:ln>
        </p:spPr>
        <p:txBody>
          <a:bodyPr rtlCol="0" anchor="ctr"/>
          <a:lstStyle/>
          <a:p>
            <a:pPr algn="ctr"/>
          </a:p>
        </p:txBody>
      </p:sp>
      <p:sp>
        <p:nvSpPr>
          <p:cNvPr id="104" name="Label Oval 103"/>
          <p:cNvSpPr/>
          <p:nvPr/>
        </p:nvSpPr>
        <p:spPr>
          <a:xfrm>
            <a:off x="8816644" y="3282696"/>
            <a:ext cx="82296" cy="82296"/>
          </a:xfrm>
          <a:prstGeom prst="ellipse">
            <a:avLst/>
          </a:prstGeom>
          <a:solidFill>
            <a:srgbClr val="FFFFFF"/>
          </a:solidFill>
          <a:ln w="9525">
            <a:solidFill>
              <a:srgbClr val="2E9E44"/>
            </a:solidFill>
          </a:ln>
        </p:spPr>
        <p:txBody>
          <a:bodyPr rtlCol="0" anchor="ctr"/>
          <a:lstStyle/>
          <a:p>
            <a:pPr algn="ctr"/>
          </a:p>
        </p:txBody>
      </p:sp>
      <p:sp>
        <p:nvSpPr>
          <p:cNvPr id="105" name="Label TextBox 104"/>
          <p:cNvSpPr txBox="1"/>
          <p:nvPr/>
        </p:nvSpPr>
        <p:spPr>
          <a:xfrm>
            <a:off x="8999524"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Mid-scale gap</a:t>
            </a:r>
          </a:p>
        </p:txBody>
      </p:sp>
      <p:sp>
        <p:nvSpPr>
          <p:cNvPr id="106" name="Label Rectangle 105"/>
          <p:cNvSpPr/>
          <p:nvPr/>
        </p:nvSpPr>
        <p:spPr>
          <a:xfrm>
            <a:off x="10174986" y="2505456"/>
            <a:ext cx="1559509" cy="960120"/>
          </a:xfrm>
          <a:prstGeom prst="rect">
            <a:avLst/>
          </a:prstGeom>
          <a:solidFill>
            <a:srgbClr val="D6EFDA"/>
          </a:solidFill>
          <a:ln>
            <a:noFill/>
          </a:ln>
        </p:spPr>
        <p:txBody>
          <a:bodyPr rtlCol="0" anchor="ctr"/>
          <a:lstStyle/>
          <a:p>
            <a:pPr algn="ctr"/>
          </a:p>
        </p:txBody>
      </p:sp>
      <p:sp>
        <p:nvSpPr>
          <p:cNvPr id="107" name="Label Rectangle 106"/>
          <p:cNvSpPr/>
          <p:nvPr/>
        </p:nvSpPr>
        <p:spPr>
          <a:xfrm>
            <a:off x="10174986" y="2505456"/>
            <a:ext cx="1559509" cy="54864"/>
          </a:xfrm>
          <a:prstGeom prst="rect">
            <a:avLst/>
          </a:prstGeom>
          <a:solidFill>
            <a:srgbClr val="2E9E44"/>
          </a:solidFill>
          <a:ln>
            <a:noFill/>
          </a:ln>
        </p:spPr>
        <p:txBody>
          <a:bodyPr rtlCol="0" anchor="ctr"/>
          <a:lstStyle/>
          <a:p>
            <a:pPr algn="ctr"/>
          </a:p>
        </p:txBody>
      </p:sp>
      <p:sp>
        <p:nvSpPr>
          <p:cNvPr id="108" name="Label TextBox 107"/>
          <p:cNvSpPr txBox="1"/>
          <p:nvPr/>
        </p:nvSpPr>
        <p:spPr>
          <a:xfrm>
            <a:off x="10229850" y="2578608"/>
            <a:ext cx="1449781"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2f</a:t>
            </a:r>
          </a:p>
        </p:txBody>
      </p:sp>
      <p:sp>
        <p:nvSpPr>
          <p:cNvPr id="109" name="Label TextBox 108"/>
          <p:cNvSpPr txBox="1"/>
          <p:nvPr/>
        </p:nvSpPr>
        <p:spPr>
          <a:xfrm>
            <a:off x="10229850" y="2724912"/>
            <a:ext cx="1449781"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Nature attractions</a:t>
            </a:r>
          </a:p>
        </p:txBody>
      </p:sp>
      <p:sp>
        <p:nvSpPr>
          <p:cNvPr id="110" name="Label Oval 109"/>
          <p:cNvSpPr/>
          <p:nvPr/>
        </p:nvSpPr>
        <p:spPr>
          <a:xfrm>
            <a:off x="10229850" y="3282696"/>
            <a:ext cx="82296" cy="82296"/>
          </a:xfrm>
          <a:prstGeom prst="ellipse">
            <a:avLst/>
          </a:prstGeom>
          <a:solidFill>
            <a:srgbClr val="2E9E44"/>
          </a:solidFill>
          <a:ln w="9525">
            <a:solidFill>
              <a:srgbClr val="2E9E44"/>
            </a:solidFill>
          </a:ln>
        </p:spPr>
        <p:txBody>
          <a:bodyPr rtlCol="0" anchor="ctr"/>
          <a:lstStyle/>
          <a:p>
            <a:pPr algn="ctr"/>
          </a:p>
        </p:txBody>
      </p:sp>
      <p:sp>
        <p:nvSpPr>
          <p:cNvPr id="111" name="Label Oval 110"/>
          <p:cNvSpPr/>
          <p:nvPr/>
        </p:nvSpPr>
        <p:spPr>
          <a:xfrm>
            <a:off x="10339578" y="3282696"/>
            <a:ext cx="82296" cy="82296"/>
          </a:xfrm>
          <a:prstGeom prst="ellipse">
            <a:avLst/>
          </a:prstGeom>
          <a:solidFill>
            <a:srgbClr val="2E9E44"/>
          </a:solidFill>
          <a:ln w="9525">
            <a:solidFill>
              <a:srgbClr val="2E9E44"/>
            </a:solidFill>
          </a:ln>
        </p:spPr>
        <p:txBody>
          <a:bodyPr rtlCol="0" anchor="ctr"/>
          <a:lstStyle/>
          <a:p>
            <a:pPr algn="ctr"/>
          </a:p>
        </p:txBody>
      </p:sp>
      <p:sp>
        <p:nvSpPr>
          <p:cNvPr id="112" name="Label Oval 111"/>
          <p:cNvSpPr/>
          <p:nvPr/>
        </p:nvSpPr>
        <p:spPr>
          <a:xfrm>
            <a:off x="10449306" y="3282696"/>
            <a:ext cx="82296" cy="82296"/>
          </a:xfrm>
          <a:prstGeom prst="ellipse">
            <a:avLst/>
          </a:prstGeom>
          <a:solidFill>
            <a:srgbClr val="FFFFFF"/>
          </a:solidFill>
          <a:ln w="9525">
            <a:solidFill>
              <a:srgbClr val="2E9E44"/>
            </a:solidFill>
          </a:ln>
        </p:spPr>
        <p:txBody>
          <a:bodyPr rtlCol="0" anchor="ctr"/>
          <a:lstStyle/>
          <a:p>
            <a:pPr algn="ctr"/>
          </a:p>
        </p:txBody>
      </p:sp>
      <p:sp>
        <p:nvSpPr>
          <p:cNvPr id="113" name="Label TextBox 112"/>
          <p:cNvSpPr txBox="1"/>
          <p:nvPr/>
        </p:nvSpPr>
        <p:spPr>
          <a:xfrm>
            <a:off x="10632186" y="3227832"/>
            <a:ext cx="1056589"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Flagship limits</a:t>
            </a:r>
          </a:p>
        </p:txBody>
      </p:sp>
      <p:sp>
        <p:nvSpPr>
          <p:cNvPr id="114" name="Label TextBox 113"/>
          <p:cNvSpPr txBox="1"/>
          <p:nvPr/>
        </p:nvSpPr>
        <p:spPr>
          <a:xfrm>
            <a:off x="457200" y="3593592"/>
            <a:ext cx="1463040" cy="96012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Build enabling capability</a:t>
            </a:r>
          </a:p>
        </p:txBody>
      </p:sp>
      <p:sp>
        <p:nvSpPr>
          <p:cNvPr id="115" name="Label Rectangle 114"/>
          <p:cNvSpPr/>
          <p:nvPr/>
        </p:nvSpPr>
        <p:spPr>
          <a:xfrm>
            <a:off x="2011680" y="3593592"/>
            <a:ext cx="1326271" cy="960120"/>
          </a:xfrm>
          <a:prstGeom prst="rect">
            <a:avLst/>
          </a:prstGeom>
          <a:solidFill>
            <a:srgbClr val="D6EFDA"/>
          </a:solidFill>
          <a:ln>
            <a:noFill/>
          </a:ln>
        </p:spPr>
        <p:txBody>
          <a:bodyPr rtlCol="0" anchor="ctr"/>
          <a:lstStyle/>
          <a:p>
            <a:pPr algn="ctr"/>
          </a:p>
        </p:txBody>
      </p:sp>
      <p:sp>
        <p:nvSpPr>
          <p:cNvPr id="116" name="Label Rectangle 115"/>
          <p:cNvSpPr/>
          <p:nvPr/>
        </p:nvSpPr>
        <p:spPr>
          <a:xfrm>
            <a:off x="2011680" y="3593592"/>
            <a:ext cx="1326271" cy="54864"/>
          </a:xfrm>
          <a:prstGeom prst="rect">
            <a:avLst/>
          </a:prstGeom>
          <a:solidFill>
            <a:srgbClr val="2E9E44"/>
          </a:solidFill>
          <a:ln>
            <a:noFill/>
          </a:ln>
        </p:spPr>
        <p:txBody>
          <a:bodyPr rtlCol="0" anchor="ctr"/>
          <a:lstStyle/>
          <a:p>
            <a:pPr algn="ctr"/>
          </a:p>
        </p:txBody>
      </p:sp>
      <p:sp>
        <p:nvSpPr>
          <p:cNvPr id="117" name="Label TextBox 116"/>
          <p:cNvSpPr txBox="1"/>
          <p:nvPr/>
        </p:nvSpPr>
        <p:spPr>
          <a:xfrm>
            <a:off x="2066544"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3a</a:t>
            </a:r>
          </a:p>
        </p:txBody>
      </p:sp>
      <p:sp>
        <p:nvSpPr>
          <p:cNvPr id="118" name="Label TextBox 117"/>
          <p:cNvSpPr txBox="1"/>
          <p:nvPr/>
        </p:nvSpPr>
        <p:spPr>
          <a:xfrm>
            <a:off x="2066544"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Community inclusion</a:t>
            </a:r>
          </a:p>
        </p:txBody>
      </p:sp>
      <p:sp>
        <p:nvSpPr>
          <p:cNvPr id="119" name="Label Oval 118"/>
          <p:cNvSpPr/>
          <p:nvPr/>
        </p:nvSpPr>
        <p:spPr>
          <a:xfrm>
            <a:off x="2066544" y="4370832"/>
            <a:ext cx="82296" cy="82296"/>
          </a:xfrm>
          <a:prstGeom prst="ellipse">
            <a:avLst/>
          </a:prstGeom>
          <a:solidFill>
            <a:srgbClr val="2E9E44"/>
          </a:solidFill>
          <a:ln w="9525">
            <a:solidFill>
              <a:srgbClr val="2E9E44"/>
            </a:solidFill>
          </a:ln>
        </p:spPr>
        <p:txBody>
          <a:bodyPr rtlCol="0" anchor="ctr"/>
          <a:lstStyle/>
          <a:p>
            <a:pPr algn="ctr"/>
          </a:p>
        </p:txBody>
      </p:sp>
      <p:sp>
        <p:nvSpPr>
          <p:cNvPr id="120" name="Label Oval 119"/>
          <p:cNvSpPr/>
          <p:nvPr/>
        </p:nvSpPr>
        <p:spPr>
          <a:xfrm>
            <a:off x="2176272" y="4370832"/>
            <a:ext cx="82296" cy="82296"/>
          </a:xfrm>
          <a:prstGeom prst="ellipse">
            <a:avLst/>
          </a:prstGeom>
          <a:solidFill>
            <a:srgbClr val="2E9E44"/>
          </a:solidFill>
          <a:ln w="9525">
            <a:solidFill>
              <a:srgbClr val="2E9E44"/>
            </a:solidFill>
          </a:ln>
        </p:spPr>
        <p:txBody>
          <a:bodyPr rtlCol="0" anchor="ctr"/>
          <a:lstStyle/>
          <a:p>
            <a:pPr algn="ctr"/>
          </a:p>
        </p:txBody>
      </p:sp>
      <p:sp>
        <p:nvSpPr>
          <p:cNvPr id="121" name="Label Oval 120"/>
          <p:cNvSpPr/>
          <p:nvPr/>
        </p:nvSpPr>
        <p:spPr>
          <a:xfrm>
            <a:off x="2286000" y="4370832"/>
            <a:ext cx="82296" cy="82296"/>
          </a:xfrm>
          <a:prstGeom prst="ellipse">
            <a:avLst/>
          </a:prstGeom>
          <a:solidFill>
            <a:srgbClr val="2E9E44"/>
          </a:solidFill>
          <a:ln w="9525">
            <a:solidFill>
              <a:srgbClr val="2E9E44"/>
            </a:solidFill>
          </a:ln>
        </p:spPr>
        <p:txBody>
          <a:bodyPr rtlCol="0" anchor="ctr"/>
          <a:lstStyle/>
          <a:p>
            <a:pPr algn="ctr"/>
          </a:p>
        </p:txBody>
      </p:sp>
      <p:sp>
        <p:nvSpPr>
          <p:cNvPr id="122" name="Label TextBox 121"/>
          <p:cNvSpPr txBox="1"/>
          <p:nvPr/>
        </p:nvSpPr>
        <p:spPr>
          <a:xfrm>
            <a:off x="2468880"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Spend capture</a:t>
            </a:r>
          </a:p>
        </p:txBody>
      </p:sp>
      <p:sp>
        <p:nvSpPr>
          <p:cNvPr id="123" name="Label Rectangle 122"/>
          <p:cNvSpPr/>
          <p:nvPr/>
        </p:nvSpPr>
        <p:spPr>
          <a:xfrm>
            <a:off x="3411103" y="3593592"/>
            <a:ext cx="1326271" cy="960120"/>
          </a:xfrm>
          <a:prstGeom prst="rect">
            <a:avLst/>
          </a:prstGeom>
          <a:solidFill>
            <a:srgbClr val="F2F2F2"/>
          </a:solidFill>
          <a:ln>
            <a:noFill/>
          </a:ln>
        </p:spPr>
        <p:txBody>
          <a:bodyPr rtlCol="0" anchor="ctr"/>
          <a:lstStyle/>
          <a:p>
            <a:pPr algn="ctr"/>
          </a:p>
        </p:txBody>
      </p:sp>
      <p:sp>
        <p:nvSpPr>
          <p:cNvPr id="124" name="Label Rectangle 123"/>
          <p:cNvSpPr/>
          <p:nvPr/>
        </p:nvSpPr>
        <p:spPr>
          <a:xfrm>
            <a:off x="3411103" y="3593592"/>
            <a:ext cx="1326271" cy="54864"/>
          </a:xfrm>
          <a:prstGeom prst="rect">
            <a:avLst/>
          </a:prstGeom>
          <a:solidFill>
            <a:srgbClr val="7F7F7F"/>
          </a:solidFill>
          <a:ln>
            <a:noFill/>
          </a:ln>
        </p:spPr>
        <p:txBody>
          <a:bodyPr rtlCol="0" anchor="ctr"/>
          <a:lstStyle/>
          <a:p>
            <a:pPr algn="ctr"/>
          </a:p>
        </p:txBody>
      </p:sp>
      <p:sp>
        <p:nvSpPr>
          <p:cNvPr id="125" name="Label TextBox 124"/>
          <p:cNvSpPr txBox="1"/>
          <p:nvPr/>
        </p:nvSpPr>
        <p:spPr>
          <a:xfrm>
            <a:off x="3465967"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3b</a:t>
            </a:r>
          </a:p>
        </p:txBody>
      </p:sp>
      <p:sp>
        <p:nvSpPr>
          <p:cNvPr id="126" name="Label TextBox 125"/>
          <p:cNvSpPr txBox="1"/>
          <p:nvPr/>
        </p:nvSpPr>
        <p:spPr>
          <a:xfrm>
            <a:off x="3465967"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Workforce skills</a:t>
            </a:r>
          </a:p>
        </p:txBody>
      </p:sp>
      <p:sp>
        <p:nvSpPr>
          <p:cNvPr id="127" name="Label Oval 126"/>
          <p:cNvSpPr/>
          <p:nvPr/>
        </p:nvSpPr>
        <p:spPr>
          <a:xfrm>
            <a:off x="3465967" y="4370832"/>
            <a:ext cx="82296" cy="82296"/>
          </a:xfrm>
          <a:prstGeom prst="ellipse">
            <a:avLst/>
          </a:prstGeom>
          <a:solidFill>
            <a:srgbClr val="7F7F7F"/>
          </a:solidFill>
          <a:ln w="9525">
            <a:solidFill>
              <a:srgbClr val="7F7F7F"/>
            </a:solidFill>
          </a:ln>
        </p:spPr>
        <p:txBody>
          <a:bodyPr rtlCol="0" anchor="ctr"/>
          <a:lstStyle/>
          <a:p>
            <a:pPr algn="ctr"/>
          </a:p>
        </p:txBody>
      </p:sp>
      <p:sp>
        <p:nvSpPr>
          <p:cNvPr id="128" name="Label Oval 127"/>
          <p:cNvSpPr/>
          <p:nvPr/>
        </p:nvSpPr>
        <p:spPr>
          <a:xfrm>
            <a:off x="3575695" y="4370832"/>
            <a:ext cx="82296" cy="82296"/>
          </a:xfrm>
          <a:prstGeom prst="ellipse">
            <a:avLst/>
          </a:prstGeom>
          <a:solidFill>
            <a:srgbClr val="FFFFFF"/>
          </a:solidFill>
          <a:ln w="9525">
            <a:solidFill>
              <a:srgbClr val="7F7F7F"/>
            </a:solidFill>
          </a:ln>
        </p:spPr>
        <p:txBody>
          <a:bodyPr rtlCol="0" anchor="ctr"/>
          <a:lstStyle/>
          <a:p>
            <a:pPr algn="ctr"/>
          </a:p>
        </p:txBody>
      </p:sp>
      <p:sp>
        <p:nvSpPr>
          <p:cNvPr id="129" name="Label Oval 128"/>
          <p:cNvSpPr/>
          <p:nvPr/>
        </p:nvSpPr>
        <p:spPr>
          <a:xfrm>
            <a:off x="3685423" y="4370832"/>
            <a:ext cx="82296" cy="82296"/>
          </a:xfrm>
          <a:prstGeom prst="ellipse">
            <a:avLst/>
          </a:prstGeom>
          <a:solidFill>
            <a:srgbClr val="FFFFFF"/>
          </a:solidFill>
          <a:ln w="9525">
            <a:solidFill>
              <a:srgbClr val="7F7F7F"/>
            </a:solidFill>
          </a:ln>
        </p:spPr>
        <p:txBody>
          <a:bodyPr rtlCol="0" anchor="ctr"/>
          <a:lstStyle/>
          <a:p>
            <a:pPr algn="ctr"/>
          </a:p>
        </p:txBody>
      </p:sp>
      <p:sp>
        <p:nvSpPr>
          <p:cNvPr id="130" name="Label TextBox 129"/>
          <p:cNvSpPr txBox="1"/>
          <p:nvPr/>
        </p:nvSpPr>
        <p:spPr>
          <a:xfrm>
            <a:off x="3868303"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No analysis</a:t>
            </a:r>
          </a:p>
        </p:txBody>
      </p:sp>
      <p:sp>
        <p:nvSpPr>
          <p:cNvPr id="131" name="Label Rectangle 130"/>
          <p:cNvSpPr/>
          <p:nvPr/>
        </p:nvSpPr>
        <p:spPr>
          <a:xfrm>
            <a:off x="4810527" y="3593592"/>
            <a:ext cx="1326271" cy="960120"/>
          </a:xfrm>
          <a:prstGeom prst="rect">
            <a:avLst/>
          </a:prstGeom>
          <a:solidFill>
            <a:srgbClr val="FDECC8"/>
          </a:solidFill>
          <a:ln>
            <a:noFill/>
          </a:ln>
        </p:spPr>
        <p:txBody>
          <a:bodyPr rtlCol="0" anchor="ctr"/>
          <a:lstStyle/>
          <a:p>
            <a:pPr algn="ctr"/>
          </a:p>
        </p:txBody>
      </p:sp>
      <p:sp>
        <p:nvSpPr>
          <p:cNvPr id="132" name="Label Rectangle 131"/>
          <p:cNvSpPr/>
          <p:nvPr/>
        </p:nvSpPr>
        <p:spPr>
          <a:xfrm>
            <a:off x="4810527" y="3593592"/>
            <a:ext cx="1326271" cy="54864"/>
          </a:xfrm>
          <a:prstGeom prst="rect">
            <a:avLst/>
          </a:prstGeom>
          <a:solidFill>
            <a:srgbClr val="F2A900"/>
          </a:solidFill>
          <a:ln>
            <a:noFill/>
          </a:ln>
        </p:spPr>
        <p:txBody>
          <a:bodyPr rtlCol="0" anchor="ctr"/>
          <a:lstStyle/>
          <a:p>
            <a:pPr algn="ctr"/>
          </a:p>
        </p:txBody>
      </p:sp>
      <p:sp>
        <p:nvSpPr>
          <p:cNvPr id="133" name="Label TextBox 132"/>
          <p:cNvSpPr txBox="1"/>
          <p:nvPr/>
        </p:nvSpPr>
        <p:spPr>
          <a:xfrm>
            <a:off x="4865391"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3c</a:t>
            </a:r>
          </a:p>
        </p:txBody>
      </p:sp>
      <p:sp>
        <p:nvSpPr>
          <p:cNvPr id="134" name="Label TextBox 133"/>
          <p:cNvSpPr txBox="1"/>
          <p:nvPr/>
        </p:nvSpPr>
        <p:spPr>
          <a:xfrm>
            <a:off x="4865391"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Resilience</a:t>
            </a:r>
          </a:p>
        </p:txBody>
      </p:sp>
      <p:sp>
        <p:nvSpPr>
          <p:cNvPr id="135" name="Label Oval 134"/>
          <p:cNvSpPr/>
          <p:nvPr/>
        </p:nvSpPr>
        <p:spPr>
          <a:xfrm>
            <a:off x="4865391" y="4370832"/>
            <a:ext cx="82296" cy="82296"/>
          </a:xfrm>
          <a:prstGeom prst="ellipse">
            <a:avLst/>
          </a:prstGeom>
          <a:solidFill>
            <a:srgbClr val="F2A900"/>
          </a:solidFill>
          <a:ln w="9525">
            <a:solidFill>
              <a:srgbClr val="F2A900"/>
            </a:solidFill>
          </a:ln>
        </p:spPr>
        <p:txBody>
          <a:bodyPr rtlCol="0" anchor="ctr"/>
          <a:lstStyle/>
          <a:p>
            <a:pPr algn="ctr"/>
          </a:p>
        </p:txBody>
      </p:sp>
      <p:sp>
        <p:nvSpPr>
          <p:cNvPr id="136" name="Label Oval 135"/>
          <p:cNvSpPr/>
          <p:nvPr/>
        </p:nvSpPr>
        <p:spPr>
          <a:xfrm>
            <a:off x="4975119" y="4370832"/>
            <a:ext cx="82296" cy="82296"/>
          </a:xfrm>
          <a:prstGeom prst="ellipse">
            <a:avLst/>
          </a:prstGeom>
          <a:solidFill>
            <a:srgbClr val="FFFFFF"/>
          </a:solidFill>
          <a:ln w="9525">
            <a:solidFill>
              <a:srgbClr val="F2A900"/>
            </a:solidFill>
          </a:ln>
        </p:spPr>
        <p:txBody>
          <a:bodyPr rtlCol="0" anchor="ctr"/>
          <a:lstStyle/>
          <a:p>
            <a:pPr algn="ctr"/>
          </a:p>
        </p:txBody>
      </p:sp>
      <p:sp>
        <p:nvSpPr>
          <p:cNvPr id="137" name="Label Oval 136"/>
          <p:cNvSpPr/>
          <p:nvPr/>
        </p:nvSpPr>
        <p:spPr>
          <a:xfrm>
            <a:off x="5084847" y="4370832"/>
            <a:ext cx="82296" cy="82296"/>
          </a:xfrm>
          <a:prstGeom prst="ellipse">
            <a:avLst/>
          </a:prstGeom>
          <a:solidFill>
            <a:srgbClr val="FFFFFF"/>
          </a:solidFill>
          <a:ln w="9525">
            <a:solidFill>
              <a:srgbClr val="F2A900"/>
            </a:solidFill>
          </a:ln>
        </p:spPr>
        <p:txBody>
          <a:bodyPr rtlCol="0" anchor="ctr"/>
          <a:lstStyle/>
          <a:p>
            <a:pPr algn="ctr"/>
          </a:p>
        </p:txBody>
      </p:sp>
      <p:sp>
        <p:nvSpPr>
          <p:cNvPr id="138" name="Label TextBox 137"/>
          <p:cNvSpPr txBox="1"/>
          <p:nvPr/>
        </p:nvSpPr>
        <p:spPr>
          <a:xfrm>
            <a:off x="5267727"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Flood risk</a:t>
            </a:r>
          </a:p>
        </p:txBody>
      </p:sp>
      <p:sp>
        <p:nvSpPr>
          <p:cNvPr id="139" name="Label Rectangle 138"/>
          <p:cNvSpPr/>
          <p:nvPr/>
        </p:nvSpPr>
        <p:spPr>
          <a:xfrm>
            <a:off x="6209951" y="3593592"/>
            <a:ext cx="1326271" cy="960120"/>
          </a:xfrm>
          <a:prstGeom prst="rect">
            <a:avLst/>
          </a:prstGeom>
          <a:solidFill>
            <a:srgbClr val="D6EFDA"/>
          </a:solidFill>
          <a:ln>
            <a:noFill/>
          </a:ln>
        </p:spPr>
        <p:txBody>
          <a:bodyPr rtlCol="0" anchor="ctr"/>
          <a:lstStyle/>
          <a:p>
            <a:pPr algn="ctr"/>
          </a:p>
        </p:txBody>
      </p:sp>
      <p:sp>
        <p:nvSpPr>
          <p:cNvPr id="140" name="Label Rectangle 139"/>
          <p:cNvSpPr/>
          <p:nvPr/>
        </p:nvSpPr>
        <p:spPr>
          <a:xfrm>
            <a:off x="6209951" y="3593592"/>
            <a:ext cx="1326271" cy="54864"/>
          </a:xfrm>
          <a:prstGeom prst="rect">
            <a:avLst/>
          </a:prstGeom>
          <a:solidFill>
            <a:srgbClr val="2E9E44"/>
          </a:solidFill>
          <a:ln>
            <a:noFill/>
          </a:ln>
        </p:spPr>
        <p:txBody>
          <a:bodyPr rtlCol="0" anchor="ctr"/>
          <a:lstStyle/>
          <a:p>
            <a:pPr algn="ctr"/>
          </a:p>
        </p:txBody>
      </p:sp>
      <p:sp>
        <p:nvSpPr>
          <p:cNvPr id="141" name="Label TextBox 140"/>
          <p:cNvSpPr txBox="1"/>
          <p:nvPr/>
        </p:nvSpPr>
        <p:spPr>
          <a:xfrm>
            <a:off x="6264815"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3d</a:t>
            </a:r>
          </a:p>
        </p:txBody>
      </p:sp>
      <p:sp>
        <p:nvSpPr>
          <p:cNvPr id="142" name="Label TextBox 141"/>
          <p:cNvSpPr txBox="1"/>
          <p:nvPr/>
        </p:nvSpPr>
        <p:spPr>
          <a:xfrm>
            <a:off x="6264815"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Institutions</a:t>
            </a:r>
          </a:p>
        </p:txBody>
      </p:sp>
      <p:sp>
        <p:nvSpPr>
          <p:cNvPr id="143" name="Label Oval 142"/>
          <p:cNvSpPr/>
          <p:nvPr/>
        </p:nvSpPr>
        <p:spPr>
          <a:xfrm>
            <a:off x="6264815" y="4370832"/>
            <a:ext cx="82296" cy="82296"/>
          </a:xfrm>
          <a:prstGeom prst="ellipse">
            <a:avLst/>
          </a:prstGeom>
          <a:solidFill>
            <a:srgbClr val="2E9E44"/>
          </a:solidFill>
          <a:ln w="9525">
            <a:solidFill>
              <a:srgbClr val="2E9E44"/>
            </a:solidFill>
          </a:ln>
        </p:spPr>
        <p:txBody>
          <a:bodyPr rtlCol="0" anchor="ctr"/>
          <a:lstStyle/>
          <a:p>
            <a:pPr algn="ctr"/>
          </a:p>
        </p:txBody>
      </p:sp>
      <p:sp>
        <p:nvSpPr>
          <p:cNvPr id="144" name="Label Oval 143"/>
          <p:cNvSpPr/>
          <p:nvPr/>
        </p:nvSpPr>
        <p:spPr>
          <a:xfrm>
            <a:off x="6374543" y="4370832"/>
            <a:ext cx="82296" cy="82296"/>
          </a:xfrm>
          <a:prstGeom prst="ellipse">
            <a:avLst/>
          </a:prstGeom>
          <a:solidFill>
            <a:srgbClr val="2E9E44"/>
          </a:solidFill>
          <a:ln w="9525">
            <a:solidFill>
              <a:srgbClr val="2E9E44"/>
            </a:solidFill>
          </a:ln>
        </p:spPr>
        <p:txBody>
          <a:bodyPr rtlCol="0" anchor="ctr"/>
          <a:lstStyle/>
          <a:p>
            <a:pPr algn="ctr"/>
          </a:p>
        </p:txBody>
      </p:sp>
      <p:sp>
        <p:nvSpPr>
          <p:cNvPr id="145" name="Label Oval 144"/>
          <p:cNvSpPr/>
          <p:nvPr/>
        </p:nvSpPr>
        <p:spPr>
          <a:xfrm>
            <a:off x="6484271" y="4370832"/>
            <a:ext cx="82296" cy="82296"/>
          </a:xfrm>
          <a:prstGeom prst="ellipse">
            <a:avLst/>
          </a:prstGeom>
          <a:solidFill>
            <a:srgbClr val="2E9E44"/>
          </a:solidFill>
          <a:ln w="9525">
            <a:solidFill>
              <a:srgbClr val="2E9E44"/>
            </a:solidFill>
          </a:ln>
        </p:spPr>
        <p:txBody>
          <a:bodyPr rtlCol="0" anchor="ctr"/>
          <a:lstStyle/>
          <a:p>
            <a:pPr algn="ctr"/>
          </a:p>
        </p:txBody>
      </p:sp>
      <p:sp>
        <p:nvSpPr>
          <p:cNvPr id="146" name="Label TextBox 145"/>
          <p:cNvSpPr txBox="1"/>
          <p:nvPr/>
        </p:nvSpPr>
        <p:spPr>
          <a:xfrm>
            <a:off x="6667151"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National levers</a:t>
            </a:r>
          </a:p>
        </p:txBody>
      </p:sp>
      <p:sp>
        <p:nvSpPr>
          <p:cNvPr id="147" name="Label Rectangle 146"/>
          <p:cNvSpPr/>
          <p:nvPr/>
        </p:nvSpPr>
        <p:spPr>
          <a:xfrm>
            <a:off x="7609375" y="3593592"/>
            <a:ext cx="1326271" cy="960120"/>
          </a:xfrm>
          <a:prstGeom prst="rect">
            <a:avLst/>
          </a:prstGeom>
          <a:solidFill>
            <a:srgbClr val="D6EFDA"/>
          </a:solidFill>
          <a:ln>
            <a:noFill/>
          </a:ln>
        </p:spPr>
        <p:txBody>
          <a:bodyPr rtlCol="0" anchor="ctr"/>
          <a:lstStyle/>
          <a:p>
            <a:pPr algn="ctr"/>
          </a:p>
        </p:txBody>
      </p:sp>
      <p:sp>
        <p:nvSpPr>
          <p:cNvPr id="148" name="Label Rectangle 147"/>
          <p:cNvSpPr/>
          <p:nvPr/>
        </p:nvSpPr>
        <p:spPr>
          <a:xfrm>
            <a:off x="7609375" y="3593592"/>
            <a:ext cx="1326271" cy="54864"/>
          </a:xfrm>
          <a:prstGeom prst="rect">
            <a:avLst/>
          </a:prstGeom>
          <a:solidFill>
            <a:srgbClr val="2E9E44"/>
          </a:solidFill>
          <a:ln>
            <a:noFill/>
          </a:ln>
        </p:spPr>
        <p:txBody>
          <a:bodyPr rtlCol="0" anchor="ctr"/>
          <a:lstStyle/>
          <a:p>
            <a:pPr algn="ctr"/>
          </a:p>
        </p:txBody>
      </p:sp>
      <p:sp>
        <p:nvSpPr>
          <p:cNvPr id="149" name="Label TextBox 148"/>
          <p:cNvSpPr txBox="1"/>
          <p:nvPr/>
        </p:nvSpPr>
        <p:spPr>
          <a:xfrm>
            <a:off x="7664239"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3e</a:t>
            </a:r>
          </a:p>
        </p:txBody>
      </p:sp>
      <p:sp>
        <p:nvSpPr>
          <p:cNvPr id="150" name="Label TextBox 149"/>
          <p:cNvSpPr txBox="1"/>
          <p:nvPr/>
        </p:nvSpPr>
        <p:spPr>
          <a:xfrm>
            <a:off x="7664239"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Collaboration</a:t>
            </a:r>
          </a:p>
        </p:txBody>
      </p:sp>
      <p:sp>
        <p:nvSpPr>
          <p:cNvPr id="151" name="Label Oval 150"/>
          <p:cNvSpPr/>
          <p:nvPr/>
        </p:nvSpPr>
        <p:spPr>
          <a:xfrm>
            <a:off x="7664239" y="4370832"/>
            <a:ext cx="82296" cy="82296"/>
          </a:xfrm>
          <a:prstGeom prst="ellipse">
            <a:avLst/>
          </a:prstGeom>
          <a:solidFill>
            <a:srgbClr val="2E9E44"/>
          </a:solidFill>
          <a:ln w="9525">
            <a:solidFill>
              <a:srgbClr val="2E9E44"/>
            </a:solidFill>
          </a:ln>
        </p:spPr>
        <p:txBody>
          <a:bodyPr rtlCol="0" anchor="ctr"/>
          <a:lstStyle/>
          <a:p>
            <a:pPr algn="ctr"/>
          </a:p>
        </p:txBody>
      </p:sp>
      <p:sp>
        <p:nvSpPr>
          <p:cNvPr id="152" name="Label Oval 151"/>
          <p:cNvSpPr/>
          <p:nvPr/>
        </p:nvSpPr>
        <p:spPr>
          <a:xfrm>
            <a:off x="7773967" y="4370832"/>
            <a:ext cx="82296" cy="82296"/>
          </a:xfrm>
          <a:prstGeom prst="ellipse">
            <a:avLst/>
          </a:prstGeom>
          <a:solidFill>
            <a:srgbClr val="2E9E44"/>
          </a:solidFill>
          <a:ln w="9525">
            <a:solidFill>
              <a:srgbClr val="2E9E44"/>
            </a:solidFill>
          </a:ln>
        </p:spPr>
        <p:txBody>
          <a:bodyPr rtlCol="0" anchor="ctr"/>
          <a:lstStyle/>
          <a:p>
            <a:pPr algn="ctr"/>
          </a:p>
        </p:txBody>
      </p:sp>
      <p:sp>
        <p:nvSpPr>
          <p:cNvPr id="153" name="Label Oval 152"/>
          <p:cNvSpPr/>
          <p:nvPr/>
        </p:nvSpPr>
        <p:spPr>
          <a:xfrm>
            <a:off x="7883695" y="4370832"/>
            <a:ext cx="82296" cy="82296"/>
          </a:xfrm>
          <a:prstGeom prst="ellipse">
            <a:avLst/>
          </a:prstGeom>
          <a:solidFill>
            <a:srgbClr val="2E9E44"/>
          </a:solidFill>
          <a:ln w="9525">
            <a:solidFill>
              <a:srgbClr val="2E9E44"/>
            </a:solidFill>
          </a:ln>
        </p:spPr>
        <p:txBody>
          <a:bodyPr rtlCol="0" anchor="ctr"/>
          <a:lstStyle/>
          <a:p>
            <a:pPr algn="ctr"/>
          </a:p>
        </p:txBody>
      </p:sp>
      <p:sp>
        <p:nvSpPr>
          <p:cNvPr id="154" name="Label TextBox 153"/>
          <p:cNvSpPr txBox="1"/>
          <p:nvPr/>
        </p:nvSpPr>
        <p:spPr>
          <a:xfrm>
            <a:off x="8066575"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15 of 16</a:t>
            </a:r>
          </a:p>
        </p:txBody>
      </p:sp>
      <p:sp>
        <p:nvSpPr>
          <p:cNvPr id="155" name="Label Rectangle 154"/>
          <p:cNvSpPr/>
          <p:nvPr/>
        </p:nvSpPr>
        <p:spPr>
          <a:xfrm>
            <a:off x="9008799" y="3593592"/>
            <a:ext cx="1326271" cy="960120"/>
          </a:xfrm>
          <a:prstGeom prst="rect">
            <a:avLst/>
          </a:prstGeom>
          <a:solidFill>
            <a:srgbClr val="D6EFDA"/>
          </a:solidFill>
          <a:ln>
            <a:noFill/>
          </a:ln>
        </p:spPr>
        <p:txBody>
          <a:bodyPr rtlCol="0" anchor="ctr"/>
          <a:lstStyle/>
          <a:p>
            <a:pPr algn="ctr"/>
          </a:p>
        </p:txBody>
      </p:sp>
      <p:sp>
        <p:nvSpPr>
          <p:cNvPr id="156" name="Label Rectangle 155"/>
          <p:cNvSpPr/>
          <p:nvPr/>
        </p:nvSpPr>
        <p:spPr>
          <a:xfrm>
            <a:off x="9008799" y="3593592"/>
            <a:ext cx="1326271" cy="54864"/>
          </a:xfrm>
          <a:prstGeom prst="rect">
            <a:avLst/>
          </a:prstGeom>
          <a:solidFill>
            <a:srgbClr val="2E9E44"/>
          </a:solidFill>
          <a:ln>
            <a:noFill/>
          </a:ln>
        </p:spPr>
        <p:txBody>
          <a:bodyPr rtlCol="0" anchor="ctr"/>
          <a:lstStyle/>
          <a:p>
            <a:pPr algn="ctr"/>
          </a:p>
        </p:txBody>
      </p:sp>
      <p:sp>
        <p:nvSpPr>
          <p:cNvPr id="157" name="Label TextBox 156"/>
          <p:cNvSpPr txBox="1"/>
          <p:nvPr/>
        </p:nvSpPr>
        <p:spPr>
          <a:xfrm>
            <a:off x="9063663"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3f</a:t>
            </a:r>
          </a:p>
        </p:txBody>
      </p:sp>
      <p:sp>
        <p:nvSpPr>
          <p:cNvPr id="158" name="Label TextBox 157"/>
          <p:cNvSpPr txBox="1"/>
          <p:nvPr/>
        </p:nvSpPr>
        <p:spPr>
          <a:xfrm>
            <a:off x="9063663"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Policy and data</a:t>
            </a:r>
          </a:p>
        </p:txBody>
      </p:sp>
      <p:sp>
        <p:nvSpPr>
          <p:cNvPr id="159" name="Label Oval 158"/>
          <p:cNvSpPr/>
          <p:nvPr/>
        </p:nvSpPr>
        <p:spPr>
          <a:xfrm>
            <a:off x="9063663" y="4370832"/>
            <a:ext cx="82296" cy="82296"/>
          </a:xfrm>
          <a:prstGeom prst="ellipse">
            <a:avLst/>
          </a:prstGeom>
          <a:solidFill>
            <a:srgbClr val="2E9E44"/>
          </a:solidFill>
          <a:ln w="9525">
            <a:solidFill>
              <a:srgbClr val="2E9E44"/>
            </a:solidFill>
          </a:ln>
        </p:spPr>
        <p:txBody>
          <a:bodyPr rtlCol="0" anchor="ctr"/>
          <a:lstStyle/>
          <a:p>
            <a:pPr algn="ctr"/>
          </a:p>
        </p:txBody>
      </p:sp>
      <p:sp>
        <p:nvSpPr>
          <p:cNvPr id="160" name="Label Oval 159"/>
          <p:cNvSpPr/>
          <p:nvPr/>
        </p:nvSpPr>
        <p:spPr>
          <a:xfrm>
            <a:off x="9173391" y="4370832"/>
            <a:ext cx="82296" cy="82296"/>
          </a:xfrm>
          <a:prstGeom prst="ellipse">
            <a:avLst/>
          </a:prstGeom>
          <a:solidFill>
            <a:srgbClr val="2E9E44"/>
          </a:solidFill>
          <a:ln w="9525">
            <a:solidFill>
              <a:srgbClr val="2E9E44"/>
            </a:solidFill>
          </a:ln>
        </p:spPr>
        <p:txBody>
          <a:bodyPr rtlCol="0" anchor="ctr"/>
          <a:lstStyle/>
          <a:p>
            <a:pPr algn="ctr"/>
          </a:p>
        </p:txBody>
      </p:sp>
      <p:sp>
        <p:nvSpPr>
          <p:cNvPr id="161" name="Label Oval 160"/>
          <p:cNvSpPr/>
          <p:nvPr/>
        </p:nvSpPr>
        <p:spPr>
          <a:xfrm>
            <a:off x="9283119" y="4370832"/>
            <a:ext cx="82296" cy="82296"/>
          </a:xfrm>
          <a:prstGeom prst="ellipse">
            <a:avLst/>
          </a:prstGeom>
          <a:solidFill>
            <a:srgbClr val="2E9E44"/>
          </a:solidFill>
          <a:ln w="9525">
            <a:solidFill>
              <a:srgbClr val="2E9E44"/>
            </a:solidFill>
          </a:ln>
        </p:spPr>
        <p:txBody>
          <a:bodyPr rtlCol="0" anchor="ctr"/>
          <a:lstStyle/>
          <a:p>
            <a:pPr algn="ctr"/>
          </a:p>
        </p:txBody>
      </p:sp>
      <p:sp>
        <p:nvSpPr>
          <p:cNvPr id="162" name="Label TextBox 161"/>
          <p:cNvSpPr txBox="1"/>
          <p:nvPr/>
        </p:nvSpPr>
        <p:spPr>
          <a:xfrm>
            <a:off x="9465999"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No method</a:t>
            </a:r>
          </a:p>
        </p:txBody>
      </p:sp>
      <p:sp>
        <p:nvSpPr>
          <p:cNvPr id="163" name="Label Rectangle 162"/>
          <p:cNvSpPr/>
          <p:nvPr/>
        </p:nvSpPr>
        <p:spPr>
          <a:xfrm>
            <a:off x="10408223" y="3593592"/>
            <a:ext cx="1326271" cy="960120"/>
          </a:xfrm>
          <a:prstGeom prst="rect">
            <a:avLst/>
          </a:prstGeom>
          <a:solidFill>
            <a:srgbClr val="FDECC8"/>
          </a:solidFill>
          <a:ln>
            <a:noFill/>
          </a:ln>
        </p:spPr>
        <p:txBody>
          <a:bodyPr rtlCol="0" anchor="ctr"/>
          <a:lstStyle/>
          <a:p>
            <a:pPr algn="ctr"/>
          </a:p>
        </p:txBody>
      </p:sp>
      <p:sp>
        <p:nvSpPr>
          <p:cNvPr id="164" name="Label Rectangle 163"/>
          <p:cNvSpPr/>
          <p:nvPr/>
        </p:nvSpPr>
        <p:spPr>
          <a:xfrm>
            <a:off x="10408223" y="3593592"/>
            <a:ext cx="1326271" cy="54864"/>
          </a:xfrm>
          <a:prstGeom prst="rect">
            <a:avLst/>
          </a:prstGeom>
          <a:solidFill>
            <a:srgbClr val="F2A900"/>
          </a:solidFill>
          <a:ln>
            <a:noFill/>
          </a:ln>
        </p:spPr>
        <p:txBody>
          <a:bodyPr rtlCol="0" anchor="ctr"/>
          <a:lstStyle/>
          <a:p>
            <a:pPr algn="ctr"/>
          </a:p>
        </p:txBody>
      </p:sp>
      <p:sp>
        <p:nvSpPr>
          <p:cNvPr id="165" name="Label TextBox 164"/>
          <p:cNvSpPr txBox="1"/>
          <p:nvPr/>
        </p:nvSpPr>
        <p:spPr>
          <a:xfrm>
            <a:off x="10463087" y="3666744"/>
            <a:ext cx="1216543" cy="182880"/>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3g</a:t>
            </a:r>
          </a:p>
        </p:txBody>
      </p:sp>
      <p:sp>
        <p:nvSpPr>
          <p:cNvPr id="166" name="Label TextBox 165"/>
          <p:cNvSpPr txBox="1"/>
          <p:nvPr/>
        </p:nvSpPr>
        <p:spPr>
          <a:xfrm>
            <a:off x="10463087" y="3813048"/>
            <a:ext cx="1216543" cy="502920"/>
          </a:xfrm>
          <a:prstGeom prst="rect">
            <a:avLst/>
          </a:prstGeom>
          <a:noFill/>
        </p:spPr>
        <p:txBody>
          <a:bodyPr wrap="square" anchor="t" lIns="0" rIns="0" tIns="0" bIns="0">
            <a:spAutoFit/>
          </a:bodyPr>
          <a:lstStyle/>
          <a:p>
            <a:pPr algn="l">
              <a:spcAft>
                <a:spcPts val="0"/>
              </a:spcAft>
            </a:pPr>
            <a:r>
              <a:rPr sz="750" b="0" i="0">
                <a:solidFill>
                  <a:srgbClr val="404040"/>
                </a:solidFill>
                <a:latin typeface="Arial"/>
              </a:rPr>
              <a:t>Capital</a:t>
            </a:r>
          </a:p>
        </p:txBody>
      </p:sp>
      <p:sp>
        <p:nvSpPr>
          <p:cNvPr id="167" name="Label Oval 166"/>
          <p:cNvSpPr/>
          <p:nvPr/>
        </p:nvSpPr>
        <p:spPr>
          <a:xfrm>
            <a:off x="10463087" y="4370832"/>
            <a:ext cx="82296" cy="82296"/>
          </a:xfrm>
          <a:prstGeom prst="ellipse">
            <a:avLst/>
          </a:prstGeom>
          <a:solidFill>
            <a:srgbClr val="F2A900"/>
          </a:solidFill>
          <a:ln w="9525">
            <a:solidFill>
              <a:srgbClr val="F2A900"/>
            </a:solidFill>
          </a:ln>
        </p:spPr>
        <p:txBody>
          <a:bodyPr rtlCol="0" anchor="ctr"/>
          <a:lstStyle/>
          <a:p>
            <a:pPr algn="ctr"/>
          </a:p>
        </p:txBody>
      </p:sp>
      <p:sp>
        <p:nvSpPr>
          <p:cNvPr id="168" name="Label Oval 167"/>
          <p:cNvSpPr/>
          <p:nvPr/>
        </p:nvSpPr>
        <p:spPr>
          <a:xfrm>
            <a:off x="10572815" y="4370832"/>
            <a:ext cx="82296" cy="82296"/>
          </a:xfrm>
          <a:prstGeom prst="ellipse">
            <a:avLst/>
          </a:prstGeom>
          <a:solidFill>
            <a:srgbClr val="F2A900"/>
          </a:solidFill>
          <a:ln w="9525">
            <a:solidFill>
              <a:srgbClr val="F2A900"/>
            </a:solidFill>
          </a:ln>
        </p:spPr>
        <p:txBody>
          <a:bodyPr rtlCol="0" anchor="ctr"/>
          <a:lstStyle/>
          <a:p>
            <a:pPr algn="ctr"/>
          </a:p>
        </p:txBody>
      </p:sp>
      <p:sp>
        <p:nvSpPr>
          <p:cNvPr id="169" name="Label Oval 168"/>
          <p:cNvSpPr/>
          <p:nvPr/>
        </p:nvSpPr>
        <p:spPr>
          <a:xfrm>
            <a:off x="10682543" y="4370832"/>
            <a:ext cx="82296" cy="82296"/>
          </a:xfrm>
          <a:prstGeom prst="ellipse">
            <a:avLst/>
          </a:prstGeom>
          <a:solidFill>
            <a:srgbClr val="FFFFFF"/>
          </a:solidFill>
          <a:ln w="9525">
            <a:solidFill>
              <a:srgbClr val="F2A900"/>
            </a:solidFill>
          </a:ln>
        </p:spPr>
        <p:txBody>
          <a:bodyPr rtlCol="0" anchor="ctr"/>
          <a:lstStyle/>
          <a:p>
            <a:pPr algn="ctr"/>
          </a:p>
        </p:txBody>
      </p:sp>
      <p:sp>
        <p:nvSpPr>
          <p:cNvPr id="170" name="Label TextBox 169"/>
          <p:cNvSpPr txBox="1"/>
          <p:nvPr/>
        </p:nvSpPr>
        <p:spPr>
          <a:xfrm>
            <a:off x="10865423" y="4315968"/>
            <a:ext cx="823351" cy="201168"/>
          </a:xfrm>
          <a:prstGeom prst="rect">
            <a:avLst/>
          </a:prstGeom>
          <a:noFill/>
        </p:spPr>
        <p:txBody>
          <a:bodyPr wrap="square" anchor="t" lIns="0" rIns="0" tIns="0" bIns="0">
            <a:spAutoFit/>
          </a:bodyPr>
          <a:lstStyle/>
          <a:p>
            <a:pPr algn="r">
              <a:spcAft>
                <a:spcPts val="0"/>
              </a:spcAft>
            </a:pPr>
            <a:r>
              <a:rPr sz="700" b="0" i="1">
                <a:solidFill>
                  <a:srgbClr val="7F7F7F"/>
                </a:solidFill>
                <a:latin typeface="Arial"/>
              </a:rPr>
              <a:t>No pipeline</a:t>
            </a:r>
          </a:p>
        </p:txBody>
      </p:sp>
      <p:sp>
        <p:nvSpPr>
          <p:cNvPr id="171" name="Rectangle 170"/>
          <p:cNvSpPr/>
          <p:nvPr/>
        </p:nvSpPr>
        <p:spPr>
          <a:xfrm>
            <a:off x="2011680" y="4754880"/>
            <a:ext cx="274320" cy="201168"/>
          </a:xfrm>
          <a:prstGeom prst="rect">
            <a:avLst/>
          </a:prstGeom>
          <a:solidFill>
            <a:srgbClr val="D6EFDA"/>
          </a:solidFill>
          <a:ln>
            <a:noFill/>
          </a:ln>
        </p:spPr>
        <p:txBody>
          <a:bodyPr rtlCol="0" anchor="ctr"/>
          <a:lstStyle/>
          <a:p>
            <a:pPr algn="ctr"/>
          </a:p>
        </p:txBody>
      </p:sp>
      <p:sp>
        <p:nvSpPr>
          <p:cNvPr id="172" name="Rectangle 171"/>
          <p:cNvSpPr/>
          <p:nvPr/>
        </p:nvSpPr>
        <p:spPr>
          <a:xfrm>
            <a:off x="2011680" y="4754880"/>
            <a:ext cx="274320" cy="45720"/>
          </a:xfrm>
          <a:prstGeom prst="rect">
            <a:avLst/>
          </a:prstGeom>
          <a:solidFill>
            <a:srgbClr val="2E9E44"/>
          </a:solidFill>
          <a:ln>
            <a:noFill/>
          </a:ln>
        </p:spPr>
        <p:txBody>
          <a:bodyPr rtlCol="0" anchor="ctr"/>
          <a:lstStyle/>
          <a:p>
            <a:pPr algn="ctr"/>
          </a:p>
        </p:txBody>
      </p:sp>
      <p:sp>
        <p:nvSpPr>
          <p:cNvPr id="173" name="TextBox 172"/>
          <p:cNvSpPr txBox="1"/>
          <p:nvPr/>
        </p:nvSpPr>
        <p:spPr>
          <a:xfrm>
            <a:off x="2359152" y="4727448"/>
            <a:ext cx="13716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Supported</a:t>
            </a:r>
          </a:p>
        </p:txBody>
      </p:sp>
      <p:sp>
        <p:nvSpPr>
          <p:cNvPr id="174" name="Rectangle 173"/>
          <p:cNvSpPr/>
          <p:nvPr/>
        </p:nvSpPr>
        <p:spPr>
          <a:xfrm>
            <a:off x="3749039" y="4754880"/>
            <a:ext cx="274320" cy="201168"/>
          </a:xfrm>
          <a:prstGeom prst="rect">
            <a:avLst/>
          </a:prstGeom>
          <a:solidFill>
            <a:srgbClr val="FDECC8"/>
          </a:solidFill>
          <a:ln>
            <a:noFill/>
          </a:ln>
        </p:spPr>
        <p:txBody>
          <a:bodyPr rtlCol="0" anchor="ctr"/>
          <a:lstStyle/>
          <a:p>
            <a:pPr algn="ctr"/>
          </a:p>
        </p:txBody>
      </p:sp>
      <p:sp>
        <p:nvSpPr>
          <p:cNvPr id="175" name="Rectangle 174"/>
          <p:cNvSpPr/>
          <p:nvPr/>
        </p:nvSpPr>
        <p:spPr>
          <a:xfrm>
            <a:off x="3749039" y="4754880"/>
            <a:ext cx="274320" cy="45720"/>
          </a:xfrm>
          <a:prstGeom prst="rect">
            <a:avLst/>
          </a:prstGeom>
          <a:solidFill>
            <a:srgbClr val="F2A900"/>
          </a:solidFill>
          <a:ln>
            <a:noFill/>
          </a:ln>
        </p:spPr>
        <p:txBody>
          <a:bodyPr rtlCol="0" anchor="ctr"/>
          <a:lstStyle/>
          <a:p>
            <a:pPr algn="ctr"/>
          </a:p>
        </p:txBody>
      </p:sp>
      <p:sp>
        <p:nvSpPr>
          <p:cNvPr id="176" name="TextBox 175"/>
          <p:cNvSpPr txBox="1"/>
          <p:nvPr/>
        </p:nvSpPr>
        <p:spPr>
          <a:xfrm>
            <a:off x="4096512" y="4727448"/>
            <a:ext cx="13716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Partly supported</a:t>
            </a:r>
          </a:p>
        </p:txBody>
      </p:sp>
      <p:sp>
        <p:nvSpPr>
          <p:cNvPr id="177" name="Rectangle 176"/>
          <p:cNvSpPr/>
          <p:nvPr/>
        </p:nvSpPr>
        <p:spPr>
          <a:xfrm>
            <a:off x="5486400" y="4754880"/>
            <a:ext cx="274320" cy="201168"/>
          </a:xfrm>
          <a:prstGeom prst="rect">
            <a:avLst/>
          </a:prstGeom>
          <a:solidFill>
            <a:srgbClr val="F2F2F2"/>
          </a:solidFill>
          <a:ln>
            <a:noFill/>
          </a:ln>
        </p:spPr>
        <p:txBody>
          <a:bodyPr rtlCol="0" anchor="ctr"/>
          <a:lstStyle/>
          <a:p>
            <a:pPr algn="ctr"/>
          </a:p>
        </p:txBody>
      </p:sp>
      <p:sp>
        <p:nvSpPr>
          <p:cNvPr id="178" name="Rectangle 177"/>
          <p:cNvSpPr/>
          <p:nvPr/>
        </p:nvSpPr>
        <p:spPr>
          <a:xfrm>
            <a:off x="5486400" y="4754880"/>
            <a:ext cx="274320" cy="45720"/>
          </a:xfrm>
          <a:prstGeom prst="rect">
            <a:avLst/>
          </a:prstGeom>
          <a:solidFill>
            <a:srgbClr val="7F7F7F"/>
          </a:solidFill>
          <a:ln>
            <a:noFill/>
          </a:ln>
        </p:spPr>
        <p:txBody>
          <a:bodyPr rtlCol="0" anchor="ctr"/>
          <a:lstStyle/>
          <a:p>
            <a:pPr algn="ctr"/>
          </a:p>
        </p:txBody>
      </p:sp>
      <p:sp>
        <p:nvSpPr>
          <p:cNvPr id="179" name="TextBox 178"/>
          <p:cNvSpPr txBox="1"/>
          <p:nvPr/>
        </p:nvSpPr>
        <p:spPr>
          <a:xfrm>
            <a:off x="5833872" y="4727448"/>
            <a:ext cx="13716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Not yet tested</a:t>
            </a:r>
          </a:p>
        </p:txBody>
      </p:sp>
      <p:sp>
        <p:nvSpPr>
          <p:cNvPr id="180" name="Oval 179"/>
          <p:cNvSpPr/>
          <p:nvPr/>
        </p:nvSpPr>
        <p:spPr>
          <a:xfrm>
            <a:off x="7269480" y="4800600"/>
            <a:ext cx="82296" cy="82296"/>
          </a:xfrm>
          <a:prstGeom prst="ellipse">
            <a:avLst/>
          </a:prstGeom>
          <a:solidFill>
            <a:srgbClr val="1F497D"/>
          </a:solidFill>
          <a:ln w="9525">
            <a:solidFill>
              <a:srgbClr val="1F497D"/>
            </a:solidFill>
          </a:ln>
        </p:spPr>
        <p:txBody>
          <a:bodyPr rtlCol="0" anchor="ctr"/>
          <a:lstStyle/>
          <a:p>
            <a:pPr algn="ctr"/>
          </a:p>
        </p:txBody>
      </p:sp>
      <p:sp>
        <p:nvSpPr>
          <p:cNvPr id="181" name="Oval 180"/>
          <p:cNvSpPr/>
          <p:nvPr/>
        </p:nvSpPr>
        <p:spPr>
          <a:xfrm>
            <a:off x="7379208" y="4800600"/>
            <a:ext cx="82296" cy="82296"/>
          </a:xfrm>
          <a:prstGeom prst="ellipse">
            <a:avLst/>
          </a:prstGeom>
          <a:solidFill>
            <a:srgbClr val="1F497D"/>
          </a:solidFill>
          <a:ln w="9525">
            <a:solidFill>
              <a:srgbClr val="1F497D"/>
            </a:solidFill>
          </a:ln>
        </p:spPr>
        <p:txBody>
          <a:bodyPr rtlCol="0" anchor="ctr"/>
          <a:lstStyle/>
          <a:p>
            <a:pPr algn="ctr"/>
          </a:p>
        </p:txBody>
      </p:sp>
      <p:sp>
        <p:nvSpPr>
          <p:cNvPr id="182" name="Oval 181"/>
          <p:cNvSpPr/>
          <p:nvPr/>
        </p:nvSpPr>
        <p:spPr>
          <a:xfrm>
            <a:off x="7488936" y="4800600"/>
            <a:ext cx="82296" cy="82296"/>
          </a:xfrm>
          <a:prstGeom prst="ellipse">
            <a:avLst/>
          </a:prstGeom>
          <a:solidFill>
            <a:srgbClr val="1F497D"/>
          </a:solidFill>
          <a:ln w="9525">
            <a:solidFill>
              <a:srgbClr val="1F497D"/>
            </a:solidFill>
          </a:ln>
        </p:spPr>
        <p:txBody>
          <a:bodyPr rtlCol="0" anchor="ctr"/>
          <a:lstStyle/>
          <a:p>
            <a:pPr algn="ctr"/>
          </a:p>
        </p:txBody>
      </p:sp>
      <p:sp>
        <p:nvSpPr>
          <p:cNvPr id="183" name="TextBox 182"/>
          <p:cNvSpPr txBox="1"/>
          <p:nvPr/>
        </p:nvSpPr>
        <p:spPr>
          <a:xfrm>
            <a:off x="7635240" y="4727448"/>
            <a:ext cx="41148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Evidence strength: one to three dots</a:t>
            </a:r>
          </a:p>
        </p:txBody>
      </p:sp>
      <p:sp>
        <p:nvSpPr>
          <p:cNvPr id="184" name="TextBox 183"/>
          <p:cNvSpPr txBox="1"/>
          <p:nvPr/>
        </p:nvSpPr>
        <p:spPr>
          <a:xfrm>
            <a:off x="457200" y="5230368"/>
            <a:ext cx="11277295"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Supported with strong evidence needs two independent sources; the supply and inclusion reports were framed by the tree.</a:t>
            </a:r>
          </a:p>
        </p:txBody>
      </p:sp>
      <p:sp>
        <p:nvSpPr>
          <p:cNvPr id="185" name="Rectangle 184"/>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186" name="TextBox 185"/>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tree holds: firm up segments, brand, priority markets and capital before drafting; bound skills as a limitation.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We propose eight changes to the tree, each driven by a finding in the deliverables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04 | THE TREE, REVISED AND TESTED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MIDAS Aviation Market Assessment (Mar 2026) pp13, 15, 17-19, 22; Demand-Side Analysis (Jun 2026) pp14, 20, 37; Infrastructure Report (Jun 2026) pp31-33; Stakeholder Insights Report (Mar 2026) p24; SME and Community Inclusion Plan (Sep 2026); Wesgro/StratEcon cruise report 2024/25 via mobility factbase; RFP s2</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1943100" y="1325880"/>
            <a:ext cx="5120640" cy="457200"/>
          </a:xfrm>
          <a:prstGeom prst="rect">
            <a:avLst/>
          </a:prstGeom>
          <a:solidFill>
            <a:srgbClr val="7F7F7F"/>
          </a:solidFill>
          <a:ln>
            <a:noFill/>
          </a:ln>
        </p:spPr>
        <p:txBody>
          <a:bodyPr rtlCol="0" anchor="ctr" wrap="square" lIns="36576" rIns="36576" tIns="21945" bIns="21945"/>
          <a:lstStyle/>
          <a:p>
            <a:pPr algn="ctr">
              <a:spcAft>
                <a:spcPts val="0"/>
              </a:spcAft>
            </a:pPr>
            <a:r>
              <a:rPr sz="1100" b="1" i="0">
                <a:solidFill>
                  <a:srgbClr val="FFFFFF"/>
                </a:solidFill>
                <a:latin typeface="Arial"/>
              </a:rPr>
              <a:t>Unlocking International Tourism Growth</a:t>
            </a:r>
          </a:p>
          <a:p>
            <a:pPr algn="ctr">
              <a:spcAft>
                <a:spcPts val="0"/>
              </a:spcAft>
            </a:pPr>
            <a:r>
              <a:rPr sz="850" b="0" i="0">
                <a:solidFill>
                  <a:srgbClr val="FFFFFF"/>
                </a:solidFill>
                <a:latin typeface="Arial"/>
              </a:rPr>
              <a:t>2.8m international visitors and 300,000 tourism jobs by 2035</a:t>
            </a:r>
          </a:p>
        </p:txBody>
      </p:sp>
      <p:cxnSp>
        <p:nvCxnSpPr>
          <p:cNvPr id="9" name="Label Connector 8"/>
          <p:cNvCxnSpPr/>
          <p:nvPr/>
        </p:nvCxnSpPr>
        <p:spPr>
          <a:xfrm>
            <a:off x="1769364" y="1856231"/>
            <a:ext cx="5468112" cy="0"/>
          </a:xfrm>
          <a:prstGeom prst="line">
            <a:avLst/>
          </a:prstGeom>
          <a:ln w="9525">
            <a:solidFill>
              <a:srgbClr val="D9D9D9"/>
            </a:solidFill>
          </a:ln>
        </p:spPr>
      </p:cxnSp>
      <p:cxnSp>
        <p:nvCxnSpPr>
          <p:cNvPr id="10" name="Label Connector 9"/>
          <p:cNvCxnSpPr/>
          <p:nvPr/>
        </p:nvCxnSpPr>
        <p:spPr>
          <a:xfrm>
            <a:off x="1769364" y="1783080"/>
            <a:ext cx="0" cy="146304"/>
          </a:xfrm>
          <a:prstGeom prst="line">
            <a:avLst/>
          </a:prstGeom>
          <a:ln w="9525">
            <a:solidFill>
              <a:srgbClr val="D9D9D9"/>
            </a:solidFill>
          </a:ln>
        </p:spPr>
      </p:cxnSp>
      <p:sp>
        <p:nvSpPr>
          <p:cNvPr id="11" name="Label Rectangle 10"/>
          <p:cNvSpPr/>
          <p:nvPr/>
        </p:nvSpPr>
        <p:spPr>
          <a:xfrm>
            <a:off x="457200"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RESHAPE DEMAND</a:t>
            </a:r>
          </a:p>
          <a:p>
            <a:pPr algn="ctr">
              <a:spcAft>
                <a:spcPts val="0"/>
              </a:spcAft>
            </a:pPr>
            <a:r>
              <a:rPr sz="750" b="0" i="0">
                <a:solidFill>
                  <a:srgbClr val="7F7F7F"/>
                </a:solidFill>
                <a:latin typeface="Arial"/>
              </a:rPr>
              <a:t>Convert proven demand by targeting high-value segments in priority markets and flattening the seasonal curve.</a:t>
            </a:r>
          </a:p>
        </p:txBody>
      </p:sp>
      <p:cxnSp>
        <p:nvCxnSpPr>
          <p:cNvPr id="12" name="Label Connector 11"/>
          <p:cNvCxnSpPr/>
          <p:nvPr/>
        </p:nvCxnSpPr>
        <p:spPr>
          <a:xfrm>
            <a:off x="4503420" y="1783080"/>
            <a:ext cx="0" cy="146304"/>
          </a:xfrm>
          <a:prstGeom prst="line">
            <a:avLst/>
          </a:prstGeom>
          <a:ln w="9525">
            <a:solidFill>
              <a:srgbClr val="D9D9D9"/>
            </a:solidFill>
          </a:ln>
        </p:spPr>
      </p:cxnSp>
      <p:sp>
        <p:nvSpPr>
          <p:cNvPr id="13" name="Label Rectangle 12"/>
          <p:cNvSpPr/>
          <p:nvPr/>
        </p:nvSpPr>
        <p:spPr>
          <a:xfrm>
            <a:off x="3191256"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TRANSFORM SUPPLY</a:t>
            </a:r>
          </a:p>
          <a:p>
            <a:pPr algn="ctr">
              <a:spcAft>
                <a:spcPts val="0"/>
              </a:spcAft>
            </a:pPr>
            <a:r>
              <a:rPr sz="750" b="0" i="0">
                <a:solidFill>
                  <a:srgbClr val="7F7F7F"/>
                </a:solidFill>
                <a:latin typeface="Arial"/>
              </a:rPr>
              <a:t>Remove the mobility, infrastructure and product constraints that cap the destination’s capacity to convert demand.</a:t>
            </a:r>
          </a:p>
        </p:txBody>
      </p:sp>
      <p:cxnSp>
        <p:nvCxnSpPr>
          <p:cNvPr id="14" name="Label Connector 13"/>
          <p:cNvCxnSpPr/>
          <p:nvPr/>
        </p:nvCxnSpPr>
        <p:spPr>
          <a:xfrm>
            <a:off x="7237476" y="1783080"/>
            <a:ext cx="0" cy="146304"/>
          </a:xfrm>
          <a:prstGeom prst="line">
            <a:avLst/>
          </a:prstGeom>
          <a:ln w="9525">
            <a:solidFill>
              <a:srgbClr val="D9D9D9"/>
            </a:solidFill>
          </a:ln>
        </p:spPr>
      </p:cxnSp>
      <p:sp>
        <p:nvSpPr>
          <p:cNvPr id="15" name="Label Rectangle 14"/>
          <p:cNvSpPr/>
          <p:nvPr/>
        </p:nvSpPr>
        <p:spPr>
          <a:xfrm>
            <a:off x="5925312"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BUILD ENABLING CAPABILITY</a:t>
            </a:r>
          </a:p>
          <a:p>
            <a:pPr algn="ctr">
              <a:spcAft>
                <a:spcPts val="0"/>
              </a:spcAft>
            </a:pPr>
            <a:r>
              <a:rPr sz="750" b="0" i="0">
                <a:solidFill>
                  <a:srgbClr val="7F7F7F"/>
                </a:solidFill>
                <a:latin typeface="Arial"/>
              </a:rPr>
              <a:t>Coordinate institutions, investment and communities so growth is governed, financed and shared.</a:t>
            </a:r>
          </a:p>
        </p:txBody>
      </p:sp>
      <p:cxnSp>
        <p:nvCxnSpPr>
          <p:cNvPr id="16" name="Label Connector 15"/>
          <p:cNvCxnSpPr/>
          <p:nvPr/>
        </p:nvCxnSpPr>
        <p:spPr>
          <a:xfrm>
            <a:off x="1085850" y="2496312"/>
            <a:ext cx="0" cy="109728"/>
          </a:xfrm>
          <a:prstGeom prst="line">
            <a:avLst/>
          </a:prstGeom>
          <a:ln w="9525">
            <a:solidFill>
              <a:srgbClr val="D9D9D9"/>
            </a:solidFill>
          </a:ln>
        </p:spPr>
      </p:cxnSp>
      <p:sp>
        <p:nvSpPr>
          <p:cNvPr id="17" name="Label Rectangle 16"/>
          <p:cNvSpPr/>
          <p:nvPr/>
        </p:nvSpPr>
        <p:spPr>
          <a:xfrm>
            <a:off x="457200"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Traveller, Brand and Proposition</a:t>
            </a:r>
          </a:p>
        </p:txBody>
      </p:sp>
      <p:sp>
        <p:nvSpPr>
          <p:cNvPr id="18" name="Label Rectangle 17"/>
          <p:cNvSpPr/>
          <p:nvPr/>
        </p:nvSpPr>
        <p:spPr>
          <a:xfrm>
            <a:off x="457200" y="3099816"/>
            <a:ext cx="1257300" cy="457200"/>
          </a:xfrm>
          <a:prstGeom prst="rect">
            <a:avLst/>
          </a:prstGeom>
          <a:solidFill>
            <a:srgbClr val="F2F2F2"/>
          </a:solidFill>
          <a:ln w="9525">
            <a:solidFill>
              <a:srgbClr val="D9D9D9"/>
            </a:solidFill>
          </a:ln>
        </p:spPr>
        <p:txBody>
          <a:bodyPr rtlCol="0" anchor="ctr"/>
          <a:lstStyle/>
          <a:p>
            <a:pPr algn="ctr"/>
          </a:p>
        </p:txBody>
      </p:sp>
      <p:sp>
        <p:nvSpPr>
          <p:cNvPr id="19" name="Label TextBox 18"/>
          <p:cNvSpPr txBox="1"/>
          <p:nvPr/>
        </p:nvSpPr>
        <p:spPr>
          <a:xfrm>
            <a:off x="484632"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Target the Four Priority High-Value Traveller Segments</a:t>
            </a:r>
          </a:p>
        </p:txBody>
      </p:sp>
      <p:sp>
        <p:nvSpPr>
          <p:cNvPr id="20" name="Label Rectangle 19"/>
          <p:cNvSpPr/>
          <p:nvPr/>
        </p:nvSpPr>
        <p:spPr>
          <a:xfrm>
            <a:off x="457200" y="3621024"/>
            <a:ext cx="1257300" cy="457200"/>
          </a:xfrm>
          <a:prstGeom prst="rect">
            <a:avLst/>
          </a:prstGeom>
          <a:solidFill>
            <a:srgbClr val="FFFFFF"/>
          </a:solidFill>
          <a:ln w="9525">
            <a:solidFill>
              <a:srgbClr val="D9D9D9"/>
            </a:solidFill>
          </a:ln>
        </p:spPr>
        <p:txBody>
          <a:bodyPr rtlCol="0" anchor="ctr"/>
          <a:lstStyle/>
          <a:p>
            <a:pPr algn="ctr"/>
          </a:p>
        </p:txBody>
      </p:sp>
      <p:sp>
        <p:nvSpPr>
          <p:cNvPr id="21" name="Label TextBox 20"/>
          <p:cNvSpPr txBox="1"/>
          <p:nvPr/>
        </p:nvSpPr>
        <p:spPr>
          <a:xfrm>
            <a:off x="484632" y="3621024"/>
            <a:ext cx="1202436" cy="457200"/>
          </a:xfrm>
          <a:prstGeom prst="rect">
            <a:avLst/>
          </a:prstGeom>
          <a:noFill/>
        </p:spPr>
        <p:txBody>
          <a:bodyPr wrap="square" anchor="ctr" lIns="18288" rIns="18288" tIns="10972" bIns="10972">
            <a:spAutoFit/>
          </a:bodyPr>
          <a:lstStyle/>
          <a:p>
            <a:pPr algn="ctr">
              <a:spcAft>
                <a:spcPts val="0"/>
              </a:spcAft>
            </a:pPr>
            <a:r>
              <a:rPr sz="750" b="0" i="0" strike="sngStrike">
                <a:solidFill>
                  <a:srgbClr val="D9D9D9"/>
                </a:solidFill>
                <a:latin typeface="Arial"/>
              </a:rPr>
              <a:t>Extend Cape Town’s Brand Equity to the Province</a:t>
            </a:r>
          </a:p>
        </p:txBody>
      </p:sp>
      <p:sp>
        <p:nvSpPr>
          <p:cNvPr id="22" name="Label Rounded Rectangle 21"/>
          <p:cNvSpPr/>
          <p:nvPr/>
        </p:nvSpPr>
        <p:spPr>
          <a:xfrm>
            <a:off x="1165860" y="3538728"/>
            <a:ext cx="512064" cy="164592"/>
          </a:xfrm>
          <a:prstGeom prst="roundRect">
            <a:avLst>
              <a:gd name="adj" fmla="val 50000"/>
            </a:avLst>
          </a:prstGeom>
          <a:solidFill>
            <a:srgbClr val="7F7F7F"/>
          </a:solidFill>
          <a:ln>
            <a:noFill/>
          </a:ln>
        </p:spPr>
        <p:txBody>
          <a:bodyPr rtlCol="0" anchor="ctr"/>
          <a:lstStyle/>
          <a:p>
            <a:pPr algn="ctr"/>
          </a:p>
        </p:txBody>
      </p:sp>
      <p:sp>
        <p:nvSpPr>
          <p:cNvPr id="23" name="Label TextBox 22"/>
          <p:cNvSpPr txBox="1"/>
          <p:nvPr/>
        </p:nvSpPr>
        <p:spPr>
          <a:xfrm>
            <a:off x="1165860"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DROP</a:t>
            </a:r>
          </a:p>
        </p:txBody>
      </p:sp>
      <p:sp>
        <p:nvSpPr>
          <p:cNvPr id="24" name="Label Rectangle 23"/>
          <p:cNvSpPr/>
          <p:nvPr/>
        </p:nvSpPr>
        <p:spPr>
          <a:xfrm>
            <a:off x="457200" y="4142232"/>
            <a:ext cx="1257300" cy="457200"/>
          </a:xfrm>
          <a:prstGeom prst="rect">
            <a:avLst/>
          </a:prstGeom>
          <a:solidFill>
            <a:srgbClr val="FFFFFF"/>
          </a:solidFill>
          <a:ln w="19050">
            <a:solidFill>
              <a:srgbClr val="00AEEF"/>
            </a:solidFill>
          </a:ln>
        </p:spPr>
        <p:txBody>
          <a:bodyPr rtlCol="0" anchor="ctr"/>
          <a:lstStyle/>
          <a:p>
            <a:pPr algn="ctr"/>
          </a:p>
        </p:txBody>
      </p:sp>
      <p:sp>
        <p:nvSpPr>
          <p:cNvPr id="25" name="Label TextBox 24"/>
          <p:cNvSpPr txBox="1"/>
          <p:nvPr/>
        </p:nvSpPr>
        <p:spPr>
          <a:xfrm>
            <a:off x="484632"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Create Green-Season Demand with MICE and Events</a:t>
            </a:r>
          </a:p>
        </p:txBody>
      </p:sp>
      <p:sp>
        <p:nvSpPr>
          <p:cNvPr id="26" name="Label Rounded Rectangle 25"/>
          <p:cNvSpPr/>
          <p:nvPr/>
        </p:nvSpPr>
        <p:spPr>
          <a:xfrm>
            <a:off x="1165860" y="4059936"/>
            <a:ext cx="512064" cy="164592"/>
          </a:xfrm>
          <a:prstGeom prst="roundRect">
            <a:avLst>
              <a:gd name="adj" fmla="val 50000"/>
            </a:avLst>
          </a:prstGeom>
          <a:solidFill>
            <a:srgbClr val="00AEEF"/>
          </a:solidFill>
          <a:ln>
            <a:noFill/>
          </a:ln>
        </p:spPr>
        <p:txBody>
          <a:bodyPr rtlCol="0" anchor="ctr"/>
          <a:lstStyle/>
          <a:p>
            <a:pPr algn="ctr"/>
          </a:p>
        </p:txBody>
      </p:sp>
      <p:sp>
        <p:nvSpPr>
          <p:cNvPr id="27" name="Label TextBox 26"/>
          <p:cNvSpPr txBox="1"/>
          <p:nvPr/>
        </p:nvSpPr>
        <p:spPr>
          <a:xfrm>
            <a:off x="1165860" y="4059936"/>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28" name="Label Rectangle 27"/>
          <p:cNvSpPr/>
          <p:nvPr/>
        </p:nvSpPr>
        <p:spPr>
          <a:xfrm>
            <a:off x="457200" y="4663440"/>
            <a:ext cx="1257300" cy="457200"/>
          </a:xfrm>
          <a:prstGeom prst="rect">
            <a:avLst/>
          </a:prstGeom>
          <a:solidFill>
            <a:srgbClr val="FFFFFF"/>
          </a:solidFill>
          <a:ln w="19050">
            <a:solidFill>
              <a:srgbClr val="00AEEF"/>
            </a:solidFill>
          </a:ln>
        </p:spPr>
        <p:txBody>
          <a:bodyPr rtlCol="0" anchor="ctr"/>
          <a:lstStyle/>
          <a:p>
            <a:pPr algn="ctr"/>
          </a:p>
        </p:txBody>
      </p:sp>
      <p:sp>
        <p:nvSpPr>
          <p:cNvPr id="29" name="Label TextBox 28"/>
          <p:cNvSpPr txBox="1"/>
          <p:nvPr/>
        </p:nvSpPr>
        <p:spPr>
          <a:xfrm>
            <a:off x="484632"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Make the Whole Province Findable and Bookable</a:t>
            </a:r>
          </a:p>
        </p:txBody>
      </p:sp>
      <p:sp>
        <p:nvSpPr>
          <p:cNvPr id="30" name="Label Rounded Rectangle 29"/>
          <p:cNvSpPr/>
          <p:nvPr/>
        </p:nvSpPr>
        <p:spPr>
          <a:xfrm>
            <a:off x="1165860" y="4581144"/>
            <a:ext cx="512064" cy="164592"/>
          </a:xfrm>
          <a:prstGeom prst="roundRect">
            <a:avLst>
              <a:gd name="adj" fmla="val 50000"/>
            </a:avLst>
          </a:prstGeom>
          <a:solidFill>
            <a:srgbClr val="00AEEF"/>
          </a:solidFill>
          <a:ln>
            <a:noFill/>
          </a:ln>
        </p:spPr>
        <p:txBody>
          <a:bodyPr rtlCol="0" anchor="ctr"/>
          <a:lstStyle/>
          <a:p>
            <a:pPr algn="ctr"/>
          </a:p>
        </p:txBody>
      </p:sp>
      <p:sp>
        <p:nvSpPr>
          <p:cNvPr id="31" name="Label TextBox 30"/>
          <p:cNvSpPr txBox="1"/>
          <p:nvPr/>
        </p:nvSpPr>
        <p:spPr>
          <a:xfrm>
            <a:off x="1165860" y="4581144"/>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MERGE</a:t>
            </a:r>
          </a:p>
        </p:txBody>
      </p:sp>
      <p:sp>
        <p:nvSpPr>
          <p:cNvPr id="32" name="Label Rectangle 31"/>
          <p:cNvSpPr/>
          <p:nvPr/>
        </p:nvSpPr>
        <p:spPr>
          <a:xfrm>
            <a:off x="457200" y="5184648"/>
            <a:ext cx="1257300" cy="457200"/>
          </a:xfrm>
          <a:prstGeom prst="rect">
            <a:avLst/>
          </a:prstGeom>
          <a:solidFill>
            <a:srgbClr val="DCEEF7"/>
          </a:solidFill>
          <a:ln w="19050">
            <a:solidFill>
              <a:srgbClr val="00AEEF"/>
            </a:solidFill>
          </a:ln>
        </p:spPr>
        <p:txBody>
          <a:bodyPr rtlCol="0" anchor="ctr"/>
          <a:lstStyle/>
          <a:p>
            <a:pPr algn="ctr"/>
          </a:p>
        </p:txBody>
      </p:sp>
      <p:sp>
        <p:nvSpPr>
          <p:cNvPr id="33" name="Label TextBox 32"/>
          <p:cNvSpPr txBox="1"/>
          <p:nvPr/>
        </p:nvSpPr>
        <p:spPr>
          <a:xfrm>
            <a:off x="484632" y="5184648"/>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Hold a Price and Value Position by Market</a:t>
            </a:r>
          </a:p>
        </p:txBody>
      </p:sp>
      <p:sp>
        <p:nvSpPr>
          <p:cNvPr id="34" name="Label Rounded Rectangle 33"/>
          <p:cNvSpPr/>
          <p:nvPr/>
        </p:nvSpPr>
        <p:spPr>
          <a:xfrm>
            <a:off x="1165860" y="5102352"/>
            <a:ext cx="512064" cy="164592"/>
          </a:xfrm>
          <a:prstGeom prst="roundRect">
            <a:avLst>
              <a:gd name="adj" fmla="val 50000"/>
            </a:avLst>
          </a:prstGeom>
          <a:solidFill>
            <a:srgbClr val="00AEEF"/>
          </a:solidFill>
          <a:ln>
            <a:noFill/>
          </a:ln>
        </p:spPr>
        <p:txBody>
          <a:bodyPr rtlCol="0" anchor="ctr"/>
          <a:lstStyle/>
          <a:p>
            <a:pPr algn="ctr"/>
          </a:p>
        </p:txBody>
      </p:sp>
      <p:sp>
        <p:nvSpPr>
          <p:cNvPr id="35" name="Label TextBox 34"/>
          <p:cNvSpPr txBox="1"/>
          <p:nvPr/>
        </p:nvSpPr>
        <p:spPr>
          <a:xfrm>
            <a:off x="1165860" y="5102352"/>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NEW</a:t>
            </a:r>
          </a:p>
        </p:txBody>
      </p:sp>
      <p:cxnSp>
        <p:nvCxnSpPr>
          <p:cNvPr id="36" name="Label Connector 35"/>
          <p:cNvCxnSpPr/>
          <p:nvPr/>
        </p:nvCxnSpPr>
        <p:spPr>
          <a:xfrm>
            <a:off x="2452878" y="2496312"/>
            <a:ext cx="0" cy="109728"/>
          </a:xfrm>
          <a:prstGeom prst="line">
            <a:avLst/>
          </a:prstGeom>
          <a:ln w="9525">
            <a:solidFill>
              <a:srgbClr val="D9D9D9"/>
            </a:solidFill>
          </a:ln>
        </p:spPr>
      </p:cxnSp>
      <p:sp>
        <p:nvSpPr>
          <p:cNvPr id="37" name="Label Rectangle 36"/>
          <p:cNvSpPr/>
          <p:nvPr/>
        </p:nvSpPr>
        <p:spPr>
          <a:xfrm>
            <a:off x="1824228"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Source Market Growth and Diversification</a:t>
            </a:r>
          </a:p>
        </p:txBody>
      </p:sp>
      <p:sp>
        <p:nvSpPr>
          <p:cNvPr id="38" name="Label Rectangle 37"/>
          <p:cNvSpPr/>
          <p:nvPr/>
        </p:nvSpPr>
        <p:spPr>
          <a:xfrm>
            <a:off x="1824228" y="3099816"/>
            <a:ext cx="1257300" cy="457200"/>
          </a:xfrm>
          <a:prstGeom prst="rect">
            <a:avLst/>
          </a:prstGeom>
          <a:solidFill>
            <a:srgbClr val="FFFFFF"/>
          </a:solidFill>
          <a:ln w="19050">
            <a:solidFill>
              <a:srgbClr val="00AEEF"/>
            </a:solidFill>
          </a:ln>
        </p:spPr>
        <p:txBody>
          <a:bodyPr rtlCol="0" anchor="ctr"/>
          <a:lstStyle/>
          <a:p>
            <a:pPr algn="ctr"/>
          </a:p>
        </p:txBody>
      </p:sp>
      <p:sp>
        <p:nvSpPr>
          <p:cNvPr id="39" name="Label TextBox 38"/>
          <p:cNvSpPr txBox="1"/>
          <p:nvPr/>
        </p:nvSpPr>
        <p:spPr>
          <a:xfrm>
            <a:off x="1851660"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Convert India and China Hub Traffic Now</a:t>
            </a:r>
          </a:p>
        </p:txBody>
      </p:sp>
      <p:sp>
        <p:nvSpPr>
          <p:cNvPr id="40" name="Label Rounded Rectangle 39"/>
          <p:cNvSpPr/>
          <p:nvPr/>
        </p:nvSpPr>
        <p:spPr>
          <a:xfrm>
            <a:off x="2532888" y="3017520"/>
            <a:ext cx="512064" cy="164592"/>
          </a:xfrm>
          <a:prstGeom prst="roundRect">
            <a:avLst>
              <a:gd name="adj" fmla="val 50000"/>
            </a:avLst>
          </a:prstGeom>
          <a:solidFill>
            <a:srgbClr val="00AEEF"/>
          </a:solidFill>
          <a:ln>
            <a:noFill/>
          </a:ln>
        </p:spPr>
        <p:txBody>
          <a:bodyPr rtlCol="0" anchor="ctr"/>
          <a:lstStyle/>
          <a:p>
            <a:pPr algn="ctr"/>
          </a:p>
        </p:txBody>
      </p:sp>
      <p:sp>
        <p:nvSpPr>
          <p:cNvPr id="41" name="Label TextBox 40"/>
          <p:cNvSpPr txBox="1"/>
          <p:nvPr/>
        </p:nvSpPr>
        <p:spPr>
          <a:xfrm>
            <a:off x="2532888" y="3017520"/>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42" name="Label Rectangle 41"/>
          <p:cNvSpPr/>
          <p:nvPr/>
        </p:nvSpPr>
        <p:spPr>
          <a:xfrm>
            <a:off x="1824228" y="3621024"/>
            <a:ext cx="1257300" cy="457200"/>
          </a:xfrm>
          <a:prstGeom prst="rect">
            <a:avLst/>
          </a:prstGeom>
          <a:solidFill>
            <a:srgbClr val="F2F2F2"/>
          </a:solidFill>
          <a:ln w="9525">
            <a:solidFill>
              <a:srgbClr val="D9D9D9"/>
            </a:solidFill>
          </a:ln>
        </p:spPr>
        <p:txBody>
          <a:bodyPr rtlCol="0" anchor="ctr"/>
          <a:lstStyle/>
          <a:p>
            <a:pPr algn="ctr"/>
          </a:p>
        </p:txBody>
      </p:sp>
      <p:sp>
        <p:nvSpPr>
          <p:cNvPr id="43" name="Label TextBox 42"/>
          <p:cNvSpPr txBox="1"/>
          <p:nvPr/>
        </p:nvSpPr>
        <p:spPr>
          <a:xfrm>
            <a:off x="1851660"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Increase Yield in Mature Markets (UK, Europe, N. America)</a:t>
            </a:r>
          </a:p>
        </p:txBody>
      </p:sp>
      <p:sp>
        <p:nvSpPr>
          <p:cNvPr id="44" name="Label Rectangle 43"/>
          <p:cNvSpPr/>
          <p:nvPr/>
        </p:nvSpPr>
        <p:spPr>
          <a:xfrm>
            <a:off x="1824228" y="4142232"/>
            <a:ext cx="1257300" cy="457200"/>
          </a:xfrm>
          <a:prstGeom prst="rect">
            <a:avLst/>
          </a:prstGeom>
          <a:solidFill>
            <a:srgbClr val="F2F2F2"/>
          </a:solidFill>
          <a:ln w="9525">
            <a:solidFill>
              <a:srgbClr val="D9D9D9"/>
            </a:solidFill>
          </a:ln>
        </p:spPr>
        <p:txBody>
          <a:bodyPr rtlCol="0" anchor="ctr"/>
          <a:lstStyle/>
          <a:p>
            <a:pPr algn="ctr"/>
          </a:p>
        </p:txBody>
      </p:sp>
      <p:sp>
        <p:nvSpPr>
          <p:cNvPr id="45" name="Label TextBox 44"/>
          <p:cNvSpPr txBox="1"/>
          <p:nvPr/>
        </p:nvSpPr>
        <p:spPr>
          <a:xfrm>
            <a:off x="1851660"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Grow Regional Top-Up and Counter-Seasonal Demand (Africa)</a:t>
            </a:r>
          </a:p>
        </p:txBody>
      </p:sp>
      <p:cxnSp>
        <p:nvCxnSpPr>
          <p:cNvPr id="46" name="Label Connector 45"/>
          <p:cNvCxnSpPr/>
          <p:nvPr/>
        </p:nvCxnSpPr>
        <p:spPr>
          <a:xfrm>
            <a:off x="3819906" y="2496312"/>
            <a:ext cx="0" cy="109728"/>
          </a:xfrm>
          <a:prstGeom prst="line">
            <a:avLst/>
          </a:prstGeom>
          <a:ln w="9525">
            <a:solidFill>
              <a:srgbClr val="D9D9D9"/>
            </a:solidFill>
          </a:ln>
        </p:spPr>
      </p:cxnSp>
      <p:sp>
        <p:nvSpPr>
          <p:cNvPr id="47" name="Label Rectangle 46"/>
          <p:cNvSpPr/>
          <p:nvPr/>
        </p:nvSpPr>
        <p:spPr>
          <a:xfrm>
            <a:off x="3191256"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Accessibility, Connectivity and Infrastructure</a:t>
            </a:r>
          </a:p>
        </p:txBody>
      </p:sp>
      <p:sp>
        <p:nvSpPr>
          <p:cNvPr id="48" name="Label Rectangle 47"/>
          <p:cNvSpPr/>
          <p:nvPr/>
        </p:nvSpPr>
        <p:spPr>
          <a:xfrm>
            <a:off x="3191256" y="3099816"/>
            <a:ext cx="1257300" cy="457200"/>
          </a:xfrm>
          <a:prstGeom prst="rect">
            <a:avLst/>
          </a:prstGeom>
          <a:solidFill>
            <a:srgbClr val="FFFFFF"/>
          </a:solidFill>
          <a:ln w="19050">
            <a:solidFill>
              <a:srgbClr val="00AEEF"/>
            </a:solidFill>
          </a:ln>
        </p:spPr>
        <p:txBody>
          <a:bodyPr rtlCol="0" anchor="ctr"/>
          <a:lstStyle/>
          <a:p>
            <a:pPr algn="ctr"/>
          </a:p>
        </p:txBody>
      </p:sp>
      <p:sp>
        <p:nvSpPr>
          <p:cNvPr id="49" name="Label TextBox 48"/>
          <p:cNvSpPr txBox="1"/>
          <p:nvPr/>
        </p:nvSpPr>
        <p:spPr>
          <a:xfrm>
            <a:off x="3218688"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Win New Direct Air Routes</a:t>
            </a:r>
          </a:p>
        </p:txBody>
      </p:sp>
      <p:sp>
        <p:nvSpPr>
          <p:cNvPr id="50" name="Label Rounded Rectangle 49"/>
          <p:cNvSpPr/>
          <p:nvPr/>
        </p:nvSpPr>
        <p:spPr>
          <a:xfrm>
            <a:off x="3899916" y="3017520"/>
            <a:ext cx="512064" cy="164592"/>
          </a:xfrm>
          <a:prstGeom prst="roundRect">
            <a:avLst>
              <a:gd name="adj" fmla="val 50000"/>
            </a:avLst>
          </a:prstGeom>
          <a:solidFill>
            <a:srgbClr val="00AEEF"/>
          </a:solidFill>
          <a:ln>
            <a:noFill/>
          </a:ln>
        </p:spPr>
        <p:txBody>
          <a:bodyPr rtlCol="0" anchor="ctr"/>
          <a:lstStyle/>
          <a:p>
            <a:pPr algn="ctr"/>
          </a:p>
        </p:txBody>
      </p:sp>
      <p:sp>
        <p:nvSpPr>
          <p:cNvPr id="51" name="Label TextBox 50"/>
          <p:cNvSpPr txBox="1"/>
          <p:nvPr/>
        </p:nvSpPr>
        <p:spPr>
          <a:xfrm>
            <a:off x="3899916" y="3017520"/>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SPLIT</a:t>
            </a:r>
          </a:p>
        </p:txBody>
      </p:sp>
      <p:sp>
        <p:nvSpPr>
          <p:cNvPr id="52" name="Label Rectangle 51"/>
          <p:cNvSpPr/>
          <p:nvPr/>
        </p:nvSpPr>
        <p:spPr>
          <a:xfrm>
            <a:off x="3191256" y="3621024"/>
            <a:ext cx="1257300" cy="457200"/>
          </a:xfrm>
          <a:prstGeom prst="rect">
            <a:avLst/>
          </a:prstGeom>
          <a:solidFill>
            <a:srgbClr val="FFFFFF"/>
          </a:solidFill>
          <a:ln w="19050">
            <a:solidFill>
              <a:srgbClr val="00AEEF"/>
            </a:solidFill>
          </a:ln>
        </p:spPr>
        <p:txBody>
          <a:bodyPr rtlCol="0" anchor="ctr"/>
          <a:lstStyle/>
          <a:p>
            <a:pPr algn="ctr"/>
          </a:p>
        </p:txBody>
      </p:sp>
      <p:sp>
        <p:nvSpPr>
          <p:cNvPr id="53" name="Label TextBox 52"/>
          <p:cNvSpPr txBox="1"/>
          <p:nvPr/>
        </p:nvSpPr>
        <p:spPr>
          <a:xfrm>
            <a:off x="3218688"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Underwrite Capacity on Full Routes</a:t>
            </a:r>
          </a:p>
        </p:txBody>
      </p:sp>
      <p:sp>
        <p:nvSpPr>
          <p:cNvPr id="54" name="Label Rounded Rectangle 53"/>
          <p:cNvSpPr/>
          <p:nvPr/>
        </p:nvSpPr>
        <p:spPr>
          <a:xfrm>
            <a:off x="3899916" y="3538728"/>
            <a:ext cx="512064" cy="164592"/>
          </a:xfrm>
          <a:prstGeom prst="roundRect">
            <a:avLst>
              <a:gd name="adj" fmla="val 50000"/>
            </a:avLst>
          </a:prstGeom>
          <a:solidFill>
            <a:srgbClr val="00AEEF"/>
          </a:solidFill>
          <a:ln>
            <a:noFill/>
          </a:ln>
        </p:spPr>
        <p:txBody>
          <a:bodyPr rtlCol="0" anchor="ctr"/>
          <a:lstStyle/>
          <a:p>
            <a:pPr algn="ctr"/>
          </a:p>
        </p:txBody>
      </p:sp>
      <p:sp>
        <p:nvSpPr>
          <p:cNvPr id="55" name="Label TextBox 54"/>
          <p:cNvSpPr txBox="1"/>
          <p:nvPr/>
        </p:nvSpPr>
        <p:spPr>
          <a:xfrm>
            <a:off x="3899916"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SPLIT</a:t>
            </a:r>
          </a:p>
        </p:txBody>
      </p:sp>
      <p:sp>
        <p:nvSpPr>
          <p:cNvPr id="56" name="Label Rectangle 55"/>
          <p:cNvSpPr/>
          <p:nvPr/>
        </p:nvSpPr>
        <p:spPr>
          <a:xfrm>
            <a:off x="3191256" y="4142232"/>
            <a:ext cx="1257300" cy="457200"/>
          </a:xfrm>
          <a:prstGeom prst="rect">
            <a:avLst/>
          </a:prstGeom>
          <a:solidFill>
            <a:srgbClr val="DCEEF7"/>
          </a:solidFill>
          <a:ln w="19050">
            <a:solidFill>
              <a:srgbClr val="00AEEF"/>
            </a:solidFill>
          </a:ln>
        </p:spPr>
        <p:txBody>
          <a:bodyPr rtlCol="0" anchor="ctr"/>
          <a:lstStyle/>
          <a:p>
            <a:pPr algn="ctr"/>
          </a:p>
        </p:txBody>
      </p:sp>
      <p:sp>
        <p:nvSpPr>
          <p:cNvPr id="57" name="Label TextBox 56"/>
          <p:cNvSpPr txBox="1"/>
          <p:nvPr/>
        </p:nvSpPr>
        <p:spPr>
          <a:xfrm>
            <a:off x="3218688"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Grow Cruise Calls and Ports</a:t>
            </a:r>
          </a:p>
        </p:txBody>
      </p:sp>
      <p:sp>
        <p:nvSpPr>
          <p:cNvPr id="58" name="Label Rounded Rectangle 57"/>
          <p:cNvSpPr/>
          <p:nvPr/>
        </p:nvSpPr>
        <p:spPr>
          <a:xfrm>
            <a:off x="3899916" y="4059936"/>
            <a:ext cx="512064" cy="164592"/>
          </a:xfrm>
          <a:prstGeom prst="roundRect">
            <a:avLst>
              <a:gd name="adj" fmla="val 50000"/>
            </a:avLst>
          </a:prstGeom>
          <a:solidFill>
            <a:srgbClr val="00AEEF"/>
          </a:solidFill>
          <a:ln>
            <a:noFill/>
          </a:ln>
        </p:spPr>
        <p:txBody>
          <a:bodyPr rtlCol="0" anchor="ctr"/>
          <a:lstStyle/>
          <a:p>
            <a:pPr algn="ctr"/>
          </a:p>
        </p:txBody>
      </p:sp>
      <p:sp>
        <p:nvSpPr>
          <p:cNvPr id="59" name="Label TextBox 58"/>
          <p:cNvSpPr txBox="1"/>
          <p:nvPr/>
        </p:nvSpPr>
        <p:spPr>
          <a:xfrm>
            <a:off x="3899916" y="4059936"/>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NEW</a:t>
            </a:r>
          </a:p>
        </p:txBody>
      </p:sp>
      <p:sp>
        <p:nvSpPr>
          <p:cNvPr id="60" name="Label Rectangle 59"/>
          <p:cNvSpPr/>
          <p:nvPr/>
        </p:nvSpPr>
        <p:spPr>
          <a:xfrm>
            <a:off x="3191256" y="4663440"/>
            <a:ext cx="1257300" cy="457200"/>
          </a:xfrm>
          <a:prstGeom prst="rect">
            <a:avLst/>
          </a:prstGeom>
          <a:solidFill>
            <a:srgbClr val="F2F2F2"/>
          </a:solidFill>
          <a:ln w="9525">
            <a:solidFill>
              <a:srgbClr val="D9D9D9"/>
            </a:solidFill>
          </a:ln>
        </p:spPr>
        <p:txBody>
          <a:bodyPr rtlCol="0" anchor="ctr"/>
          <a:lstStyle/>
          <a:p>
            <a:pPr algn="ctr"/>
          </a:p>
        </p:txBody>
      </p:sp>
      <p:sp>
        <p:nvSpPr>
          <p:cNvPr id="61" name="Label TextBox 60"/>
          <p:cNvSpPr txBox="1"/>
          <p:nvPr/>
        </p:nvSpPr>
        <p:spPr>
          <a:xfrm>
            <a:off x="3218688"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Accelerate Tourism-Enabling Internal Mobility</a:t>
            </a:r>
          </a:p>
        </p:txBody>
      </p:sp>
      <p:sp>
        <p:nvSpPr>
          <p:cNvPr id="62" name="Label Rectangle 61"/>
          <p:cNvSpPr/>
          <p:nvPr/>
        </p:nvSpPr>
        <p:spPr>
          <a:xfrm>
            <a:off x="3191256" y="5184648"/>
            <a:ext cx="1257300" cy="457200"/>
          </a:xfrm>
          <a:prstGeom prst="rect">
            <a:avLst/>
          </a:prstGeom>
          <a:solidFill>
            <a:srgbClr val="F2F2F2"/>
          </a:solidFill>
          <a:ln w="9525">
            <a:solidFill>
              <a:srgbClr val="D9D9D9"/>
            </a:solidFill>
          </a:ln>
        </p:spPr>
        <p:txBody>
          <a:bodyPr rtlCol="0" anchor="ctr"/>
          <a:lstStyle/>
          <a:p>
            <a:pPr algn="ctr"/>
          </a:p>
        </p:txBody>
      </p:sp>
      <p:sp>
        <p:nvSpPr>
          <p:cNvPr id="63" name="Label TextBox 62"/>
          <p:cNvSpPr txBox="1"/>
          <p:nvPr/>
        </p:nvSpPr>
        <p:spPr>
          <a:xfrm>
            <a:off x="3218688" y="5184648"/>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Lead Removal of Infrastructure, Visa and Safety Deficits</a:t>
            </a:r>
          </a:p>
        </p:txBody>
      </p:sp>
      <p:cxnSp>
        <p:nvCxnSpPr>
          <p:cNvPr id="64" name="Label Connector 63"/>
          <p:cNvCxnSpPr/>
          <p:nvPr/>
        </p:nvCxnSpPr>
        <p:spPr>
          <a:xfrm>
            <a:off x="5186934" y="2496312"/>
            <a:ext cx="0" cy="109728"/>
          </a:xfrm>
          <a:prstGeom prst="line">
            <a:avLst/>
          </a:prstGeom>
          <a:ln w="9525">
            <a:solidFill>
              <a:srgbClr val="D9D9D9"/>
            </a:solidFill>
          </a:ln>
        </p:spPr>
      </p:cxnSp>
      <p:sp>
        <p:nvSpPr>
          <p:cNvPr id="65" name="Label Rectangle 64"/>
          <p:cNvSpPr/>
          <p:nvPr/>
        </p:nvSpPr>
        <p:spPr>
          <a:xfrm>
            <a:off x="4558284"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Product and Destination Capacity</a:t>
            </a:r>
          </a:p>
        </p:txBody>
      </p:sp>
      <p:sp>
        <p:nvSpPr>
          <p:cNvPr id="66" name="Label Rectangle 65"/>
          <p:cNvSpPr/>
          <p:nvPr/>
        </p:nvSpPr>
        <p:spPr>
          <a:xfrm>
            <a:off x="4558284" y="3099816"/>
            <a:ext cx="1257300" cy="457200"/>
          </a:xfrm>
          <a:prstGeom prst="rect">
            <a:avLst/>
          </a:prstGeom>
          <a:solidFill>
            <a:srgbClr val="F2F2F2"/>
          </a:solidFill>
          <a:ln w="9525">
            <a:solidFill>
              <a:srgbClr val="D9D9D9"/>
            </a:solidFill>
          </a:ln>
        </p:spPr>
        <p:txBody>
          <a:bodyPr rtlCol="0" anchor="ctr"/>
          <a:lstStyle/>
          <a:p>
            <a:pPr algn="ctr"/>
          </a:p>
        </p:txBody>
      </p:sp>
      <p:sp>
        <p:nvSpPr>
          <p:cNvPr id="67" name="Label TextBox 66"/>
          <p:cNvSpPr txBox="1"/>
          <p:nvPr/>
        </p:nvSpPr>
        <p:spPr>
          <a:xfrm>
            <a:off x="4585716"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Support Diversified Route and Product Development</a:t>
            </a:r>
          </a:p>
        </p:txBody>
      </p:sp>
      <p:sp>
        <p:nvSpPr>
          <p:cNvPr id="68" name="Label Rectangle 67"/>
          <p:cNvSpPr/>
          <p:nvPr/>
        </p:nvSpPr>
        <p:spPr>
          <a:xfrm>
            <a:off x="4558284" y="3621024"/>
            <a:ext cx="1257300" cy="457200"/>
          </a:xfrm>
          <a:prstGeom prst="rect">
            <a:avLst/>
          </a:prstGeom>
          <a:solidFill>
            <a:srgbClr val="F2F2F2"/>
          </a:solidFill>
          <a:ln w="9525">
            <a:solidFill>
              <a:srgbClr val="D9D9D9"/>
            </a:solidFill>
          </a:ln>
        </p:spPr>
        <p:txBody>
          <a:bodyPr rtlCol="0" anchor="ctr"/>
          <a:lstStyle/>
          <a:p>
            <a:pPr algn="ctr"/>
          </a:p>
        </p:txBody>
      </p:sp>
      <p:sp>
        <p:nvSpPr>
          <p:cNvPr id="69" name="Label TextBox 68"/>
          <p:cNvSpPr txBox="1"/>
          <p:nvPr/>
        </p:nvSpPr>
        <p:spPr>
          <a:xfrm>
            <a:off x="4585716"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Align Visitor Experience In-Destination</a:t>
            </a:r>
          </a:p>
        </p:txBody>
      </p:sp>
      <p:sp>
        <p:nvSpPr>
          <p:cNvPr id="70" name="Label Rectangle 69"/>
          <p:cNvSpPr/>
          <p:nvPr/>
        </p:nvSpPr>
        <p:spPr>
          <a:xfrm>
            <a:off x="4558284" y="4142232"/>
            <a:ext cx="1257300" cy="457200"/>
          </a:xfrm>
          <a:prstGeom prst="rect">
            <a:avLst/>
          </a:prstGeom>
          <a:solidFill>
            <a:srgbClr val="F2F2F2"/>
          </a:solidFill>
          <a:ln w="9525">
            <a:solidFill>
              <a:srgbClr val="D9D9D9"/>
            </a:solidFill>
          </a:ln>
        </p:spPr>
        <p:txBody>
          <a:bodyPr rtlCol="0" anchor="ctr"/>
          <a:lstStyle/>
          <a:p>
            <a:pPr algn="ctr"/>
          </a:p>
        </p:txBody>
      </p:sp>
      <p:sp>
        <p:nvSpPr>
          <p:cNvPr id="71" name="Label TextBox 70"/>
          <p:cNvSpPr txBox="1"/>
          <p:nvPr/>
        </p:nvSpPr>
        <p:spPr>
          <a:xfrm>
            <a:off x="4585716"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Sustainably Maximise Nature-Based and Cultural Attractions</a:t>
            </a:r>
          </a:p>
        </p:txBody>
      </p:sp>
      <p:cxnSp>
        <p:nvCxnSpPr>
          <p:cNvPr id="72" name="Label Connector 71"/>
          <p:cNvCxnSpPr/>
          <p:nvPr/>
        </p:nvCxnSpPr>
        <p:spPr>
          <a:xfrm>
            <a:off x="6553962" y="2496312"/>
            <a:ext cx="0" cy="109728"/>
          </a:xfrm>
          <a:prstGeom prst="line">
            <a:avLst/>
          </a:prstGeom>
          <a:ln w="9525">
            <a:solidFill>
              <a:srgbClr val="D9D9D9"/>
            </a:solidFill>
          </a:ln>
        </p:spPr>
      </p:cxnSp>
      <p:sp>
        <p:nvSpPr>
          <p:cNvPr id="73" name="Label Rectangle 72"/>
          <p:cNvSpPr/>
          <p:nvPr/>
        </p:nvSpPr>
        <p:spPr>
          <a:xfrm>
            <a:off x="5925312"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Inclusion and Sustainability</a:t>
            </a:r>
          </a:p>
        </p:txBody>
      </p:sp>
      <p:sp>
        <p:nvSpPr>
          <p:cNvPr id="74" name="Label Rectangle 73"/>
          <p:cNvSpPr/>
          <p:nvPr/>
        </p:nvSpPr>
        <p:spPr>
          <a:xfrm>
            <a:off x="5925312" y="3099816"/>
            <a:ext cx="1257300" cy="457200"/>
          </a:xfrm>
          <a:prstGeom prst="rect">
            <a:avLst/>
          </a:prstGeom>
          <a:solidFill>
            <a:srgbClr val="F2F2F2"/>
          </a:solidFill>
          <a:ln w="9525">
            <a:solidFill>
              <a:srgbClr val="D9D9D9"/>
            </a:solidFill>
          </a:ln>
        </p:spPr>
        <p:txBody>
          <a:bodyPr rtlCol="0" anchor="ctr"/>
          <a:lstStyle/>
          <a:p>
            <a:pPr algn="ctr"/>
          </a:p>
        </p:txBody>
      </p:sp>
      <p:sp>
        <p:nvSpPr>
          <p:cNvPr id="75" name="Label TextBox 74"/>
          <p:cNvSpPr txBox="1"/>
          <p:nvPr/>
        </p:nvSpPr>
        <p:spPr>
          <a:xfrm>
            <a:off x="5952744"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Include MSMEs and Communities in Tourism Value Chains</a:t>
            </a:r>
          </a:p>
        </p:txBody>
      </p:sp>
      <p:sp>
        <p:nvSpPr>
          <p:cNvPr id="76" name="Label Rectangle 75"/>
          <p:cNvSpPr/>
          <p:nvPr/>
        </p:nvSpPr>
        <p:spPr>
          <a:xfrm>
            <a:off x="5925312" y="3621024"/>
            <a:ext cx="1257300" cy="457200"/>
          </a:xfrm>
          <a:prstGeom prst="rect">
            <a:avLst/>
          </a:prstGeom>
          <a:solidFill>
            <a:srgbClr val="FFFFFF"/>
          </a:solidFill>
          <a:ln w="19050">
            <a:solidFill>
              <a:srgbClr val="00AEEF"/>
            </a:solidFill>
          </a:ln>
        </p:spPr>
        <p:txBody>
          <a:bodyPr rtlCol="0" anchor="ctr"/>
          <a:lstStyle/>
          <a:p>
            <a:pPr algn="ctr"/>
          </a:p>
        </p:txBody>
      </p:sp>
      <p:sp>
        <p:nvSpPr>
          <p:cNvPr id="77" name="Label TextBox 76"/>
          <p:cNvSpPr txBox="1"/>
          <p:nvPr/>
        </p:nvSpPr>
        <p:spPr>
          <a:xfrm>
            <a:off x="5952744"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Workforce and Service Skills: Untested</a:t>
            </a:r>
          </a:p>
        </p:txBody>
      </p:sp>
      <p:sp>
        <p:nvSpPr>
          <p:cNvPr id="78" name="Label Rounded Rectangle 77"/>
          <p:cNvSpPr/>
          <p:nvPr/>
        </p:nvSpPr>
        <p:spPr>
          <a:xfrm>
            <a:off x="6633972" y="3538728"/>
            <a:ext cx="512064" cy="164592"/>
          </a:xfrm>
          <a:prstGeom prst="roundRect">
            <a:avLst>
              <a:gd name="adj" fmla="val 50000"/>
            </a:avLst>
          </a:prstGeom>
          <a:solidFill>
            <a:srgbClr val="00AEEF"/>
          </a:solidFill>
          <a:ln>
            <a:noFill/>
          </a:ln>
        </p:spPr>
        <p:txBody>
          <a:bodyPr rtlCol="0" anchor="ctr"/>
          <a:lstStyle/>
          <a:p>
            <a:pPr algn="ctr"/>
          </a:p>
        </p:txBody>
      </p:sp>
      <p:sp>
        <p:nvSpPr>
          <p:cNvPr id="79" name="Label TextBox 78"/>
          <p:cNvSpPr txBox="1"/>
          <p:nvPr/>
        </p:nvSpPr>
        <p:spPr>
          <a:xfrm>
            <a:off x="6633972"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FLAG</a:t>
            </a:r>
          </a:p>
        </p:txBody>
      </p:sp>
      <p:sp>
        <p:nvSpPr>
          <p:cNvPr id="80" name="Label Rectangle 79"/>
          <p:cNvSpPr/>
          <p:nvPr/>
        </p:nvSpPr>
        <p:spPr>
          <a:xfrm>
            <a:off x="5925312" y="4142232"/>
            <a:ext cx="1257300" cy="457200"/>
          </a:xfrm>
          <a:prstGeom prst="rect">
            <a:avLst/>
          </a:prstGeom>
          <a:solidFill>
            <a:srgbClr val="FFFFFF"/>
          </a:solidFill>
          <a:ln w="19050">
            <a:solidFill>
              <a:srgbClr val="00AEEF"/>
            </a:solidFill>
          </a:ln>
        </p:spPr>
        <p:txBody>
          <a:bodyPr rtlCol="0" anchor="ctr"/>
          <a:lstStyle/>
          <a:p>
            <a:pPr algn="ctr"/>
          </a:p>
        </p:txBody>
      </p:sp>
      <p:sp>
        <p:nvSpPr>
          <p:cNvPr id="81" name="Label TextBox 80"/>
          <p:cNvSpPr txBox="1"/>
          <p:nvPr/>
        </p:nvSpPr>
        <p:spPr>
          <a:xfrm>
            <a:off x="5952744"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Sustainability and Resilience: a Risk Lens</a:t>
            </a:r>
          </a:p>
        </p:txBody>
      </p:sp>
      <p:sp>
        <p:nvSpPr>
          <p:cNvPr id="82" name="Label Rounded Rectangle 81"/>
          <p:cNvSpPr/>
          <p:nvPr/>
        </p:nvSpPr>
        <p:spPr>
          <a:xfrm>
            <a:off x="6633972" y="4059936"/>
            <a:ext cx="512064" cy="164592"/>
          </a:xfrm>
          <a:prstGeom prst="roundRect">
            <a:avLst>
              <a:gd name="adj" fmla="val 50000"/>
            </a:avLst>
          </a:prstGeom>
          <a:solidFill>
            <a:srgbClr val="00AEEF"/>
          </a:solidFill>
          <a:ln>
            <a:noFill/>
          </a:ln>
        </p:spPr>
        <p:txBody>
          <a:bodyPr rtlCol="0" anchor="ctr"/>
          <a:lstStyle/>
          <a:p>
            <a:pPr algn="ctr"/>
          </a:p>
        </p:txBody>
      </p:sp>
      <p:sp>
        <p:nvSpPr>
          <p:cNvPr id="83" name="Label TextBox 82"/>
          <p:cNvSpPr txBox="1"/>
          <p:nvPr/>
        </p:nvSpPr>
        <p:spPr>
          <a:xfrm>
            <a:off x="6633972" y="4059936"/>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FLAG</a:t>
            </a:r>
          </a:p>
        </p:txBody>
      </p:sp>
      <p:cxnSp>
        <p:nvCxnSpPr>
          <p:cNvPr id="84" name="Label Connector 83"/>
          <p:cNvCxnSpPr/>
          <p:nvPr/>
        </p:nvCxnSpPr>
        <p:spPr>
          <a:xfrm>
            <a:off x="7920990" y="2496312"/>
            <a:ext cx="0" cy="109728"/>
          </a:xfrm>
          <a:prstGeom prst="line">
            <a:avLst/>
          </a:prstGeom>
          <a:ln w="9525">
            <a:solidFill>
              <a:srgbClr val="D9D9D9"/>
            </a:solidFill>
          </a:ln>
        </p:spPr>
      </p:cxnSp>
      <p:sp>
        <p:nvSpPr>
          <p:cNvPr id="85" name="Label Rectangle 84"/>
          <p:cNvSpPr/>
          <p:nvPr/>
        </p:nvSpPr>
        <p:spPr>
          <a:xfrm>
            <a:off x="7292340"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Governance, Leadership and Investment</a:t>
            </a:r>
          </a:p>
        </p:txBody>
      </p:sp>
      <p:sp>
        <p:nvSpPr>
          <p:cNvPr id="86" name="Label Rectangle 85"/>
          <p:cNvSpPr/>
          <p:nvPr/>
        </p:nvSpPr>
        <p:spPr>
          <a:xfrm>
            <a:off x="7292340" y="3099816"/>
            <a:ext cx="1257300" cy="457200"/>
          </a:xfrm>
          <a:prstGeom prst="rect">
            <a:avLst/>
          </a:prstGeom>
          <a:solidFill>
            <a:srgbClr val="F2F2F2"/>
          </a:solidFill>
          <a:ln w="9525">
            <a:solidFill>
              <a:srgbClr val="D9D9D9"/>
            </a:solidFill>
          </a:ln>
        </p:spPr>
        <p:txBody>
          <a:bodyPr rtlCol="0" anchor="ctr"/>
          <a:lstStyle/>
          <a:p>
            <a:pPr algn="ctr"/>
          </a:p>
        </p:txBody>
      </p:sp>
      <p:sp>
        <p:nvSpPr>
          <p:cNvPr id="87" name="Label TextBox 86"/>
          <p:cNvSpPr txBox="1"/>
          <p:nvPr/>
        </p:nvSpPr>
        <p:spPr>
          <a:xfrm>
            <a:off x="7319772"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Review Institutional Arrangements (local, provincial and national)</a:t>
            </a:r>
          </a:p>
        </p:txBody>
      </p:sp>
      <p:sp>
        <p:nvSpPr>
          <p:cNvPr id="88" name="Label Rectangle 87"/>
          <p:cNvSpPr/>
          <p:nvPr/>
        </p:nvSpPr>
        <p:spPr>
          <a:xfrm>
            <a:off x="7292340" y="3621024"/>
            <a:ext cx="1257300" cy="457200"/>
          </a:xfrm>
          <a:prstGeom prst="rect">
            <a:avLst/>
          </a:prstGeom>
          <a:solidFill>
            <a:srgbClr val="F2F2F2"/>
          </a:solidFill>
          <a:ln w="9525">
            <a:solidFill>
              <a:srgbClr val="D9D9D9"/>
            </a:solidFill>
          </a:ln>
        </p:spPr>
        <p:txBody>
          <a:bodyPr rtlCol="0" anchor="ctr"/>
          <a:lstStyle/>
          <a:p>
            <a:pPr algn="ctr"/>
          </a:p>
        </p:txBody>
      </p:sp>
      <p:sp>
        <p:nvSpPr>
          <p:cNvPr id="89" name="Label TextBox 88"/>
          <p:cNvSpPr txBox="1"/>
          <p:nvPr/>
        </p:nvSpPr>
        <p:spPr>
          <a:xfrm>
            <a:off x="7319772"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Strengthen Industry and Government Collaboration</a:t>
            </a:r>
          </a:p>
        </p:txBody>
      </p:sp>
      <p:sp>
        <p:nvSpPr>
          <p:cNvPr id="90" name="Label Rectangle 89"/>
          <p:cNvSpPr/>
          <p:nvPr/>
        </p:nvSpPr>
        <p:spPr>
          <a:xfrm>
            <a:off x="7292340" y="4142232"/>
            <a:ext cx="1257300" cy="457200"/>
          </a:xfrm>
          <a:prstGeom prst="rect">
            <a:avLst/>
          </a:prstGeom>
          <a:solidFill>
            <a:srgbClr val="F2F2F2"/>
          </a:solidFill>
          <a:ln w="9525">
            <a:solidFill>
              <a:srgbClr val="D9D9D9"/>
            </a:solidFill>
          </a:ln>
        </p:spPr>
        <p:txBody>
          <a:bodyPr rtlCol="0" anchor="ctr"/>
          <a:lstStyle/>
          <a:p>
            <a:pPr algn="ctr"/>
          </a:p>
        </p:txBody>
      </p:sp>
      <p:sp>
        <p:nvSpPr>
          <p:cNvPr id="91" name="Label TextBox 90"/>
          <p:cNvSpPr txBox="1"/>
          <p:nvPr/>
        </p:nvSpPr>
        <p:spPr>
          <a:xfrm>
            <a:off x="7319772"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Expedite Enabling Policy and Build the Data Layer</a:t>
            </a:r>
          </a:p>
        </p:txBody>
      </p:sp>
      <p:sp>
        <p:nvSpPr>
          <p:cNvPr id="92" name="Label Rectangle 91"/>
          <p:cNvSpPr/>
          <p:nvPr/>
        </p:nvSpPr>
        <p:spPr>
          <a:xfrm>
            <a:off x="7292340" y="4663440"/>
            <a:ext cx="1257300" cy="457200"/>
          </a:xfrm>
          <a:prstGeom prst="rect">
            <a:avLst/>
          </a:prstGeom>
          <a:solidFill>
            <a:srgbClr val="F2F2F2"/>
          </a:solidFill>
          <a:ln w="9525">
            <a:solidFill>
              <a:srgbClr val="D9D9D9"/>
            </a:solidFill>
          </a:ln>
        </p:spPr>
        <p:txBody>
          <a:bodyPr rtlCol="0" anchor="ctr"/>
          <a:lstStyle/>
          <a:p>
            <a:pPr algn="ctr"/>
          </a:p>
        </p:txBody>
      </p:sp>
      <p:sp>
        <p:nvSpPr>
          <p:cNvPr id="93" name="Label TextBox 92"/>
          <p:cNvSpPr txBox="1"/>
          <p:nvPr/>
        </p:nvSpPr>
        <p:spPr>
          <a:xfrm>
            <a:off x="7319772"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Crowd-In Capital with Targeted Investment Strategies</a:t>
            </a:r>
          </a:p>
        </p:txBody>
      </p:sp>
      <p:sp>
        <p:nvSpPr>
          <p:cNvPr id="94" name="Label Oval 93"/>
          <p:cNvSpPr/>
          <p:nvPr/>
        </p:nvSpPr>
        <p:spPr>
          <a:xfrm>
            <a:off x="3108960" y="3017520"/>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1</a:t>
            </a:r>
          </a:p>
        </p:txBody>
      </p:sp>
      <p:sp>
        <p:nvSpPr>
          <p:cNvPr id="95" name="Label Oval 94"/>
          <p:cNvSpPr/>
          <p:nvPr/>
        </p:nvSpPr>
        <p:spPr>
          <a:xfrm>
            <a:off x="3108960"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1</a:t>
            </a:r>
          </a:p>
        </p:txBody>
      </p:sp>
      <p:sp>
        <p:nvSpPr>
          <p:cNvPr id="96" name="Label Oval 95"/>
          <p:cNvSpPr/>
          <p:nvPr/>
        </p:nvSpPr>
        <p:spPr>
          <a:xfrm>
            <a:off x="3108960" y="4059936"/>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2</a:t>
            </a:r>
          </a:p>
        </p:txBody>
      </p:sp>
      <p:sp>
        <p:nvSpPr>
          <p:cNvPr id="97" name="Label Oval 96"/>
          <p:cNvSpPr/>
          <p:nvPr/>
        </p:nvSpPr>
        <p:spPr>
          <a:xfrm>
            <a:off x="374904" y="4059936"/>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3</a:t>
            </a:r>
          </a:p>
        </p:txBody>
      </p:sp>
      <p:sp>
        <p:nvSpPr>
          <p:cNvPr id="98" name="Label Oval 97"/>
          <p:cNvSpPr/>
          <p:nvPr/>
        </p:nvSpPr>
        <p:spPr>
          <a:xfrm>
            <a:off x="374904" y="4581144"/>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4</a:t>
            </a:r>
          </a:p>
        </p:txBody>
      </p:sp>
      <p:sp>
        <p:nvSpPr>
          <p:cNvPr id="99" name="Label Oval 98"/>
          <p:cNvSpPr/>
          <p:nvPr/>
        </p:nvSpPr>
        <p:spPr>
          <a:xfrm>
            <a:off x="374904"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4</a:t>
            </a:r>
          </a:p>
        </p:txBody>
      </p:sp>
      <p:sp>
        <p:nvSpPr>
          <p:cNvPr id="100" name="Label Oval 99"/>
          <p:cNvSpPr/>
          <p:nvPr/>
        </p:nvSpPr>
        <p:spPr>
          <a:xfrm>
            <a:off x="374904" y="5102352"/>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5</a:t>
            </a:r>
          </a:p>
        </p:txBody>
      </p:sp>
      <p:sp>
        <p:nvSpPr>
          <p:cNvPr id="101" name="Label Oval 100"/>
          <p:cNvSpPr/>
          <p:nvPr/>
        </p:nvSpPr>
        <p:spPr>
          <a:xfrm>
            <a:off x="1741932" y="3017520"/>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6</a:t>
            </a:r>
          </a:p>
        </p:txBody>
      </p:sp>
      <p:sp>
        <p:nvSpPr>
          <p:cNvPr id="102" name="Label Oval 101"/>
          <p:cNvSpPr/>
          <p:nvPr/>
        </p:nvSpPr>
        <p:spPr>
          <a:xfrm>
            <a:off x="5843016"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7</a:t>
            </a:r>
          </a:p>
        </p:txBody>
      </p:sp>
      <p:sp>
        <p:nvSpPr>
          <p:cNvPr id="103" name="Label Oval 102"/>
          <p:cNvSpPr/>
          <p:nvPr/>
        </p:nvSpPr>
        <p:spPr>
          <a:xfrm>
            <a:off x="5843016" y="4059936"/>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8</a:t>
            </a:r>
          </a:p>
        </p:txBody>
      </p:sp>
      <p:sp>
        <p:nvSpPr>
          <p:cNvPr id="104" name="TextBox 103"/>
          <p:cNvSpPr txBox="1"/>
          <p:nvPr/>
        </p:nvSpPr>
        <p:spPr>
          <a:xfrm>
            <a:off x="8778240" y="1325880"/>
            <a:ext cx="2956255"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CHANGE AND EVIDENCE</a:t>
            </a:r>
          </a:p>
        </p:txBody>
      </p:sp>
      <p:sp>
        <p:nvSpPr>
          <p:cNvPr id="105" name="Label badge"/>
          <p:cNvSpPr/>
          <p:nvPr/>
        </p:nvSpPr>
        <p:spPr>
          <a:xfrm>
            <a:off x="8778240" y="1664208"/>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1</a:t>
            </a:r>
          </a:p>
        </p:txBody>
      </p:sp>
      <p:sp>
        <p:nvSpPr>
          <p:cNvPr id="106" name="TextBox 105"/>
          <p:cNvSpPr txBox="1"/>
          <p:nvPr/>
        </p:nvSpPr>
        <p:spPr>
          <a:xfrm>
            <a:off x="9089136" y="1645920"/>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Split air access</a:t>
            </a:r>
          </a:p>
          <a:p>
            <a:pPr algn="l">
              <a:spcAft>
                <a:spcPts val="0"/>
              </a:spcAft>
            </a:pPr>
            <a:r>
              <a:rPr sz="900" b="0" i="0">
                <a:solidFill>
                  <a:srgbClr val="404040"/>
                </a:solidFill>
                <a:latin typeface="Arial"/>
              </a:rPr>
              <a:t>11 routes above 80%; fares before seats</a:t>
            </a:r>
          </a:p>
        </p:txBody>
      </p:sp>
      <p:sp>
        <p:nvSpPr>
          <p:cNvPr id="107" name="Label badge"/>
          <p:cNvSpPr/>
          <p:nvPr/>
        </p:nvSpPr>
        <p:spPr>
          <a:xfrm>
            <a:off x="8778240" y="2185416"/>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2</a:t>
            </a:r>
          </a:p>
        </p:txBody>
      </p:sp>
      <p:sp>
        <p:nvSpPr>
          <p:cNvPr id="108" name="TextBox 107"/>
          <p:cNvSpPr txBox="1"/>
          <p:nvPr/>
        </p:nvSpPr>
        <p:spPr>
          <a:xfrm>
            <a:off x="9089136" y="2167128"/>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Cruise as its own area</a:t>
            </a:r>
          </a:p>
          <a:p>
            <a:pPr algn="l">
              <a:spcAft>
                <a:spcPts val="0"/>
              </a:spcAft>
            </a:pPr>
            <a:r>
              <a:rPr sz="900" b="0" i="0">
                <a:solidFill>
                  <a:srgbClr val="404040"/>
                </a:solidFill>
                <a:latin typeface="Arial"/>
              </a:rPr>
              <a:t>An RFP target; 79 calls in 2024/25</a:t>
            </a:r>
          </a:p>
        </p:txBody>
      </p:sp>
      <p:sp>
        <p:nvSpPr>
          <p:cNvPr id="109" name="Label badge"/>
          <p:cNvSpPr/>
          <p:nvPr/>
        </p:nvSpPr>
        <p:spPr>
          <a:xfrm>
            <a:off x="8778240" y="2706624"/>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3</a:t>
            </a:r>
          </a:p>
        </p:txBody>
      </p:sp>
      <p:sp>
        <p:nvSpPr>
          <p:cNvPr id="110" name="TextBox 109"/>
          <p:cNvSpPr txBox="1"/>
          <p:nvPr/>
        </p:nvSpPr>
        <p:spPr>
          <a:xfrm>
            <a:off x="9089136" y="2688336"/>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Create green-season demand</a:t>
            </a:r>
          </a:p>
          <a:p>
            <a:pPr algn="l">
              <a:spcAft>
                <a:spcPts val="0"/>
              </a:spcAft>
            </a:pPr>
            <a:r>
              <a:rPr sz="900" b="0" i="0">
                <a:solidFill>
                  <a:srgbClr val="404040"/>
                </a:solidFill>
                <a:latin typeface="Arial"/>
              </a:rPr>
              <a:t>June holds 6.4% of seats</a:t>
            </a:r>
          </a:p>
        </p:txBody>
      </p:sp>
      <p:sp>
        <p:nvSpPr>
          <p:cNvPr id="111" name="Label badge"/>
          <p:cNvSpPr/>
          <p:nvPr/>
        </p:nvSpPr>
        <p:spPr>
          <a:xfrm>
            <a:off x="8778240" y="3227832"/>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4</a:t>
            </a:r>
          </a:p>
        </p:txBody>
      </p:sp>
      <p:sp>
        <p:nvSpPr>
          <p:cNvPr id="112" name="TextBox 111"/>
          <p:cNvSpPr txBox="1"/>
          <p:nvPr/>
        </p:nvSpPr>
        <p:spPr>
          <a:xfrm>
            <a:off x="9089136" y="3209544"/>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Merge brand into bookable</a:t>
            </a:r>
          </a:p>
          <a:p>
            <a:pPr algn="l">
              <a:spcAft>
                <a:spcPts val="0"/>
              </a:spcAft>
            </a:pPr>
            <a:r>
              <a:rPr sz="900" b="0" i="0">
                <a:solidFill>
                  <a:srgbClr val="404040"/>
                </a:solidFill>
                <a:latin typeface="Arial"/>
              </a:rPr>
              <a:t>No brand evidence; rural product unbookable</a:t>
            </a:r>
          </a:p>
        </p:txBody>
      </p:sp>
      <p:sp>
        <p:nvSpPr>
          <p:cNvPr id="113" name="Label badge"/>
          <p:cNvSpPr/>
          <p:nvPr/>
        </p:nvSpPr>
        <p:spPr>
          <a:xfrm>
            <a:off x="8778240" y="3749039"/>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5</a:t>
            </a:r>
          </a:p>
        </p:txBody>
      </p:sp>
      <p:sp>
        <p:nvSpPr>
          <p:cNvPr id="114" name="TextBox 113"/>
          <p:cNvSpPr txBox="1"/>
          <p:nvPr/>
        </p:nvSpPr>
        <p:spPr>
          <a:xfrm>
            <a:off x="9089136" y="3730752"/>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Add price and value</a:t>
            </a:r>
          </a:p>
          <a:p>
            <a:pPr algn="l">
              <a:spcAft>
                <a:spcPts val="0"/>
              </a:spcAft>
            </a:pPr>
            <a:r>
              <a:rPr sz="900" b="0" i="0">
                <a:solidFill>
                  <a:srgbClr val="404040"/>
                </a:solidFill>
                <a:latin typeface="Arial"/>
              </a:rPr>
              <a:t>DEDAT value lens; fares rising</a:t>
            </a:r>
          </a:p>
        </p:txBody>
      </p:sp>
      <p:sp>
        <p:nvSpPr>
          <p:cNvPr id="115" name="Label badge"/>
          <p:cNvSpPr/>
          <p:nvPr/>
        </p:nvSpPr>
        <p:spPr>
          <a:xfrm>
            <a:off x="8778240" y="4270247"/>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6</a:t>
            </a:r>
          </a:p>
        </p:txBody>
      </p:sp>
      <p:sp>
        <p:nvSpPr>
          <p:cNvPr id="116" name="TextBox 115"/>
          <p:cNvSpPr txBox="1"/>
          <p:nvPr/>
        </p:nvSpPr>
        <p:spPr>
          <a:xfrm>
            <a:off x="9089136" y="4251959"/>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Convert hub traffic</a:t>
            </a:r>
          </a:p>
          <a:p>
            <a:pPr algn="l">
              <a:spcAft>
                <a:spcPts val="0"/>
              </a:spcAft>
            </a:pPr>
            <a:r>
              <a:rPr sz="900" b="0" i="0">
                <a:solidFill>
                  <a:srgbClr val="404040"/>
                </a:solidFill>
                <a:latin typeface="Arial"/>
              </a:rPr>
              <a:t>101,000 journeys via hubs a year</a:t>
            </a:r>
          </a:p>
        </p:txBody>
      </p:sp>
      <p:sp>
        <p:nvSpPr>
          <p:cNvPr id="117" name="Label badge"/>
          <p:cNvSpPr/>
          <p:nvPr/>
        </p:nvSpPr>
        <p:spPr>
          <a:xfrm>
            <a:off x="8778240" y="4791455"/>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7</a:t>
            </a:r>
          </a:p>
        </p:txBody>
      </p:sp>
      <p:sp>
        <p:nvSpPr>
          <p:cNvPr id="118" name="TextBox 117"/>
          <p:cNvSpPr txBox="1"/>
          <p:nvPr/>
        </p:nvSpPr>
        <p:spPr>
          <a:xfrm>
            <a:off x="9089136" y="4773168"/>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Skills untested</a:t>
            </a:r>
          </a:p>
          <a:p>
            <a:pPr algn="l">
              <a:spcAft>
                <a:spcPts val="0"/>
              </a:spcAft>
            </a:pPr>
            <a:r>
              <a:rPr sz="900" b="0" i="0">
                <a:solidFill>
                  <a:srgbClr val="404040"/>
                </a:solidFill>
                <a:latin typeface="Arial"/>
              </a:rPr>
              <a:t>No labour analysis behind 300,000 jobs</a:t>
            </a:r>
          </a:p>
        </p:txBody>
      </p:sp>
      <p:sp>
        <p:nvSpPr>
          <p:cNvPr id="119" name="Label badge"/>
          <p:cNvSpPr/>
          <p:nvPr/>
        </p:nvSpPr>
        <p:spPr>
          <a:xfrm>
            <a:off x="8778240" y="5312664"/>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8</a:t>
            </a:r>
          </a:p>
        </p:txBody>
      </p:sp>
      <p:sp>
        <p:nvSpPr>
          <p:cNvPr id="120" name="TextBox 119"/>
          <p:cNvSpPr txBox="1"/>
          <p:nvPr/>
        </p:nvSpPr>
        <p:spPr>
          <a:xfrm>
            <a:off x="9089136" y="5294376"/>
            <a:ext cx="2645359" cy="512064"/>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Resilience as a risk lens</a:t>
            </a:r>
          </a:p>
          <a:p>
            <a:pPr algn="l">
              <a:spcAft>
                <a:spcPts val="0"/>
              </a:spcAft>
            </a:pPr>
            <a:r>
              <a:rPr sz="900" b="0" i="0">
                <a:solidFill>
                  <a:srgbClr val="404040"/>
                </a:solidFill>
                <a:latin typeface="Arial"/>
              </a:rPr>
              <a:t>Meiringspoort flood: R421m, ~26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Seven findings carry the answer, and each rests on at least two deliverables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As tagged on each card; pages in the speaker notes and appendix A1</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371600"/>
            <a:ext cx="2716453" cy="2011680"/>
          </a:xfrm>
          <a:prstGeom prst="rect">
            <a:avLst/>
          </a:prstGeom>
          <a:solidFill>
            <a:srgbClr val="F2F2F2"/>
          </a:solidFill>
          <a:ln>
            <a:noFill/>
          </a:ln>
        </p:spPr>
        <p:txBody>
          <a:bodyPr rtlCol="0" anchor="ctr"/>
          <a:lstStyle/>
          <a:p>
            <a:pPr algn="ctr"/>
          </a:p>
        </p:txBody>
      </p:sp>
      <p:sp>
        <p:nvSpPr>
          <p:cNvPr id="9" name="Rectangle 8"/>
          <p:cNvSpPr/>
          <p:nvPr/>
        </p:nvSpPr>
        <p:spPr>
          <a:xfrm>
            <a:off x="457200" y="1371600"/>
            <a:ext cx="2716453" cy="54864"/>
          </a:xfrm>
          <a:prstGeom prst="rect">
            <a:avLst/>
          </a:prstGeom>
          <a:solidFill>
            <a:srgbClr val="00AEEF"/>
          </a:solidFill>
          <a:ln>
            <a:noFill/>
          </a:ln>
        </p:spPr>
        <p:txBody>
          <a:bodyPr rtlCol="0" anchor="ctr"/>
          <a:lstStyle/>
          <a:p>
            <a:pPr algn="ctr"/>
          </a:p>
        </p:txBody>
      </p:sp>
      <p:sp>
        <p:nvSpPr>
          <p:cNvPr id="10" name="Label num"/>
          <p:cNvSpPr txBox="1"/>
          <p:nvPr/>
        </p:nvSpPr>
        <p:spPr>
          <a:xfrm>
            <a:off x="594360"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01</a:t>
            </a:r>
          </a:p>
        </p:txBody>
      </p:sp>
      <p:sp>
        <p:nvSpPr>
          <p:cNvPr id="11" name="TextBox 10"/>
          <p:cNvSpPr txBox="1"/>
          <p:nvPr/>
        </p:nvSpPr>
        <p:spPr>
          <a:xfrm>
            <a:off x="594360"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6.4%</a:t>
            </a:r>
          </a:p>
        </p:txBody>
      </p:sp>
      <p:sp>
        <p:nvSpPr>
          <p:cNvPr id="12" name="TextBox 11"/>
          <p:cNvSpPr txBox="1"/>
          <p:nvPr/>
        </p:nvSpPr>
        <p:spPr>
          <a:xfrm>
            <a:off x="594360"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annual seats fly in June.</a:t>
            </a:r>
          </a:p>
        </p:txBody>
      </p:sp>
      <p:sp>
        <p:nvSpPr>
          <p:cNvPr id="13" name="TextBox 12"/>
          <p:cNvSpPr txBox="1"/>
          <p:nvPr/>
        </p:nvSpPr>
        <p:spPr>
          <a:xfrm>
            <a:off x="594360"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Create green-season demand.</a:t>
            </a:r>
          </a:p>
        </p:txBody>
      </p:sp>
      <p:sp>
        <p:nvSpPr>
          <p:cNvPr id="14" name="Label tags"/>
          <p:cNvSpPr txBox="1"/>
          <p:nvPr/>
        </p:nvSpPr>
        <p:spPr>
          <a:xfrm>
            <a:off x="594360"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 | Stakeholder</a:t>
            </a:r>
          </a:p>
        </p:txBody>
      </p:sp>
      <p:sp>
        <p:nvSpPr>
          <p:cNvPr id="15" name="Rectangle 14"/>
          <p:cNvSpPr/>
          <p:nvPr/>
        </p:nvSpPr>
        <p:spPr>
          <a:xfrm>
            <a:off x="3310813" y="1371600"/>
            <a:ext cx="2716453" cy="2011680"/>
          </a:xfrm>
          <a:prstGeom prst="rect">
            <a:avLst/>
          </a:prstGeom>
          <a:solidFill>
            <a:srgbClr val="F2F2F2"/>
          </a:solidFill>
          <a:ln>
            <a:noFill/>
          </a:ln>
        </p:spPr>
        <p:txBody>
          <a:bodyPr rtlCol="0" anchor="ctr"/>
          <a:lstStyle/>
          <a:p>
            <a:pPr algn="ctr"/>
          </a:p>
        </p:txBody>
      </p:sp>
      <p:sp>
        <p:nvSpPr>
          <p:cNvPr id="16" name="Rectangle 15"/>
          <p:cNvSpPr/>
          <p:nvPr/>
        </p:nvSpPr>
        <p:spPr>
          <a:xfrm>
            <a:off x="3310813" y="1371600"/>
            <a:ext cx="2716453" cy="54864"/>
          </a:xfrm>
          <a:prstGeom prst="rect">
            <a:avLst/>
          </a:prstGeom>
          <a:solidFill>
            <a:srgbClr val="00AEEF"/>
          </a:solidFill>
          <a:ln>
            <a:noFill/>
          </a:ln>
        </p:spPr>
        <p:txBody>
          <a:bodyPr rtlCol="0" anchor="ctr"/>
          <a:lstStyle/>
          <a:p>
            <a:pPr algn="ctr"/>
          </a:p>
        </p:txBody>
      </p:sp>
      <p:sp>
        <p:nvSpPr>
          <p:cNvPr id="17" name="Label num"/>
          <p:cNvSpPr txBox="1"/>
          <p:nvPr/>
        </p:nvSpPr>
        <p:spPr>
          <a:xfrm>
            <a:off x="3447973"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02</a:t>
            </a:r>
          </a:p>
        </p:txBody>
      </p:sp>
      <p:sp>
        <p:nvSpPr>
          <p:cNvPr id="18" name="TextBox 17"/>
          <p:cNvSpPr txBox="1"/>
          <p:nvPr/>
        </p:nvSpPr>
        <p:spPr>
          <a:xfrm>
            <a:off x="3447973"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11 routes</a:t>
            </a:r>
          </a:p>
        </p:txBody>
      </p:sp>
      <p:sp>
        <p:nvSpPr>
          <p:cNvPr id="19" name="TextBox 18"/>
          <p:cNvSpPr txBox="1"/>
          <p:nvPr/>
        </p:nvSpPr>
        <p:spPr>
          <a:xfrm>
            <a:off x="3447973"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run above 80% estimated load.</a:t>
            </a:r>
          </a:p>
        </p:txBody>
      </p:sp>
      <p:sp>
        <p:nvSpPr>
          <p:cNvPr id="20" name="TextBox 19"/>
          <p:cNvSpPr txBox="1"/>
          <p:nvPr/>
        </p:nvSpPr>
        <p:spPr>
          <a:xfrm>
            <a:off x="3447973"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Underwrite frequency.</a:t>
            </a:r>
          </a:p>
        </p:txBody>
      </p:sp>
      <p:sp>
        <p:nvSpPr>
          <p:cNvPr id="21" name="Label tags"/>
          <p:cNvSpPr txBox="1"/>
          <p:nvPr/>
        </p:nvSpPr>
        <p:spPr>
          <a:xfrm>
            <a:off x="3447973"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a:t>
            </a:r>
          </a:p>
        </p:txBody>
      </p:sp>
      <p:sp>
        <p:nvSpPr>
          <p:cNvPr id="22" name="Rectangle 21"/>
          <p:cNvSpPr/>
          <p:nvPr/>
        </p:nvSpPr>
        <p:spPr>
          <a:xfrm>
            <a:off x="6164427" y="1371600"/>
            <a:ext cx="2716453" cy="2011680"/>
          </a:xfrm>
          <a:prstGeom prst="rect">
            <a:avLst/>
          </a:prstGeom>
          <a:solidFill>
            <a:srgbClr val="F2F2F2"/>
          </a:solidFill>
          <a:ln>
            <a:noFill/>
          </a:ln>
        </p:spPr>
        <p:txBody>
          <a:bodyPr rtlCol="0" anchor="ctr"/>
          <a:lstStyle/>
          <a:p>
            <a:pPr algn="ctr"/>
          </a:p>
        </p:txBody>
      </p:sp>
      <p:sp>
        <p:nvSpPr>
          <p:cNvPr id="23" name="Rectangle 22"/>
          <p:cNvSpPr/>
          <p:nvPr/>
        </p:nvSpPr>
        <p:spPr>
          <a:xfrm>
            <a:off x="6164427" y="1371600"/>
            <a:ext cx="2716453" cy="54864"/>
          </a:xfrm>
          <a:prstGeom prst="rect">
            <a:avLst/>
          </a:prstGeom>
          <a:solidFill>
            <a:srgbClr val="00AEEF"/>
          </a:solidFill>
          <a:ln>
            <a:noFill/>
          </a:ln>
        </p:spPr>
        <p:txBody>
          <a:bodyPr rtlCol="0" anchor="ctr"/>
          <a:lstStyle/>
          <a:p>
            <a:pPr algn="ctr"/>
          </a:p>
        </p:txBody>
      </p:sp>
      <p:sp>
        <p:nvSpPr>
          <p:cNvPr id="24" name="Label num"/>
          <p:cNvSpPr txBox="1"/>
          <p:nvPr/>
        </p:nvSpPr>
        <p:spPr>
          <a:xfrm>
            <a:off x="6301587"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03</a:t>
            </a:r>
          </a:p>
        </p:txBody>
      </p:sp>
      <p:sp>
        <p:nvSpPr>
          <p:cNvPr id="25" name="TextBox 24"/>
          <p:cNvSpPr txBox="1"/>
          <p:nvPr/>
        </p:nvSpPr>
        <p:spPr>
          <a:xfrm>
            <a:off x="6301587"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101,000</a:t>
            </a:r>
          </a:p>
        </p:txBody>
      </p:sp>
      <p:sp>
        <p:nvSpPr>
          <p:cNvPr id="26" name="TextBox 25"/>
          <p:cNvSpPr txBox="1"/>
          <p:nvPr/>
        </p:nvSpPr>
        <p:spPr>
          <a:xfrm>
            <a:off x="6301587"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India and China journeys route via hubs.</a:t>
            </a:r>
          </a:p>
        </p:txBody>
      </p:sp>
      <p:sp>
        <p:nvSpPr>
          <p:cNvPr id="27" name="TextBox 26"/>
          <p:cNvSpPr txBox="1"/>
          <p:nvPr/>
        </p:nvSpPr>
        <p:spPr>
          <a:xfrm>
            <a:off x="6301587"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Convert hub traffic.</a:t>
            </a:r>
          </a:p>
        </p:txBody>
      </p:sp>
      <p:sp>
        <p:nvSpPr>
          <p:cNvPr id="28" name="Label tags"/>
          <p:cNvSpPr txBox="1"/>
          <p:nvPr/>
        </p:nvSpPr>
        <p:spPr>
          <a:xfrm>
            <a:off x="6301587"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a:t>
            </a:r>
          </a:p>
        </p:txBody>
      </p:sp>
      <p:sp>
        <p:nvSpPr>
          <p:cNvPr id="29" name="Rectangle 28"/>
          <p:cNvSpPr/>
          <p:nvPr/>
        </p:nvSpPr>
        <p:spPr>
          <a:xfrm>
            <a:off x="9018041" y="1371600"/>
            <a:ext cx="2716453" cy="2011680"/>
          </a:xfrm>
          <a:prstGeom prst="rect">
            <a:avLst/>
          </a:prstGeom>
          <a:solidFill>
            <a:srgbClr val="F2F2F2"/>
          </a:solidFill>
          <a:ln>
            <a:noFill/>
          </a:ln>
        </p:spPr>
        <p:txBody>
          <a:bodyPr rtlCol="0" anchor="ctr"/>
          <a:lstStyle/>
          <a:p>
            <a:pPr algn="ctr"/>
          </a:p>
        </p:txBody>
      </p:sp>
      <p:sp>
        <p:nvSpPr>
          <p:cNvPr id="30" name="Rectangle 29"/>
          <p:cNvSpPr/>
          <p:nvPr/>
        </p:nvSpPr>
        <p:spPr>
          <a:xfrm>
            <a:off x="9018041" y="1371600"/>
            <a:ext cx="2716453" cy="54864"/>
          </a:xfrm>
          <a:prstGeom prst="rect">
            <a:avLst/>
          </a:prstGeom>
          <a:solidFill>
            <a:srgbClr val="00AEEF"/>
          </a:solidFill>
          <a:ln>
            <a:noFill/>
          </a:ln>
        </p:spPr>
        <p:txBody>
          <a:bodyPr rtlCol="0" anchor="ctr"/>
          <a:lstStyle/>
          <a:p>
            <a:pPr algn="ctr"/>
          </a:p>
        </p:txBody>
      </p:sp>
      <p:sp>
        <p:nvSpPr>
          <p:cNvPr id="31" name="Label num"/>
          <p:cNvSpPr txBox="1"/>
          <p:nvPr/>
        </p:nvSpPr>
        <p:spPr>
          <a:xfrm>
            <a:off x="9155201"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04</a:t>
            </a:r>
          </a:p>
        </p:txBody>
      </p:sp>
      <p:sp>
        <p:nvSpPr>
          <p:cNvPr id="32" name="TextBox 31"/>
          <p:cNvSpPr txBox="1"/>
          <p:nvPr/>
        </p:nvSpPr>
        <p:spPr>
          <a:xfrm>
            <a:off x="9155201"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70%</a:t>
            </a:r>
          </a:p>
        </p:txBody>
      </p:sp>
      <p:sp>
        <p:nvSpPr>
          <p:cNvPr id="33" name="TextBox 32"/>
          <p:cNvSpPr txBox="1"/>
          <p:nvPr/>
        </p:nvSpPr>
        <p:spPr>
          <a:xfrm>
            <a:off x="9155201"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CapeNature bookings come by phone.</a:t>
            </a:r>
          </a:p>
        </p:txBody>
      </p:sp>
      <p:sp>
        <p:nvSpPr>
          <p:cNvPr id="34" name="TextBox 33"/>
          <p:cNvSpPr txBox="1"/>
          <p:nvPr/>
        </p:nvSpPr>
        <p:spPr>
          <a:xfrm>
            <a:off x="9155201"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Make it bookable.</a:t>
            </a:r>
          </a:p>
        </p:txBody>
      </p:sp>
      <p:sp>
        <p:nvSpPr>
          <p:cNvPr id="35" name="Label tags"/>
          <p:cNvSpPr txBox="1"/>
          <p:nvPr/>
        </p:nvSpPr>
        <p:spPr>
          <a:xfrm>
            <a:off x="9155201"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Stakeholder | Infrastructure | Demand-Side</a:t>
            </a:r>
          </a:p>
        </p:txBody>
      </p:sp>
      <p:sp>
        <p:nvSpPr>
          <p:cNvPr id="36" name="Rectangle 35"/>
          <p:cNvSpPr/>
          <p:nvPr/>
        </p:nvSpPr>
        <p:spPr>
          <a:xfrm>
            <a:off x="457200" y="3520440"/>
            <a:ext cx="3667658" cy="2011680"/>
          </a:xfrm>
          <a:prstGeom prst="rect">
            <a:avLst/>
          </a:prstGeom>
          <a:solidFill>
            <a:srgbClr val="F2F2F2"/>
          </a:solidFill>
          <a:ln>
            <a:noFill/>
          </a:ln>
        </p:spPr>
        <p:txBody>
          <a:bodyPr rtlCol="0" anchor="ctr"/>
          <a:lstStyle/>
          <a:p>
            <a:pPr algn="ctr"/>
          </a:p>
        </p:txBody>
      </p:sp>
      <p:sp>
        <p:nvSpPr>
          <p:cNvPr id="37" name="Rectangle 36"/>
          <p:cNvSpPr/>
          <p:nvPr/>
        </p:nvSpPr>
        <p:spPr>
          <a:xfrm>
            <a:off x="457200" y="3520440"/>
            <a:ext cx="3667658" cy="54864"/>
          </a:xfrm>
          <a:prstGeom prst="rect">
            <a:avLst/>
          </a:prstGeom>
          <a:solidFill>
            <a:srgbClr val="00AEEF"/>
          </a:solidFill>
          <a:ln>
            <a:noFill/>
          </a:ln>
        </p:spPr>
        <p:txBody>
          <a:bodyPr rtlCol="0" anchor="ctr"/>
          <a:lstStyle/>
          <a:p>
            <a:pPr algn="ctr"/>
          </a:p>
        </p:txBody>
      </p:sp>
      <p:sp>
        <p:nvSpPr>
          <p:cNvPr id="38" name="Label num"/>
          <p:cNvSpPr txBox="1"/>
          <p:nvPr/>
        </p:nvSpPr>
        <p:spPr>
          <a:xfrm>
            <a:off x="594360"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05</a:t>
            </a:r>
          </a:p>
        </p:txBody>
      </p:sp>
      <p:sp>
        <p:nvSpPr>
          <p:cNvPr id="39" name="TextBox 38"/>
          <p:cNvSpPr txBox="1"/>
          <p:nvPr/>
        </p:nvSpPr>
        <p:spPr>
          <a:xfrm>
            <a:off x="594360"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4.7 to 1.0</a:t>
            </a:r>
          </a:p>
        </p:txBody>
      </p:sp>
      <p:sp>
        <p:nvSpPr>
          <p:cNvPr id="40" name="TextBox 39"/>
          <p:cNvSpPr txBox="1"/>
          <p:nvPr/>
        </p:nvSpPr>
        <p:spPr>
          <a:xfrm>
            <a:off x="594360"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is the fall in access, Metro to Karoo.</a:t>
            </a:r>
          </a:p>
        </p:txBody>
      </p:sp>
      <p:sp>
        <p:nvSpPr>
          <p:cNvPr id="41" name="TextBox 40"/>
          <p:cNvSpPr txBox="1"/>
          <p:nvPr/>
        </p:nvSpPr>
        <p:spPr>
          <a:xfrm>
            <a:off x="594360"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Invest by route.</a:t>
            </a:r>
          </a:p>
        </p:txBody>
      </p:sp>
      <p:sp>
        <p:nvSpPr>
          <p:cNvPr id="42" name="Label tags"/>
          <p:cNvSpPr txBox="1"/>
          <p:nvPr/>
        </p:nvSpPr>
        <p:spPr>
          <a:xfrm>
            <a:off x="594360"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Infrastructure | Diagnostic</a:t>
            </a:r>
          </a:p>
        </p:txBody>
      </p:sp>
      <p:sp>
        <p:nvSpPr>
          <p:cNvPr id="43" name="Rectangle 42"/>
          <p:cNvSpPr/>
          <p:nvPr/>
        </p:nvSpPr>
        <p:spPr>
          <a:xfrm>
            <a:off x="4262018" y="3520440"/>
            <a:ext cx="3667658" cy="2011680"/>
          </a:xfrm>
          <a:prstGeom prst="rect">
            <a:avLst/>
          </a:prstGeom>
          <a:solidFill>
            <a:srgbClr val="F2F2F2"/>
          </a:solidFill>
          <a:ln>
            <a:noFill/>
          </a:ln>
        </p:spPr>
        <p:txBody>
          <a:bodyPr rtlCol="0" anchor="ctr"/>
          <a:lstStyle/>
          <a:p>
            <a:pPr algn="ctr"/>
          </a:p>
        </p:txBody>
      </p:sp>
      <p:sp>
        <p:nvSpPr>
          <p:cNvPr id="44" name="Rectangle 43"/>
          <p:cNvSpPr/>
          <p:nvPr/>
        </p:nvSpPr>
        <p:spPr>
          <a:xfrm>
            <a:off x="4262018" y="3520440"/>
            <a:ext cx="3667658" cy="54864"/>
          </a:xfrm>
          <a:prstGeom prst="rect">
            <a:avLst/>
          </a:prstGeom>
          <a:solidFill>
            <a:srgbClr val="00AEEF"/>
          </a:solidFill>
          <a:ln>
            <a:noFill/>
          </a:ln>
        </p:spPr>
        <p:txBody>
          <a:bodyPr rtlCol="0" anchor="ctr"/>
          <a:lstStyle/>
          <a:p>
            <a:pPr algn="ctr"/>
          </a:p>
        </p:txBody>
      </p:sp>
      <p:sp>
        <p:nvSpPr>
          <p:cNvPr id="45" name="Label num"/>
          <p:cNvSpPr txBox="1"/>
          <p:nvPr/>
        </p:nvSpPr>
        <p:spPr>
          <a:xfrm>
            <a:off x="4399178"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06</a:t>
            </a:r>
          </a:p>
        </p:txBody>
      </p:sp>
      <p:sp>
        <p:nvSpPr>
          <p:cNvPr id="46" name="TextBox 45"/>
          <p:cNvSpPr txBox="1"/>
          <p:nvPr/>
        </p:nvSpPr>
        <p:spPr>
          <a:xfrm>
            <a:off x="4399178"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0.02-0.04%</a:t>
            </a:r>
          </a:p>
        </p:txBody>
      </p:sp>
      <p:sp>
        <p:nvSpPr>
          <p:cNvPr id="47" name="TextBox 46"/>
          <p:cNvSpPr txBox="1"/>
          <p:nvPr/>
        </p:nvSpPr>
        <p:spPr>
          <a:xfrm>
            <a:off x="4399178"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foreign spend reaches communities with 18.4% of residents.</a:t>
            </a:r>
          </a:p>
        </p:txBody>
      </p:sp>
      <p:sp>
        <p:nvSpPr>
          <p:cNvPr id="48" name="TextBox 47"/>
          <p:cNvSpPr txBox="1"/>
          <p:nvPr/>
        </p:nvSpPr>
        <p:spPr>
          <a:xfrm>
            <a:off x="4399178"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Fund local sellers.</a:t>
            </a:r>
          </a:p>
        </p:txBody>
      </p:sp>
      <p:sp>
        <p:nvSpPr>
          <p:cNvPr id="49" name="Label tags"/>
          <p:cNvSpPr txBox="1"/>
          <p:nvPr/>
        </p:nvSpPr>
        <p:spPr>
          <a:xfrm>
            <a:off x="4399178"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SME plan | Stakeholder</a:t>
            </a:r>
          </a:p>
        </p:txBody>
      </p:sp>
      <p:sp>
        <p:nvSpPr>
          <p:cNvPr id="50" name="Rectangle 49"/>
          <p:cNvSpPr/>
          <p:nvPr/>
        </p:nvSpPr>
        <p:spPr>
          <a:xfrm>
            <a:off x="8066836" y="3520440"/>
            <a:ext cx="3667658" cy="2011680"/>
          </a:xfrm>
          <a:prstGeom prst="rect">
            <a:avLst/>
          </a:prstGeom>
          <a:solidFill>
            <a:srgbClr val="F2F2F2"/>
          </a:solidFill>
          <a:ln>
            <a:noFill/>
          </a:ln>
        </p:spPr>
        <p:txBody>
          <a:bodyPr rtlCol="0" anchor="ctr"/>
          <a:lstStyle/>
          <a:p>
            <a:pPr algn="ctr"/>
          </a:p>
        </p:txBody>
      </p:sp>
      <p:sp>
        <p:nvSpPr>
          <p:cNvPr id="51" name="Rectangle 50"/>
          <p:cNvSpPr/>
          <p:nvPr/>
        </p:nvSpPr>
        <p:spPr>
          <a:xfrm>
            <a:off x="8066836" y="3520440"/>
            <a:ext cx="3667658" cy="54864"/>
          </a:xfrm>
          <a:prstGeom prst="rect">
            <a:avLst/>
          </a:prstGeom>
          <a:solidFill>
            <a:srgbClr val="00AEEF"/>
          </a:solidFill>
          <a:ln>
            <a:noFill/>
          </a:ln>
        </p:spPr>
        <p:txBody>
          <a:bodyPr rtlCol="0" anchor="ctr"/>
          <a:lstStyle/>
          <a:p>
            <a:pPr algn="ctr"/>
          </a:p>
        </p:txBody>
      </p:sp>
      <p:sp>
        <p:nvSpPr>
          <p:cNvPr id="52" name="Label num"/>
          <p:cNvSpPr txBox="1"/>
          <p:nvPr/>
        </p:nvSpPr>
        <p:spPr>
          <a:xfrm>
            <a:off x="8203996"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07</a:t>
            </a:r>
          </a:p>
        </p:txBody>
      </p:sp>
      <p:sp>
        <p:nvSpPr>
          <p:cNvPr id="53" name="TextBox 52"/>
          <p:cNvSpPr txBox="1"/>
          <p:nvPr/>
        </p:nvSpPr>
        <p:spPr>
          <a:xfrm>
            <a:off x="8203996"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3 tiers</a:t>
            </a:r>
          </a:p>
        </p:txBody>
      </p:sp>
      <p:sp>
        <p:nvSpPr>
          <p:cNvPr id="54" name="TextBox 53"/>
          <p:cNvSpPr txBox="1"/>
          <p:nvPr/>
        </p:nvSpPr>
        <p:spPr>
          <a:xfrm>
            <a:off x="8203996"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hold the levers; air rights sit nationally.</a:t>
            </a:r>
          </a:p>
        </p:txBody>
      </p:sp>
      <p:sp>
        <p:nvSpPr>
          <p:cNvPr id="55" name="TextBox 54"/>
          <p:cNvSpPr txBox="1"/>
          <p:nvPr/>
        </p:nvSpPr>
        <p:spPr>
          <a:xfrm>
            <a:off x="8203996"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Name lever owners.</a:t>
            </a:r>
          </a:p>
        </p:txBody>
      </p:sp>
      <p:sp>
        <p:nvSpPr>
          <p:cNvPr id="56" name="Label tags"/>
          <p:cNvSpPr txBox="1"/>
          <p:nvPr/>
        </p:nvSpPr>
        <p:spPr>
          <a:xfrm>
            <a:off x="8203996"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Stakeholder | Benchmark | factbase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The working answer: the province is capture-poor on distribution and coordination, and demand-constrained on price, safety and airlines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“Capture-poor, not demand-poor” is the DSE client factbase’s framing (s1.1). MIDAS Aviation Market Assessment (Mar 2026) p22; Stakeholder Insights Report (Mar 2026) pp24-25, 46; SME and Community Inclusion Plan (Sep 2026) p27</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4618863" cy="4069080"/>
          </a:xfrm>
          <a:prstGeom prst="rect">
            <a:avLst/>
          </a:prstGeom>
          <a:solidFill>
            <a:srgbClr val="1F497D"/>
          </a:solidFill>
          <a:ln>
            <a:noFill/>
          </a:ln>
        </p:spPr>
        <p:txBody>
          <a:bodyPr rtlCol="0" anchor="ctr"/>
          <a:lstStyle/>
          <a:p>
            <a:pPr algn="ctr"/>
          </a:p>
        </p:txBody>
      </p:sp>
      <p:sp>
        <p:nvSpPr>
          <p:cNvPr id="9" name="TextBox 8"/>
          <p:cNvSpPr txBox="1"/>
          <p:nvPr/>
        </p:nvSpPr>
        <p:spPr>
          <a:xfrm>
            <a:off x="731520" y="1600200"/>
            <a:ext cx="4070223" cy="27432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WORKING ANSWER</a:t>
            </a:r>
          </a:p>
        </p:txBody>
      </p:sp>
      <p:sp>
        <p:nvSpPr>
          <p:cNvPr id="10" name="TextBox 9"/>
          <p:cNvSpPr txBox="1"/>
          <p:nvPr/>
        </p:nvSpPr>
        <p:spPr>
          <a:xfrm>
            <a:off x="731520" y="1965960"/>
            <a:ext cx="4070223" cy="1463040"/>
          </a:xfrm>
          <a:prstGeom prst="rect">
            <a:avLst/>
          </a:prstGeom>
          <a:noFill/>
        </p:spPr>
        <p:txBody>
          <a:bodyPr wrap="square" anchor="t" lIns="0" rIns="0" tIns="0" bIns="0">
            <a:spAutoFit/>
          </a:bodyPr>
          <a:lstStyle/>
          <a:p>
            <a:pPr algn="l">
              <a:spcAft>
                <a:spcPts val="0"/>
              </a:spcAft>
            </a:pPr>
            <a:r>
              <a:rPr sz="1600" b="0" i="0">
                <a:solidFill>
                  <a:srgbClr val="FFFFFF"/>
                </a:solidFill>
                <a:latin typeface="Arial"/>
              </a:rPr>
              <a:t>Demand already exists in hubs, events and regions the province cannot yet sell, book or govern. Price, safety and airline economics also bind.</a:t>
            </a:r>
          </a:p>
        </p:txBody>
      </p:sp>
      <p:cxnSp>
        <p:nvCxnSpPr>
          <p:cNvPr id="11" name="Connector 10"/>
          <p:cNvCxnSpPr/>
          <p:nvPr/>
        </p:nvCxnSpPr>
        <p:spPr>
          <a:xfrm>
            <a:off x="731520" y="3291840"/>
            <a:ext cx="4070223" cy="0"/>
          </a:xfrm>
          <a:prstGeom prst="line">
            <a:avLst/>
          </a:prstGeom>
          <a:ln w="19050">
            <a:solidFill>
              <a:srgbClr val="00AEEF"/>
            </a:solidFill>
          </a:ln>
        </p:spPr>
      </p:cxnSp>
      <p:sp>
        <p:nvSpPr>
          <p:cNvPr id="12" name="TextBox 11"/>
          <p:cNvSpPr txBox="1"/>
          <p:nvPr/>
        </p:nvSpPr>
        <p:spPr>
          <a:xfrm>
            <a:off x="731520" y="3429000"/>
            <a:ext cx="4070223" cy="822960"/>
          </a:xfrm>
          <a:prstGeom prst="rect">
            <a:avLst/>
          </a:prstGeom>
          <a:noFill/>
        </p:spPr>
        <p:txBody>
          <a:bodyPr wrap="square" anchor="t" lIns="0" rIns="0" tIns="0" bIns="0">
            <a:spAutoFit/>
          </a:bodyPr>
          <a:lstStyle/>
          <a:p>
            <a:pPr algn="l">
              <a:spcAft>
                <a:spcPts val="400"/>
              </a:spcAft>
            </a:pPr>
            <a:r>
              <a:rPr sz="1300" b="1" i="0">
                <a:solidFill>
                  <a:srgbClr val="FFFFFF"/>
                </a:solidFill>
                <a:latin typeface="Arial"/>
              </a:rPr>
              <a:t>Capture first; name owners for what Wesgro does not control.</a:t>
            </a:r>
          </a:p>
        </p:txBody>
      </p:sp>
      <p:sp>
        <p:nvSpPr>
          <p:cNvPr id="13" name="Label attribution"/>
          <p:cNvSpPr txBox="1"/>
          <p:nvPr/>
        </p:nvSpPr>
        <p:spPr>
          <a:xfrm>
            <a:off x="731520" y="4892040"/>
            <a:ext cx="4070223" cy="457200"/>
          </a:xfrm>
          <a:prstGeom prst="rect">
            <a:avLst/>
          </a:prstGeom>
          <a:noFill/>
        </p:spPr>
        <p:txBody>
          <a:bodyPr wrap="square" anchor="t" lIns="0" rIns="0" tIns="0" bIns="0">
            <a:spAutoFit/>
          </a:bodyPr>
          <a:lstStyle/>
          <a:p>
            <a:pPr algn="l">
              <a:spcAft>
                <a:spcPts val="0"/>
              </a:spcAft>
            </a:pPr>
            <a:r>
              <a:rPr sz="900" b="0" i="1">
                <a:solidFill>
                  <a:srgbClr val="DCEEF7"/>
                </a:solidFill>
                <a:latin typeface="Arial"/>
              </a:rPr>
              <a:t>Qualifies the DSE factbase’s “capture-poor, not demand-poor”</a:t>
            </a:r>
          </a:p>
        </p:txBody>
      </p:sp>
      <p:sp>
        <p:nvSpPr>
          <p:cNvPr id="14" name="Rectangle 13"/>
          <p:cNvSpPr/>
          <p:nvPr/>
        </p:nvSpPr>
        <p:spPr>
          <a:xfrm>
            <a:off x="5258943" y="1417320"/>
            <a:ext cx="3169196" cy="1965960"/>
          </a:xfrm>
          <a:prstGeom prst="rect">
            <a:avLst/>
          </a:prstGeom>
          <a:solidFill>
            <a:srgbClr val="FFFFFF"/>
          </a:solidFill>
          <a:ln w="12700">
            <a:solidFill>
              <a:srgbClr val="D9D9D9"/>
            </a:solidFill>
          </a:ln>
        </p:spPr>
        <p:txBody>
          <a:bodyPr rtlCol="0" anchor="ctr"/>
          <a:lstStyle/>
          <a:p>
            <a:pPr algn="ctr"/>
          </a:p>
        </p:txBody>
      </p:sp>
      <p:sp>
        <p:nvSpPr>
          <p:cNvPr id="15" name="Label kicker"/>
          <p:cNvSpPr txBox="1"/>
          <p:nvPr/>
        </p:nvSpPr>
        <p:spPr>
          <a:xfrm>
            <a:off x="5441823" y="1554480"/>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16" name="TextBox 15"/>
          <p:cNvSpPr txBox="1"/>
          <p:nvPr/>
        </p:nvSpPr>
        <p:spPr>
          <a:xfrm>
            <a:off x="5441823" y="1801368"/>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Airlines raise fares before adding seats</a:t>
            </a:r>
          </a:p>
        </p:txBody>
      </p:sp>
      <p:sp>
        <p:nvSpPr>
          <p:cNvPr id="17" name="Label source"/>
          <p:cNvSpPr txBox="1"/>
          <p:nvPr/>
        </p:nvSpPr>
        <p:spPr>
          <a:xfrm>
            <a:off x="5441823" y="2423160"/>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MIDAS p22</a:t>
            </a:r>
          </a:p>
        </p:txBody>
      </p:sp>
      <p:cxnSp>
        <p:nvCxnSpPr>
          <p:cNvPr id="18" name="Connector 17"/>
          <p:cNvCxnSpPr/>
          <p:nvPr/>
        </p:nvCxnSpPr>
        <p:spPr>
          <a:xfrm>
            <a:off x="5441823" y="2743200"/>
            <a:ext cx="2803436" cy="0"/>
          </a:xfrm>
          <a:prstGeom prst="line">
            <a:avLst/>
          </a:prstGeom>
          <a:ln w="9525">
            <a:solidFill>
              <a:srgbClr val="D9D9D9"/>
            </a:solidFill>
          </a:ln>
        </p:spPr>
      </p:cxnSp>
      <p:sp>
        <p:nvSpPr>
          <p:cNvPr id="19" name="TextBox 18"/>
          <p:cNvSpPr txBox="1"/>
          <p:nvPr/>
        </p:nvSpPr>
        <p:spPr>
          <a:xfrm>
            <a:off x="5441823" y="2834640"/>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Underwrite frequency on full routes.</a:t>
            </a:r>
          </a:p>
        </p:txBody>
      </p:sp>
      <p:sp>
        <p:nvSpPr>
          <p:cNvPr id="20" name="Rectangle 19"/>
          <p:cNvSpPr/>
          <p:nvPr/>
        </p:nvSpPr>
        <p:spPr>
          <a:xfrm>
            <a:off x="8565299" y="1417320"/>
            <a:ext cx="3169196" cy="1965960"/>
          </a:xfrm>
          <a:prstGeom prst="rect">
            <a:avLst/>
          </a:prstGeom>
          <a:solidFill>
            <a:srgbClr val="FFFFFF"/>
          </a:solidFill>
          <a:ln w="12700">
            <a:solidFill>
              <a:srgbClr val="D9D9D9"/>
            </a:solidFill>
          </a:ln>
        </p:spPr>
        <p:txBody>
          <a:bodyPr rtlCol="0" anchor="ctr"/>
          <a:lstStyle/>
          <a:p>
            <a:pPr algn="ctr"/>
          </a:p>
        </p:txBody>
      </p:sp>
      <p:sp>
        <p:nvSpPr>
          <p:cNvPr id="21" name="Label kicker"/>
          <p:cNvSpPr txBox="1"/>
          <p:nvPr/>
        </p:nvSpPr>
        <p:spPr>
          <a:xfrm>
            <a:off x="8748179" y="1554480"/>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22" name="TextBox 21"/>
          <p:cNvSpPr txBox="1"/>
          <p:nvPr/>
        </p:nvSpPr>
        <p:spPr>
          <a:xfrm>
            <a:off x="8748179" y="1801368"/>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Safety is a core barrier to visits</a:t>
            </a:r>
          </a:p>
        </p:txBody>
      </p:sp>
      <p:sp>
        <p:nvSpPr>
          <p:cNvPr id="23" name="Label source"/>
          <p:cNvSpPr txBox="1"/>
          <p:nvPr/>
        </p:nvSpPr>
        <p:spPr>
          <a:xfrm>
            <a:off x="8748179" y="2423160"/>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p24 (DEDAT, High)</a:t>
            </a:r>
          </a:p>
        </p:txBody>
      </p:sp>
      <p:cxnSp>
        <p:nvCxnSpPr>
          <p:cNvPr id="24" name="Connector 23"/>
          <p:cNvCxnSpPr/>
          <p:nvPr/>
        </p:nvCxnSpPr>
        <p:spPr>
          <a:xfrm>
            <a:off x="8748179" y="2743200"/>
            <a:ext cx="2803436" cy="0"/>
          </a:xfrm>
          <a:prstGeom prst="line">
            <a:avLst/>
          </a:prstGeom>
          <a:ln w="9525">
            <a:solidFill>
              <a:srgbClr val="D9D9D9"/>
            </a:solidFill>
          </a:ln>
        </p:spPr>
      </p:cxnSp>
      <p:sp>
        <p:nvSpPr>
          <p:cNvPr id="25" name="TextBox 24"/>
          <p:cNvSpPr txBox="1"/>
          <p:nvPr/>
        </p:nvSpPr>
        <p:spPr>
          <a:xfrm>
            <a:off x="8748179" y="2834640"/>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Name national owners for safety.</a:t>
            </a:r>
          </a:p>
        </p:txBody>
      </p:sp>
      <p:sp>
        <p:nvSpPr>
          <p:cNvPr id="26" name="Rectangle 25"/>
          <p:cNvSpPr/>
          <p:nvPr/>
        </p:nvSpPr>
        <p:spPr>
          <a:xfrm>
            <a:off x="5258943" y="3520439"/>
            <a:ext cx="3169196" cy="1965960"/>
          </a:xfrm>
          <a:prstGeom prst="rect">
            <a:avLst/>
          </a:prstGeom>
          <a:solidFill>
            <a:srgbClr val="FFFFFF"/>
          </a:solidFill>
          <a:ln w="12700">
            <a:solidFill>
              <a:srgbClr val="D9D9D9"/>
            </a:solidFill>
          </a:ln>
        </p:spPr>
        <p:txBody>
          <a:bodyPr rtlCol="0" anchor="ctr"/>
          <a:lstStyle/>
          <a:p>
            <a:pPr algn="ctr"/>
          </a:p>
        </p:txBody>
      </p:sp>
      <p:sp>
        <p:nvSpPr>
          <p:cNvPr id="27" name="Label kicker"/>
          <p:cNvSpPr txBox="1"/>
          <p:nvPr/>
        </p:nvSpPr>
        <p:spPr>
          <a:xfrm>
            <a:off x="5441823" y="3657599"/>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28" name="TextBox 27"/>
          <p:cNvSpPr txBox="1"/>
          <p:nvPr/>
        </p:nvSpPr>
        <p:spPr>
          <a:xfrm>
            <a:off x="5441823" y="3904487"/>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Peak room prices deter December events</a:t>
            </a:r>
          </a:p>
        </p:txBody>
      </p:sp>
      <p:sp>
        <p:nvSpPr>
          <p:cNvPr id="29" name="Label source"/>
          <p:cNvSpPr txBox="1"/>
          <p:nvPr/>
        </p:nvSpPr>
        <p:spPr>
          <a:xfrm>
            <a:off x="5441823" y="4526279"/>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p46 (CTICC, High)</a:t>
            </a:r>
          </a:p>
        </p:txBody>
      </p:sp>
      <p:cxnSp>
        <p:nvCxnSpPr>
          <p:cNvPr id="30" name="Connector 29"/>
          <p:cNvCxnSpPr/>
          <p:nvPr/>
        </p:nvCxnSpPr>
        <p:spPr>
          <a:xfrm>
            <a:off x="5441823" y="4846320"/>
            <a:ext cx="2803436" cy="0"/>
          </a:xfrm>
          <a:prstGeom prst="line">
            <a:avLst/>
          </a:prstGeom>
          <a:ln w="9525">
            <a:solidFill>
              <a:srgbClr val="D9D9D9"/>
            </a:solidFill>
          </a:ln>
        </p:spPr>
      </p:cxnSp>
      <p:sp>
        <p:nvSpPr>
          <p:cNvPr id="31" name="TextBox 30"/>
          <p:cNvSpPr txBox="1"/>
          <p:nvPr/>
        </p:nvSpPr>
        <p:spPr>
          <a:xfrm>
            <a:off x="5441823" y="4937759"/>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Set a price and value position.</a:t>
            </a:r>
          </a:p>
        </p:txBody>
      </p:sp>
      <p:sp>
        <p:nvSpPr>
          <p:cNvPr id="32" name="Rectangle 31"/>
          <p:cNvSpPr/>
          <p:nvPr/>
        </p:nvSpPr>
        <p:spPr>
          <a:xfrm>
            <a:off x="8565299" y="3520439"/>
            <a:ext cx="3169196" cy="1965960"/>
          </a:xfrm>
          <a:prstGeom prst="rect">
            <a:avLst/>
          </a:prstGeom>
          <a:solidFill>
            <a:srgbClr val="FFFFFF"/>
          </a:solidFill>
          <a:ln w="12700">
            <a:solidFill>
              <a:srgbClr val="D9D9D9"/>
            </a:solidFill>
          </a:ln>
        </p:spPr>
        <p:txBody>
          <a:bodyPr rtlCol="0" anchor="ctr"/>
          <a:lstStyle/>
          <a:p>
            <a:pPr algn="ctr"/>
          </a:p>
        </p:txBody>
      </p:sp>
      <p:sp>
        <p:nvSpPr>
          <p:cNvPr id="33" name="Label kicker"/>
          <p:cNvSpPr txBox="1"/>
          <p:nvPr/>
        </p:nvSpPr>
        <p:spPr>
          <a:xfrm>
            <a:off x="8748179" y="3657599"/>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34" name="TextBox 33"/>
          <p:cNvSpPr txBox="1"/>
          <p:nvPr/>
        </p:nvSpPr>
        <p:spPr>
          <a:xfrm>
            <a:off x="8748179" y="3904487"/>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Funding sits below peer destinations</a:t>
            </a:r>
          </a:p>
        </p:txBody>
      </p:sp>
      <p:sp>
        <p:nvSpPr>
          <p:cNvPr id="35" name="Label source"/>
          <p:cNvSpPr txBox="1"/>
          <p:nvPr/>
        </p:nvSpPr>
        <p:spPr>
          <a:xfrm>
            <a:off x="8748179" y="4526279"/>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p25 (DEDAT, High)</a:t>
            </a:r>
          </a:p>
        </p:txBody>
      </p:sp>
      <p:cxnSp>
        <p:nvCxnSpPr>
          <p:cNvPr id="36" name="Connector 35"/>
          <p:cNvCxnSpPr/>
          <p:nvPr/>
        </p:nvCxnSpPr>
        <p:spPr>
          <a:xfrm>
            <a:off x="8748179" y="4846320"/>
            <a:ext cx="2803436" cy="0"/>
          </a:xfrm>
          <a:prstGeom prst="line">
            <a:avLst/>
          </a:prstGeom>
          <a:ln w="9525">
            <a:solidFill>
              <a:srgbClr val="D9D9D9"/>
            </a:solidFill>
          </a:ln>
        </p:spPr>
      </p:cxnSp>
      <p:sp>
        <p:nvSpPr>
          <p:cNvPr id="37" name="TextBox 36"/>
          <p:cNvSpPr txBox="1"/>
          <p:nvPr/>
        </p:nvSpPr>
        <p:spPr>
          <a:xfrm>
            <a:off x="8748179" y="4937759"/>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Sequence and co-fund the moves.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Twelve conditions must hold by 2035, and seven of them sit with the province or national government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Anchors: Demand-Side Analysis (Jun 2026) pp19-21 (paths, seat ceiling); MIDAS Aviation Market Assessment (Mar 2026) pp18-19, 22; SME and Community Inclusion Plan (Sep 2026) p5; cruise target from the Wesgro/StratEcon report via mobility factbase</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cxnSp>
        <p:nvCxnSpPr>
          <p:cNvPr id="8" name="Connector 7"/>
          <p:cNvCxnSpPr/>
          <p:nvPr/>
        </p:nvCxnSpPr>
        <p:spPr>
          <a:xfrm>
            <a:off x="457200" y="1965960"/>
            <a:ext cx="11277295" cy="0"/>
          </a:xfrm>
          <a:prstGeom prst="line">
            <a:avLst/>
          </a:prstGeom>
          <a:ln w="38100">
            <a:solidFill>
              <a:srgbClr val="D9D9D9"/>
            </a:solidFill>
          </a:ln>
        </p:spPr>
      </p:cxnSp>
      <p:sp>
        <p:nvSpPr>
          <p:cNvPr id="9" name="Label Oval 8"/>
          <p:cNvSpPr/>
          <p:nvPr/>
        </p:nvSpPr>
        <p:spPr>
          <a:xfrm>
            <a:off x="457199"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2028</a:t>
            </a:r>
          </a:p>
        </p:txBody>
      </p:sp>
      <p:sp>
        <p:nvSpPr>
          <p:cNvPr id="10" name="Condition"/>
          <p:cNvSpPr txBox="1"/>
          <p:nvPr/>
        </p:nvSpPr>
        <p:spPr>
          <a:xfrm>
            <a:off x="1417319"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Base path 1.67m arrivals</a:t>
            </a:r>
          </a:p>
        </p:txBody>
      </p:sp>
      <p:cxnSp>
        <p:nvCxnSpPr>
          <p:cNvPr id="11" name="Label Connector 10"/>
          <p:cNvCxnSpPr/>
          <p:nvPr/>
        </p:nvCxnSpPr>
        <p:spPr>
          <a:xfrm>
            <a:off x="868680" y="2377440"/>
            <a:ext cx="0" cy="2624328"/>
          </a:xfrm>
          <a:prstGeom prst="line">
            <a:avLst/>
          </a:prstGeom>
          <a:ln w="12700">
            <a:solidFill>
              <a:srgbClr val="D9D9D9"/>
            </a:solidFill>
          </a:ln>
        </p:spPr>
      </p:cxnSp>
      <p:sp>
        <p:nvSpPr>
          <p:cNvPr id="12" name="Label Oval 11"/>
          <p:cNvSpPr/>
          <p:nvPr/>
        </p:nvSpPr>
        <p:spPr>
          <a:xfrm>
            <a:off x="749808" y="2697480"/>
            <a:ext cx="237744" cy="237744"/>
          </a:xfrm>
          <a:prstGeom prst="ellipse">
            <a:avLst/>
          </a:prstGeom>
          <a:solidFill>
            <a:srgbClr val="00AEEF"/>
          </a:solidFill>
          <a:ln>
            <a:noFill/>
          </a:ln>
        </p:spPr>
        <p:txBody>
          <a:bodyPr rtlCol="0" anchor="ctr"/>
          <a:lstStyle/>
          <a:p>
            <a:pPr algn="ctr"/>
          </a:p>
        </p:txBody>
      </p:sp>
      <p:sp>
        <p:nvSpPr>
          <p:cNvPr id="13" name="Condition"/>
          <p:cNvSpPr txBox="1"/>
          <p:nvPr/>
        </p:nvSpPr>
        <p:spPr>
          <a:xfrm>
            <a:off x="1143000"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Regional product bookable online</a:t>
            </a:r>
          </a:p>
        </p:txBody>
      </p:sp>
      <p:sp>
        <p:nvSpPr>
          <p:cNvPr id="14" name="Label Oval 13"/>
          <p:cNvSpPr/>
          <p:nvPr/>
        </p:nvSpPr>
        <p:spPr>
          <a:xfrm>
            <a:off x="749808" y="3410712"/>
            <a:ext cx="237744" cy="237744"/>
          </a:xfrm>
          <a:prstGeom prst="ellipse">
            <a:avLst/>
          </a:prstGeom>
          <a:solidFill>
            <a:srgbClr val="00AEEF"/>
          </a:solidFill>
          <a:ln>
            <a:noFill/>
          </a:ln>
        </p:spPr>
        <p:txBody>
          <a:bodyPr rtlCol="0" anchor="ctr"/>
          <a:lstStyle/>
          <a:p>
            <a:pPr algn="ctr"/>
          </a:p>
        </p:txBody>
      </p:sp>
      <p:sp>
        <p:nvSpPr>
          <p:cNvPr id="15" name="Condition"/>
          <p:cNvSpPr txBox="1"/>
          <p:nvPr/>
        </p:nvSpPr>
        <p:spPr>
          <a:xfrm>
            <a:off x="1143000"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Green-season events pipeline running</a:t>
            </a:r>
          </a:p>
        </p:txBody>
      </p:sp>
      <p:sp>
        <p:nvSpPr>
          <p:cNvPr id="16" name="Label Rectangle 15"/>
          <p:cNvSpPr/>
          <p:nvPr/>
        </p:nvSpPr>
        <p:spPr>
          <a:xfrm>
            <a:off x="749808" y="4123944"/>
            <a:ext cx="237744" cy="237744"/>
          </a:xfrm>
          <a:prstGeom prst="rect">
            <a:avLst/>
          </a:prstGeom>
          <a:solidFill>
            <a:srgbClr val="4F81BD"/>
          </a:solidFill>
          <a:ln>
            <a:noFill/>
          </a:ln>
        </p:spPr>
        <p:txBody>
          <a:bodyPr rtlCol="0" anchor="ctr"/>
          <a:lstStyle/>
          <a:p>
            <a:pPr algn="ctr"/>
          </a:p>
        </p:txBody>
      </p:sp>
      <p:sp>
        <p:nvSpPr>
          <p:cNvPr id="17" name="Condition"/>
          <p:cNvSpPr txBox="1"/>
          <p:nvPr/>
        </p:nvSpPr>
        <p:spPr>
          <a:xfrm>
            <a:off x="1143000"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Community pilots trading</a:t>
            </a:r>
          </a:p>
        </p:txBody>
      </p:sp>
      <p:sp>
        <p:nvSpPr>
          <p:cNvPr id="18" name="Label Isosceles Triangle 17"/>
          <p:cNvSpPr/>
          <p:nvPr/>
        </p:nvSpPr>
        <p:spPr>
          <a:xfrm>
            <a:off x="749808" y="4837175"/>
            <a:ext cx="237744" cy="237744"/>
          </a:xfrm>
          <a:prstGeom prst="triangle">
            <a:avLst/>
          </a:prstGeom>
          <a:solidFill>
            <a:srgbClr val="1F497D"/>
          </a:solidFill>
          <a:ln>
            <a:noFill/>
          </a:ln>
        </p:spPr>
        <p:txBody>
          <a:bodyPr rtlCol="0" anchor="ctr"/>
          <a:lstStyle/>
          <a:p>
            <a:pPr algn="ctr"/>
          </a:p>
        </p:txBody>
      </p:sp>
      <p:sp>
        <p:nvSpPr>
          <p:cNvPr id="19" name="Condition"/>
          <p:cNvSpPr txBox="1"/>
          <p:nvPr/>
        </p:nvSpPr>
        <p:spPr>
          <a:xfrm>
            <a:off x="1143000"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Visa times published; eVisa working</a:t>
            </a:r>
          </a:p>
        </p:txBody>
      </p:sp>
      <p:sp>
        <p:nvSpPr>
          <p:cNvPr id="20" name="Label Oval 19"/>
          <p:cNvSpPr/>
          <p:nvPr/>
        </p:nvSpPr>
        <p:spPr>
          <a:xfrm>
            <a:off x="4262018"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2030</a:t>
            </a:r>
          </a:p>
        </p:txBody>
      </p:sp>
      <p:sp>
        <p:nvSpPr>
          <p:cNvPr id="21" name="Condition"/>
          <p:cNvSpPr txBox="1"/>
          <p:nvPr/>
        </p:nvSpPr>
        <p:spPr>
          <a:xfrm>
            <a:off x="5222138"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Base meets the 1.8m seat ceiling</a:t>
            </a:r>
          </a:p>
        </p:txBody>
      </p:sp>
      <p:cxnSp>
        <p:nvCxnSpPr>
          <p:cNvPr id="22" name="Label Connector 21"/>
          <p:cNvCxnSpPr/>
          <p:nvPr/>
        </p:nvCxnSpPr>
        <p:spPr>
          <a:xfrm>
            <a:off x="4673498" y="2377440"/>
            <a:ext cx="0" cy="2624328"/>
          </a:xfrm>
          <a:prstGeom prst="line">
            <a:avLst/>
          </a:prstGeom>
          <a:ln w="12700">
            <a:solidFill>
              <a:srgbClr val="D9D9D9"/>
            </a:solidFill>
          </a:ln>
        </p:spPr>
      </p:cxnSp>
      <p:sp>
        <p:nvSpPr>
          <p:cNvPr id="23" name="Label Oval 22"/>
          <p:cNvSpPr/>
          <p:nvPr/>
        </p:nvSpPr>
        <p:spPr>
          <a:xfrm>
            <a:off x="4554626" y="2697480"/>
            <a:ext cx="237744" cy="237744"/>
          </a:xfrm>
          <a:prstGeom prst="ellipse">
            <a:avLst/>
          </a:prstGeom>
          <a:solidFill>
            <a:srgbClr val="00AEEF"/>
          </a:solidFill>
          <a:ln>
            <a:noFill/>
          </a:ln>
        </p:spPr>
        <p:txBody>
          <a:bodyPr rtlCol="0" anchor="ctr"/>
          <a:lstStyle/>
          <a:p>
            <a:pPr algn="ctr"/>
          </a:p>
        </p:txBody>
      </p:sp>
      <p:sp>
        <p:nvSpPr>
          <p:cNvPr id="24" name="Condition"/>
          <p:cNvSpPr txBox="1"/>
          <p:nvPr/>
        </p:nvSpPr>
        <p:spPr>
          <a:xfrm>
            <a:off x="4947818"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Frequency underwritten on full routes</a:t>
            </a:r>
          </a:p>
        </p:txBody>
      </p:sp>
      <p:sp>
        <p:nvSpPr>
          <p:cNvPr id="25" name="Label Isosceles Triangle 24"/>
          <p:cNvSpPr/>
          <p:nvPr/>
        </p:nvSpPr>
        <p:spPr>
          <a:xfrm>
            <a:off x="4554626" y="3410712"/>
            <a:ext cx="237744" cy="237744"/>
          </a:xfrm>
          <a:prstGeom prst="triangle">
            <a:avLst/>
          </a:prstGeom>
          <a:solidFill>
            <a:srgbClr val="1F497D"/>
          </a:solidFill>
          <a:ln>
            <a:noFill/>
          </a:ln>
        </p:spPr>
        <p:txBody>
          <a:bodyPr rtlCol="0" anchor="ctr"/>
          <a:lstStyle/>
          <a:p>
            <a:pPr algn="ctr"/>
          </a:p>
        </p:txBody>
      </p:sp>
      <p:sp>
        <p:nvSpPr>
          <p:cNvPr id="26" name="Condition"/>
          <p:cNvSpPr txBox="1"/>
          <p:nvPr/>
        </p:nvSpPr>
        <p:spPr>
          <a:xfrm>
            <a:off x="4947818"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Bilateral air agreements eased</a:t>
            </a:r>
          </a:p>
        </p:txBody>
      </p:sp>
      <p:sp>
        <p:nvSpPr>
          <p:cNvPr id="27" name="Label Oval 26"/>
          <p:cNvSpPr/>
          <p:nvPr/>
        </p:nvSpPr>
        <p:spPr>
          <a:xfrm>
            <a:off x="4554626" y="4123944"/>
            <a:ext cx="237744" cy="237744"/>
          </a:xfrm>
          <a:prstGeom prst="ellipse">
            <a:avLst/>
          </a:prstGeom>
          <a:solidFill>
            <a:srgbClr val="00AEEF"/>
          </a:solidFill>
          <a:ln>
            <a:noFill/>
          </a:ln>
        </p:spPr>
        <p:txBody>
          <a:bodyPr rtlCol="0" anchor="ctr"/>
          <a:lstStyle/>
          <a:p>
            <a:pPr algn="ctr"/>
          </a:p>
        </p:txBody>
      </p:sp>
      <p:sp>
        <p:nvSpPr>
          <p:cNvPr id="28" name="Condition"/>
          <p:cNvSpPr txBox="1"/>
          <p:nvPr/>
        </p:nvSpPr>
        <p:spPr>
          <a:xfrm>
            <a:off x="4947818"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Cruise at the 250-call target</a:t>
            </a:r>
          </a:p>
        </p:txBody>
      </p:sp>
      <p:sp>
        <p:nvSpPr>
          <p:cNvPr id="29" name="Label Rectangle 28"/>
          <p:cNvSpPr/>
          <p:nvPr/>
        </p:nvSpPr>
        <p:spPr>
          <a:xfrm>
            <a:off x="4554626" y="4837175"/>
            <a:ext cx="237744" cy="237744"/>
          </a:xfrm>
          <a:prstGeom prst="rect">
            <a:avLst/>
          </a:prstGeom>
          <a:solidFill>
            <a:srgbClr val="4F81BD"/>
          </a:solidFill>
          <a:ln>
            <a:noFill/>
          </a:ln>
        </p:spPr>
        <p:txBody>
          <a:bodyPr rtlCol="0" anchor="ctr"/>
          <a:lstStyle/>
          <a:p>
            <a:pPr algn="ctr"/>
          </a:p>
        </p:txBody>
      </p:sp>
      <p:sp>
        <p:nvSpPr>
          <p:cNvPr id="30" name="Condition"/>
          <p:cNvSpPr txBox="1"/>
          <p:nvPr/>
        </p:nvSpPr>
        <p:spPr>
          <a:xfrm>
            <a:off x="4947818"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Shuttles on priority touring routes</a:t>
            </a:r>
          </a:p>
        </p:txBody>
      </p:sp>
      <p:sp>
        <p:nvSpPr>
          <p:cNvPr id="31" name="Label Oval 30"/>
          <p:cNvSpPr/>
          <p:nvPr/>
        </p:nvSpPr>
        <p:spPr>
          <a:xfrm>
            <a:off x="8066836"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2035</a:t>
            </a:r>
          </a:p>
        </p:txBody>
      </p:sp>
      <p:sp>
        <p:nvSpPr>
          <p:cNvPr id="32" name="Condition"/>
          <p:cNvSpPr txBox="1"/>
          <p:nvPr/>
        </p:nvSpPr>
        <p:spPr>
          <a:xfrm>
            <a:off x="9026956"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Goal 2.8m arrivals</a:t>
            </a:r>
          </a:p>
        </p:txBody>
      </p:sp>
      <p:cxnSp>
        <p:nvCxnSpPr>
          <p:cNvPr id="33" name="Label Connector 32"/>
          <p:cNvCxnSpPr/>
          <p:nvPr/>
        </p:nvCxnSpPr>
        <p:spPr>
          <a:xfrm>
            <a:off x="8478316" y="2377440"/>
            <a:ext cx="0" cy="2624328"/>
          </a:xfrm>
          <a:prstGeom prst="line">
            <a:avLst/>
          </a:prstGeom>
          <a:ln w="12700">
            <a:solidFill>
              <a:srgbClr val="D9D9D9"/>
            </a:solidFill>
          </a:ln>
        </p:spPr>
      </p:cxnSp>
      <p:sp>
        <p:nvSpPr>
          <p:cNvPr id="34" name="Label Isosceles Triangle 33"/>
          <p:cNvSpPr/>
          <p:nvPr/>
        </p:nvSpPr>
        <p:spPr>
          <a:xfrm>
            <a:off x="8359444" y="2697480"/>
            <a:ext cx="237744" cy="237744"/>
          </a:xfrm>
          <a:prstGeom prst="triangle">
            <a:avLst/>
          </a:prstGeom>
          <a:solidFill>
            <a:srgbClr val="1F497D"/>
          </a:solidFill>
          <a:ln>
            <a:noFill/>
          </a:ln>
        </p:spPr>
        <p:txBody>
          <a:bodyPr rtlCol="0" anchor="ctr"/>
          <a:lstStyle/>
          <a:p>
            <a:pPr algn="ctr"/>
          </a:p>
        </p:txBody>
      </p:sp>
      <p:sp>
        <p:nvSpPr>
          <p:cNvPr id="35" name="Condition"/>
          <p:cNvSpPr txBox="1"/>
          <p:nvPr/>
        </p:nvSpPr>
        <p:spPr>
          <a:xfrm>
            <a:off x="8752636"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Direct India and China services flying</a:t>
            </a:r>
          </a:p>
        </p:txBody>
      </p:sp>
      <p:sp>
        <p:nvSpPr>
          <p:cNvPr id="36" name="Label Rectangle 35"/>
          <p:cNvSpPr/>
          <p:nvPr/>
        </p:nvSpPr>
        <p:spPr>
          <a:xfrm>
            <a:off x="8359444" y="3410712"/>
            <a:ext cx="237744" cy="237744"/>
          </a:xfrm>
          <a:prstGeom prst="rect">
            <a:avLst/>
          </a:prstGeom>
          <a:solidFill>
            <a:srgbClr val="4F81BD"/>
          </a:solidFill>
          <a:ln>
            <a:noFill/>
          </a:ln>
        </p:spPr>
        <p:txBody>
          <a:bodyPr rtlCol="0" anchor="ctr"/>
          <a:lstStyle/>
          <a:p>
            <a:pPr algn="ctr"/>
          </a:p>
        </p:txBody>
      </p:sp>
      <p:sp>
        <p:nvSpPr>
          <p:cNvPr id="37" name="Condition"/>
          <p:cNvSpPr txBox="1"/>
          <p:nvPr/>
        </p:nvSpPr>
        <p:spPr>
          <a:xfrm>
            <a:off x="8752636"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Access raised on every priority route</a:t>
            </a:r>
          </a:p>
        </p:txBody>
      </p:sp>
      <p:sp>
        <p:nvSpPr>
          <p:cNvPr id="38" name="Label Oval 37"/>
          <p:cNvSpPr/>
          <p:nvPr/>
        </p:nvSpPr>
        <p:spPr>
          <a:xfrm>
            <a:off x="8359444" y="4123944"/>
            <a:ext cx="237744" cy="237744"/>
          </a:xfrm>
          <a:prstGeom prst="ellipse">
            <a:avLst/>
          </a:prstGeom>
          <a:solidFill>
            <a:srgbClr val="00AEEF"/>
          </a:solidFill>
          <a:ln>
            <a:noFill/>
          </a:ln>
        </p:spPr>
        <p:txBody>
          <a:bodyPr rtlCol="0" anchor="ctr"/>
          <a:lstStyle/>
          <a:p>
            <a:pPr algn="ctr"/>
          </a:p>
        </p:txBody>
      </p:sp>
      <p:sp>
        <p:nvSpPr>
          <p:cNvPr id="39" name="Condition"/>
          <p:cNvSpPr txBox="1"/>
          <p:nvPr/>
        </p:nvSpPr>
        <p:spPr>
          <a:xfrm>
            <a:off x="8752636"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M&amp;E tracking arrivals, spend and jobs</a:t>
            </a:r>
          </a:p>
        </p:txBody>
      </p:sp>
      <p:sp>
        <p:nvSpPr>
          <p:cNvPr id="40" name="Label Rectangle 39"/>
          <p:cNvSpPr/>
          <p:nvPr/>
        </p:nvSpPr>
        <p:spPr>
          <a:xfrm>
            <a:off x="8359444" y="4837175"/>
            <a:ext cx="237744" cy="237744"/>
          </a:xfrm>
          <a:prstGeom prst="rect">
            <a:avLst/>
          </a:prstGeom>
          <a:solidFill>
            <a:srgbClr val="4F81BD"/>
          </a:solidFill>
          <a:ln>
            <a:noFill/>
          </a:ln>
        </p:spPr>
        <p:txBody>
          <a:bodyPr rtlCol="0" anchor="ctr"/>
          <a:lstStyle/>
          <a:p>
            <a:pPr algn="ctr"/>
          </a:p>
        </p:txBody>
      </p:sp>
      <p:sp>
        <p:nvSpPr>
          <p:cNvPr id="41" name="Condition"/>
          <p:cNvSpPr txBox="1"/>
          <p:nvPr/>
        </p:nvSpPr>
        <p:spPr>
          <a:xfrm>
            <a:off x="8752636"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Communities capture 1% of foreign spend</a:t>
            </a:r>
          </a:p>
        </p:txBody>
      </p:sp>
      <p:sp>
        <p:nvSpPr>
          <p:cNvPr id="42" name="Label Oval 41"/>
          <p:cNvSpPr/>
          <p:nvPr/>
        </p:nvSpPr>
        <p:spPr>
          <a:xfrm>
            <a:off x="457200" y="5559552"/>
            <a:ext cx="182880" cy="182880"/>
          </a:xfrm>
          <a:prstGeom prst="ellipse">
            <a:avLst/>
          </a:prstGeom>
          <a:solidFill>
            <a:srgbClr val="00AEEF"/>
          </a:solidFill>
          <a:ln>
            <a:noFill/>
          </a:ln>
        </p:spPr>
        <p:txBody>
          <a:bodyPr rtlCol="0" anchor="ctr"/>
          <a:lstStyle/>
          <a:p>
            <a:pPr algn="ctr"/>
          </a:p>
        </p:txBody>
      </p:sp>
      <p:sp>
        <p:nvSpPr>
          <p:cNvPr id="43" name="Label TextBox 42"/>
          <p:cNvSpPr txBox="1"/>
          <p:nvPr/>
        </p:nvSpPr>
        <p:spPr>
          <a:xfrm>
            <a:off x="71323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Wesgro leads</a:t>
            </a:r>
          </a:p>
        </p:txBody>
      </p:sp>
      <p:sp>
        <p:nvSpPr>
          <p:cNvPr id="44" name="Label Rectangle 43"/>
          <p:cNvSpPr/>
          <p:nvPr/>
        </p:nvSpPr>
        <p:spPr>
          <a:xfrm>
            <a:off x="3383280" y="5559552"/>
            <a:ext cx="182880" cy="182880"/>
          </a:xfrm>
          <a:prstGeom prst="rect">
            <a:avLst/>
          </a:prstGeom>
          <a:solidFill>
            <a:srgbClr val="4F81BD"/>
          </a:solidFill>
          <a:ln>
            <a:noFill/>
          </a:ln>
        </p:spPr>
        <p:txBody>
          <a:bodyPr rtlCol="0" anchor="ctr"/>
          <a:lstStyle/>
          <a:p>
            <a:pPr algn="ctr"/>
          </a:p>
        </p:txBody>
      </p:sp>
      <p:sp>
        <p:nvSpPr>
          <p:cNvPr id="45" name="Label TextBox 44"/>
          <p:cNvSpPr txBox="1"/>
          <p:nvPr/>
        </p:nvSpPr>
        <p:spPr>
          <a:xfrm>
            <a:off x="363931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Province and municipalities lead</a:t>
            </a:r>
          </a:p>
        </p:txBody>
      </p:sp>
      <p:sp>
        <p:nvSpPr>
          <p:cNvPr id="46" name="Label Isosceles Triangle 45"/>
          <p:cNvSpPr/>
          <p:nvPr/>
        </p:nvSpPr>
        <p:spPr>
          <a:xfrm>
            <a:off x="6309360" y="5559552"/>
            <a:ext cx="182880" cy="182880"/>
          </a:xfrm>
          <a:prstGeom prst="triangle">
            <a:avLst/>
          </a:prstGeom>
          <a:solidFill>
            <a:srgbClr val="1F497D"/>
          </a:solidFill>
          <a:ln>
            <a:noFill/>
          </a:ln>
        </p:spPr>
        <p:txBody>
          <a:bodyPr rtlCol="0" anchor="ctr"/>
          <a:lstStyle/>
          <a:p>
            <a:pPr algn="ctr"/>
          </a:p>
        </p:txBody>
      </p:sp>
      <p:sp>
        <p:nvSpPr>
          <p:cNvPr id="47" name="Label TextBox 46"/>
          <p:cNvSpPr txBox="1"/>
          <p:nvPr/>
        </p:nvSpPr>
        <p:spPr>
          <a:xfrm>
            <a:off x="656539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National government leads</a:t>
            </a:r>
          </a:p>
        </p:txBody>
      </p:sp>
      <p:sp>
        <p:nvSpPr>
          <p:cNvPr id="48" name="Label TextBox 47"/>
          <p:cNvSpPr txBox="1"/>
          <p:nvPr/>
        </p:nvSpPr>
        <p:spPr>
          <a:xfrm>
            <a:off x="9235440" y="5513832"/>
            <a:ext cx="310896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Lead tier is where the lever sits.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Seven gaps are worth closing in six weeks; the rest we bound, fold in or park</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assessment. SLA requirements from Annexure B clauses 1.1.2, 1.1.4, 1.1.6, 1.1.7, 1.1.8 and 1.1.10; RFP s2 to s4</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1417320" y="1417320"/>
            <a:ext cx="6400800" cy="3886200"/>
          </a:xfrm>
          <a:prstGeom prst="rect">
            <a:avLst/>
          </a:prstGeom>
          <a:solidFill>
            <a:srgbClr val="FFFFFF"/>
          </a:solidFill>
          <a:ln w="9525">
            <a:solidFill>
              <a:srgbClr val="D9D9D9"/>
            </a:solidFill>
          </a:ln>
        </p:spPr>
        <p:txBody>
          <a:bodyPr rtlCol="0" anchor="ctr"/>
          <a:lstStyle/>
          <a:p>
            <a:pPr algn="ctr"/>
          </a:p>
        </p:txBody>
      </p:sp>
      <p:sp>
        <p:nvSpPr>
          <p:cNvPr id="9" name="Label Rectangle 8"/>
          <p:cNvSpPr/>
          <p:nvPr/>
        </p:nvSpPr>
        <p:spPr>
          <a:xfrm>
            <a:off x="4617720" y="1417320"/>
            <a:ext cx="3200400" cy="1943100"/>
          </a:xfrm>
          <a:prstGeom prst="rect">
            <a:avLst/>
          </a:prstGeom>
          <a:solidFill>
            <a:srgbClr val="DCEEF7"/>
          </a:solidFill>
          <a:ln>
            <a:noFill/>
          </a:ln>
        </p:spPr>
        <p:txBody>
          <a:bodyPr rtlCol="0" anchor="ctr"/>
          <a:lstStyle/>
          <a:p>
            <a:pPr algn="ctr"/>
          </a:p>
        </p:txBody>
      </p:sp>
      <p:cxnSp>
        <p:nvCxnSpPr>
          <p:cNvPr id="10" name="Label Connector 9"/>
          <p:cNvCxnSpPr/>
          <p:nvPr/>
        </p:nvCxnSpPr>
        <p:spPr>
          <a:xfrm>
            <a:off x="4617720" y="1417320"/>
            <a:ext cx="0" cy="3886200"/>
          </a:xfrm>
          <a:prstGeom prst="line">
            <a:avLst/>
          </a:prstGeom>
          <a:ln w="12700">
            <a:solidFill>
              <a:srgbClr val="D9D9D9"/>
            </a:solidFill>
          </a:ln>
        </p:spPr>
      </p:cxnSp>
      <p:cxnSp>
        <p:nvCxnSpPr>
          <p:cNvPr id="11" name="Label Connector 10"/>
          <p:cNvCxnSpPr/>
          <p:nvPr/>
        </p:nvCxnSpPr>
        <p:spPr>
          <a:xfrm>
            <a:off x="1417320" y="3360420"/>
            <a:ext cx="6400800" cy="0"/>
          </a:xfrm>
          <a:prstGeom prst="line">
            <a:avLst/>
          </a:prstGeom>
          <a:ln w="12700">
            <a:solidFill>
              <a:srgbClr val="D9D9D9"/>
            </a:solidFill>
          </a:ln>
        </p:spPr>
      </p:cxnSp>
      <p:sp>
        <p:nvSpPr>
          <p:cNvPr id="12" name="Label TextBox 11"/>
          <p:cNvSpPr txBox="1"/>
          <p:nvPr/>
        </p:nvSpPr>
        <p:spPr>
          <a:xfrm>
            <a:off x="1508760" y="1481328"/>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BOUND AND FLAG</a:t>
            </a:r>
          </a:p>
        </p:txBody>
      </p:sp>
      <p:sp>
        <p:nvSpPr>
          <p:cNvPr id="13" name="Label TextBox 12"/>
          <p:cNvSpPr txBox="1"/>
          <p:nvPr/>
        </p:nvSpPr>
        <p:spPr>
          <a:xfrm>
            <a:off x="4709159" y="1481328"/>
            <a:ext cx="3017520" cy="2286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CLOSE IN SIX WEEKS</a:t>
            </a:r>
          </a:p>
        </p:txBody>
      </p:sp>
      <p:sp>
        <p:nvSpPr>
          <p:cNvPr id="14" name="Label TextBox 13"/>
          <p:cNvSpPr txBox="1"/>
          <p:nvPr/>
        </p:nvSpPr>
        <p:spPr>
          <a:xfrm>
            <a:off x="1508760" y="3424427"/>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PARK</a:t>
            </a:r>
          </a:p>
        </p:txBody>
      </p:sp>
      <p:sp>
        <p:nvSpPr>
          <p:cNvPr id="15" name="Label TextBox 14"/>
          <p:cNvSpPr txBox="1"/>
          <p:nvPr/>
        </p:nvSpPr>
        <p:spPr>
          <a:xfrm>
            <a:off x="4709159" y="3424427"/>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FOLD IN</a:t>
            </a:r>
          </a:p>
        </p:txBody>
      </p:sp>
      <p:sp>
        <p:nvSpPr>
          <p:cNvPr id="16" name="Label TextBox 15"/>
          <p:cNvSpPr txBox="1"/>
          <p:nvPr/>
        </p:nvSpPr>
        <p:spPr>
          <a:xfrm>
            <a:off x="1417320" y="5349240"/>
            <a:ext cx="137160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High effort</a:t>
            </a:r>
          </a:p>
        </p:txBody>
      </p:sp>
      <p:sp>
        <p:nvSpPr>
          <p:cNvPr id="17" name="Label TextBox 16"/>
          <p:cNvSpPr txBox="1"/>
          <p:nvPr/>
        </p:nvSpPr>
        <p:spPr>
          <a:xfrm>
            <a:off x="6446520" y="5349240"/>
            <a:ext cx="137160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Low effort</a:t>
            </a:r>
          </a:p>
        </p:txBody>
      </p:sp>
      <p:sp>
        <p:nvSpPr>
          <p:cNvPr id="18" name="Label TextBox 17"/>
          <p:cNvSpPr txBox="1"/>
          <p:nvPr/>
        </p:nvSpPr>
        <p:spPr>
          <a:xfrm>
            <a:off x="1417320" y="5349240"/>
            <a:ext cx="6400800" cy="228600"/>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Effort to close in six weeks</a:t>
            </a:r>
          </a:p>
        </p:txBody>
      </p:sp>
      <p:sp>
        <p:nvSpPr>
          <p:cNvPr id="19" name="Label TextBox 18"/>
          <p:cNvSpPr txBox="1"/>
          <p:nvPr/>
        </p:nvSpPr>
        <p:spPr>
          <a:xfrm>
            <a:off x="457200" y="1417320"/>
            <a:ext cx="86868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High</a:t>
            </a:r>
          </a:p>
        </p:txBody>
      </p:sp>
      <p:sp>
        <p:nvSpPr>
          <p:cNvPr id="20" name="Label TextBox 19"/>
          <p:cNvSpPr txBox="1"/>
          <p:nvPr/>
        </p:nvSpPr>
        <p:spPr>
          <a:xfrm>
            <a:off x="457200" y="5074920"/>
            <a:ext cx="86868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Low</a:t>
            </a:r>
          </a:p>
        </p:txBody>
      </p:sp>
      <p:sp>
        <p:nvSpPr>
          <p:cNvPr id="21" name="Label TextBox 20"/>
          <p:cNvSpPr txBox="1"/>
          <p:nvPr/>
        </p:nvSpPr>
        <p:spPr>
          <a:xfrm>
            <a:off x="457200" y="1417320"/>
            <a:ext cx="868680" cy="3886200"/>
          </a:xfrm>
          <a:prstGeom prst="rect">
            <a:avLst/>
          </a:prstGeom>
          <a:noFill/>
        </p:spPr>
        <p:txBody>
          <a:bodyPr wrap="square" anchor="ctr" lIns="0" rIns="0" tIns="0" bIns="0">
            <a:spAutoFit/>
          </a:bodyPr>
          <a:lstStyle/>
          <a:p>
            <a:pPr algn="r">
              <a:spcAft>
                <a:spcPts val="0"/>
              </a:spcAft>
            </a:pPr>
            <a:r>
              <a:rPr sz="950" b="1" i="0">
                <a:solidFill>
                  <a:srgbClr val="1F497D"/>
                </a:solidFill>
                <a:latin typeface="Arial"/>
              </a:rPr>
              <a:t>Consequence for the final report</a:t>
            </a:r>
          </a:p>
        </p:txBody>
      </p:sp>
      <p:sp>
        <p:nvSpPr>
          <p:cNvPr id="22" name="Label Oval 21"/>
          <p:cNvSpPr/>
          <p:nvPr/>
        </p:nvSpPr>
        <p:spPr>
          <a:xfrm>
            <a:off x="6455664" y="1728216"/>
            <a:ext cx="164592" cy="164592"/>
          </a:xfrm>
          <a:prstGeom prst="ellipse">
            <a:avLst/>
          </a:prstGeom>
          <a:solidFill>
            <a:srgbClr val="00AEEF"/>
          </a:solidFill>
          <a:ln>
            <a:noFill/>
          </a:ln>
        </p:spPr>
        <p:txBody>
          <a:bodyPr rtlCol="0" anchor="ctr"/>
          <a:lstStyle/>
          <a:p>
            <a:pPr algn="ctr"/>
          </a:p>
        </p:txBody>
      </p:sp>
      <p:sp>
        <p:nvSpPr>
          <p:cNvPr id="23" name="Label TextBox 22"/>
          <p:cNvSpPr txBox="1"/>
          <p:nvPr/>
        </p:nvSpPr>
        <p:spPr>
          <a:xfrm>
            <a:off x="6665976" y="1691640"/>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M&amp;E toolkit</a:t>
            </a:r>
          </a:p>
        </p:txBody>
      </p:sp>
      <p:sp>
        <p:nvSpPr>
          <p:cNvPr id="24" name="Label Oval 23"/>
          <p:cNvSpPr/>
          <p:nvPr/>
        </p:nvSpPr>
        <p:spPr>
          <a:xfrm>
            <a:off x="4919472" y="1975104"/>
            <a:ext cx="164592" cy="164592"/>
          </a:xfrm>
          <a:prstGeom prst="ellipse">
            <a:avLst/>
          </a:prstGeom>
          <a:solidFill>
            <a:srgbClr val="00AEEF"/>
          </a:solidFill>
          <a:ln>
            <a:noFill/>
          </a:ln>
        </p:spPr>
        <p:txBody>
          <a:bodyPr rtlCol="0" anchor="ctr"/>
          <a:lstStyle/>
          <a:p>
            <a:pPr algn="ctr"/>
          </a:p>
        </p:txBody>
      </p:sp>
      <p:sp>
        <p:nvSpPr>
          <p:cNvPr id="25" name="Label TextBox 24"/>
          <p:cNvSpPr txBox="1"/>
          <p:nvPr/>
        </p:nvSpPr>
        <p:spPr>
          <a:xfrm>
            <a:off x="5129784" y="193852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Investment pipeline and ROI</a:t>
            </a:r>
          </a:p>
        </p:txBody>
      </p:sp>
      <p:sp>
        <p:nvSpPr>
          <p:cNvPr id="26" name="Label Oval 25"/>
          <p:cNvSpPr/>
          <p:nvPr/>
        </p:nvSpPr>
        <p:spPr>
          <a:xfrm>
            <a:off x="5431536" y="2221992"/>
            <a:ext cx="164592" cy="164592"/>
          </a:xfrm>
          <a:prstGeom prst="ellipse">
            <a:avLst/>
          </a:prstGeom>
          <a:solidFill>
            <a:srgbClr val="00AEEF"/>
          </a:solidFill>
          <a:ln>
            <a:noFill/>
          </a:ln>
        </p:spPr>
        <p:txBody>
          <a:bodyPr rtlCol="0" anchor="ctr"/>
          <a:lstStyle/>
          <a:p>
            <a:pPr algn="ctr"/>
          </a:p>
        </p:txBody>
      </p:sp>
      <p:sp>
        <p:nvSpPr>
          <p:cNvPr id="27" name="Label TextBox 26"/>
          <p:cNvSpPr txBox="1"/>
          <p:nvPr/>
        </p:nvSpPr>
        <p:spPr>
          <a:xfrm>
            <a:off x="5641848" y="2185416"/>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Marketing and brand</a:t>
            </a:r>
          </a:p>
        </p:txBody>
      </p:sp>
      <p:sp>
        <p:nvSpPr>
          <p:cNvPr id="28" name="Label Oval 27"/>
          <p:cNvSpPr/>
          <p:nvPr/>
        </p:nvSpPr>
        <p:spPr>
          <a:xfrm>
            <a:off x="5815583" y="2468880"/>
            <a:ext cx="164592" cy="164592"/>
          </a:xfrm>
          <a:prstGeom prst="ellipse">
            <a:avLst/>
          </a:prstGeom>
          <a:solidFill>
            <a:srgbClr val="00AEEF"/>
          </a:solidFill>
          <a:ln>
            <a:noFill/>
          </a:ln>
        </p:spPr>
        <p:txBody>
          <a:bodyPr rtlCol="0" anchor="ctr"/>
          <a:lstStyle/>
          <a:p>
            <a:pPr algn="ctr"/>
          </a:p>
        </p:txBody>
      </p:sp>
      <p:sp>
        <p:nvSpPr>
          <p:cNvPr id="29" name="Label TextBox 28"/>
          <p:cNvSpPr txBox="1"/>
          <p:nvPr/>
        </p:nvSpPr>
        <p:spPr>
          <a:xfrm>
            <a:off x="6025895" y="2432304"/>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Spend, yield and jobs</a:t>
            </a:r>
          </a:p>
        </p:txBody>
      </p:sp>
      <p:sp>
        <p:nvSpPr>
          <p:cNvPr id="30" name="Label Oval 29"/>
          <p:cNvSpPr/>
          <p:nvPr/>
        </p:nvSpPr>
        <p:spPr>
          <a:xfrm>
            <a:off x="5047488" y="2715768"/>
            <a:ext cx="164592" cy="164592"/>
          </a:xfrm>
          <a:prstGeom prst="ellipse">
            <a:avLst/>
          </a:prstGeom>
          <a:solidFill>
            <a:srgbClr val="00AEEF"/>
          </a:solidFill>
          <a:ln>
            <a:noFill/>
          </a:ln>
        </p:spPr>
        <p:txBody>
          <a:bodyPr rtlCol="0" anchor="ctr"/>
          <a:lstStyle/>
          <a:p>
            <a:pPr algn="ctr"/>
          </a:p>
        </p:txBody>
      </p:sp>
      <p:sp>
        <p:nvSpPr>
          <p:cNvPr id="31" name="Label TextBox 30"/>
          <p:cNvSpPr txBox="1"/>
          <p:nvPr/>
        </p:nvSpPr>
        <p:spPr>
          <a:xfrm>
            <a:off x="5257799" y="2679191"/>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Stakeholder coverage</a:t>
            </a:r>
          </a:p>
        </p:txBody>
      </p:sp>
      <p:sp>
        <p:nvSpPr>
          <p:cNvPr id="32" name="Label Oval 31"/>
          <p:cNvSpPr/>
          <p:nvPr/>
        </p:nvSpPr>
        <p:spPr>
          <a:xfrm>
            <a:off x="7095744" y="2962656"/>
            <a:ext cx="164592" cy="164592"/>
          </a:xfrm>
          <a:prstGeom prst="ellipse">
            <a:avLst/>
          </a:prstGeom>
          <a:solidFill>
            <a:srgbClr val="00AEEF"/>
          </a:solidFill>
          <a:ln>
            <a:noFill/>
          </a:ln>
        </p:spPr>
        <p:txBody>
          <a:bodyPr rtlCol="0" anchor="ctr"/>
          <a:lstStyle/>
          <a:p>
            <a:pPr algn="ctr"/>
          </a:p>
        </p:txBody>
      </p:sp>
      <p:sp>
        <p:nvSpPr>
          <p:cNvPr id="33" name="Label TextBox 32"/>
          <p:cNvSpPr txBox="1"/>
          <p:nvPr/>
        </p:nvSpPr>
        <p:spPr>
          <a:xfrm>
            <a:off x="7306055" y="2926080"/>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Target metric</a:t>
            </a:r>
          </a:p>
        </p:txBody>
      </p:sp>
      <p:sp>
        <p:nvSpPr>
          <p:cNvPr id="34" name="Label Oval 33"/>
          <p:cNvSpPr/>
          <p:nvPr/>
        </p:nvSpPr>
        <p:spPr>
          <a:xfrm>
            <a:off x="6071616" y="3209544"/>
            <a:ext cx="164592" cy="164592"/>
          </a:xfrm>
          <a:prstGeom prst="ellipse">
            <a:avLst/>
          </a:prstGeom>
          <a:solidFill>
            <a:srgbClr val="1F497D"/>
          </a:solidFill>
          <a:ln>
            <a:noFill/>
          </a:ln>
        </p:spPr>
        <p:txBody>
          <a:bodyPr rtlCol="0" anchor="ctr"/>
          <a:lstStyle/>
          <a:p>
            <a:pPr algn="ctr"/>
          </a:p>
        </p:txBody>
      </p:sp>
      <p:sp>
        <p:nvSpPr>
          <p:cNvPr id="35" name="Label TextBox 34"/>
          <p:cNvSpPr txBox="1"/>
          <p:nvPr/>
        </p:nvSpPr>
        <p:spPr>
          <a:xfrm>
            <a:off x="6281927" y="317296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Route readiness scoring</a:t>
            </a:r>
          </a:p>
        </p:txBody>
      </p:sp>
      <p:sp>
        <p:nvSpPr>
          <p:cNvPr id="36" name="Label Oval 35"/>
          <p:cNvSpPr/>
          <p:nvPr/>
        </p:nvSpPr>
        <p:spPr>
          <a:xfrm>
            <a:off x="2743200" y="2112264"/>
            <a:ext cx="164592" cy="164592"/>
          </a:xfrm>
          <a:prstGeom prst="ellipse">
            <a:avLst/>
          </a:prstGeom>
          <a:solidFill>
            <a:srgbClr val="1F497D"/>
          </a:solidFill>
          <a:ln>
            <a:noFill/>
          </a:ln>
        </p:spPr>
        <p:txBody>
          <a:bodyPr rtlCol="0" anchor="ctr"/>
          <a:lstStyle/>
          <a:p>
            <a:pPr algn="ctr"/>
          </a:p>
        </p:txBody>
      </p:sp>
      <p:sp>
        <p:nvSpPr>
          <p:cNvPr id="37" name="Label TextBox 36"/>
          <p:cNvSpPr txBox="1"/>
          <p:nvPr/>
        </p:nvSpPr>
        <p:spPr>
          <a:xfrm>
            <a:off x="2953512" y="207568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Safety and visas</a:t>
            </a:r>
          </a:p>
        </p:txBody>
      </p:sp>
      <p:sp>
        <p:nvSpPr>
          <p:cNvPr id="38" name="Label Oval 37"/>
          <p:cNvSpPr/>
          <p:nvPr/>
        </p:nvSpPr>
        <p:spPr>
          <a:xfrm>
            <a:off x="3767328" y="2811780"/>
            <a:ext cx="164592" cy="164592"/>
          </a:xfrm>
          <a:prstGeom prst="ellipse">
            <a:avLst/>
          </a:prstGeom>
          <a:solidFill>
            <a:srgbClr val="1F497D"/>
          </a:solidFill>
          <a:ln>
            <a:noFill/>
          </a:ln>
        </p:spPr>
        <p:txBody>
          <a:bodyPr rtlCol="0" anchor="ctr"/>
          <a:lstStyle/>
          <a:p>
            <a:pPr algn="ctr"/>
          </a:p>
        </p:txBody>
      </p:sp>
      <p:sp>
        <p:nvSpPr>
          <p:cNvPr id="39" name="Label TextBox 38"/>
          <p:cNvSpPr txBox="1"/>
          <p:nvPr/>
        </p:nvSpPr>
        <p:spPr>
          <a:xfrm>
            <a:off x="1344167" y="2775204"/>
            <a:ext cx="2377440" cy="237744"/>
          </a:xfrm>
          <a:prstGeom prst="rect">
            <a:avLst/>
          </a:prstGeom>
          <a:noFill/>
        </p:spPr>
        <p:txBody>
          <a:bodyPr wrap="square" anchor="t" lIns="0" rIns="0" tIns="0" bIns="0">
            <a:spAutoFit/>
          </a:bodyPr>
          <a:lstStyle/>
          <a:p>
            <a:pPr algn="r">
              <a:spcAft>
                <a:spcPts val="0"/>
              </a:spcAft>
            </a:pPr>
            <a:r>
              <a:rPr sz="950" b="0" i="0">
                <a:solidFill>
                  <a:srgbClr val="404040"/>
                </a:solidFill>
                <a:latin typeface="Arial"/>
              </a:rPr>
              <a:t>Mega events</a:t>
            </a:r>
          </a:p>
        </p:txBody>
      </p:sp>
      <p:sp>
        <p:nvSpPr>
          <p:cNvPr id="40" name="Label Oval 39"/>
          <p:cNvSpPr/>
          <p:nvPr/>
        </p:nvSpPr>
        <p:spPr>
          <a:xfrm>
            <a:off x="5303520" y="3822192"/>
            <a:ext cx="164592" cy="164592"/>
          </a:xfrm>
          <a:prstGeom prst="ellipse">
            <a:avLst/>
          </a:prstGeom>
          <a:solidFill>
            <a:srgbClr val="00AEEF"/>
          </a:solidFill>
          <a:ln>
            <a:noFill/>
          </a:ln>
        </p:spPr>
        <p:txBody>
          <a:bodyPr rtlCol="0" anchor="ctr"/>
          <a:lstStyle/>
          <a:p>
            <a:pPr algn="ctr"/>
          </a:p>
        </p:txBody>
      </p:sp>
      <p:sp>
        <p:nvSpPr>
          <p:cNvPr id="41" name="Label TextBox 40"/>
          <p:cNvSpPr txBox="1"/>
          <p:nvPr/>
        </p:nvSpPr>
        <p:spPr>
          <a:xfrm>
            <a:off x="5513831" y="3785616"/>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Cruise</a:t>
            </a:r>
          </a:p>
        </p:txBody>
      </p:sp>
      <p:sp>
        <p:nvSpPr>
          <p:cNvPr id="42" name="Label Oval 41"/>
          <p:cNvSpPr/>
          <p:nvPr/>
        </p:nvSpPr>
        <p:spPr>
          <a:xfrm>
            <a:off x="5943600" y="4366260"/>
            <a:ext cx="164592" cy="164592"/>
          </a:xfrm>
          <a:prstGeom prst="ellipse">
            <a:avLst/>
          </a:prstGeom>
          <a:solidFill>
            <a:srgbClr val="1F497D"/>
          </a:solidFill>
          <a:ln>
            <a:noFill/>
          </a:ln>
        </p:spPr>
        <p:txBody>
          <a:bodyPr rtlCol="0" anchor="ctr"/>
          <a:lstStyle/>
          <a:p>
            <a:pPr algn="ctr"/>
          </a:p>
        </p:txBody>
      </p:sp>
      <p:sp>
        <p:nvSpPr>
          <p:cNvPr id="43" name="Label TextBox 42"/>
          <p:cNvSpPr txBox="1"/>
          <p:nvPr/>
        </p:nvSpPr>
        <p:spPr>
          <a:xfrm>
            <a:off x="6153912" y="4329684"/>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ASEAN and Brazil</a:t>
            </a:r>
          </a:p>
        </p:txBody>
      </p:sp>
      <p:sp>
        <p:nvSpPr>
          <p:cNvPr id="44" name="Label Oval 43"/>
          <p:cNvSpPr/>
          <p:nvPr/>
        </p:nvSpPr>
        <p:spPr>
          <a:xfrm>
            <a:off x="2103120" y="4055363"/>
            <a:ext cx="164592" cy="164592"/>
          </a:xfrm>
          <a:prstGeom prst="ellipse">
            <a:avLst/>
          </a:prstGeom>
          <a:solidFill>
            <a:srgbClr val="1F497D"/>
          </a:solidFill>
          <a:ln>
            <a:noFill/>
          </a:ln>
        </p:spPr>
        <p:txBody>
          <a:bodyPr rtlCol="0" anchor="ctr"/>
          <a:lstStyle/>
          <a:p>
            <a:pPr algn="ctr"/>
          </a:p>
        </p:txBody>
      </p:sp>
      <p:sp>
        <p:nvSpPr>
          <p:cNvPr id="45" name="Label TextBox 44"/>
          <p:cNvSpPr txBox="1"/>
          <p:nvPr/>
        </p:nvSpPr>
        <p:spPr>
          <a:xfrm>
            <a:off x="2313432" y="4018787"/>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Skills, technology and sustainability</a:t>
            </a:r>
          </a:p>
        </p:txBody>
      </p:sp>
      <p:sp>
        <p:nvSpPr>
          <p:cNvPr id="46" name="TextBox 45"/>
          <p:cNvSpPr txBox="1"/>
          <p:nvPr/>
        </p:nvSpPr>
        <p:spPr>
          <a:xfrm>
            <a:off x="9018041" y="1417320"/>
            <a:ext cx="2716453"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HOW WE TREAT EACH QUADRANT</a:t>
            </a:r>
          </a:p>
        </p:txBody>
      </p:sp>
      <p:sp>
        <p:nvSpPr>
          <p:cNvPr id="47" name="TextBox 46"/>
          <p:cNvSpPr txBox="1"/>
          <p:nvPr/>
        </p:nvSpPr>
        <p:spPr>
          <a:xfrm>
            <a:off x="9018041" y="17830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Close</a:t>
            </a:r>
          </a:p>
          <a:p>
            <a:pPr algn="l">
              <a:spcAft>
                <a:spcPts val="0"/>
              </a:spcAft>
            </a:pPr>
            <a:r>
              <a:rPr sz="1000" b="0" i="0">
                <a:solidFill>
                  <a:srgbClr val="404040"/>
                </a:solidFill>
                <a:latin typeface="Arial"/>
              </a:rPr>
              <a:t>Analyse now and include in the report.</a:t>
            </a:r>
          </a:p>
        </p:txBody>
      </p:sp>
      <p:sp>
        <p:nvSpPr>
          <p:cNvPr id="48" name="TextBox 47"/>
          <p:cNvSpPr txBox="1"/>
          <p:nvPr/>
        </p:nvSpPr>
        <p:spPr>
          <a:xfrm>
            <a:off x="9018041" y="24688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Bound</a:t>
            </a:r>
          </a:p>
          <a:p>
            <a:pPr algn="l">
              <a:spcAft>
                <a:spcPts val="0"/>
              </a:spcAft>
            </a:pPr>
            <a:r>
              <a:rPr sz="1000" b="0" i="0">
                <a:solidFill>
                  <a:srgbClr val="404040"/>
                </a:solidFill>
                <a:latin typeface="Arial"/>
              </a:rPr>
              <a:t>State as a limitation; name the owner.</a:t>
            </a:r>
          </a:p>
        </p:txBody>
      </p:sp>
      <p:sp>
        <p:nvSpPr>
          <p:cNvPr id="49" name="TextBox 48"/>
          <p:cNvSpPr txBox="1"/>
          <p:nvPr/>
        </p:nvSpPr>
        <p:spPr>
          <a:xfrm>
            <a:off x="9018041" y="31546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Fold in</a:t>
            </a:r>
          </a:p>
          <a:p>
            <a:pPr algn="l">
              <a:spcAft>
                <a:spcPts val="0"/>
              </a:spcAft>
            </a:pPr>
            <a:r>
              <a:rPr sz="1000" b="0" i="0">
                <a:solidFill>
                  <a:srgbClr val="404040"/>
                </a:solidFill>
                <a:latin typeface="Arial"/>
              </a:rPr>
              <a:t>Cover from existing evidence.</a:t>
            </a:r>
          </a:p>
        </p:txBody>
      </p:sp>
      <p:sp>
        <p:nvSpPr>
          <p:cNvPr id="50" name="TextBox 49"/>
          <p:cNvSpPr txBox="1"/>
          <p:nvPr/>
        </p:nvSpPr>
        <p:spPr>
          <a:xfrm>
            <a:off x="9018041" y="38404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Park</a:t>
            </a:r>
          </a:p>
          <a:p>
            <a:pPr algn="l">
              <a:spcAft>
                <a:spcPts val="0"/>
              </a:spcAft>
            </a:pPr>
            <a:r>
              <a:rPr sz="1000" b="0" i="0">
                <a:solidFill>
                  <a:srgbClr val="404040"/>
                </a:solidFill>
                <a:latin typeface="Arial"/>
              </a:rPr>
              <a:t>Name it for the next phase.</a:t>
            </a:r>
          </a:p>
        </p:txBody>
      </p:sp>
      <p:sp>
        <p:nvSpPr>
          <p:cNvPr id="51" name="Oval 50"/>
          <p:cNvSpPr/>
          <p:nvPr/>
        </p:nvSpPr>
        <p:spPr>
          <a:xfrm>
            <a:off x="9018041" y="4709160"/>
            <a:ext cx="164592" cy="164592"/>
          </a:xfrm>
          <a:prstGeom prst="ellipse">
            <a:avLst/>
          </a:prstGeom>
          <a:solidFill>
            <a:srgbClr val="00AEEF"/>
          </a:solidFill>
          <a:ln>
            <a:noFill/>
          </a:ln>
        </p:spPr>
        <p:txBody>
          <a:bodyPr rtlCol="0" anchor="ctr"/>
          <a:lstStyle/>
          <a:p>
            <a:pPr algn="ctr"/>
          </a:p>
        </p:txBody>
      </p:sp>
      <p:sp>
        <p:nvSpPr>
          <p:cNvPr id="52" name="TextBox 51"/>
          <p:cNvSpPr txBox="1"/>
          <p:nvPr/>
        </p:nvSpPr>
        <p:spPr>
          <a:xfrm>
            <a:off x="9274073" y="4645152"/>
            <a:ext cx="2442133" cy="54864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Cyan dots: required by the SLA or the RFP targets.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Six weeks take the study from aligned findings to an approved final report, if the contract is extended first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06 | THE ROAD TO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Weeks run from the week of 12 October 2026; work after 31 October depends on the extension.</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3108960"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W1</a:t>
            </a:r>
          </a:p>
          <a:p>
            <a:pPr algn="ctr">
              <a:spcAft>
                <a:spcPts val="0"/>
              </a:spcAft>
            </a:pPr>
            <a:r>
              <a:rPr sz="800" b="0" i="0">
                <a:solidFill>
                  <a:srgbClr val="FFFFFF"/>
                </a:solidFill>
                <a:latin typeface="Arial"/>
              </a:rPr>
              <a:t>12 Oct</a:t>
            </a:r>
          </a:p>
        </p:txBody>
      </p:sp>
      <p:sp>
        <p:nvSpPr>
          <p:cNvPr id="9" name="Label Rectangle 8"/>
          <p:cNvSpPr/>
          <p:nvPr/>
        </p:nvSpPr>
        <p:spPr>
          <a:xfrm>
            <a:off x="4546549"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W2</a:t>
            </a:r>
          </a:p>
          <a:p>
            <a:pPr algn="ctr">
              <a:spcAft>
                <a:spcPts val="0"/>
              </a:spcAft>
            </a:pPr>
            <a:r>
              <a:rPr sz="800" b="0" i="0">
                <a:solidFill>
                  <a:srgbClr val="FFFFFF"/>
                </a:solidFill>
                <a:latin typeface="Arial"/>
              </a:rPr>
              <a:t>19 Oct</a:t>
            </a:r>
          </a:p>
        </p:txBody>
      </p:sp>
      <p:sp>
        <p:nvSpPr>
          <p:cNvPr id="10" name="Label Rectangle 9"/>
          <p:cNvSpPr/>
          <p:nvPr/>
        </p:nvSpPr>
        <p:spPr>
          <a:xfrm>
            <a:off x="5984138"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W3</a:t>
            </a:r>
          </a:p>
          <a:p>
            <a:pPr algn="ctr">
              <a:spcAft>
                <a:spcPts val="0"/>
              </a:spcAft>
            </a:pPr>
            <a:r>
              <a:rPr sz="800" b="0" i="0">
                <a:solidFill>
                  <a:srgbClr val="FFFFFF"/>
                </a:solidFill>
                <a:latin typeface="Arial"/>
              </a:rPr>
              <a:t>26 Oct</a:t>
            </a:r>
          </a:p>
        </p:txBody>
      </p:sp>
      <p:sp>
        <p:nvSpPr>
          <p:cNvPr id="11" name="Label Rectangle 10"/>
          <p:cNvSpPr/>
          <p:nvPr/>
        </p:nvSpPr>
        <p:spPr>
          <a:xfrm>
            <a:off x="7421727"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W4</a:t>
            </a:r>
          </a:p>
          <a:p>
            <a:pPr algn="ctr">
              <a:spcAft>
                <a:spcPts val="0"/>
              </a:spcAft>
            </a:pPr>
            <a:r>
              <a:rPr sz="800" b="0" i="0">
                <a:solidFill>
                  <a:srgbClr val="FFFFFF"/>
                </a:solidFill>
                <a:latin typeface="Arial"/>
              </a:rPr>
              <a:t>2 Nov</a:t>
            </a:r>
          </a:p>
        </p:txBody>
      </p:sp>
      <p:sp>
        <p:nvSpPr>
          <p:cNvPr id="12" name="Label Rectangle 11"/>
          <p:cNvSpPr/>
          <p:nvPr/>
        </p:nvSpPr>
        <p:spPr>
          <a:xfrm>
            <a:off x="8859316"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W5</a:t>
            </a:r>
          </a:p>
          <a:p>
            <a:pPr algn="ctr">
              <a:spcAft>
                <a:spcPts val="0"/>
              </a:spcAft>
            </a:pPr>
            <a:r>
              <a:rPr sz="800" b="0" i="0">
                <a:solidFill>
                  <a:srgbClr val="FFFFFF"/>
                </a:solidFill>
                <a:latin typeface="Arial"/>
              </a:rPr>
              <a:t>9 Nov</a:t>
            </a:r>
          </a:p>
        </p:txBody>
      </p:sp>
      <p:sp>
        <p:nvSpPr>
          <p:cNvPr id="13" name="Label Rectangle 12"/>
          <p:cNvSpPr/>
          <p:nvPr/>
        </p:nvSpPr>
        <p:spPr>
          <a:xfrm>
            <a:off x="10296906"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W6</a:t>
            </a:r>
          </a:p>
          <a:p>
            <a:pPr algn="ctr">
              <a:spcAft>
                <a:spcPts val="0"/>
              </a:spcAft>
            </a:pPr>
            <a:r>
              <a:rPr sz="800" b="0" i="0">
                <a:solidFill>
                  <a:srgbClr val="FFFFFF"/>
                </a:solidFill>
                <a:latin typeface="Arial"/>
              </a:rPr>
              <a:t>16 Nov</a:t>
            </a:r>
          </a:p>
        </p:txBody>
      </p:sp>
      <p:sp>
        <p:nvSpPr>
          <p:cNvPr id="14" name="Label Rectangle 13"/>
          <p:cNvSpPr/>
          <p:nvPr/>
        </p:nvSpPr>
        <p:spPr>
          <a:xfrm>
            <a:off x="457200" y="1371600"/>
            <a:ext cx="2606040" cy="457200"/>
          </a:xfrm>
          <a:prstGeom prst="rect">
            <a:avLst/>
          </a:prstGeom>
          <a:solidFill>
            <a:srgbClr val="1F497D"/>
          </a:solidFill>
          <a:ln>
            <a:noFill/>
          </a:ln>
        </p:spPr>
        <p:txBody>
          <a:bodyPr rtlCol="0" anchor="ctr" wrap="square" lIns="36576" rIns="36576" tIns="21945" bIns="21945"/>
          <a:lstStyle/>
          <a:p>
            <a:pPr algn="l">
              <a:spcAft>
                <a:spcPts val="400"/>
              </a:spcAft>
            </a:pPr>
            <a:r>
              <a:rPr sz="900" b="1" i="0">
                <a:solidFill>
                  <a:srgbClr val="FFFFFF"/>
                </a:solidFill>
                <a:latin typeface="Arial"/>
              </a:rPr>
              <a:t>Workstream</a:t>
            </a:r>
          </a:p>
        </p:txBody>
      </p:sp>
      <p:sp>
        <p:nvSpPr>
          <p:cNvPr id="15" name="Label Rectangle 14"/>
          <p:cNvSpPr/>
          <p:nvPr/>
        </p:nvSpPr>
        <p:spPr>
          <a:xfrm>
            <a:off x="457200" y="1901952"/>
            <a:ext cx="11277295" cy="320040"/>
          </a:xfrm>
          <a:prstGeom prst="rect">
            <a:avLst/>
          </a:prstGeom>
          <a:solidFill>
            <a:srgbClr val="F2F2F2"/>
          </a:solidFill>
          <a:ln>
            <a:noFill/>
          </a:ln>
        </p:spPr>
        <p:txBody>
          <a:bodyPr rtlCol="0" anchor="ctr"/>
          <a:lstStyle/>
          <a:p>
            <a:pPr algn="ctr"/>
          </a:p>
        </p:txBody>
      </p:sp>
      <p:sp>
        <p:nvSpPr>
          <p:cNvPr id="16" name="Label TextBox 15"/>
          <p:cNvSpPr txBox="1"/>
          <p:nvPr/>
        </p:nvSpPr>
        <p:spPr>
          <a:xfrm>
            <a:off x="530352" y="190195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Alignment and decisions</a:t>
            </a:r>
          </a:p>
        </p:txBody>
      </p:sp>
      <p:sp>
        <p:nvSpPr>
          <p:cNvPr id="17" name="Label Rectangle 16"/>
          <p:cNvSpPr/>
          <p:nvPr/>
        </p:nvSpPr>
        <p:spPr>
          <a:xfrm>
            <a:off x="3145536" y="1956816"/>
            <a:ext cx="1364437"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This session</a:t>
            </a:r>
          </a:p>
        </p:txBody>
      </p:sp>
      <p:sp>
        <p:nvSpPr>
          <p:cNvPr id="18" name="Label Diamond 17"/>
          <p:cNvSpPr/>
          <p:nvPr/>
        </p:nvSpPr>
        <p:spPr>
          <a:xfrm>
            <a:off x="4636763" y="1984248"/>
            <a:ext cx="164592" cy="164592"/>
          </a:xfrm>
          <a:prstGeom prst="diamond">
            <a:avLst/>
          </a:prstGeom>
          <a:solidFill>
            <a:srgbClr val="F2A900"/>
          </a:solidFill>
          <a:ln>
            <a:noFill/>
          </a:ln>
        </p:spPr>
        <p:txBody>
          <a:bodyPr rtlCol="0" anchor="ctr"/>
          <a:lstStyle/>
          <a:p>
            <a:pPr algn="ctr"/>
          </a:p>
        </p:txBody>
      </p:sp>
      <p:sp>
        <p:nvSpPr>
          <p:cNvPr id="19" name="Label Rectangle 18"/>
          <p:cNvSpPr/>
          <p:nvPr/>
        </p:nvSpPr>
        <p:spPr>
          <a:xfrm>
            <a:off x="457200" y="2267712"/>
            <a:ext cx="11277295" cy="320040"/>
          </a:xfrm>
          <a:prstGeom prst="rect">
            <a:avLst/>
          </a:prstGeom>
          <a:solidFill>
            <a:srgbClr val="F2F2F2"/>
          </a:solidFill>
          <a:ln>
            <a:noFill/>
          </a:ln>
        </p:spPr>
        <p:txBody>
          <a:bodyPr rtlCol="0" anchor="ctr"/>
          <a:lstStyle/>
          <a:p>
            <a:pPr algn="ctr"/>
          </a:p>
        </p:txBody>
      </p:sp>
      <p:sp>
        <p:nvSpPr>
          <p:cNvPr id="20" name="Label TextBox 19"/>
          <p:cNvSpPr txBox="1"/>
          <p:nvPr/>
        </p:nvSpPr>
        <p:spPr>
          <a:xfrm>
            <a:off x="530352" y="226771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Route readiness scoring</a:t>
            </a:r>
          </a:p>
        </p:txBody>
      </p:sp>
      <p:sp>
        <p:nvSpPr>
          <p:cNvPr id="21" name="Label Rectangle 20"/>
          <p:cNvSpPr/>
          <p:nvPr/>
        </p:nvSpPr>
        <p:spPr>
          <a:xfrm>
            <a:off x="3145536" y="232257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Score five routes on the Winelands template</a:t>
            </a:r>
          </a:p>
        </p:txBody>
      </p:sp>
      <p:sp>
        <p:nvSpPr>
          <p:cNvPr id="22" name="Label Rectangle 21"/>
          <p:cNvSpPr/>
          <p:nvPr/>
        </p:nvSpPr>
        <p:spPr>
          <a:xfrm>
            <a:off x="457200" y="2633472"/>
            <a:ext cx="11277295" cy="320040"/>
          </a:xfrm>
          <a:prstGeom prst="rect">
            <a:avLst/>
          </a:prstGeom>
          <a:solidFill>
            <a:srgbClr val="F2F2F2"/>
          </a:solidFill>
          <a:ln>
            <a:noFill/>
          </a:ln>
        </p:spPr>
        <p:txBody>
          <a:bodyPr rtlCol="0" anchor="ctr"/>
          <a:lstStyle/>
          <a:p>
            <a:pPr algn="ctr"/>
          </a:p>
        </p:txBody>
      </p:sp>
      <p:sp>
        <p:nvSpPr>
          <p:cNvPr id="23" name="Label TextBox 22"/>
          <p:cNvSpPr txBox="1"/>
          <p:nvPr/>
        </p:nvSpPr>
        <p:spPr>
          <a:xfrm>
            <a:off x="530352" y="263347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Marketing and brand</a:t>
            </a:r>
          </a:p>
        </p:txBody>
      </p:sp>
      <p:sp>
        <p:nvSpPr>
          <p:cNvPr id="24" name="Label Rectangle 23"/>
          <p:cNvSpPr/>
          <p:nvPr/>
        </p:nvSpPr>
        <p:spPr>
          <a:xfrm>
            <a:off x="3145536" y="2688336"/>
            <a:ext cx="2802026"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Audit and peer benchmark</a:t>
            </a:r>
          </a:p>
        </p:txBody>
      </p:sp>
      <p:sp>
        <p:nvSpPr>
          <p:cNvPr id="25" name="Label Rectangle 24"/>
          <p:cNvSpPr/>
          <p:nvPr/>
        </p:nvSpPr>
        <p:spPr>
          <a:xfrm>
            <a:off x="6020714" y="2688336"/>
            <a:ext cx="1364437"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Workshop</a:t>
            </a:r>
          </a:p>
        </p:txBody>
      </p:sp>
      <p:sp>
        <p:nvSpPr>
          <p:cNvPr id="26" name="Label Rectangle 25"/>
          <p:cNvSpPr/>
          <p:nvPr/>
        </p:nvSpPr>
        <p:spPr>
          <a:xfrm>
            <a:off x="457200" y="2999232"/>
            <a:ext cx="11277295" cy="320040"/>
          </a:xfrm>
          <a:prstGeom prst="rect">
            <a:avLst/>
          </a:prstGeom>
          <a:solidFill>
            <a:srgbClr val="F2F2F2"/>
          </a:solidFill>
          <a:ln>
            <a:noFill/>
          </a:ln>
        </p:spPr>
        <p:txBody>
          <a:bodyPr rtlCol="0" anchor="ctr"/>
          <a:lstStyle/>
          <a:p>
            <a:pPr algn="ctr"/>
          </a:p>
        </p:txBody>
      </p:sp>
      <p:sp>
        <p:nvSpPr>
          <p:cNvPr id="27" name="Label TextBox 26"/>
          <p:cNvSpPr txBox="1"/>
          <p:nvPr/>
        </p:nvSpPr>
        <p:spPr>
          <a:xfrm>
            <a:off x="530352" y="299923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Investment ROI, spend and jobs</a:t>
            </a:r>
          </a:p>
        </p:txBody>
      </p:sp>
      <p:sp>
        <p:nvSpPr>
          <p:cNvPr id="28" name="Label Rectangle 27"/>
          <p:cNvSpPr/>
          <p:nvPr/>
        </p:nvSpPr>
        <p:spPr>
          <a:xfrm>
            <a:off x="4583125" y="305409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Corridor and mid-market ROI; model extension</a:t>
            </a:r>
          </a:p>
        </p:txBody>
      </p:sp>
      <p:sp>
        <p:nvSpPr>
          <p:cNvPr id="29" name="Label Rectangle 28"/>
          <p:cNvSpPr/>
          <p:nvPr/>
        </p:nvSpPr>
        <p:spPr>
          <a:xfrm>
            <a:off x="457200" y="3364991"/>
            <a:ext cx="11277295" cy="320040"/>
          </a:xfrm>
          <a:prstGeom prst="rect">
            <a:avLst/>
          </a:prstGeom>
          <a:solidFill>
            <a:srgbClr val="F2F2F2"/>
          </a:solidFill>
          <a:ln>
            <a:noFill/>
          </a:ln>
        </p:spPr>
        <p:txBody>
          <a:bodyPr rtlCol="0" anchor="ctr"/>
          <a:lstStyle/>
          <a:p>
            <a:pPr algn="ctr"/>
          </a:p>
        </p:txBody>
      </p:sp>
      <p:sp>
        <p:nvSpPr>
          <p:cNvPr id="30" name="Label TextBox 29"/>
          <p:cNvSpPr txBox="1"/>
          <p:nvPr/>
        </p:nvSpPr>
        <p:spPr>
          <a:xfrm>
            <a:off x="530352" y="3364991"/>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M&amp;E toolkit</a:t>
            </a:r>
          </a:p>
        </p:txBody>
      </p:sp>
      <p:sp>
        <p:nvSpPr>
          <p:cNvPr id="31" name="Label Rectangle 30"/>
          <p:cNvSpPr/>
          <p:nvPr/>
        </p:nvSpPr>
        <p:spPr>
          <a:xfrm>
            <a:off x="4583125" y="341985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Indicators, baselines, templates</a:t>
            </a:r>
          </a:p>
        </p:txBody>
      </p:sp>
      <p:sp>
        <p:nvSpPr>
          <p:cNvPr id="32" name="Label Diamond 31"/>
          <p:cNvSpPr/>
          <p:nvPr/>
        </p:nvSpPr>
        <p:spPr>
          <a:xfrm>
            <a:off x="8777020" y="3447287"/>
            <a:ext cx="164592" cy="164592"/>
          </a:xfrm>
          <a:prstGeom prst="diamond">
            <a:avLst/>
          </a:prstGeom>
          <a:solidFill>
            <a:srgbClr val="F2A900"/>
          </a:solidFill>
          <a:ln>
            <a:noFill/>
          </a:ln>
        </p:spPr>
        <p:txBody>
          <a:bodyPr rtlCol="0" anchor="ctr"/>
          <a:lstStyle/>
          <a:p>
            <a:pPr algn="ctr"/>
          </a:p>
        </p:txBody>
      </p:sp>
      <p:sp>
        <p:nvSpPr>
          <p:cNvPr id="33" name="Label Rectangle 32"/>
          <p:cNvSpPr/>
          <p:nvPr/>
        </p:nvSpPr>
        <p:spPr>
          <a:xfrm>
            <a:off x="457200" y="3730752"/>
            <a:ext cx="11277295" cy="320040"/>
          </a:xfrm>
          <a:prstGeom prst="rect">
            <a:avLst/>
          </a:prstGeom>
          <a:solidFill>
            <a:srgbClr val="F2F2F2"/>
          </a:solidFill>
          <a:ln>
            <a:noFill/>
          </a:ln>
        </p:spPr>
        <p:txBody>
          <a:bodyPr rtlCol="0" anchor="ctr"/>
          <a:lstStyle/>
          <a:p>
            <a:pPr algn="ctr"/>
          </a:p>
        </p:txBody>
      </p:sp>
      <p:sp>
        <p:nvSpPr>
          <p:cNvPr id="34" name="Label TextBox 33"/>
          <p:cNvSpPr txBox="1"/>
          <p:nvPr/>
        </p:nvSpPr>
        <p:spPr>
          <a:xfrm>
            <a:off x="530352" y="373075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Stakeholder validation</a:t>
            </a:r>
          </a:p>
        </p:txBody>
      </p:sp>
      <p:sp>
        <p:nvSpPr>
          <p:cNvPr id="35" name="Label Rectangle 34"/>
          <p:cNvSpPr/>
          <p:nvPr/>
        </p:nvSpPr>
        <p:spPr>
          <a:xfrm>
            <a:off x="4583125" y="3785615"/>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Airlines, trade, SA Tourism, City, DHA</a:t>
            </a:r>
          </a:p>
        </p:txBody>
      </p:sp>
      <p:sp>
        <p:nvSpPr>
          <p:cNvPr id="36" name="Label Rectangle 35"/>
          <p:cNvSpPr/>
          <p:nvPr/>
        </p:nvSpPr>
        <p:spPr>
          <a:xfrm>
            <a:off x="457200" y="4096512"/>
            <a:ext cx="11277295" cy="320040"/>
          </a:xfrm>
          <a:prstGeom prst="rect">
            <a:avLst/>
          </a:prstGeom>
          <a:solidFill>
            <a:srgbClr val="F2F2F2"/>
          </a:solidFill>
          <a:ln>
            <a:noFill/>
          </a:ln>
        </p:spPr>
        <p:txBody>
          <a:bodyPr rtlCol="0" anchor="ctr"/>
          <a:lstStyle/>
          <a:p>
            <a:pPr algn="ctr"/>
          </a:p>
        </p:txBody>
      </p:sp>
      <p:sp>
        <p:nvSpPr>
          <p:cNvPr id="37" name="Label TextBox 36"/>
          <p:cNvSpPr txBox="1"/>
          <p:nvPr/>
        </p:nvSpPr>
        <p:spPr>
          <a:xfrm>
            <a:off x="530352" y="409651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Recommendations and roadmap</a:t>
            </a:r>
          </a:p>
        </p:txBody>
      </p:sp>
      <p:sp>
        <p:nvSpPr>
          <p:cNvPr id="38" name="Label Rectangle 37"/>
          <p:cNvSpPr/>
          <p:nvPr/>
        </p:nvSpPr>
        <p:spPr>
          <a:xfrm>
            <a:off x="6020714" y="415137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Draft, test and refine with owners</a:t>
            </a:r>
          </a:p>
        </p:txBody>
      </p:sp>
      <p:sp>
        <p:nvSpPr>
          <p:cNvPr id="39" name="Label Rectangle 38"/>
          <p:cNvSpPr/>
          <p:nvPr/>
        </p:nvSpPr>
        <p:spPr>
          <a:xfrm>
            <a:off x="457200" y="4462272"/>
            <a:ext cx="11277295" cy="320040"/>
          </a:xfrm>
          <a:prstGeom prst="rect">
            <a:avLst/>
          </a:prstGeom>
          <a:solidFill>
            <a:srgbClr val="F2F2F2"/>
          </a:solidFill>
          <a:ln>
            <a:noFill/>
          </a:ln>
        </p:spPr>
        <p:txBody>
          <a:bodyPr rtlCol="0" anchor="ctr"/>
          <a:lstStyle/>
          <a:p>
            <a:pPr algn="ctr"/>
          </a:p>
        </p:txBody>
      </p:sp>
      <p:sp>
        <p:nvSpPr>
          <p:cNvPr id="40" name="Label TextBox 39"/>
          <p:cNvSpPr txBox="1"/>
          <p:nvPr/>
        </p:nvSpPr>
        <p:spPr>
          <a:xfrm>
            <a:off x="530352" y="446227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Final report and approvals</a:t>
            </a:r>
          </a:p>
        </p:txBody>
      </p:sp>
      <p:sp>
        <p:nvSpPr>
          <p:cNvPr id="41" name="Label Rectangle 40"/>
          <p:cNvSpPr/>
          <p:nvPr/>
        </p:nvSpPr>
        <p:spPr>
          <a:xfrm>
            <a:off x="7458303" y="4517136"/>
            <a:ext cx="2802026"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Draft report</a:t>
            </a:r>
          </a:p>
        </p:txBody>
      </p:sp>
      <p:sp>
        <p:nvSpPr>
          <p:cNvPr id="42" name="Label Rectangle 41"/>
          <p:cNvSpPr/>
          <p:nvPr/>
        </p:nvSpPr>
        <p:spPr>
          <a:xfrm>
            <a:off x="10333482" y="4517136"/>
            <a:ext cx="1364437"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Steercom, Exco, Board</a:t>
            </a:r>
          </a:p>
        </p:txBody>
      </p:sp>
      <p:sp>
        <p:nvSpPr>
          <p:cNvPr id="43" name="Label Diamond 42"/>
          <p:cNvSpPr/>
          <p:nvPr/>
        </p:nvSpPr>
        <p:spPr>
          <a:xfrm>
            <a:off x="10214610" y="4544568"/>
            <a:ext cx="164592" cy="164592"/>
          </a:xfrm>
          <a:prstGeom prst="diamond">
            <a:avLst/>
          </a:prstGeom>
          <a:solidFill>
            <a:srgbClr val="F2A900"/>
          </a:solidFill>
          <a:ln>
            <a:noFill/>
          </a:ln>
        </p:spPr>
        <p:txBody>
          <a:bodyPr rtlCol="0" anchor="ctr"/>
          <a:lstStyle/>
          <a:p>
            <a:pPr algn="ctr"/>
          </a:p>
        </p:txBody>
      </p:sp>
      <p:sp>
        <p:nvSpPr>
          <p:cNvPr id="44" name="Label Rectangle 43"/>
          <p:cNvSpPr/>
          <p:nvPr/>
        </p:nvSpPr>
        <p:spPr>
          <a:xfrm>
            <a:off x="457200" y="4828032"/>
            <a:ext cx="11277295" cy="320040"/>
          </a:xfrm>
          <a:prstGeom prst="rect">
            <a:avLst/>
          </a:prstGeom>
          <a:solidFill>
            <a:srgbClr val="F2F2F2"/>
          </a:solidFill>
          <a:ln>
            <a:noFill/>
          </a:ln>
        </p:spPr>
        <p:txBody>
          <a:bodyPr rtlCol="0" anchor="ctr"/>
          <a:lstStyle/>
          <a:p>
            <a:pPr algn="ctr"/>
          </a:p>
        </p:txBody>
      </p:sp>
      <p:sp>
        <p:nvSpPr>
          <p:cNvPr id="45" name="Label TextBox 44"/>
          <p:cNvSpPr txBox="1"/>
          <p:nvPr/>
        </p:nvSpPr>
        <p:spPr>
          <a:xfrm>
            <a:off x="530352" y="482803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Knowledge transfer and launch</a:t>
            </a:r>
          </a:p>
        </p:txBody>
      </p:sp>
      <p:sp>
        <p:nvSpPr>
          <p:cNvPr id="46" name="Label Rectangle 45"/>
          <p:cNvSpPr/>
          <p:nvPr/>
        </p:nvSpPr>
        <p:spPr>
          <a:xfrm>
            <a:off x="8895892" y="4882896"/>
            <a:ext cx="2802026"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Plan sessions; set the launch date</a:t>
            </a:r>
          </a:p>
        </p:txBody>
      </p:sp>
      <p:sp>
        <p:nvSpPr>
          <p:cNvPr id="47" name="Label Diamond 46"/>
          <p:cNvSpPr/>
          <p:nvPr/>
        </p:nvSpPr>
        <p:spPr>
          <a:xfrm>
            <a:off x="11652199" y="4910328"/>
            <a:ext cx="164592" cy="164592"/>
          </a:xfrm>
          <a:prstGeom prst="diamond">
            <a:avLst/>
          </a:prstGeom>
          <a:solidFill>
            <a:srgbClr val="F2A900"/>
          </a:solidFill>
          <a:ln>
            <a:noFill/>
          </a:ln>
        </p:spPr>
        <p:txBody>
          <a:bodyPr rtlCol="0" anchor="ctr"/>
          <a:lstStyle/>
          <a:p>
            <a:pPr algn="ctr"/>
          </a:p>
        </p:txBody>
      </p:sp>
      <p:cxnSp>
        <p:nvCxnSpPr>
          <p:cNvPr id="48" name="Label Connector 47"/>
          <p:cNvCxnSpPr/>
          <p:nvPr/>
        </p:nvCxnSpPr>
        <p:spPr>
          <a:xfrm>
            <a:off x="7185552" y="1828800"/>
            <a:ext cx="0" cy="3410712"/>
          </a:xfrm>
          <a:prstGeom prst="line">
            <a:avLst/>
          </a:prstGeom>
          <a:ln w="25400">
            <a:solidFill>
              <a:srgbClr val="D9262B"/>
            </a:solidFill>
          </a:ln>
        </p:spPr>
      </p:cxnSp>
      <p:sp>
        <p:nvSpPr>
          <p:cNvPr id="49" name="Label TextBox 48"/>
          <p:cNvSpPr txBox="1"/>
          <p:nvPr/>
        </p:nvSpPr>
        <p:spPr>
          <a:xfrm>
            <a:off x="6271152" y="5239512"/>
            <a:ext cx="1828800" cy="237744"/>
          </a:xfrm>
          <a:prstGeom prst="rect">
            <a:avLst/>
          </a:prstGeom>
          <a:noFill/>
        </p:spPr>
        <p:txBody>
          <a:bodyPr wrap="square" anchor="t" lIns="0" rIns="0" tIns="0" bIns="0">
            <a:spAutoFit/>
          </a:bodyPr>
          <a:lstStyle/>
          <a:p>
            <a:pPr algn="ctr">
              <a:spcAft>
                <a:spcPts val="0"/>
              </a:spcAft>
            </a:pPr>
            <a:r>
              <a:rPr sz="850" b="1" i="0">
                <a:solidFill>
                  <a:srgbClr val="D9262B"/>
                </a:solidFill>
                <a:latin typeface="Arial"/>
              </a:rPr>
              <a:t>Contract ends 31 Oct</a:t>
            </a:r>
          </a:p>
        </p:txBody>
      </p:sp>
      <p:sp>
        <p:nvSpPr>
          <p:cNvPr id="50" name="Label TextBox 49"/>
          <p:cNvSpPr txBox="1"/>
          <p:nvPr/>
        </p:nvSpPr>
        <p:spPr>
          <a:xfrm>
            <a:off x="4847075" y="1920240"/>
            <a:ext cx="1463040" cy="27432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Extension decision</a:t>
            </a:r>
          </a:p>
        </p:txBody>
      </p:sp>
      <p:sp>
        <p:nvSpPr>
          <p:cNvPr id="51" name="TextBox 50"/>
          <p:cNvSpPr txBox="1"/>
          <p:nvPr/>
        </p:nvSpPr>
        <p:spPr>
          <a:xfrm>
            <a:off x="457200" y="5257800"/>
            <a:ext cx="2743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RISKS TO THE PLAN</a:t>
            </a:r>
          </a:p>
        </p:txBody>
      </p:sp>
      <p:sp>
        <p:nvSpPr>
          <p:cNvPr id="52" name="TextBox 51"/>
          <p:cNvSpPr txBox="1"/>
          <p:nvPr/>
        </p:nvSpPr>
        <p:spPr>
          <a:xfrm>
            <a:off x="457200"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Contract: </a:t>
            </a:r>
            <a:r>
              <a:rPr sz="1000" b="0" i="0">
                <a:solidFill>
                  <a:srgbClr val="404040"/>
                </a:solidFill>
                <a:latin typeface="Arial"/>
              </a:rPr>
              <a:t>without an extension, work stops on 31 October.</a:t>
            </a:r>
          </a:p>
        </p:txBody>
      </p:sp>
      <p:sp>
        <p:nvSpPr>
          <p:cNvPr id="53" name="TextBox 52"/>
          <p:cNvSpPr txBox="1"/>
          <p:nvPr/>
        </p:nvSpPr>
        <p:spPr>
          <a:xfrm>
            <a:off x="4262018"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Access: </a:t>
            </a:r>
            <a:r>
              <a:rPr sz="1000" b="0" i="0">
                <a:solidFill>
                  <a:srgbClr val="404040"/>
                </a:solidFill>
                <a:latin typeface="Arial"/>
              </a:rPr>
              <a:t>airlines, DHA and SA Tourism may not engage in time.</a:t>
            </a:r>
          </a:p>
        </p:txBody>
      </p:sp>
      <p:sp>
        <p:nvSpPr>
          <p:cNvPr id="54" name="TextBox 53"/>
          <p:cNvSpPr txBox="1"/>
          <p:nvPr/>
        </p:nvSpPr>
        <p:spPr>
          <a:xfrm>
            <a:off x="8066836"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Data: </a:t>
            </a:r>
            <a:r>
              <a:rPr sz="1000" b="0" i="0">
                <a:solidFill>
                  <a:srgbClr val="404040"/>
                </a:solidFill>
                <a:latin typeface="Arial"/>
              </a:rPr>
              <a:t>Wesgro marketing and booking data may arrive late.</a:t>
            </a:r>
          </a:p>
        </p:txBody>
      </p:sp>
      <p:sp>
        <p:nvSpPr>
          <p:cNvPr id="55" name="TextBox 54"/>
          <p:cNvSpPr txBox="1"/>
          <p:nvPr/>
        </p:nvSpPr>
        <p:spPr>
          <a:xfrm>
            <a:off x="8991295" y="5257800"/>
            <a:ext cx="2743200" cy="228600"/>
          </a:xfrm>
          <a:prstGeom prst="rect">
            <a:avLst/>
          </a:prstGeom>
          <a:noFill/>
        </p:spPr>
        <p:txBody>
          <a:bodyPr wrap="square" anchor="t" lIns="0" rIns="0" tIns="0" bIns="0">
            <a:spAutoFit/>
          </a:bodyPr>
          <a:lstStyle/>
          <a:p>
            <a:pPr algn="r">
              <a:spcAft>
                <a:spcPts val="0"/>
              </a:spcAft>
            </a:pPr>
            <a:r>
              <a:rPr sz="900" b="0" i="1">
                <a:solidFill>
                  <a:srgbClr val="7F7F7F"/>
                </a:solidFill>
                <a:latin typeface="Arial"/>
              </a:rPr>
              <a:t>Diamond: milestone or decision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We ask for six decisions today so drafting can start with confidence</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06 | THE ROAD TO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SLA clause 4.3</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3667658" cy="1965960"/>
          </a:xfrm>
          <a:prstGeom prst="rect">
            <a:avLst/>
          </a:prstGeom>
          <a:solidFill>
            <a:srgbClr val="DCEEF7"/>
          </a:solidFill>
          <a:ln>
            <a:noFill/>
          </a:ln>
        </p:spPr>
        <p:txBody>
          <a:bodyPr rtlCol="0" anchor="ctr"/>
          <a:lstStyle/>
          <a:p>
            <a:pPr algn="ctr"/>
          </a:p>
        </p:txBody>
      </p:sp>
      <p:sp>
        <p:nvSpPr>
          <p:cNvPr id="9" name="Label num"/>
          <p:cNvSpPr txBox="1"/>
          <p:nvPr/>
        </p:nvSpPr>
        <p:spPr>
          <a:xfrm>
            <a:off x="640080"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1</a:t>
            </a:r>
          </a:p>
        </p:txBody>
      </p:sp>
      <p:sp>
        <p:nvSpPr>
          <p:cNvPr id="10" name="Rectangle 9"/>
          <p:cNvSpPr/>
          <p:nvPr/>
        </p:nvSpPr>
        <p:spPr>
          <a:xfrm>
            <a:off x="3667658" y="1618488"/>
            <a:ext cx="256032" cy="256032"/>
          </a:xfrm>
          <a:prstGeom prst="rect">
            <a:avLst/>
          </a:prstGeom>
          <a:solidFill>
            <a:srgbClr val="FFFFFF"/>
          </a:solidFill>
          <a:ln w="15875">
            <a:solidFill>
              <a:srgbClr val="1F497D"/>
            </a:solidFill>
          </a:ln>
        </p:spPr>
        <p:txBody>
          <a:bodyPr rtlCol="0" anchor="ctr"/>
          <a:lstStyle/>
          <a:p>
            <a:pPr algn="ctr"/>
          </a:p>
        </p:txBody>
      </p:sp>
      <p:sp>
        <p:nvSpPr>
          <p:cNvPr id="11" name="TextBox 10"/>
          <p:cNvSpPr txBox="1"/>
          <p:nvPr/>
        </p:nvSpPr>
        <p:spPr>
          <a:xfrm>
            <a:off x="640080"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Extend the contract</a:t>
            </a:r>
          </a:p>
        </p:txBody>
      </p:sp>
      <p:sp>
        <p:nvSpPr>
          <p:cNvPr id="12" name="TextBox 11"/>
          <p:cNvSpPr txBox="1"/>
          <p:nvPr/>
        </p:nvSpPr>
        <p:spPr>
          <a:xfrm>
            <a:off x="640080"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Agree the clause 4.3 addendum so work continues past 31 October.</a:t>
            </a:r>
          </a:p>
        </p:txBody>
      </p:sp>
      <p:sp>
        <p:nvSpPr>
          <p:cNvPr id="13" name="Label owner"/>
          <p:cNvSpPr txBox="1"/>
          <p:nvPr/>
        </p:nvSpPr>
        <p:spPr>
          <a:xfrm>
            <a:off x="640080"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executive sponsor</a:t>
            </a:r>
          </a:p>
        </p:txBody>
      </p:sp>
      <p:sp>
        <p:nvSpPr>
          <p:cNvPr id="14" name="Rectangle 13"/>
          <p:cNvSpPr/>
          <p:nvPr/>
        </p:nvSpPr>
        <p:spPr>
          <a:xfrm>
            <a:off x="4262018" y="1417320"/>
            <a:ext cx="3667658" cy="1965960"/>
          </a:xfrm>
          <a:prstGeom prst="rect">
            <a:avLst/>
          </a:prstGeom>
          <a:solidFill>
            <a:srgbClr val="DCEEF7"/>
          </a:solidFill>
          <a:ln>
            <a:noFill/>
          </a:ln>
        </p:spPr>
        <p:txBody>
          <a:bodyPr rtlCol="0" anchor="ctr"/>
          <a:lstStyle/>
          <a:p>
            <a:pPr algn="ctr"/>
          </a:p>
        </p:txBody>
      </p:sp>
      <p:sp>
        <p:nvSpPr>
          <p:cNvPr id="15" name="Label num"/>
          <p:cNvSpPr txBox="1"/>
          <p:nvPr/>
        </p:nvSpPr>
        <p:spPr>
          <a:xfrm>
            <a:off x="4444898"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2</a:t>
            </a:r>
          </a:p>
        </p:txBody>
      </p:sp>
      <p:sp>
        <p:nvSpPr>
          <p:cNvPr id="16" name="Rectangle 15"/>
          <p:cNvSpPr/>
          <p:nvPr/>
        </p:nvSpPr>
        <p:spPr>
          <a:xfrm>
            <a:off x="7472476" y="1618488"/>
            <a:ext cx="256032" cy="256032"/>
          </a:xfrm>
          <a:prstGeom prst="rect">
            <a:avLst/>
          </a:prstGeom>
          <a:solidFill>
            <a:srgbClr val="FFFFFF"/>
          </a:solidFill>
          <a:ln w="15875">
            <a:solidFill>
              <a:srgbClr val="1F497D"/>
            </a:solidFill>
          </a:ln>
        </p:spPr>
        <p:txBody>
          <a:bodyPr rtlCol="0" anchor="ctr"/>
          <a:lstStyle/>
          <a:p>
            <a:pPr algn="ctr"/>
          </a:p>
        </p:txBody>
      </p:sp>
      <p:sp>
        <p:nvSpPr>
          <p:cNvPr id="17" name="TextBox 16"/>
          <p:cNvSpPr txBox="1"/>
          <p:nvPr/>
        </p:nvSpPr>
        <p:spPr>
          <a:xfrm>
            <a:off x="4444898"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Adopt the working answer</a:t>
            </a:r>
          </a:p>
        </p:txBody>
      </p:sp>
      <p:sp>
        <p:nvSpPr>
          <p:cNvPr id="18" name="TextBox 17"/>
          <p:cNvSpPr txBox="1"/>
          <p:nvPr/>
        </p:nvSpPr>
        <p:spPr>
          <a:xfrm>
            <a:off x="4444898"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Use the seven findings and the answer as the report’s spine.</a:t>
            </a:r>
          </a:p>
        </p:txBody>
      </p:sp>
      <p:sp>
        <p:nvSpPr>
          <p:cNvPr id="19" name="Label owner"/>
          <p:cNvSpPr txBox="1"/>
          <p:nvPr/>
        </p:nvSpPr>
        <p:spPr>
          <a:xfrm>
            <a:off x="4444898"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
        <p:nvSpPr>
          <p:cNvPr id="20" name="Rectangle 19"/>
          <p:cNvSpPr/>
          <p:nvPr/>
        </p:nvSpPr>
        <p:spPr>
          <a:xfrm>
            <a:off x="8066836" y="1417320"/>
            <a:ext cx="3667658" cy="1965960"/>
          </a:xfrm>
          <a:prstGeom prst="rect">
            <a:avLst/>
          </a:prstGeom>
          <a:solidFill>
            <a:srgbClr val="DCEEF7"/>
          </a:solidFill>
          <a:ln>
            <a:noFill/>
          </a:ln>
        </p:spPr>
        <p:txBody>
          <a:bodyPr rtlCol="0" anchor="ctr"/>
          <a:lstStyle/>
          <a:p>
            <a:pPr algn="ctr"/>
          </a:p>
        </p:txBody>
      </p:sp>
      <p:sp>
        <p:nvSpPr>
          <p:cNvPr id="21" name="Label num"/>
          <p:cNvSpPr txBox="1"/>
          <p:nvPr/>
        </p:nvSpPr>
        <p:spPr>
          <a:xfrm>
            <a:off x="8249716"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3</a:t>
            </a:r>
          </a:p>
        </p:txBody>
      </p:sp>
      <p:sp>
        <p:nvSpPr>
          <p:cNvPr id="22" name="Rectangle 21"/>
          <p:cNvSpPr/>
          <p:nvPr/>
        </p:nvSpPr>
        <p:spPr>
          <a:xfrm>
            <a:off x="11277295" y="1618488"/>
            <a:ext cx="256032" cy="256032"/>
          </a:xfrm>
          <a:prstGeom prst="rect">
            <a:avLst/>
          </a:prstGeom>
          <a:solidFill>
            <a:srgbClr val="FFFFFF"/>
          </a:solidFill>
          <a:ln w="15875">
            <a:solidFill>
              <a:srgbClr val="1F497D"/>
            </a:solidFill>
          </a:ln>
        </p:spPr>
        <p:txBody>
          <a:bodyPr rtlCol="0" anchor="ctr"/>
          <a:lstStyle/>
          <a:p>
            <a:pPr algn="ctr"/>
          </a:p>
        </p:txBody>
      </p:sp>
      <p:sp>
        <p:nvSpPr>
          <p:cNvPr id="23" name="TextBox 22"/>
          <p:cNvSpPr txBox="1"/>
          <p:nvPr/>
        </p:nvSpPr>
        <p:spPr>
          <a:xfrm>
            <a:off x="8249716"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Approve the tree changes</a:t>
            </a:r>
          </a:p>
        </p:txBody>
      </p:sp>
      <p:sp>
        <p:nvSpPr>
          <p:cNvPr id="24" name="TextBox 23"/>
          <p:cNvSpPr txBox="1"/>
          <p:nvPr/>
        </p:nvSpPr>
        <p:spPr>
          <a:xfrm>
            <a:off x="8249716"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Adopt the eight proposed changes as tree v5.</a:t>
            </a:r>
          </a:p>
        </p:txBody>
      </p:sp>
      <p:sp>
        <p:nvSpPr>
          <p:cNvPr id="25" name="Label owner"/>
          <p:cNvSpPr txBox="1"/>
          <p:nvPr/>
        </p:nvSpPr>
        <p:spPr>
          <a:xfrm>
            <a:off x="8249716"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
        <p:nvSpPr>
          <p:cNvPr id="26" name="Rectangle 25"/>
          <p:cNvSpPr/>
          <p:nvPr/>
        </p:nvSpPr>
        <p:spPr>
          <a:xfrm>
            <a:off x="457200" y="3520439"/>
            <a:ext cx="3667658" cy="1965960"/>
          </a:xfrm>
          <a:prstGeom prst="rect">
            <a:avLst/>
          </a:prstGeom>
          <a:solidFill>
            <a:srgbClr val="DCEEF7"/>
          </a:solidFill>
          <a:ln>
            <a:noFill/>
          </a:ln>
        </p:spPr>
        <p:txBody>
          <a:bodyPr rtlCol="0" anchor="ctr"/>
          <a:lstStyle/>
          <a:p>
            <a:pPr algn="ctr"/>
          </a:p>
        </p:txBody>
      </p:sp>
      <p:sp>
        <p:nvSpPr>
          <p:cNvPr id="27" name="Label num"/>
          <p:cNvSpPr txBox="1"/>
          <p:nvPr/>
        </p:nvSpPr>
        <p:spPr>
          <a:xfrm>
            <a:off x="640080"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4</a:t>
            </a:r>
          </a:p>
        </p:txBody>
      </p:sp>
      <p:sp>
        <p:nvSpPr>
          <p:cNvPr id="28" name="Rectangle 27"/>
          <p:cNvSpPr/>
          <p:nvPr/>
        </p:nvSpPr>
        <p:spPr>
          <a:xfrm>
            <a:off x="3667658" y="3721607"/>
            <a:ext cx="256032" cy="256032"/>
          </a:xfrm>
          <a:prstGeom prst="rect">
            <a:avLst/>
          </a:prstGeom>
          <a:solidFill>
            <a:srgbClr val="FFFFFF"/>
          </a:solidFill>
          <a:ln w="15875">
            <a:solidFill>
              <a:srgbClr val="1F497D"/>
            </a:solidFill>
          </a:ln>
        </p:spPr>
        <p:txBody>
          <a:bodyPr rtlCol="0" anchor="ctr"/>
          <a:lstStyle/>
          <a:p>
            <a:pPr algn="ctr"/>
          </a:p>
        </p:txBody>
      </p:sp>
      <p:sp>
        <p:nvSpPr>
          <p:cNvPr id="29" name="TextBox 28"/>
          <p:cNvSpPr txBox="1"/>
          <p:nvPr/>
        </p:nvSpPr>
        <p:spPr>
          <a:xfrm>
            <a:off x="640080"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Close the marketing gap</a:t>
            </a:r>
          </a:p>
        </p:txBody>
      </p:sp>
      <p:sp>
        <p:nvSpPr>
          <p:cNvPr id="30" name="TextBox 29"/>
          <p:cNvSpPr txBox="1"/>
          <p:nvPr/>
        </p:nvSpPr>
        <p:spPr>
          <a:xfrm>
            <a:off x="640080"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Approve a rapid marketing audit and peer benchmark.</a:t>
            </a:r>
          </a:p>
        </p:txBody>
      </p:sp>
      <p:sp>
        <p:nvSpPr>
          <p:cNvPr id="31" name="Label owner"/>
          <p:cNvSpPr txBox="1"/>
          <p:nvPr/>
        </p:nvSpPr>
        <p:spPr>
          <a:xfrm>
            <a:off x="640080"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marketing lead</a:t>
            </a:r>
          </a:p>
        </p:txBody>
      </p:sp>
      <p:sp>
        <p:nvSpPr>
          <p:cNvPr id="32" name="Rectangle 31"/>
          <p:cNvSpPr/>
          <p:nvPr/>
        </p:nvSpPr>
        <p:spPr>
          <a:xfrm>
            <a:off x="4262018" y="3520439"/>
            <a:ext cx="3667658" cy="1965960"/>
          </a:xfrm>
          <a:prstGeom prst="rect">
            <a:avLst/>
          </a:prstGeom>
          <a:solidFill>
            <a:srgbClr val="DCEEF7"/>
          </a:solidFill>
          <a:ln>
            <a:noFill/>
          </a:ln>
        </p:spPr>
        <p:txBody>
          <a:bodyPr rtlCol="0" anchor="ctr"/>
          <a:lstStyle/>
          <a:p>
            <a:pPr algn="ctr"/>
          </a:p>
        </p:txBody>
      </p:sp>
      <p:sp>
        <p:nvSpPr>
          <p:cNvPr id="33" name="Label num"/>
          <p:cNvSpPr txBox="1"/>
          <p:nvPr/>
        </p:nvSpPr>
        <p:spPr>
          <a:xfrm>
            <a:off x="4444898"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5</a:t>
            </a:r>
          </a:p>
        </p:txBody>
      </p:sp>
      <p:sp>
        <p:nvSpPr>
          <p:cNvPr id="34" name="Rectangle 33"/>
          <p:cNvSpPr/>
          <p:nvPr/>
        </p:nvSpPr>
        <p:spPr>
          <a:xfrm>
            <a:off x="7472476" y="3721607"/>
            <a:ext cx="256032" cy="256032"/>
          </a:xfrm>
          <a:prstGeom prst="rect">
            <a:avLst/>
          </a:prstGeom>
          <a:solidFill>
            <a:srgbClr val="FFFFFF"/>
          </a:solidFill>
          <a:ln w="15875">
            <a:solidFill>
              <a:srgbClr val="1F497D"/>
            </a:solidFill>
          </a:ln>
        </p:spPr>
        <p:txBody>
          <a:bodyPr rtlCol="0" anchor="ctr"/>
          <a:lstStyle/>
          <a:p>
            <a:pPr algn="ctr"/>
          </a:p>
        </p:txBody>
      </p:sp>
      <p:sp>
        <p:nvSpPr>
          <p:cNvPr id="35" name="TextBox 34"/>
          <p:cNvSpPr txBox="1"/>
          <p:nvPr/>
        </p:nvSpPr>
        <p:spPr>
          <a:xfrm>
            <a:off x="4444898"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Open the missing doors</a:t>
            </a:r>
          </a:p>
        </p:txBody>
      </p:sp>
      <p:sp>
        <p:nvSpPr>
          <p:cNvPr id="36" name="TextBox 35"/>
          <p:cNvSpPr txBox="1"/>
          <p:nvPr/>
        </p:nvSpPr>
        <p:spPr>
          <a:xfrm>
            <a:off x="4444898"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Broker airline, SA Tourism, City and DHA interviews.</a:t>
            </a:r>
          </a:p>
        </p:txBody>
      </p:sp>
      <p:sp>
        <p:nvSpPr>
          <p:cNvPr id="37" name="Label owner"/>
          <p:cNvSpPr txBox="1"/>
          <p:nvPr/>
        </p:nvSpPr>
        <p:spPr>
          <a:xfrm>
            <a:off x="4444898"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Air Access and executive sponsor</a:t>
            </a:r>
          </a:p>
        </p:txBody>
      </p:sp>
      <p:sp>
        <p:nvSpPr>
          <p:cNvPr id="38" name="Rectangle 37"/>
          <p:cNvSpPr/>
          <p:nvPr/>
        </p:nvSpPr>
        <p:spPr>
          <a:xfrm>
            <a:off x="8066836" y="3520439"/>
            <a:ext cx="3667658" cy="1965960"/>
          </a:xfrm>
          <a:prstGeom prst="rect">
            <a:avLst/>
          </a:prstGeom>
          <a:solidFill>
            <a:srgbClr val="DCEEF7"/>
          </a:solidFill>
          <a:ln>
            <a:noFill/>
          </a:ln>
        </p:spPr>
        <p:txBody>
          <a:bodyPr rtlCol="0" anchor="ctr"/>
          <a:lstStyle/>
          <a:p>
            <a:pPr algn="ctr"/>
          </a:p>
        </p:txBody>
      </p:sp>
      <p:sp>
        <p:nvSpPr>
          <p:cNvPr id="39" name="Label num"/>
          <p:cNvSpPr txBox="1"/>
          <p:nvPr/>
        </p:nvSpPr>
        <p:spPr>
          <a:xfrm>
            <a:off x="8249716"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6</a:t>
            </a:r>
          </a:p>
        </p:txBody>
      </p:sp>
      <p:sp>
        <p:nvSpPr>
          <p:cNvPr id="40" name="Rectangle 39"/>
          <p:cNvSpPr/>
          <p:nvPr/>
        </p:nvSpPr>
        <p:spPr>
          <a:xfrm>
            <a:off x="11277295" y="3721607"/>
            <a:ext cx="256032" cy="256032"/>
          </a:xfrm>
          <a:prstGeom prst="rect">
            <a:avLst/>
          </a:prstGeom>
          <a:solidFill>
            <a:srgbClr val="FFFFFF"/>
          </a:solidFill>
          <a:ln w="15875">
            <a:solidFill>
              <a:srgbClr val="1F497D"/>
            </a:solidFill>
          </a:ln>
        </p:spPr>
        <p:txBody>
          <a:bodyPr rtlCol="0" anchor="ctr"/>
          <a:lstStyle/>
          <a:p>
            <a:pPr algn="ctr"/>
          </a:p>
        </p:txBody>
      </p:sp>
      <p:sp>
        <p:nvSpPr>
          <p:cNvPr id="41" name="TextBox 40"/>
          <p:cNvSpPr txBox="1"/>
          <p:nvPr/>
        </p:nvSpPr>
        <p:spPr>
          <a:xfrm>
            <a:off x="8249716"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Bound the rest</a:t>
            </a:r>
          </a:p>
        </p:txBody>
      </p:sp>
      <p:sp>
        <p:nvSpPr>
          <p:cNvPr id="42" name="TextBox 41"/>
          <p:cNvSpPr txBox="1"/>
          <p:nvPr/>
        </p:nvSpPr>
        <p:spPr>
          <a:xfrm>
            <a:off x="8249716"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Bound safety and visas; fold in cruise, ASEAN and Brazil; park skills.</a:t>
            </a:r>
          </a:p>
        </p:txBody>
      </p:sp>
      <p:sp>
        <p:nvSpPr>
          <p:cNvPr id="43" name="Label owner"/>
          <p:cNvSpPr txBox="1"/>
          <p:nvPr/>
        </p:nvSpPr>
        <p:spPr>
          <a:xfrm>
            <a:off x="8249716"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nd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411480" y="2011680"/>
            <a:ext cx="5486400" cy="1280160"/>
          </a:xfrm>
          <a:prstGeom prst="rect">
            <a:avLst/>
          </a:prstGeom>
          <a:noFill/>
        </p:spPr>
        <p:txBody>
          <a:bodyPr wrap="square" anchor="t" lIns="0" rIns="0" tIns="0" bIns="0">
            <a:spAutoFit/>
          </a:bodyPr>
          <a:lstStyle/>
          <a:p>
            <a:pPr algn="l">
              <a:spcAft>
                <a:spcPts val="0"/>
              </a:spcAft>
            </a:pPr>
            <a:r>
              <a:rPr sz="8000" b="0" i="0">
                <a:solidFill>
                  <a:srgbClr val="FFFFFF"/>
                </a:solidFill>
                <a:latin typeface="Arial"/>
              </a:rPr>
              <a:t>END</a:t>
            </a:r>
          </a:p>
        </p:txBody>
      </p:sp>
      <p:sp>
        <p:nvSpPr>
          <p:cNvPr id="4" name="TextBox 3"/>
          <p:cNvSpPr txBox="1"/>
          <p:nvPr/>
        </p:nvSpPr>
        <p:spPr>
          <a:xfrm>
            <a:off x="457200" y="3246120"/>
            <a:ext cx="5486400" cy="548640"/>
          </a:xfrm>
          <a:prstGeom prst="rect">
            <a:avLst/>
          </a:prstGeom>
          <a:noFill/>
        </p:spPr>
        <p:txBody>
          <a:bodyPr wrap="square" anchor="t" lIns="0" rIns="0" tIns="0" bIns="0">
            <a:spAutoFit/>
          </a:bodyPr>
          <a:lstStyle/>
          <a:p>
            <a:pPr algn="l">
              <a:spcAft>
                <a:spcPts val="0"/>
              </a:spcAft>
            </a:pPr>
            <a:r>
              <a:rPr sz="2600" b="0" i="0">
                <a:solidFill>
                  <a:srgbClr val="FFFFFF"/>
                </a:solidFill>
                <a:latin typeface="Arial"/>
              </a:rPr>
              <a:t>THANK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Evidence behind each verdict, with source pages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APPENDIX | A1 EVIDENCE BY FOCUS AREA</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As cited per row. DSA Demand-Side Analysis; Infra Infrastructure Report; Stake Stakeholder Insights; SME SME and Community Inclusion Plan.</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457200" y="1188720"/>
          <a:ext cx="11277295" cy="4297680"/>
        </p:xfrm>
        <a:graphic>
          <a:graphicData uri="http://schemas.openxmlformats.org/drawingml/2006/table">
            <a:tbl>
              <a:tblPr firstRow="1" bandRow="0">
                <a:tableStyleId>{5C22544A-7EE6-4342-B048-85BDC9FD1C3A}</a:tableStyleId>
              </a:tblPr>
              <a:tblGrid>
                <a:gridCol w="365760"/>
                <a:gridCol w="3703320"/>
                <a:gridCol w="960120"/>
                <a:gridCol w="685800"/>
                <a:gridCol w="3611880"/>
                <a:gridCol w="1950415"/>
              </a:tblGrid>
              <a:tr h="274320">
                <a:tc>
                  <a:txBody>
                    <a:bodyPr wrap="square"/>
                    <a:lstStyle/>
                    <a:p>
                      <a:pPr algn="l"/>
                      <a:r>
                        <a:rPr sz="900" b="1" i="0">
                          <a:solidFill>
                            <a:srgbClr val="FFFFFF"/>
                          </a:solidFill>
                          <a:latin typeface="Arial"/>
                        </a:rPr>
                        <a:t>Ref</a:t>
                      </a:r>
                    </a:p>
                  </a:txBody>
                  <a:tcPr marL="54864" marR="54864" marT="27432" marB="27432" anchor="ctr">
                    <a:solidFill>
                      <a:srgbClr val="1F497D"/>
                    </a:solidFill>
                  </a:tcPr>
                </a:tc>
                <a:tc>
                  <a:txBody>
                    <a:bodyPr wrap="square"/>
                    <a:lstStyle/>
                    <a:p>
                      <a:pPr algn="l"/>
                      <a:r>
                        <a:rPr sz="900" b="1" i="0">
                          <a:solidFill>
                            <a:srgbClr val="FFFFFF"/>
                          </a:solidFill>
                          <a:latin typeface="Arial"/>
                        </a:rPr>
                        <a:t>Focus area (v4)</a:t>
                      </a:r>
                    </a:p>
                  </a:txBody>
                  <a:tcPr marL="54864" marR="54864" marT="27432" marB="27432" anchor="ctr">
                    <a:solidFill>
                      <a:srgbClr val="1F497D"/>
                    </a:solidFill>
                  </a:tcPr>
                </a:tc>
                <a:tc>
                  <a:txBody>
                    <a:bodyPr wrap="square"/>
                    <a:lstStyle/>
                    <a:p>
                      <a:pPr algn="l"/>
                      <a:r>
                        <a:rPr sz="900" b="1" i="0">
                          <a:solidFill>
                            <a:srgbClr val="FFFFFF"/>
                          </a:solidFill>
                          <a:latin typeface="Arial"/>
                        </a:rPr>
                        <a:t>Verdict</a:t>
                      </a:r>
                    </a:p>
                  </a:txBody>
                  <a:tcPr marL="54864" marR="54864" marT="27432" marB="27432" anchor="ctr">
                    <a:solidFill>
                      <a:srgbClr val="1F497D"/>
                    </a:solidFill>
                  </a:tcPr>
                </a:tc>
                <a:tc>
                  <a:txBody>
                    <a:bodyPr wrap="square"/>
                    <a:lstStyle/>
                    <a:p>
                      <a:pPr algn="l"/>
                      <a:r>
                        <a:rPr sz="900" b="1" i="0">
                          <a:solidFill>
                            <a:srgbClr val="FFFFFF"/>
                          </a:solidFill>
                          <a:latin typeface="Arial"/>
                        </a:rPr>
                        <a:t>Strength</a:t>
                      </a:r>
                    </a:p>
                  </a:txBody>
                  <a:tcPr marL="54864" marR="54864" marT="27432" marB="27432" anchor="ctr">
                    <a:solidFill>
                      <a:srgbClr val="1F497D"/>
                    </a:solidFill>
                  </a:tcPr>
                </a:tc>
                <a:tc>
                  <a:txBody>
                    <a:bodyPr wrap="square"/>
                    <a:lstStyle/>
                    <a:p>
                      <a:pPr algn="l"/>
                      <a:r>
                        <a:rPr sz="900" b="1" i="0">
                          <a:solidFill>
                            <a:srgbClr val="FFFFFF"/>
                          </a:solidFill>
                          <a:latin typeface="Arial"/>
                        </a:rPr>
                        <a:t>Key evidence</a:t>
                      </a:r>
                    </a:p>
                  </a:txBody>
                  <a:tcPr marL="54864" marR="54864" marT="27432" marB="27432" anchor="ctr">
                    <a:solidFill>
                      <a:srgbClr val="1F497D"/>
                    </a:solidFill>
                  </a:tcPr>
                </a:tc>
                <a:tc>
                  <a:txBody>
                    <a:bodyPr wrap="square"/>
                    <a:lstStyle/>
                    <a:p>
                      <a:pPr algn="l"/>
                      <a:r>
                        <a:rPr sz="900" b="1" i="0">
                          <a:solidFill>
                            <a:srgbClr val="FFFFFF"/>
                          </a:solidFill>
                          <a:latin typeface="Arial"/>
                        </a:rPr>
                        <a:t>Source</a:t>
                      </a:r>
                    </a:p>
                  </a:txBody>
                  <a:tcPr marL="54864" marR="54864" marT="27432" marB="27432" anchor="ctr">
                    <a:solidFill>
                      <a:srgbClr val="1F497D"/>
                    </a:solidFill>
                  </a:tcPr>
                </a:tc>
              </a:tr>
              <a:tr h="201168">
                <a:tc>
                  <a:txBody>
                    <a:bodyPr wrap="square"/>
                    <a:lstStyle/>
                    <a:p>
                      <a:pPr algn="l"/>
                      <a:r>
                        <a:rPr sz="900" b="0" i="0">
                          <a:solidFill>
                            <a:srgbClr val="404040"/>
                          </a:solidFill>
                          <a:latin typeface="Arial"/>
                        </a:rPr>
                        <a:t>1a</a:t>
                      </a:r>
                    </a:p>
                  </a:txBody>
                  <a:tcPr marL="54864" marR="54864" marT="27432" marB="27432" anchor="ctr">
                    <a:solidFill>
                      <a:srgbClr val="FFFFFF"/>
                    </a:solidFill>
                  </a:tcPr>
                </a:tc>
                <a:tc>
                  <a:txBody>
                    <a:bodyPr wrap="square"/>
                    <a:lstStyle/>
                    <a:p>
                      <a:pPr algn="l"/>
                      <a:r>
                        <a:rPr sz="900" b="0" i="0">
                          <a:solidFill>
                            <a:srgbClr val="404040"/>
                          </a:solidFill>
                          <a:latin typeface="Arial"/>
                        </a:rPr>
                        <a:t>Target the Four Priority High-Value Traveller Segments</a:t>
                      </a:r>
                    </a:p>
                  </a:txBody>
                  <a:tcPr marL="54864" marR="54864" marT="27432" marB="27432" anchor="ctr">
                    <a:solidFill>
                      <a:srgbClr val="FFFFFF"/>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Thin</a:t>
                      </a:r>
                    </a:p>
                  </a:txBody>
                  <a:tcPr marL="54864" marR="54864" marT="27432" marB="27432" anchor="ctr">
                    <a:solidFill>
                      <a:srgbClr val="FFFFFF"/>
                    </a:solidFill>
                  </a:tcPr>
                </a:tc>
                <a:tc>
                  <a:txBody>
                    <a:bodyPr wrap="square"/>
                    <a:lstStyle/>
                    <a:p>
                      <a:pPr algn="l"/>
                      <a:r>
                        <a:rPr sz="900" b="0" i="0">
                          <a:solidFill>
                            <a:srgbClr val="404040"/>
                          </a:solidFill>
                          <a:latin typeface="Arial"/>
                        </a:rPr>
                        <a:t>Segments defined qualitatively; no sizing or market mapping</a:t>
                      </a:r>
                    </a:p>
                  </a:txBody>
                  <a:tcPr marL="54864" marR="54864" marT="27432" marB="27432" anchor="ctr">
                    <a:solidFill>
                      <a:srgbClr val="FFFFFF"/>
                    </a:solidFill>
                  </a:tcPr>
                </a:tc>
                <a:tc>
                  <a:txBody>
                    <a:bodyPr wrap="square"/>
                    <a:lstStyle/>
                    <a:p>
                      <a:pPr algn="l"/>
                      <a:r>
                        <a:rPr sz="900" b="0" i="0">
                          <a:solidFill>
                            <a:srgbClr val="404040"/>
                          </a:solidFill>
                          <a:latin typeface="Arial"/>
                        </a:rPr>
                        <a:t>Diagnostic pp16-20; DSA pp6-7</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1b</a:t>
                      </a:r>
                    </a:p>
                  </a:txBody>
                  <a:tcPr marL="54864" marR="54864" marT="27432" marB="27432" anchor="ctr">
                    <a:solidFill>
                      <a:srgbClr val="F2F2F2"/>
                    </a:solidFill>
                  </a:tcPr>
                </a:tc>
                <a:tc>
                  <a:txBody>
                    <a:bodyPr wrap="square"/>
                    <a:lstStyle/>
                    <a:p>
                      <a:pPr algn="l"/>
                      <a:r>
                        <a:rPr sz="900" b="0" i="0">
                          <a:solidFill>
                            <a:srgbClr val="404040"/>
                          </a:solidFill>
                          <a:latin typeface="Arial"/>
                        </a:rPr>
                        <a:t>Extend Cape Town’s Brand Equity to the Province</a:t>
                      </a:r>
                    </a:p>
                  </a:txBody>
                  <a:tcPr marL="54864" marR="54864" marT="27432" marB="27432" anchor="ctr">
                    <a:solidFill>
                      <a:srgbClr val="F2F2F2"/>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Thin</a:t>
                      </a:r>
                    </a:p>
                  </a:txBody>
                  <a:tcPr marL="54864" marR="54864" marT="27432" marB="27432" anchor="ctr">
                    <a:solidFill>
                      <a:srgbClr val="F2F2F2"/>
                    </a:solidFill>
                  </a:tcPr>
                </a:tc>
                <a:tc>
                  <a:txBody>
                    <a:bodyPr wrap="square"/>
                    <a:lstStyle/>
                    <a:p>
                      <a:pPr algn="l"/>
                      <a:r>
                        <a:rPr sz="900" b="0" i="0">
                          <a:solidFill>
                            <a:srgbClr val="404040"/>
                          </a:solidFill>
                          <a:latin typeface="Arial"/>
                        </a:rPr>
                        <a:t>Rural assets unknown and unbookable; no brand data</a:t>
                      </a:r>
                    </a:p>
                  </a:txBody>
                  <a:tcPr marL="54864" marR="54864" marT="27432" marB="27432" anchor="ctr">
                    <a:solidFill>
                      <a:srgbClr val="F2F2F2"/>
                    </a:solidFill>
                  </a:tcPr>
                </a:tc>
                <a:tc>
                  <a:txBody>
                    <a:bodyPr wrap="square"/>
                    <a:lstStyle/>
                    <a:p>
                      <a:pPr algn="l"/>
                      <a:r>
                        <a:rPr sz="900" b="0" i="0">
                          <a:solidFill>
                            <a:srgbClr val="404040"/>
                          </a:solidFill>
                          <a:latin typeface="Arial"/>
                        </a:rPr>
                        <a:t>Infra pp31-34; Stake p26</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1c</a:t>
                      </a:r>
                    </a:p>
                  </a:txBody>
                  <a:tcPr marL="54864" marR="54864" marT="27432" marB="27432" anchor="ctr">
                    <a:solidFill>
                      <a:srgbClr val="FFFFFF"/>
                    </a:solidFill>
                  </a:tcPr>
                </a:tc>
                <a:tc>
                  <a:txBody>
                    <a:bodyPr wrap="square"/>
                    <a:lstStyle/>
                    <a:p>
                      <a:pPr algn="l"/>
                      <a:r>
                        <a:rPr sz="900" b="0" i="0">
                          <a:solidFill>
                            <a:srgbClr val="404040"/>
                          </a:solidFill>
                          <a:latin typeface="Arial"/>
                        </a:rPr>
                        <a:t>Flatten Seasonality with MICE and Regional Spread</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June 6.4% of seats vs 10.8% Dec; ICCA peak Sep-Nov</a:t>
                      </a:r>
                    </a:p>
                  </a:txBody>
                  <a:tcPr marL="54864" marR="54864" marT="27432" marB="27432" anchor="ctr">
                    <a:solidFill>
                      <a:srgbClr val="FFFFFF"/>
                    </a:solidFill>
                  </a:tcPr>
                </a:tc>
                <a:tc>
                  <a:txBody>
                    <a:bodyPr wrap="square"/>
                    <a:lstStyle/>
                    <a:p>
                      <a:pPr algn="l"/>
                      <a:r>
                        <a:rPr sz="900" b="0" i="0">
                          <a:solidFill>
                            <a:srgbClr val="404040"/>
                          </a:solidFill>
                          <a:latin typeface="Arial"/>
                        </a:rPr>
                        <a:t>MIDAS p15; DSA p37; Stake p45</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1d</a:t>
                      </a:r>
                    </a:p>
                  </a:txBody>
                  <a:tcPr marL="54864" marR="54864" marT="27432" marB="27432" anchor="ctr">
                    <a:solidFill>
                      <a:srgbClr val="F2F2F2"/>
                    </a:solidFill>
                  </a:tcPr>
                </a:tc>
                <a:tc>
                  <a:txBody>
                    <a:bodyPr wrap="square"/>
                    <a:lstStyle/>
                    <a:p>
                      <a:pPr algn="l"/>
                      <a:r>
                        <a:rPr sz="900" b="0" i="0">
                          <a:solidFill>
                            <a:srgbClr val="404040"/>
                          </a:solidFill>
                          <a:latin typeface="Arial"/>
                        </a:rPr>
                        <a:t>Embed the Destination in Market-Native Booking Platforms</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Most rural property not on OTAs; 70% CapeNature by phone</a:t>
                      </a:r>
                    </a:p>
                  </a:txBody>
                  <a:tcPr marL="54864" marR="54864" marT="27432" marB="27432" anchor="ctr">
                    <a:solidFill>
                      <a:srgbClr val="F2F2F2"/>
                    </a:solidFill>
                  </a:tcPr>
                </a:tc>
                <a:tc>
                  <a:txBody>
                    <a:bodyPr wrap="square"/>
                    <a:lstStyle/>
                    <a:p>
                      <a:pPr algn="l"/>
                      <a:r>
                        <a:rPr sz="900" b="0" i="0">
                          <a:solidFill>
                            <a:srgbClr val="404040"/>
                          </a:solidFill>
                          <a:latin typeface="Arial"/>
                        </a:rPr>
                        <a:t>Infra p33; Stake p42; DSA pp45-50</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1e</a:t>
                      </a:r>
                    </a:p>
                  </a:txBody>
                  <a:tcPr marL="54864" marR="54864" marT="27432" marB="27432" anchor="ctr">
                    <a:solidFill>
                      <a:srgbClr val="FFFFFF"/>
                    </a:solidFill>
                  </a:tcPr>
                </a:tc>
                <a:tc>
                  <a:txBody>
                    <a:bodyPr wrap="square"/>
                    <a:lstStyle/>
                    <a:p>
                      <a:pPr algn="l"/>
                      <a:r>
                        <a:rPr sz="900" b="0" i="0">
                          <a:solidFill>
                            <a:srgbClr val="404040"/>
                          </a:solidFill>
                          <a:latin typeface="Arial"/>
                        </a:rPr>
                        <a:t>Grow Priority Markets (India, China, Gulf, ASEAN)</a:t>
                      </a:r>
                    </a:p>
                  </a:txBody>
                  <a:tcPr marL="54864" marR="54864" marT="27432" marB="27432" anchor="ctr">
                    <a:solidFill>
                      <a:srgbClr val="FFFFFF"/>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~71,000 India, ~30,000 China journeys via hubs (GDS)</a:t>
                      </a:r>
                    </a:p>
                  </a:txBody>
                  <a:tcPr marL="54864" marR="54864" marT="27432" marB="27432" anchor="ctr">
                    <a:solidFill>
                      <a:srgbClr val="FFFFFF"/>
                    </a:solidFill>
                  </a:tcPr>
                </a:tc>
                <a:tc>
                  <a:txBody>
                    <a:bodyPr wrap="square"/>
                    <a:lstStyle/>
                    <a:p>
                      <a:pPr algn="l"/>
                      <a:r>
                        <a:rPr sz="900" b="0" i="0">
                          <a:solidFill>
                            <a:srgbClr val="404040"/>
                          </a:solidFill>
                          <a:latin typeface="Arial"/>
                        </a:rPr>
                        <a:t>MIDAS pp3, 18-19; DSA pp45-50</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1f</a:t>
                      </a:r>
                    </a:p>
                  </a:txBody>
                  <a:tcPr marL="54864" marR="54864" marT="27432" marB="27432" anchor="ctr">
                    <a:solidFill>
                      <a:srgbClr val="F2F2F2"/>
                    </a:solidFill>
                  </a:tcPr>
                </a:tc>
                <a:tc>
                  <a:txBody>
                    <a:bodyPr wrap="square"/>
                    <a:lstStyle/>
                    <a:p>
                      <a:pPr algn="l"/>
                      <a:r>
                        <a:rPr sz="900" b="0" i="0">
                          <a:solidFill>
                            <a:srgbClr val="404040"/>
                          </a:solidFill>
                          <a:latin typeface="Arial"/>
                        </a:rPr>
                        <a:t>Increase Yield in Mature Markets (UK, Europe, N. America)</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Newark, Atlanta, LHR, FRA at 83-89% est. load</a:t>
                      </a:r>
                    </a:p>
                  </a:txBody>
                  <a:tcPr marL="54864" marR="54864" marT="27432" marB="27432" anchor="ctr">
                    <a:solidFill>
                      <a:srgbClr val="F2F2F2"/>
                    </a:solidFill>
                  </a:tcPr>
                </a:tc>
                <a:tc>
                  <a:txBody>
                    <a:bodyPr wrap="square"/>
                    <a:lstStyle/>
                    <a:p>
                      <a:pPr algn="l"/>
                      <a:r>
                        <a:rPr sz="900" b="0" i="0">
                          <a:solidFill>
                            <a:srgbClr val="404040"/>
                          </a:solidFill>
                          <a:latin typeface="Arial"/>
                        </a:rPr>
                        <a:t>MIDAS pp9, 17</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1g</a:t>
                      </a:r>
                    </a:p>
                  </a:txBody>
                  <a:tcPr marL="54864" marR="54864" marT="27432" marB="27432" anchor="ctr">
                    <a:solidFill>
                      <a:srgbClr val="FFFFFF"/>
                    </a:solidFill>
                  </a:tcPr>
                </a:tc>
                <a:tc>
                  <a:txBody>
                    <a:bodyPr wrap="square"/>
                    <a:lstStyle/>
                    <a:p>
                      <a:pPr algn="l"/>
                      <a:r>
                        <a:rPr sz="900" b="0" i="0">
                          <a:solidFill>
                            <a:srgbClr val="404040"/>
                          </a:solidFill>
                          <a:latin typeface="Arial"/>
                        </a:rPr>
                        <a:t>Grow Regional Top-Up and Counter-Seasonal Demand (Africa)</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FFFFF"/>
                    </a:solidFill>
                  </a:tcPr>
                </a:tc>
                <a:tc>
                  <a:txBody>
                    <a:bodyPr wrap="square"/>
                    <a:lstStyle/>
                    <a:p>
                      <a:pPr algn="l"/>
                      <a:r>
                        <a:rPr sz="900" b="0" i="0">
                          <a:solidFill>
                            <a:srgbClr val="404040"/>
                          </a:solidFill>
                          <a:latin typeface="Arial"/>
                        </a:rPr>
                        <a:t>Five African routes above 81% est. load</a:t>
                      </a:r>
                    </a:p>
                  </a:txBody>
                  <a:tcPr marL="54864" marR="54864" marT="27432" marB="27432" anchor="ctr">
                    <a:solidFill>
                      <a:srgbClr val="FFFFFF"/>
                    </a:solidFill>
                  </a:tcPr>
                </a:tc>
                <a:tc>
                  <a:txBody>
                    <a:bodyPr wrap="square"/>
                    <a:lstStyle/>
                    <a:p>
                      <a:pPr algn="l"/>
                      <a:r>
                        <a:rPr sz="900" b="0" i="0">
                          <a:solidFill>
                            <a:srgbClr val="404040"/>
                          </a:solidFill>
                          <a:latin typeface="Arial"/>
                        </a:rPr>
                        <a:t>MIDAS p17; DSA pp27-30</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2a</a:t>
                      </a:r>
                    </a:p>
                  </a:txBody>
                  <a:tcPr marL="54864" marR="54864" marT="27432" marB="27432" anchor="ctr">
                    <a:solidFill>
                      <a:srgbClr val="F2F2F2"/>
                    </a:solidFill>
                  </a:tcPr>
                </a:tc>
                <a:tc>
                  <a:txBody>
                    <a:bodyPr wrap="square"/>
                    <a:lstStyle/>
                    <a:p>
                      <a:pPr algn="l"/>
                      <a:r>
                        <a:rPr sz="900" b="0" i="0">
                          <a:solidFill>
                            <a:srgbClr val="404040"/>
                          </a:solidFill>
                          <a:latin typeface="Arial"/>
                        </a:rPr>
                        <a:t>Close the Air Access and Cruise Capacity Gaps</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17 routes won; 79 cruise calls; fares before seats</a:t>
                      </a:r>
                    </a:p>
                  </a:txBody>
                  <a:tcPr marL="54864" marR="54864" marT="27432" marB="27432" anchor="ctr">
                    <a:solidFill>
                      <a:srgbClr val="F2F2F2"/>
                    </a:solidFill>
                  </a:tcPr>
                </a:tc>
                <a:tc>
                  <a:txBody>
                    <a:bodyPr wrap="square"/>
                    <a:lstStyle/>
                    <a:p>
                      <a:pPr algn="l"/>
                      <a:r>
                        <a:rPr sz="900" b="0" i="0">
                          <a:solidFill>
                            <a:srgbClr val="404040"/>
                          </a:solidFill>
                          <a:latin typeface="Arial"/>
                        </a:rPr>
                        <a:t>MIDAS pp13, 22; Stake p24</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2b</a:t>
                      </a:r>
                    </a:p>
                  </a:txBody>
                  <a:tcPr marL="54864" marR="54864" marT="27432" marB="27432" anchor="ctr">
                    <a:solidFill>
                      <a:srgbClr val="FFFFFF"/>
                    </a:solidFill>
                  </a:tcPr>
                </a:tc>
                <a:tc>
                  <a:txBody>
                    <a:bodyPr wrap="square"/>
                    <a:lstStyle/>
                    <a:p>
                      <a:pPr algn="l"/>
                      <a:r>
                        <a:rPr sz="900" b="0" i="0">
                          <a:solidFill>
                            <a:srgbClr val="404040"/>
                          </a:solidFill>
                          <a:latin typeface="Arial"/>
                        </a:rPr>
                        <a:t>Accelerate Tourism-Enabling Internal Mobility</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Access 4.7 Metro to 1.0 Karoo; 1.6% public transport</a:t>
                      </a:r>
                    </a:p>
                  </a:txBody>
                  <a:tcPr marL="54864" marR="54864" marT="27432" marB="27432" anchor="ctr">
                    <a:solidFill>
                      <a:srgbClr val="FFFFFF"/>
                    </a:solidFill>
                  </a:tcPr>
                </a:tc>
                <a:tc>
                  <a:txBody>
                    <a:bodyPr wrap="square"/>
                    <a:lstStyle/>
                    <a:p>
                      <a:pPr algn="l"/>
                      <a:r>
                        <a:rPr sz="900" b="0" i="0">
                          <a:solidFill>
                            <a:srgbClr val="404040"/>
                          </a:solidFill>
                          <a:latin typeface="Arial"/>
                        </a:rPr>
                        <a:t>Infra p29; PLTF via factbase</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2c</a:t>
                      </a:r>
                    </a:p>
                  </a:txBody>
                  <a:tcPr marL="54864" marR="54864" marT="27432" marB="27432" anchor="ctr">
                    <a:solidFill>
                      <a:srgbClr val="F2F2F2"/>
                    </a:solidFill>
                  </a:tcPr>
                </a:tc>
                <a:tc>
                  <a:txBody>
                    <a:bodyPr wrap="square"/>
                    <a:lstStyle/>
                    <a:p>
                      <a:pPr algn="l"/>
                      <a:r>
                        <a:rPr sz="900" b="0" i="0">
                          <a:solidFill>
                            <a:srgbClr val="404040"/>
                          </a:solidFill>
                          <a:latin typeface="Arial"/>
                        </a:rPr>
                        <a:t>Lead Removal of Infrastructure, Visa and Safety Deficits</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Safety gaps in 9 of 20 communities; eVisa 440 of 13,887</a:t>
                      </a:r>
                    </a:p>
                  </a:txBody>
                  <a:tcPr marL="54864" marR="54864" marT="27432" marB="27432" anchor="ctr">
                    <a:solidFill>
                      <a:srgbClr val="F2F2F2"/>
                    </a:solidFill>
                  </a:tcPr>
                </a:tc>
                <a:tc>
                  <a:txBody>
                    <a:bodyPr wrap="square"/>
                    <a:lstStyle/>
                    <a:p>
                      <a:pPr algn="l"/>
                      <a:r>
                        <a:rPr sz="900" b="0" i="0">
                          <a:solidFill>
                            <a:srgbClr val="404040"/>
                          </a:solidFill>
                          <a:latin typeface="Arial"/>
                        </a:rPr>
                        <a:t>SME p27; BDO via factbase</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2d</a:t>
                      </a:r>
                    </a:p>
                  </a:txBody>
                  <a:tcPr marL="54864" marR="54864" marT="27432" marB="27432" anchor="ctr">
                    <a:solidFill>
                      <a:srgbClr val="FFFFFF"/>
                    </a:solidFill>
                  </a:tcPr>
                </a:tc>
                <a:tc>
                  <a:txBody>
                    <a:bodyPr wrap="square"/>
                    <a:lstStyle/>
                    <a:p>
                      <a:pPr algn="l"/>
                      <a:r>
                        <a:rPr sz="900" b="0" i="0">
                          <a:solidFill>
                            <a:srgbClr val="404040"/>
                          </a:solidFill>
                          <a:latin typeface="Arial"/>
                        </a:rPr>
                        <a:t>Support Diversified Route and Product Development</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Marine and wildflower assets have no bookable product</a:t>
                      </a:r>
                    </a:p>
                  </a:txBody>
                  <a:tcPr marL="54864" marR="54864" marT="27432" marB="27432" anchor="ctr">
                    <a:solidFill>
                      <a:srgbClr val="FFFFFF"/>
                    </a:solidFill>
                  </a:tcPr>
                </a:tc>
                <a:tc>
                  <a:txBody>
                    <a:bodyPr wrap="square"/>
                    <a:lstStyle/>
                    <a:p>
                      <a:pPr algn="l"/>
                      <a:r>
                        <a:rPr sz="900" b="0" i="0">
                          <a:solidFill>
                            <a:srgbClr val="404040"/>
                          </a:solidFill>
                          <a:latin typeface="Arial"/>
                        </a:rPr>
                        <a:t>Infra pp31-34</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2e</a:t>
                      </a:r>
                    </a:p>
                  </a:txBody>
                  <a:tcPr marL="54864" marR="54864" marT="27432" marB="27432" anchor="ctr">
                    <a:solidFill>
                      <a:srgbClr val="F2F2F2"/>
                    </a:solidFill>
                  </a:tcPr>
                </a:tc>
                <a:tc>
                  <a:txBody>
                    <a:bodyPr wrap="square"/>
                    <a:lstStyle/>
                    <a:p>
                      <a:pPr algn="l"/>
                      <a:r>
                        <a:rPr sz="900" b="0" i="0">
                          <a:solidFill>
                            <a:srgbClr val="404040"/>
                          </a:solidFill>
                          <a:latin typeface="Arial"/>
                        </a:rPr>
                        <a:t>Align Visitor Experience In-Destination</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2F2F2"/>
                    </a:solidFill>
                  </a:tcPr>
                </a:tc>
                <a:tc>
                  <a:txBody>
                    <a:bodyPr wrap="square"/>
                    <a:lstStyle/>
                    <a:p>
                      <a:pPr algn="l"/>
                      <a:r>
                        <a:rPr sz="900" b="0" i="0">
                          <a:solidFill>
                            <a:srgbClr val="404040"/>
                          </a:solidFill>
                          <a:latin typeface="Arial"/>
                        </a:rPr>
                        <a:t>No mid-scale branded beds; 3-hour Cableway queues</a:t>
                      </a:r>
                    </a:p>
                  </a:txBody>
                  <a:tcPr marL="54864" marR="54864" marT="27432" marB="27432" anchor="ctr">
                    <a:solidFill>
                      <a:srgbClr val="F2F2F2"/>
                    </a:solidFill>
                  </a:tcPr>
                </a:tc>
                <a:tc>
                  <a:txBody>
                    <a:bodyPr wrap="square"/>
                    <a:lstStyle/>
                    <a:p>
                      <a:pPr algn="l"/>
                      <a:r>
                        <a:rPr sz="900" b="0" i="0">
                          <a:solidFill>
                            <a:srgbClr val="404040"/>
                          </a:solidFill>
                          <a:latin typeface="Arial"/>
                        </a:rPr>
                        <a:t>Infra p32; Stake p36</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2f</a:t>
                      </a:r>
                    </a:p>
                  </a:txBody>
                  <a:tcPr marL="54864" marR="54864" marT="27432" marB="27432" anchor="ctr">
                    <a:solidFill>
                      <a:srgbClr val="FFFFFF"/>
                    </a:solidFill>
                  </a:tcPr>
                </a:tc>
                <a:tc>
                  <a:txBody>
                    <a:bodyPr wrap="square"/>
                    <a:lstStyle/>
                    <a:p>
                      <a:pPr algn="l"/>
                      <a:r>
                        <a:rPr sz="900" b="0" i="0">
                          <a:solidFill>
                            <a:srgbClr val="404040"/>
                          </a:solidFill>
                          <a:latin typeface="Arial"/>
                        </a:rPr>
                        <a:t>Sustainably Maximise Nature-Based and Cultural Attractions</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FFFFF"/>
                    </a:solidFill>
                  </a:tcPr>
                </a:tc>
                <a:tc>
                  <a:txBody>
                    <a:bodyPr wrap="square"/>
                    <a:lstStyle/>
                    <a:p>
                      <a:pPr algn="l"/>
                      <a:r>
                        <a:rPr sz="900" b="0" i="0">
                          <a:solidFill>
                            <a:srgbClr val="404040"/>
                          </a:solidFill>
                          <a:latin typeface="Arial"/>
                        </a:rPr>
                        <a:t>Boulders and summit at capacity; reserves under-used</a:t>
                      </a:r>
                    </a:p>
                  </a:txBody>
                  <a:tcPr marL="54864" marR="54864" marT="27432" marB="27432" anchor="ctr">
                    <a:solidFill>
                      <a:srgbClr val="FFFFFF"/>
                    </a:solidFill>
                  </a:tcPr>
                </a:tc>
                <a:tc>
                  <a:txBody>
                    <a:bodyPr wrap="square"/>
                    <a:lstStyle/>
                    <a:p>
                      <a:pPr algn="l"/>
                      <a:r>
                        <a:rPr sz="900" b="0" i="0">
                          <a:solidFill>
                            <a:srgbClr val="404040"/>
                          </a:solidFill>
                          <a:latin typeface="Arial"/>
                        </a:rPr>
                        <a:t>Stake pp24, 36; Infra p27</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3a</a:t>
                      </a:r>
                    </a:p>
                  </a:txBody>
                  <a:tcPr marL="54864" marR="54864" marT="27432" marB="27432" anchor="ctr">
                    <a:solidFill>
                      <a:srgbClr val="F2F2F2"/>
                    </a:solidFill>
                  </a:tcPr>
                </a:tc>
                <a:tc>
                  <a:txBody>
                    <a:bodyPr wrap="square"/>
                    <a:lstStyle/>
                    <a:p>
                      <a:pPr algn="l"/>
                      <a:r>
                        <a:rPr sz="900" b="0" i="0">
                          <a:solidFill>
                            <a:srgbClr val="404040"/>
                          </a:solidFill>
                          <a:latin typeface="Arial"/>
                        </a:rPr>
                        <a:t>Include MSMEs and Communities in Tourism Value Chains</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18.4% of residents, 0.02-0.04% of spend; organisation binds</a:t>
                      </a:r>
                    </a:p>
                  </a:txBody>
                  <a:tcPr marL="54864" marR="54864" marT="27432" marB="27432" anchor="ctr">
                    <a:solidFill>
                      <a:srgbClr val="F2F2F2"/>
                    </a:solidFill>
                  </a:tcPr>
                </a:tc>
                <a:tc>
                  <a:txBody>
                    <a:bodyPr wrap="square"/>
                    <a:lstStyle/>
                    <a:p>
                      <a:pPr algn="l"/>
                      <a:r>
                        <a:rPr sz="900" b="0" i="0">
                          <a:solidFill>
                            <a:srgbClr val="404040"/>
                          </a:solidFill>
                          <a:latin typeface="Arial"/>
                        </a:rPr>
                        <a:t>SME pp5, 27</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3b</a:t>
                      </a:r>
                    </a:p>
                  </a:txBody>
                  <a:tcPr marL="54864" marR="54864" marT="27432" marB="27432" anchor="ctr">
                    <a:solidFill>
                      <a:srgbClr val="FFFFFF"/>
                    </a:solidFill>
                  </a:tcPr>
                </a:tc>
                <a:tc>
                  <a:txBody>
                    <a:bodyPr wrap="square"/>
                    <a:lstStyle/>
                    <a:p>
                      <a:pPr algn="l"/>
                      <a:r>
                        <a:rPr sz="900" b="0" i="0">
                          <a:solidFill>
                            <a:srgbClr val="404040"/>
                          </a:solidFill>
                          <a:latin typeface="Arial"/>
                        </a:rPr>
                        <a:t>Develop the Tourism Workforce and Service Skills</a:t>
                      </a:r>
                    </a:p>
                  </a:txBody>
                  <a:tcPr marL="54864" marR="54864" marT="27432" marB="27432" anchor="ctr">
                    <a:solidFill>
                      <a:srgbClr val="FFFFFF"/>
                    </a:solidFill>
                  </a:tcPr>
                </a:tc>
                <a:tc>
                  <a:txBody>
                    <a:bodyPr wrap="square"/>
                    <a:lstStyle/>
                    <a:p>
                      <a:pPr algn="l"/>
                      <a:r>
                        <a:rPr sz="900" b="0" i="0">
                          <a:solidFill>
                            <a:srgbClr val="404040"/>
                          </a:solidFill>
                          <a:latin typeface="Arial"/>
                        </a:rPr>
                        <a:t>Not yet tested</a:t>
                      </a:r>
                    </a:p>
                  </a:txBody>
                  <a:tcPr marL="54864" marR="54864" marT="27432" marB="27432" anchor="ctr">
                    <a:solidFill>
                      <a:srgbClr val="F2F2F2"/>
                    </a:solidFill>
                  </a:tcPr>
                </a:tc>
                <a:tc>
                  <a:txBody>
                    <a:bodyPr wrap="square"/>
                    <a:lstStyle/>
                    <a:p>
                      <a:pPr algn="l"/>
                      <a:r>
                        <a:rPr sz="900" b="0" i="0">
                          <a:solidFill>
                            <a:srgbClr val="404040"/>
                          </a:solidFill>
                          <a:latin typeface="Arial"/>
                        </a:rPr>
                        <a:t>Thin</a:t>
                      </a:r>
                    </a:p>
                  </a:txBody>
                  <a:tcPr marL="54864" marR="54864" marT="27432" marB="27432" anchor="ctr">
                    <a:solidFill>
                      <a:srgbClr val="FFFFFF"/>
                    </a:solidFill>
                  </a:tcPr>
                </a:tc>
                <a:tc>
                  <a:txBody>
                    <a:bodyPr wrap="square"/>
                    <a:lstStyle/>
                    <a:p>
                      <a:pPr algn="l"/>
                      <a:r>
                        <a:rPr sz="900" b="0" i="0">
                          <a:solidFill>
                            <a:srgbClr val="404040"/>
                          </a:solidFill>
                          <a:latin typeface="Arial"/>
                        </a:rPr>
                        <a:t>Skills gaps anecdotal; no labour analysis</a:t>
                      </a:r>
                    </a:p>
                  </a:txBody>
                  <a:tcPr marL="54864" marR="54864" marT="27432" marB="27432" anchor="ctr">
                    <a:solidFill>
                      <a:srgbClr val="FFFFFF"/>
                    </a:solidFill>
                  </a:tcPr>
                </a:tc>
                <a:tc>
                  <a:txBody>
                    <a:bodyPr wrap="square"/>
                    <a:lstStyle/>
                    <a:p>
                      <a:pPr algn="l"/>
                      <a:r>
                        <a:rPr sz="900" b="0" i="0">
                          <a:solidFill>
                            <a:srgbClr val="404040"/>
                          </a:solidFill>
                          <a:latin typeface="Arial"/>
                        </a:rPr>
                        <a:t>Stake pp27, 43-44</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3c</a:t>
                      </a:r>
                    </a:p>
                  </a:txBody>
                  <a:tcPr marL="54864" marR="54864" marT="27432" marB="27432" anchor="ctr">
                    <a:solidFill>
                      <a:srgbClr val="F2F2F2"/>
                    </a:solidFill>
                  </a:tcPr>
                </a:tc>
                <a:tc>
                  <a:txBody>
                    <a:bodyPr wrap="square"/>
                    <a:lstStyle/>
                    <a:p>
                      <a:pPr algn="l"/>
                      <a:r>
                        <a:rPr sz="900" b="0" i="0">
                          <a:solidFill>
                            <a:srgbClr val="404040"/>
                          </a:solidFill>
                          <a:latin typeface="Arial"/>
                        </a:rPr>
                        <a:t>Ensure Sustainable and Resilient Destination Management</a:t>
                      </a:r>
                    </a:p>
                  </a:txBody>
                  <a:tcPr marL="54864" marR="54864" marT="27432" marB="27432" anchor="ctr">
                    <a:solidFill>
                      <a:srgbClr val="F2F2F2"/>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Thin</a:t>
                      </a:r>
                    </a:p>
                  </a:txBody>
                  <a:tcPr marL="54864" marR="54864" marT="27432" marB="27432" anchor="ctr">
                    <a:solidFill>
                      <a:srgbClr val="F2F2F2"/>
                    </a:solidFill>
                  </a:tcPr>
                </a:tc>
                <a:tc>
                  <a:txBody>
                    <a:bodyPr wrap="square"/>
                    <a:lstStyle/>
                    <a:p>
                      <a:pPr algn="l"/>
                      <a:r>
                        <a:rPr sz="900" b="0" i="0">
                          <a:solidFill>
                            <a:srgbClr val="404040"/>
                          </a:solidFill>
                          <a:latin typeface="Arial"/>
                        </a:rPr>
                        <a:t>Meiringspoort flood: R421m, ~26 months to rebuild</a:t>
                      </a:r>
                    </a:p>
                  </a:txBody>
                  <a:tcPr marL="54864" marR="54864" marT="27432" marB="27432" anchor="ctr">
                    <a:solidFill>
                      <a:srgbClr val="F2F2F2"/>
                    </a:solidFill>
                  </a:tcPr>
                </a:tc>
                <a:tc>
                  <a:txBody>
                    <a:bodyPr wrap="square"/>
                    <a:lstStyle/>
                    <a:p>
                      <a:pPr algn="l"/>
                      <a:r>
                        <a:rPr sz="900" b="0" i="0">
                          <a:solidFill>
                            <a:srgbClr val="404040"/>
                          </a:solidFill>
                          <a:latin typeface="Arial"/>
                        </a:rPr>
                        <a:t>SME (De Rust); Stake p12</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3d</a:t>
                      </a:r>
                    </a:p>
                  </a:txBody>
                  <a:tcPr marL="54864" marR="54864" marT="27432" marB="27432" anchor="ctr">
                    <a:solidFill>
                      <a:srgbClr val="FFFFFF"/>
                    </a:solidFill>
                  </a:tcPr>
                </a:tc>
                <a:tc>
                  <a:txBody>
                    <a:bodyPr wrap="square"/>
                    <a:lstStyle/>
                    <a:p>
                      <a:pPr algn="l"/>
                      <a:r>
                        <a:rPr sz="900" b="0" i="0">
                          <a:solidFill>
                            <a:srgbClr val="404040"/>
                          </a:solidFill>
                          <a:latin typeface="Arial"/>
                        </a:rPr>
                        <a:t>Review Institutional Arrangements (local, provincial and national)</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Air rights, visas, ports national; funding below peers</a:t>
                      </a:r>
                    </a:p>
                  </a:txBody>
                  <a:tcPr marL="54864" marR="54864" marT="27432" marB="27432" anchor="ctr">
                    <a:solidFill>
                      <a:srgbClr val="FFFFFF"/>
                    </a:solidFill>
                  </a:tcPr>
                </a:tc>
                <a:tc>
                  <a:txBody>
                    <a:bodyPr wrap="square"/>
                    <a:lstStyle/>
                    <a:p>
                      <a:pPr algn="l"/>
                      <a:r>
                        <a:rPr sz="900" b="0" i="0">
                          <a:solidFill>
                            <a:srgbClr val="404040"/>
                          </a:solidFill>
                          <a:latin typeface="Arial"/>
                        </a:rPr>
                        <a:t>Stake pp13, 25; factbase</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3e</a:t>
                      </a:r>
                    </a:p>
                  </a:txBody>
                  <a:tcPr marL="54864" marR="54864" marT="27432" marB="27432" anchor="ctr">
                    <a:solidFill>
                      <a:srgbClr val="F2F2F2"/>
                    </a:solidFill>
                  </a:tcPr>
                </a:tc>
                <a:tc>
                  <a:txBody>
                    <a:bodyPr wrap="square"/>
                    <a:lstStyle/>
                    <a:p>
                      <a:pPr algn="l"/>
                      <a:r>
                        <a:rPr sz="900" b="0" i="0">
                          <a:solidFill>
                            <a:srgbClr val="404040"/>
                          </a:solidFill>
                          <a:latin typeface="Arial"/>
                        </a:rPr>
                        <a:t>Strengthen Industry and Government Collaboration</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Raised by 15 of 16 organisations (Letsema tally)</a:t>
                      </a:r>
                    </a:p>
                  </a:txBody>
                  <a:tcPr marL="54864" marR="54864" marT="27432" marB="27432" anchor="ctr">
                    <a:solidFill>
                      <a:srgbClr val="F2F2F2"/>
                    </a:solidFill>
                  </a:tcPr>
                </a:tc>
                <a:tc>
                  <a:txBody>
                    <a:bodyPr wrap="square"/>
                    <a:lstStyle/>
                    <a:p>
                      <a:pPr algn="l"/>
                      <a:r>
                        <a:rPr sz="900" b="0" i="0">
                          <a:solidFill>
                            <a:srgbClr val="404040"/>
                          </a:solidFill>
                          <a:latin typeface="Arial"/>
                        </a:rPr>
                        <a:t>Stake pp20-46; MIDAS p13</a:t>
                      </a:r>
                    </a:p>
                  </a:txBody>
                  <a:tcPr marL="54864" marR="54864" marT="27432" marB="27432" anchor="ctr">
                    <a:solidFill>
                      <a:srgbClr val="F2F2F2"/>
                    </a:solidFill>
                  </a:tcPr>
                </a:tc>
              </a:tr>
              <a:tr h="201168">
                <a:tc>
                  <a:txBody>
                    <a:bodyPr wrap="square"/>
                    <a:lstStyle/>
                    <a:p>
                      <a:pPr algn="l"/>
                      <a:r>
                        <a:rPr sz="900" b="0" i="0">
                          <a:solidFill>
                            <a:srgbClr val="404040"/>
                          </a:solidFill>
                          <a:latin typeface="Arial"/>
                        </a:rPr>
                        <a:t>3f</a:t>
                      </a:r>
                    </a:p>
                  </a:txBody>
                  <a:tcPr marL="54864" marR="54864" marT="27432" marB="27432" anchor="ctr">
                    <a:solidFill>
                      <a:srgbClr val="FFFFFF"/>
                    </a:solidFill>
                  </a:tcPr>
                </a:tc>
                <a:tc>
                  <a:txBody>
                    <a:bodyPr wrap="square"/>
                    <a:lstStyle/>
                    <a:p>
                      <a:pPr algn="l"/>
                      <a:r>
                        <a:rPr sz="900" b="0" i="0">
                          <a:solidFill>
                            <a:srgbClr val="404040"/>
                          </a:solidFill>
                          <a:latin typeface="Arial"/>
                        </a:rPr>
                        <a:t>Expedite Enabling Policy and Build the Data Layer</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No approved tourism GDP or jobs method</a:t>
                      </a:r>
                    </a:p>
                  </a:txBody>
                  <a:tcPr marL="54864" marR="54864" marT="27432" marB="27432" anchor="ctr">
                    <a:solidFill>
                      <a:srgbClr val="FFFFFF"/>
                    </a:solidFill>
                  </a:tcPr>
                </a:tc>
                <a:tc>
                  <a:txBody>
                    <a:bodyPr wrap="square"/>
                    <a:lstStyle/>
                    <a:p>
                      <a:pPr algn="l"/>
                      <a:r>
                        <a:rPr sz="900" b="0" i="0">
                          <a:solidFill>
                            <a:srgbClr val="404040"/>
                          </a:solidFill>
                          <a:latin typeface="Arial"/>
                        </a:rPr>
                        <a:t>Stake p37; factbases</a:t>
                      </a:r>
                    </a:p>
                  </a:txBody>
                  <a:tcPr marL="54864" marR="54864" marT="27432" marB="27432" anchor="ctr">
                    <a:solidFill>
                      <a:srgbClr val="FFFFFF"/>
                    </a:solidFill>
                  </a:tcPr>
                </a:tc>
              </a:tr>
              <a:tr h="201168">
                <a:tc>
                  <a:txBody>
                    <a:bodyPr wrap="square"/>
                    <a:lstStyle/>
                    <a:p>
                      <a:pPr algn="l"/>
                      <a:r>
                        <a:rPr sz="900" b="0" i="0">
                          <a:solidFill>
                            <a:srgbClr val="404040"/>
                          </a:solidFill>
                          <a:latin typeface="Arial"/>
                        </a:rPr>
                        <a:t>3g</a:t>
                      </a:r>
                    </a:p>
                  </a:txBody>
                  <a:tcPr marL="54864" marR="54864" marT="27432" marB="27432" anchor="ctr">
                    <a:solidFill>
                      <a:srgbClr val="F2F2F2"/>
                    </a:solidFill>
                  </a:tcPr>
                </a:tc>
                <a:tc>
                  <a:txBody>
                    <a:bodyPr wrap="square"/>
                    <a:lstStyle/>
                    <a:p>
                      <a:pPr algn="l"/>
                      <a:r>
                        <a:rPr sz="900" b="0" i="0">
                          <a:solidFill>
                            <a:srgbClr val="404040"/>
                          </a:solidFill>
                          <a:latin typeface="Arial"/>
                        </a:rPr>
                        <a:t>Crowd-In Capital with Targeted Investment Strategies</a:t>
                      </a:r>
                    </a:p>
                  </a:txBody>
                  <a:tcPr marL="54864" marR="54864" marT="27432" marB="27432" anchor="ctr">
                    <a:solidFill>
                      <a:srgbClr val="F2F2F2"/>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Moderate</a:t>
                      </a:r>
                    </a:p>
                  </a:txBody>
                  <a:tcPr marL="54864" marR="54864" marT="27432" marB="27432" anchor="ctr">
                    <a:solidFill>
                      <a:srgbClr val="F2F2F2"/>
                    </a:solidFill>
                  </a:tcPr>
                </a:tc>
                <a:tc>
                  <a:txBody>
                    <a:bodyPr wrap="square"/>
                    <a:lstStyle/>
                    <a:p>
                      <a:pPr algn="l"/>
                      <a:r>
                        <a:rPr sz="900" b="0" i="0">
                          <a:solidFill>
                            <a:srgbClr val="404040"/>
                          </a:solidFill>
                          <a:latin typeface="Arial"/>
                        </a:rPr>
                        <a:t>Kliptown ~R497m, ~4,000 visitors; no costed pipeline</a:t>
                      </a:r>
                    </a:p>
                  </a:txBody>
                  <a:tcPr marL="54864" marR="54864" marT="27432" marB="27432" anchor="ctr">
                    <a:solidFill>
                      <a:srgbClr val="F2F2F2"/>
                    </a:solidFill>
                  </a:tcPr>
                </a:tc>
                <a:tc>
                  <a:txBody>
                    <a:bodyPr wrap="square"/>
                    <a:lstStyle/>
                    <a:p>
                      <a:pPr algn="l"/>
                      <a:r>
                        <a:rPr sz="900" b="0" i="0">
                          <a:solidFill>
                            <a:srgbClr val="404040"/>
                          </a:solidFill>
                          <a:latin typeface="Arial"/>
                        </a:rPr>
                        <a:t>SME pp23-24; Infra</a:t>
                      </a:r>
                    </a:p>
                  </a:txBody>
                  <a:tcPr marL="54864" marR="54864" marT="27432" marB="27432" anchor="ctr">
                    <a:solidFill>
                      <a:srgbClr val="F2F2F2"/>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Reconcile these figures before anything goes to the Board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APPENDIX | A2 DATA ISSUES AND BASELINES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review of inputs; baselines from RFP s2, Diagnostic p25, Demand-Side, City TDF 2024 and PERO 2025 via municipal factbase, CTAA update, Wesgro plan, Tourism Blueprint 2030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32588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DATA ISSUES TO RESOLVE</a:t>
            </a:r>
          </a:p>
        </p:txBody>
      </p:sp>
      <p:sp>
        <p:nvSpPr>
          <p:cNvPr id="9" name="TextBox 8"/>
          <p:cNvSpPr txBox="1"/>
          <p:nvPr/>
        </p:nvSpPr>
        <p:spPr>
          <a:xfrm>
            <a:off x="457200" y="1645920"/>
            <a:ext cx="6338392" cy="4297680"/>
          </a:xfrm>
          <a:prstGeom prst="rect">
            <a:avLst/>
          </a:prstGeom>
          <a:noFill/>
        </p:spPr>
        <p:txBody>
          <a:bodyPr wrap="square" anchor="t" lIns="0" rIns="0" tIns="0" bIns="0">
            <a:spAutoFit/>
          </a:bodyPr>
          <a:lstStyle/>
          <a:p>
            <a:pPr algn="l" marL="146304" indent="-146304">
              <a:spcAft>
                <a:spcPts val="900"/>
              </a:spcAft>
              <a:buClr>
                <a:srgbClr val="00AEEF"/>
              </a:buClr>
              <a:buFont typeface="Arial"/>
              <a:buChar char="•"/>
            </a:pPr>
            <a:r>
              <a:rPr sz="1050" b="1" i="0">
                <a:solidFill>
                  <a:srgbClr val="1F497D"/>
                </a:solidFill>
                <a:latin typeface="Arial"/>
              </a:rPr>
              <a:t>Kenya yield: </a:t>
            </a:r>
            <a:r>
              <a:rPr sz="1050" b="0" i="0">
                <a:solidFill>
                  <a:srgbClr val="404040"/>
                </a:solidFill>
                <a:latin typeface="Arial"/>
              </a:rPr>
              <a:t>US$1,650 on 2.1m (Benchmark p27) against ~US$1,460 on 2.4m (Demand-Side p15).</a:t>
            </a:r>
          </a:p>
          <a:p>
            <a:pPr algn="l" marL="146304" indent="-146304">
              <a:spcAft>
                <a:spcPts val="900"/>
              </a:spcAft>
              <a:buClr>
                <a:srgbClr val="00AEEF"/>
              </a:buClr>
              <a:buFont typeface="Arial"/>
              <a:buChar char="•"/>
            </a:pPr>
            <a:r>
              <a:rPr sz="1050" b="1" i="0">
                <a:solidFill>
                  <a:srgbClr val="1F497D"/>
                </a:solidFill>
                <a:latin typeface="Arial"/>
              </a:rPr>
              <a:t>Overberg seasonality: </a:t>
            </a:r>
            <a:r>
              <a:rPr sz="1050" b="0" i="0">
                <a:solidFill>
                  <a:srgbClr val="404040"/>
                </a:solidFill>
                <a:latin typeface="Arial"/>
              </a:rPr>
              <a:t>winter peak (Infrastructure p28) against a May to July shoulder (Stakeholder p26).</a:t>
            </a:r>
          </a:p>
          <a:p>
            <a:pPr algn="l" marL="146304" indent="-146304">
              <a:spcAft>
                <a:spcPts val="900"/>
              </a:spcAft>
              <a:buClr>
                <a:srgbClr val="00AEEF"/>
              </a:buClr>
              <a:buFont typeface="Arial"/>
              <a:buChar char="•"/>
            </a:pPr>
            <a:r>
              <a:rPr sz="1050" b="1" i="0">
                <a:solidFill>
                  <a:srgbClr val="1F497D"/>
                </a:solidFill>
                <a:latin typeface="Arial"/>
              </a:rPr>
              <a:t>India and China units: </a:t>
            </a:r>
            <a:r>
              <a:rPr sz="1050" b="0" i="0">
                <a:solidFill>
                  <a:srgbClr val="404040"/>
                </a:solidFill>
                <a:latin typeface="Arial"/>
              </a:rPr>
              <a:t>MIDAS mixes passengers, bookings and travellers (pp3, 18-19).</a:t>
            </a:r>
          </a:p>
          <a:p>
            <a:pPr algn="l" marL="146304" indent="-146304">
              <a:spcAft>
                <a:spcPts val="900"/>
              </a:spcAft>
              <a:buClr>
                <a:srgbClr val="00AEEF"/>
              </a:buClr>
              <a:buFont typeface="Arial"/>
              <a:buChar char="•"/>
            </a:pPr>
            <a:r>
              <a:rPr sz="1050" b="1" i="0">
                <a:solidFill>
                  <a:srgbClr val="1F497D"/>
                </a:solidFill>
                <a:latin typeface="Arial"/>
              </a:rPr>
              <a:t>Category labels: </a:t>
            </a:r>
            <a:r>
              <a:rPr sz="1050" b="0" i="0">
                <a:solidFill>
                  <a:srgbClr val="404040"/>
                </a:solidFill>
                <a:latin typeface="Arial"/>
              </a:rPr>
              <a:t>Infrastructure pp27-29 titles do not match the categories shown.</a:t>
            </a:r>
          </a:p>
          <a:p>
            <a:pPr algn="l" marL="146304" indent="-146304">
              <a:spcAft>
                <a:spcPts val="900"/>
              </a:spcAft>
              <a:buClr>
                <a:srgbClr val="00AEEF"/>
              </a:buClr>
              <a:buFont typeface="Arial"/>
              <a:buChar char="•"/>
            </a:pPr>
            <a:r>
              <a:rPr sz="1050" b="1" i="0">
                <a:solidFill>
                  <a:srgbClr val="1F497D"/>
                </a:solidFill>
                <a:latin typeface="Arial"/>
              </a:rPr>
              <a:t>Placeholder text: </a:t>
            </a:r>
            <a:r>
              <a:rPr sz="1050" b="0" i="0">
                <a:solidFill>
                  <a:srgbClr val="404040"/>
                </a:solidFill>
                <a:latin typeface="Arial"/>
              </a:rPr>
              <a:t>Infrastructure p15 carries another engagement’s text.</a:t>
            </a:r>
          </a:p>
          <a:p>
            <a:pPr algn="l" marL="146304" indent="-146304">
              <a:spcAft>
                <a:spcPts val="900"/>
              </a:spcAft>
              <a:buClr>
                <a:srgbClr val="00AEEF"/>
              </a:buClr>
              <a:buFont typeface="Arial"/>
              <a:buChar char="•"/>
            </a:pPr>
            <a:r>
              <a:rPr sz="1050" b="1" i="0">
                <a:solidFill>
                  <a:srgbClr val="1F497D"/>
                </a:solidFill>
                <a:latin typeface="Arial"/>
              </a:rPr>
              <a:t>Top-five share: </a:t>
            </a:r>
            <a:r>
              <a:rPr sz="1050" b="0" i="0">
                <a:solidFill>
                  <a:srgbClr val="404040"/>
                </a:solidFill>
                <a:latin typeface="Arial"/>
              </a:rPr>
              <a:t>61% in text, 63% in chart (Demand-Side p13; Diagnostic p29).</a:t>
            </a:r>
          </a:p>
          <a:p>
            <a:pPr algn="l" marL="146304" indent="-146304">
              <a:spcAft>
                <a:spcPts val="900"/>
              </a:spcAft>
              <a:buClr>
                <a:srgbClr val="00AEEF"/>
              </a:buClr>
              <a:buFont typeface="Arial"/>
              <a:buChar char="•"/>
            </a:pPr>
            <a:r>
              <a:rPr sz="1050" b="1" i="0">
                <a:solidFill>
                  <a:srgbClr val="1F497D"/>
                </a:solidFill>
                <a:latin typeface="Arial"/>
              </a:rPr>
              <a:t>Seat ceiling: </a:t>
            </a:r>
            <a:r>
              <a:rPr sz="1050" b="0" i="0">
                <a:solidFill>
                  <a:srgbClr val="404040"/>
                </a:solidFill>
                <a:latin typeface="Arial"/>
              </a:rPr>
              <a:t>check the 1.8m ceiling (Demand-Side p21) against MIDAS capacity (p17).</a:t>
            </a:r>
          </a:p>
          <a:p>
            <a:pPr algn="l" marL="146304" indent="-146304">
              <a:spcAft>
                <a:spcPts val="900"/>
              </a:spcAft>
              <a:buClr>
                <a:srgbClr val="00AEEF"/>
              </a:buClr>
              <a:buFont typeface="Arial"/>
              <a:buChar char="•"/>
            </a:pPr>
            <a:r>
              <a:rPr sz="1050" b="1" i="0">
                <a:solidFill>
                  <a:srgbClr val="1F497D"/>
                </a:solidFill>
                <a:latin typeface="Arial"/>
              </a:rPr>
              <a:t>Factbase figures: </a:t>
            </a:r>
            <a:r>
              <a:rPr sz="1050" b="0" i="0">
                <a:solidFill>
                  <a:srgbClr val="404040"/>
                </a:solidFill>
                <a:latin typeface="Arial"/>
              </a:rPr>
              <a:t>capture shares, transport share, cruise totals and eVisa data need primary checks.</a:t>
            </a:r>
          </a:p>
        </p:txBody>
      </p:sp>
      <p:sp>
        <p:nvSpPr>
          <p:cNvPr id="10" name="TextBox 9"/>
          <p:cNvSpPr txBox="1"/>
          <p:nvPr/>
        </p:nvSpPr>
        <p:spPr>
          <a:xfrm>
            <a:off x="7207072" y="1325880"/>
            <a:ext cx="4527423"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ARRIVAL BASELINES IN CIRCULATION</a:t>
            </a:r>
          </a:p>
        </p:txBody>
      </p:sp>
      <p:sp>
        <p:nvSpPr>
          <p:cNvPr id="11" name="TextBox 10"/>
          <p:cNvSpPr txBox="1"/>
          <p:nvPr/>
        </p:nvSpPr>
        <p:spPr>
          <a:xfrm>
            <a:off x="7207072" y="1645920"/>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1.4m</a:t>
            </a:r>
          </a:p>
        </p:txBody>
      </p:sp>
      <p:sp>
        <p:nvSpPr>
          <p:cNvPr id="12" name="TextBox 11"/>
          <p:cNvSpPr txBox="1"/>
          <p:nvPr/>
        </p:nvSpPr>
        <p:spPr>
          <a:xfrm>
            <a:off x="8212912" y="1664208"/>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international tourist arrivals, base of the 2.8m goal (RFP s2)</a:t>
            </a:r>
          </a:p>
        </p:txBody>
      </p:sp>
      <p:sp>
        <p:nvSpPr>
          <p:cNvPr id="13" name="TextBox 12"/>
          <p:cNvSpPr txBox="1"/>
          <p:nvPr/>
        </p:nvSpPr>
        <p:spPr>
          <a:xfrm>
            <a:off x="7207072" y="2157984"/>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1.44m</a:t>
            </a:r>
          </a:p>
        </p:txBody>
      </p:sp>
      <p:sp>
        <p:nvSpPr>
          <p:cNvPr id="14" name="TextBox 13"/>
          <p:cNvSpPr txBox="1"/>
          <p:nvPr/>
        </p:nvSpPr>
        <p:spPr>
          <a:xfrm>
            <a:off x="8212912" y="2176272"/>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Cape Town airport international passenger arrivals, FY24/25 (Diagnostic p25)</a:t>
            </a:r>
          </a:p>
        </p:txBody>
      </p:sp>
      <p:sp>
        <p:nvSpPr>
          <p:cNvPr id="15" name="TextBox 14"/>
          <p:cNvSpPr txBox="1"/>
          <p:nvPr/>
        </p:nvSpPr>
        <p:spPr>
          <a:xfrm>
            <a:off x="7207072" y="2670048"/>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1.445m</a:t>
            </a:r>
          </a:p>
        </p:txBody>
      </p:sp>
      <p:sp>
        <p:nvSpPr>
          <p:cNvPr id="16" name="TextBox 15"/>
          <p:cNvSpPr txBox="1"/>
          <p:nvPr/>
        </p:nvSpPr>
        <p:spPr>
          <a:xfrm>
            <a:off x="8212912" y="2688336"/>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modelled international arrivals, 2024 (Demand-Side p19)</a:t>
            </a:r>
          </a:p>
        </p:txBody>
      </p:sp>
      <p:sp>
        <p:nvSpPr>
          <p:cNvPr id="17" name="TextBox 16"/>
          <p:cNvSpPr txBox="1"/>
          <p:nvPr/>
        </p:nvSpPr>
        <p:spPr>
          <a:xfrm>
            <a:off x="7207072" y="3182112"/>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1.57m</a:t>
            </a:r>
          </a:p>
        </p:txBody>
      </p:sp>
      <p:sp>
        <p:nvSpPr>
          <p:cNvPr id="18" name="TextBox 17"/>
          <p:cNvSpPr txBox="1"/>
          <p:nvPr/>
        </p:nvSpPr>
        <p:spPr>
          <a:xfrm>
            <a:off x="8212912" y="3200400"/>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international passenger arrivals, FY25/26 (Demand-Side)</a:t>
            </a:r>
          </a:p>
        </p:txBody>
      </p:sp>
      <p:sp>
        <p:nvSpPr>
          <p:cNvPr id="19" name="TextBox 18"/>
          <p:cNvSpPr txBox="1"/>
          <p:nvPr/>
        </p:nvSpPr>
        <p:spPr>
          <a:xfrm>
            <a:off x="7207072" y="3694176"/>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1.62m</a:t>
            </a:r>
          </a:p>
        </p:txBody>
      </p:sp>
      <p:sp>
        <p:nvSpPr>
          <p:cNvPr id="20" name="TextBox 19"/>
          <p:cNvSpPr txBox="1"/>
          <p:nvPr/>
        </p:nvSpPr>
        <p:spPr>
          <a:xfrm>
            <a:off x="8212912" y="3712463"/>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Cape Town international arrivals baseline (City TDF 2024)</a:t>
            </a:r>
          </a:p>
        </p:txBody>
      </p:sp>
      <p:sp>
        <p:nvSpPr>
          <p:cNvPr id="21" name="TextBox 20"/>
          <p:cNvSpPr txBox="1"/>
          <p:nvPr/>
        </p:nvSpPr>
        <p:spPr>
          <a:xfrm>
            <a:off x="7207072" y="4206240"/>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932,831</a:t>
            </a:r>
          </a:p>
        </p:txBody>
      </p:sp>
      <p:sp>
        <p:nvSpPr>
          <p:cNvPr id="22" name="TextBox 21"/>
          <p:cNvSpPr txBox="1"/>
          <p:nvPr/>
        </p:nvSpPr>
        <p:spPr>
          <a:xfrm>
            <a:off x="8212912" y="4224528"/>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overnight international visitors, 2024 (PERO 2025)</a:t>
            </a:r>
          </a:p>
        </p:txBody>
      </p:sp>
      <p:sp>
        <p:nvSpPr>
          <p:cNvPr id="23" name="TextBox 22"/>
          <p:cNvSpPr txBox="1"/>
          <p:nvPr/>
        </p:nvSpPr>
        <p:spPr>
          <a:xfrm>
            <a:off x="7207072" y="4718304"/>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3.1m</a:t>
            </a:r>
          </a:p>
        </p:txBody>
      </p:sp>
      <p:sp>
        <p:nvSpPr>
          <p:cNvPr id="24" name="TextBox 23"/>
          <p:cNvSpPr txBox="1"/>
          <p:nvPr/>
        </p:nvSpPr>
        <p:spPr>
          <a:xfrm>
            <a:off x="8212912" y="4736592"/>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two-way international passengers, 2024 (CTAA update)</a:t>
            </a:r>
          </a:p>
        </p:txBody>
      </p:sp>
      <p:sp>
        <p:nvSpPr>
          <p:cNvPr id="25" name="TextBox 24"/>
          <p:cNvSpPr txBox="1"/>
          <p:nvPr/>
        </p:nvSpPr>
        <p:spPr>
          <a:xfrm>
            <a:off x="7207072" y="5230368"/>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5.7m</a:t>
            </a:r>
          </a:p>
        </p:txBody>
      </p:sp>
      <p:sp>
        <p:nvSpPr>
          <p:cNvPr id="26" name="TextBox 25"/>
          <p:cNvSpPr txBox="1"/>
          <p:nvPr/>
        </p:nvSpPr>
        <p:spPr>
          <a:xfrm>
            <a:off x="8212912" y="5248656"/>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pre-COVID long-term arrivals target (Tourism Blueprint 2030)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