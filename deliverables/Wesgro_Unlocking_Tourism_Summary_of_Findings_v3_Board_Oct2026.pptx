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Seat share</c:v>
                </c:pt>
              </c:strCache>
            </c:strRef>
          </c:tx>
          <c:spPr>
            <a:solidFill>
              <a:srgbClr val="1F497D"/>
            </a:solidFill>
          </c:spPr>
          <c:dPt>
            <c:idx val="4"/>
            <c:spPr>
              <a:solidFill>
                <a:srgbClr val="D9D9D9"/>
              </a:solidFill>
            </c:spPr>
          </c:dPt>
          <c:dPt>
            <c:idx val="5"/>
            <c:spPr>
              <a:solidFill>
                <a:srgbClr val="D9D9D9"/>
              </a:solidFill>
            </c:spPr>
          </c:dPt>
          <c:dPt>
            <c:idx val="6"/>
            <c:spPr>
              <a:solidFill>
                <a:srgbClr val="D9D9D9"/>
              </a:solidFill>
            </c:spPr>
          </c:dPt>
          <c:dPt>
            <c:idx val="7"/>
            <c:spPr>
              <a:solidFill>
                <a:srgbClr val="D9D9D9"/>
              </a:solidFill>
            </c:spPr>
          </c:dPt>
          <c:dPt>
            <c:idx val="8"/>
            <c:spPr>
              <a:solidFill>
                <a:srgbClr val="D9D9D9"/>
              </a:solidFill>
            </c:spPr>
          </c:dPt>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9.8</c:v>
                </c:pt>
                <c:pt idx="1">
                  <c:v>8.8</c:v>
                </c:pt>
                <c:pt idx="2">
                  <c:v>9.7</c:v>
                </c:pt>
                <c:pt idx="3">
                  <c:v>7.8</c:v>
                </c:pt>
                <c:pt idx="4">
                  <c:v>6.9</c:v>
                </c:pt>
                <c:pt idx="5">
                  <c:v>6.4</c:v>
                </c:pt>
                <c:pt idx="6">
                  <c:v>6.9</c:v>
                </c:pt>
                <c:pt idx="7">
                  <c:v>6.9</c:v>
                </c:pt>
                <c:pt idx="8">
                  <c:v>6.9</c:v>
                </c:pt>
                <c:pt idx="9">
                  <c:v>8.7</c:v>
                </c:pt>
                <c:pt idx="10">
                  <c:v>10.3</c:v>
                </c:pt>
                <c:pt idx="11">
                  <c:v>10.8</c:v>
                </c:pt>
              </c:numCache>
            </c:numRef>
          </c:val>
        </c:ser>
        <c:dLbls>
          <c:numFmt formatCode="0.0" sourceLinked="0"/>
          <c:txPr>
            <a:bodyPr/>
            <a:lstStyle/>
            <a:p>
              <a:pPr>
                <a:defRPr sz="900">
                  <a:solidFill>
                    <a:srgbClr val="404040"/>
                  </a:solidFill>
                </a:defRPr>
              </a:pPr>
            </a:p>
          </c:txPr>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low"/>
        <c:spPr>
          <a:ln>
            <a:solidFill>
              <a:srgbClr val="D9D9D9"/>
            </a:solidFill>
          </a:ln>
        </c:spPr>
        <c:txPr>
          <a:bodyPr/>
          <a:lstStyle/>
          <a:p>
            <a:pPr>
              <a:defRPr sz="900"/>
            </a:pPr>
          </a:p>
        </c:txPr>
        <c:crossAx val="-2113994440"/>
        <c:crosses val="autoZero"/>
        <c:auto val="1"/>
        <c:lblAlgn val="ctr"/>
        <c:lblOffset val="100"/>
        <c:noMultiLvlLbl val="0"/>
      </c:catAx>
      <c:valAx>
        <c:axId val="-2113994440"/>
        <c:scaling>
          <c:max val="12.0"/>
          <c:min val="0.0"/>
        </c:scaling>
        <c:delete/>
        <c:axPos val="l"/>
        <c:majorTickMark val="out"/>
        <c:minorTickMark val="none"/>
        <c:tickLblPos val="nextTo"/>
        <c:txPr>
          <a:bodyPr/>
          <a:lstStyle/>
          <a:p>
            <a:pPr>
              <a:defRPr sz="900"/>
            </a:pPr>
          </a:p>
        </c:txPr>
        <c:crossAx val="-2068027336"/>
        <c:crosses val="autoZero"/>
      </c:valAx>
    </c:plotArea>
    <c:dispBlanksAs val="gap"/>
  </c:chart>
  <c:txPr>
    <a:bodyPr/>
    <a:lstStyle/>
    <a:p>
      <a:pPr>
        <a:defRPr sz="900">
          <a:solidFill>
            <a:srgbClr val="404040"/>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27"/>
          <c:y val="0.01"/>
          <c:w val="0.7"/>
          <c:h val="0.98"/>
        </c:manualLayout>
      </c:layout>
      <c:barChart>
        <c:barDir val="bar"/>
        <c:grouping val="clustered"/>
        <c:ser>
          <c:idx val="0"/>
          <c:order val="0"/>
          <c:tx>
            <c:strRef>
              <c:f>Sheet1!$B$1</c:f>
              <c:strCache>
                <c:ptCount val="1"/>
                <c:pt idx="0">
                  <c:v>LF</c:v>
                </c:pt>
              </c:strCache>
            </c:strRef>
          </c:tx>
          <c:spPr>
            <a:solidFill>
              <a:srgbClr val="7F7F7F"/>
            </a:solidFill>
          </c:spPr>
          <c:dPt>
            <c:idx val="0"/>
            <c:spPr>
              <a:solidFill>
                <a:srgbClr val="1F497D"/>
              </a:solidFill>
            </c:spPr>
          </c:dPt>
          <c:dPt>
            <c:idx val="1"/>
            <c:spPr>
              <a:solidFill>
                <a:srgbClr val="1F497D"/>
              </a:solidFill>
            </c:spPr>
          </c:dPt>
          <c:dPt>
            <c:idx val="2"/>
            <c:spPr>
              <a:solidFill>
                <a:srgbClr val="1F497D"/>
              </a:solidFill>
            </c:spPr>
          </c:dPt>
          <c:dPt>
            <c:idx val="3"/>
            <c:spPr>
              <a:solidFill>
                <a:srgbClr val="1F497D"/>
              </a:solidFill>
            </c:spPr>
          </c:dPt>
          <c:dPt>
            <c:idx val="4"/>
            <c:spPr>
              <a:solidFill>
                <a:srgbClr val="1F497D"/>
              </a:solidFill>
            </c:spPr>
          </c:dPt>
          <c:dPt>
            <c:idx val="5"/>
            <c:spPr>
              <a:solidFill>
                <a:srgbClr val="1F497D"/>
              </a:solidFill>
            </c:spPr>
          </c:dPt>
          <c:dPt>
            <c:idx val="6"/>
            <c:spPr>
              <a:solidFill>
                <a:srgbClr val="1F497D"/>
              </a:solidFill>
            </c:spPr>
          </c:dPt>
          <c:dPt>
            <c:idx val="7"/>
            <c:spPr>
              <a:solidFill>
                <a:srgbClr val="1F497D"/>
              </a:solidFill>
            </c:spPr>
          </c:dPt>
          <c:dPt>
            <c:idx val="8"/>
            <c:spPr>
              <a:solidFill>
                <a:srgbClr val="1F497D"/>
              </a:solidFill>
            </c:spPr>
          </c:dPt>
          <c:dPt>
            <c:idx val="9"/>
            <c:spPr>
              <a:solidFill>
                <a:srgbClr val="1F497D"/>
              </a:solidFill>
            </c:spPr>
          </c:dPt>
          <c:dPt>
            <c:idx val="10"/>
            <c:spPr>
              <a:solidFill>
                <a:srgbClr val="1F497D"/>
              </a:solidFill>
            </c:spPr>
          </c:dPt>
          <c:cat>
            <c:strRef>
              <c:f>Sheet1!$A$2:$A$17</c:f>
              <c:strCache>
                <c:ptCount val="16"/>
                <c:pt idx="0">
                  <c:v>Newark</c:v>
                </c:pt>
                <c:pt idx="1">
                  <c:v>Luanda (NBJ)</c:v>
                </c:pt>
                <c:pt idx="2">
                  <c:v>Atlanta</c:v>
                </c:pt>
                <c:pt idx="3">
                  <c:v>Luanda (LAD)</c:v>
                </c:pt>
                <c:pt idx="4">
                  <c:v>Maputo</c:v>
                </c:pt>
                <c:pt idx="5">
                  <c:v>Frankfurt</c:v>
                </c:pt>
                <c:pt idx="6">
                  <c:v>London Heathrow</c:v>
                </c:pt>
                <c:pt idx="7">
                  <c:v>Gaborone</c:v>
                </c:pt>
                <c:pt idx="8">
                  <c:v>Mauritius</c:v>
                </c:pt>
                <c:pt idx="9">
                  <c:v>Harare</c:v>
                </c:pt>
                <c:pt idx="10">
                  <c:v>Washington</c:v>
                </c:pt>
                <c:pt idx="11">
                  <c:v>Maun</c:v>
                </c:pt>
                <c:pt idx="12">
                  <c:v>Windhoek</c:v>
                </c:pt>
                <c:pt idx="13">
                  <c:v>Paris</c:v>
                </c:pt>
                <c:pt idx="14">
                  <c:v>Istanbul</c:v>
                </c:pt>
                <c:pt idx="15">
                  <c:v>Amsterdam</c:v>
                </c:pt>
              </c:strCache>
            </c:strRef>
          </c:cat>
          <c:val>
            <c:numRef>
              <c:f>Sheet1!$B$2:$B$17</c:f>
              <c:numCache>
                <c:formatCode>General</c:formatCode>
                <c:ptCount val="16"/>
                <c:pt idx="0">
                  <c:v>88.6</c:v>
                </c:pt>
                <c:pt idx="1">
                  <c:v>86.2</c:v>
                </c:pt>
                <c:pt idx="2">
                  <c:v>84.3</c:v>
                </c:pt>
                <c:pt idx="3">
                  <c:v>83.4</c:v>
                </c:pt>
                <c:pt idx="4">
                  <c:v>83.3</c:v>
                </c:pt>
                <c:pt idx="5">
                  <c:v>83.0</c:v>
                </c:pt>
                <c:pt idx="6">
                  <c:v>83.0</c:v>
                </c:pt>
                <c:pt idx="7">
                  <c:v>82.3</c:v>
                </c:pt>
                <c:pt idx="8">
                  <c:v>81.8</c:v>
                </c:pt>
                <c:pt idx="9">
                  <c:v>81.3</c:v>
                </c:pt>
                <c:pt idx="10">
                  <c:v>80.2</c:v>
                </c:pt>
                <c:pt idx="11">
                  <c:v>79.0</c:v>
                </c:pt>
                <c:pt idx="12">
                  <c:v>78.5</c:v>
                </c:pt>
                <c:pt idx="13">
                  <c:v>76.7</c:v>
                </c:pt>
                <c:pt idx="14">
                  <c:v>75.5</c:v>
                </c:pt>
                <c:pt idx="15">
                  <c:v>75.4</c:v>
                </c:pt>
              </c:numCache>
            </c:numRef>
          </c:val>
        </c:ser>
        <c:dLbls>
          <c:numFmt formatCode="0.0" sourceLinked="0"/>
          <c:txPr>
            <a:bodyPr/>
            <a:lstStyle/>
            <a:p>
              <a:pPr>
                <a:defRPr sz="900" b="1">
                  <a:solidFill>
                    <a:srgbClr val="FFFFFF"/>
                  </a:solidFill>
                </a:defRPr>
              </a:pPr>
            </a:p>
          </c:txPr>
          <c:dLblPos val="inBase"/>
          <c:showLegendKey val="0"/>
          <c:showVal val="1"/>
          <c:showCatName val="0"/>
          <c:showSerName val="0"/>
          <c:showPercent val="0"/>
          <c:showBubbleSize val="0"/>
          <c:showLeaderLines val="1"/>
        </c:dLbls>
        <c:gapWidth val="35"/>
        <c:axId val="-2068027336"/>
        <c:axId val="-2113994440"/>
      </c:barChart>
      <c:catAx>
        <c:axId val="-2068027336"/>
        <c:scaling>
          <c:orientation val="maxMin"/>
        </c:scaling>
        <c:delete val="0"/>
        <c:axPos val="l"/>
        <c:majorTickMark val="out"/>
        <c:minorTickMark val="none"/>
        <c:tickLblPos val="nextTo"/>
        <c:spPr>
          <a:ln>
            <a:solidFill>
              <a:srgbClr val="D9D9D9"/>
            </a:solidFill>
          </a:ln>
        </c:spPr>
        <c:txPr>
          <a:bodyPr/>
          <a:lstStyle/>
          <a:p>
            <a:pPr>
              <a:defRPr sz="900"/>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txPr>
          <a:bodyPr/>
          <a:lstStyle/>
          <a:p>
            <a:pPr>
              <a:defRPr sz="900"/>
            </a:pPr>
          </a:p>
        </c:txPr>
        <c:crossAx val="-2068027336"/>
        <c:crosses val="autoZero"/>
      </c:valAx>
    </c:plotArea>
    <c:dispBlanksAs val="gap"/>
  </c:chart>
  <c:txPr>
    <a:bodyPr/>
    <a:lstStyle/>
    <a:p>
      <a:pPr>
        <a:defRPr sz="900">
          <a:solidFill>
            <a:srgbClr val="404040"/>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1"/>
          <c:y val="0.1"/>
          <c:w val="0.98"/>
          <c:h val="0.8"/>
        </c:manualLayout>
      </c:layout>
      <c:barChart>
        <c:barDir val="col"/>
        <c:grouping val="clustered"/>
        <c:ser>
          <c:idx val="0"/>
          <c:order val="0"/>
          <c:tx>
            <c:strRef>
              <c:f>Sheet1!$B$1</c:f>
              <c:strCache>
                <c:ptCount val="1"/>
                <c:pt idx="0">
                  <c:v>Arrivals</c:v>
                </c:pt>
              </c:strCache>
            </c:strRef>
          </c:tx>
          <c:spPr>
            <a:solidFill>
              <a:srgbClr val="1F497D"/>
            </a:solidFill>
          </c:spPr>
          <c:dPt>
            <c:idx val="7"/>
            <c:spPr>
              <a:solidFill>
                <a:srgbClr val="7F7F7F"/>
              </a:solidFill>
            </c:spPr>
          </c:dPt>
          <c:dPt>
            <c:idx val="8"/>
            <c:spPr>
              <a:solidFill>
                <a:srgbClr val="4F81BD"/>
              </a:solidFill>
            </c:spPr>
          </c:dPt>
          <c:dPt>
            <c:idx val="9"/>
            <c:spPr>
              <a:solidFill>
                <a:srgbClr val="DCEEF7"/>
              </a:solidFill>
              <a:ln w="19050">
                <a:solidFill>
                  <a:srgbClr val="00AEEF"/>
                </a:solidFill>
              </a:ln>
            </c:spPr>
          </c:dPt>
          <c:dLbls>
            <c:dLbl>
              <c:idx val="9"/>
              <c:spPr/>
              <c:txPr>
                <a:bodyPr/>
                <a:lstStyle/>
                <a:p>
                  <a:pPr>
                    <a:defRPr b="1">
                      <a:solidFill>
                        <a:srgbClr val="00AEEF"/>
                      </a:solidFill>
                    </a:defRPr>
                  </a:pPr>
                </a:p>
              </c:txPr>
              <c:showLegendKey val="0"/>
              <c:showVal val="1"/>
              <c:showCatName val="0"/>
              <c:showSerName val="0"/>
              <c:showPercent val="0"/>
              <c:showBubbleSize val="0"/>
            </c:dLbl>
            <c:numFmt formatCode="0.00&quot;m&quot;" sourceLinked="0"/>
            <c:txPr>
              <a:bodyPr/>
              <a:lstStyle/>
              <a:p>
                <a:pPr>
                  <a:defRPr sz="950">
                    <a:solidFill>
                      <a:srgbClr val="404040"/>
                    </a:solidFill>
                  </a:defRPr>
                </a:pPr>
              </a:p>
            </c:txPr>
            <c:dLblPos val="outEnd"/>
            <c:showLegendKey val="0"/>
            <c:showVal val="1"/>
            <c:showCatName val="0"/>
            <c:showSerName val="0"/>
            <c:showPercent val="0"/>
            <c:showBubbleSize val="0"/>
            <c:showLeaderLines val="1"/>
          </c:dLbls>
          <c:cat>
            <c:strRef>
              <c:f>Sheet1!$A$2:$A$11</c:f>
              <c:strCache>
                <c:ptCount val="10"/>
                <c:pt idx="0">
                  <c:v>2024</c:v>
                </c:pt>
                <c:pt idx="1">
                  <c:v>2028</c:v>
                </c:pt>
                <c:pt idx="2">
                  <c:v>2030</c:v>
                </c:pt>
                <c:pt idx="3">
                  <c:v>2032</c:v>
                </c:pt>
                <c:pt idx="4">
                  <c:v>2034</c:v>
                </c:pt>
                <c:pt idx="5">
                  <c:v>2035</c:v>
                </c:pt>
                <c:pt idx="6">
                  <c:v/>
                </c:pt>
                <c:pt idx="7">
                  <c:v>Conservative</c:v>
                </c:pt>
                <c:pt idx="8">
                  <c:v>Accelerated</c:v>
                </c:pt>
                <c:pt idx="9">
                  <c:v>Goal</c:v>
                </c:pt>
              </c:strCache>
            </c:strRef>
          </c:cat>
          <c:val>
            <c:numRef>
              <c:f>Sheet1!$B$2:$B$11</c:f>
              <c:numCache>
                <c:formatCode>General</c:formatCode>
                <c:ptCount val="10"/>
                <c:pt idx="0">
                  <c:v>1.445</c:v>
                </c:pt>
                <c:pt idx="1">
                  <c:v>1.674</c:v>
                </c:pt>
                <c:pt idx="2">
                  <c:v>1.803</c:v>
                </c:pt>
                <c:pt idx="3">
                  <c:v>1.943</c:v>
                </c:pt>
                <c:pt idx="4">
                  <c:v>2.095</c:v>
                </c:pt>
                <c:pt idx="5">
                  <c:v>2.176</c:v>
                </c:pt>
                <c:pt idx="7">
                  <c:v>1.823</c:v>
                </c:pt>
                <c:pt idx="8">
                  <c:v>2.516</c:v>
                </c:pt>
                <c:pt idx="9">
                  <c:v>2.8</c:v>
                </c:pt>
              </c:numCache>
            </c:numRef>
          </c:val>
        </c:ser>
        <c:dLbls>
          <c:numFmt formatCode="0.00&quot;m&quot;" sourceLinked="0"/>
          <c:txPr>
            <a:bodyPr/>
            <a:lstStyle/>
            <a:p>
              <a:pPr>
                <a:defRPr sz="950">
                  <a:solidFill>
                    <a:srgbClr val="404040"/>
                  </a:solidFill>
                </a:defRPr>
              </a:pPr>
            </a:p>
          </c:txPr>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low"/>
        <c:spPr>
          <a:ln>
            <a:solidFill>
              <a:srgbClr val="D9D9D9"/>
            </a:solidFill>
          </a:ln>
        </c:spPr>
        <c:txPr>
          <a:bodyPr/>
          <a:lstStyle/>
          <a:p>
            <a:pPr>
              <a:defRPr sz="950"/>
            </a:pPr>
          </a:p>
        </c:txPr>
        <c:crossAx val="-2113994440"/>
        <c:crosses val="autoZero"/>
        <c:auto val="1"/>
        <c:lblAlgn val="ctr"/>
        <c:lblOffset val="100"/>
        <c:noMultiLvlLbl val="0"/>
      </c:catAx>
      <c:valAx>
        <c:axId val="-2113994440"/>
        <c:scaling>
          <c:max val="3.4"/>
          <c:min val="0.0"/>
        </c:scaling>
        <c:delete/>
        <c:axPos val="l"/>
        <c:majorTickMark val="out"/>
        <c:minorTickMark val="none"/>
        <c:tickLblPos val="nextTo"/>
        <c:txPr>
          <a:bodyPr/>
          <a:lstStyle/>
          <a:p>
            <a:pPr>
              <a:defRPr sz="950"/>
            </a:pPr>
          </a:p>
        </c:txPr>
        <c:crossAx val="-2068027336"/>
        <c:crosses val="autoZero"/>
      </c:valAx>
    </c:plotArea>
    <c:dispBlanksAs val="gap"/>
  </c:chart>
  <c:txPr>
    <a:bodyPr/>
    <a:lstStyle/>
    <a:p>
      <a:pPr>
        <a:defRPr sz="950">
          <a:solidFill>
            <a:srgbClr val="404040"/>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3"/>
          <c:y val="0.04"/>
          <c:w val="0.78"/>
          <c:h val="0.82"/>
        </c:manualLayout>
      </c:layout>
      <c:lineChart>
        <c:grouping val="standard"/>
        <c:varyColors val="0"/>
        <c:ser>
          <c:idx val="0"/>
          <c:order val="0"/>
          <c:tx>
            <c:strRef>
              <c:f>Sheet1!$B$1</c:f>
              <c:strCache>
                <c:ptCount val="1"/>
                <c:pt idx="0">
                  <c:v>Attractiveness</c:v>
                </c:pt>
              </c:strCache>
            </c:strRef>
          </c:tx>
          <c:spPr>
            <a:ln w="28575">
              <a:solidFill>
                <a:srgbClr val="1F497D"/>
              </a:solidFill>
            </a:ln>
          </c:spPr>
          <c:marker>
            <c:symbol val="circle"/>
            <c:size val="7"/>
            <c:spPr>
              <a:solidFill>
                <a:srgbClr val="1F497D"/>
              </a:solidFill>
              <a:ln>
                <a:solidFill>
                  <a:srgbClr val="1F497D"/>
                </a:solidFill>
              </a:ln>
            </c:spPr>
          </c:marker>
          <c:dLbls>
            <c:numFmt formatCode="0.0" sourceLinked="0"/>
            <c:txPr>
              <a:bodyPr/>
              <a:lstStyle/>
              <a:p>
                <a:pPr>
                  <a:defRPr sz="950">
                    <a:solidFill>
                      <a:srgbClr val="1F497D"/>
                    </a:solidFill>
                  </a:defRPr>
                </a:pPr>
              </a:p>
            </c:txPr>
            <c:dLblPos val="t"/>
            <c:showLegendKey val="0"/>
            <c:showVal val="1"/>
            <c:showCatName val="0"/>
            <c:showSerName val="0"/>
            <c:showPercent val="0"/>
            <c:showBubbleSize val="0"/>
            <c:showLeaderLines val="1"/>
          </c:dLbls>
          <c:cat>
            <c:strRef>
              <c:f>Sheet1!$A$2:$A$7</c:f>
              <c:strCache>
                <c:ptCount val="6"/>
                <c:pt idx="0">
                  <c:v>Cape Metro</c:v>
                </c:pt>
                <c:pt idx="1">
                  <c:v>Winelands</c:v>
                </c:pt>
                <c:pt idx="2">
                  <c:v>Garden Route</c:v>
                </c:pt>
                <c:pt idx="3">
                  <c:v>Overberg</c:v>
                </c:pt>
                <c:pt idx="4">
                  <c:v>West Coast</c:v>
                </c:pt>
                <c:pt idx="5">
                  <c:v>Central Karoo</c:v>
                </c:pt>
              </c:strCache>
            </c:strRef>
          </c:cat>
          <c:val>
            <c:numRef>
              <c:f>Sheet1!$B$2:$B$7</c:f>
              <c:numCache>
                <c:formatCode>General</c:formatCode>
                <c:ptCount val="6"/>
                <c:pt idx="0">
                  <c:v>4.8</c:v>
                </c:pt>
                <c:pt idx="1">
                  <c:v>4.0</c:v>
                </c:pt>
                <c:pt idx="2">
                  <c:v>4.3</c:v>
                </c:pt>
                <c:pt idx="3">
                  <c:v>4.3</c:v>
                </c:pt>
                <c:pt idx="4">
                  <c:v>4.3</c:v>
                </c:pt>
                <c:pt idx="5">
                  <c:v>3.3</c:v>
                </c:pt>
              </c:numCache>
            </c:numRef>
          </c:val>
          <c:smooth val="0"/>
        </c:ser>
        <c:ser>
          <c:idx val="1"/>
          <c:order val="1"/>
          <c:tx>
            <c:strRef>
              <c:f>Sheet1!$C$1</c:f>
              <c:strCache>
                <c:ptCount val="1"/>
                <c:pt idx="0">
                  <c:v>Accessibility</c:v>
                </c:pt>
              </c:strCache>
            </c:strRef>
          </c:tx>
          <c:spPr>
            <a:ln w="28575">
              <a:solidFill>
                <a:srgbClr val="00AEEF"/>
              </a:solidFill>
            </a:ln>
          </c:spPr>
          <c:marker>
            <c:symbol val="circle"/>
            <c:size val="7"/>
            <c:spPr>
              <a:solidFill>
                <a:srgbClr val="00AEEF"/>
              </a:solidFill>
              <a:ln>
                <a:solidFill>
                  <a:srgbClr val="00AEEF"/>
                </a:solidFill>
              </a:ln>
            </c:spPr>
          </c:marker>
          <c:dLbls>
            <c:numFmt formatCode="0.0" sourceLinked="0"/>
            <c:txPr>
              <a:bodyPr/>
              <a:lstStyle/>
              <a:p>
                <a:pPr>
                  <a:defRPr sz="950">
                    <a:solidFill>
                      <a:srgbClr val="00AEEF"/>
                    </a:solidFill>
                  </a:defRPr>
                </a:pPr>
              </a:p>
            </c:txPr>
            <c:dLblPos val="b"/>
            <c:showLegendKey val="0"/>
            <c:showVal val="1"/>
            <c:showCatName val="0"/>
            <c:showSerName val="0"/>
            <c:showPercent val="0"/>
            <c:showBubbleSize val="0"/>
            <c:showLeaderLines val="1"/>
          </c:dLbls>
          <c:cat>
            <c:strRef>
              <c:f>Sheet1!$A$2:$A$7</c:f>
              <c:strCache>
                <c:ptCount val="6"/>
                <c:pt idx="0">
                  <c:v>Cape Metro</c:v>
                </c:pt>
                <c:pt idx="1">
                  <c:v>Winelands</c:v>
                </c:pt>
                <c:pt idx="2">
                  <c:v>Garden Route</c:v>
                </c:pt>
                <c:pt idx="3">
                  <c:v>Overberg</c:v>
                </c:pt>
                <c:pt idx="4">
                  <c:v>West Coast</c:v>
                </c:pt>
                <c:pt idx="5">
                  <c:v>Central Karoo</c:v>
                </c:pt>
              </c:strCache>
            </c:strRef>
          </c:cat>
          <c:val>
            <c:numRef>
              <c:f>Sheet1!$C$2:$C$7</c:f>
              <c:numCache>
                <c:formatCode>General</c:formatCode>
                <c:ptCount val="6"/>
                <c:pt idx="0">
                  <c:v>4.7</c:v>
                </c:pt>
                <c:pt idx="1">
                  <c:v>3.3</c:v>
                </c:pt>
                <c:pt idx="2">
                  <c:v>3.0</c:v>
                </c:pt>
                <c:pt idx="3">
                  <c:v>2.0</c:v>
                </c:pt>
                <c:pt idx="4">
                  <c:v>2.0</c:v>
                </c:pt>
                <c:pt idx="5">
                  <c:v>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9D9D9"/>
            </a:solidFill>
          </a:ln>
        </c:spPr>
        <c:txPr>
          <a:bodyPr/>
          <a:lstStyle/>
          <a:p>
            <a:pPr>
              <a:defRPr sz="950"/>
            </a:pPr>
          </a:p>
        </c:txPr>
        <c:crossAx val="2140495176"/>
        <c:crosses val="autoZero"/>
        <c:auto val="1"/>
        <c:lblAlgn val="ctr"/>
        <c:lblOffset val="100"/>
        <c:noMultiLvlLbl val="0"/>
      </c:catAx>
      <c:valAx>
        <c:axId val="2140495176"/>
        <c:scaling>
          <c:max val="5.5"/>
          <c:min val="0.0"/>
        </c:scaling>
        <c:delete/>
        <c:axPos val="l"/>
        <c:majorTickMark val="out"/>
        <c:minorTickMark val="none"/>
        <c:tickLblPos val="nextTo"/>
        <c:spPr>
          <a:ln>
            <a:solidFill>
              <a:srgbClr val="D9D9D9"/>
            </a:solidFill>
          </a:ln>
        </c:spPr>
        <c:txPr>
          <a:bodyPr/>
          <a:lstStyle/>
          <a:p>
            <a:pPr>
              <a:defRPr sz="950">
                <a:solidFill>
                  <a:srgbClr val="7F7F7F"/>
                </a:solidFill>
              </a:defRPr>
            </a:pPr>
          </a:p>
        </c:txPr>
        <c:crossAx val="2118791784"/>
        <c:crosses val="autoZero"/>
      </c:valAx>
    </c:plotArea>
    <c:plotVisOnly val="1"/>
    <c:dispBlanksAs val="gap"/>
    <c:showDLblsOverMax val="0"/>
  </c:chart>
  <c:txPr>
    <a:bodyPr/>
    <a:lstStyle/>
    <a:p>
      <a:pPr>
        <a:defRPr sz="950">
          <a:solidFill>
            <a:srgbClr val="404040"/>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Board-level summary of findings for the Wesgro Unlocking Tourism Growth study. Draft for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session has three jobs. We test what the deliverables found, agree how the remaining gaps close and leave with one working answer and a plan to finish. The running order gives most time to the findings.</a:t>
            </a:r>
          </a:p>
          <a:p/>
          <a:p>
            <a:r>
              <a:t>Question for the room: Is anything missing from these three outcomes that you need from today?</a:t>
            </a:r>
          </a:p>
          <a:p/>
          <a:p>
            <a:r>
              <a:t>Sources: Session design by Letsema; no source document.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objective is a strategy that doubles international arrivals by 2035, with jobs, SMME and airlift targets beside it. Six workstreams deliver it. Four of ten deliverables are final, three are in draft and three remain, including the M&amp;E toolkit and the final report.</a:t>
            </a:r>
          </a:p>
          <a:p/>
          <a:p>
            <a:r>
              <a:t>Question for the room: Do the four targets still define success, or should spend and length of stay sit beside arrivals?</a:t>
            </a:r>
          </a:p>
          <a:p/>
          <a:p>
            <a:r>
              <a:t>Sources: Inception Report p4; RFP s2 and s3.1 to 3.6; SLA Annexure B 3.2.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Eight documents have landed in eleven months, most of them in March and June. The contract ends on 31 October, before the final report, the M&amp;E toolkit and the launch. Clause 4.3 lets Wesgro extend by notice a month before expiry and a written addendum.</a:t>
            </a:r>
          </a:p>
          <a:p/>
          <a:p>
            <a:r>
              <a:t>Question for the room: Has Wesgro given notice under clause 4.3, and who signs the addendum?</a:t>
            </a:r>
          </a:p>
          <a:p/>
          <a:p>
            <a:r>
              <a:t>Sources: SLA clauses 4.1 and 4.3, Annexure B; cover dates of each deliverable.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This is the tree the deliverables were built to test: three pillars, six focus areas and eighteen themes. The supply and inclusion reports were explicitly framed by it, so their agreement with it is not independent evidence.</a:t>
            </a:r>
          </a:p>
          <a:p/>
          <a:p>
            <a:r>
              <a:t>Question for the room: Which branch of this tree did you expect the evidence to challenge most?</a:t>
            </a:r>
          </a:p>
          <a:p/>
          <a:p>
            <a:r>
              <a:t>Sources: Diagnostic v2 p64; Infrastructure Report pp2-3; SME plan p2.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Recovery is complete: Cape Town airport counted more international arrivals in FY24/25 than before COVID. But the base is narrow. Five markets give 61% of overseas arrivals, October to March carries 61% of visitors, the Metro holds 72.5% of GDPR and one airline serves Asia.</a:t>
            </a:r>
          </a:p>
          <a:p/>
          <a:p>
            <a:r>
              <a:t>Question for the room: Which of the four concentrations should the strategy break first?</a:t>
            </a:r>
          </a:p>
          <a:p/>
          <a:p>
            <a:r>
              <a:t>Sources: Diagnostic pp25 (arrivals), 28 and 32 (months), 29 (markets), 35 (airlines), 39 (GDPR).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Each comparator pulled one main lever, but none relied on it alone. The report finds three system components behind every case: institutional coordination, strategic marketing and accessibility. Melbourne’s figure is a forecast inside the norm; NZ’s return is as reported, with its basis not stated.</a:t>
            </a:r>
          </a:p>
          <a:p/>
          <a:p>
            <a:r>
              <a:t>Question for the room: Which comparator’s system is closest to what the Western Cape could build in five years?</a:t>
            </a:r>
          </a:p>
          <a:p/>
          <a:p>
            <a:r>
              <a:t>Sources: Benchmark pp7, 9, 17-18, 25-26, 47-49, 54, 59.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tally shows agreement on the coordination problem: collaboration and policy and data come first. DEDAT rates bilateral air agreements, funding and SA Tourism’s weakness as high-impact constraints. None of the sixteen organisations heard was an airline, SA Tourism, the City or Home Affairs.</a:t>
            </a:r>
          </a:p>
          <a:p/>
          <a:p>
            <a:r>
              <a:t>Question for the room: Who in this room can open doors to the airlines and Home Affairs within three weeks?</a:t>
            </a:r>
          </a:p>
          <a:p/>
          <a:p>
            <a:r>
              <a:t>Sources: Stakeholder Insights pp16, 20-46, 24-25.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June carries 6.4% of the year’s international seats against 10.8% in December: airlines take capacity out in winter, so green-season demand is what keeps seats in the schedule. Eleven routes run above 80% estimated load and airlines will raise fares before they add seats. Some 101,000 India and China journeys already route via hubs.</a:t>
            </a:r>
          </a:p>
          <a:p/>
          <a:p>
            <a:r>
              <a:t>Question for the room: Which full routes should Wesgro Air Access take to airlines first, and with what offer?</a:t>
            </a:r>
          </a:p>
          <a:p/>
          <a:p>
            <a:r>
              <a:t>Sources: MIDAS pp3, 13, 15, 17, 18-19, 22.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base case meets the report’s 1.8m inbound seat ceiling in 2030 and ends at 2.18m. The accelerated case reaches 2.52m, about 280,000 short of the goal, and only with confirmed direct India and China routes. The model builds growth market by market from four levers; air access and market activation decide how much the province captures.</a:t>
            </a:r>
          </a:p>
          <a:p/>
          <a:p>
            <a:r>
              <a:t>Question for the room: Do we keep 2.8m arrivals as the headline goal, or add a spend goal beside it?</a:t>
            </a:r>
          </a:p>
          <a:p/>
          <a:p>
            <a:r>
              <a:t>Sources: Demand-Side pp18, 19-21, 53.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base case adds 731,000 arrivals by 2035. Hub markets (UAE, Ethiopia, Qatar, Turkey) add the most, 224,000, because passengers from India, China and the Gulf arrive through them. Acceleration markets double from a low base: India from 77,000 to 165,000 and China from 43,000 to 93,000 by 2035 (p23). Yield varies four-fold: a US visitor spends R32,900, a Namibian R8,600. Nigeria and Ghana spend at US levels and Nigeria holds the largest modelled addressable pool in Africa, 310,000 to 510,000 trips (p30). Mature markets are the US, UK, Netherlands, Germany, France and Switzerland. The four target segments come from Skift’s 2025 study of 25,000 travellers but have not been sized or mapped to markets.</a:t>
            </a:r>
          </a:p>
          <a:p/>
          <a:p>
            <a:r>
              <a:t>Question for the room: Which markets earn the next rand: the hubs that deliver volume or the mature markets that deliver yield?</a:t>
            </a:r>
          </a:p>
          <a:p/>
          <a:p>
            <a:r>
              <a:t>Sources: Demand-Side pp13-14, 21, 23, 27-30; Diagnostic pp16-20.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province has the assets: natural attractions score 3.3 or higher everywhere. What collapses with distance is access, then bookability. Visitors cannot reach Hermanus, Knysna or Plettenberg Bay without a car and the N2 is the only continuous corridor, a single point of failure. There is no mid-scale branded accommodation and mid-market supply is absent outside Stellenbosch. Marine and wildflower assets have no product. The report calls shoulder-season events the single largest lever to flatten demand. Only one of six touring routes has been scored.</a:t>
            </a:r>
          </a:p>
          <a:p/>
          <a:p>
            <a:r>
              <a:t>Question for the room: Which two routes should be scored and backed first?</a:t>
            </a:r>
          </a:p>
          <a:p/>
          <a:p>
            <a:r>
              <a:t>Sources: Infrastructure Report pp2, 5, 22, 29, 31-34, 36-41.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Foreign visitors spend R4m to R10m a year in these twenty communities, against R259m if they captured 1%. Distance is not the problem: 93 of 107 long-listed communities sit within 45 minutes of a tourism node or corridor. Organisation and safety are. Kliptown shows what happens when capital comes first.</a:t>
            </a:r>
          </a:p>
          <a:p/>
          <a:p>
            <a:r>
              <a:t>Question for the room: Which two or three communities should pilot a seller with a stake in 2027?</a:t>
            </a:r>
          </a:p>
          <a:p/>
          <a:p>
            <a:r>
              <a:t>Sources: SME plan pp5, 12, 16, 23-24, 27.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Fourteen themes are supported and four partly: segment preferences are unsized, the growth-market pivot rests on hub traffic with no direct route before 2030, destination management lacks sustainable funding and no investment pipeline exists. "Supported, Strong" needs two independent sources. The supply and inclusion reports were framed by the tree, so the strong verdicts lean on MIDAS, Demand-Side and Stakeholder evidence for independence.</a:t>
            </a:r>
          </a:p>
          <a:p/>
          <a:p>
            <a:r>
              <a:t>Question for the room: Which partly supported theme matters most to the final answer: segments, growth markets, destination funding or capital?</a:t>
            </a:r>
          </a:p>
          <a:p/>
          <a:p>
            <a:r>
              <a:t>Sources: Appendix A1; Diagnostic p64; all interim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Each change follows a finding. Air access splits because the constraint has moved from winning routes to holding capacity. Cruise gets its own theme because the RFP targets it and evidence now exists. Seasonality is reworded because airlines withdraw winter seats. Skills is added as untested because the RFP requires it and the 300,000 jobs goal has no labour analysis. Evidence: 1 MIDAS pp13, 17, 22; 2 RFP s2, cruise report via mobility factbase; 3 MIDAS p15, Demand-Side p37; 4 Infrastructure pp31-33, Stakeholder p42; 5 Stakeholder pp24, 46, MIDAS p22; 6 MIDAS pp18-19, Demand-Side p23; 7 RFP s3.3, Stakeholder pp27, 43-44; 8 Stakeholder pp12, 25, SME plan (De Rust); 9 Stakeholder p25, municipal factbase.</a:t>
            </a:r>
          </a:p>
          <a:p/>
          <a:p>
            <a:r>
              <a:t>Question for the room: Which of the nine changes would you reject, and on what evidence?</a:t>
            </a:r>
          </a:p>
          <a:p/>
          <a:p>
            <a:r>
              <a:t>Sources: As listed in the talking 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These seven findings are the spine of the final report. Each is a fact with an action, and each is backed by at least two deliverables. Pages: 1 MIDAS p15, Demand-Side p37, Stakeholder p45; 2 MIDAS pp17, 22, Demand-Side pp21, 53; 3 MIDAS pp18-19, Demand-Side pp20, 45-50; 4 Stakeholder p42, Infrastructure pp31-33, Demand-Side pp45-50; 5 Infrastructure p29, Diagnostic p39; 6 SME plan pp5, 16, Stakeholder p25; 7 Stakeholder pp24-25, municipal factbase.</a:t>
            </a:r>
          </a:p>
          <a:p/>
          <a:p>
            <a:r>
              <a:t>Question for the room: Is there a finding here you would not put in front of the Board?</a:t>
            </a:r>
          </a:p>
          <a:p/>
          <a:p>
            <a:r>
              <a:t>Sources: As listed in the talking 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factbase phrase "capture-poor, not demand-poor" is half right. Demand sits in hubs, events and regions the province cannot yet sell, book or govern. But fares, safety, peak prices and funding also bind. Falsification test: if listing, packaging and hub co-marketing lift bookings by 2028 without moving arrivals, the demand constraints dominate.</a:t>
            </a:r>
          </a:p>
          <a:p/>
          <a:p>
            <a:r>
              <a:t>Question for the room: Which half of the answer should lead the final report?</a:t>
            </a:r>
          </a:p>
          <a:p/>
          <a:p>
            <a:r>
              <a:t>Sources: DSE factbase s1.1; MIDAS p22; Stakeholder pp24-25, 46; SME plan p27.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roadmap turns the findings into conditions, not projects. By 2028 the province must be bookable and have a green-season pipeline. By 2030, when the base case meets the seat ceiling, frequency deals and bilateral relief must be in place. Owners are the tier where the lever sits; no input commits anyone yet.</a:t>
            </a:r>
          </a:p>
          <a:p/>
          <a:p>
            <a:r>
              <a:t>Question for the room: Which 2028 condition is Wesgro prepared to be held to?</a:t>
            </a:r>
          </a:p>
          <a:p/>
          <a:p>
            <a:r>
              <a:t>Sources: Demand-Side pp19-21; MIDAS pp18-19, 22; SME plan p5; cruise report via mobility factbase.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top-right quadrant is the six-week work: the M&amp;E toolkit, investment returns, marketing, spend and jobs, stakeholder coverage, route scoring and the target metric. Safety and visas matter but cannot be closed by this study; we bound them and name national owners. Placement is a Letsema judgement for discussion.</a:t>
            </a:r>
          </a:p>
          <a:p/>
          <a:p>
            <a:r>
              <a:t>Question for the room: Would you move any gap into or out of the top-right quadrant?</a:t>
            </a:r>
          </a:p>
          <a:p/>
          <a:p>
            <a:r>
              <a:t>Sources: SLA Annexure B 1.1.2, 1.1.4, 1.1.6, 1.1.7, 1.1.8, 1.1.10; RFP s2 to s4.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 plan closes the top-right gaps by week 4 and puts a draft report in front of Steercom in week 5. The first milestone is the extension decision: without it work stops on 31 October, in week 3. Approval dates are not yet set.</a:t>
            </a:r>
          </a:p>
          <a:p/>
          <a:p>
            <a:r>
              <a:t>Question for the room: Can Exco and the Board take the report in the week of 16 November?</a:t>
            </a:r>
          </a:p>
          <a:p/>
          <a:p>
            <a:r>
              <a:t>Sources: SLA clause 4.3; Annexure B 3.2.6, 3.2.9, 3.2.10.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Each decision unblocks part of the six-week plan. The extension comes first because everything after 31 October depends on it. The tree changes and the working answer set the report’s structure.</a:t>
            </a:r>
          </a:p>
          <a:p/>
          <a:p>
            <a:r>
              <a:t>Question for the room: Which of these six can we close before we leave the room?</a:t>
            </a:r>
          </a:p>
          <a:p/>
          <a:p>
            <a:r>
              <a:t>Sources: SLA clause 4.3; slides 15, 17, 19 and 20.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of the main deck. Appendix follows.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This is the one full table in the deck. It records the verdict, strength and key evidence for each of the eighteen December themes.</a:t>
            </a:r>
          </a:p>
          <a:p/>
          <a:p>
            <a:r>
              <a:t>Question for the room: Is any verdict here stronger than its evidence?</a:t>
            </a:r>
          </a:p>
          <a:p/>
          <a:p>
            <a:r>
              <a:t>Sources: As cited per row.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 These issues do not change the findings, but each must be fixed or footnoted before the Board sees the numbers. The M&amp;E toolkit needs one arrivals metric, one base year and one source.</a:t>
            </a:r>
          </a:p>
          <a:p/>
          <a:p>
            <a:r>
              <a:t>Question for the room: Which baseline should the M&amp;E toolkit adopt?</a:t>
            </a:r>
          </a:p>
          <a:p/>
          <a:p>
            <a:r>
              <a:t>Sources: As listed.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9.xml"/><Relationship Id="rId4" Type="http://schemas.openxmlformats.org/officeDocument/2006/relationships/chart" Target="../charts/chart1.xml"/><Relationship Id="rId5"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0.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2.xml"/><Relationship Id="rId4"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cover_bg.jpg"/>
          <p:cNvPicPr>
            <a:picLocks noChangeAspect="1"/>
          </p:cNvPicPr>
          <p:nvPr/>
        </p:nvPicPr>
        <p:blipFill>
          <a:blip r:embed="rId2"/>
          <a:stretch>
            <a:fillRect/>
          </a:stretch>
        </p:blipFill>
        <p:spPr>
          <a:xfrm>
            <a:off x="0" y="0"/>
            <a:ext cx="12191695" cy="6858000"/>
          </a:xfrm>
          <a:prstGeom prst="rect">
            <a:avLst/>
          </a:prstGeom>
        </p:spPr>
      </p:pic>
      <p:sp>
        <p:nvSpPr>
          <p:cNvPr id="2" name="Title 1"/>
          <p:cNvSpPr>
            <a:spLocks noGrp="1"/>
          </p:cNvSpPr>
          <p:nvPr>
            <p:ph type="title"/>
          </p:nvPr>
        </p:nvSpPr>
        <p:spPr>
          <a:xfrm>
            <a:off x="411480" y="4709160"/>
            <a:ext cx="7772400" cy="502920"/>
          </a:xfrm>
        </p:spPr>
        <p:txBody>
          <a:bodyPr lIns="0" rIns="0" tIns="0" bIns="0"/>
          <a:lstStyle/>
          <a:p>
            <a:pPr algn="l"/>
            <a:r>
              <a:rPr sz="2800" b="1" i="0">
                <a:solidFill>
                  <a:srgbClr val="FFFFFF"/>
                </a:solidFill>
                <a:latin typeface="Arial"/>
              </a:rPr>
              <a:t>Unlocking Tourism Growth</a:t>
            </a:r>
          </a:p>
        </p:txBody>
      </p:sp>
      <p:pic>
        <p:nvPicPr>
          <p:cNvPr id="4" name="Picture 3" descr="letsema.png"/>
          <p:cNvPicPr>
            <a:picLocks noChangeAspect="1"/>
          </p:cNvPicPr>
          <p:nvPr/>
        </p:nvPicPr>
        <p:blipFill>
          <a:blip r:embed="rId3"/>
          <a:stretch>
            <a:fillRect/>
          </a:stretch>
        </p:blipFill>
        <p:spPr>
          <a:xfrm>
            <a:off x="411480" y="2697480"/>
            <a:ext cx="1874519" cy="245063"/>
          </a:xfrm>
          <a:prstGeom prst="rect">
            <a:avLst/>
          </a:prstGeom>
        </p:spPr>
      </p:pic>
      <p:sp>
        <p:nvSpPr>
          <p:cNvPr id="5" name="TextBox 4"/>
          <p:cNvSpPr txBox="1"/>
          <p:nvPr/>
        </p:nvSpPr>
        <p:spPr>
          <a:xfrm>
            <a:off x="411480" y="3035808"/>
            <a:ext cx="2743200" cy="228600"/>
          </a:xfrm>
          <a:prstGeom prst="rect">
            <a:avLst/>
          </a:prstGeom>
          <a:noFill/>
        </p:spPr>
        <p:txBody>
          <a:bodyPr wrap="square" anchor="t" lIns="36576" rIns="36576" tIns="21945" bIns="21945">
            <a:spAutoFit/>
          </a:bodyPr>
          <a:lstStyle/>
          <a:p>
            <a:pPr algn="l">
              <a:spcAft>
                <a:spcPts val="0"/>
              </a:spcAft>
            </a:pPr>
            <a:r>
              <a:rPr sz="800" b="0" i="1">
                <a:solidFill>
                  <a:srgbClr val="FFFFFF"/>
                </a:solidFill>
                <a:latin typeface="Arial"/>
              </a:rPr>
              <a:t>In partnership with</a:t>
            </a:r>
          </a:p>
        </p:txBody>
      </p:sp>
      <p:pic>
        <p:nvPicPr>
          <p:cNvPr id="6" name="Picture 5" descr="skift.png"/>
          <p:cNvPicPr>
            <a:picLocks noChangeAspect="1"/>
          </p:cNvPicPr>
          <p:nvPr/>
        </p:nvPicPr>
        <p:blipFill>
          <a:blip r:embed="rId4"/>
          <a:stretch>
            <a:fillRect/>
          </a:stretch>
        </p:blipFill>
        <p:spPr>
          <a:xfrm>
            <a:off x="411480" y="3273552"/>
            <a:ext cx="685800" cy="404132"/>
          </a:xfrm>
          <a:prstGeom prst="rect">
            <a:avLst/>
          </a:prstGeom>
        </p:spPr>
      </p:pic>
      <p:sp>
        <p:nvSpPr>
          <p:cNvPr id="7" name="TextBox 6"/>
          <p:cNvSpPr txBox="1"/>
          <p:nvPr/>
        </p:nvSpPr>
        <p:spPr>
          <a:xfrm>
            <a:off x="411480" y="5230368"/>
            <a:ext cx="7772400" cy="457200"/>
          </a:xfrm>
          <a:prstGeom prst="rect">
            <a:avLst/>
          </a:prstGeom>
          <a:noFill/>
        </p:spPr>
        <p:txBody>
          <a:bodyPr wrap="square" anchor="t" lIns="0" rIns="0" tIns="0" bIns="0">
            <a:spAutoFit/>
          </a:bodyPr>
          <a:lstStyle/>
          <a:p>
            <a:pPr algn="l">
              <a:spcAft>
                <a:spcPts val="0"/>
              </a:spcAft>
            </a:pPr>
            <a:r>
              <a:rPr sz="2200" b="0" i="0">
                <a:solidFill>
                  <a:srgbClr val="FFFFFF"/>
                </a:solidFill>
                <a:latin typeface="Arial"/>
              </a:rPr>
              <a:t>Summary of findings and the road to the final report</a:t>
            </a:r>
          </a:p>
        </p:txBody>
      </p:sp>
      <p:sp>
        <p:nvSpPr>
          <p:cNvPr id="8" name="TextBox 7"/>
          <p:cNvSpPr txBox="1"/>
          <p:nvPr/>
        </p:nvSpPr>
        <p:spPr>
          <a:xfrm>
            <a:off x="411480" y="5715000"/>
            <a:ext cx="7772400" cy="274320"/>
          </a:xfrm>
          <a:prstGeom prst="rect">
            <a:avLst/>
          </a:prstGeom>
          <a:noFill/>
        </p:spPr>
        <p:txBody>
          <a:bodyPr wrap="square" anchor="t" lIns="0" rIns="0" tIns="0" bIns="0">
            <a:spAutoFit/>
          </a:bodyPr>
          <a:lstStyle/>
          <a:p>
            <a:pPr algn="l">
              <a:spcAft>
                <a:spcPts val="0"/>
              </a:spcAft>
            </a:pPr>
            <a:r>
              <a:rPr sz="1200" b="0" i="0">
                <a:solidFill>
                  <a:srgbClr val="FFFFFF"/>
                </a:solidFill>
                <a:latin typeface="Arial"/>
              </a:rPr>
              <a:t>Working session | October 2026</a:t>
            </a:r>
          </a:p>
        </p:txBody>
      </p:sp>
      <p:pic>
        <p:nvPicPr>
          <p:cNvPr id="9" name="Picture 8" descr="flag.png"/>
          <p:cNvPicPr>
            <a:picLocks noChangeAspect="1"/>
          </p:cNvPicPr>
          <p:nvPr/>
        </p:nvPicPr>
        <p:blipFill>
          <a:blip r:embed="rId5"/>
          <a:stretch>
            <a:fillRect/>
          </a:stretch>
        </p:blipFill>
        <p:spPr>
          <a:xfrm>
            <a:off x="11539728" y="6153912"/>
            <a:ext cx="495344" cy="329184"/>
          </a:xfrm>
          <a:prstGeom prst="rect">
            <a:avLst/>
          </a:prstGeom>
        </p:spPr>
      </p:pic>
      <p:sp>
        <p:nvSpPr>
          <p:cNvPr id="10"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D9D9D9"/>
                </a:solidFill>
                <a:latin typeface="Arial"/>
              </a:rPr>
              <a:t>DRAFT FOR DISCUSSION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Today we test the evidence, close the gaps and agree the final report’s answer</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01 | WHY WE ARE HERE</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Letsema proposal for the session</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457200" y="1463040"/>
            <a:ext cx="3667658" cy="45720"/>
          </a:xfrm>
          <a:prstGeom prst="rect">
            <a:avLst/>
          </a:prstGeom>
          <a:solidFill>
            <a:srgbClr val="00AEEF"/>
          </a:solidFill>
          <a:ln>
            <a:noFill/>
          </a:ln>
        </p:spPr>
        <p:txBody>
          <a:bodyPr rtlCol="0" anchor="ctr"/>
          <a:lstStyle/>
          <a:p>
            <a:pPr algn="ctr"/>
          </a:p>
        </p:txBody>
      </p:sp>
      <p:sp>
        <p:nvSpPr>
          <p:cNvPr id="9" name="TextBox 8"/>
          <p:cNvSpPr txBox="1"/>
          <p:nvPr/>
        </p:nvSpPr>
        <p:spPr>
          <a:xfrm>
            <a:off x="457200" y="1572768"/>
            <a:ext cx="3667658" cy="731520"/>
          </a:xfrm>
          <a:prstGeom prst="rect">
            <a:avLst/>
          </a:prstGeom>
          <a:noFill/>
        </p:spPr>
        <p:txBody>
          <a:bodyPr wrap="square" anchor="t" lIns="0" rIns="0" tIns="0" bIns="0">
            <a:spAutoFit/>
          </a:bodyPr>
          <a:lstStyle/>
          <a:p>
            <a:pPr algn="l">
              <a:spcAft>
                <a:spcPts val="0"/>
              </a:spcAft>
            </a:pPr>
            <a:r>
              <a:rPr sz="4000" b="1" i="0">
                <a:solidFill>
                  <a:srgbClr val="00AEEF"/>
                </a:solidFill>
                <a:latin typeface="Arial"/>
              </a:rPr>
              <a:t>01</a:t>
            </a:r>
          </a:p>
        </p:txBody>
      </p:sp>
      <p:sp>
        <p:nvSpPr>
          <p:cNvPr id="10" name="TextBox 9"/>
          <p:cNvSpPr txBox="1"/>
          <p:nvPr/>
        </p:nvSpPr>
        <p:spPr>
          <a:xfrm>
            <a:off x="457200" y="2359152"/>
            <a:ext cx="3667658" cy="365760"/>
          </a:xfrm>
          <a:prstGeom prst="rect">
            <a:avLst/>
          </a:prstGeom>
          <a:noFill/>
        </p:spPr>
        <p:txBody>
          <a:bodyPr wrap="square" anchor="t" lIns="0" rIns="0" tIns="0" bIns="0">
            <a:spAutoFit/>
          </a:bodyPr>
          <a:lstStyle/>
          <a:p>
            <a:pPr algn="l">
              <a:spcAft>
                <a:spcPts val="0"/>
              </a:spcAft>
            </a:pPr>
            <a:r>
              <a:rPr sz="1600" b="1" i="0">
                <a:solidFill>
                  <a:srgbClr val="1F497D"/>
                </a:solidFill>
                <a:latin typeface="Arial"/>
              </a:rPr>
              <a:t>Reflect and challenge</a:t>
            </a:r>
          </a:p>
        </p:txBody>
      </p:sp>
      <p:sp>
        <p:nvSpPr>
          <p:cNvPr id="11" name="TextBox 10"/>
          <p:cNvSpPr txBox="1"/>
          <p:nvPr/>
        </p:nvSpPr>
        <p:spPr>
          <a:xfrm>
            <a:off x="457200" y="2761488"/>
            <a:ext cx="3301898" cy="731520"/>
          </a:xfrm>
          <a:prstGeom prst="rect">
            <a:avLst/>
          </a:prstGeom>
          <a:noFill/>
        </p:spPr>
        <p:txBody>
          <a:bodyPr wrap="square" anchor="t" lIns="0" rIns="0" tIns="0" bIns="0">
            <a:spAutoFit/>
          </a:bodyPr>
          <a:lstStyle/>
          <a:p>
            <a:pPr algn="l">
              <a:spcAft>
                <a:spcPts val="0"/>
              </a:spcAft>
            </a:pPr>
            <a:r>
              <a:rPr sz="1200" b="0" i="0">
                <a:solidFill>
                  <a:srgbClr val="404040"/>
                </a:solidFill>
                <a:latin typeface="Arial"/>
              </a:rPr>
              <a:t>Test each finding against its source page and against the strongest counter-case.</a:t>
            </a:r>
          </a:p>
        </p:txBody>
      </p:sp>
      <p:sp>
        <p:nvSpPr>
          <p:cNvPr id="12" name="Rectangle 11"/>
          <p:cNvSpPr/>
          <p:nvPr/>
        </p:nvSpPr>
        <p:spPr>
          <a:xfrm>
            <a:off x="4262018" y="1463040"/>
            <a:ext cx="3667658" cy="45720"/>
          </a:xfrm>
          <a:prstGeom prst="rect">
            <a:avLst/>
          </a:prstGeom>
          <a:solidFill>
            <a:srgbClr val="00AEEF"/>
          </a:solidFill>
          <a:ln>
            <a:noFill/>
          </a:ln>
        </p:spPr>
        <p:txBody>
          <a:bodyPr rtlCol="0" anchor="ctr"/>
          <a:lstStyle/>
          <a:p>
            <a:pPr algn="ctr"/>
          </a:p>
        </p:txBody>
      </p:sp>
      <p:sp>
        <p:nvSpPr>
          <p:cNvPr id="13" name="TextBox 12"/>
          <p:cNvSpPr txBox="1"/>
          <p:nvPr/>
        </p:nvSpPr>
        <p:spPr>
          <a:xfrm>
            <a:off x="4262018" y="1572768"/>
            <a:ext cx="3667658" cy="731520"/>
          </a:xfrm>
          <a:prstGeom prst="rect">
            <a:avLst/>
          </a:prstGeom>
          <a:noFill/>
        </p:spPr>
        <p:txBody>
          <a:bodyPr wrap="square" anchor="t" lIns="0" rIns="0" tIns="0" bIns="0">
            <a:spAutoFit/>
          </a:bodyPr>
          <a:lstStyle/>
          <a:p>
            <a:pPr algn="l">
              <a:spcAft>
                <a:spcPts val="0"/>
              </a:spcAft>
            </a:pPr>
            <a:r>
              <a:rPr sz="4000" b="1" i="0">
                <a:solidFill>
                  <a:srgbClr val="00AEEF"/>
                </a:solidFill>
                <a:latin typeface="Arial"/>
              </a:rPr>
              <a:t>02</a:t>
            </a:r>
          </a:p>
        </p:txBody>
      </p:sp>
      <p:sp>
        <p:nvSpPr>
          <p:cNvPr id="14" name="TextBox 13"/>
          <p:cNvSpPr txBox="1"/>
          <p:nvPr/>
        </p:nvSpPr>
        <p:spPr>
          <a:xfrm>
            <a:off x="4262018" y="2359152"/>
            <a:ext cx="3667658" cy="365760"/>
          </a:xfrm>
          <a:prstGeom prst="rect">
            <a:avLst/>
          </a:prstGeom>
          <a:noFill/>
        </p:spPr>
        <p:txBody>
          <a:bodyPr wrap="square" anchor="t" lIns="0" rIns="0" tIns="0" bIns="0">
            <a:spAutoFit/>
          </a:bodyPr>
          <a:lstStyle/>
          <a:p>
            <a:pPr algn="l">
              <a:spcAft>
                <a:spcPts val="0"/>
              </a:spcAft>
            </a:pPr>
            <a:r>
              <a:rPr sz="1600" b="1" i="0">
                <a:solidFill>
                  <a:srgbClr val="1F497D"/>
                </a:solidFill>
                <a:latin typeface="Arial"/>
              </a:rPr>
              <a:t>Close the gaps</a:t>
            </a:r>
          </a:p>
        </p:txBody>
      </p:sp>
      <p:sp>
        <p:nvSpPr>
          <p:cNvPr id="15" name="TextBox 14"/>
          <p:cNvSpPr txBox="1"/>
          <p:nvPr/>
        </p:nvSpPr>
        <p:spPr>
          <a:xfrm>
            <a:off x="4262018" y="2761488"/>
            <a:ext cx="3301898" cy="731520"/>
          </a:xfrm>
          <a:prstGeom prst="rect">
            <a:avLst/>
          </a:prstGeom>
          <a:noFill/>
        </p:spPr>
        <p:txBody>
          <a:bodyPr wrap="square" anchor="t" lIns="0" rIns="0" tIns="0" bIns="0">
            <a:spAutoFit/>
          </a:bodyPr>
          <a:lstStyle/>
          <a:p>
            <a:pPr algn="l">
              <a:spcAft>
                <a:spcPts val="0"/>
              </a:spcAft>
            </a:pPr>
            <a:r>
              <a:rPr sz="1200" b="0" i="0">
                <a:solidFill>
                  <a:srgbClr val="404040"/>
                </a:solidFill>
                <a:latin typeface="Arial"/>
              </a:rPr>
              <a:t>Agree how each missing piece of evidence is analysed, bounded or parked.</a:t>
            </a:r>
          </a:p>
        </p:txBody>
      </p:sp>
      <p:sp>
        <p:nvSpPr>
          <p:cNvPr id="16" name="Rectangle 15"/>
          <p:cNvSpPr/>
          <p:nvPr/>
        </p:nvSpPr>
        <p:spPr>
          <a:xfrm>
            <a:off x="8066836" y="1463040"/>
            <a:ext cx="3667658" cy="45720"/>
          </a:xfrm>
          <a:prstGeom prst="rect">
            <a:avLst/>
          </a:prstGeom>
          <a:solidFill>
            <a:srgbClr val="00AEEF"/>
          </a:solidFill>
          <a:ln>
            <a:noFill/>
          </a:ln>
        </p:spPr>
        <p:txBody>
          <a:bodyPr rtlCol="0" anchor="ctr"/>
          <a:lstStyle/>
          <a:p>
            <a:pPr algn="ctr"/>
          </a:p>
        </p:txBody>
      </p:sp>
      <p:sp>
        <p:nvSpPr>
          <p:cNvPr id="17" name="TextBox 16"/>
          <p:cNvSpPr txBox="1"/>
          <p:nvPr/>
        </p:nvSpPr>
        <p:spPr>
          <a:xfrm>
            <a:off x="8066836" y="1572768"/>
            <a:ext cx="3667658" cy="731520"/>
          </a:xfrm>
          <a:prstGeom prst="rect">
            <a:avLst/>
          </a:prstGeom>
          <a:noFill/>
        </p:spPr>
        <p:txBody>
          <a:bodyPr wrap="square" anchor="t" lIns="0" rIns="0" tIns="0" bIns="0">
            <a:spAutoFit/>
          </a:bodyPr>
          <a:lstStyle/>
          <a:p>
            <a:pPr algn="l">
              <a:spcAft>
                <a:spcPts val="0"/>
              </a:spcAft>
            </a:pPr>
            <a:r>
              <a:rPr sz="4000" b="1" i="0">
                <a:solidFill>
                  <a:srgbClr val="00AEEF"/>
                </a:solidFill>
                <a:latin typeface="Arial"/>
              </a:rPr>
              <a:t>03</a:t>
            </a:r>
          </a:p>
        </p:txBody>
      </p:sp>
      <p:sp>
        <p:nvSpPr>
          <p:cNvPr id="18" name="TextBox 17"/>
          <p:cNvSpPr txBox="1"/>
          <p:nvPr/>
        </p:nvSpPr>
        <p:spPr>
          <a:xfrm>
            <a:off x="8066836" y="2359152"/>
            <a:ext cx="3667658" cy="365760"/>
          </a:xfrm>
          <a:prstGeom prst="rect">
            <a:avLst/>
          </a:prstGeom>
          <a:noFill/>
        </p:spPr>
        <p:txBody>
          <a:bodyPr wrap="square" anchor="t" lIns="0" rIns="0" tIns="0" bIns="0">
            <a:spAutoFit/>
          </a:bodyPr>
          <a:lstStyle/>
          <a:p>
            <a:pPr algn="l">
              <a:spcAft>
                <a:spcPts val="0"/>
              </a:spcAft>
            </a:pPr>
            <a:r>
              <a:rPr sz="1600" b="1" i="0">
                <a:solidFill>
                  <a:srgbClr val="1F497D"/>
                </a:solidFill>
                <a:latin typeface="Arial"/>
              </a:rPr>
              <a:t>Align on the answer</a:t>
            </a:r>
          </a:p>
        </p:txBody>
      </p:sp>
      <p:sp>
        <p:nvSpPr>
          <p:cNvPr id="19" name="TextBox 18"/>
          <p:cNvSpPr txBox="1"/>
          <p:nvPr/>
        </p:nvSpPr>
        <p:spPr>
          <a:xfrm>
            <a:off x="8066836" y="2761488"/>
            <a:ext cx="3301898" cy="731520"/>
          </a:xfrm>
          <a:prstGeom prst="rect">
            <a:avLst/>
          </a:prstGeom>
          <a:noFill/>
        </p:spPr>
        <p:txBody>
          <a:bodyPr wrap="square" anchor="t" lIns="0" rIns="0" tIns="0" bIns="0">
            <a:spAutoFit/>
          </a:bodyPr>
          <a:lstStyle/>
          <a:p>
            <a:pPr algn="l">
              <a:spcAft>
                <a:spcPts val="0"/>
              </a:spcAft>
            </a:pPr>
            <a:r>
              <a:rPr sz="1200" b="0" i="0">
                <a:solidFill>
                  <a:srgbClr val="404040"/>
                </a:solidFill>
                <a:latin typeface="Arial"/>
              </a:rPr>
              <a:t>Agree the working answer, the tree changes and the six-week plan.</a:t>
            </a:r>
          </a:p>
        </p:txBody>
      </p:sp>
      <p:sp>
        <p:nvSpPr>
          <p:cNvPr id="20" name="TextBox 19"/>
          <p:cNvSpPr txBox="1"/>
          <p:nvPr/>
        </p:nvSpPr>
        <p:spPr>
          <a:xfrm>
            <a:off x="457200" y="3931920"/>
            <a:ext cx="7315200"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PROPOSED RUNNING ORDER, THREE HOURS</a:t>
            </a:r>
          </a:p>
        </p:txBody>
      </p:sp>
      <p:sp>
        <p:nvSpPr>
          <p:cNvPr id="21" name="Label Rectangle 20"/>
          <p:cNvSpPr/>
          <p:nvPr/>
        </p:nvSpPr>
        <p:spPr>
          <a:xfrm>
            <a:off x="475488" y="4251960"/>
            <a:ext cx="903198" cy="713232"/>
          </a:xfrm>
          <a:prstGeom prst="rect">
            <a:avLst/>
          </a:prstGeom>
          <a:solidFill>
            <a:srgbClr val="7F7F7F"/>
          </a:solidFill>
          <a:ln>
            <a:noFill/>
          </a:ln>
        </p:spPr>
        <p:txBody>
          <a:bodyPr rtlCol="0" anchor="ctr"/>
          <a:lstStyle/>
          <a:p>
            <a:pPr algn="ctr"/>
          </a:p>
        </p:txBody>
      </p:sp>
      <p:sp>
        <p:nvSpPr>
          <p:cNvPr id="22" name="Label TextBox 21"/>
          <p:cNvSpPr txBox="1"/>
          <p:nvPr/>
        </p:nvSpPr>
        <p:spPr>
          <a:xfrm>
            <a:off x="530352" y="4251960"/>
            <a:ext cx="811758" cy="713232"/>
          </a:xfrm>
          <a:prstGeom prst="rect">
            <a:avLst/>
          </a:prstGeom>
          <a:noFill/>
        </p:spPr>
        <p:txBody>
          <a:bodyPr wrap="square" anchor="ctr" lIns="18288" rIns="18288" tIns="10972" bIns="10972">
            <a:spAutoFit/>
          </a:bodyPr>
          <a:lstStyle/>
          <a:p>
            <a:pPr algn="l">
              <a:spcAft>
                <a:spcPts val="100"/>
              </a:spcAft>
            </a:pPr>
            <a:r>
              <a:rPr sz="1000" b="1" i="0">
                <a:solidFill>
                  <a:srgbClr val="FFFFFF"/>
                </a:solidFill>
                <a:latin typeface="Arial"/>
              </a:rPr>
              <a:t>Purpose and scope</a:t>
            </a:r>
          </a:p>
          <a:p>
            <a:pPr algn="l">
              <a:spcAft>
                <a:spcPts val="0"/>
              </a:spcAft>
            </a:pPr>
            <a:r>
              <a:rPr sz="900" b="0" i="0">
                <a:solidFill>
                  <a:srgbClr val="FFFFFF"/>
                </a:solidFill>
                <a:latin typeface="Arial"/>
              </a:rPr>
              <a:t>Slides 2-4</a:t>
            </a:r>
          </a:p>
        </p:txBody>
      </p:sp>
      <p:sp>
        <p:nvSpPr>
          <p:cNvPr id="23" name="Label TextBox 22"/>
          <p:cNvSpPr txBox="1"/>
          <p:nvPr/>
        </p:nvSpPr>
        <p:spPr>
          <a:xfrm>
            <a:off x="457200" y="5010912"/>
            <a:ext cx="548640" cy="228600"/>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0:00</a:t>
            </a:r>
          </a:p>
        </p:txBody>
      </p:sp>
      <p:sp>
        <p:nvSpPr>
          <p:cNvPr id="24" name="Label Rectangle 23"/>
          <p:cNvSpPr/>
          <p:nvPr/>
        </p:nvSpPr>
        <p:spPr>
          <a:xfrm>
            <a:off x="1415262" y="4251960"/>
            <a:ext cx="3096006" cy="713232"/>
          </a:xfrm>
          <a:prstGeom prst="rect">
            <a:avLst/>
          </a:prstGeom>
          <a:solidFill>
            <a:srgbClr val="00AEEF"/>
          </a:solidFill>
          <a:ln>
            <a:noFill/>
          </a:ln>
        </p:spPr>
        <p:txBody>
          <a:bodyPr rtlCol="0" anchor="ctr"/>
          <a:lstStyle/>
          <a:p>
            <a:pPr algn="ctr"/>
          </a:p>
        </p:txBody>
      </p:sp>
      <p:sp>
        <p:nvSpPr>
          <p:cNvPr id="25" name="Label TextBox 24"/>
          <p:cNvSpPr txBox="1"/>
          <p:nvPr/>
        </p:nvSpPr>
        <p:spPr>
          <a:xfrm>
            <a:off x="1470126" y="4251960"/>
            <a:ext cx="3004566" cy="713232"/>
          </a:xfrm>
          <a:prstGeom prst="rect">
            <a:avLst/>
          </a:prstGeom>
          <a:noFill/>
        </p:spPr>
        <p:txBody>
          <a:bodyPr wrap="square" anchor="ctr" lIns="18288" rIns="18288" tIns="10972" bIns="10972">
            <a:spAutoFit/>
          </a:bodyPr>
          <a:lstStyle/>
          <a:p>
            <a:pPr algn="l">
              <a:spcAft>
                <a:spcPts val="100"/>
              </a:spcAft>
            </a:pPr>
            <a:r>
              <a:rPr sz="1000" b="1" i="0">
                <a:solidFill>
                  <a:srgbClr val="FFFFFF"/>
                </a:solidFill>
                <a:latin typeface="Arial"/>
              </a:rPr>
              <a:t>Original tree and deliverable findings</a:t>
            </a:r>
          </a:p>
          <a:p>
            <a:pPr algn="l">
              <a:spcAft>
                <a:spcPts val="0"/>
              </a:spcAft>
            </a:pPr>
            <a:r>
              <a:rPr sz="900" b="0" i="0">
                <a:solidFill>
                  <a:srgbClr val="FFFFFF"/>
                </a:solidFill>
                <a:latin typeface="Arial"/>
              </a:rPr>
              <a:t>Slides 5-13</a:t>
            </a:r>
          </a:p>
        </p:txBody>
      </p:sp>
      <p:sp>
        <p:nvSpPr>
          <p:cNvPr id="26" name="Label TextBox 25"/>
          <p:cNvSpPr txBox="1"/>
          <p:nvPr/>
        </p:nvSpPr>
        <p:spPr>
          <a:xfrm>
            <a:off x="1396974" y="5010912"/>
            <a:ext cx="548640" cy="228600"/>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0:15</a:t>
            </a:r>
          </a:p>
        </p:txBody>
      </p:sp>
      <p:sp>
        <p:nvSpPr>
          <p:cNvPr id="27" name="Label Rectangle 26"/>
          <p:cNvSpPr/>
          <p:nvPr/>
        </p:nvSpPr>
        <p:spPr>
          <a:xfrm>
            <a:off x="4547844" y="4251960"/>
            <a:ext cx="1842973" cy="713232"/>
          </a:xfrm>
          <a:prstGeom prst="rect">
            <a:avLst/>
          </a:prstGeom>
          <a:solidFill>
            <a:srgbClr val="00AEEF"/>
          </a:solidFill>
          <a:ln>
            <a:noFill/>
          </a:ln>
        </p:spPr>
        <p:txBody>
          <a:bodyPr rtlCol="0" anchor="ctr"/>
          <a:lstStyle/>
          <a:p>
            <a:pPr algn="ctr"/>
          </a:p>
        </p:txBody>
      </p:sp>
      <p:sp>
        <p:nvSpPr>
          <p:cNvPr id="28" name="Label TextBox 27"/>
          <p:cNvSpPr txBox="1"/>
          <p:nvPr/>
        </p:nvSpPr>
        <p:spPr>
          <a:xfrm>
            <a:off x="4602708" y="4251960"/>
            <a:ext cx="1751533" cy="713232"/>
          </a:xfrm>
          <a:prstGeom prst="rect">
            <a:avLst/>
          </a:prstGeom>
          <a:noFill/>
        </p:spPr>
        <p:txBody>
          <a:bodyPr wrap="square" anchor="ctr" lIns="18288" rIns="18288" tIns="10972" bIns="10972">
            <a:spAutoFit/>
          </a:bodyPr>
          <a:lstStyle/>
          <a:p>
            <a:pPr algn="l">
              <a:spcAft>
                <a:spcPts val="100"/>
              </a:spcAft>
            </a:pPr>
            <a:r>
              <a:rPr sz="1000" b="1" i="0">
                <a:solidFill>
                  <a:srgbClr val="FFFFFF"/>
                </a:solidFill>
                <a:latin typeface="Arial"/>
              </a:rPr>
              <a:t>Tree tested and changes proposed</a:t>
            </a:r>
          </a:p>
          <a:p>
            <a:pPr algn="l">
              <a:spcAft>
                <a:spcPts val="0"/>
              </a:spcAft>
            </a:pPr>
            <a:r>
              <a:rPr sz="900" b="0" i="0">
                <a:solidFill>
                  <a:srgbClr val="FFFFFF"/>
                </a:solidFill>
                <a:latin typeface="Arial"/>
              </a:rPr>
              <a:t>Slides 14-15</a:t>
            </a:r>
          </a:p>
        </p:txBody>
      </p:sp>
      <p:sp>
        <p:nvSpPr>
          <p:cNvPr id="29" name="Label TextBox 28"/>
          <p:cNvSpPr txBox="1"/>
          <p:nvPr/>
        </p:nvSpPr>
        <p:spPr>
          <a:xfrm>
            <a:off x="4529556" y="5010912"/>
            <a:ext cx="548640" cy="228600"/>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1:05</a:t>
            </a:r>
          </a:p>
        </p:txBody>
      </p:sp>
      <p:sp>
        <p:nvSpPr>
          <p:cNvPr id="30" name="Label Rectangle 29"/>
          <p:cNvSpPr/>
          <p:nvPr/>
        </p:nvSpPr>
        <p:spPr>
          <a:xfrm>
            <a:off x="6427393" y="4251960"/>
            <a:ext cx="589940" cy="713232"/>
          </a:xfrm>
          <a:prstGeom prst="rect">
            <a:avLst/>
          </a:prstGeom>
          <a:solidFill>
            <a:srgbClr val="FFFFFF"/>
          </a:solidFill>
          <a:ln w="9525">
            <a:solidFill>
              <a:srgbClr val="D9D9D9"/>
            </a:solidFill>
          </a:ln>
        </p:spPr>
        <p:txBody>
          <a:bodyPr rtlCol="0" anchor="ctr"/>
          <a:lstStyle/>
          <a:p>
            <a:pPr algn="ctr"/>
          </a:p>
        </p:txBody>
      </p:sp>
      <p:sp>
        <p:nvSpPr>
          <p:cNvPr id="31" name="Label TextBox 30"/>
          <p:cNvSpPr txBox="1"/>
          <p:nvPr/>
        </p:nvSpPr>
        <p:spPr>
          <a:xfrm>
            <a:off x="6482257" y="4251960"/>
            <a:ext cx="498500" cy="713232"/>
          </a:xfrm>
          <a:prstGeom prst="rect">
            <a:avLst/>
          </a:prstGeom>
          <a:noFill/>
        </p:spPr>
        <p:txBody>
          <a:bodyPr wrap="square" anchor="ctr" lIns="18288" rIns="18288" tIns="10972" bIns="10972">
            <a:spAutoFit/>
          </a:bodyPr>
          <a:lstStyle/>
          <a:p>
            <a:pPr algn="l">
              <a:spcAft>
                <a:spcPts val="100"/>
              </a:spcAft>
            </a:pPr>
            <a:r>
              <a:rPr sz="1000" b="1" i="0">
                <a:solidFill>
                  <a:srgbClr val="7F7F7F"/>
                </a:solidFill>
                <a:latin typeface="Arial"/>
              </a:rPr>
              <a:t>Break</a:t>
            </a:r>
          </a:p>
        </p:txBody>
      </p:sp>
      <p:sp>
        <p:nvSpPr>
          <p:cNvPr id="32" name="Label TextBox 31"/>
          <p:cNvSpPr txBox="1"/>
          <p:nvPr/>
        </p:nvSpPr>
        <p:spPr>
          <a:xfrm>
            <a:off x="6409105" y="5010912"/>
            <a:ext cx="548640" cy="228600"/>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1:35</a:t>
            </a:r>
          </a:p>
        </p:txBody>
      </p:sp>
      <p:sp>
        <p:nvSpPr>
          <p:cNvPr id="33" name="Label Rectangle 32"/>
          <p:cNvSpPr/>
          <p:nvPr/>
        </p:nvSpPr>
        <p:spPr>
          <a:xfrm>
            <a:off x="7053910" y="4251960"/>
            <a:ext cx="2469489" cy="713232"/>
          </a:xfrm>
          <a:prstGeom prst="rect">
            <a:avLst/>
          </a:prstGeom>
          <a:solidFill>
            <a:srgbClr val="4F81BD"/>
          </a:solidFill>
          <a:ln>
            <a:noFill/>
          </a:ln>
        </p:spPr>
        <p:txBody>
          <a:bodyPr rtlCol="0" anchor="ctr"/>
          <a:lstStyle/>
          <a:p>
            <a:pPr algn="ctr"/>
          </a:p>
        </p:txBody>
      </p:sp>
      <p:sp>
        <p:nvSpPr>
          <p:cNvPr id="34" name="Label TextBox 33"/>
          <p:cNvSpPr txBox="1"/>
          <p:nvPr/>
        </p:nvSpPr>
        <p:spPr>
          <a:xfrm>
            <a:off x="7108774" y="4251960"/>
            <a:ext cx="2378049" cy="713232"/>
          </a:xfrm>
          <a:prstGeom prst="rect">
            <a:avLst/>
          </a:prstGeom>
          <a:noFill/>
        </p:spPr>
        <p:txBody>
          <a:bodyPr wrap="square" anchor="ctr" lIns="18288" rIns="18288" tIns="10972" bIns="10972">
            <a:spAutoFit/>
          </a:bodyPr>
          <a:lstStyle/>
          <a:p>
            <a:pPr algn="l">
              <a:spcAft>
                <a:spcPts val="100"/>
              </a:spcAft>
            </a:pPr>
            <a:r>
              <a:rPr sz="1000" b="1" i="0">
                <a:solidFill>
                  <a:srgbClr val="FFFFFF"/>
                </a:solidFill>
                <a:latin typeface="Arial"/>
              </a:rPr>
              <a:t>Synthesis and gaps</a:t>
            </a:r>
          </a:p>
          <a:p>
            <a:pPr algn="l">
              <a:spcAft>
                <a:spcPts val="0"/>
              </a:spcAft>
            </a:pPr>
            <a:r>
              <a:rPr sz="900" b="0" i="0">
                <a:solidFill>
                  <a:srgbClr val="FFFFFF"/>
                </a:solidFill>
                <a:latin typeface="Arial"/>
              </a:rPr>
              <a:t>Slides 16-19</a:t>
            </a:r>
          </a:p>
        </p:txBody>
      </p:sp>
      <p:sp>
        <p:nvSpPr>
          <p:cNvPr id="35" name="Label TextBox 34"/>
          <p:cNvSpPr txBox="1"/>
          <p:nvPr/>
        </p:nvSpPr>
        <p:spPr>
          <a:xfrm>
            <a:off x="7035622" y="5010912"/>
            <a:ext cx="548640" cy="228600"/>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1:45</a:t>
            </a:r>
          </a:p>
        </p:txBody>
      </p:sp>
      <p:sp>
        <p:nvSpPr>
          <p:cNvPr id="36" name="Label Rectangle 35"/>
          <p:cNvSpPr/>
          <p:nvPr/>
        </p:nvSpPr>
        <p:spPr>
          <a:xfrm>
            <a:off x="9559975" y="4251960"/>
            <a:ext cx="2156231" cy="713232"/>
          </a:xfrm>
          <a:prstGeom prst="rect">
            <a:avLst/>
          </a:prstGeom>
          <a:solidFill>
            <a:srgbClr val="1F497D"/>
          </a:solidFill>
          <a:ln>
            <a:noFill/>
          </a:ln>
        </p:spPr>
        <p:txBody>
          <a:bodyPr rtlCol="0" anchor="ctr"/>
          <a:lstStyle/>
          <a:p>
            <a:pPr algn="ctr"/>
          </a:p>
        </p:txBody>
      </p:sp>
      <p:sp>
        <p:nvSpPr>
          <p:cNvPr id="37" name="Label TextBox 36"/>
          <p:cNvSpPr txBox="1"/>
          <p:nvPr/>
        </p:nvSpPr>
        <p:spPr>
          <a:xfrm>
            <a:off x="9614839" y="4251960"/>
            <a:ext cx="2064791" cy="713232"/>
          </a:xfrm>
          <a:prstGeom prst="rect">
            <a:avLst/>
          </a:prstGeom>
          <a:noFill/>
        </p:spPr>
        <p:txBody>
          <a:bodyPr wrap="square" anchor="ctr" lIns="18288" rIns="18288" tIns="10972" bIns="10972">
            <a:spAutoFit/>
          </a:bodyPr>
          <a:lstStyle/>
          <a:p>
            <a:pPr algn="l">
              <a:spcAft>
                <a:spcPts val="100"/>
              </a:spcAft>
            </a:pPr>
            <a:r>
              <a:rPr sz="1000" b="1" i="0">
                <a:solidFill>
                  <a:srgbClr val="FFFFFF"/>
                </a:solidFill>
                <a:latin typeface="Arial"/>
              </a:rPr>
              <a:t>Plan and decisions</a:t>
            </a:r>
          </a:p>
          <a:p>
            <a:pPr algn="l">
              <a:spcAft>
                <a:spcPts val="0"/>
              </a:spcAft>
            </a:pPr>
            <a:r>
              <a:rPr sz="900" b="0" i="0">
                <a:solidFill>
                  <a:srgbClr val="FFFFFF"/>
                </a:solidFill>
                <a:latin typeface="Arial"/>
              </a:rPr>
              <a:t>Slides 20-21</a:t>
            </a:r>
          </a:p>
        </p:txBody>
      </p:sp>
      <p:sp>
        <p:nvSpPr>
          <p:cNvPr id="38" name="Label TextBox 37"/>
          <p:cNvSpPr txBox="1"/>
          <p:nvPr/>
        </p:nvSpPr>
        <p:spPr>
          <a:xfrm>
            <a:off x="9541687" y="5010912"/>
            <a:ext cx="548640" cy="228600"/>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2:25</a:t>
            </a:r>
          </a:p>
        </p:txBody>
      </p:sp>
      <p:sp>
        <p:nvSpPr>
          <p:cNvPr id="39" name="Label TextBox 38"/>
          <p:cNvSpPr txBox="1"/>
          <p:nvPr/>
        </p:nvSpPr>
        <p:spPr>
          <a:xfrm>
            <a:off x="11185855" y="5010912"/>
            <a:ext cx="548640" cy="228600"/>
          </a:xfrm>
          <a:prstGeom prst="rect">
            <a:avLst/>
          </a:prstGeom>
          <a:noFill/>
        </p:spPr>
        <p:txBody>
          <a:bodyPr wrap="square" anchor="t" lIns="0" rIns="0" tIns="0" bIns="0">
            <a:spAutoFit/>
          </a:bodyPr>
          <a:lstStyle/>
          <a:p>
            <a:pPr algn="r">
              <a:spcAft>
                <a:spcPts val="0"/>
              </a:spcAft>
            </a:pPr>
            <a:r>
              <a:rPr sz="900" b="0" i="0">
                <a:solidFill>
                  <a:srgbClr val="7F7F7F"/>
                </a:solidFill>
                <a:latin typeface="Arial"/>
              </a:rPr>
              <a:t>3:00</a:t>
            </a:r>
          </a:p>
        </p:txBody>
      </p:sp>
      <p:sp>
        <p:nvSpPr>
          <p:cNvPr id="40" name="TextBox 39"/>
          <p:cNvSpPr txBox="1"/>
          <p:nvPr/>
        </p:nvSpPr>
        <p:spPr>
          <a:xfrm>
            <a:off x="457200" y="5349240"/>
            <a:ext cx="9144000"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Cyan blocks serve outcome 01, mid blue serves 02 and navy serves 03.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The study must show how the Western Cape doubles international arrivals by 2035, across six workstreams</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01 | WHY WE ARE HERE</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Inception Report (Nov 2025) p4 (objective); RFP SCM002-2025 s2 (targets) and s3.1 to 3.6 (scope); signed SLA Annexure B 3.2.1 to 3.2.10</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3</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457200" y="1417320"/>
            <a:ext cx="3667658" cy="4526280"/>
          </a:xfrm>
          <a:prstGeom prst="rect">
            <a:avLst/>
          </a:prstGeom>
          <a:solidFill>
            <a:srgbClr val="F2F2F2"/>
          </a:solidFill>
          <a:ln>
            <a:noFill/>
          </a:ln>
        </p:spPr>
        <p:txBody>
          <a:bodyPr rtlCol="0" anchor="ctr"/>
          <a:lstStyle/>
          <a:p>
            <a:pPr algn="ctr"/>
          </a:p>
        </p:txBody>
      </p:sp>
      <p:sp>
        <p:nvSpPr>
          <p:cNvPr id="9" name="TextBox 8"/>
          <p:cNvSpPr txBox="1"/>
          <p:nvPr/>
        </p:nvSpPr>
        <p:spPr>
          <a:xfrm>
            <a:off x="640080" y="1554480"/>
            <a:ext cx="3291840"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STUDY OBJECTIVE</a:t>
            </a:r>
          </a:p>
        </p:txBody>
      </p:sp>
      <p:sp>
        <p:nvSpPr>
          <p:cNvPr id="10" name="TextBox 9"/>
          <p:cNvSpPr txBox="1"/>
          <p:nvPr/>
        </p:nvSpPr>
        <p:spPr>
          <a:xfrm>
            <a:off x="640080" y="1828800"/>
            <a:ext cx="3301898" cy="1600200"/>
          </a:xfrm>
          <a:prstGeom prst="rect">
            <a:avLst/>
          </a:prstGeom>
          <a:noFill/>
        </p:spPr>
        <p:txBody>
          <a:bodyPr wrap="square" anchor="t" lIns="0" rIns="0" tIns="0" bIns="0">
            <a:spAutoFit/>
          </a:bodyPr>
          <a:lstStyle/>
          <a:p>
            <a:pPr algn="l">
              <a:spcAft>
                <a:spcPts val="0"/>
              </a:spcAft>
            </a:pPr>
            <a:r>
              <a:rPr sz="1050" b="0" i="1">
                <a:solidFill>
                  <a:srgbClr val="404040"/>
                </a:solidFill>
                <a:latin typeface="Arial"/>
              </a:rPr>
              <a:t>“To develop an evidence-based tourism strategy that will double international tourist arrivals to the Western Cape by 2035, through a holistic approach that drives demand, strengthens supply and enables inclusive, sustainable and geographically dispersed growth aligned with WESGRO’s strategic priorities.”</a:t>
            </a:r>
          </a:p>
        </p:txBody>
      </p:sp>
      <p:sp>
        <p:nvSpPr>
          <p:cNvPr id="11" name="TextBox 10"/>
          <p:cNvSpPr txBox="1"/>
          <p:nvPr/>
        </p:nvSpPr>
        <p:spPr>
          <a:xfrm>
            <a:off x="640080" y="3200400"/>
            <a:ext cx="3200400"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Inception Report p4</a:t>
            </a:r>
          </a:p>
        </p:txBody>
      </p:sp>
      <p:sp>
        <p:nvSpPr>
          <p:cNvPr id="12" name="TextBox 11"/>
          <p:cNvSpPr txBox="1"/>
          <p:nvPr/>
        </p:nvSpPr>
        <p:spPr>
          <a:xfrm>
            <a:off x="640080" y="3749039"/>
            <a:ext cx="1600200" cy="457200"/>
          </a:xfrm>
          <a:prstGeom prst="rect">
            <a:avLst/>
          </a:prstGeom>
          <a:noFill/>
        </p:spPr>
        <p:txBody>
          <a:bodyPr wrap="square" anchor="b" lIns="0" rIns="0" tIns="0" bIns="0">
            <a:spAutoFit/>
          </a:bodyPr>
          <a:lstStyle/>
          <a:p>
            <a:pPr algn="l">
              <a:spcAft>
                <a:spcPts val="0"/>
              </a:spcAft>
            </a:pPr>
            <a:r>
              <a:rPr sz="2600" b="1" i="0">
                <a:solidFill>
                  <a:srgbClr val="1F497D"/>
                </a:solidFill>
                <a:latin typeface="Arial"/>
              </a:rPr>
              <a:t>2.8m</a:t>
            </a:r>
          </a:p>
        </p:txBody>
      </p:sp>
      <p:sp>
        <p:nvSpPr>
          <p:cNvPr id="13" name="TextBox 12"/>
          <p:cNvSpPr txBox="1"/>
          <p:nvPr/>
        </p:nvSpPr>
        <p:spPr>
          <a:xfrm>
            <a:off x="640080" y="4224527"/>
            <a:ext cx="1554480" cy="502920"/>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international visitors by 2035, from 1.4m</a:t>
            </a:r>
          </a:p>
        </p:txBody>
      </p:sp>
      <p:sp>
        <p:nvSpPr>
          <p:cNvPr id="14" name="TextBox 13"/>
          <p:cNvSpPr txBox="1"/>
          <p:nvPr/>
        </p:nvSpPr>
        <p:spPr>
          <a:xfrm>
            <a:off x="2331720" y="3749039"/>
            <a:ext cx="1600200" cy="457200"/>
          </a:xfrm>
          <a:prstGeom prst="rect">
            <a:avLst/>
          </a:prstGeom>
          <a:noFill/>
        </p:spPr>
        <p:txBody>
          <a:bodyPr wrap="square" anchor="b" lIns="0" rIns="0" tIns="0" bIns="0">
            <a:spAutoFit/>
          </a:bodyPr>
          <a:lstStyle/>
          <a:p>
            <a:pPr algn="l">
              <a:spcAft>
                <a:spcPts val="0"/>
              </a:spcAft>
            </a:pPr>
            <a:r>
              <a:rPr sz="2600" b="1" i="0">
                <a:solidFill>
                  <a:srgbClr val="1F497D"/>
                </a:solidFill>
                <a:latin typeface="Arial"/>
              </a:rPr>
              <a:t>300,000</a:t>
            </a:r>
          </a:p>
        </p:txBody>
      </p:sp>
      <p:sp>
        <p:nvSpPr>
          <p:cNvPr id="15" name="TextBox 14"/>
          <p:cNvSpPr txBox="1"/>
          <p:nvPr/>
        </p:nvSpPr>
        <p:spPr>
          <a:xfrm>
            <a:off x="2331720" y="4224527"/>
            <a:ext cx="1554480" cy="502920"/>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tourism-linked jobs, from 150,000</a:t>
            </a:r>
          </a:p>
        </p:txBody>
      </p:sp>
      <p:sp>
        <p:nvSpPr>
          <p:cNvPr id="16" name="TextBox 15"/>
          <p:cNvSpPr txBox="1"/>
          <p:nvPr/>
        </p:nvSpPr>
        <p:spPr>
          <a:xfrm>
            <a:off x="640080" y="4800600"/>
            <a:ext cx="1600200" cy="457200"/>
          </a:xfrm>
          <a:prstGeom prst="rect">
            <a:avLst/>
          </a:prstGeom>
          <a:noFill/>
        </p:spPr>
        <p:txBody>
          <a:bodyPr wrap="square" anchor="b" lIns="0" rIns="0" tIns="0" bIns="0">
            <a:spAutoFit/>
          </a:bodyPr>
          <a:lstStyle/>
          <a:p>
            <a:pPr algn="l">
              <a:spcAft>
                <a:spcPts val="0"/>
              </a:spcAft>
            </a:pPr>
            <a:r>
              <a:rPr sz="2600" b="1" i="0">
                <a:solidFill>
                  <a:srgbClr val="1F497D"/>
                </a:solidFill>
                <a:latin typeface="Arial"/>
              </a:rPr>
              <a:t>10,000</a:t>
            </a:r>
          </a:p>
        </p:txBody>
      </p:sp>
      <p:sp>
        <p:nvSpPr>
          <p:cNvPr id="17" name="TextBox 16"/>
          <p:cNvSpPr txBox="1"/>
          <p:nvPr/>
        </p:nvSpPr>
        <p:spPr>
          <a:xfrm>
            <a:off x="640080" y="5276088"/>
            <a:ext cx="1554480" cy="502920"/>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SMMEs onboarded and connected to global markets</a:t>
            </a:r>
          </a:p>
        </p:txBody>
      </p:sp>
      <p:sp>
        <p:nvSpPr>
          <p:cNvPr id="18" name="TextBox 17"/>
          <p:cNvSpPr txBox="1"/>
          <p:nvPr/>
        </p:nvSpPr>
        <p:spPr>
          <a:xfrm>
            <a:off x="2331720" y="4800600"/>
            <a:ext cx="1600200" cy="457200"/>
          </a:xfrm>
          <a:prstGeom prst="rect">
            <a:avLst/>
          </a:prstGeom>
          <a:noFill/>
        </p:spPr>
        <p:txBody>
          <a:bodyPr wrap="square" anchor="b" lIns="0" rIns="0" tIns="0" bIns="0">
            <a:spAutoFit/>
          </a:bodyPr>
          <a:lstStyle/>
          <a:p>
            <a:pPr algn="l">
              <a:spcAft>
                <a:spcPts val="0"/>
              </a:spcAft>
            </a:pPr>
            <a:r>
              <a:rPr sz="2600" b="1" i="0">
                <a:solidFill>
                  <a:srgbClr val="1F497D"/>
                </a:solidFill>
                <a:latin typeface="Arial"/>
              </a:rPr>
              <a:t>2x</a:t>
            </a:r>
          </a:p>
        </p:txBody>
      </p:sp>
      <p:sp>
        <p:nvSpPr>
          <p:cNvPr id="19" name="TextBox 18"/>
          <p:cNvSpPr txBox="1"/>
          <p:nvPr/>
        </p:nvSpPr>
        <p:spPr>
          <a:xfrm>
            <a:off x="2331720" y="5276088"/>
            <a:ext cx="1554480" cy="502920"/>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airlift and cruise volumes</a:t>
            </a:r>
          </a:p>
        </p:txBody>
      </p:sp>
      <p:sp>
        <p:nvSpPr>
          <p:cNvPr id="20" name="TextBox 19"/>
          <p:cNvSpPr txBox="1"/>
          <p:nvPr/>
        </p:nvSpPr>
        <p:spPr>
          <a:xfrm>
            <a:off x="5121783" y="1554480"/>
            <a:ext cx="6612712"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SIX SCOPE WORKSTREAMS, RFP SECTIONS 3.1 TO 3.6</a:t>
            </a:r>
          </a:p>
        </p:txBody>
      </p:sp>
      <p:sp>
        <p:nvSpPr>
          <p:cNvPr id="21" name="Label Pentagon 20"/>
          <p:cNvSpPr/>
          <p:nvPr/>
        </p:nvSpPr>
        <p:spPr>
          <a:xfrm>
            <a:off x="5121783" y="1874519"/>
            <a:ext cx="1041158" cy="502920"/>
          </a:xfrm>
          <a:prstGeom prst="homePlate">
            <a:avLst/>
          </a:prstGeom>
          <a:solidFill>
            <a:srgbClr val="00AEEF"/>
          </a:solidFill>
          <a:ln>
            <a:noFill/>
          </a:ln>
        </p:spPr>
        <p:txBody>
          <a:bodyPr rtlCol="0" anchor="ctr" wrap="square" tIns="54864" bIns="54864"/>
          <a:lstStyle/>
          <a:p>
            <a:pPr algn="ctr">
              <a:spcAft>
                <a:spcPts val="0"/>
              </a:spcAft>
            </a:pPr>
            <a:r>
              <a:rPr sz="1400" b="1" i="0">
                <a:solidFill>
                  <a:srgbClr val="FFFFFF"/>
                </a:solidFill>
                <a:latin typeface="Arial"/>
              </a:rPr>
              <a:t>3.1</a:t>
            </a:r>
          </a:p>
        </p:txBody>
      </p:sp>
      <p:sp>
        <p:nvSpPr>
          <p:cNvPr id="22" name="Label TextBox 21"/>
          <p:cNvSpPr txBox="1"/>
          <p:nvPr/>
        </p:nvSpPr>
        <p:spPr>
          <a:xfrm>
            <a:off x="5121783" y="2468880"/>
            <a:ext cx="1041158" cy="566928"/>
          </a:xfrm>
          <a:prstGeom prst="rect">
            <a:avLst/>
          </a:prstGeom>
          <a:noFill/>
        </p:spPr>
        <p:txBody>
          <a:bodyPr wrap="square" anchor="t" lIns="0" rIns="0" tIns="0" bIns="0">
            <a:spAutoFit/>
          </a:bodyPr>
          <a:lstStyle/>
          <a:p>
            <a:pPr algn="ctr">
              <a:spcAft>
                <a:spcPts val="0"/>
              </a:spcAft>
            </a:pPr>
            <a:r>
              <a:rPr sz="950" b="1" i="0">
                <a:solidFill>
                  <a:srgbClr val="1F497D"/>
                </a:solidFill>
                <a:latin typeface="Arial"/>
              </a:rPr>
              <a:t>Market research and demand</a:t>
            </a:r>
          </a:p>
        </p:txBody>
      </p:sp>
      <p:sp>
        <p:nvSpPr>
          <p:cNvPr id="23" name="Label TextBox 22"/>
          <p:cNvSpPr txBox="1"/>
          <p:nvPr/>
        </p:nvSpPr>
        <p:spPr>
          <a:xfrm>
            <a:off x="5158359" y="3127248"/>
            <a:ext cx="968006" cy="201168"/>
          </a:xfrm>
          <a:prstGeom prst="rect">
            <a:avLst/>
          </a:prstGeom>
          <a:noFill/>
        </p:spPr>
        <p:txBody>
          <a:bodyPr wrap="square" anchor="t" lIns="0" rIns="0" tIns="0" bIns="0">
            <a:spAutoFit/>
          </a:bodyPr>
          <a:lstStyle/>
          <a:p>
            <a:pPr algn="ctr">
              <a:spcAft>
                <a:spcPts val="0"/>
              </a:spcAft>
            </a:pPr>
            <a:r>
              <a:rPr sz="900" b="0" i="0">
                <a:solidFill>
                  <a:srgbClr val="7F7F7F"/>
                </a:solidFill>
                <a:latin typeface="Arial"/>
              </a:rPr>
              <a:t>SLA 3.2.3</a:t>
            </a:r>
          </a:p>
        </p:txBody>
      </p:sp>
      <p:sp>
        <p:nvSpPr>
          <p:cNvPr id="24" name="Label Rounded Rectangle 23"/>
          <p:cNvSpPr/>
          <p:nvPr/>
        </p:nvSpPr>
        <p:spPr>
          <a:xfrm>
            <a:off x="5176647" y="3346704"/>
            <a:ext cx="931430" cy="219456"/>
          </a:xfrm>
          <a:prstGeom prst="roundRect">
            <a:avLst>
              <a:gd name="adj" fmla="val 50000"/>
            </a:avLst>
          </a:prstGeom>
          <a:solidFill>
            <a:srgbClr val="2E9E44"/>
          </a:solidFill>
          <a:ln>
            <a:noFill/>
          </a:ln>
        </p:spPr>
        <p:txBody>
          <a:bodyPr rtlCol="0" anchor="ctr"/>
          <a:lstStyle/>
          <a:p>
            <a:pPr algn="ctr"/>
          </a:p>
        </p:txBody>
      </p:sp>
      <p:sp>
        <p:nvSpPr>
          <p:cNvPr id="25" name="Label TextBox 24"/>
          <p:cNvSpPr txBox="1"/>
          <p:nvPr/>
        </p:nvSpPr>
        <p:spPr>
          <a:xfrm>
            <a:off x="5176647" y="3346704"/>
            <a:ext cx="931430" cy="219456"/>
          </a:xfrm>
          <a:prstGeom prst="rect">
            <a:avLst/>
          </a:prstGeom>
          <a:noFill/>
        </p:spPr>
        <p:txBody>
          <a:bodyPr wrap="square" anchor="ctr" lIns="0" rIns="0" tIns="0" bIns="0">
            <a:spAutoFit/>
          </a:bodyPr>
          <a:lstStyle/>
          <a:p>
            <a:pPr algn="ctr">
              <a:spcAft>
                <a:spcPts val="0"/>
              </a:spcAft>
            </a:pPr>
            <a:r>
              <a:rPr sz="800" b="1" i="0">
                <a:solidFill>
                  <a:srgbClr val="FFFFFF"/>
                </a:solidFill>
                <a:latin typeface="Arial"/>
              </a:rPr>
              <a:t>FINAL</a:t>
            </a:r>
          </a:p>
        </p:txBody>
      </p:sp>
      <p:sp>
        <p:nvSpPr>
          <p:cNvPr id="26" name="Label Chevron 25"/>
          <p:cNvSpPr/>
          <p:nvPr/>
        </p:nvSpPr>
        <p:spPr>
          <a:xfrm>
            <a:off x="6236093" y="1874519"/>
            <a:ext cx="1041158" cy="502920"/>
          </a:xfrm>
          <a:prstGeom prst="chevron">
            <a:avLst/>
          </a:prstGeom>
          <a:solidFill>
            <a:srgbClr val="00AEEF"/>
          </a:solidFill>
          <a:ln>
            <a:noFill/>
          </a:ln>
        </p:spPr>
        <p:txBody>
          <a:bodyPr rtlCol="0" anchor="ctr" wrap="square" tIns="54864" bIns="54864"/>
          <a:lstStyle/>
          <a:p>
            <a:pPr algn="ctr">
              <a:spcAft>
                <a:spcPts val="0"/>
              </a:spcAft>
            </a:pPr>
            <a:r>
              <a:rPr sz="1400" b="1" i="0">
                <a:solidFill>
                  <a:srgbClr val="FFFFFF"/>
                </a:solidFill>
                <a:latin typeface="Arial"/>
              </a:rPr>
              <a:t>3.2</a:t>
            </a:r>
          </a:p>
        </p:txBody>
      </p:sp>
      <p:sp>
        <p:nvSpPr>
          <p:cNvPr id="27" name="Label TextBox 26"/>
          <p:cNvSpPr txBox="1"/>
          <p:nvPr/>
        </p:nvSpPr>
        <p:spPr>
          <a:xfrm>
            <a:off x="6236093" y="2468880"/>
            <a:ext cx="1041158" cy="566928"/>
          </a:xfrm>
          <a:prstGeom prst="rect">
            <a:avLst/>
          </a:prstGeom>
          <a:noFill/>
        </p:spPr>
        <p:txBody>
          <a:bodyPr wrap="square" anchor="t" lIns="0" rIns="0" tIns="0" bIns="0">
            <a:spAutoFit/>
          </a:bodyPr>
          <a:lstStyle/>
          <a:p>
            <a:pPr algn="ctr">
              <a:spcAft>
                <a:spcPts val="0"/>
              </a:spcAft>
            </a:pPr>
            <a:r>
              <a:rPr sz="950" b="1" i="0">
                <a:solidFill>
                  <a:srgbClr val="1F497D"/>
                </a:solidFill>
                <a:latin typeface="Arial"/>
              </a:rPr>
              <a:t>Spatial and infrastructure readiness</a:t>
            </a:r>
          </a:p>
        </p:txBody>
      </p:sp>
      <p:sp>
        <p:nvSpPr>
          <p:cNvPr id="28" name="Label TextBox 27"/>
          <p:cNvSpPr txBox="1"/>
          <p:nvPr/>
        </p:nvSpPr>
        <p:spPr>
          <a:xfrm>
            <a:off x="6272669" y="3127248"/>
            <a:ext cx="968006" cy="201168"/>
          </a:xfrm>
          <a:prstGeom prst="rect">
            <a:avLst/>
          </a:prstGeom>
          <a:noFill/>
        </p:spPr>
        <p:txBody>
          <a:bodyPr wrap="square" anchor="t" lIns="0" rIns="0" tIns="0" bIns="0">
            <a:spAutoFit/>
          </a:bodyPr>
          <a:lstStyle/>
          <a:p>
            <a:pPr algn="ctr">
              <a:spcAft>
                <a:spcPts val="0"/>
              </a:spcAft>
            </a:pPr>
            <a:r>
              <a:rPr sz="900" b="0" i="0">
                <a:solidFill>
                  <a:srgbClr val="7F7F7F"/>
                </a:solidFill>
                <a:latin typeface="Arial"/>
              </a:rPr>
              <a:t>SLA 3.2.4</a:t>
            </a:r>
          </a:p>
        </p:txBody>
      </p:sp>
      <p:sp>
        <p:nvSpPr>
          <p:cNvPr id="29" name="Label Rounded Rectangle 28"/>
          <p:cNvSpPr/>
          <p:nvPr/>
        </p:nvSpPr>
        <p:spPr>
          <a:xfrm>
            <a:off x="6290957" y="3346704"/>
            <a:ext cx="931430" cy="219456"/>
          </a:xfrm>
          <a:prstGeom prst="roundRect">
            <a:avLst>
              <a:gd name="adj" fmla="val 50000"/>
            </a:avLst>
          </a:prstGeom>
          <a:solidFill>
            <a:srgbClr val="F2A900"/>
          </a:solidFill>
          <a:ln>
            <a:noFill/>
          </a:ln>
        </p:spPr>
        <p:txBody>
          <a:bodyPr rtlCol="0" anchor="ctr"/>
          <a:lstStyle/>
          <a:p>
            <a:pPr algn="ctr"/>
          </a:p>
        </p:txBody>
      </p:sp>
      <p:sp>
        <p:nvSpPr>
          <p:cNvPr id="30" name="Label TextBox 29"/>
          <p:cNvSpPr txBox="1"/>
          <p:nvPr/>
        </p:nvSpPr>
        <p:spPr>
          <a:xfrm>
            <a:off x="6290957" y="3346704"/>
            <a:ext cx="931430" cy="219456"/>
          </a:xfrm>
          <a:prstGeom prst="rect">
            <a:avLst/>
          </a:prstGeom>
          <a:noFill/>
        </p:spPr>
        <p:txBody>
          <a:bodyPr wrap="square" anchor="ctr" lIns="0" rIns="0" tIns="0" bIns="0">
            <a:spAutoFit/>
          </a:bodyPr>
          <a:lstStyle/>
          <a:p>
            <a:pPr algn="ctr">
              <a:spcAft>
                <a:spcPts val="0"/>
              </a:spcAft>
            </a:pPr>
            <a:r>
              <a:rPr sz="800" b="1" i="0">
                <a:solidFill>
                  <a:srgbClr val="262626"/>
                </a:solidFill>
                <a:latin typeface="Arial"/>
              </a:rPr>
              <a:t>DRAFT</a:t>
            </a:r>
          </a:p>
        </p:txBody>
      </p:sp>
      <p:sp>
        <p:nvSpPr>
          <p:cNvPr id="31" name="Label Chevron 30"/>
          <p:cNvSpPr/>
          <p:nvPr/>
        </p:nvSpPr>
        <p:spPr>
          <a:xfrm>
            <a:off x="7350404" y="1874519"/>
            <a:ext cx="1041158" cy="502920"/>
          </a:xfrm>
          <a:prstGeom prst="chevron">
            <a:avLst/>
          </a:prstGeom>
          <a:solidFill>
            <a:srgbClr val="00AEEF"/>
          </a:solidFill>
          <a:ln>
            <a:noFill/>
          </a:ln>
        </p:spPr>
        <p:txBody>
          <a:bodyPr rtlCol="0" anchor="ctr" wrap="square" tIns="54864" bIns="54864"/>
          <a:lstStyle/>
          <a:p>
            <a:pPr algn="ctr">
              <a:spcAft>
                <a:spcPts val="0"/>
              </a:spcAft>
            </a:pPr>
            <a:r>
              <a:rPr sz="1400" b="1" i="0">
                <a:solidFill>
                  <a:srgbClr val="FFFFFF"/>
                </a:solidFill>
                <a:latin typeface="Arial"/>
              </a:rPr>
              <a:t>3.3</a:t>
            </a:r>
          </a:p>
        </p:txBody>
      </p:sp>
      <p:sp>
        <p:nvSpPr>
          <p:cNvPr id="32" name="Label TextBox 31"/>
          <p:cNvSpPr txBox="1"/>
          <p:nvPr/>
        </p:nvSpPr>
        <p:spPr>
          <a:xfrm>
            <a:off x="7350404" y="2468880"/>
            <a:ext cx="1041158" cy="566928"/>
          </a:xfrm>
          <a:prstGeom prst="rect">
            <a:avLst/>
          </a:prstGeom>
          <a:noFill/>
        </p:spPr>
        <p:txBody>
          <a:bodyPr wrap="square" anchor="t" lIns="0" rIns="0" tIns="0" bIns="0">
            <a:spAutoFit/>
          </a:bodyPr>
          <a:lstStyle/>
          <a:p>
            <a:pPr algn="ctr">
              <a:spcAft>
                <a:spcPts val="0"/>
              </a:spcAft>
            </a:pPr>
            <a:r>
              <a:rPr sz="950" b="1" i="0">
                <a:solidFill>
                  <a:srgbClr val="1F497D"/>
                </a:solidFill>
                <a:latin typeface="Arial"/>
              </a:rPr>
              <a:t>SMME and inclusion strategy</a:t>
            </a:r>
          </a:p>
        </p:txBody>
      </p:sp>
      <p:sp>
        <p:nvSpPr>
          <p:cNvPr id="33" name="Label TextBox 32"/>
          <p:cNvSpPr txBox="1"/>
          <p:nvPr/>
        </p:nvSpPr>
        <p:spPr>
          <a:xfrm>
            <a:off x="7386980" y="3127248"/>
            <a:ext cx="968006" cy="201168"/>
          </a:xfrm>
          <a:prstGeom prst="rect">
            <a:avLst/>
          </a:prstGeom>
          <a:noFill/>
        </p:spPr>
        <p:txBody>
          <a:bodyPr wrap="square" anchor="t" lIns="0" rIns="0" tIns="0" bIns="0">
            <a:spAutoFit/>
          </a:bodyPr>
          <a:lstStyle/>
          <a:p>
            <a:pPr algn="ctr">
              <a:spcAft>
                <a:spcPts val="0"/>
              </a:spcAft>
            </a:pPr>
            <a:r>
              <a:rPr sz="900" b="0" i="0">
                <a:solidFill>
                  <a:srgbClr val="7F7F7F"/>
                </a:solidFill>
                <a:latin typeface="Arial"/>
              </a:rPr>
              <a:t>SLA 3.2.5</a:t>
            </a:r>
          </a:p>
        </p:txBody>
      </p:sp>
      <p:sp>
        <p:nvSpPr>
          <p:cNvPr id="34" name="Label Rounded Rectangle 33"/>
          <p:cNvSpPr/>
          <p:nvPr/>
        </p:nvSpPr>
        <p:spPr>
          <a:xfrm>
            <a:off x="7405268" y="3346704"/>
            <a:ext cx="931430" cy="219456"/>
          </a:xfrm>
          <a:prstGeom prst="roundRect">
            <a:avLst>
              <a:gd name="adj" fmla="val 50000"/>
            </a:avLst>
          </a:prstGeom>
          <a:solidFill>
            <a:srgbClr val="F2A900"/>
          </a:solidFill>
          <a:ln>
            <a:noFill/>
          </a:ln>
        </p:spPr>
        <p:txBody>
          <a:bodyPr rtlCol="0" anchor="ctr"/>
          <a:lstStyle/>
          <a:p>
            <a:pPr algn="ctr"/>
          </a:p>
        </p:txBody>
      </p:sp>
      <p:sp>
        <p:nvSpPr>
          <p:cNvPr id="35" name="Label TextBox 34"/>
          <p:cNvSpPr txBox="1"/>
          <p:nvPr/>
        </p:nvSpPr>
        <p:spPr>
          <a:xfrm>
            <a:off x="7405268" y="3346704"/>
            <a:ext cx="931430" cy="219456"/>
          </a:xfrm>
          <a:prstGeom prst="rect">
            <a:avLst/>
          </a:prstGeom>
          <a:noFill/>
        </p:spPr>
        <p:txBody>
          <a:bodyPr wrap="square" anchor="ctr" lIns="0" rIns="0" tIns="0" bIns="0">
            <a:spAutoFit/>
          </a:bodyPr>
          <a:lstStyle/>
          <a:p>
            <a:pPr algn="ctr">
              <a:spcAft>
                <a:spcPts val="0"/>
              </a:spcAft>
            </a:pPr>
            <a:r>
              <a:rPr sz="800" b="1" i="0">
                <a:solidFill>
                  <a:srgbClr val="262626"/>
                </a:solidFill>
                <a:latin typeface="Arial"/>
              </a:rPr>
              <a:t>DRAFT</a:t>
            </a:r>
          </a:p>
        </p:txBody>
      </p:sp>
      <p:sp>
        <p:nvSpPr>
          <p:cNvPr id="36" name="Label Chevron 35"/>
          <p:cNvSpPr/>
          <p:nvPr/>
        </p:nvSpPr>
        <p:spPr>
          <a:xfrm>
            <a:off x="8464715" y="1874519"/>
            <a:ext cx="1041158" cy="502920"/>
          </a:xfrm>
          <a:prstGeom prst="chevron">
            <a:avLst/>
          </a:prstGeom>
          <a:solidFill>
            <a:srgbClr val="00AEEF"/>
          </a:solidFill>
          <a:ln>
            <a:noFill/>
          </a:ln>
        </p:spPr>
        <p:txBody>
          <a:bodyPr rtlCol="0" anchor="ctr" wrap="square" tIns="54864" bIns="54864"/>
          <a:lstStyle/>
          <a:p>
            <a:pPr algn="ctr">
              <a:spcAft>
                <a:spcPts val="0"/>
              </a:spcAft>
            </a:pPr>
            <a:r>
              <a:rPr sz="1400" b="1" i="0">
                <a:solidFill>
                  <a:srgbClr val="FFFFFF"/>
                </a:solidFill>
                <a:latin typeface="Arial"/>
              </a:rPr>
              <a:t>3.4</a:t>
            </a:r>
          </a:p>
        </p:txBody>
      </p:sp>
      <p:sp>
        <p:nvSpPr>
          <p:cNvPr id="37" name="Label TextBox 36"/>
          <p:cNvSpPr txBox="1"/>
          <p:nvPr/>
        </p:nvSpPr>
        <p:spPr>
          <a:xfrm>
            <a:off x="8464715" y="2468880"/>
            <a:ext cx="1041158" cy="566928"/>
          </a:xfrm>
          <a:prstGeom prst="rect">
            <a:avLst/>
          </a:prstGeom>
          <a:noFill/>
        </p:spPr>
        <p:txBody>
          <a:bodyPr wrap="square" anchor="t" lIns="0" rIns="0" tIns="0" bIns="0">
            <a:spAutoFit/>
          </a:bodyPr>
          <a:lstStyle/>
          <a:p>
            <a:pPr algn="ctr">
              <a:spcAft>
                <a:spcPts val="0"/>
              </a:spcAft>
            </a:pPr>
            <a:r>
              <a:rPr sz="950" b="1" i="0">
                <a:solidFill>
                  <a:srgbClr val="1F497D"/>
                </a:solidFill>
                <a:latin typeface="Arial"/>
              </a:rPr>
              <a:t>Monitoring and evaluation</a:t>
            </a:r>
          </a:p>
        </p:txBody>
      </p:sp>
      <p:sp>
        <p:nvSpPr>
          <p:cNvPr id="38" name="Label TextBox 37"/>
          <p:cNvSpPr txBox="1"/>
          <p:nvPr/>
        </p:nvSpPr>
        <p:spPr>
          <a:xfrm>
            <a:off x="8501291" y="3127248"/>
            <a:ext cx="968006" cy="201168"/>
          </a:xfrm>
          <a:prstGeom prst="rect">
            <a:avLst/>
          </a:prstGeom>
          <a:noFill/>
        </p:spPr>
        <p:txBody>
          <a:bodyPr wrap="square" anchor="t" lIns="0" rIns="0" tIns="0" bIns="0">
            <a:spAutoFit/>
          </a:bodyPr>
          <a:lstStyle/>
          <a:p>
            <a:pPr algn="ctr">
              <a:spcAft>
                <a:spcPts val="0"/>
              </a:spcAft>
            </a:pPr>
            <a:r>
              <a:rPr sz="900" b="0" i="0">
                <a:solidFill>
                  <a:srgbClr val="7F7F7F"/>
                </a:solidFill>
                <a:latin typeface="Arial"/>
              </a:rPr>
              <a:t>SLA 3.2.6</a:t>
            </a:r>
          </a:p>
        </p:txBody>
      </p:sp>
      <p:sp>
        <p:nvSpPr>
          <p:cNvPr id="39" name="Label Rounded Rectangle 38"/>
          <p:cNvSpPr/>
          <p:nvPr/>
        </p:nvSpPr>
        <p:spPr>
          <a:xfrm>
            <a:off x="8519579" y="3346704"/>
            <a:ext cx="931430" cy="219456"/>
          </a:xfrm>
          <a:prstGeom prst="roundRect">
            <a:avLst>
              <a:gd name="adj" fmla="val 50000"/>
            </a:avLst>
          </a:prstGeom>
          <a:solidFill>
            <a:srgbClr val="D9D9D9"/>
          </a:solidFill>
          <a:ln>
            <a:noFill/>
          </a:ln>
        </p:spPr>
        <p:txBody>
          <a:bodyPr rtlCol="0" anchor="ctr"/>
          <a:lstStyle/>
          <a:p>
            <a:pPr algn="ctr"/>
          </a:p>
        </p:txBody>
      </p:sp>
      <p:sp>
        <p:nvSpPr>
          <p:cNvPr id="40" name="Label TextBox 39"/>
          <p:cNvSpPr txBox="1"/>
          <p:nvPr/>
        </p:nvSpPr>
        <p:spPr>
          <a:xfrm>
            <a:off x="8519579" y="3346704"/>
            <a:ext cx="931430" cy="219456"/>
          </a:xfrm>
          <a:prstGeom prst="rect">
            <a:avLst/>
          </a:prstGeom>
          <a:noFill/>
        </p:spPr>
        <p:txBody>
          <a:bodyPr wrap="square" anchor="ctr" lIns="0" rIns="0" tIns="0" bIns="0">
            <a:spAutoFit/>
          </a:bodyPr>
          <a:lstStyle/>
          <a:p>
            <a:pPr algn="ctr">
              <a:spcAft>
                <a:spcPts val="0"/>
              </a:spcAft>
            </a:pPr>
            <a:r>
              <a:rPr sz="800" b="1" i="0">
                <a:solidFill>
                  <a:srgbClr val="262626"/>
                </a:solidFill>
                <a:latin typeface="Arial"/>
              </a:rPr>
              <a:t>OUTSTANDING</a:t>
            </a:r>
          </a:p>
        </p:txBody>
      </p:sp>
      <p:sp>
        <p:nvSpPr>
          <p:cNvPr id="41" name="Label Chevron 40"/>
          <p:cNvSpPr/>
          <p:nvPr/>
        </p:nvSpPr>
        <p:spPr>
          <a:xfrm>
            <a:off x="9579025" y="1874519"/>
            <a:ext cx="1041158" cy="502920"/>
          </a:xfrm>
          <a:prstGeom prst="chevron">
            <a:avLst/>
          </a:prstGeom>
          <a:solidFill>
            <a:srgbClr val="00AEEF"/>
          </a:solidFill>
          <a:ln>
            <a:noFill/>
          </a:ln>
        </p:spPr>
        <p:txBody>
          <a:bodyPr rtlCol="0" anchor="ctr" wrap="square" tIns="54864" bIns="54864"/>
          <a:lstStyle/>
          <a:p>
            <a:pPr algn="ctr">
              <a:spcAft>
                <a:spcPts val="0"/>
              </a:spcAft>
            </a:pPr>
            <a:r>
              <a:rPr sz="1400" b="1" i="0">
                <a:solidFill>
                  <a:srgbClr val="FFFFFF"/>
                </a:solidFill>
                <a:latin typeface="Arial"/>
              </a:rPr>
              <a:t>3.5</a:t>
            </a:r>
          </a:p>
        </p:txBody>
      </p:sp>
      <p:sp>
        <p:nvSpPr>
          <p:cNvPr id="42" name="Label TextBox 41"/>
          <p:cNvSpPr txBox="1"/>
          <p:nvPr/>
        </p:nvSpPr>
        <p:spPr>
          <a:xfrm>
            <a:off x="9579025" y="2468880"/>
            <a:ext cx="1041158" cy="566928"/>
          </a:xfrm>
          <a:prstGeom prst="rect">
            <a:avLst/>
          </a:prstGeom>
          <a:noFill/>
        </p:spPr>
        <p:txBody>
          <a:bodyPr wrap="square" anchor="t" lIns="0" rIns="0" tIns="0" bIns="0">
            <a:spAutoFit/>
          </a:bodyPr>
          <a:lstStyle/>
          <a:p>
            <a:pPr algn="ctr">
              <a:spcAft>
                <a:spcPts val="0"/>
              </a:spcAft>
            </a:pPr>
            <a:r>
              <a:rPr sz="950" b="1" i="0">
                <a:solidFill>
                  <a:srgbClr val="1F497D"/>
                </a:solidFill>
                <a:latin typeface="Arial"/>
              </a:rPr>
              <a:t>Global benchmarking</a:t>
            </a:r>
          </a:p>
        </p:txBody>
      </p:sp>
      <p:sp>
        <p:nvSpPr>
          <p:cNvPr id="43" name="Label TextBox 42"/>
          <p:cNvSpPr txBox="1"/>
          <p:nvPr/>
        </p:nvSpPr>
        <p:spPr>
          <a:xfrm>
            <a:off x="9615601" y="3127248"/>
            <a:ext cx="968006" cy="201168"/>
          </a:xfrm>
          <a:prstGeom prst="rect">
            <a:avLst/>
          </a:prstGeom>
          <a:noFill/>
        </p:spPr>
        <p:txBody>
          <a:bodyPr wrap="square" anchor="t" lIns="0" rIns="0" tIns="0" bIns="0">
            <a:spAutoFit/>
          </a:bodyPr>
          <a:lstStyle/>
          <a:p>
            <a:pPr algn="ctr">
              <a:spcAft>
                <a:spcPts val="0"/>
              </a:spcAft>
            </a:pPr>
            <a:r>
              <a:rPr sz="900" b="0" i="0">
                <a:solidFill>
                  <a:srgbClr val="7F7F7F"/>
                </a:solidFill>
                <a:latin typeface="Arial"/>
              </a:rPr>
              <a:t>SLA 3.2.7</a:t>
            </a:r>
          </a:p>
        </p:txBody>
      </p:sp>
      <p:sp>
        <p:nvSpPr>
          <p:cNvPr id="44" name="Label Rounded Rectangle 43"/>
          <p:cNvSpPr/>
          <p:nvPr/>
        </p:nvSpPr>
        <p:spPr>
          <a:xfrm>
            <a:off x="9633889" y="3346704"/>
            <a:ext cx="931430" cy="219456"/>
          </a:xfrm>
          <a:prstGeom prst="roundRect">
            <a:avLst>
              <a:gd name="adj" fmla="val 50000"/>
            </a:avLst>
          </a:prstGeom>
          <a:solidFill>
            <a:srgbClr val="2E9E44"/>
          </a:solidFill>
          <a:ln>
            <a:noFill/>
          </a:ln>
        </p:spPr>
        <p:txBody>
          <a:bodyPr rtlCol="0" anchor="ctr"/>
          <a:lstStyle/>
          <a:p>
            <a:pPr algn="ctr"/>
          </a:p>
        </p:txBody>
      </p:sp>
      <p:sp>
        <p:nvSpPr>
          <p:cNvPr id="45" name="Label TextBox 44"/>
          <p:cNvSpPr txBox="1"/>
          <p:nvPr/>
        </p:nvSpPr>
        <p:spPr>
          <a:xfrm>
            <a:off x="9633889" y="3346704"/>
            <a:ext cx="931430" cy="219456"/>
          </a:xfrm>
          <a:prstGeom prst="rect">
            <a:avLst/>
          </a:prstGeom>
          <a:noFill/>
        </p:spPr>
        <p:txBody>
          <a:bodyPr wrap="square" anchor="ctr" lIns="0" rIns="0" tIns="0" bIns="0">
            <a:spAutoFit/>
          </a:bodyPr>
          <a:lstStyle/>
          <a:p>
            <a:pPr algn="ctr">
              <a:spcAft>
                <a:spcPts val="0"/>
              </a:spcAft>
            </a:pPr>
            <a:r>
              <a:rPr sz="800" b="1" i="0">
                <a:solidFill>
                  <a:srgbClr val="FFFFFF"/>
                </a:solidFill>
                <a:latin typeface="Arial"/>
              </a:rPr>
              <a:t>FINAL</a:t>
            </a:r>
          </a:p>
        </p:txBody>
      </p:sp>
      <p:sp>
        <p:nvSpPr>
          <p:cNvPr id="46" name="Label Chevron 45"/>
          <p:cNvSpPr/>
          <p:nvPr/>
        </p:nvSpPr>
        <p:spPr>
          <a:xfrm>
            <a:off x="10693336" y="1874519"/>
            <a:ext cx="1041158" cy="502920"/>
          </a:xfrm>
          <a:prstGeom prst="chevron">
            <a:avLst/>
          </a:prstGeom>
          <a:solidFill>
            <a:srgbClr val="00AEEF"/>
          </a:solidFill>
          <a:ln>
            <a:noFill/>
          </a:ln>
        </p:spPr>
        <p:txBody>
          <a:bodyPr rtlCol="0" anchor="ctr" wrap="square" tIns="54864" bIns="54864"/>
          <a:lstStyle/>
          <a:p>
            <a:pPr algn="ctr">
              <a:spcAft>
                <a:spcPts val="0"/>
              </a:spcAft>
            </a:pPr>
            <a:r>
              <a:rPr sz="1400" b="1" i="0">
                <a:solidFill>
                  <a:srgbClr val="FFFFFF"/>
                </a:solidFill>
                <a:latin typeface="Arial"/>
              </a:rPr>
              <a:t>3.6</a:t>
            </a:r>
          </a:p>
        </p:txBody>
      </p:sp>
      <p:sp>
        <p:nvSpPr>
          <p:cNvPr id="47" name="Label TextBox 46"/>
          <p:cNvSpPr txBox="1"/>
          <p:nvPr/>
        </p:nvSpPr>
        <p:spPr>
          <a:xfrm>
            <a:off x="10693336" y="2468880"/>
            <a:ext cx="1041158" cy="566928"/>
          </a:xfrm>
          <a:prstGeom prst="rect">
            <a:avLst/>
          </a:prstGeom>
          <a:noFill/>
        </p:spPr>
        <p:txBody>
          <a:bodyPr wrap="square" anchor="t" lIns="0" rIns="0" tIns="0" bIns="0">
            <a:spAutoFit/>
          </a:bodyPr>
          <a:lstStyle/>
          <a:p>
            <a:pPr algn="ctr">
              <a:spcAft>
                <a:spcPts val="0"/>
              </a:spcAft>
            </a:pPr>
            <a:r>
              <a:rPr sz="950" b="1" i="0">
                <a:solidFill>
                  <a:srgbClr val="1F497D"/>
                </a:solidFill>
                <a:latin typeface="Arial"/>
              </a:rPr>
              <a:t>Stakeholders and knowledge transfer</a:t>
            </a:r>
          </a:p>
        </p:txBody>
      </p:sp>
      <p:sp>
        <p:nvSpPr>
          <p:cNvPr id="48" name="Label Rounded Rectangle 47"/>
          <p:cNvSpPr/>
          <p:nvPr/>
        </p:nvSpPr>
        <p:spPr>
          <a:xfrm>
            <a:off x="10711624" y="3145536"/>
            <a:ext cx="1004582" cy="219456"/>
          </a:xfrm>
          <a:prstGeom prst="roundRect">
            <a:avLst>
              <a:gd name="adj" fmla="val 50000"/>
            </a:avLst>
          </a:prstGeom>
          <a:solidFill>
            <a:srgbClr val="F2A900"/>
          </a:solidFill>
          <a:ln>
            <a:noFill/>
          </a:ln>
        </p:spPr>
        <p:txBody>
          <a:bodyPr rtlCol="0" anchor="ctr"/>
          <a:lstStyle/>
          <a:p>
            <a:pPr algn="ctr"/>
          </a:p>
        </p:txBody>
      </p:sp>
      <p:sp>
        <p:nvSpPr>
          <p:cNvPr id="49" name="Label TextBox 48"/>
          <p:cNvSpPr txBox="1"/>
          <p:nvPr/>
        </p:nvSpPr>
        <p:spPr>
          <a:xfrm>
            <a:off x="10711624" y="3145536"/>
            <a:ext cx="1004582" cy="219456"/>
          </a:xfrm>
          <a:prstGeom prst="rect">
            <a:avLst/>
          </a:prstGeom>
          <a:noFill/>
        </p:spPr>
        <p:txBody>
          <a:bodyPr wrap="square" anchor="ctr" lIns="0" rIns="0" tIns="0" bIns="0">
            <a:spAutoFit/>
          </a:bodyPr>
          <a:lstStyle/>
          <a:p>
            <a:pPr algn="ctr">
              <a:spcAft>
                <a:spcPts val="0"/>
              </a:spcAft>
            </a:pPr>
            <a:r>
              <a:rPr sz="750" b="1" i="0">
                <a:solidFill>
                  <a:srgbClr val="262626"/>
                </a:solidFill>
                <a:latin typeface="Arial"/>
              </a:rPr>
              <a:t>3.2.8 DRAFT</a:t>
            </a:r>
          </a:p>
        </p:txBody>
      </p:sp>
      <p:sp>
        <p:nvSpPr>
          <p:cNvPr id="50" name="Label Rounded Rectangle 49"/>
          <p:cNvSpPr/>
          <p:nvPr/>
        </p:nvSpPr>
        <p:spPr>
          <a:xfrm>
            <a:off x="10711624" y="3419856"/>
            <a:ext cx="1004582" cy="219456"/>
          </a:xfrm>
          <a:prstGeom prst="roundRect">
            <a:avLst>
              <a:gd name="adj" fmla="val 50000"/>
            </a:avLst>
          </a:prstGeom>
          <a:solidFill>
            <a:srgbClr val="D9D9D9"/>
          </a:solidFill>
          <a:ln>
            <a:noFill/>
          </a:ln>
        </p:spPr>
        <p:txBody>
          <a:bodyPr rtlCol="0" anchor="ctr"/>
          <a:lstStyle/>
          <a:p>
            <a:pPr algn="ctr"/>
          </a:p>
        </p:txBody>
      </p:sp>
      <p:sp>
        <p:nvSpPr>
          <p:cNvPr id="51" name="Label TextBox 50"/>
          <p:cNvSpPr txBox="1"/>
          <p:nvPr/>
        </p:nvSpPr>
        <p:spPr>
          <a:xfrm>
            <a:off x="10711624" y="3419856"/>
            <a:ext cx="1004582" cy="219456"/>
          </a:xfrm>
          <a:prstGeom prst="rect">
            <a:avLst/>
          </a:prstGeom>
          <a:noFill/>
        </p:spPr>
        <p:txBody>
          <a:bodyPr wrap="square" anchor="ctr" lIns="0" rIns="0" tIns="0" bIns="0">
            <a:spAutoFit/>
          </a:bodyPr>
          <a:lstStyle/>
          <a:p>
            <a:pPr algn="ctr">
              <a:spcAft>
                <a:spcPts val="0"/>
              </a:spcAft>
            </a:pPr>
            <a:r>
              <a:rPr sz="750" b="1" i="0">
                <a:solidFill>
                  <a:srgbClr val="262626"/>
                </a:solidFill>
                <a:latin typeface="Arial"/>
              </a:rPr>
              <a:t>3.2.9 OUTSTANDING</a:t>
            </a:r>
          </a:p>
        </p:txBody>
      </p:sp>
      <p:sp>
        <p:nvSpPr>
          <p:cNvPr id="52" name="Label Rounded Rectangle 51"/>
          <p:cNvSpPr/>
          <p:nvPr/>
        </p:nvSpPr>
        <p:spPr>
          <a:xfrm>
            <a:off x="10711624" y="3694176"/>
            <a:ext cx="1004582" cy="219456"/>
          </a:xfrm>
          <a:prstGeom prst="roundRect">
            <a:avLst>
              <a:gd name="adj" fmla="val 50000"/>
            </a:avLst>
          </a:prstGeom>
          <a:solidFill>
            <a:srgbClr val="D9D9D9"/>
          </a:solidFill>
          <a:ln>
            <a:noFill/>
          </a:ln>
        </p:spPr>
        <p:txBody>
          <a:bodyPr rtlCol="0" anchor="ctr"/>
          <a:lstStyle/>
          <a:p>
            <a:pPr algn="ctr"/>
          </a:p>
        </p:txBody>
      </p:sp>
      <p:sp>
        <p:nvSpPr>
          <p:cNvPr id="53" name="Label TextBox 52"/>
          <p:cNvSpPr txBox="1"/>
          <p:nvPr/>
        </p:nvSpPr>
        <p:spPr>
          <a:xfrm>
            <a:off x="10711624" y="3694176"/>
            <a:ext cx="1004582" cy="219456"/>
          </a:xfrm>
          <a:prstGeom prst="rect">
            <a:avLst/>
          </a:prstGeom>
          <a:noFill/>
        </p:spPr>
        <p:txBody>
          <a:bodyPr wrap="square" anchor="ctr" lIns="0" rIns="0" tIns="0" bIns="0">
            <a:spAutoFit/>
          </a:bodyPr>
          <a:lstStyle/>
          <a:p>
            <a:pPr algn="ctr">
              <a:spcAft>
                <a:spcPts val="0"/>
              </a:spcAft>
            </a:pPr>
            <a:r>
              <a:rPr sz="750" b="1" i="0">
                <a:solidFill>
                  <a:srgbClr val="262626"/>
                </a:solidFill>
                <a:latin typeface="Arial"/>
              </a:rPr>
              <a:t>3.2.10 OUTSTANDING</a:t>
            </a:r>
          </a:p>
        </p:txBody>
      </p:sp>
      <p:sp>
        <p:nvSpPr>
          <p:cNvPr id="54" name="Label TextBox 53"/>
          <p:cNvSpPr txBox="1"/>
          <p:nvPr/>
        </p:nvSpPr>
        <p:spPr>
          <a:xfrm>
            <a:off x="5121783" y="4251960"/>
            <a:ext cx="6612712"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ALL TEN SLA DELIVERABLES</a:t>
            </a:r>
          </a:p>
        </p:txBody>
      </p:sp>
      <p:sp>
        <p:nvSpPr>
          <p:cNvPr id="55" name="Label Rectangle 54"/>
          <p:cNvSpPr/>
          <p:nvPr/>
        </p:nvSpPr>
        <p:spPr>
          <a:xfrm>
            <a:off x="5121783" y="4572000"/>
            <a:ext cx="620123" cy="457200"/>
          </a:xfrm>
          <a:prstGeom prst="rect">
            <a:avLst/>
          </a:prstGeom>
          <a:solidFill>
            <a:srgbClr val="2E9E44"/>
          </a:solidFill>
          <a:ln>
            <a:noFill/>
          </a:ln>
        </p:spPr>
        <p:txBody>
          <a:bodyPr rtlCol="0" anchor="ctr" wrap="square" lIns="0" rIns="0" tIns="0" bIns="0"/>
          <a:lstStyle/>
          <a:p>
            <a:pPr algn="ctr">
              <a:spcAft>
                <a:spcPts val="0"/>
              </a:spcAft>
            </a:pPr>
            <a:r>
              <a:rPr sz="900" b="1" i="0">
                <a:solidFill>
                  <a:srgbClr val="FFFFFF"/>
                </a:solidFill>
                <a:latin typeface="Arial"/>
              </a:rPr>
              <a:t>3.2.1</a:t>
            </a:r>
          </a:p>
        </p:txBody>
      </p:sp>
      <p:sp>
        <p:nvSpPr>
          <p:cNvPr id="56" name="Label Rectangle 55"/>
          <p:cNvSpPr/>
          <p:nvPr/>
        </p:nvSpPr>
        <p:spPr>
          <a:xfrm>
            <a:off x="5787626" y="4572000"/>
            <a:ext cx="620123" cy="457200"/>
          </a:xfrm>
          <a:prstGeom prst="rect">
            <a:avLst/>
          </a:prstGeom>
          <a:solidFill>
            <a:srgbClr val="2E9E44"/>
          </a:solidFill>
          <a:ln>
            <a:noFill/>
          </a:ln>
        </p:spPr>
        <p:txBody>
          <a:bodyPr rtlCol="0" anchor="ctr" wrap="square" lIns="0" rIns="0" tIns="0" bIns="0"/>
          <a:lstStyle/>
          <a:p>
            <a:pPr algn="ctr">
              <a:spcAft>
                <a:spcPts val="0"/>
              </a:spcAft>
            </a:pPr>
            <a:r>
              <a:rPr sz="900" b="1" i="0">
                <a:solidFill>
                  <a:srgbClr val="FFFFFF"/>
                </a:solidFill>
                <a:latin typeface="Arial"/>
              </a:rPr>
              <a:t>3.2.2</a:t>
            </a:r>
          </a:p>
        </p:txBody>
      </p:sp>
      <p:sp>
        <p:nvSpPr>
          <p:cNvPr id="57" name="Label Rectangle 56"/>
          <p:cNvSpPr/>
          <p:nvPr/>
        </p:nvSpPr>
        <p:spPr>
          <a:xfrm>
            <a:off x="6453469" y="4572000"/>
            <a:ext cx="620123" cy="457200"/>
          </a:xfrm>
          <a:prstGeom prst="rect">
            <a:avLst/>
          </a:prstGeom>
          <a:solidFill>
            <a:srgbClr val="2E9E44"/>
          </a:solidFill>
          <a:ln>
            <a:noFill/>
          </a:ln>
        </p:spPr>
        <p:txBody>
          <a:bodyPr rtlCol="0" anchor="ctr" wrap="square" lIns="0" rIns="0" tIns="0" bIns="0"/>
          <a:lstStyle/>
          <a:p>
            <a:pPr algn="ctr">
              <a:spcAft>
                <a:spcPts val="0"/>
              </a:spcAft>
            </a:pPr>
            <a:r>
              <a:rPr sz="900" b="1" i="0">
                <a:solidFill>
                  <a:srgbClr val="FFFFFF"/>
                </a:solidFill>
                <a:latin typeface="Arial"/>
              </a:rPr>
              <a:t>3.2.3</a:t>
            </a:r>
          </a:p>
        </p:txBody>
      </p:sp>
      <p:sp>
        <p:nvSpPr>
          <p:cNvPr id="58" name="Label Rectangle 57"/>
          <p:cNvSpPr/>
          <p:nvPr/>
        </p:nvSpPr>
        <p:spPr>
          <a:xfrm>
            <a:off x="7119312" y="4572000"/>
            <a:ext cx="620123" cy="457200"/>
          </a:xfrm>
          <a:prstGeom prst="rect">
            <a:avLst/>
          </a:prstGeom>
          <a:solidFill>
            <a:srgbClr val="2E9E44"/>
          </a:solidFill>
          <a:ln>
            <a:noFill/>
          </a:ln>
        </p:spPr>
        <p:txBody>
          <a:bodyPr rtlCol="0" anchor="ctr" wrap="square" lIns="0" rIns="0" tIns="0" bIns="0"/>
          <a:lstStyle/>
          <a:p>
            <a:pPr algn="ctr">
              <a:spcAft>
                <a:spcPts val="0"/>
              </a:spcAft>
            </a:pPr>
            <a:r>
              <a:rPr sz="900" b="1" i="0">
                <a:solidFill>
                  <a:srgbClr val="FFFFFF"/>
                </a:solidFill>
                <a:latin typeface="Arial"/>
              </a:rPr>
              <a:t>3.2.7</a:t>
            </a:r>
          </a:p>
        </p:txBody>
      </p:sp>
      <p:sp>
        <p:nvSpPr>
          <p:cNvPr id="59" name="Label Rectangle 58"/>
          <p:cNvSpPr/>
          <p:nvPr/>
        </p:nvSpPr>
        <p:spPr>
          <a:xfrm>
            <a:off x="7785155" y="4572000"/>
            <a:ext cx="620123" cy="457200"/>
          </a:xfrm>
          <a:prstGeom prst="rect">
            <a:avLst/>
          </a:prstGeom>
          <a:solidFill>
            <a:srgbClr val="F2A900"/>
          </a:solidFill>
          <a:ln>
            <a:noFill/>
          </a:ln>
        </p:spPr>
        <p:txBody>
          <a:bodyPr rtlCol="0" anchor="ctr" wrap="square" lIns="0" rIns="0" tIns="0" bIns="0"/>
          <a:lstStyle/>
          <a:p>
            <a:pPr algn="ctr">
              <a:spcAft>
                <a:spcPts val="0"/>
              </a:spcAft>
            </a:pPr>
            <a:r>
              <a:rPr sz="900" b="1" i="0">
                <a:solidFill>
                  <a:srgbClr val="262626"/>
                </a:solidFill>
                <a:latin typeface="Arial"/>
              </a:rPr>
              <a:t>3.2.4</a:t>
            </a:r>
          </a:p>
        </p:txBody>
      </p:sp>
      <p:sp>
        <p:nvSpPr>
          <p:cNvPr id="60" name="Label Rectangle 59"/>
          <p:cNvSpPr/>
          <p:nvPr/>
        </p:nvSpPr>
        <p:spPr>
          <a:xfrm>
            <a:off x="8450999" y="4572000"/>
            <a:ext cx="620123" cy="457200"/>
          </a:xfrm>
          <a:prstGeom prst="rect">
            <a:avLst/>
          </a:prstGeom>
          <a:solidFill>
            <a:srgbClr val="F2A900"/>
          </a:solidFill>
          <a:ln>
            <a:noFill/>
          </a:ln>
        </p:spPr>
        <p:txBody>
          <a:bodyPr rtlCol="0" anchor="ctr" wrap="square" lIns="0" rIns="0" tIns="0" bIns="0"/>
          <a:lstStyle/>
          <a:p>
            <a:pPr algn="ctr">
              <a:spcAft>
                <a:spcPts val="0"/>
              </a:spcAft>
            </a:pPr>
            <a:r>
              <a:rPr sz="900" b="1" i="0">
                <a:solidFill>
                  <a:srgbClr val="262626"/>
                </a:solidFill>
                <a:latin typeface="Arial"/>
              </a:rPr>
              <a:t>3.2.5</a:t>
            </a:r>
          </a:p>
        </p:txBody>
      </p:sp>
      <p:sp>
        <p:nvSpPr>
          <p:cNvPr id="61" name="Label Rectangle 60"/>
          <p:cNvSpPr/>
          <p:nvPr/>
        </p:nvSpPr>
        <p:spPr>
          <a:xfrm>
            <a:off x="9116842" y="4572000"/>
            <a:ext cx="620123" cy="457200"/>
          </a:xfrm>
          <a:prstGeom prst="rect">
            <a:avLst/>
          </a:prstGeom>
          <a:solidFill>
            <a:srgbClr val="F2A900"/>
          </a:solidFill>
          <a:ln>
            <a:noFill/>
          </a:ln>
        </p:spPr>
        <p:txBody>
          <a:bodyPr rtlCol="0" anchor="ctr" wrap="square" lIns="0" rIns="0" tIns="0" bIns="0"/>
          <a:lstStyle/>
          <a:p>
            <a:pPr algn="ctr">
              <a:spcAft>
                <a:spcPts val="0"/>
              </a:spcAft>
            </a:pPr>
            <a:r>
              <a:rPr sz="900" b="1" i="0">
                <a:solidFill>
                  <a:srgbClr val="262626"/>
                </a:solidFill>
                <a:latin typeface="Arial"/>
              </a:rPr>
              <a:t>3.2.8</a:t>
            </a:r>
          </a:p>
        </p:txBody>
      </p:sp>
      <p:sp>
        <p:nvSpPr>
          <p:cNvPr id="62" name="Label Rectangle 61"/>
          <p:cNvSpPr/>
          <p:nvPr/>
        </p:nvSpPr>
        <p:spPr>
          <a:xfrm>
            <a:off x="9782685" y="4572000"/>
            <a:ext cx="620123" cy="457200"/>
          </a:xfrm>
          <a:prstGeom prst="rect">
            <a:avLst/>
          </a:prstGeom>
          <a:solidFill>
            <a:srgbClr val="D9D9D9"/>
          </a:solidFill>
          <a:ln>
            <a:noFill/>
          </a:ln>
        </p:spPr>
        <p:txBody>
          <a:bodyPr rtlCol="0" anchor="ctr" wrap="square" lIns="0" rIns="0" tIns="0" bIns="0"/>
          <a:lstStyle/>
          <a:p>
            <a:pPr algn="ctr">
              <a:spcAft>
                <a:spcPts val="0"/>
              </a:spcAft>
            </a:pPr>
            <a:r>
              <a:rPr sz="900" b="1" i="0">
                <a:solidFill>
                  <a:srgbClr val="262626"/>
                </a:solidFill>
                <a:latin typeface="Arial"/>
              </a:rPr>
              <a:t>3.2.6</a:t>
            </a:r>
          </a:p>
        </p:txBody>
      </p:sp>
      <p:sp>
        <p:nvSpPr>
          <p:cNvPr id="63" name="Label Rectangle 62"/>
          <p:cNvSpPr/>
          <p:nvPr/>
        </p:nvSpPr>
        <p:spPr>
          <a:xfrm>
            <a:off x="10448528" y="4572000"/>
            <a:ext cx="620123" cy="457200"/>
          </a:xfrm>
          <a:prstGeom prst="rect">
            <a:avLst/>
          </a:prstGeom>
          <a:solidFill>
            <a:srgbClr val="D9D9D9"/>
          </a:solidFill>
          <a:ln>
            <a:noFill/>
          </a:ln>
        </p:spPr>
        <p:txBody>
          <a:bodyPr rtlCol="0" anchor="ctr" wrap="square" lIns="0" rIns="0" tIns="0" bIns="0"/>
          <a:lstStyle/>
          <a:p>
            <a:pPr algn="ctr">
              <a:spcAft>
                <a:spcPts val="0"/>
              </a:spcAft>
            </a:pPr>
            <a:r>
              <a:rPr sz="900" b="1" i="0">
                <a:solidFill>
                  <a:srgbClr val="262626"/>
                </a:solidFill>
                <a:latin typeface="Arial"/>
              </a:rPr>
              <a:t>3.2.9</a:t>
            </a:r>
          </a:p>
        </p:txBody>
      </p:sp>
      <p:sp>
        <p:nvSpPr>
          <p:cNvPr id="64" name="Label Rectangle 63"/>
          <p:cNvSpPr/>
          <p:nvPr/>
        </p:nvSpPr>
        <p:spPr>
          <a:xfrm>
            <a:off x="11114371" y="4572000"/>
            <a:ext cx="620123" cy="457200"/>
          </a:xfrm>
          <a:prstGeom prst="rect">
            <a:avLst/>
          </a:prstGeom>
          <a:solidFill>
            <a:srgbClr val="D9D9D9"/>
          </a:solidFill>
          <a:ln>
            <a:noFill/>
          </a:ln>
        </p:spPr>
        <p:txBody>
          <a:bodyPr rtlCol="0" anchor="ctr" wrap="square" lIns="0" rIns="0" tIns="0" bIns="0"/>
          <a:lstStyle/>
          <a:p>
            <a:pPr algn="ctr">
              <a:spcAft>
                <a:spcPts val="0"/>
              </a:spcAft>
            </a:pPr>
            <a:r>
              <a:rPr sz="900" b="1" i="0">
                <a:solidFill>
                  <a:srgbClr val="262626"/>
                </a:solidFill>
                <a:latin typeface="Arial"/>
              </a:rPr>
              <a:t>3.2.10</a:t>
            </a:r>
          </a:p>
        </p:txBody>
      </p:sp>
      <p:sp>
        <p:nvSpPr>
          <p:cNvPr id="65" name="Label TextBox 64"/>
          <p:cNvSpPr txBox="1"/>
          <p:nvPr/>
        </p:nvSpPr>
        <p:spPr>
          <a:xfrm>
            <a:off x="5121783" y="5074920"/>
            <a:ext cx="2617652" cy="274320"/>
          </a:xfrm>
          <a:prstGeom prst="rect">
            <a:avLst/>
          </a:prstGeom>
          <a:noFill/>
        </p:spPr>
        <p:txBody>
          <a:bodyPr wrap="square" anchor="t" lIns="0" rIns="0" tIns="0" bIns="0">
            <a:spAutoFit/>
          </a:bodyPr>
          <a:lstStyle/>
          <a:p>
            <a:pPr algn="ctr">
              <a:spcAft>
                <a:spcPts val="0"/>
              </a:spcAft>
            </a:pPr>
            <a:r>
              <a:rPr sz="1000" b="1" i="0">
                <a:solidFill>
                  <a:srgbClr val="1F497D"/>
                </a:solidFill>
                <a:latin typeface="Arial"/>
              </a:rPr>
              <a:t>Four final</a:t>
            </a:r>
          </a:p>
        </p:txBody>
      </p:sp>
      <p:sp>
        <p:nvSpPr>
          <p:cNvPr id="66" name="Label TextBox 65"/>
          <p:cNvSpPr txBox="1"/>
          <p:nvPr/>
        </p:nvSpPr>
        <p:spPr>
          <a:xfrm>
            <a:off x="7785155" y="5074920"/>
            <a:ext cx="1951809" cy="274320"/>
          </a:xfrm>
          <a:prstGeom prst="rect">
            <a:avLst/>
          </a:prstGeom>
          <a:noFill/>
        </p:spPr>
        <p:txBody>
          <a:bodyPr wrap="square" anchor="t" lIns="0" rIns="0" tIns="0" bIns="0">
            <a:spAutoFit/>
          </a:bodyPr>
          <a:lstStyle/>
          <a:p>
            <a:pPr algn="ctr">
              <a:spcAft>
                <a:spcPts val="0"/>
              </a:spcAft>
            </a:pPr>
            <a:r>
              <a:rPr sz="1000" b="1" i="0">
                <a:solidFill>
                  <a:srgbClr val="1F497D"/>
                </a:solidFill>
                <a:latin typeface="Arial"/>
              </a:rPr>
              <a:t>Three draft</a:t>
            </a:r>
          </a:p>
        </p:txBody>
      </p:sp>
      <p:sp>
        <p:nvSpPr>
          <p:cNvPr id="67" name="Label TextBox 66"/>
          <p:cNvSpPr txBox="1"/>
          <p:nvPr/>
        </p:nvSpPr>
        <p:spPr>
          <a:xfrm>
            <a:off x="9782685" y="5074920"/>
            <a:ext cx="1951809" cy="274320"/>
          </a:xfrm>
          <a:prstGeom prst="rect">
            <a:avLst/>
          </a:prstGeom>
          <a:noFill/>
        </p:spPr>
        <p:txBody>
          <a:bodyPr wrap="square" anchor="t" lIns="0" rIns="0" tIns="0" bIns="0">
            <a:spAutoFit/>
          </a:bodyPr>
          <a:lstStyle/>
          <a:p>
            <a:pPr algn="ctr">
              <a:spcAft>
                <a:spcPts val="0"/>
              </a:spcAft>
            </a:pPr>
            <a:r>
              <a:rPr sz="1000" b="1" i="0">
                <a:solidFill>
                  <a:srgbClr val="1F497D"/>
                </a:solidFill>
                <a:latin typeface="Arial"/>
              </a:rPr>
              <a:t>Three outstanding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Eight documents have landed since November; the final report, M&amp;E toolkit and launch fall after the contract ends</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01 | WHY WE ARE HERE</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Document cover dates; signed SLA clause 4.3 and Annexure B (term 1 November 2025 to 31 October 2026)</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4</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Label Rectangle 7"/>
          <p:cNvSpPr/>
          <p:nvPr/>
        </p:nvSpPr>
        <p:spPr>
          <a:xfrm>
            <a:off x="685800" y="3282696"/>
            <a:ext cx="9284057" cy="201168"/>
          </a:xfrm>
          <a:prstGeom prst="rect">
            <a:avLst/>
          </a:prstGeom>
          <a:solidFill>
            <a:srgbClr val="DCEEF7"/>
          </a:solidFill>
          <a:ln>
            <a:noFill/>
          </a:ln>
        </p:spPr>
        <p:txBody>
          <a:bodyPr rtlCol="0" anchor="ctr"/>
          <a:lstStyle/>
          <a:p>
            <a:pPr algn="ctr"/>
          </a:p>
        </p:txBody>
      </p:sp>
      <p:cxnSp>
        <p:nvCxnSpPr>
          <p:cNvPr id="9" name="Label Connector 8"/>
          <p:cNvCxnSpPr/>
          <p:nvPr/>
        </p:nvCxnSpPr>
        <p:spPr>
          <a:xfrm>
            <a:off x="685800" y="3383280"/>
            <a:ext cx="10835640" cy="0"/>
          </a:xfrm>
          <a:prstGeom prst="line">
            <a:avLst/>
          </a:prstGeom>
          <a:ln w="15875">
            <a:solidFill>
              <a:srgbClr val="7F7F7F"/>
            </a:solidFill>
          </a:ln>
        </p:spPr>
      </p:cxnSp>
      <p:cxnSp>
        <p:nvCxnSpPr>
          <p:cNvPr id="10" name="Label Connector 9"/>
          <p:cNvCxnSpPr/>
          <p:nvPr/>
        </p:nvCxnSpPr>
        <p:spPr>
          <a:xfrm>
            <a:off x="685800" y="3282696"/>
            <a:ext cx="0" cy="201168"/>
          </a:xfrm>
          <a:prstGeom prst="line">
            <a:avLst/>
          </a:prstGeom>
          <a:ln w="12700">
            <a:solidFill>
              <a:srgbClr val="FFFFFF"/>
            </a:solidFill>
          </a:ln>
        </p:spPr>
      </p:cxnSp>
      <p:sp>
        <p:nvSpPr>
          <p:cNvPr id="11" name="Label TextBox 10"/>
          <p:cNvSpPr txBox="1"/>
          <p:nvPr/>
        </p:nvSpPr>
        <p:spPr>
          <a:xfrm>
            <a:off x="722376" y="3520440"/>
            <a:ext cx="548640" cy="201168"/>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Nov</a:t>
            </a:r>
          </a:p>
        </p:txBody>
      </p:sp>
      <p:cxnSp>
        <p:nvCxnSpPr>
          <p:cNvPr id="12" name="Label Connector 11"/>
          <p:cNvCxnSpPr/>
          <p:nvPr/>
        </p:nvCxnSpPr>
        <p:spPr>
          <a:xfrm>
            <a:off x="1448873" y="3282696"/>
            <a:ext cx="0" cy="201168"/>
          </a:xfrm>
          <a:prstGeom prst="line">
            <a:avLst/>
          </a:prstGeom>
          <a:ln w="12700">
            <a:solidFill>
              <a:srgbClr val="FFFFFF"/>
            </a:solidFill>
          </a:ln>
        </p:spPr>
      </p:cxnSp>
      <p:sp>
        <p:nvSpPr>
          <p:cNvPr id="13" name="Label TextBox 12"/>
          <p:cNvSpPr txBox="1"/>
          <p:nvPr/>
        </p:nvSpPr>
        <p:spPr>
          <a:xfrm>
            <a:off x="1485449" y="3520440"/>
            <a:ext cx="548640" cy="201168"/>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Dec</a:t>
            </a:r>
          </a:p>
        </p:txBody>
      </p:sp>
      <p:cxnSp>
        <p:nvCxnSpPr>
          <p:cNvPr id="14" name="Label Connector 13"/>
          <p:cNvCxnSpPr/>
          <p:nvPr/>
        </p:nvCxnSpPr>
        <p:spPr>
          <a:xfrm>
            <a:off x="2237382" y="3282696"/>
            <a:ext cx="0" cy="201168"/>
          </a:xfrm>
          <a:prstGeom prst="line">
            <a:avLst/>
          </a:prstGeom>
          <a:ln w="12700">
            <a:solidFill>
              <a:srgbClr val="FFFFFF"/>
            </a:solidFill>
          </a:ln>
        </p:spPr>
      </p:cxnSp>
      <p:sp>
        <p:nvSpPr>
          <p:cNvPr id="15" name="Label TextBox 14"/>
          <p:cNvSpPr txBox="1"/>
          <p:nvPr/>
        </p:nvSpPr>
        <p:spPr>
          <a:xfrm>
            <a:off x="2273958" y="3520440"/>
            <a:ext cx="548640" cy="201168"/>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Jan</a:t>
            </a:r>
          </a:p>
        </p:txBody>
      </p:sp>
      <p:cxnSp>
        <p:nvCxnSpPr>
          <p:cNvPr id="16" name="Label Connector 15"/>
          <p:cNvCxnSpPr/>
          <p:nvPr/>
        </p:nvCxnSpPr>
        <p:spPr>
          <a:xfrm>
            <a:off x="3025891" y="3282696"/>
            <a:ext cx="0" cy="201168"/>
          </a:xfrm>
          <a:prstGeom prst="line">
            <a:avLst/>
          </a:prstGeom>
          <a:ln w="12700">
            <a:solidFill>
              <a:srgbClr val="FFFFFF"/>
            </a:solidFill>
          </a:ln>
        </p:spPr>
      </p:cxnSp>
      <p:sp>
        <p:nvSpPr>
          <p:cNvPr id="17" name="Label TextBox 16"/>
          <p:cNvSpPr txBox="1"/>
          <p:nvPr/>
        </p:nvSpPr>
        <p:spPr>
          <a:xfrm>
            <a:off x="3062467" y="3520440"/>
            <a:ext cx="548640" cy="201168"/>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Feb</a:t>
            </a:r>
          </a:p>
        </p:txBody>
      </p:sp>
      <p:cxnSp>
        <p:nvCxnSpPr>
          <p:cNvPr id="18" name="Label Connector 17"/>
          <p:cNvCxnSpPr/>
          <p:nvPr/>
        </p:nvCxnSpPr>
        <p:spPr>
          <a:xfrm>
            <a:off x="3738092" y="3282696"/>
            <a:ext cx="0" cy="201168"/>
          </a:xfrm>
          <a:prstGeom prst="line">
            <a:avLst/>
          </a:prstGeom>
          <a:ln w="12700">
            <a:solidFill>
              <a:srgbClr val="FFFFFF"/>
            </a:solidFill>
          </a:ln>
        </p:spPr>
      </p:cxnSp>
      <p:sp>
        <p:nvSpPr>
          <p:cNvPr id="19" name="Label TextBox 18"/>
          <p:cNvSpPr txBox="1"/>
          <p:nvPr/>
        </p:nvSpPr>
        <p:spPr>
          <a:xfrm>
            <a:off x="3774668" y="3520440"/>
            <a:ext cx="548640" cy="201168"/>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Mar</a:t>
            </a:r>
          </a:p>
        </p:txBody>
      </p:sp>
      <p:cxnSp>
        <p:nvCxnSpPr>
          <p:cNvPr id="20" name="Label Connector 19"/>
          <p:cNvCxnSpPr/>
          <p:nvPr/>
        </p:nvCxnSpPr>
        <p:spPr>
          <a:xfrm>
            <a:off x="4526601" y="3282696"/>
            <a:ext cx="0" cy="201168"/>
          </a:xfrm>
          <a:prstGeom prst="line">
            <a:avLst/>
          </a:prstGeom>
          <a:ln w="12700">
            <a:solidFill>
              <a:srgbClr val="FFFFFF"/>
            </a:solidFill>
          </a:ln>
        </p:spPr>
      </p:cxnSp>
      <p:sp>
        <p:nvSpPr>
          <p:cNvPr id="21" name="Label TextBox 20"/>
          <p:cNvSpPr txBox="1"/>
          <p:nvPr/>
        </p:nvSpPr>
        <p:spPr>
          <a:xfrm>
            <a:off x="4563177" y="3520440"/>
            <a:ext cx="548640" cy="201168"/>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Apr</a:t>
            </a:r>
          </a:p>
        </p:txBody>
      </p:sp>
      <p:cxnSp>
        <p:nvCxnSpPr>
          <p:cNvPr id="22" name="Label Connector 21"/>
          <p:cNvCxnSpPr/>
          <p:nvPr/>
        </p:nvCxnSpPr>
        <p:spPr>
          <a:xfrm>
            <a:off x="5289675" y="3282696"/>
            <a:ext cx="0" cy="201168"/>
          </a:xfrm>
          <a:prstGeom prst="line">
            <a:avLst/>
          </a:prstGeom>
          <a:ln w="12700">
            <a:solidFill>
              <a:srgbClr val="FFFFFF"/>
            </a:solidFill>
          </a:ln>
        </p:spPr>
      </p:cxnSp>
      <p:sp>
        <p:nvSpPr>
          <p:cNvPr id="23" name="Label TextBox 22"/>
          <p:cNvSpPr txBox="1"/>
          <p:nvPr/>
        </p:nvSpPr>
        <p:spPr>
          <a:xfrm>
            <a:off x="5326251" y="3520440"/>
            <a:ext cx="548640" cy="201168"/>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May</a:t>
            </a:r>
          </a:p>
        </p:txBody>
      </p:sp>
      <p:cxnSp>
        <p:nvCxnSpPr>
          <p:cNvPr id="24" name="Label Connector 23"/>
          <p:cNvCxnSpPr/>
          <p:nvPr/>
        </p:nvCxnSpPr>
        <p:spPr>
          <a:xfrm>
            <a:off x="6078184" y="3282696"/>
            <a:ext cx="0" cy="201168"/>
          </a:xfrm>
          <a:prstGeom prst="line">
            <a:avLst/>
          </a:prstGeom>
          <a:ln w="12700">
            <a:solidFill>
              <a:srgbClr val="FFFFFF"/>
            </a:solidFill>
          </a:ln>
        </p:spPr>
      </p:cxnSp>
      <p:sp>
        <p:nvSpPr>
          <p:cNvPr id="25" name="Label TextBox 24"/>
          <p:cNvSpPr txBox="1"/>
          <p:nvPr/>
        </p:nvSpPr>
        <p:spPr>
          <a:xfrm>
            <a:off x="6114760" y="3520440"/>
            <a:ext cx="548640" cy="201168"/>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Jun</a:t>
            </a:r>
          </a:p>
        </p:txBody>
      </p:sp>
      <p:cxnSp>
        <p:nvCxnSpPr>
          <p:cNvPr id="26" name="Label Connector 25"/>
          <p:cNvCxnSpPr/>
          <p:nvPr/>
        </p:nvCxnSpPr>
        <p:spPr>
          <a:xfrm>
            <a:off x="6841257" y="3282696"/>
            <a:ext cx="0" cy="201168"/>
          </a:xfrm>
          <a:prstGeom prst="line">
            <a:avLst/>
          </a:prstGeom>
          <a:ln w="12700">
            <a:solidFill>
              <a:srgbClr val="FFFFFF"/>
            </a:solidFill>
          </a:ln>
        </p:spPr>
      </p:cxnSp>
      <p:sp>
        <p:nvSpPr>
          <p:cNvPr id="27" name="Label TextBox 26"/>
          <p:cNvSpPr txBox="1"/>
          <p:nvPr/>
        </p:nvSpPr>
        <p:spPr>
          <a:xfrm>
            <a:off x="6877833" y="3520440"/>
            <a:ext cx="548640" cy="201168"/>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Jul</a:t>
            </a:r>
          </a:p>
        </p:txBody>
      </p:sp>
      <p:cxnSp>
        <p:nvCxnSpPr>
          <p:cNvPr id="28" name="Label Connector 27"/>
          <p:cNvCxnSpPr/>
          <p:nvPr/>
        </p:nvCxnSpPr>
        <p:spPr>
          <a:xfrm>
            <a:off x="7629766" y="3282696"/>
            <a:ext cx="0" cy="201168"/>
          </a:xfrm>
          <a:prstGeom prst="line">
            <a:avLst/>
          </a:prstGeom>
          <a:ln w="12700">
            <a:solidFill>
              <a:srgbClr val="FFFFFF"/>
            </a:solidFill>
          </a:ln>
        </p:spPr>
      </p:cxnSp>
      <p:sp>
        <p:nvSpPr>
          <p:cNvPr id="29" name="Label TextBox 28"/>
          <p:cNvSpPr txBox="1"/>
          <p:nvPr/>
        </p:nvSpPr>
        <p:spPr>
          <a:xfrm>
            <a:off x="7666342" y="3520440"/>
            <a:ext cx="548640" cy="201168"/>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Aug</a:t>
            </a:r>
          </a:p>
        </p:txBody>
      </p:sp>
      <p:cxnSp>
        <p:nvCxnSpPr>
          <p:cNvPr id="30" name="Label Connector 29"/>
          <p:cNvCxnSpPr/>
          <p:nvPr/>
        </p:nvCxnSpPr>
        <p:spPr>
          <a:xfrm>
            <a:off x="8418275" y="3282696"/>
            <a:ext cx="0" cy="201168"/>
          </a:xfrm>
          <a:prstGeom prst="line">
            <a:avLst/>
          </a:prstGeom>
          <a:ln w="12700">
            <a:solidFill>
              <a:srgbClr val="FFFFFF"/>
            </a:solidFill>
          </a:ln>
        </p:spPr>
      </p:cxnSp>
      <p:sp>
        <p:nvSpPr>
          <p:cNvPr id="31" name="Label TextBox 30"/>
          <p:cNvSpPr txBox="1"/>
          <p:nvPr/>
        </p:nvSpPr>
        <p:spPr>
          <a:xfrm>
            <a:off x="8454851" y="3520440"/>
            <a:ext cx="548640" cy="201168"/>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Sep</a:t>
            </a:r>
          </a:p>
        </p:txBody>
      </p:sp>
      <p:cxnSp>
        <p:nvCxnSpPr>
          <p:cNvPr id="32" name="Label Connector 31"/>
          <p:cNvCxnSpPr/>
          <p:nvPr/>
        </p:nvCxnSpPr>
        <p:spPr>
          <a:xfrm>
            <a:off x="9181348" y="3282696"/>
            <a:ext cx="0" cy="201168"/>
          </a:xfrm>
          <a:prstGeom prst="line">
            <a:avLst/>
          </a:prstGeom>
          <a:ln w="12700">
            <a:solidFill>
              <a:srgbClr val="FFFFFF"/>
            </a:solidFill>
          </a:ln>
        </p:spPr>
      </p:cxnSp>
      <p:sp>
        <p:nvSpPr>
          <p:cNvPr id="33" name="Label TextBox 32"/>
          <p:cNvSpPr txBox="1"/>
          <p:nvPr/>
        </p:nvSpPr>
        <p:spPr>
          <a:xfrm>
            <a:off x="9217924" y="3520440"/>
            <a:ext cx="548640" cy="201168"/>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Oct</a:t>
            </a:r>
          </a:p>
        </p:txBody>
      </p:sp>
      <p:cxnSp>
        <p:nvCxnSpPr>
          <p:cNvPr id="34" name="Label Connector 33"/>
          <p:cNvCxnSpPr/>
          <p:nvPr/>
        </p:nvCxnSpPr>
        <p:spPr>
          <a:xfrm>
            <a:off x="9969857" y="3282696"/>
            <a:ext cx="0" cy="201168"/>
          </a:xfrm>
          <a:prstGeom prst="line">
            <a:avLst/>
          </a:prstGeom>
          <a:ln w="12700">
            <a:solidFill>
              <a:srgbClr val="FFFFFF"/>
            </a:solidFill>
          </a:ln>
        </p:spPr>
      </p:cxnSp>
      <p:sp>
        <p:nvSpPr>
          <p:cNvPr id="35" name="Label TextBox 34"/>
          <p:cNvSpPr txBox="1"/>
          <p:nvPr/>
        </p:nvSpPr>
        <p:spPr>
          <a:xfrm>
            <a:off x="10097873" y="3520440"/>
            <a:ext cx="548640" cy="201168"/>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Nov</a:t>
            </a:r>
          </a:p>
        </p:txBody>
      </p:sp>
      <p:cxnSp>
        <p:nvCxnSpPr>
          <p:cNvPr id="36" name="Label Connector 35"/>
          <p:cNvCxnSpPr/>
          <p:nvPr/>
        </p:nvCxnSpPr>
        <p:spPr>
          <a:xfrm>
            <a:off x="10732930" y="3282696"/>
            <a:ext cx="0" cy="201168"/>
          </a:xfrm>
          <a:prstGeom prst="line">
            <a:avLst/>
          </a:prstGeom>
          <a:ln w="12700">
            <a:solidFill>
              <a:srgbClr val="FFFFFF"/>
            </a:solidFill>
          </a:ln>
        </p:spPr>
      </p:cxnSp>
      <p:sp>
        <p:nvSpPr>
          <p:cNvPr id="37" name="Label TextBox 36"/>
          <p:cNvSpPr txBox="1"/>
          <p:nvPr/>
        </p:nvSpPr>
        <p:spPr>
          <a:xfrm>
            <a:off x="10769506" y="3520440"/>
            <a:ext cx="548640" cy="201168"/>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Dec</a:t>
            </a:r>
          </a:p>
        </p:txBody>
      </p:sp>
      <p:sp>
        <p:nvSpPr>
          <p:cNvPr id="38" name="Label TextBox 37"/>
          <p:cNvSpPr txBox="1"/>
          <p:nvPr/>
        </p:nvSpPr>
        <p:spPr>
          <a:xfrm>
            <a:off x="722376" y="3712464"/>
            <a:ext cx="548640" cy="201168"/>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2025</a:t>
            </a:r>
          </a:p>
        </p:txBody>
      </p:sp>
      <p:sp>
        <p:nvSpPr>
          <p:cNvPr id="39" name="Label TextBox 38"/>
          <p:cNvSpPr txBox="1"/>
          <p:nvPr/>
        </p:nvSpPr>
        <p:spPr>
          <a:xfrm>
            <a:off x="2273958" y="3712464"/>
            <a:ext cx="548640" cy="201168"/>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2026</a:t>
            </a:r>
          </a:p>
        </p:txBody>
      </p:sp>
      <p:sp>
        <p:nvSpPr>
          <p:cNvPr id="40" name="Label TextBox 39"/>
          <p:cNvSpPr txBox="1"/>
          <p:nvPr/>
        </p:nvSpPr>
        <p:spPr>
          <a:xfrm>
            <a:off x="7324537" y="3054096"/>
            <a:ext cx="1280160" cy="201168"/>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Contract term</a:t>
            </a:r>
          </a:p>
        </p:txBody>
      </p:sp>
      <p:cxnSp>
        <p:nvCxnSpPr>
          <p:cNvPr id="41" name="Label Connector 40"/>
          <p:cNvCxnSpPr/>
          <p:nvPr/>
        </p:nvCxnSpPr>
        <p:spPr>
          <a:xfrm>
            <a:off x="1347130" y="3017520"/>
            <a:ext cx="0" cy="283464"/>
          </a:xfrm>
          <a:prstGeom prst="line">
            <a:avLst/>
          </a:prstGeom>
          <a:ln w="9525">
            <a:solidFill>
              <a:srgbClr val="D9D9D9"/>
            </a:solidFill>
          </a:ln>
        </p:spPr>
      </p:cxnSp>
      <p:sp>
        <p:nvSpPr>
          <p:cNvPr id="42" name="Label Oval 41"/>
          <p:cNvSpPr/>
          <p:nvPr/>
        </p:nvSpPr>
        <p:spPr>
          <a:xfrm>
            <a:off x="1264834" y="3300984"/>
            <a:ext cx="164592" cy="164592"/>
          </a:xfrm>
          <a:prstGeom prst="ellipse">
            <a:avLst/>
          </a:prstGeom>
          <a:solidFill>
            <a:srgbClr val="2E9E44"/>
          </a:solidFill>
          <a:ln>
            <a:noFill/>
          </a:ln>
        </p:spPr>
        <p:txBody>
          <a:bodyPr rtlCol="0" anchor="ctr"/>
          <a:lstStyle/>
          <a:p>
            <a:pPr algn="ctr"/>
          </a:p>
        </p:txBody>
      </p:sp>
      <p:sp>
        <p:nvSpPr>
          <p:cNvPr id="43" name="Label TextBox 42"/>
          <p:cNvSpPr txBox="1"/>
          <p:nvPr/>
        </p:nvSpPr>
        <p:spPr>
          <a:xfrm>
            <a:off x="1401994" y="2560320"/>
            <a:ext cx="1828800" cy="45720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Inception Report</a:t>
            </a:r>
          </a:p>
          <a:p>
            <a:pPr algn="l">
              <a:spcAft>
                <a:spcPts val="0"/>
              </a:spcAft>
            </a:pPr>
            <a:r>
              <a:rPr sz="900" b="0" i="0">
                <a:solidFill>
                  <a:srgbClr val="7F7F7F"/>
                </a:solidFill>
                <a:latin typeface="Arial"/>
              </a:rPr>
              <a:t>Nov 2025, final</a:t>
            </a:r>
          </a:p>
        </p:txBody>
      </p:sp>
      <p:cxnSp>
        <p:nvCxnSpPr>
          <p:cNvPr id="44" name="Label Connector 43"/>
          <p:cNvCxnSpPr/>
          <p:nvPr/>
        </p:nvCxnSpPr>
        <p:spPr>
          <a:xfrm>
            <a:off x="1804974" y="3465576"/>
            <a:ext cx="0" cy="512063"/>
          </a:xfrm>
          <a:prstGeom prst="line">
            <a:avLst/>
          </a:prstGeom>
          <a:ln w="9525">
            <a:solidFill>
              <a:srgbClr val="D9D9D9"/>
            </a:solidFill>
          </a:ln>
        </p:spPr>
      </p:cxnSp>
      <p:sp>
        <p:nvSpPr>
          <p:cNvPr id="45" name="Label Oval 44"/>
          <p:cNvSpPr/>
          <p:nvPr/>
        </p:nvSpPr>
        <p:spPr>
          <a:xfrm>
            <a:off x="1722678" y="3300984"/>
            <a:ext cx="164592" cy="164592"/>
          </a:xfrm>
          <a:prstGeom prst="ellipse">
            <a:avLst/>
          </a:prstGeom>
          <a:solidFill>
            <a:srgbClr val="2E9E44"/>
          </a:solidFill>
          <a:ln>
            <a:noFill/>
          </a:ln>
        </p:spPr>
        <p:txBody>
          <a:bodyPr rtlCol="0" anchor="ctr"/>
          <a:lstStyle/>
          <a:p>
            <a:pPr algn="ctr"/>
          </a:p>
        </p:txBody>
      </p:sp>
      <p:sp>
        <p:nvSpPr>
          <p:cNvPr id="46" name="Label TextBox 45"/>
          <p:cNvSpPr txBox="1"/>
          <p:nvPr/>
        </p:nvSpPr>
        <p:spPr>
          <a:xfrm>
            <a:off x="1859838" y="3977639"/>
            <a:ext cx="1828800" cy="45720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Current State Diagnostic</a:t>
            </a:r>
          </a:p>
          <a:p>
            <a:pPr algn="l">
              <a:spcAft>
                <a:spcPts val="0"/>
              </a:spcAft>
            </a:pPr>
            <a:r>
              <a:rPr sz="900" b="0" i="0">
                <a:solidFill>
                  <a:srgbClr val="7F7F7F"/>
                </a:solidFill>
                <a:latin typeface="Arial"/>
              </a:rPr>
              <a:t>Dec 2025, final</a:t>
            </a:r>
          </a:p>
        </p:txBody>
      </p:sp>
      <p:cxnSp>
        <p:nvCxnSpPr>
          <p:cNvPr id="47" name="Label Connector 46"/>
          <p:cNvCxnSpPr/>
          <p:nvPr/>
        </p:nvCxnSpPr>
        <p:spPr>
          <a:xfrm>
            <a:off x="4017886" y="3465576"/>
            <a:ext cx="0" cy="1060704"/>
          </a:xfrm>
          <a:prstGeom prst="line">
            <a:avLst/>
          </a:prstGeom>
          <a:ln w="9525">
            <a:solidFill>
              <a:srgbClr val="D9D9D9"/>
            </a:solidFill>
          </a:ln>
        </p:spPr>
      </p:cxnSp>
      <p:sp>
        <p:nvSpPr>
          <p:cNvPr id="48" name="Label Oval 47"/>
          <p:cNvSpPr/>
          <p:nvPr/>
        </p:nvSpPr>
        <p:spPr>
          <a:xfrm>
            <a:off x="3935590" y="3300984"/>
            <a:ext cx="164592" cy="164592"/>
          </a:xfrm>
          <a:prstGeom prst="ellipse">
            <a:avLst/>
          </a:prstGeom>
          <a:solidFill>
            <a:srgbClr val="F2A900"/>
          </a:solidFill>
          <a:ln>
            <a:noFill/>
          </a:ln>
        </p:spPr>
        <p:txBody>
          <a:bodyPr rtlCol="0" anchor="ctr"/>
          <a:lstStyle/>
          <a:p>
            <a:pPr algn="ctr"/>
          </a:p>
        </p:txBody>
      </p:sp>
      <p:sp>
        <p:nvSpPr>
          <p:cNvPr id="49" name="Label TextBox 48"/>
          <p:cNvSpPr txBox="1"/>
          <p:nvPr/>
        </p:nvSpPr>
        <p:spPr>
          <a:xfrm>
            <a:off x="4072750" y="4526280"/>
            <a:ext cx="1828800" cy="45720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Stakeholder Insights</a:t>
            </a:r>
          </a:p>
          <a:p>
            <a:pPr algn="l">
              <a:spcAft>
                <a:spcPts val="0"/>
              </a:spcAft>
            </a:pPr>
            <a:r>
              <a:rPr sz="900" b="0" i="0">
                <a:solidFill>
                  <a:srgbClr val="7F7F7F"/>
                </a:solidFill>
                <a:latin typeface="Arial"/>
              </a:rPr>
              <a:t>Mar 2026, phase 1</a:t>
            </a:r>
          </a:p>
        </p:txBody>
      </p:sp>
      <p:cxnSp>
        <p:nvCxnSpPr>
          <p:cNvPr id="50" name="Label Connector 49"/>
          <p:cNvCxnSpPr/>
          <p:nvPr/>
        </p:nvCxnSpPr>
        <p:spPr>
          <a:xfrm>
            <a:off x="4119629" y="3017520"/>
            <a:ext cx="0" cy="283464"/>
          </a:xfrm>
          <a:prstGeom prst="line">
            <a:avLst/>
          </a:prstGeom>
          <a:ln w="9525">
            <a:solidFill>
              <a:srgbClr val="D9D9D9"/>
            </a:solidFill>
          </a:ln>
        </p:spPr>
      </p:cxnSp>
      <p:sp>
        <p:nvSpPr>
          <p:cNvPr id="51" name="Label Oval 50"/>
          <p:cNvSpPr/>
          <p:nvPr/>
        </p:nvSpPr>
        <p:spPr>
          <a:xfrm>
            <a:off x="4037333" y="3300984"/>
            <a:ext cx="164592" cy="164592"/>
          </a:xfrm>
          <a:prstGeom prst="ellipse">
            <a:avLst/>
          </a:prstGeom>
          <a:solidFill>
            <a:srgbClr val="F2A900"/>
          </a:solidFill>
          <a:ln>
            <a:noFill/>
          </a:ln>
        </p:spPr>
        <p:txBody>
          <a:bodyPr rtlCol="0" anchor="ctr"/>
          <a:lstStyle/>
          <a:p>
            <a:pPr algn="ctr"/>
          </a:p>
        </p:txBody>
      </p:sp>
      <p:sp>
        <p:nvSpPr>
          <p:cNvPr id="52" name="Label TextBox 51"/>
          <p:cNvSpPr txBox="1"/>
          <p:nvPr/>
        </p:nvSpPr>
        <p:spPr>
          <a:xfrm>
            <a:off x="2235965" y="2560320"/>
            <a:ext cx="1828800" cy="457200"/>
          </a:xfrm>
          <a:prstGeom prst="rect">
            <a:avLst/>
          </a:prstGeom>
          <a:noFill/>
        </p:spPr>
        <p:txBody>
          <a:bodyPr wrap="square" anchor="t" lIns="0" rIns="0" tIns="0" bIns="0">
            <a:spAutoFit/>
          </a:bodyPr>
          <a:lstStyle/>
          <a:p>
            <a:pPr algn="r">
              <a:spcAft>
                <a:spcPts val="0"/>
              </a:spcAft>
            </a:pPr>
            <a:r>
              <a:rPr sz="1000" b="1" i="0">
                <a:solidFill>
                  <a:srgbClr val="1F497D"/>
                </a:solidFill>
                <a:latin typeface="Arial"/>
              </a:rPr>
              <a:t>MIDAS Aviation</a:t>
            </a:r>
          </a:p>
          <a:p>
            <a:pPr algn="r">
              <a:spcAft>
                <a:spcPts val="0"/>
              </a:spcAft>
            </a:pPr>
            <a:r>
              <a:rPr sz="900" b="0" i="0">
                <a:solidFill>
                  <a:srgbClr val="7F7F7F"/>
                </a:solidFill>
                <a:latin typeface="Arial"/>
              </a:rPr>
              <a:t>Mar 2026, final draft</a:t>
            </a:r>
          </a:p>
        </p:txBody>
      </p:sp>
      <p:cxnSp>
        <p:nvCxnSpPr>
          <p:cNvPr id="53" name="Label Connector 52"/>
          <p:cNvCxnSpPr/>
          <p:nvPr/>
        </p:nvCxnSpPr>
        <p:spPr>
          <a:xfrm>
            <a:off x="4323115" y="2423160"/>
            <a:ext cx="0" cy="877824"/>
          </a:xfrm>
          <a:prstGeom prst="line">
            <a:avLst/>
          </a:prstGeom>
          <a:ln w="9525">
            <a:solidFill>
              <a:srgbClr val="D9D9D9"/>
            </a:solidFill>
          </a:ln>
        </p:spPr>
      </p:cxnSp>
      <p:sp>
        <p:nvSpPr>
          <p:cNvPr id="54" name="Label Oval 53"/>
          <p:cNvSpPr/>
          <p:nvPr/>
        </p:nvSpPr>
        <p:spPr>
          <a:xfrm>
            <a:off x="4240819" y="3300984"/>
            <a:ext cx="164592" cy="164592"/>
          </a:xfrm>
          <a:prstGeom prst="ellipse">
            <a:avLst/>
          </a:prstGeom>
          <a:solidFill>
            <a:srgbClr val="2E9E44"/>
          </a:solidFill>
          <a:ln>
            <a:noFill/>
          </a:ln>
        </p:spPr>
        <p:txBody>
          <a:bodyPr rtlCol="0" anchor="ctr"/>
          <a:lstStyle/>
          <a:p>
            <a:pPr algn="ctr"/>
          </a:p>
        </p:txBody>
      </p:sp>
      <p:sp>
        <p:nvSpPr>
          <p:cNvPr id="55" name="Label TextBox 54"/>
          <p:cNvSpPr txBox="1"/>
          <p:nvPr/>
        </p:nvSpPr>
        <p:spPr>
          <a:xfrm>
            <a:off x="4377979" y="1965960"/>
            <a:ext cx="1828800" cy="45720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Global Benchmarking</a:t>
            </a:r>
          </a:p>
          <a:p>
            <a:pPr algn="l">
              <a:spcAft>
                <a:spcPts val="0"/>
              </a:spcAft>
            </a:pPr>
            <a:r>
              <a:rPr sz="900" b="0" i="0">
                <a:solidFill>
                  <a:srgbClr val="7F7F7F"/>
                </a:solidFill>
                <a:latin typeface="Arial"/>
              </a:rPr>
              <a:t>Mar 2026, final</a:t>
            </a:r>
          </a:p>
        </p:txBody>
      </p:sp>
      <p:cxnSp>
        <p:nvCxnSpPr>
          <p:cNvPr id="56" name="Label Connector 55"/>
          <p:cNvCxnSpPr/>
          <p:nvPr/>
        </p:nvCxnSpPr>
        <p:spPr>
          <a:xfrm>
            <a:off x="6357977" y="3017520"/>
            <a:ext cx="0" cy="283464"/>
          </a:xfrm>
          <a:prstGeom prst="line">
            <a:avLst/>
          </a:prstGeom>
          <a:ln w="9525">
            <a:solidFill>
              <a:srgbClr val="D9D9D9"/>
            </a:solidFill>
          </a:ln>
        </p:spPr>
      </p:cxnSp>
      <p:sp>
        <p:nvSpPr>
          <p:cNvPr id="57" name="Label Oval 56"/>
          <p:cNvSpPr/>
          <p:nvPr/>
        </p:nvSpPr>
        <p:spPr>
          <a:xfrm>
            <a:off x="6275681" y="3300984"/>
            <a:ext cx="164592" cy="164592"/>
          </a:xfrm>
          <a:prstGeom prst="ellipse">
            <a:avLst/>
          </a:prstGeom>
          <a:solidFill>
            <a:srgbClr val="2E9E44"/>
          </a:solidFill>
          <a:ln>
            <a:noFill/>
          </a:ln>
        </p:spPr>
        <p:txBody>
          <a:bodyPr rtlCol="0" anchor="ctr"/>
          <a:lstStyle/>
          <a:p>
            <a:pPr algn="ctr"/>
          </a:p>
        </p:txBody>
      </p:sp>
      <p:sp>
        <p:nvSpPr>
          <p:cNvPr id="58" name="Label TextBox 57"/>
          <p:cNvSpPr txBox="1"/>
          <p:nvPr/>
        </p:nvSpPr>
        <p:spPr>
          <a:xfrm>
            <a:off x="4474313" y="2560320"/>
            <a:ext cx="1828800" cy="457200"/>
          </a:xfrm>
          <a:prstGeom prst="rect">
            <a:avLst/>
          </a:prstGeom>
          <a:noFill/>
        </p:spPr>
        <p:txBody>
          <a:bodyPr wrap="square" anchor="t" lIns="0" rIns="0" tIns="0" bIns="0">
            <a:spAutoFit/>
          </a:bodyPr>
          <a:lstStyle/>
          <a:p>
            <a:pPr algn="r">
              <a:spcAft>
                <a:spcPts val="0"/>
              </a:spcAft>
            </a:pPr>
            <a:r>
              <a:rPr sz="1000" b="1" i="0">
                <a:solidFill>
                  <a:srgbClr val="1F497D"/>
                </a:solidFill>
                <a:latin typeface="Arial"/>
              </a:rPr>
              <a:t>Demand-Side Analysis</a:t>
            </a:r>
          </a:p>
          <a:p>
            <a:pPr algn="r">
              <a:spcAft>
                <a:spcPts val="0"/>
              </a:spcAft>
            </a:pPr>
            <a:r>
              <a:rPr sz="900" b="0" i="0">
                <a:solidFill>
                  <a:srgbClr val="7F7F7F"/>
                </a:solidFill>
                <a:latin typeface="Arial"/>
              </a:rPr>
              <a:t>Jun 2026, final</a:t>
            </a:r>
          </a:p>
        </p:txBody>
      </p:sp>
      <p:cxnSp>
        <p:nvCxnSpPr>
          <p:cNvPr id="59" name="Label Connector 58"/>
          <p:cNvCxnSpPr/>
          <p:nvPr/>
        </p:nvCxnSpPr>
        <p:spPr>
          <a:xfrm>
            <a:off x="6510592" y="3465576"/>
            <a:ext cx="0" cy="512063"/>
          </a:xfrm>
          <a:prstGeom prst="line">
            <a:avLst/>
          </a:prstGeom>
          <a:ln w="9525">
            <a:solidFill>
              <a:srgbClr val="D9D9D9"/>
            </a:solidFill>
          </a:ln>
        </p:spPr>
      </p:cxnSp>
      <p:sp>
        <p:nvSpPr>
          <p:cNvPr id="60" name="Label Oval 59"/>
          <p:cNvSpPr/>
          <p:nvPr/>
        </p:nvSpPr>
        <p:spPr>
          <a:xfrm>
            <a:off x="6428296" y="3300984"/>
            <a:ext cx="164592" cy="164592"/>
          </a:xfrm>
          <a:prstGeom prst="ellipse">
            <a:avLst/>
          </a:prstGeom>
          <a:solidFill>
            <a:srgbClr val="F2A900"/>
          </a:solidFill>
          <a:ln>
            <a:noFill/>
          </a:ln>
        </p:spPr>
        <p:txBody>
          <a:bodyPr rtlCol="0" anchor="ctr"/>
          <a:lstStyle/>
          <a:p>
            <a:pPr algn="ctr"/>
          </a:p>
        </p:txBody>
      </p:sp>
      <p:sp>
        <p:nvSpPr>
          <p:cNvPr id="61" name="Label TextBox 60"/>
          <p:cNvSpPr txBox="1"/>
          <p:nvPr/>
        </p:nvSpPr>
        <p:spPr>
          <a:xfrm>
            <a:off x="6565456" y="3977639"/>
            <a:ext cx="1828800" cy="45720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Infrastructure Report</a:t>
            </a:r>
          </a:p>
          <a:p>
            <a:pPr algn="l">
              <a:spcAft>
                <a:spcPts val="0"/>
              </a:spcAft>
            </a:pPr>
            <a:r>
              <a:rPr sz="900" b="0" i="0">
                <a:solidFill>
                  <a:srgbClr val="7F7F7F"/>
                </a:solidFill>
                <a:latin typeface="Arial"/>
              </a:rPr>
              <a:t>Jun 2026, draft</a:t>
            </a:r>
          </a:p>
        </p:txBody>
      </p:sp>
      <p:cxnSp>
        <p:nvCxnSpPr>
          <p:cNvPr id="62" name="Label Connector 61"/>
          <p:cNvCxnSpPr/>
          <p:nvPr/>
        </p:nvCxnSpPr>
        <p:spPr>
          <a:xfrm>
            <a:off x="8774376" y="3465576"/>
            <a:ext cx="0" cy="1060704"/>
          </a:xfrm>
          <a:prstGeom prst="line">
            <a:avLst/>
          </a:prstGeom>
          <a:ln w="9525">
            <a:solidFill>
              <a:srgbClr val="D9D9D9"/>
            </a:solidFill>
          </a:ln>
        </p:spPr>
      </p:cxnSp>
      <p:sp>
        <p:nvSpPr>
          <p:cNvPr id="63" name="Label Oval 62"/>
          <p:cNvSpPr/>
          <p:nvPr/>
        </p:nvSpPr>
        <p:spPr>
          <a:xfrm>
            <a:off x="8692080" y="3300984"/>
            <a:ext cx="164592" cy="164592"/>
          </a:xfrm>
          <a:prstGeom prst="ellipse">
            <a:avLst/>
          </a:prstGeom>
          <a:solidFill>
            <a:srgbClr val="F2A900"/>
          </a:solidFill>
          <a:ln>
            <a:noFill/>
          </a:ln>
        </p:spPr>
        <p:txBody>
          <a:bodyPr rtlCol="0" anchor="ctr"/>
          <a:lstStyle/>
          <a:p>
            <a:pPr algn="ctr"/>
          </a:p>
        </p:txBody>
      </p:sp>
      <p:sp>
        <p:nvSpPr>
          <p:cNvPr id="64" name="Label TextBox 63"/>
          <p:cNvSpPr txBox="1"/>
          <p:nvPr/>
        </p:nvSpPr>
        <p:spPr>
          <a:xfrm>
            <a:off x="6890712" y="4526280"/>
            <a:ext cx="1828800" cy="457200"/>
          </a:xfrm>
          <a:prstGeom prst="rect">
            <a:avLst/>
          </a:prstGeom>
          <a:noFill/>
        </p:spPr>
        <p:txBody>
          <a:bodyPr wrap="square" anchor="t" lIns="0" rIns="0" tIns="0" bIns="0">
            <a:spAutoFit/>
          </a:bodyPr>
          <a:lstStyle/>
          <a:p>
            <a:pPr algn="r">
              <a:spcAft>
                <a:spcPts val="0"/>
              </a:spcAft>
            </a:pPr>
            <a:r>
              <a:rPr sz="1000" b="1" i="0">
                <a:solidFill>
                  <a:srgbClr val="1F497D"/>
                </a:solidFill>
                <a:latin typeface="Arial"/>
              </a:rPr>
              <a:t>SME and Inclusion Plan</a:t>
            </a:r>
          </a:p>
          <a:p>
            <a:pPr algn="r">
              <a:spcAft>
                <a:spcPts val="0"/>
              </a:spcAft>
            </a:pPr>
            <a:r>
              <a:rPr sz="900" b="0" i="0">
                <a:solidFill>
                  <a:srgbClr val="7F7F7F"/>
                </a:solidFill>
                <a:latin typeface="Arial"/>
              </a:rPr>
              <a:t>Sep 2026, draft</a:t>
            </a:r>
          </a:p>
        </p:txBody>
      </p:sp>
      <p:cxnSp>
        <p:nvCxnSpPr>
          <p:cNvPr id="65" name="Label Connector 64"/>
          <p:cNvCxnSpPr/>
          <p:nvPr/>
        </p:nvCxnSpPr>
        <p:spPr>
          <a:xfrm>
            <a:off x="9461142" y="1874519"/>
            <a:ext cx="0" cy="1399033"/>
          </a:xfrm>
          <a:prstGeom prst="line">
            <a:avLst/>
          </a:prstGeom>
          <a:ln w="19050">
            <a:solidFill>
              <a:srgbClr val="00AEEF"/>
            </a:solidFill>
          </a:ln>
        </p:spPr>
      </p:cxnSp>
      <p:sp>
        <p:nvSpPr>
          <p:cNvPr id="66" name="Label Diamond 65"/>
          <p:cNvSpPr/>
          <p:nvPr/>
        </p:nvSpPr>
        <p:spPr>
          <a:xfrm>
            <a:off x="9360558" y="3282696"/>
            <a:ext cx="201168" cy="201168"/>
          </a:xfrm>
          <a:prstGeom prst="diamond">
            <a:avLst/>
          </a:prstGeom>
          <a:solidFill>
            <a:srgbClr val="00AEEF"/>
          </a:solidFill>
          <a:ln>
            <a:noFill/>
          </a:ln>
        </p:spPr>
        <p:txBody>
          <a:bodyPr rtlCol="0" anchor="ctr"/>
          <a:lstStyle/>
          <a:p>
            <a:pPr algn="ctr"/>
          </a:p>
        </p:txBody>
      </p:sp>
      <p:sp>
        <p:nvSpPr>
          <p:cNvPr id="67" name="Label TextBox 66"/>
          <p:cNvSpPr txBox="1"/>
          <p:nvPr/>
        </p:nvSpPr>
        <p:spPr>
          <a:xfrm>
            <a:off x="7577478" y="1417320"/>
            <a:ext cx="1828800" cy="457200"/>
          </a:xfrm>
          <a:prstGeom prst="rect">
            <a:avLst/>
          </a:prstGeom>
          <a:noFill/>
        </p:spPr>
        <p:txBody>
          <a:bodyPr wrap="square" anchor="t" lIns="0" rIns="0" tIns="0" bIns="0">
            <a:spAutoFit/>
          </a:bodyPr>
          <a:lstStyle/>
          <a:p>
            <a:pPr algn="r">
              <a:spcAft>
                <a:spcPts val="0"/>
              </a:spcAft>
            </a:pPr>
            <a:r>
              <a:rPr sz="1000" b="1" i="0">
                <a:solidFill>
                  <a:srgbClr val="00AEEF"/>
                </a:solidFill>
                <a:latin typeface="Arial"/>
              </a:rPr>
              <a:t>This session</a:t>
            </a:r>
          </a:p>
          <a:p>
            <a:pPr algn="r">
              <a:spcAft>
                <a:spcPts val="0"/>
              </a:spcAft>
            </a:pPr>
            <a:r>
              <a:rPr sz="900" b="0" i="0">
                <a:solidFill>
                  <a:srgbClr val="7F7F7F"/>
                </a:solidFill>
                <a:latin typeface="Arial"/>
              </a:rPr>
              <a:t>Week of 12 Oct 2026</a:t>
            </a:r>
          </a:p>
        </p:txBody>
      </p:sp>
      <p:cxnSp>
        <p:nvCxnSpPr>
          <p:cNvPr id="68" name="Label Connector 67"/>
          <p:cNvCxnSpPr/>
          <p:nvPr/>
        </p:nvCxnSpPr>
        <p:spPr>
          <a:xfrm>
            <a:off x="9969857" y="1417320"/>
            <a:ext cx="0" cy="3611880"/>
          </a:xfrm>
          <a:prstGeom prst="line">
            <a:avLst/>
          </a:prstGeom>
          <a:ln w="25400">
            <a:solidFill>
              <a:srgbClr val="D9262B"/>
            </a:solidFill>
          </a:ln>
        </p:spPr>
      </p:cxnSp>
      <p:sp>
        <p:nvSpPr>
          <p:cNvPr id="69" name="Label TextBox 68"/>
          <p:cNvSpPr txBox="1"/>
          <p:nvPr/>
        </p:nvSpPr>
        <p:spPr>
          <a:xfrm>
            <a:off x="10024721" y="1417320"/>
            <a:ext cx="1463040" cy="457200"/>
          </a:xfrm>
          <a:prstGeom prst="rect">
            <a:avLst/>
          </a:prstGeom>
          <a:noFill/>
        </p:spPr>
        <p:txBody>
          <a:bodyPr wrap="square" anchor="t" lIns="0" rIns="0" tIns="0" bIns="0">
            <a:spAutoFit/>
          </a:bodyPr>
          <a:lstStyle/>
          <a:p>
            <a:pPr algn="l">
              <a:spcAft>
                <a:spcPts val="0"/>
              </a:spcAft>
            </a:pPr>
            <a:r>
              <a:rPr sz="1000" b="1" i="0">
                <a:solidFill>
                  <a:srgbClr val="D9262B"/>
                </a:solidFill>
                <a:latin typeface="Arial"/>
              </a:rPr>
              <a:t>Contract ends</a:t>
            </a:r>
          </a:p>
          <a:p>
            <a:pPr algn="l">
              <a:spcAft>
                <a:spcPts val="0"/>
              </a:spcAft>
            </a:pPr>
            <a:r>
              <a:rPr sz="900" b="0" i="0">
                <a:solidFill>
                  <a:srgbClr val="7F7F7F"/>
                </a:solidFill>
                <a:latin typeface="Arial"/>
              </a:rPr>
              <a:t>31 Oct 2026</a:t>
            </a:r>
          </a:p>
        </p:txBody>
      </p:sp>
      <p:sp>
        <p:nvSpPr>
          <p:cNvPr id="70" name="Label Oval 69"/>
          <p:cNvSpPr/>
          <p:nvPr/>
        </p:nvSpPr>
        <p:spPr>
          <a:xfrm>
            <a:off x="10100191" y="3310128"/>
            <a:ext cx="146304" cy="146304"/>
          </a:xfrm>
          <a:prstGeom prst="ellipse">
            <a:avLst/>
          </a:prstGeom>
          <a:solidFill>
            <a:srgbClr val="FFFFFF"/>
          </a:solidFill>
          <a:ln w="15875">
            <a:solidFill>
              <a:srgbClr val="7F7F7F"/>
            </a:solidFill>
          </a:ln>
        </p:spPr>
        <p:txBody>
          <a:bodyPr rtlCol="0" anchor="ctr"/>
          <a:lstStyle/>
          <a:p>
            <a:pPr algn="ctr"/>
          </a:p>
        </p:txBody>
      </p:sp>
      <p:sp>
        <p:nvSpPr>
          <p:cNvPr id="71" name="Label Oval 70"/>
          <p:cNvSpPr/>
          <p:nvPr/>
        </p:nvSpPr>
        <p:spPr>
          <a:xfrm>
            <a:off x="10278242" y="3310128"/>
            <a:ext cx="146304" cy="146304"/>
          </a:xfrm>
          <a:prstGeom prst="ellipse">
            <a:avLst/>
          </a:prstGeom>
          <a:solidFill>
            <a:srgbClr val="FFFFFF"/>
          </a:solidFill>
          <a:ln w="15875">
            <a:solidFill>
              <a:srgbClr val="7F7F7F"/>
            </a:solidFill>
          </a:ln>
        </p:spPr>
        <p:txBody>
          <a:bodyPr rtlCol="0" anchor="ctr"/>
          <a:lstStyle/>
          <a:p>
            <a:pPr algn="ctr"/>
          </a:p>
        </p:txBody>
      </p:sp>
      <p:sp>
        <p:nvSpPr>
          <p:cNvPr id="72" name="Label Oval 71"/>
          <p:cNvSpPr/>
          <p:nvPr/>
        </p:nvSpPr>
        <p:spPr>
          <a:xfrm>
            <a:off x="10456292" y="3310128"/>
            <a:ext cx="146304" cy="146304"/>
          </a:xfrm>
          <a:prstGeom prst="ellipse">
            <a:avLst/>
          </a:prstGeom>
          <a:solidFill>
            <a:srgbClr val="FFFFFF"/>
          </a:solidFill>
          <a:ln w="15875">
            <a:solidFill>
              <a:srgbClr val="7F7F7F"/>
            </a:solidFill>
          </a:ln>
        </p:spPr>
        <p:txBody>
          <a:bodyPr rtlCol="0" anchor="ctr"/>
          <a:lstStyle/>
          <a:p>
            <a:pPr algn="ctr"/>
          </a:p>
        </p:txBody>
      </p:sp>
      <p:cxnSp>
        <p:nvCxnSpPr>
          <p:cNvPr id="73" name="Label Connector 72"/>
          <p:cNvCxnSpPr/>
          <p:nvPr/>
        </p:nvCxnSpPr>
        <p:spPr>
          <a:xfrm>
            <a:off x="10173343" y="3465576"/>
            <a:ext cx="0" cy="512063"/>
          </a:xfrm>
          <a:prstGeom prst="line">
            <a:avLst/>
          </a:prstGeom>
          <a:ln w="9525">
            <a:solidFill>
              <a:srgbClr val="D9D9D9"/>
            </a:solidFill>
          </a:ln>
        </p:spPr>
      </p:cxnSp>
      <p:sp>
        <p:nvSpPr>
          <p:cNvPr id="74" name="Label TextBox 73"/>
          <p:cNvSpPr txBox="1"/>
          <p:nvPr/>
        </p:nvSpPr>
        <p:spPr>
          <a:xfrm>
            <a:off x="10228207" y="3977639"/>
            <a:ext cx="1600200" cy="68580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Outstanding</a:t>
            </a:r>
          </a:p>
          <a:p>
            <a:pPr algn="l">
              <a:spcAft>
                <a:spcPts val="0"/>
              </a:spcAft>
            </a:pPr>
            <a:r>
              <a:rPr sz="900" b="0" i="0">
                <a:solidFill>
                  <a:srgbClr val="7F7F7F"/>
                </a:solidFill>
                <a:latin typeface="Arial"/>
              </a:rPr>
              <a:t>M&amp;E toolkit, final report, launch</a:t>
            </a:r>
          </a:p>
        </p:txBody>
      </p:sp>
      <p:sp>
        <p:nvSpPr>
          <p:cNvPr id="75" name="TextBox 74"/>
          <p:cNvSpPr txBox="1"/>
          <p:nvPr/>
        </p:nvSpPr>
        <p:spPr>
          <a:xfrm>
            <a:off x="457200" y="5120640"/>
            <a:ext cx="8686800" cy="32004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Status: green final, amber draft, hollow outstanding.</a:t>
            </a:r>
          </a:p>
        </p:txBody>
      </p:sp>
      <p:sp>
        <p:nvSpPr>
          <p:cNvPr id="76" name="Rectangle 75"/>
          <p:cNvSpPr/>
          <p:nvPr/>
        </p:nvSpPr>
        <p:spPr>
          <a:xfrm>
            <a:off x="457200" y="5596128"/>
            <a:ext cx="11277295" cy="384048"/>
          </a:xfrm>
          <a:prstGeom prst="rect">
            <a:avLst/>
          </a:prstGeom>
          <a:solidFill>
            <a:srgbClr val="1F497D"/>
          </a:solidFill>
          <a:ln>
            <a:noFill/>
          </a:ln>
        </p:spPr>
        <p:txBody>
          <a:bodyPr rtlCol="0" anchor="ctr"/>
          <a:lstStyle/>
          <a:p>
            <a:pPr algn="ctr"/>
          </a:p>
        </p:txBody>
      </p:sp>
      <p:sp>
        <p:nvSpPr>
          <p:cNvPr id="77" name="TextBox 76"/>
          <p:cNvSpPr txBox="1"/>
          <p:nvPr/>
        </p:nvSpPr>
        <p:spPr>
          <a:xfrm>
            <a:off x="621792" y="5596128"/>
            <a:ext cx="10948111" cy="384048"/>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The remaining work needs an extension: clause 4.3 asks for notice a month before expiry and a written addendum.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In December the team framed the answer as a three-pillar hypothesis to test</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02 | THE ORIGINAL TREE</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Current State Diagnostic v2 (Dec 2025) p64, reproduced with the Diagnostic’s own wording</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5</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Label Rectangle 7"/>
          <p:cNvSpPr/>
          <p:nvPr/>
        </p:nvSpPr>
        <p:spPr>
          <a:xfrm>
            <a:off x="3169767" y="1325880"/>
            <a:ext cx="5852160" cy="457200"/>
          </a:xfrm>
          <a:prstGeom prst="rect">
            <a:avLst/>
          </a:prstGeom>
          <a:solidFill>
            <a:srgbClr val="1F497D"/>
          </a:solidFill>
          <a:ln>
            <a:noFill/>
          </a:ln>
        </p:spPr>
        <p:txBody>
          <a:bodyPr rtlCol="0" anchor="ctr" wrap="square" lIns="36576" rIns="36576" tIns="21945" bIns="21945"/>
          <a:lstStyle/>
          <a:p>
            <a:pPr algn="ctr">
              <a:spcAft>
                <a:spcPts val="0"/>
              </a:spcAft>
            </a:pPr>
            <a:r>
              <a:rPr sz="1100" b="1" i="0">
                <a:solidFill>
                  <a:srgbClr val="FFFFFF"/>
                </a:solidFill>
                <a:latin typeface="Arial"/>
              </a:rPr>
              <a:t>FROM “RECOVERY” TO “GROWTH”</a:t>
            </a:r>
          </a:p>
          <a:p>
            <a:pPr algn="ctr">
              <a:spcAft>
                <a:spcPts val="0"/>
              </a:spcAft>
            </a:pPr>
            <a:r>
              <a:rPr sz="850" b="0" i="0">
                <a:solidFill>
                  <a:srgbClr val="FFFFFF"/>
                </a:solidFill>
                <a:latin typeface="Arial"/>
              </a:rPr>
              <a:t>Doubling International Tourism to The Western Cape By 2035</a:t>
            </a:r>
          </a:p>
        </p:txBody>
      </p:sp>
      <p:cxnSp>
        <p:nvCxnSpPr>
          <p:cNvPr id="9" name="Label Connector 8"/>
          <p:cNvCxnSpPr/>
          <p:nvPr/>
        </p:nvCxnSpPr>
        <p:spPr>
          <a:xfrm>
            <a:off x="2300173" y="1856231"/>
            <a:ext cx="7591349" cy="0"/>
          </a:xfrm>
          <a:prstGeom prst="line">
            <a:avLst/>
          </a:prstGeom>
          <a:ln w="9525">
            <a:solidFill>
              <a:srgbClr val="7F7F7F"/>
            </a:solidFill>
          </a:ln>
        </p:spPr>
      </p:cxnSp>
      <p:cxnSp>
        <p:nvCxnSpPr>
          <p:cNvPr id="10" name="Label Connector 9"/>
          <p:cNvCxnSpPr/>
          <p:nvPr/>
        </p:nvCxnSpPr>
        <p:spPr>
          <a:xfrm>
            <a:off x="2300173" y="1783080"/>
            <a:ext cx="0" cy="146304"/>
          </a:xfrm>
          <a:prstGeom prst="line">
            <a:avLst/>
          </a:prstGeom>
          <a:ln w="9525">
            <a:solidFill>
              <a:srgbClr val="7F7F7F"/>
            </a:solidFill>
          </a:ln>
        </p:spPr>
      </p:cxnSp>
      <p:sp>
        <p:nvSpPr>
          <p:cNvPr id="11" name="Label Rectangle 10"/>
          <p:cNvSpPr/>
          <p:nvPr/>
        </p:nvSpPr>
        <p:spPr>
          <a:xfrm>
            <a:off x="457200" y="1929384"/>
            <a:ext cx="3685946" cy="658368"/>
          </a:xfrm>
          <a:prstGeom prst="rect">
            <a:avLst/>
          </a:prstGeom>
          <a:solidFill>
            <a:srgbClr val="29ABE2"/>
          </a:solidFill>
          <a:ln>
            <a:noFill/>
          </a:ln>
        </p:spPr>
        <p:txBody>
          <a:bodyPr rtlCol="0" anchor="ctr" wrap="square" lIns="36576" rIns="36576" tIns="21945" bIns="21945"/>
          <a:lstStyle/>
          <a:p>
            <a:pPr algn="ctr">
              <a:spcAft>
                <a:spcPts val="100"/>
              </a:spcAft>
            </a:pPr>
            <a:r>
              <a:rPr sz="1000" b="1" i="0">
                <a:solidFill>
                  <a:srgbClr val="FFFFFF"/>
                </a:solidFill>
                <a:latin typeface="Arial"/>
              </a:rPr>
              <a:t>1  RESHAPE DEMAND</a:t>
            </a:r>
          </a:p>
          <a:p>
            <a:pPr algn="ctr">
              <a:spcAft>
                <a:spcPts val="0"/>
              </a:spcAft>
            </a:pPr>
            <a:r>
              <a:rPr sz="850" b="0" i="0">
                <a:solidFill>
                  <a:srgbClr val="FFFFFF"/>
                </a:solidFill>
                <a:latin typeface="Arial"/>
              </a:rPr>
              <a:t>Break through market, seasonality and geographic spread ceilings by reshaping the brand to unlock new traveller segments.</a:t>
            </a:r>
          </a:p>
        </p:txBody>
      </p:sp>
      <p:cxnSp>
        <p:nvCxnSpPr>
          <p:cNvPr id="12" name="Label Connector 11"/>
          <p:cNvCxnSpPr/>
          <p:nvPr/>
        </p:nvCxnSpPr>
        <p:spPr>
          <a:xfrm>
            <a:off x="6095847" y="1783080"/>
            <a:ext cx="0" cy="146304"/>
          </a:xfrm>
          <a:prstGeom prst="line">
            <a:avLst/>
          </a:prstGeom>
          <a:ln w="9525">
            <a:solidFill>
              <a:srgbClr val="7F7F7F"/>
            </a:solidFill>
          </a:ln>
        </p:spPr>
      </p:cxnSp>
      <p:sp>
        <p:nvSpPr>
          <p:cNvPr id="13" name="Label Rectangle 12"/>
          <p:cNvSpPr/>
          <p:nvPr/>
        </p:nvSpPr>
        <p:spPr>
          <a:xfrm>
            <a:off x="4252874" y="1929384"/>
            <a:ext cx="3685946" cy="658368"/>
          </a:xfrm>
          <a:prstGeom prst="rect">
            <a:avLst/>
          </a:prstGeom>
          <a:solidFill>
            <a:srgbClr val="29ABE2"/>
          </a:solidFill>
          <a:ln>
            <a:noFill/>
          </a:ln>
        </p:spPr>
        <p:txBody>
          <a:bodyPr rtlCol="0" anchor="ctr" wrap="square" lIns="36576" rIns="36576" tIns="21945" bIns="21945"/>
          <a:lstStyle/>
          <a:p>
            <a:pPr algn="ctr">
              <a:spcAft>
                <a:spcPts val="100"/>
              </a:spcAft>
            </a:pPr>
            <a:r>
              <a:rPr sz="1000" b="1" i="0">
                <a:solidFill>
                  <a:srgbClr val="FFFFFF"/>
                </a:solidFill>
                <a:latin typeface="Arial"/>
              </a:rPr>
              <a:t>2  TRANSFORM SUPPLY</a:t>
            </a:r>
          </a:p>
          <a:p>
            <a:pPr algn="ctr">
              <a:spcAft>
                <a:spcPts val="0"/>
              </a:spcAft>
            </a:pPr>
            <a:r>
              <a:rPr sz="850" b="0" i="0">
                <a:solidFill>
                  <a:srgbClr val="FFFFFF"/>
                </a:solidFill>
                <a:latin typeface="Arial"/>
              </a:rPr>
              <a:t>Remove mobility, infrastructure and product constraints to expand the destination’s physical carrying capacity.</a:t>
            </a:r>
          </a:p>
        </p:txBody>
      </p:sp>
      <p:cxnSp>
        <p:nvCxnSpPr>
          <p:cNvPr id="14" name="Label Connector 13"/>
          <p:cNvCxnSpPr/>
          <p:nvPr/>
        </p:nvCxnSpPr>
        <p:spPr>
          <a:xfrm>
            <a:off x="9891522" y="1783080"/>
            <a:ext cx="0" cy="146304"/>
          </a:xfrm>
          <a:prstGeom prst="line">
            <a:avLst/>
          </a:prstGeom>
          <a:ln w="9525">
            <a:solidFill>
              <a:srgbClr val="7F7F7F"/>
            </a:solidFill>
          </a:ln>
        </p:spPr>
      </p:cxnSp>
      <p:sp>
        <p:nvSpPr>
          <p:cNvPr id="15" name="Label Rectangle 14"/>
          <p:cNvSpPr/>
          <p:nvPr/>
        </p:nvSpPr>
        <p:spPr>
          <a:xfrm>
            <a:off x="8048548" y="1929384"/>
            <a:ext cx="3685946" cy="658368"/>
          </a:xfrm>
          <a:prstGeom prst="rect">
            <a:avLst/>
          </a:prstGeom>
          <a:solidFill>
            <a:srgbClr val="29ABE2"/>
          </a:solidFill>
          <a:ln>
            <a:noFill/>
          </a:ln>
        </p:spPr>
        <p:txBody>
          <a:bodyPr rtlCol="0" anchor="ctr" wrap="square" lIns="36576" rIns="36576" tIns="21945" bIns="21945"/>
          <a:lstStyle/>
          <a:p>
            <a:pPr algn="ctr">
              <a:spcAft>
                <a:spcPts val="100"/>
              </a:spcAft>
            </a:pPr>
            <a:r>
              <a:rPr sz="1000" b="1" i="0">
                <a:solidFill>
                  <a:srgbClr val="FFFFFF"/>
                </a:solidFill>
                <a:latin typeface="Arial"/>
              </a:rPr>
              <a:t>3  BUILD ENABLING CAPABILITY</a:t>
            </a:r>
          </a:p>
          <a:p>
            <a:pPr algn="ctr">
              <a:spcAft>
                <a:spcPts val="0"/>
              </a:spcAft>
            </a:pPr>
            <a:r>
              <a:rPr sz="850" b="0" i="0">
                <a:solidFill>
                  <a:srgbClr val="FFFFFF"/>
                </a:solidFill>
                <a:latin typeface="Arial"/>
              </a:rPr>
              <a:t>Cultivate an inclusive, well-governed tourism ecosystem that supports sustainable growth, returns and development.</a:t>
            </a:r>
          </a:p>
        </p:txBody>
      </p:sp>
      <p:cxnSp>
        <p:nvCxnSpPr>
          <p:cNvPr id="16" name="Label Connector 15"/>
          <p:cNvCxnSpPr/>
          <p:nvPr/>
        </p:nvCxnSpPr>
        <p:spPr>
          <a:xfrm>
            <a:off x="1351254" y="2587752"/>
            <a:ext cx="0" cy="109728"/>
          </a:xfrm>
          <a:prstGeom prst="line">
            <a:avLst/>
          </a:prstGeom>
          <a:ln w="9525">
            <a:solidFill>
              <a:srgbClr val="7F7F7F"/>
            </a:solidFill>
          </a:ln>
        </p:spPr>
      </p:cxnSp>
      <p:sp>
        <p:nvSpPr>
          <p:cNvPr id="17" name="Label Rectangle 16"/>
          <p:cNvSpPr/>
          <p:nvPr/>
        </p:nvSpPr>
        <p:spPr>
          <a:xfrm>
            <a:off x="457200" y="2697480"/>
            <a:ext cx="1788109" cy="45720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1.1 Traveller, Brand and Proposition</a:t>
            </a:r>
          </a:p>
        </p:txBody>
      </p:sp>
      <p:sp>
        <p:nvSpPr>
          <p:cNvPr id="18" name="Label Rectangle 17"/>
          <p:cNvSpPr/>
          <p:nvPr/>
        </p:nvSpPr>
        <p:spPr>
          <a:xfrm>
            <a:off x="457200" y="3227832"/>
            <a:ext cx="1788109" cy="548640"/>
          </a:xfrm>
          <a:prstGeom prst="rect">
            <a:avLst/>
          </a:prstGeom>
          <a:solidFill>
            <a:srgbClr val="FFFFFF"/>
          </a:solidFill>
          <a:ln w="9525">
            <a:solidFill>
              <a:srgbClr val="7F7F7F"/>
            </a:solidFill>
          </a:ln>
        </p:spPr>
        <p:txBody>
          <a:bodyPr rtlCol="0" anchor="ctr"/>
          <a:lstStyle/>
          <a:p>
            <a:pPr algn="ctr"/>
          </a:p>
        </p:txBody>
      </p:sp>
      <p:sp>
        <p:nvSpPr>
          <p:cNvPr id="19" name="Label TextBox 18"/>
          <p:cNvSpPr txBox="1"/>
          <p:nvPr/>
        </p:nvSpPr>
        <p:spPr>
          <a:xfrm>
            <a:off x="484632" y="3227832"/>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Respond to Growth Segment Traveller Preferences</a:t>
            </a:r>
          </a:p>
        </p:txBody>
      </p:sp>
      <p:sp>
        <p:nvSpPr>
          <p:cNvPr id="20" name="Label Rectangle 19"/>
          <p:cNvSpPr/>
          <p:nvPr/>
        </p:nvSpPr>
        <p:spPr>
          <a:xfrm>
            <a:off x="457200" y="3849624"/>
            <a:ext cx="1788109" cy="548640"/>
          </a:xfrm>
          <a:prstGeom prst="rect">
            <a:avLst/>
          </a:prstGeom>
          <a:solidFill>
            <a:srgbClr val="FFFFFF"/>
          </a:solidFill>
          <a:ln w="9525">
            <a:solidFill>
              <a:srgbClr val="7F7F7F"/>
            </a:solidFill>
          </a:ln>
        </p:spPr>
        <p:txBody>
          <a:bodyPr rtlCol="0" anchor="ctr"/>
          <a:lstStyle/>
          <a:p>
            <a:pPr algn="ctr"/>
          </a:p>
        </p:txBody>
      </p:sp>
      <p:sp>
        <p:nvSpPr>
          <p:cNvPr id="21" name="Label TextBox 20"/>
          <p:cNvSpPr txBox="1"/>
          <p:nvPr/>
        </p:nvSpPr>
        <p:spPr>
          <a:xfrm>
            <a:off x="484632" y="3849624"/>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Develop the Seasonality and Spread Proposition</a:t>
            </a:r>
          </a:p>
        </p:txBody>
      </p:sp>
      <p:sp>
        <p:nvSpPr>
          <p:cNvPr id="22" name="Label Rectangle 21"/>
          <p:cNvSpPr/>
          <p:nvPr/>
        </p:nvSpPr>
        <p:spPr>
          <a:xfrm>
            <a:off x="457200" y="4471416"/>
            <a:ext cx="1788109" cy="548640"/>
          </a:xfrm>
          <a:prstGeom prst="rect">
            <a:avLst/>
          </a:prstGeom>
          <a:solidFill>
            <a:srgbClr val="FFFFFF"/>
          </a:solidFill>
          <a:ln w="9525">
            <a:solidFill>
              <a:srgbClr val="7F7F7F"/>
            </a:solidFill>
          </a:ln>
        </p:spPr>
        <p:txBody>
          <a:bodyPr rtlCol="0" anchor="ctr"/>
          <a:lstStyle/>
          <a:p>
            <a:pPr algn="ctr"/>
          </a:p>
        </p:txBody>
      </p:sp>
      <p:sp>
        <p:nvSpPr>
          <p:cNvPr id="23" name="Label TextBox 22"/>
          <p:cNvSpPr txBox="1"/>
          <p:nvPr/>
        </p:nvSpPr>
        <p:spPr>
          <a:xfrm>
            <a:off x="484632" y="4471416"/>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Facilitate Adoption Along the Path to Purchase</a:t>
            </a:r>
          </a:p>
        </p:txBody>
      </p:sp>
      <p:cxnSp>
        <p:nvCxnSpPr>
          <p:cNvPr id="24" name="Label Connector 23"/>
          <p:cNvCxnSpPr/>
          <p:nvPr/>
        </p:nvCxnSpPr>
        <p:spPr>
          <a:xfrm>
            <a:off x="3249091" y="2587752"/>
            <a:ext cx="0" cy="109728"/>
          </a:xfrm>
          <a:prstGeom prst="line">
            <a:avLst/>
          </a:prstGeom>
          <a:ln w="9525">
            <a:solidFill>
              <a:srgbClr val="7F7F7F"/>
            </a:solidFill>
          </a:ln>
        </p:spPr>
      </p:cxnSp>
      <p:sp>
        <p:nvSpPr>
          <p:cNvPr id="25" name="Label Rectangle 24"/>
          <p:cNvSpPr/>
          <p:nvPr/>
        </p:nvSpPr>
        <p:spPr>
          <a:xfrm>
            <a:off x="2355037" y="2697480"/>
            <a:ext cx="1788109" cy="45720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1.2 Source Market Growth and Diversification</a:t>
            </a:r>
          </a:p>
        </p:txBody>
      </p:sp>
      <p:sp>
        <p:nvSpPr>
          <p:cNvPr id="26" name="Label Rectangle 25"/>
          <p:cNvSpPr/>
          <p:nvPr/>
        </p:nvSpPr>
        <p:spPr>
          <a:xfrm>
            <a:off x="2355037" y="3227832"/>
            <a:ext cx="1788109" cy="548640"/>
          </a:xfrm>
          <a:prstGeom prst="rect">
            <a:avLst/>
          </a:prstGeom>
          <a:solidFill>
            <a:srgbClr val="FFFFFF"/>
          </a:solidFill>
          <a:ln w="9525">
            <a:solidFill>
              <a:srgbClr val="7F7F7F"/>
            </a:solidFill>
          </a:ln>
        </p:spPr>
        <p:txBody>
          <a:bodyPr rtlCol="0" anchor="ctr"/>
          <a:lstStyle/>
          <a:p>
            <a:pPr algn="ctr"/>
          </a:p>
        </p:txBody>
      </p:sp>
      <p:sp>
        <p:nvSpPr>
          <p:cNvPr id="27" name="Label TextBox 26"/>
          <p:cNvSpPr txBox="1"/>
          <p:nvPr/>
        </p:nvSpPr>
        <p:spPr>
          <a:xfrm>
            <a:off x="2382469" y="3227832"/>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Pivot to Growth Markets (China, India, ME, ASEAN)</a:t>
            </a:r>
          </a:p>
        </p:txBody>
      </p:sp>
      <p:sp>
        <p:nvSpPr>
          <p:cNvPr id="28" name="Label Rectangle 27"/>
          <p:cNvSpPr/>
          <p:nvPr/>
        </p:nvSpPr>
        <p:spPr>
          <a:xfrm>
            <a:off x="2355037" y="3849624"/>
            <a:ext cx="1788109" cy="548640"/>
          </a:xfrm>
          <a:prstGeom prst="rect">
            <a:avLst/>
          </a:prstGeom>
          <a:solidFill>
            <a:srgbClr val="FFFFFF"/>
          </a:solidFill>
          <a:ln w="9525">
            <a:solidFill>
              <a:srgbClr val="7F7F7F"/>
            </a:solidFill>
          </a:ln>
        </p:spPr>
        <p:txBody>
          <a:bodyPr rtlCol="0" anchor="ctr"/>
          <a:lstStyle/>
          <a:p>
            <a:pPr algn="ctr"/>
          </a:p>
        </p:txBody>
      </p:sp>
      <p:sp>
        <p:nvSpPr>
          <p:cNvPr id="29" name="Label TextBox 28"/>
          <p:cNvSpPr txBox="1"/>
          <p:nvPr/>
        </p:nvSpPr>
        <p:spPr>
          <a:xfrm>
            <a:off x="2382469" y="3849624"/>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Increase Yield in Mature Markets (UK, Europe, N. America)</a:t>
            </a:r>
          </a:p>
        </p:txBody>
      </p:sp>
      <p:sp>
        <p:nvSpPr>
          <p:cNvPr id="30" name="Label Rectangle 29"/>
          <p:cNvSpPr/>
          <p:nvPr/>
        </p:nvSpPr>
        <p:spPr>
          <a:xfrm>
            <a:off x="2355037" y="4471416"/>
            <a:ext cx="1788109" cy="548640"/>
          </a:xfrm>
          <a:prstGeom prst="rect">
            <a:avLst/>
          </a:prstGeom>
          <a:solidFill>
            <a:srgbClr val="FFFFFF"/>
          </a:solidFill>
          <a:ln w="9525">
            <a:solidFill>
              <a:srgbClr val="7F7F7F"/>
            </a:solidFill>
          </a:ln>
        </p:spPr>
        <p:txBody>
          <a:bodyPr rtlCol="0" anchor="ctr"/>
          <a:lstStyle/>
          <a:p>
            <a:pPr algn="ctr"/>
          </a:p>
        </p:txBody>
      </p:sp>
      <p:sp>
        <p:nvSpPr>
          <p:cNvPr id="31" name="Label TextBox 30"/>
          <p:cNvSpPr txBox="1"/>
          <p:nvPr/>
        </p:nvSpPr>
        <p:spPr>
          <a:xfrm>
            <a:off x="2382469" y="4471416"/>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Build a Regional Foundation (Africa)</a:t>
            </a:r>
          </a:p>
        </p:txBody>
      </p:sp>
      <p:cxnSp>
        <p:nvCxnSpPr>
          <p:cNvPr id="32" name="Label Connector 31"/>
          <p:cNvCxnSpPr/>
          <p:nvPr/>
        </p:nvCxnSpPr>
        <p:spPr>
          <a:xfrm>
            <a:off x="5146929" y="2587752"/>
            <a:ext cx="0" cy="109728"/>
          </a:xfrm>
          <a:prstGeom prst="line">
            <a:avLst/>
          </a:prstGeom>
          <a:ln w="9525">
            <a:solidFill>
              <a:srgbClr val="7F7F7F"/>
            </a:solidFill>
          </a:ln>
        </p:spPr>
      </p:cxnSp>
      <p:sp>
        <p:nvSpPr>
          <p:cNvPr id="33" name="Label Rectangle 32"/>
          <p:cNvSpPr/>
          <p:nvPr/>
        </p:nvSpPr>
        <p:spPr>
          <a:xfrm>
            <a:off x="4252874" y="2697480"/>
            <a:ext cx="1788109" cy="45720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2.1 Accessibility, Connectivity and Infrastructure</a:t>
            </a:r>
          </a:p>
        </p:txBody>
      </p:sp>
      <p:sp>
        <p:nvSpPr>
          <p:cNvPr id="34" name="Label Rectangle 33"/>
          <p:cNvSpPr/>
          <p:nvPr/>
        </p:nvSpPr>
        <p:spPr>
          <a:xfrm>
            <a:off x="4252874" y="3227832"/>
            <a:ext cx="1788109" cy="548640"/>
          </a:xfrm>
          <a:prstGeom prst="rect">
            <a:avLst/>
          </a:prstGeom>
          <a:solidFill>
            <a:srgbClr val="FFFFFF"/>
          </a:solidFill>
          <a:ln w="9525">
            <a:solidFill>
              <a:srgbClr val="7F7F7F"/>
            </a:solidFill>
          </a:ln>
        </p:spPr>
        <p:txBody>
          <a:bodyPr rtlCol="0" anchor="ctr"/>
          <a:lstStyle/>
          <a:p>
            <a:pPr algn="ctr"/>
          </a:p>
        </p:txBody>
      </p:sp>
      <p:sp>
        <p:nvSpPr>
          <p:cNvPr id="35" name="Label TextBox 34"/>
          <p:cNvSpPr txBox="1"/>
          <p:nvPr/>
        </p:nvSpPr>
        <p:spPr>
          <a:xfrm>
            <a:off x="4280306" y="3227832"/>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Close the Air Access and Cruise Capacity Gaps</a:t>
            </a:r>
          </a:p>
        </p:txBody>
      </p:sp>
      <p:sp>
        <p:nvSpPr>
          <p:cNvPr id="36" name="Label Rectangle 35"/>
          <p:cNvSpPr/>
          <p:nvPr/>
        </p:nvSpPr>
        <p:spPr>
          <a:xfrm>
            <a:off x="4252874" y="3849624"/>
            <a:ext cx="1788109" cy="548640"/>
          </a:xfrm>
          <a:prstGeom prst="rect">
            <a:avLst/>
          </a:prstGeom>
          <a:solidFill>
            <a:srgbClr val="FFFFFF"/>
          </a:solidFill>
          <a:ln w="9525">
            <a:solidFill>
              <a:srgbClr val="7F7F7F"/>
            </a:solidFill>
          </a:ln>
        </p:spPr>
        <p:txBody>
          <a:bodyPr rtlCol="0" anchor="ctr"/>
          <a:lstStyle/>
          <a:p>
            <a:pPr algn="ctr"/>
          </a:p>
        </p:txBody>
      </p:sp>
      <p:sp>
        <p:nvSpPr>
          <p:cNvPr id="37" name="Label TextBox 36"/>
          <p:cNvSpPr txBox="1"/>
          <p:nvPr/>
        </p:nvSpPr>
        <p:spPr>
          <a:xfrm>
            <a:off x="4280306" y="3849624"/>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Accelerate Tourism-Enabling Internal Mobility</a:t>
            </a:r>
          </a:p>
        </p:txBody>
      </p:sp>
      <p:sp>
        <p:nvSpPr>
          <p:cNvPr id="38" name="Label Rectangle 37"/>
          <p:cNvSpPr/>
          <p:nvPr/>
        </p:nvSpPr>
        <p:spPr>
          <a:xfrm>
            <a:off x="4252874" y="4471416"/>
            <a:ext cx="1788109" cy="548640"/>
          </a:xfrm>
          <a:prstGeom prst="rect">
            <a:avLst/>
          </a:prstGeom>
          <a:solidFill>
            <a:srgbClr val="FFFFFF"/>
          </a:solidFill>
          <a:ln w="9525">
            <a:solidFill>
              <a:srgbClr val="7F7F7F"/>
            </a:solidFill>
          </a:ln>
        </p:spPr>
        <p:txBody>
          <a:bodyPr rtlCol="0" anchor="ctr"/>
          <a:lstStyle/>
          <a:p>
            <a:pPr algn="ctr"/>
          </a:p>
        </p:txBody>
      </p:sp>
      <p:sp>
        <p:nvSpPr>
          <p:cNvPr id="39" name="Label TextBox 38"/>
          <p:cNvSpPr txBox="1"/>
          <p:nvPr/>
        </p:nvSpPr>
        <p:spPr>
          <a:xfrm>
            <a:off x="4280306" y="4471416"/>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Lead Removal of Infrastructure, Visa and Safety Deficits</a:t>
            </a:r>
          </a:p>
        </p:txBody>
      </p:sp>
      <p:cxnSp>
        <p:nvCxnSpPr>
          <p:cNvPr id="40" name="Label Connector 39"/>
          <p:cNvCxnSpPr/>
          <p:nvPr/>
        </p:nvCxnSpPr>
        <p:spPr>
          <a:xfrm>
            <a:off x="7044766" y="2587752"/>
            <a:ext cx="0" cy="109728"/>
          </a:xfrm>
          <a:prstGeom prst="line">
            <a:avLst/>
          </a:prstGeom>
          <a:ln w="9525">
            <a:solidFill>
              <a:srgbClr val="7F7F7F"/>
            </a:solidFill>
          </a:ln>
        </p:spPr>
      </p:cxnSp>
      <p:sp>
        <p:nvSpPr>
          <p:cNvPr id="41" name="Label Rectangle 40"/>
          <p:cNvSpPr/>
          <p:nvPr/>
        </p:nvSpPr>
        <p:spPr>
          <a:xfrm>
            <a:off x="6150711" y="2697480"/>
            <a:ext cx="1788109" cy="45720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2.2 Product and Destination Capacity</a:t>
            </a:r>
          </a:p>
        </p:txBody>
      </p:sp>
      <p:sp>
        <p:nvSpPr>
          <p:cNvPr id="42" name="Label Rectangle 41"/>
          <p:cNvSpPr/>
          <p:nvPr/>
        </p:nvSpPr>
        <p:spPr>
          <a:xfrm>
            <a:off x="6150711" y="3227832"/>
            <a:ext cx="1788109" cy="548640"/>
          </a:xfrm>
          <a:prstGeom prst="rect">
            <a:avLst/>
          </a:prstGeom>
          <a:solidFill>
            <a:srgbClr val="FFFFFF"/>
          </a:solidFill>
          <a:ln w="9525">
            <a:solidFill>
              <a:srgbClr val="7F7F7F"/>
            </a:solidFill>
          </a:ln>
        </p:spPr>
        <p:txBody>
          <a:bodyPr rtlCol="0" anchor="ctr"/>
          <a:lstStyle/>
          <a:p>
            <a:pPr algn="ctr"/>
          </a:p>
        </p:txBody>
      </p:sp>
      <p:sp>
        <p:nvSpPr>
          <p:cNvPr id="43" name="Label TextBox 42"/>
          <p:cNvSpPr txBox="1"/>
          <p:nvPr/>
        </p:nvSpPr>
        <p:spPr>
          <a:xfrm>
            <a:off x="6178143" y="3227832"/>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Support Diversified Route and Product Development</a:t>
            </a:r>
          </a:p>
        </p:txBody>
      </p:sp>
      <p:sp>
        <p:nvSpPr>
          <p:cNvPr id="44" name="Label Rectangle 43"/>
          <p:cNvSpPr/>
          <p:nvPr/>
        </p:nvSpPr>
        <p:spPr>
          <a:xfrm>
            <a:off x="6150711" y="3849624"/>
            <a:ext cx="1788109" cy="548640"/>
          </a:xfrm>
          <a:prstGeom prst="rect">
            <a:avLst/>
          </a:prstGeom>
          <a:solidFill>
            <a:srgbClr val="FFFFFF"/>
          </a:solidFill>
          <a:ln w="9525">
            <a:solidFill>
              <a:srgbClr val="7F7F7F"/>
            </a:solidFill>
          </a:ln>
        </p:spPr>
        <p:txBody>
          <a:bodyPr rtlCol="0" anchor="ctr"/>
          <a:lstStyle/>
          <a:p>
            <a:pPr algn="ctr"/>
          </a:p>
        </p:txBody>
      </p:sp>
      <p:sp>
        <p:nvSpPr>
          <p:cNvPr id="45" name="Label TextBox 44"/>
          <p:cNvSpPr txBox="1"/>
          <p:nvPr/>
        </p:nvSpPr>
        <p:spPr>
          <a:xfrm>
            <a:off x="6178143" y="3849624"/>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Align Visitor Experience In-Destination</a:t>
            </a:r>
          </a:p>
        </p:txBody>
      </p:sp>
      <p:sp>
        <p:nvSpPr>
          <p:cNvPr id="46" name="Label Rectangle 45"/>
          <p:cNvSpPr/>
          <p:nvPr/>
        </p:nvSpPr>
        <p:spPr>
          <a:xfrm>
            <a:off x="6150711" y="4471416"/>
            <a:ext cx="1788109" cy="548640"/>
          </a:xfrm>
          <a:prstGeom prst="rect">
            <a:avLst/>
          </a:prstGeom>
          <a:solidFill>
            <a:srgbClr val="FFFFFF"/>
          </a:solidFill>
          <a:ln w="9525">
            <a:solidFill>
              <a:srgbClr val="7F7F7F"/>
            </a:solidFill>
          </a:ln>
        </p:spPr>
        <p:txBody>
          <a:bodyPr rtlCol="0" anchor="ctr"/>
          <a:lstStyle/>
          <a:p>
            <a:pPr algn="ctr"/>
          </a:p>
        </p:txBody>
      </p:sp>
      <p:sp>
        <p:nvSpPr>
          <p:cNvPr id="47" name="Label TextBox 46"/>
          <p:cNvSpPr txBox="1"/>
          <p:nvPr/>
        </p:nvSpPr>
        <p:spPr>
          <a:xfrm>
            <a:off x="6178143" y="4471416"/>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Balance Impact on Nature-Based Attractions</a:t>
            </a:r>
          </a:p>
        </p:txBody>
      </p:sp>
      <p:cxnSp>
        <p:nvCxnSpPr>
          <p:cNvPr id="48" name="Label Connector 47"/>
          <p:cNvCxnSpPr/>
          <p:nvPr/>
        </p:nvCxnSpPr>
        <p:spPr>
          <a:xfrm>
            <a:off x="8942603" y="2587752"/>
            <a:ext cx="0" cy="109728"/>
          </a:xfrm>
          <a:prstGeom prst="line">
            <a:avLst/>
          </a:prstGeom>
          <a:ln w="9525">
            <a:solidFill>
              <a:srgbClr val="7F7F7F"/>
            </a:solidFill>
          </a:ln>
        </p:spPr>
      </p:cxnSp>
      <p:sp>
        <p:nvSpPr>
          <p:cNvPr id="49" name="Label Rectangle 48"/>
          <p:cNvSpPr/>
          <p:nvPr/>
        </p:nvSpPr>
        <p:spPr>
          <a:xfrm>
            <a:off x="8048548" y="2697480"/>
            <a:ext cx="1788109" cy="45720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3.1 Investment, Inclusion and Sustainability</a:t>
            </a:r>
          </a:p>
        </p:txBody>
      </p:sp>
      <p:sp>
        <p:nvSpPr>
          <p:cNvPr id="50" name="Label Rectangle 49"/>
          <p:cNvSpPr/>
          <p:nvPr/>
        </p:nvSpPr>
        <p:spPr>
          <a:xfrm>
            <a:off x="8048548" y="3227832"/>
            <a:ext cx="1788109" cy="548640"/>
          </a:xfrm>
          <a:prstGeom prst="rect">
            <a:avLst/>
          </a:prstGeom>
          <a:solidFill>
            <a:srgbClr val="FFFFFF"/>
          </a:solidFill>
          <a:ln w="9525">
            <a:solidFill>
              <a:srgbClr val="7F7F7F"/>
            </a:solidFill>
          </a:ln>
        </p:spPr>
        <p:txBody>
          <a:bodyPr rtlCol="0" anchor="ctr"/>
          <a:lstStyle/>
          <a:p>
            <a:pPr algn="ctr"/>
          </a:p>
        </p:txBody>
      </p:sp>
      <p:sp>
        <p:nvSpPr>
          <p:cNvPr id="51" name="Label TextBox 50"/>
          <p:cNvSpPr txBox="1"/>
          <p:nvPr/>
        </p:nvSpPr>
        <p:spPr>
          <a:xfrm>
            <a:off x="8075980" y="3227832"/>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Drive Community and SME Inclusion</a:t>
            </a:r>
          </a:p>
        </p:txBody>
      </p:sp>
      <p:sp>
        <p:nvSpPr>
          <p:cNvPr id="52" name="Label Rectangle 51"/>
          <p:cNvSpPr/>
          <p:nvPr/>
        </p:nvSpPr>
        <p:spPr>
          <a:xfrm>
            <a:off x="8048548" y="3849624"/>
            <a:ext cx="1788109" cy="548640"/>
          </a:xfrm>
          <a:prstGeom prst="rect">
            <a:avLst/>
          </a:prstGeom>
          <a:solidFill>
            <a:srgbClr val="FFFFFF"/>
          </a:solidFill>
          <a:ln w="9525">
            <a:solidFill>
              <a:srgbClr val="7F7F7F"/>
            </a:solidFill>
          </a:ln>
        </p:spPr>
        <p:txBody>
          <a:bodyPr rtlCol="0" anchor="ctr"/>
          <a:lstStyle/>
          <a:p>
            <a:pPr algn="ctr"/>
          </a:p>
        </p:txBody>
      </p:sp>
      <p:sp>
        <p:nvSpPr>
          <p:cNvPr id="53" name="Label TextBox 52"/>
          <p:cNvSpPr txBox="1"/>
          <p:nvPr/>
        </p:nvSpPr>
        <p:spPr>
          <a:xfrm>
            <a:off x="8075980" y="3849624"/>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Ensure Sustainable Destination Management</a:t>
            </a:r>
          </a:p>
        </p:txBody>
      </p:sp>
      <p:sp>
        <p:nvSpPr>
          <p:cNvPr id="54" name="Label Rectangle 53"/>
          <p:cNvSpPr/>
          <p:nvPr/>
        </p:nvSpPr>
        <p:spPr>
          <a:xfrm>
            <a:off x="8048548" y="4471416"/>
            <a:ext cx="1788109" cy="548640"/>
          </a:xfrm>
          <a:prstGeom prst="rect">
            <a:avLst/>
          </a:prstGeom>
          <a:solidFill>
            <a:srgbClr val="FFFFFF"/>
          </a:solidFill>
          <a:ln w="9525">
            <a:solidFill>
              <a:srgbClr val="7F7F7F"/>
            </a:solidFill>
          </a:ln>
        </p:spPr>
        <p:txBody>
          <a:bodyPr rtlCol="0" anchor="ctr"/>
          <a:lstStyle/>
          <a:p>
            <a:pPr algn="ctr"/>
          </a:p>
        </p:txBody>
      </p:sp>
      <p:sp>
        <p:nvSpPr>
          <p:cNvPr id="55" name="Label TextBox 54"/>
          <p:cNvSpPr txBox="1"/>
          <p:nvPr/>
        </p:nvSpPr>
        <p:spPr>
          <a:xfrm>
            <a:off x="8075980" y="4471416"/>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Crowd-In Capital with Targeted Investment Strategies</a:t>
            </a:r>
          </a:p>
        </p:txBody>
      </p:sp>
      <p:cxnSp>
        <p:nvCxnSpPr>
          <p:cNvPr id="56" name="Label Connector 55"/>
          <p:cNvCxnSpPr/>
          <p:nvPr/>
        </p:nvCxnSpPr>
        <p:spPr>
          <a:xfrm>
            <a:off x="10840440" y="2587752"/>
            <a:ext cx="0" cy="109728"/>
          </a:xfrm>
          <a:prstGeom prst="line">
            <a:avLst/>
          </a:prstGeom>
          <a:ln w="9525">
            <a:solidFill>
              <a:srgbClr val="7F7F7F"/>
            </a:solidFill>
          </a:ln>
        </p:spPr>
      </p:cxnSp>
      <p:sp>
        <p:nvSpPr>
          <p:cNvPr id="57" name="Label Rectangle 56"/>
          <p:cNvSpPr/>
          <p:nvPr/>
        </p:nvSpPr>
        <p:spPr>
          <a:xfrm>
            <a:off x="9946386" y="2697480"/>
            <a:ext cx="1788109" cy="457200"/>
          </a:xfrm>
          <a:prstGeom prst="rect">
            <a:avLst/>
          </a:prstGeom>
          <a:solidFill>
            <a:srgbClr val="C9E8F6"/>
          </a:solidFill>
          <a:ln>
            <a:noFill/>
          </a:ln>
        </p:spPr>
        <p:txBody>
          <a:bodyPr rtlCol="0" anchor="ctr" wrap="square" lIns="36576" rIns="36576" tIns="21945" bIns="21945"/>
          <a:lstStyle/>
          <a:p>
            <a:pPr algn="ctr">
              <a:spcAft>
                <a:spcPts val="0"/>
              </a:spcAft>
            </a:pPr>
            <a:r>
              <a:rPr sz="900" b="1" i="0">
                <a:solidFill>
                  <a:srgbClr val="1F497D"/>
                </a:solidFill>
                <a:latin typeface="Arial"/>
              </a:rPr>
              <a:t>3.2 Governance and Leadership</a:t>
            </a:r>
          </a:p>
        </p:txBody>
      </p:sp>
      <p:sp>
        <p:nvSpPr>
          <p:cNvPr id="58" name="Label Rectangle 57"/>
          <p:cNvSpPr/>
          <p:nvPr/>
        </p:nvSpPr>
        <p:spPr>
          <a:xfrm>
            <a:off x="9946386" y="3227832"/>
            <a:ext cx="1788109" cy="548640"/>
          </a:xfrm>
          <a:prstGeom prst="rect">
            <a:avLst/>
          </a:prstGeom>
          <a:solidFill>
            <a:srgbClr val="FFFFFF"/>
          </a:solidFill>
          <a:ln w="9525">
            <a:solidFill>
              <a:srgbClr val="7F7F7F"/>
            </a:solidFill>
          </a:ln>
        </p:spPr>
        <p:txBody>
          <a:bodyPr rtlCol="0" anchor="ctr"/>
          <a:lstStyle/>
          <a:p>
            <a:pPr algn="ctr"/>
          </a:p>
        </p:txBody>
      </p:sp>
      <p:sp>
        <p:nvSpPr>
          <p:cNvPr id="59" name="Label TextBox 58"/>
          <p:cNvSpPr txBox="1"/>
          <p:nvPr/>
        </p:nvSpPr>
        <p:spPr>
          <a:xfrm>
            <a:off x="9973817" y="3227832"/>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Review Institutional Arrangements (Wesgro, DEDAT, CTT)</a:t>
            </a:r>
          </a:p>
        </p:txBody>
      </p:sp>
      <p:sp>
        <p:nvSpPr>
          <p:cNvPr id="60" name="Label Rectangle 59"/>
          <p:cNvSpPr/>
          <p:nvPr/>
        </p:nvSpPr>
        <p:spPr>
          <a:xfrm>
            <a:off x="9946386" y="3849624"/>
            <a:ext cx="1788109" cy="548640"/>
          </a:xfrm>
          <a:prstGeom prst="rect">
            <a:avLst/>
          </a:prstGeom>
          <a:solidFill>
            <a:srgbClr val="FFFFFF"/>
          </a:solidFill>
          <a:ln w="9525">
            <a:solidFill>
              <a:srgbClr val="7F7F7F"/>
            </a:solidFill>
          </a:ln>
        </p:spPr>
        <p:txBody>
          <a:bodyPr rtlCol="0" anchor="ctr"/>
          <a:lstStyle/>
          <a:p>
            <a:pPr algn="ctr"/>
          </a:p>
        </p:txBody>
      </p:sp>
      <p:sp>
        <p:nvSpPr>
          <p:cNvPr id="61" name="Label TextBox 60"/>
          <p:cNvSpPr txBox="1"/>
          <p:nvPr/>
        </p:nvSpPr>
        <p:spPr>
          <a:xfrm>
            <a:off x="9973817" y="3849624"/>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Strengthen Industry and Government Collaboration</a:t>
            </a:r>
          </a:p>
        </p:txBody>
      </p:sp>
      <p:sp>
        <p:nvSpPr>
          <p:cNvPr id="62" name="Label Rectangle 61"/>
          <p:cNvSpPr/>
          <p:nvPr/>
        </p:nvSpPr>
        <p:spPr>
          <a:xfrm>
            <a:off x="9946386" y="4471416"/>
            <a:ext cx="1788109" cy="548640"/>
          </a:xfrm>
          <a:prstGeom prst="rect">
            <a:avLst/>
          </a:prstGeom>
          <a:solidFill>
            <a:srgbClr val="FFFFFF"/>
          </a:solidFill>
          <a:ln w="9525">
            <a:solidFill>
              <a:srgbClr val="7F7F7F"/>
            </a:solidFill>
          </a:ln>
        </p:spPr>
        <p:txBody>
          <a:bodyPr rtlCol="0" anchor="ctr"/>
          <a:lstStyle/>
          <a:p>
            <a:pPr algn="ctr"/>
          </a:p>
        </p:txBody>
      </p:sp>
      <p:sp>
        <p:nvSpPr>
          <p:cNvPr id="63" name="Label TextBox 62"/>
          <p:cNvSpPr txBox="1"/>
          <p:nvPr/>
        </p:nvSpPr>
        <p:spPr>
          <a:xfrm>
            <a:off x="9973817" y="4471416"/>
            <a:ext cx="1733245" cy="548640"/>
          </a:xfrm>
          <a:prstGeom prst="rect">
            <a:avLst/>
          </a:prstGeom>
          <a:noFill/>
        </p:spPr>
        <p:txBody>
          <a:bodyPr wrap="square" anchor="ctr" lIns="18288" rIns="18288" tIns="10972" bIns="10972">
            <a:spAutoFit/>
          </a:bodyPr>
          <a:lstStyle/>
          <a:p>
            <a:pPr algn="ctr">
              <a:spcAft>
                <a:spcPts val="0"/>
              </a:spcAft>
            </a:pPr>
            <a:r>
              <a:rPr sz="900" b="0" i="0">
                <a:solidFill>
                  <a:srgbClr val="404040"/>
                </a:solidFill>
                <a:latin typeface="Arial"/>
              </a:rPr>
              <a:t>Expedite Tourism-Enabling Policy and Data Sharing</a:t>
            </a:r>
          </a:p>
        </p:txBody>
      </p:sp>
      <p:sp>
        <p:nvSpPr>
          <p:cNvPr id="64" name="Rectangle 63"/>
          <p:cNvSpPr/>
          <p:nvPr/>
        </p:nvSpPr>
        <p:spPr>
          <a:xfrm>
            <a:off x="457200" y="5120640"/>
            <a:ext cx="11277295" cy="777240"/>
          </a:xfrm>
          <a:prstGeom prst="rect">
            <a:avLst/>
          </a:prstGeom>
          <a:solidFill>
            <a:srgbClr val="F2F2F2"/>
          </a:solidFill>
          <a:ln>
            <a:noFill/>
          </a:ln>
        </p:spPr>
        <p:txBody>
          <a:bodyPr rtlCol="0" anchor="ctr"/>
          <a:lstStyle/>
          <a:p>
            <a:pPr algn="ctr"/>
          </a:p>
        </p:txBody>
      </p:sp>
      <p:sp>
        <p:nvSpPr>
          <p:cNvPr id="65" name="Rectangle 64"/>
          <p:cNvSpPr/>
          <p:nvPr/>
        </p:nvSpPr>
        <p:spPr>
          <a:xfrm>
            <a:off x="457200" y="5120640"/>
            <a:ext cx="64008" cy="777240"/>
          </a:xfrm>
          <a:prstGeom prst="rect">
            <a:avLst/>
          </a:prstGeom>
          <a:solidFill>
            <a:srgbClr val="00AEEF"/>
          </a:solidFill>
          <a:ln>
            <a:noFill/>
          </a:ln>
        </p:spPr>
        <p:txBody>
          <a:bodyPr rtlCol="0" anchor="ctr"/>
          <a:lstStyle/>
          <a:p>
            <a:pPr algn="ctr"/>
          </a:p>
        </p:txBody>
      </p:sp>
      <p:sp>
        <p:nvSpPr>
          <p:cNvPr id="66" name="TextBox 65"/>
          <p:cNvSpPr txBox="1"/>
          <p:nvPr/>
        </p:nvSpPr>
        <p:spPr>
          <a:xfrm>
            <a:off x="640080" y="5193792"/>
            <a:ext cx="11002975" cy="393192"/>
          </a:xfrm>
          <a:prstGeom prst="rect">
            <a:avLst/>
          </a:prstGeom>
          <a:noFill/>
        </p:spPr>
        <p:txBody>
          <a:bodyPr wrap="square" anchor="t" lIns="36576" rIns="36576" tIns="21945" bIns="21945">
            <a:spAutoFit/>
          </a:bodyPr>
          <a:lstStyle/>
          <a:p>
            <a:pPr algn="l">
              <a:spcAft>
                <a:spcPts val="0"/>
              </a:spcAft>
            </a:pPr>
            <a:r>
              <a:rPr sz="1000" b="0" i="0">
                <a:solidFill>
                  <a:srgbClr val="404040"/>
                </a:solidFill>
                <a:latin typeface="Arial"/>
              </a:rPr>
              <a:t>“To double tourism by 2035, the Western Cape must transition from recovery to growth, requiring a simultaneous pivot to high-growth markets (Demand), a physical expansion of accessibility and capacity (Supply) and the removal of systemic regulatory friction (Enablement).”</a:t>
            </a:r>
          </a:p>
        </p:txBody>
      </p:sp>
      <p:sp>
        <p:nvSpPr>
          <p:cNvPr id="67" name="TextBox 66"/>
          <p:cNvSpPr txBox="1"/>
          <p:nvPr/>
        </p:nvSpPr>
        <p:spPr>
          <a:xfrm>
            <a:off x="640080" y="5586983"/>
            <a:ext cx="11002975" cy="274320"/>
          </a:xfrm>
          <a:prstGeom prst="rect">
            <a:avLst/>
          </a:prstGeom>
          <a:noFill/>
        </p:spPr>
        <p:txBody>
          <a:bodyPr wrap="square" anchor="t" lIns="36576" rIns="36576" tIns="21945" bIns="21945">
            <a:spAutoFit/>
          </a:bodyPr>
          <a:lstStyle/>
          <a:p>
            <a:pPr algn="l">
              <a:spcAft>
                <a:spcPts val="0"/>
              </a:spcAft>
            </a:pPr>
            <a:r>
              <a:rPr sz="900" b="0" i="1">
                <a:solidFill>
                  <a:srgbClr val="7F7F7F"/>
                </a:solidFill>
                <a:latin typeface="Arial"/>
              </a:rPr>
              <a:t>Diagnostic v2 p64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Arrivals have passed the pre-COVID peak, but five markets, one season and one metro still carry the province</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03 | WHAT EACH DELIVERABLE FOUND | CURRENT STATE DIAGNOSTIC, DEC 2025</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Current State Diagnostic v2 (Dec 2025) pp25, 28-29, 32, 35, 39. Airport passenger arrivals are not the same measure as tourist arrivals (see appendix).</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6</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457200" y="1463040"/>
            <a:ext cx="2145731" cy="3931920"/>
          </a:xfrm>
          <a:prstGeom prst="rect">
            <a:avLst/>
          </a:prstGeom>
          <a:solidFill>
            <a:srgbClr val="F2F2F2"/>
          </a:solidFill>
          <a:ln>
            <a:noFill/>
          </a:ln>
        </p:spPr>
        <p:txBody>
          <a:bodyPr rtlCol="0" anchor="ctr"/>
          <a:lstStyle/>
          <a:p>
            <a:pPr algn="ctr"/>
          </a:p>
        </p:txBody>
      </p:sp>
      <p:sp>
        <p:nvSpPr>
          <p:cNvPr id="9" name="Rectangle 8"/>
          <p:cNvSpPr/>
          <p:nvPr/>
        </p:nvSpPr>
        <p:spPr>
          <a:xfrm>
            <a:off x="457200" y="1463040"/>
            <a:ext cx="2145731" cy="54864"/>
          </a:xfrm>
          <a:prstGeom prst="rect">
            <a:avLst/>
          </a:prstGeom>
          <a:solidFill>
            <a:srgbClr val="00AEEF"/>
          </a:solidFill>
          <a:ln>
            <a:noFill/>
          </a:ln>
        </p:spPr>
        <p:txBody>
          <a:bodyPr rtlCol="0" anchor="ctr"/>
          <a:lstStyle/>
          <a:p>
            <a:pPr algn="ctr"/>
          </a:p>
        </p:txBody>
      </p:sp>
      <p:sp>
        <p:nvSpPr>
          <p:cNvPr id="10" name="TextBox 9"/>
          <p:cNvSpPr txBox="1"/>
          <p:nvPr/>
        </p:nvSpPr>
        <p:spPr>
          <a:xfrm>
            <a:off x="621792" y="1600200"/>
            <a:ext cx="1871411" cy="640080"/>
          </a:xfrm>
          <a:prstGeom prst="rect">
            <a:avLst/>
          </a:prstGeom>
          <a:noFill/>
        </p:spPr>
        <p:txBody>
          <a:bodyPr wrap="square" anchor="b" lIns="0" rIns="0" tIns="0" bIns="0">
            <a:spAutoFit/>
          </a:bodyPr>
          <a:lstStyle/>
          <a:p>
            <a:pPr algn="l">
              <a:spcAft>
                <a:spcPts val="0"/>
              </a:spcAft>
            </a:pPr>
            <a:r>
              <a:rPr sz="3200" b="1" i="0">
                <a:solidFill>
                  <a:srgbClr val="1F497D"/>
                </a:solidFill>
                <a:latin typeface="Arial"/>
              </a:rPr>
              <a:t>1.44m</a:t>
            </a:r>
          </a:p>
        </p:txBody>
      </p:sp>
      <p:sp>
        <p:nvSpPr>
          <p:cNvPr id="11" name="TextBox 10"/>
          <p:cNvSpPr txBox="1"/>
          <p:nvPr/>
        </p:nvSpPr>
        <p:spPr>
          <a:xfrm>
            <a:off x="621792" y="2331720"/>
            <a:ext cx="1871411" cy="914400"/>
          </a:xfrm>
          <a:prstGeom prst="rect">
            <a:avLst/>
          </a:prstGeom>
          <a:noFill/>
        </p:spPr>
        <p:txBody>
          <a:bodyPr wrap="square" anchor="t" lIns="0" rIns="0" tIns="0" bIns="0">
            <a:spAutoFit/>
          </a:bodyPr>
          <a:lstStyle/>
          <a:p>
            <a:pPr algn="l">
              <a:spcAft>
                <a:spcPts val="0"/>
              </a:spcAft>
            </a:pPr>
            <a:r>
              <a:rPr sz="1050" b="0" i="0">
                <a:solidFill>
                  <a:srgbClr val="404040"/>
                </a:solidFill>
                <a:latin typeface="Arial"/>
              </a:rPr>
              <a:t>international passenger arrivals at Cape Town airport, FY24/25, against 1.16m in FY19/20</a:t>
            </a:r>
          </a:p>
        </p:txBody>
      </p:sp>
      <p:sp>
        <p:nvSpPr>
          <p:cNvPr id="12" name="Label Rectangle 11"/>
          <p:cNvSpPr/>
          <p:nvPr/>
        </p:nvSpPr>
        <p:spPr>
          <a:xfrm>
            <a:off x="621792" y="4036695"/>
            <a:ext cx="127158" cy="718185"/>
          </a:xfrm>
          <a:prstGeom prst="rect">
            <a:avLst/>
          </a:prstGeom>
          <a:solidFill>
            <a:srgbClr val="D9D9D9"/>
          </a:solidFill>
          <a:ln>
            <a:noFill/>
          </a:ln>
        </p:spPr>
        <p:txBody>
          <a:bodyPr rtlCol="0" anchor="ctr"/>
          <a:lstStyle/>
          <a:p>
            <a:pPr algn="ctr"/>
          </a:p>
        </p:txBody>
      </p:sp>
      <p:sp>
        <p:nvSpPr>
          <p:cNvPr id="13" name="Label Rectangle 12"/>
          <p:cNvSpPr/>
          <p:nvPr/>
        </p:nvSpPr>
        <p:spPr>
          <a:xfrm>
            <a:off x="803446" y="3870960"/>
            <a:ext cx="127158" cy="883920"/>
          </a:xfrm>
          <a:prstGeom prst="rect">
            <a:avLst/>
          </a:prstGeom>
          <a:solidFill>
            <a:srgbClr val="D9D9D9"/>
          </a:solidFill>
          <a:ln>
            <a:noFill/>
          </a:ln>
        </p:spPr>
        <p:txBody>
          <a:bodyPr rtlCol="0" anchor="ctr"/>
          <a:lstStyle/>
          <a:p>
            <a:pPr algn="ctr"/>
          </a:p>
        </p:txBody>
      </p:sp>
      <p:sp>
        <p:nvSpPr>
          <p:cNvPr id="14" name="Label Rectangle 13"/>
          <p:cNvSpPr/>
          <p:nvPr/>
        </p:nvSpPr>
        <p:spPr>
          <a:xfrm>
            <a:off x="985101" y="3732847"/>
            <a:ext cx="127158" cy="1022032"/>
          </a:xfrm>
          <a:prstGeom prst="rect">
            <a:avLst/>
          </a:prstGeom>
          <a:solidFill>
            <a:srgbClr val="D9D9D9"/>
          </a:solidFill>
          <a:ln>
            <a:noFill/>
          </a:ln>
        </p:spPr>
        <p:txBody>
          <a:bodyPr rtlCol="0" anchor="ctr"/>
          <a:lstStyle/>
          <a:p>
            <a:pPr algn="ctr"/>
          </a:p>
        </p:txBody>
      </p:sp>
      <p:sp>
        <p:nvSpPr>
          <p:cNvPr id="15" name="Label Rectangle 14"/>
          <p:cNvSpPr/>
          <p:nvPr/>
        </p:nvSpPr>
        <p:spPr>
          <a:xfrm>
            <a:off x="1166756" y="3659187"/>
            <a:ext cx="127158" cy="1095692"/>
          </a:xfrm>
          <a:prstGeom prst="rect">
            <a:avLst/>
          </a:prstGeom>
          <a:solidFill>
            <a:srgbClr val="D9D9D9"/>
          </a:solidFill>
          <a:ln>
            <a:noFill/>
          </a:ln>
        </p:spPr>
        <p:txBody>
          <a:bodyPr rtlCol="0" anchor="ctr"/>
          <a:lstStyle/>
          <a:p>
            <a:pPr algn="ctr"/>
          </a:p>
        </p:txBody>
      </p:sp>
      <p:sp>
        <p:nvSpPr>
          <p:cNvPr id="16" name="Label Rectangle 15"/>
          <p:cNvSpPr/>
          <p:nvPr/>
        </p:nvSpPr>
        <p:spPr>
          <a:xfrm>
            <a:off x="1348410" y="3686810"/>
            <a:ext cx="127158" cy="1068070"/>
          </a:xfrm>
          <a:prstGeom prst="rect">
            <a:avLst/>
          </a:prstGeom>
          <a:solidFill>
            <a:srgbClr val="D9D9D9"/>
          </a:solidFill>
          <a:ln>
            <a:noFill/>
          </a:ln>
        </p:spPr>
        <p:txBody>
          <a:bodyPr rtlCol="0" anchor="ctr"/>
          <a:lstStyle/>
          <a:p>
            <a:pPr algn="ctr"/>
          </a:p>
        </p:txBody>
      </p:sp>
      <p:sp>
        <p:nvSpPr>
          <p:cNvPr id="17" name="Label Rectangle 16"/>
          <p:cNvSpPr/>
          <p:nvPr/>
        </p:nvSpPr>
        <p:spPr>
          <a:xfrm>
            <a:off x="1530065" y="4681220"/>
            <a:ext cx="127158" cy="73659"/>
          </a:xfrm>
          <a:prstGeom prst="rect">
            <a:avLst/>
          </a:prstGeom>
          <a:solidFill>
            <a:srgbClr val="D9D9D9"/>
          </a:solidFill>
          <a:ln>
            <a:noFill/>
          </a:ln>
        </p:spPr>
        <p:txBody>
          <a:bodyPr rtlCol="0" anchor="ctr"/>
          <a:lstStyle/>
          <a:p>
            <a:pPr algn="ctr"/>
          </a:p>
        </p:txBody>
      </p:sp>
      <p:sp>
        <p:nvSpPr>
          <p:cNvPr id="18" name="Label Rectangle 17"/>
          <p:cNvSpPr/>
          <p:nvPr/>
        </p:nvSpPr>
        <p:spPr>
          <a:xfrm>
            <a:off x="1711720" y="4404995"/>
            <a:ext cx="127158" cy="349885"/>
          </a:xfrm>
          <a:prstGeom prst="rect">
            <a:avLst/>
          </a:prstGeom>
          <a:solidFill>
            <a:srgbClr val="D9D9D9"/>
          </a:solidFill>
          <a:ln>
            <a:noFill/>
          </a:ln>
        </p:spPr>
        <p:txBody>
          <a:bodyPr rtlCol="0" anchor="ctr"/>
          <a:lstStyle/>
          <a:p>
            <a:pPr algn="ctr"/>
          </a:p>
        </p:txBody>
      </p:sp>
      <p:sp>
        <p:nvSpPr>
          <p:cNvPr id="19" name="Label Rectangle 18"/>
          <p:cNvSpPr/>
          <p:nvPr/>
        </p:nvSpPr>
        <p:spPr>
          <a:xfrm>
            <a:off x="1893374" y="3769677"/>
            <a:ext cx="127158" cy="985202"/>
          </a:xfrm>
          <a:prstGeom prst="rect">
            <a:avLst/>
          </a:prstGeom>
          <a:solidFill>
            <a:srgbClr val="D9D9D9"/>
          </a:solidFill>
          <a:ln>
            <a:noFill/>
          </a:ln>
        </p:spPr>
        <p:txBody>
          <a:bodyPr rtlCol="0" anchor="ctr"/>
          <a:lstStyle/>
          <a:p>
            <a:pPr algn="ctr"/>
          </a:p>
        </p:txBody>
      </p:sp>
      <p:sp>
        <p:nvSpPr>
          <p:cNvPr id="20" name="Label Rectangle 19"/>
          <p:cNvSpPr/>
          <p:nvPr/>
        </p:nvSpPr>
        <p:spPr>
          <a:xfrm>
            <a:off x="2075029" y="3502660"/>
            <a:ext cx="127158" cy="1252220"/>
          </a:xfrm>
          <a:prstGeom prst="rect">
            <a:avLst/>
          </a:prstGeom>
          <a:solidFill>
            <a:srgbClr val="D9D9D9"/>
          </a:solidFill>
          <a:ln>
            <a:noFill/>
          </a:ln>
        </p:spPr>
        <p:txBody>
          <a:bodyPr rtlCol="0" anchor="ctr"/>
          <a:lstStyle/>
          <a:p>
            <a:pPr algn="ctr"/>
          </a:p>
        </p:txBody>
      </p:sp>
      <p:sp>
        <p:nvSpPr>
          <p:cNvPr id="21" name="Label Rectangle 20"/>
          <p:cNvSpPr/>
          <p:nvPr/>
        </p:nvSpPr>
        <p:spPr>
          <a:xfrm>
            <a:off x="2256684" y="3429000"/>
            <a:ext cx="127158" cy="1325880"/>
          </a:xfrm>
          <a:prstGeom prst="rect">
            <a:avLst/>
          </a:prstGeom>
          <a:solidFill>
            <a:srgbClr val="1F497D"/>
          </a:solidFill>
          <a:ln>
            <a:noFill/>
          </a:ln>
        </p:spPr>
        <p:txBody>
          <a:bodyPr rtlCol="0" anchor="ctr"/>
          <a:lstStyle/>
          <a:p>
            <a:pPr algn="ctr"/>
          </a:p>
        </p:txBody>
      </p:sp>
      <p:cxnSp>
        <p:nvCxnSpPr>
          <p:cNvPr id="22" name="Label Connector 21"/>
          <p:cNvCxnSpPr/>
          <p:nvPr/>
        </p:nvCxnSpPr>
        <p:spPr>
          <a:xfrm>
            <a:off x="621792" y="4754880"/>
            <a:ext cx="1762050" cy="0"/>
          </a:xfrm>
          <a:prstGeom prst="line">
            <a:avLst/>
          </a:prstGeom>
          <a:ln w="6350">
            <a:solidFill>
              <a:srgbClr val="7F7F7F"/>
            </a:solidFill>
          </a:ln>
        </p:spPr>
      </p:cxnSp>
      <p:sp>
        <p:nvSpPr>
          <p:cNvPr id="23" name="Label TextBox 22"/>
          <p:cNvSpPr txBox="1"/>
          <p:nvPr/>
        </p:nvSpPr>
        <p:spPr>
          <a:xfrm>
            <a:off x="621792" y="4846320"/>
            <a:ext cx="1871411"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FY15/16 to FY24/25</a:t>
            </a:r>
          </a:p>
        </p:txBody>
      </p:sp>
      <p:sp>
        <p:nvSpPr>
          <p:cNvPr id="24" name="Rectangle 23"/>
          <p:cNvSpPr/>
          <p:nvPr/>
        </p:nvSpPr>
        <p:spPr>
          <a:xfrm>
            <a:off x="2740091" y="1463040"/>
            <a:ext cx="2145731" cy="3931920"/>
          </a:xfrm>
          <a:prstGeom prst="rect">
            <a:avLst/>
          </a:prstGeom>
          <a:solidFill>
            <a:srgbClr val="F2F2F2"/>
          </a:solidFill>
          <a:ln>
            <a:noFill/>
          </a:ln>
        </p:spPr>
        <p:txBody>
          <a:bodyPr rtlCol="0" anchor="ctr"/>
          <a:lstStyle/>
          <a:p>
            <a:pPr algn="ctr"/>
          </a:p>
        </p:txBody>
      </p:sp>
      <p:sp>
        <p:nvSpPr>
          <p:cNvPr id="25" name="Rectangle 24"/>
          <p:cNvSpPr/>
          <p:nvPr/>
        </p:nvSpPr>
        <p:spPr>
          <a:xfrm>
            <a:off x="2740091" y="1463040"/>
            <a:ext cx="2145731" cy="54864"/>
          </a:xfrm>
          <a:prstGeom prst="rect">
            <a:avLst/>
          </a:prstGeom>
          <a:solidFill>
            <a:srgbClr val="00AEEF"/>
          </a:solidFill>
          <a:ln>
            <a:noFill/>
          </a:ln>
        </p:spPr>
        <p:txBody>
          <a:bodyPr rtlCol="0" anchor="ctr"/>
          <a:lstStyle/>
          <a:p>
            <a:pPr algn="ctr"/>
          </a:p>
        </p:txBody>
      </p:sp>
      <p:sp>
        <p:nvSpPr>
          <p:cNvPr id="26" name="TextBox 25"/>
          <p:cNvSpPr txBox="1"/>
          <p:nvPr/>
        </p:nvSpPr>
        <p:spPr>
          <a:xfrm>
            <a:off x="2904683" y="1600200"/>
            <a:ext cx="1871411" cy="640080"/>
          </a:xfrm>
          <a:prstGeom prst="rect">
            <a:avLst/>
          </a:prstGeom>
          <a:noFill/>
        </p:spPr>
        <p:txBody>
          <a:bodyPr wrap="square" anchor="b" lIns="0" rIns="0" tIns="0" bIns="0">
            <a:spAutoFit/>
          </a:bodyPr>
          <a:lstStyle/>
          <a:p>
            <a:pPr algn="l">
              <a:spcAft>
                <a:spcPts val="0"/>
              </a:spcAft>
            </a:pPr>
            <a:r>
              <a:rPr sz="3200" b="1" i="0">
                <a:solidFill>
                  <a:srgbClr val="1F497D"/>
                </a:solidFill>
                <a:latin typeface="Arial"/>
              </a:rPr>
              <a:t>61%</a:t>
            </a:r>
          </a:p>
        </p:txBody>
      </p:sp>
      <p:sp>
        <p:nvSpPr>
          <p:cNvPr id="27" name="TextBox 26"/>
          <p:cNvSpPr txBox="1"/>
          <p:nvPr/>
        </p:nvSpPr>
        <p:spPr>
          <a:xfrm>
            <a:off x="2904683" y="2331720"/>
            <a:ext cx="1871411" cy="914400"/>
          </a:xfrm>
          <a:prstGeom prst="rect">
            <a:avLst/>
          </a:prstGeom>
          <a:noFill/>
        </p:spPr>
        <p:txBody>
          <a:bodyPr wrap="square" anchor="t" lIns="0" rIns="0" tIns="0" bIns="0">
            <a:spAutoFit/>
          </a:bodyPr>
          <a:lstStyle/>
          <a:p>
            <a:pPr algn="l">
              <a:spcAft>
                <a:spcPts val="0"/>
              </a:spcAft>
            </a:pPr>
            <a:r>
              <a:rPr sz="1050" b="0" i="0">
                <a:solidFill>
                  <a:srgbClr val="404040"/>
                </a:solidFill>
                <a:latin typeface="Arial"/>
              </a:rPr>
              <a:t>of overseas air arrivals come from just five markets</a:t>
            </a:r>
          </a:p>
        </p:txBody>
      </p:sp>
      <p:sp>
        <p:nvSpPr>
          <p:cNvPr id="28" name="Label Rectangle 27"/>
          <p:cNvSpPr/>
          <p:nvPr/>
        </p:nvSpPr>
        <p:spPr>
          <a:xfrm>
            <a:off x="2904683" y="3429000"/>
            <a:ext cx="127158" cy="1325880"/>
          </a:xfrm>
          <a:prstGeom prst="rect">
            <a:avLst/>
          </a:prstGeom>
          <a:solidFill>
            <a:srgbClr val="1F497D"/>
          </a:solidFill>
          <a:ln>
            <a:noFill/>
          </a:ln>
        </p:spPr>
        <p:txBody>
          <a:bodyPr rtlCol="0" anchor="ctr"/>
          <a:lstStyle/>
          <a:p>
            <a:pPr algn="ctr"/>
          </a:p>
        </p:txBody>
      </p:sp>
      <p:sp>
        <p:nvSpPr>
          <p:cNvPr id="29" name="Label Rectangle 28"/>
          <p:cNvSpPr/>
          <p:nvPr/>
        </p:nvSpPr>
        <p:spPr>
          <a:xfrm>
            <a:off x="3086337" y="3429000"/>
            <a:ext cx="127158" cy="1325880"/>
          </a:xfrm>
          <a:prstGeom prst="rect">
            <a:avLst/>
          </a:prstGeom>
          <a:solidFill>
            <a:srgbClr val="1F497D"/>
          </a:solidFill>
          <a:ln>
            <a:noFill/>
          </a:ln>
        </p:spPr>
        <p:txBody>
          <a:bodyPr rtlCol="0" anchor="ctr"/>
          <a:lstStyle/>
          <a:p>
            <a:pPr algn="ctr"/>
          </a:p>
        </p:txBody>
      </p:sp>
      <p:sp>
        <p:nvSpPr>
          <p:cNvPr id="30" name="Label Rectangle 29"/>
          <p:cNvSpPr/>
          <p:nvPr/>
        </p:nvSpPr>
        <p:spPr>
          <a:xfrm>
            <a:off x="3267992" y="3649980"/>
            <a:ext cx="127158" cy="1104900"/>
          </a:xfrm>
          <a:prstGeom prst="rect">
            <a:avLst/>
          </a:prstGeom>
          <a:solidFill>
            <a:srgbClr val="1F497D"/>
          </a:solidFill>
          <a:ln>
            <a:noFill/>
          </a:ln>
        </p:spPr>
        <p:txBody>
          <a:bodyPr rtlCol="0" anchor="ctr"/>
          <a:lstStyle/>
          <a:p>
            <a:pPr algn="ctr"/>
          </a:p>
        </p:txBody>
      </p:sp>
      <p:sp>
        <p:nvSpPr>
          <p:cNvPr id="31" name="Label Rectangle 30"/>
          <p:cNvSpPr/>
          <p:nvPr/>
        </p:nvSpPr>
        <p:spPr>
          <a:xfrm>
            <a:off x="3449647" y="4312920"/>
            <a:ext cx="127158" cy="441959"/>
          </a:xfrm>
          <a:prstGeom prst="rect">
            <a:avLst/>
          </a:prstGeom>
          <a:solidFill>
            <a:srgbClr val="1F497D"/>
          </a:solidFill>
          <a:ln>
            <a:noFill/>
          </a:ln>
        </p:spPr>
        <p:txBody>
          <a:bodyPr rtlCol="0" anchor="ctr"/>
          <a:lstStyle/>
          <a:p>
            <a:pPr algn="ctr"/>
          </a:p>
        </p:txBody>
      </p:sp>
      <p:sp>
        <p:nvSpPr>
          <p:cNvPr id="32" name="Label Rectangle 31"/>
          <p:cNvSpPr/>
          <p:nvPr/>
        </p:nvSpPr>
        <p:spPr>
          <a:xfrm>
            <a:off x="3631301" y="4460240"/>
            <a:ext cx="127158" cy="294639"/>
          </a:xfrm>
          <a:prstGeom prst="rect">
            <a:avLst/>
          </a:prstGeom>
          <a:solidFill>
            <a:srgbClr val="1F497D"/>
          </a:solidFill>
          <a:ln>
            <a:noFill/>
          </a:ln>
        </p:spPr>
        <p:txBody>
          <a:bodyPr rtlCol="0" anchor="ctr"/>
          <a:lstStyle/>
          <a:p>
            <a:pPr algn="ctr"/>
          </a:p>
        </p:txBody>
      </p:sp>
      <p:sp>
        <p:nvSpPr>
          <p:cNvPr id="33" name="Label Rectangle 32"/>
          <p:cNvSpPr/>
          <p:nvPr/>
        </p:nvSpPr>
        <p:spPr>
          <a:xfrm>
            <a:off x="3812956" y="4533900"/>
            <a:ext cx="127158" cy="220979"/>
          </a:xfrm>
          <a:prstGeom prst="rect">
            <a:avLst/>
          </a:prstGeom>
          <a:solidFill>
            <a:srgbClr val="D9D9D9"/>
          </a:solidFill>
          <a:ln>
            <a:noFill/>
          </a:ln>
        </p:spPr>
        <p:txBody>
          <a:bodyPr rtlCol="0" anchor="ctr"/>
          <a:lstStyle/>
          <a:p>
            <a:pPr algn="ctr"/>
          </a:p>
        </p:txBody>
      </p:sp>
      <p:sp>
        <p:nvSpPr>
          <p:cNvPr id="34" name="Label Rectangle 33"/>
          <p:cNvSpPr/>
          <p:nvPr/>
        </p:nvSpPr>
        <p:spPr>
          <a:xfrm>
            <a:off x="3994611" y="4533900"/>
            <a:ext cx="127158" cy="220979"/>
          </a:xfrm>
          <a:prstGeom prst="rect">
            <a:avLst/>
          </a:prstGeom>
          <a:solidFill>
            <a:srgbClr val="D9D9D9"/>
          </a:solidFill>
          <a:ln>
            <a:noFill/>
          </a:ln>
        </p:spPr>
        <p:txBody>
          <a:bodyPr rtlCol="0" anchor="ctr"/>
          <a:lstStyle/>
          <a:p>
            <a:pPr algn="ctr"/>
          </a:p>
        </p:txBody>
      </p:sp>
      <p:sp>
        <p:nvSpPr>
          <p:cNvPr id="35" name="Label Rectangle 34"/>
          <p:cNvSpPr/>
          <p:nvPr/>
        </p:nvSpPr>
        <p:spPr>
          <a:xfrm>
            <a:off x="4176265" y="4533900"/>
            <a:ext cx="127158" cy="220979"/>
          </a:xfrm>
          <a:prstGeom prst="rect">
            <a:avLst/>
          </a:prstGeom>
          <a:solidFill>
            <a:srgbClr val="D9D9D9"/>
          </a:solidFill>
          <a:ln>
            <a:noFill/>
          </a:ln>
        </p:spPr>
        <p:txBody>
          <a:bodyPr rtlCol="0" anchor="ctr"/>
          <a:lstStyle/>
          <a:p>
            <a:pPr algn="ctr"/>
          </a:p>
        </p:txBody>
      </p:sp>
      <p:sp>
        <p:nvSpPr>
          <p:cNvPr id="36" name="Label Rectangle 35"/>
          <p:cNvSpPr/>
          <p:nvPr/>
        </p:nvSpPr>
        <p:spPr>
          <a:xfrm>
            <a:off x="4357920" y="4607560"/>
            <a:ext cx="127158" cy="147319"/>
          </a:xfrm>
          <a:prstGeom prst="rect">
            <a:avLst/>
          </a:prstGeom>
          <a:solidFill>
            <a:srgbClr val="D9D9D9"/>
          </a:solidFill>
          <a:ln>
            <a:noFill/>
          </a:ln>
        </p:spPr>
        <p:txBody>
          <a:bodyPr rtlCol="0" anchor="ctr"/>
          <a:lstStyle/>
          <a:p>
            <a:pPr algn="ctr"/>
          </a:p>
        </p:txBody>
      </p:sp>
      <p:sp>
        <p:nvSpPr>
          <p:cNvPr id="37" name="Label Rectangle 36"/>
          <p:cNvSpPr/>
          <p:nvPr/>
        </p:nvSpPr>
        <p:spPr>
          <a:xfrm>
            <a:off x="4539575" y="4607560"/>
            <a:ext cx="127158" cy="147319"/>
          </a:xfrm>
          <a:prstGeom prst="rect">
            <a:avLst/>
          </a:prstGeom>
          <a:solidFill>
            <a:srgbClr val="D9D9D9"/>
          </a:solidFill>
          <a:ln>
            <a:noFill/>
          </a:ln>
        </p:spPr>
        <p:txBody>
          <a:bodyPr rtlCol="0" anchor="ctr"/>
          <a:lstStyle/>
          <a:p>
            <a:pPr algn="ctr"/>
          </a:p>
        </p:txBody>
      </p:sp>
      <p:cxnSp>
        <p:nvCxnSpPr>
          <p:cNvPr id="38" name="Label Connector 37"/>
          <p:cNvCxnSpPr/>
          <p:nvPr/>
        </p:nvCxnSpPr>
        <p:spPr>
          <a:xfrm>
            <a:off x="2904683" y="4754880"/>
            <a:ext cx="1762050" cy="0"/>
          </a:xfrm>
          <a:prstGeom prst="line">
            <a:avLst/>
          </a:prstGeom>
          <a:ln w="6350">
            <a:solidFill>
              <a:srgbClr val="7F7F7F"/>
            </a:solidFill>
          </a:ln>
        </p:spPr>
      </p:cxnSp>
      <p:sp>
        <p:nvSpPr>
          <p:cNvPr id="39" name="Label TextBox 38"/>
          <p:cNvSpPr txBox="1"/>
          <p:nvPr/>
        </p:nvSpPr>
        <p:spPr>
          <a:xfrm>
            <a:off x="2904683" y="4846320"/>
            <a:ext cx="1871411"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UK, USA, Germany, Netherlands, France, then next five; Jan to Aug 2024</a:t>
            </a:r>
          </a:p>
        </p:txBody>
      </p:sp>
      <p:sp>
        <p:nvSpPr>
          <p:cNvPr id="40" name="Rectangle 39"/>
          <p:cNvSpPr/>
          <p:nvPr/>
        </p:nvSpPr>
        <p:spPr>
          <a:xfrm>
            <a:off x="5022982" y="1463040"/>
            <a:ext cx="2145731" cy="3931920"/>
          </a:xfrm>
          <a:prstGeom prst="rect">
            <a:avLst/>
          </a:prstGeom>
          <a:solidFill>
            <a:srgbClr val="F2F2F2"/>
          </a:solidFill>
          <a:ln>
            <a:noFill/>
          </a:ln>
        </p:spPr>
        <p:txBody>
          <a:bodyPr rtlCol="0" anchor="ctr"/>
          <a:lstStyle/>
          <a:p>
            <a:pPr algn="ctr"/>
          </a:p>
        </p:txBody>
      </p:sp>
      <p:sp>
        <p:nvSpPr>
          <p:cNvPr id="41" name="Rectangle 40"/>
          <p:cNvSpPr/>
          <p:nvPr/>
        </p:nvSpPr>
        <p:spPr>
          <a:xfrm>
            <a:off x="5022982" y="1463040"/>
            <a:ext cx="2145731" cy="54864"/>
          </a:xfrm>
          <a:prstGeom prst="rect">
            <a:avLst/>
          </a:prstGeom>
          <a:solidFill>
            <a:srgbClr val="00AEEF"/>
          </a:solidFill>
          <a:ln>
            <a:noFill/>
          </a:ln>
        </p:spPr>
        <p:txBody>
          <a:bodyPr rtlCol="0" anchor="ctr"/>
          <a:lstStyle/>
          <a:p>
            <a:pPr algn="ctr"/>
          </a:p>
        </p:txBody>
      </p:sp>
      <p:sp>
        <p:nvSpPr>
          <p:cNvPr id="42" name="TextBox 41"/>
          <p:cNvSpPr txBox="1"/>
          <p:nvPr/>
        </p:nvSpPr>
        <p:spPr>
          <a:xfrm>
            <a:off x="5187574" y="1600200"/>
            <a:ext cx="1871411" cy="640080"/>
          </a:xfrm>
          <a:prstGeom prst="rect">
            <a:avLst/>
          </a:prstGeom>
          <a:noFill/>
        </p:spPr>
        <p:txBody>
          <a:bodyPr wrap="square" anchor="b" lIns="0" rIns="0" tIns="0" bIns="0">
            <a:spAutoFit/>
          </a:bodyPr>
          <a:lstStyle/>
          <a:p>
            <a:pPr algn="l">
              <a:spcAft>
                <a:spcPts val="0"/>
              </a:spcAft>
            </a:pPr>
            <a:r>
              <a:rPr sz="3200" b="1" i="0">
                <a:solidFill>
                  <a:srgbClr val="1F497D"/>
                </a:solidFill>
                <a:latin typeface="Arial"/>
              </a:rPr>
              <a:t>61%</a:t>
            </a:r>
          </a:p>
        </p:txBody>
      </p:sp>
      <p:sp>
        <p:nvSpPr>
          <p:cNvPr id="43" name="TextBox 42"/>
          <p:cNvSpPr txBox="1"/>
          <p:nvPr/>
        </p:nvSpPr>
        <p:spPr>
          <a:xfrm>
            <a:off x="5187574" y="2331720"/>
            <a:ext cx="1871411" cy="914400"/>
          </a:xfrm>
          <a:prstGeom prst="rect">
            <a:avLst/>
          </a:prstGeom>
          <a:noFill/>
        </p:spPr>
        <p:txBody>
          <a:bodyPr wrap="square" anchor="t" lIns="0" rIns="0" tIns="0" bIns="0">
            <a:spAutoFit/>
          </a:bodyPr>
          <a:lstStyle/>
          <a:p>
            <a:pPr algn="l">
              <a:spcAft>
                <a:spcPts val="0"/>
              </a:spcAft>
            </a:pPr>
            <a:r>
              <a:rPr sz="1050" b="0" i="0">
                <a:solidFill>
                  <a:srgbClr val="404040"/>
                </a:solidFill>
                <a:latin typeface="Arial"/>
              </a:rPr>
              <a:t>of overseas visitors travel October to March</a:t>
            </a:r>
          </a:p>
        </p:txBody>
      </p:sp>
      <p:sp>
        <p:nvSpPr>
          <p:cNvPr id="44" name="Label Rectangle 43"/>
          <p:cNvSpPr/>
          <p:nvPr/>
        </p:nvSpPr>
        <p:spPr>
          <a:xfrm>
            <a:off x="5187574" y="3836963"/>
            <a:ext cx="105965" cy="917916"/>
          </a:xfrm>
          <a:prstGeom prst="rect">
            <a:avLst/>
          </a:prstGeom>
          <a:solidFill>
            <a:srgbClr val="1F497D"/>
          </a:solidFill>
          <a:ln>
            <a:noFill/>
          </a:ln>
        </p:spPr>
        <p:txBody>
          <a:bodyPr rtlCol="0" anchor="ctr"/>
          <a:lstStyle/>
          <a:p>
            <a:pPr algn="ctr"/>
          </a:p>
        </p:txBody>
      </p:sp>
      <p:sp>
        <p:nvSpPr>
          <p:cNvPr id="45" name="Label Rectangle 44"/>
          <p:cNvSpPr/>
          <p:nvPr/>
        </p:nvSpPr>
        <p:spPr>
          <a:xfrm>
            <a:off x="5338952" y="3429000"/>
            <a:ext cx="105965" cy="1325879"/>
          </a:xfrm>
          <a:prstGeom prst="rect">
            <a:avLst/>
          </a:prstGeom>
          <a:solidFill>
            <a:srgbClr val="1F497D"/>
          </a:solidFill>
          <a:ln>
            <a:noFill/>
          </a:ln>
        </p:spPr>
        <p:txBody>
          <a:bodyPr rtlCol="0" anchor="ctr"/>
          <a:lstStyle/>
          <a:p>
            <a:pPr algn="ctr"/>
          </a:p>
        </p:txBody>
      </p:sp>
      <p:sp>
        <p:nvSpPr>
          <p:cNvPr id="46" name="Label Rectangle 45"/>
          <p:cNvSpPr/>
          <p:nvPr/>
        </p:nvSpPr>
        <p:spPr>
          <a:xfrm>
            <a:off x="5490331" y="3530990"/>
            <a:ext cx="105965" cy="1223889"/>
          </a:xfrm>
          <a:prstGeom prst="rect">
            <a:avLst/>
          </a:prstGeom>
          <a:solidFill>
            <a:srgbClr val="1F497D"/>
          </a:solidFill>
          <a:ln>
            <a:noFill/>
          </a:ln>
        </p:spPr>
        <p:txBody>
          <a:bodyPr rtlCol="0" anchor="ctr"/>
          <a:lstStyle/>
          <a:p>
            <a:pPr algn="ctr"/>
          </a:p>
        </p:txBody>
      </p:sp>
      <p:sp>
        <p:nvSpPr>
          <p:cNvPr id="47" name="Label Rectangle 46"/>
          <p:cNvSpPr/>
          <p:nvPr/>
        </p:nvSpPr>
        <p:spPr>
          <a:xfrm>
            <a:off x="5641710" y="3938953"/>
            <a:ext cx="105965" cy="815926"/>
          </a:xfrm>
          <a:prstGeom prst="rect">
            <a:avLst/>
          </a:prstGeom>
          <a:solidFill>
            <a:srgbClr val="D9D9D9"/>
          </a:solidFill>
          <a:ln>
            <a:noFill/>
          </a:ln>
        </p:spPr>
        <p:txBody>
          <a:bodyPr rtlCol="0" anchor="ctr"/>
          <a:lstStyle/>
          <a:p>
            <a:pPr algn="ctr"/>
          </a:p>
        </p:txBody>
      </p:sp>
      <p:sp>
        <p:nvSpPr>
          <p:cNvPr id="48" name="Label Rectangle 47"/>
          <p:cNvSpPr/>
          <p:nvPr/>
        </p:nvSpPr>
        <p:spPr>
          <a:xfrm>
            <a:off x="5793089" y="4040944"/>
            <a:ext cx="105965" cy="713935"/>
          </a:xfrm>
          <a:prstGeom prst="rect">
            <a:avLst/>
          </a:prstGeom>
          <a:solidFill>
            <a:srgbClr val="D9D9D9"/>
          </a:solidFill>
          <a:ln>
            <a:noFill/>
          </a:ln>
        </p:spPr>
        <p:txBody>
          <a:bodyPr rtlCol="0" anchor="ctr"/>
          <a:lstStyle/>
          <a:p>
            <a:pPr algn="ctr"/>
          </a:p>
        </p:txBody>
      </p:sp>
      <p:sp>
        <p:nvSpPr>
          <p:cNvPr id="49" name="Label Rectangle 48"/>
          <p:cNvSpPr/>
          <p:nvPr/>
        </p:nvSpPr>
        <p:spPr>
          <a:xfrm>
            <a:off x="5944468" y="4346916"/>
            <a:ext cx="105965" cy="407963"/>
          </a:xfrm>
          <a:prstGeom prst="rect">
            <a:avLst/>
          </a:prstGeom>
          <a:solidFill>
            <a:srgbClr val="D9D9D9"/>
          </a:solidFill>
          <a:ln>
            <a:noFill/>
          </a:ln>
        </p:spPr>
        <p:txBody>
          <a:bodyPr rtlCol="0" anchor="ctr"/>
          <a:lstStyle/>
          <a:p>
            <a:pPr algn="ctr"/>
          </a:p>
        </p:txBody>
      </p:sp>
      <p:sp>
        <p:nvSpPr>
          <p:cNvPr id="50" name="Label Rectangle 49"/>
          <p:cNvSpPr/>
          <p:nvPr/>
        </p:nvSpPr>
        <p:spPr>
          <a:xfrm>
            <a:off x="6095847" y="4142935"/>
            <a:ext cx="105965" cy="611944"/>
          </a:xfrm>
          <a:prstGeom prst="rect">
            <a:avLst/>
          </a:prstGeom>
          <a:solidFill>
            <a:srgbClr val="D9D9D9"/>
          </a:solidFill>
          <a:ln>
            <a:noFill/>
          </a:ln>
        </p:spPr>
        <p:txBody>
          <a:bodyPr rtlCol="0" anchor="ctr"/>
          <a:lstStyle/>
          <a:p>
            <a:pPr algn="ctr"/>
          </a:p>
        </p:txBody>
      </p:sp>
      <p:sp>
        <p:nvSpPr>
          <p:cNvPr id="51" name="Label Rectangle 50"/>
          <p:cNvSpPr/>
          <p:nvPr/>
        </p:nvSpPr>
        <p:spPr>
          <a:xfrm>
            <a:off x="6247226" y="4040944"/>
            <a:ext cx="105965" cy="713935"/>
          </a:xfrm>
          <a:prstGeom prst="rect">
            <a:avLst/>
          </a:prstGeom>
          <a:solidFill>
            <a:srgbClr val="D9D9D9"/>
          </a:solidFill>
          <a:ln>
            <a:noFill/>
          </a:ln>
        </p:spPr>
        <p:txBody>
          <a:bodyPr rtlCol="0" anchor="ctr"/>
          <a:lstStyle/>
          <a:p>
            <a:pPr algn="ctr"/>
          </a:p>
        </p:txBody>
      </p:sp>
      <p:sp>
        <p:nvSpPr>
          <p:cNvPr id="52" name="Label Rectangle 51"/>
          <p:cNvSpPr/>
          <p:nvPr/>
        </p:nvSpPr>
        <p:spPr>
          <a:xfrm>
            <a:off x="6398605" y="4040944"/>
            <a:ext cx="105965" cy="713935"/>
          </a:xfrm>
          <a:prstGeom prst="rect">
            <a:avLst/>
          </a:prstGeom>
          <a:solidFill>
            <a:srgbClr val="D9D9D9"/>
          </a:solidFill>
          <a:ln>
            <a:noFill/>
          </a:ln>
        </p:spPr>
        <p:txBody>
          <a:bodyPr rtlCol="0" anchor="ctr"/>
          <a:lstStyle/>
          <a:p>
            <a:pPr algn="ctr"/>
          </a:p>
        </p:txBody>
      </p:sp>
      <p:sp>
        <p:nvSpPr>
          <p:cNvPr id="53" name="Label Rectangle 52"/>
          <p:cNvSpPr/>
          <p:nvPr/>
        </p:nvSpPr>
        <p:spPr>
          <a:xfrm>
            <a:off x="6549984" y="3734972"/>
            <a:ext cx="105965" cy="1019907"/>
          </a:xfrm>
          <a:prstGeom prst="rect">
            <a:avLst/>
          </a:prstGeom>
          <a:solidFill>
            <a:srgbClr val="1F497D"/>
          </a:solidFill>
          <a:ln>
            <a:noFill/>
          </a:ln>
        </p:spPr>
        <p:txBody>
          <a:bodyPr rtlCol="0" anchor="ctr"/>
          <a:lstStyle/>
          <a:p>
            <a:pPr algn="ctr"/>
          </a:p>
        </p:txBody>
      </p:sp>
      <p:sp>
        <p:nvSpPr>
          <p:cNvPr id="54" name="Label Rectangle 53"/>
          <p:cNvSpPr/>
          <p:nvPr/>
        </p:nvSpPr>
        <p:spPr>
          <a:xfrm>
            <a:off x="6701363" y="3734972"/>
            <a:ext cx="105965" cy="1019907"/>
          </a:xfrm>
          <a:prstGeom prst="rect">
            <a:avLst/>
          </a:prstGeom>
          <a:solidFill>
            <a:srgbClr val="1F497D"/>
          </a:solidFill>
          <a:ln>
            <a:noFill/>
          </a:ln>
        </p:spPr>
        <p:txBody>
          <a:bodyPr rtlCol="0" anchor="ctr"/>
          <a:lstStyle/>
          <a:p>
            <a:pPr algn="ctr"/>
          </a:p>
        </p:txBody>
      </p:sp>
      <p:sp>
        <p:nvSpPr>
          <p:cNvPr id="55" name="Label Rectangle 54"/>
          <p:cNvSpPr/>
          <p:nvPr/>
        </p:nvSpPr>
        <p:spPr>
          <a:xfrm>
            <a:off x="6852742" y="4040944"/>
            <a:ext cx="105965" cy="713935"/>
          </a:xfrm>
          <a:prstGeom prst="rect">
            <a:avLst/>
          </a:prstGeom>
          <a:solidFill>
            <a:srgbClr val="1F497D"/>
          </a:solidFill>
          <a:ln>
            <a:noFill/>
          </a:ln>
        </p:spPr>
        <p:txBody>
          <a:bodyPr rtlCol="0" anchor="ctr"/>
          <a:lstStyle/>
          <a:p>
            <a:pPr algn="ctr"/>
          </a:p>
        </p:txBody>
      </p:sp>
      <p:cxnSp>
        <p:nvCxnSpPr>
          <p:cNvPr id="56" name="Label Connector 55"/>
          <p:cNvCxnSpPr/>
          <p:nvPr/>
        </p:nvCxnSpPr>
        <p:spPr>
          <a:xfrm>
            <a:off x="5187574" y="4754880"/>
            <a:ext cx="1771133" cy="0"/>
          </a:xfrm>
          <a:prstGeom prst="line">
            <a:avLst/>
          </a:prstGeom>
          <a:ln w="6350">
            <a:solidFill>
              <a:srgbClr val="7F7F7F"/>
            </a:solidFill>
          </a:ln>
        </p:spPr>
      </p:cxnSp>
      <p:sp>
        <p:nvSpPr>
          <p:cNvPr id="57" name="Label TextBox 56"/>
          <p:cNvSpPr txBox="1"/>
          <p:nvPr/>
        </p:nvSpPr>
        <p:spPr>
          <a:xfrm>
            <a:off x="5187574" y="4846320"/>
            <a:ext cx="1871411"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Visitors by month, Jan to Dec 2024</a:t>
            </a:r>
          </a:p>
        </p:txBody>
      </p:sp>
      <p:sp>
        <p:nvSpPr>
          <p:cNvPr id="58" name="Rectangle 57"/>
          <p:cNvSpPr/>
          <p:nvPr/>
        </p:nvSpPr>
        <p:spPr>
          <a:xfrm>
            <a:off x="7305873" y="1463040"/>
            <a:ext cx="2145731" cy="3931920"/>
          </a:xfrm>
          <a:prstGeom prst="rect">
            <a:avLst/>
          </a:prstGeom>
          <a:solidFill>
            <a:srgbClr val="F2F2F2"/>
          </a:solidFill>
          <a:ln>
            <a:noFill/>
          </a:ln>
        </p:spPr>
        <p:txBody>
          <a:bodyPr rtlCol="0" anchor="ctr"/>
          <a:lstStyle/>
          <a:p>
            <a:pPr algn="ctr"/>
          </a:p>
        </p:txBody>
      </p:sp>
      <p:sp>
        <p:nvSpPr>
          <p:cNvPr id="59" name="Rectangle 58"/>
          <p:cNvSpPr/>
          <p:nvPr/>
        </p:nvSpPr>
        <p:spPr>
          <a:xfrm>
            <a:off x="7305873" y="1463040"/>
            <a:ext cx="2145731" cy="54864"/>
          </a:xfrm>
          <a:prstGeom prst="rect">
            <a:avLst/>
          </a:prstGeom>
          <a:solidFill>
            <a:srgbClr val="00AEEF"/>
          </a:solidFill>
          <a:ln>
            <a:noFill/>
          </a:ln>
        </p:spPr>
        <p:txBody>
          <a:bodyPr rtlCol="0" anchor="ctr"/>
          <a:lstStyle/>
          <a:p>
            <a:pPr algn="ctr"/>
          </a:p>
        </p:txBody>
      </p:sp>
      <p:sp>
        <p:nvSpPr>
          <p:cNvPr id="60" name="TextBox 59"/>
          <p:cNvSpPr txBox="1"/>
          <p:nvPr/>
        </p:nvSpPr>
        <p:spPr>
          <a:xfrm>
            <a:off x="7470465" y="1600200"/>
            <a:ext cx="1871411" cy="640080"/>
          </a:xfrm>
          <a:prstGeom prst="rect">
            <a:avLst/>
          </a:prstGeom>
          <a:noFill/>
        </p:spPr>
        <p:txBody>
          <a:bodyPr wrap="square" anchor="b" lIns="0" rIns="0" tIns="0" bIns="0">
            <a:spAutoFit/>
          </a:bodyPr>
          <a:lstStyle/>
          <a:p>
            <a:pPr algn="l">
              <a:spcAft>
                <a:spcPts val="0"/>
              </a:spcAft>
            </a:pPr>
            <a:r>
              <a:rPr sz="3200" b="1" i="0">
                <a:solidFill>
                  <a:srgbClr val="1F497D"/>
                </a:solidFill>
                <a:latin typeface="Arial"/>
              </a:rPr>
              <a:t>72.5%</a:t>
            </a:r>
          </a:p>
        </p:txBody>
      </p:sp>
      <p:sp>
        <p:nvSpPr>
          <p:cNvPr id="61" name="TextBox 60"/>
          <p:cNvSpPr txBox="1"/>
          <p:nvPr/>
        </p:nvSpPr>
        <p:spPr>
          <a:xfrm>
            <a:off x="7470465" y="2331720"/>
            <a:ext cx="1871411" cy="914400"/>
          </a:xfrm>
          <a:prstGeom prst="rect">
            <a:avLst/>
          </a:prstGeom>
          <a:noFill/>
        </p:spPr>
        <p:txBody>
          <a:bodyPr wrap="square" anchor="t" lIns="0" rIns="0" tIns="0" bIns="0">
            <a:spAutoFit/>
          </a:bodyPr>
          <a:lstStyle/>
          <a:p>
            <a:pPr algn="l">
              <a:spcAft>
                <a:spcPts val="0"/>
              </a:spcAft>
            </a:pPr>
            <a:r>
              <a:rPr sz="1050" b="0" i="0">
                <a:solidFill>
                  <a:srgbClr val="404040"/>
                </a:solidFill>
                <a:latin typeface="Arial"/>
              </a:rPr>
              <a:t>of provincial GDPR comes from the Cape Metro</a:t>
            </a:r>
          </a:p>
        </p:txBody>
      </p:sp>
      <p:sp>
        <p:nvSpPr>
          <p:cNvPr id="62" name="Label Rectangle 61"/>
          <p:cNvSpPr/>
          <p:nvPr/>
        </p:nvSpPr>
        <p:spPr>
          <a:xfrm>
            <a:off x="7470465" y="3429000"/>
            <a:ext cx="211930" cy="1325880"/>
          </a:xfrm>
          <a:prstGeom prst="rect">
            <a:avLst/>
          </a:prstGeom>
          <a:solidFill>
            <a:srgbClr val="1F497D"/>
          </a:solidFill>
          <a:ln>
            <a:noFill/>
          </a:ln>
        </p:spPr>
        <p:txBody>
          <a:bodyPr rtlCol="0" anchor="ctr"/>
          <a:lstStyle/>
          <a:p>
            <a:pPr algn="ctr"/>
          </a:p>
        </p:txBody>
      </p:sp>
      <p:sp>
        <p:nvSpPr>
          <p:cNvPr id="63" name="Label Rectangle 62"/>
          <p:cNvSpPr/>
          <p:nvPr/>
        </p:nvSpPr>
        <p:spPr>
          <a:xfrm>
            <a:off x="7773222" y="4550054"/>
            <a:ext cx="211930" cy="204825"/>
          </a:xfrm>
          <a:prstGeom prst="rect">
            <a:avLst/>
          </a:prstGeom>
          <a:solidFill>
            <a:srgbClr val="D9D9D9"/>
          </a:solidFill>
          <a:ln>
            <a:noFill/>
          </a:ln>
        </p:spPr>
        <p:txBody>
          <a:bodyPr rtlCol="0" anchor="ctr"/>
          <a:lstStyle/>
          <a:p>
            <a:pPr algn="ctr"/>
          </a:p>
        </p:txBody>
      </p:sp>
      <p:sp>
        <p:nvSpPr>
          <p:cNvPr id="64" name="Label Rectangle 63"/>
          <p:cNvSpPr/>
          <p:nvPr/>
        </p:nvSpPr>
        <p:spPr>
          <a:xfrm>
            <a:off x="8075980" y="4615891"/>
            <a:ext cx="211930" cy="138988"/>
          </a:xfrm>
          <a:prstGeom prst="rect">
            <a:avLst/>
          </a:prstGeom>
          <a:solidFill>
            <a:srgbClr val="D9D9D9"/>
          </a:solidFill>
          <a:ln>
            <a:noFill/>
          </a:ln>
        </p:spPr>
        <p:txBody>
          <a:bodyPr rtlCol="0" anchor="ctr"/>
          <a:lstStyle/>
          <a:p>
            <a:pPr algn="ctr"/>
          </a:p>
        </p:txBody>
      </p:sp>
      <p:sp>
        <p:nvSpPr>
          <p:cNvPr id="65" name="Label Rectangle 64"/>
          <p:cNvSpPr/>
          <p:nvPr/>
        </p:nvSpPr>
        <p:spPr>
          <a:xfrm>
            <a:off x="8378738" y="4667097"/>
            <a:ext cx="211930" cy="87782"/>
          </a:xfrm>
          <a:prstGeom prst="rect">
            <a:avLst/>
          </a:prstGeom>
          <a:solidFill>
            <a:srgbClr val="D9D9D9"/>
          </a:solidFill>
          <a:ln>
            <a:noFill/>
          </a:ln>
        </p:spPr>
        <p:txBody>
          <a:bodyPr rtlCol="0" anchor="ctr"/>
          <a:lstStyle/>
          <a:p>
            <a:pPr algn="ctr"/>
          </a:p>
        </p:txBody>
      </p:sp>
      <p:sp>
        <p:nvSpPr>
          <p:cNvPr id="66" name="Label Rectangle 65"/>
          <p:cNvSpPr/>
          <p:nvPr/>
        </p:nvSpPr>
        <p:spPr>
          <a:xfrm>
            <a:off x="8681496" y="4700016"/>
            <a:ext cx="211930" cy="54864"/>
          </a:xfrm>
          <a:prstGeom prst="rect">
            <a:avLst/>
          </a:prstGeom>
          <a:solidFill>
            <a:srgbClr val="D9D9D9"/>
          </a:solidFill>
          <a:ln>
            <a:noFill/>
          </a:ln>
        </p:spPr>
        <p:txBody>
          <a:bodyPr rtlCol="0" anchor="ctr"/>
          <a:lstStyle/>
          <a:p>
            <a:pPr algn="ctr"/>
          </a:p>
        </p:txBody>
      </p:sp>
      <p:sp>
        <p:nvSpPr>
          <p:cNvPr id="67" name="Label Rectangle 66"/>
          <p:cNvSpPr/>
          <p:nvPr/>
        </p:nvSpPr>
        <p:spPr>
          <a:xfrm>
            <a:off x="8984254" y="4736592"/>
            <a:ext cx="211930" cy="18288"/>
          </a:xfrm>
          <a:prstGeom prst="rect">
            <a:avLst/>
          </a:prstGeom>
          <a:solidFill>
            <a:srgbClr val="D9D9D9"/>
          </a:solidFill>
          <a:ln>
            <a:noFill/>
          </a:ln>
        </p:spPr>
        <p:txBody>
          <a:bodyPr rtlCol="0" anchor="ctr"/>
          <a:lstStyle/>
          <a:p>
            <a:pPr algn="ctr"/>
          </a:p>
        </p:txBody>
      </p:sp>
      <p:cxnSp>
        <p:nvCxnSpPr>
          <p:cNvPr id="68" name="Label Connector 67"/>
          <p:cNvCxnSpPr/>
          <p:nvPr/>
        </p:nvCxnSpPr>
        <p:spPr>
          <a:xfrm>
            <a:off x="7470465" y="4754880"/>
            <a:ext cx="1725719" cy="0"/>
          </a:xfrm>
          <a:prstGeom prst="line">
            <a:avLst/>
          </a:prstGeom>
          <a:ln w="6350">
            <a:solidFill>
              <a:srgbClr val="7F7F7F"/>
            </a:solidFill>
          </a:ln>
        </p:spPr>
      </p:cxnSp>
      <p:sp>
        <p:nvSpPr>
          <p:cNvPr id="69" name="Label TextBox 68"/>
          <p:cNvSpPr txBox="1"/>
          <p:nvPr/>
        </p:nvSpPr>
        <p:spPr>
          <a:xfrm>
            <a:off x="7470465" y="4846320"/>
            <a:ext cx="1871411"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Metro, then five districts</a:t>
            </a:r>
          </a:p>
        </p:txBody>
      </p:sp>
      <p:sp>
        <p:nvSpPr>
          <p:cNvPr id="70" name="Rectangle 69"/>
          <p:cNvSpPr/>
          <p:nvPr/>
        </p:nvSpPr>
        <p:spPr>
          <a:xfrm>
            <a:off x="9588764" y="1463040"/>
            <a:ext cx="2145731" cy="3931920"/>
          </a:xfrm>
          <a:prstGeom prst="rect">
            <a:avLst/>
          </a:prstGeom>
          <a:solidFill>
            <a:srgbClr val="F2F2F2"/>
          </a:solidFill>
          <a:ln>
            <a:noFill/>
          </a:ln>
        </p:spPr>
        <p:txBody>
          <a:bodyPr rtlCol="0" anchor="ctr"/>
          <a:lstStyle/>
          <a:p>
            <a:pPr algn="ctr"/>
          </a:p>
        </p:txBody>
      </p:sp>
      <p:sp>
        <p:nvSpPr>
          <p:cNvPr id="71" name="Rectangle 70"/>
          <p:cNvSpPr/>
          <p:nvPr/>
        </p:nvSpPr>
        <p:spPr>
          <a:xfrm>
            <a:off x="9588764" y="1463040"/>
            <a:ext cx="2145731" cy="54864"/>
          </a:xfrm>
          <a:prstGeom prst="rect">
            <a:avLst/>
          </a:prstGeom>
          <a:solidFill>
            <a:srgbClr val="00AEEF"/>
          </a:solidFill>
          <a:ln>
            <a:noFill/>
          </a:ln>
        </p:spPr>
        <p:txBody>
          <a:bodyPr rtlCol="0" anchor="ctr"/>
          <a:lstStyle/>
          <a:p>
            <a:pPr algn="ctr"/>
          </a:p>
        </p:txBody>
      </p:sp>
      <p:sp>
        <p:nvSpPr>
          <p:cNvPr id="72" name="TextBox 71"/>
          <p:cNvSpPr txBox="1"/>
          <p:nvPr/>
        </p:nvSpPr>
        <p:spPr>
          <a:xfrm>
            <a:off x="9753356" y="1600200"/>
            <a:ext cx="1871411" cy="640080"/>
          </a:xfrm>
          <a:prstGeom prst="rect">
            <a:avLst/>
          </a:prstGeom>
          <a:noFill/>
        </p:spPr>
        <p:txBody>
          <a:bodyPr wrap="square" anchor="b" lIns="0" rIns="0" tIns="0" bIns="0">
            <a:spAutoFit/>
          </a:bodyPr>
          <a:lstStyle/>
          <a:p>
            <a:pPr algn="l">
              <a:spcAft>
                <a:spcPts val="0"/>
              </a:spcAft>
            </a:pPr>
            <a:r>
              <a:rPr sz="3200" b="1" i="0">
                <a:solidFill>
                  <a:srgbClr val="1F497D"/>
                </a:solidFill>
                <a:latin typeface="Arial"/>
              </a:rPr>
              <a:t>1</a:t>
            </a:r>
          </a:p>
        </p:txBody>
      </p:sp>
      <p:sp>
        <p:nvSpPr>
          <p:cNvPr id="73" name="TextBox 72"/>
          <p:cNvSpPr txBox="1"/>
          <p:nvPr/>
        </p:nvSpPr>
        <p:spPr>
          <a:xfrm>
            <a:off x="9753356" y="2331720"/>
            <a:ext cx="1871411" cy="914400"/>
          </a:xfrm>
          <a:prstGeom prst="rect">
            <a:avLst/>
          </a:prstGeom>
          <a:noFill/>
        </p:spPr>
        <p:txBody>
          <a:bodyPr wrap="square" anchor="t" lIns="0" rIns="0" tIns="0" bIns="0">
            <a:spAutoFit/>
          </a:bodyPr>
          <a:lstStyle/>
          <a:p>
            <a:pPr algn="l">
              <a:spcAft>
                <a:spcPts val="0"/>
              </a:spcAft>
            </a:pPr>
            <a:r>
              <a:rPr sz="1050" b="0" i="0">
                <a:solidFill>
                  <a:srgbClr val="404040"/>
                </a:solidFill>
                <a:latin typeface="Arial"/>
              </a:rPr>
              <a:t>airline flies Cape Town to Asia, against ten to Africa</a:t>
            </a:r>
          </a:p>
        </p:txBody>
      </p:sp>
      <p:sp>
        <p:nvSpPr>
          <p:cNvPr id="74" name="Label Rectangle 73"/>
          <p:cNvSpPr/>
          <p:nvPr/>
        </p:nvSpPr>
        <p:spPr>
          <a:xfrm>
            <a:off x="9753356" y="3429000"/>
            <a:ext cx="254316" cy="1325880"/>
          </a:xfrm>
          <a:prstGeom prst="rect">
            <a:avLst/>
          </a:prstGeom>
          <a:solidFill>
            <a:srgbClr val="D9D9D9"/>
          </a:solidFill>
          <a:ln>
            <a:noFill/>
          </a:ln>
        </p:spPr>
        <p:txBody>
          <a:bodyPr rtlCol="0" anchor="ctr"/>
          <a:lstStyle/>
          <a:p>
            <a:pPr algn="ctr"/>
          </a:p>
        </p:txBody>
      </p:sp>
      <p:sp>
        <p:nvSpPr>
          <p:cNvPr id="75" name="Label Rectangle 74"/>
          <p:cNvSpPr/>
          <p:nvPr/>
        </p:nvSpPr>
        <p:spPr>
          <a:xfrm>
            <a:off x="10116665" y="3561588"/>
            <a:ext cx="254316" cy="1193292"/>
          </a:xfrm>
          <a:prstGeom prst="rect">
            <a:avLst/>
          </a:prstGeom>
          <a:solidFill>
            <a:srgbClr val="D9D9D9"/>
          </a:solidFill>
          <a:ln>
            <a:noFill/>
          </a:ln>
        </p:spPr>
        <p:txBody>
          <a:bodyPr rtlCol="0" anchor="ctr"/>
          <a:lstStyle/>
          <a:p>
            <a:pPr algn="ctr"/>
          </a:p>
        </p:txBody>
      </p:sp>
      <p:sp>
        <p:nvSpPr>
          <p:cNvPr id="76" name="Label Rectangle 75"/>
          <p:cNvSpPr/>
          <p:nvPr/>
        </p:nvSpPr>
        <p:spPr>
          <a:xfrm>
            <a:off x="10479974" y="4357116"/>
            <a:ext cx="254316" cy="397763"/>
          </a:xfrm>
          <a:prstGeom prst="rect">
            <a:avLst/>
          </a:prstGeom>
          <a:solidFill>
            <a:srgbClr val="D9D9D9"/>
          </a:solidFill>
          <a:ln>
            <a:noFill/>
          </a:ln>
        </p:spPr>
        <p:txBody>
          <a:bodyPr rtlCol="0" anchor="ctr"/>
          <a:lstStyle/>
          <a:p>
            <a:pPr algn="ctr"/>
          </a:p>
        </p:txBody>
      </p:sp>
      <p:sp>
        <p:nvSpPr>
          <p:cNvPr id="77" name="Label Rectangle 76"/>
          <p:cNvSpPr/>
          <p:nvPr/>
        </p:nvSpPr>
        <p:spPr>
          <a:xfrm>
            <a:off x="10843284" y="4489704"/>
            <a:ext cx="254316" cy="265176"/>
          </a:xfrm>
          <a:prstGeom prst="rect">
            <a:avLst/>
          </a:prstGeom>
          <a:solidFill>
            <a:srgbClr val="D9D9D9"/>
          </a:solidFill>
          <a:ln>
            <a:noFill/>
          </a:ln>
        </p:spPr>
        <p:txBody>
          <a:bodyPr rtlCol="0" anchor="ctr"/>
          <a:lstStyle/>
          <a:p>
            <a:pPr algn="ctr"/>
          </a:p>
        </p:txBody>
      </p:sp>
      <p:sp>
        <p:nvSpPr>
          <p:cNvPr id="78" name="Label Rectangle 77"/>
          <p:cNvSpPr/>
          <p:nvPr/>
        </p:nvSpPr>
        <p:spPr>
          <a:xfrm>
            <a:off x="11206593" y="4622292"/>
            <a:ext cx="254316" cy="132588"/>
          </a:xfrm>
          <a:prstGeom prst="rect">
            <a:avLst/>
          </a:prstGeom>
          <a:solidFill>
            <a:srgbClr val="1F497D"/>
          </a:solidFill>
          <a:ln>
            <a:noFill/>
          </a:ln>
        </p:spPr>
        <p:txBody>
          <a:bodyPr rtlCol="0" anchor="ctr"/>
          <a:lstStyle/>
          <a:p>
            <a:pPr algn="ctr"/>
          </a:p>
        </p:txBody>
      </p:sp>
      <p:cxnSp>
        <p:nvCxnSpPr>
          <p:cNvPr id="79" name="Label Connector 78"/>
          <p:cNvCxnSpPr/>
          <p:nvPr/>
        </p:nvCxnSpPr>
        <p:spPr>
          <a:xfrm>
            <a:off x="9753356" y="4754880"/>
            <a:ext cx="1707554" cy="0"/>
          </a:xfrm>
          <a:prstGeom prst="line">
            <a:avLst/>
          </a:prstGeom>
          <a:ln w="6350">
            <a:solidFill>
              <a:srgbClr val="7F7F7F"/>
            </a:solidFill>
          </a:ln>
        </p:spPr>
      </p:cxnSp>
      <p:sp>
        <p:nvSpPr>
          <p:cNvPr id="80" name="Label TextBox 79"/>
          <p:cNvSpPr txBox="1"/>
          <p:nvPr/>
        </p:nvSpPr>
        <p:spPr>
          <a:xfrm>
            <a:off x="9753356" y="4846320"/>
            <a:ext cx="1871411"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Africa, Europe, Americas, Middle East, Asia</a:t>
            </a:r>
          </a:p>
        </p:txBody>
      </p:sp>
      <p:sp>
        <p:nvSpPr>
          <p:cNvPr id="81" name="Rectangle 80"/>
          <p:cNvSpPr/>
          <p:nvPr/>
        </p:nvSpPr>
        <p:spPr>
          <a:xfrm>
            <a:off x="457200" y="5596128"/>
            <a:ext cx="11277295" cy="384048"/>
          </a:xfrm>
          <a:prstGeom prst="rect">
            <a:avLst/>
          </a:prstGeom>
          <a:solidFill>
            <a:srgbClr val="1F497D"/>
          </a:solidFill>
          <a:ln>
            <a:noFill/>
          </a:ln>
        </p:spPr>
        <p:txBody>
          <a:bodyPr rtlCol="0" anchor="ctr"/>
          <a:lstStyle/>
          <a:p>
            <a:pPr algn="ctr"/>
          </a:p>
        </p:txBody>
      </p:sp>
      <p:sp>
        <p:nvSpPr>
          <p:cNvPr id="82" name="TextBox 81"/>
          <p:cNvSpPr txBox="1"/>
          <p:nvPr/>
        </p:nvSpPr>
        <p:spPr>
          <a:xfrm>
            <a:off x="621792" y="5596128"/>
            <a:ext cx="10948111" cy="384048"/>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The destination has recovered; growth now needs new markets, new seasons and new regions.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Five of six benchmark destinations grew well above the 3 to 5% global norm, each by running a coordinated system</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03 | WHAT EACH DELIVERABLE FOUND | GLOBAL BENCHMARKING, MAR 2026</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Global Benchmarking Report (Mar 2026) pp7 (3-5% norm), 9 (growth and levers), 17-18 (Melbourne forecast and rooms), 25-26 (Chile), 47-49 (Valencia), 54 (NZ), 59 (three components)</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7</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Label Oval 7"/>
          <p:cNvSpPr/>
          <p:nvPr/>
        </p:nvSpPr>
        <p:spPr>
          <a:xfrm>
            <a:off x="4910328" y="2720340"/>
            <a:ext cx="2377440" cy="1325880"/>
          </a:xfrm>
          <a:prstGeom prst="ellipse">
            <a:avLst/>
          </a:prstGeom>
          <a:solidFill>
            <a:srgbClr val="1F497D"/>
          </a:solidFill>
          <a:ln>
            <a:noFill/>
          </a:ln>
        </p:spPr>
        <p:txBody>
          <a:bodyPr rtlCol="0" anchor="ctr"/>
          <a:lstStyle/>
          <a:p>
            <a:pPr algn="ctr"/>
          </a:p>
        </p:txBody>
      </p:sp>
      <p:sp>
        <p:nvSpPr>
          <p:cNvPr id="9" name="Label TextBox 8"/>
          <p:cNvSpPr txBox="1"/>
          <p:nvPr/>
        </p:nvSpPr>
        <p:spPr>
          <a:xfrm>
            <a:off x="5047488" y="2811780"/>
            <a:ext cx="2103120" cy="1143000"/>
          </a:xfrm>
          <a:prstGeom prst="rect">
            <a:avLst/>
          </a:prstGeom>
          <a:noFill/>
        </p:spPr>
        <p:txBody>
          <a:bodyPr wrap="square" anchor="ctr" lIns="0" rIns="0" tIns="0" bIns="0">
            <a:spAutoFit/>
          </a:bodyPr>
          <a:lstStyle/>
          <a:p>
            <a:pPr algn="ctr">
              <a:spcAft>
                <a:spcPts val="100"/>
              </a:spcAft>
            </a:pPr>
            <a:r>
              <a:rPr sz="1100" b="1" i="0">
                <a:solidFill>
                  <a:srgbClr val="FFFFFF"/>
                </a:solidFill>
                <a:latin typeface="Arial"/>
              </a:rPr>
              <a:t>ONE SYSTEM</a:t>
            </a:r>
          </a:p>
          <a:p>
            <a:pPr algn="ctr">
              <a:spcAft>
                <a:spcPts val="100"/>
              </a:spcAft>
            </a:pPr>
            <a:r>
              <a:rPr sz="950" b="0" i="0">
                <a:solidFill>
                  <a:srgbClr val="FFFFFF"/>
                </a:solidFill>
                <a:latin typeface="Arial"/>
              </a:rPr>
              <a:t>Institutional coordination</a:t>
            </a:r>
          </a:p>
          <a:p>
            <a:pPr algn="ctr">
              <a:spcAft>
                <a:spcPts val="100"/>
              </a:spcAft>
            </a:pPr>
            <a:r>
              <a:rPr sz="950" b="0" i="0">
                <a:solidFill>
                  <a:srgbClr val="FFFFFF"/>
                </a:solidFill>
                <a:latin typeface="Arial"/>
              </a:rPr>
              <a:t>Strategic marketing</a:t>
            </a:r>
          </a:p>
          <a:p>
            <a:pPr algn="ctr">
              <a:spcAft>
                <a:spcPts val="100"/>
              </a:spcAft>
            </a:pPr>
            <a:r>
              <a:rPr sz="950" b="0" i="0">
                <a:solidFill>
                  <a:srgbClr val="FFFFFF"/>
                </a:solidFill>
                <a:latin typeface="Arial"/>
              </a:rPr>
              <a:t>Accessibility</a:t>
            </a:r>
          </a:p>
        </p:txBody>
      </p:sp>
      <p:cxnSp>
        <p:nvCxnSpPr>
          <p:cNvPr id="10" name="Label Connector 9"/>
          <p:cNvCxnSpPr/>
          <p:nvPr/>
        </p:nvCxnSpPr>
        <p:spPr>
          <a:xfrm flipV="1">
            <a:off x="6693408" y="2616410"/>
            <a:ext cx="258775" cy="192747"/>
          </a:xfrm>
          <a:prstGeom prst="line">
            <a:avLst/>
          </a:prstGeom>
          <a:ln w="15875">
            <a:solidFill>
              <a:srgbClr val="D9D9D9"/>
            </a:solidFill>
          </a:ln>
        </p:spPr>
      </p:cxnSp>
      <p:sp>
        <p:nvSpPr>
          <p:cNvPr id="11" name="Label Oval 10"/>
          <p:cNvSpPr/>
          <p:nvPr/>
        </p:nvSpPr>
        <p:spPr>
          <a:xfrm>
            <a:off x="6606540" y="1658155"/>
            <a:ext cx="1316736" cy="1027054"/>
          </a:xfrm>
          <a:prstGeom prst="ellipse">
            <a:avLst/>
          </a:prstGeom>
          <a:solidFill>
            <a:srgbClr val="DCEEF7"/>
          </a:solidFill>
          <a:ln>
            <a:noFill/>
          </a:ln>
        </p:spPr>
        <p:txBody>
          <a:bodyPr rtlCol="0" anchor="ctr"/>
          <a:lstStyle/>
          <a:p>
            <a:pPr algn="ctr"/>
          </a:p>
        </p:txBody>
      </p:sp>
      <p:sp>
        <p:nvSpPr>
          <p:cNvPr id="12" name="Label TextBox 11"/>
          <p:cNvSpPr txBox="1"/>
          <p:nvPr/>
        </p:nvSpPr>
        <p:spPr>
          <a:xfrm>
            <a:off x="6606540" y="1658155"/>
            <a:ext cx="1316736" cy="1027054"/>
          </a:xfrm>
          <a:prstGeom prst="rect">
            <a:avLst/>
          </a:prstGeom>
          <a:noFill/>
        </p:spPr>
        <p:txBody>
          <a:bodyPr wrap="square" anchor="ctr" lIns="18288" rIns="18288" tIns="10972" bIns="10972">
            <a:spAutoFit/>
          </a:bodyPr>
          <a:lstStyle/>
          <a:p>
            <a:pPr algn="ctr">
              <a:spcAft>
                <a:spcPts val="0"/>
              </a:spcAft>
            </a:pPr>
            <a:r>
              <a:rPr sz="950" b="1" i="0">
                <a:solidFill>
                  <a:srgbClr val="1F497D"/>
                </a:solidFill>
                <a:latin typeface="Arial"/>
              </a:rPr>
              <a:t>Chile</a:t>
            </a:r>
          </a:p>
          <a:p>
            <a:pPr algn="ctr">
              <a:spcAft>
                <a:spcPts val="0"/>
              </a:spcAft>
            </a:pPr>
            <a:r>
              <a:rPr sz="1400" b="1" i="0">
                <a:solidFill>
                  <a:srgbClr val="00AEEF"/>
                </a:solidFill>
                <a:latin typeface="Arial"/>
              </a:rPr>
              <a:t>~35%</a:t>
            </a:r>
          </a:p>
        </p:txBody>
      </p:sp>
      <p:sp>
        <p:nvSpPr>
          <p:cNvPr id="13" name="Label TextBox 12"/>
          <p:cNvSpPr txBox="1"/>
          <p:nvPr/>
        </p:nvSpPr>
        <p:spPr>
          <a:xfrm>
            <a:off x="7996427" y="1805922"/>
            <a:ext cx="2286000" cy="731520"/>
          </a:xfrm>
          <a:prstGeom prst="rect">
            <a:avLst/>
          </a:prstGeom>
          <a:noFill/>
        </p:spPr>
        <p:txBody>
          <a:bodyPr wrap="square" anchor="ctr" lIns="0" rIns="0" tIns="0" bIns="0">
            <a:spAutoFit/>
          </a:bodyPr>
          <a:lstStyle/>
          <a:p>
            <a:pPr algn="l">
              <a:spcAft>
                <a:spcPts val="0"/>
              </a:spcAft>
            </a:pPr>
            <a:r>
              <a:rPr sz="1000" b="0" i="0">
                <a:solidFill>
                  <a:srgbClr val="404040"/>
                </a:solidFill>
                <a:latin typeface="Arial"/>
              </a:rPr>
              <a:t>Gateway airport concession (~US$900m) and open skies</a:t>
            </a:r>
          </a:p>
        </p:txBody>
      </p:sp>
      <p:cxnSp>
        <p:nvCxnSpPr>
          <p:cNvPr id="14" name="Label Connector 13"/>
          <p:cNvCxnSpPr/>
          <p:nvPr/>
        </p:nvCxnSpPr>
        <p:spPr>
          <a:xfrm flipV="1">
            <a:off x="7287768" y="3383279"/>
            <a:ext cx="517550" cy="1"/>
          </a:xfrm>
          <a:prstGeom prst="line">
            <a:avLst/>
          </a:prstGeom>
          <a:ln w="15875">
            <a:solidFill>
              <a:srgbClr val="D9D9D9"/>
            </a:solidFill>
          </a:ln>
        </p:spPr>
      </p:cxnSp>
      <p:sp>
        <p:nvSpPr>
          <p:cNvPr id="15" name="Label Oval 14"/>
          <p:cNvSpPr/>
          <p:nvPr/>
        </p:nvSpPr>
        <p:spPr>
          <a:xfrm>
            <a:off x="7772399" y="2869752"/>
            <a:ext cx="1316736" cy="1027054"/>
          </a:xfrm>
          <a:prstGeom prst="ellipse">
            <a:avLst/>
          </a:prstGeom>
          <a:solidFill>
            <a:srgbClr val="DCEEF7"/>
          </a:solidFill>
          <a:ln>
            <a:noFill/>
          </a:ln>
        </p:spPr>
        <p:txBody>
          <a:bodyPr rtlCol="0" anchor="ctr"/>
          <a:lstStyle/>
          <a:p>
            <a:pPr algn="ctr"/>
          </a:p>
        </p:txBody>
      </p:sp>
      <p:sp>
        <p:nvSpPr>
          <p:cNvPr id="16" name="Label TextBox 15"/>
          <p:cNvSpPr txBox="1"/>
          <p:nvPr/>
        </p:nvSpPr>
        <p:spPr>
          <a:xfrm>
            <a:off x="7772399" y="2869752"/>
            <a:ext cx="1316736" cy="1027054"/>
          </a:xfrm>
          <a:prstGeom prst="rect">
            <a:avLst/>
          </a:prstGeom>
          <a:noFill/>
        </p:spPr>
        <p:txBody>
          <a:bodyPr wrap="square" anchor="ctr" lIns="18288" rIns="18288" tIns="10972" bIns="10972">
            <a:spAutoFit/>
          </a:bodyPr>
          <a:lstStyle/>
          <a:p>
            <a:pPr algn="ctr">
              <a:spcAft>
                <a:spcPts val="0"/>
              </a:spcAft>
            </a:pPr>
            <a:r>
              <a:rPr sz="950" b="1" i="0">
                <a:solidFill>
                  <a:srgbClr val="1F497D"/>
                </a:solidFill>
                <a:latin typeface="Arial"/>
              </a:rPr>
              <a:t>Kenya</a:t>
            </a:r>
          </a:p>
          <a:p>
            <a:pPr algn="ctr">
              <a:spcAft>
                <a:spcPts val="0"/>
              </a:spcAft>
            </a:pPr>
            <a:r>
              <a:rPr sz="1400" b="1" i="0">
                <a:solidFill>
                  <a:srgbClr val="00AEEF"/>
                </a:solidFill>
                <a:latin typeface="Arial"/>
              </a:rPr>
              <a:t>12.8-14.6%</a:t>
            </a:r>
          </a:p>
        </p:txBody>
      </p:sp>
      <p:sp>
        <p:nvSpPr>
          <p:cNvPr id="17" name="Label TextBox 16"/>
          <p:cNvSpPr txBox="1"/>
          <p:nvPr/>
        </p:nvSpPr>
        <p:spPr>
          <a:xfrm>
            <a:off x="9162288" y="3017520"/>
            <a:ext cx="2286000" cy="731520"/>
          </a:xfrm>
          <a:prstGeom prst="rect">
            <a:avLst/>
          </a:prstGeom>
          <a:noFill/>
        </p:spPr>
        <p:txBody>
          <a:bodyPr wrap="square" anchor="ctr" lIns="0" rIns="0" tIns="0" bIns="0">
            <a:spAutoFit/>
          </a:bodyPr>
          <a:lstStyle/>
          <a:p>
            <a:pPr algn="l">
              <a:spcAft>
                <a:spcPts val="0"/>
              </a:spcAft>
            </a:pPr>
            <a:r>
              <a:rPr sz="1000" b="0" i="0">
                <a:solidFill>
                  <a:srgbClr val="404040"/>
                </a:solidFill>
                <a:latin typeface="Arial"/>
              </a:rPr>
              <a:t>Conservancy model and a Nairobi gateway for MICE</a:t>
            </a:r>
          </a:p>
        </p:txBody>
      </p:sp>
      <p:cxnSp>
        <p:nvCxnSpPr>
          <p:cNvPr id="18" name="Label Connector 17"/>
          <p:cNvCxnSpPr/>
          <p:nvPr/>
        </p:nvCxnSpPr>
        <p:spPr>
          <a:xfrm>
            <a:off x="6693408" y="3957402"/>
            <a:ext cx="258775" cy="192747"/>
          </a:xfrm>
          <a:prstGeom prst="line">
            <a:avLst/>
          </a:prstGeom>
          <a:ln w="15875">
            <a:solidFill>
              <a:srgbClr val="D9D9D9"/>
            </a:solidFill>
          </a:ln>
        </p:spPr>
      </p:cxnSp>
      <p:sp>
        <p:nvSpPr>
          <p:cNvPr id="19" name="Label Oval 18"/>
          <p:cNvSpPr/>
          <p:nvPr/>
        </p:nvSpPr>
        <p:spPr>
          <a:xfrm>
            <a:off x="6606540" y="4081350"/>
            <a:ext cx="1316736" cy="1027054"/>
          </a:xfrm>
          <a:prstGeom prst="ellipse">
            <a:avLst/>
          </a:prstGeom>
          <a:solidFill>
            <a:srgbClr val="DCEEF7"/>
          </a:solidFill>
          <a:ln>
            <a:noFill/>
          </a:ln>
        </p:spPr>
        <p:txBody>
          <a:bodyPr rtlCol="0" anchor="ctr"/>
          <a:lstStyle/>
          <a:p>
            <a:pPr algn="ctr"/>
          </a:p>
        </p:txBody>
      </p:sp>
      <p:sp>
        <p:nvSpPr>
          <p:cNvPr id="20" name="Label TextBox 19"/>
          <p:cNvSpPr txBox="1"/>
          <p:nvPr/>
        </p:nvSpPr>
        <p:spPr>
          <a:xfrm>
            <a:off x="6606540" y="4081350"/>
            <a:ext cx="1316736" cy="1027054"/>
          </a:xfrm>
          <a:prstGeom prst="rect">
            <a:avLst/>
          </a:prstGeom>
          <a:noFill/>
        </p:spPr>
        <p:txBody>
          <a:bodyPr wrap="square" anchor="ctr" lIns="18288" rIns="18288" tIns="10972" bIns="10972">
            <a:spAutoFit/>
          </a:bodyPr>
          <a:lstStyle/>
          <a:p>
            <a:pPr algn="ctr">
              <a:spcAft>
                <a:spcPts val="0"/>
              </a:spcAft>
            </a:pPr>
            <a:r>
              <a:rPr sz="950" b="1" i="0">
                <a:solidFill>
                  <a:srgbClr val="1F497D"/>
                </a:solidFill>
                <a:latin typeface="Arial"/>
              </a:rPr>
              <a:t>Singapore</a:t>
            </a:r>
          </a:p>
          <a:p>
            <a:pPr algn="ctr">
              <a:spcAft>
                <a:spcPts val="0"/>
              </a:spcAft>
            </a:pPr>
            <a:r>
              <a:rPr sz="1400" b="1" i="0">
                <a:solidFill>
                  <a:srgbClr val="00AEEF"/>
                </a:solidFill>
                <a:latin typeface="Arial"/>
              </a:rPr>
              <a:t>~19%</a:t>
            </a:r>
          </a:p>
        </p:txBody>
      </p:sp>
      <p:sp>
        <p:nvSpPr>
          <p:cNvPr id="21" name="Label TextBox 20"/>
          <p:cNvSpPr txBox="1"/>
          <p:nvPr/>
        </p:nvSpPr>
        <p:spPr>
          <a:xfrm>
            <a:off x="7996428" y="4229117"/>
            <a:ext cx="2286000" cy="731520"/>
          </a:xfrm>
          <a:prstGeom prst="rect">
            <a:avLst/>
          </a:prstGeom>
          <a:noFill/>
        </p:spPr>
        <p:txBody>
          <a:bodyPr wrap="square" anchor="ctr" lIns="0" rIns="0" tIns="0" bIns="0">
            <a:spAutoFit/>
          </a:bodyPr>
          <a:lstStyle/>
          <a:p>
            <a:pPr algn="l">
              <a:spcAft>
                <a:spcPts val="0"/>
              </a:spcAft>
            </a:pPr>
            <a:r>
              <a:rPr sz="1000" b="0" i="0">
                <a:solidFill>
                  <a:srgbClr val="404040"/>
                </a:solidFill>
                <a:latin typeface="Arial"/>
              </a:rPr>
              <a:t>Aviation hub, stopover conversion and one agency</a:t>
            </a:r>
          </a:p>
        </p:txBody>
      </p:sp>
      <p:cxnSp>
        <p:nvCxnSpPr>
          <p:cNvPr id="22" name="Label Connector 21"/>
          <p:cNvCxnSpPr/>
          <p:nvPr/>
        </p:nvCxnSpPr>
        <p:spPr>
          <a:xfrm flipH="1">
            <a:off x="5245912" y="3957402"/>
            <a:ext cx="258776" cy="192747"/>
          </a:xfrm>
          <a:prstGeom prst="line">
            <a:avLst/>
          </a:prstGeom>
          <a:ln w="15875">
            <a:solidFill>
              <a:srgbClr val="D9D9D9"/>
            </a:solidFill>
          </a:ln>
        </p:spPr>
      </p:cxnSp>
      <p:sp>
        <p:nvSpPr>
          <p:cNvPr id="23" name="Label Oval 22"/>
          <p:cNvSpPr/>
          <p:nvPr/>
        </p:nvSpPr>
        <p:spPr>
          <a:xfrm>
            <a:off x="4274820" y="4081350"/>
            <a:ext cx="1316736" cy="1027054"/>
          </a:xfrm>
          <a:prstGeom prst="ellipse">
            <a:avLst/>
          </a:prstGeom>
          <a:solidFill>
            <a:srgbClr val="DCEEF7"/>
          </a:solidFill>
          <a:ln>
            <a:noFill/>
          </a:ln>
        </p:spPr>
        <p:txBody>
          <a:bodyPr rtlCol="0" anchor="ctr"/>
          <a:lstStyle/>
          <a:p>
            <a:pPr algn="ctr"/>
          </a:p>
        </p:txBody>
      </p:sp>
      <p:sp>
        <p:nvSpPr>
          <p:cNvPr id="24" name="Label TextBox 23"/>
          <p:cNvSpPr txBox="1"/>
          <p:nvPr/>
        </p:nvSpPr>
        <p:spPr>
          <a:xfrm>
            <a:off x="4274820" y="4081350"/>
            <a:ext cx="1316736" cy="1027054"/>
          </a:xfrm>
          <a:prstGeom prst="rect">
            <a:avLst/>
          </a:prstGeom>
          <a:noFill/>
        </p:spPr>
        <p:txBody>
          <a:bodyPr wrap="square" anchor="ctr" lIns="18288" rIns="18288" tIns="10972" bIns="10972">
            <a:spAutoFit/>
          </a:bodyPr>
          <a:lstStyle/>
          <a:p>
            <a:pPr algn="ctr">
              <a:spcAft>
                <a:spcPts val="0"/>
              </a:spcAft>
            </a:pPr>
            <a:r>
              <a:rPr sz="950" b="1" i="0">
                <a:solidFill>
                  <a:srgbClr val="1F497D"/>
                </a:solidFill>
                <a:latin typeface="Arial"/>
              </a:rPr>
              <a:t>New Zealand</a:t>
            </a:r>
          </a:p>
          <a:p>
            <a:pPr algn="ctr">
              <a:spcAft>
                <a:spcPts val="0"/>
              </a:spcAft>
            </a:pPr>
            <a:r>
              <a:rPr sz="1400" b="1" i="0">
                <a:solidFill>
                  <a:srgbClr val="00AEEF"/>
                </a:solidFill>
                <a:latin typeface="Arial"/>
              </a:rPr>
              <a:t>~12%</a:t>
            </a:r>
          </a:p>
        </p:txBody>
      </p:sp>
      <p:sp>
        <p:nvSpPr>
          <p:cNvPr id="25" name="Label TextBox 24"/>
          <p:cNvSpPr txBox="1"/>
          <p:nvPr/>
        </p:nvSpPr>
        <p:spPr>
          <a:xfrm>
            <a:off x="1915668" y="4229117"/>
            <a:ext cx="2286000" cy="731520"/>
          </a:xfrm>
          <a:prstGeom prst="rect">
            <a:avLst/>
          </a:prstGeom>
          <a:noFill/>
        </p:spPr>
        <p:txBody>
          <a:bodyPr wrap="square" anchor="ctr" lIns="0" rIns="0" tIns="0" bIns="0">
            <a:spAutoFit/>
          </a:bodyPr>
          <a:lstStyle/>
          <a:p>
            <a:pPr algn="r">
              <a:spcAft>
                <a:spcPts val="0"/>
              </a:spcAft>
            </a:pPr>
            <a:r>
              <a:rPr sz="1000" b="0" i="0">
                <a:solidFill>
                  <a:srgbClr val="404040"/>
                </a:solidFill>
                <a:latin typeface="Arial"/>
              </a:rPr>
              <a:t>Route-accountable marketing: 16,000+ bookings</a:t>
            </a:r>
          </a:p>
        </p:txBody>
      </p:sp>
      <p:cxnSp>
        <p:nvCxnSpPr>
          <p:cNvPr id="26" name="Label Connector 25"/>
          <p:cNvCxnSpPr/>
          <p:nvPr/>
        </p:nvCxnSpPr>
        <p:spPr>
          <a:xfrm flipH="1">
            <a:off x="4392777" y="3383280"/>
            <a:ext cx="517551" cy="0"/>
          </a:xfrm>
          <a:prstGeom prst="line">
            <a:avLst/>
          </a:prstGeom>
          <a:ln w="15875">
            <a:solidFill>
              <a:srgbClr val="D9D9D9"/>
            </a:solidFill>
          </a:ln>
        </p:spPr>
      </p:cxnSp>
      <p:sp>
        <p:nvSpPr>
          <p:cNvPr id="27" name="Label Oval 26"/>
          <p:cNvSpPr/>
          <p:nvPr/>
        </p:nvSpPr>
        <p:spPr>
          <a:xfrm>
            <a:off x="3108960" y="2869752"/>
            <a:ext cx="1316736" cy="1027054"/>
          </a:xfrm>
          <a:prstGeom prst="ellipse">
            <a:avLst/>
          </a:prstGeom>
          <a:solidFill>
            <a:srgbClr val="DCEEF7"/>
          </a:solidFill>
          <a:ln>
            <a:noFill/>
          </a:ln>
        </p:spPr>
        <p:txBody>
          <a:bodyPr rtlCol="0" anchor="ctr"/>
          <a:lstStyle/>
          <a:p>
            <a:pPr algn="ctr"/>
          </a:p>
        </p:txBody>
      </p:sp>
      <p:sp>
        <p:nvSpPr>
          <p:cNvPr id="28" name="Label TextBox 27"/>
          <p:cNvSpPr txBox="1"/>
          <p:nvPr/>
        </p:nvSpPr>
        <p:spPr>
          <a:xfrm>
            <a:off x="3108960" y="2869752"/>
            <a:ext cx="1316736" cy="1027054"/>
          </a:xfrm>
          <a:prstGeom prst="rect">
            <a:avLst/>
          </a:prstGeom>
          <a:noFill/>
        </p:spPr>
        <p:txBody>
          <a:bodyPr wrap="square" anchor="ctr" lIns="18288" rIns="18288" tIns="10972" bIns="10972">
            <a:spAutoFit/>
          </a:bodyPr>
          <a:lstStyle/>
          <a:p>
            <a:pPr algn="ctr">
              <a:spcAft>
                <a:spcPts val="0"/>
              </a:spcAft>
            </a:pPr>
            <a:r>
              <a:rPr sz="950" b="1" i="0">
                <a:solidFill>
                  <a:srgbClr val="1F497D"/>
                </a:solidFill>
                <a:latin typeface="Arial"/>
              </a:rPr>
              <a:t>Melbourne</a:t>
            </a:r>
          </a:p>
          <a:p>
            <a:pPr algn="ctr">
              <a:spcAft>
                <a:spcPts val="0"/>
              </a:spcAft>
            </a:pPr>
            <a:r>
              <a:rPr sz="1400" b="1" i="0">
                <a:solidFill>
                  <a:srgbClr val="00AEEF"/>
                </a:solidFill>
                <a:latin typeface="Arial"/>
              </a:rPr>
              <a:t>~4.3%*</a:t>
            </a:r>
          </a:p>
        </p:txBody>
      </p:sp>
      <p:sp>
        <p:nvSpPr>
          <p:cNvPr id="29" name="Label TextBox 28"/>
          <p:cNvSpPr txBox="1"/>
          <p:nvPr/>
        </p:nvSpPr>
        <p:spPr>
          <a:xfrm>
            <a:off x="749808" y="3017520"/>
            <a:ext cx="2286000" cy="731520"/>
          </a:xfrm>
          <a:prstGeom prst="rect">
            <a:avLst/>
          </a:prstGeom>
          <a:noFill/>
        </p:spPr>
        <p:txBody>
          <a:bodyPr wrap="square" anchor="ctr" lIns="0" rIns="0" tIns="0" bIns="0">
            <a:spAutoFit/>
          </a:bodyPr>
          <a:lstStyle/>
          <a:p>
            <a:pPr algn="r">
              <a:spcAft>
                <a:spcPts val="0"/>
              </a:spcAft>
            </a:pPr>
            <a:r>
              <a:rPr sz="1000" b="0" i="0">
                <a:solidFill>
                  <a:srgbClr val="404040"/>
                </a:solidFill>
                <a:latin typeface="Arial"/>
              </a:rPr>
              <a:t>Events engine backed by 5,000 new hotel rooms</a:t>
            </a:r>
          </a:p>
        </p:txBody>
      </p:sp>
      <p:cxnSp>
        <p:nvCxnSpPr>
          <p:cNvPr id="30" name="Label Connector 29"/>
          <p:cNvCxnSpPr/>
          <p:nvPr/>
        </p:nvCxnSpPr>
        <p:spPr>
          <a:xfrm flipH="1" flipV="1">
            <a:off x="5245912" y="2616410"/>
            <a:ext cx="258776" cy="192747"/>
          </a:xfrm>
          <a:prstGeom prst="line">
            <a:avLst/>
          </a:prstGeom>
          <a:ln w="15875">
            <a:solidFill>
              <a:srgbClr val="D9D9D9"/>
            </a:solidFill>
          </a:ln>
        </p:spPr>
      </p:cxnSp>
      <p:sp>
        <p:nvSpPr>
          <p:cNvPr id="31" name="Label Oval 30"/>
          <p:cNvSpPr/>
          <p:nvPr/>
        </p:nvSpPr>
        <p:spPr>
          <a:xfrm>
            <a:off x="4274820" y="1658155"/>
            <a:ext cx="1316736" cy="1027054"/>
          </a:xfrm>
          <a:prstGeom prst="ellipse">
            <a:avLst/>
          </a:prstGeom>
          <a:solidFill>
            <a:srgbClr val="DCEEF7"/>
          </a:solidFill>
          <a:ln>
            <a:noFill/>
          </a:ln>
        </p:spPr>
        <p:txBody>
          <a:bodyPr rtlCol="0" anchor="ctr"/>
          <a:lstStyle/>
          <a:p>
            <a:pPr algn="ctr"/>
          </a:p>
        </p:txBody>
      </p:sp>
      <p:sp>
        <p:nvSpPr>
          <p:cNvPr id="32" name="Label TextBox 31"/>
          <p:cNvSpPr txBox="1"/>
          <p:nvPr/>
        </p:nvSpPr>
        <p:spPr>
          <a:xfrm>
            <a:off x="4274820" y="1658155"/>
            <a:ext cx="1316736" cy="1027054"/>
          </a:xfrm>
          <a:prstGeom prst="rect">
            <a:avLst/>
          </a:prstGeom>
          <a:noFill/>
        </p:spPr>
        <p:txBody>
          <a:bodyPr wrap="square" anchor="ctr" lIns="18288" rIns="18288" tIns="10972" bIns="10972">
            <a:spAutoFit/>
          </a:bodyPr>
          <a:lstStyle/>
          <a:p>
            <a:pPr algn="ctr">
              <a:spcAft>
                <a:spcPts val="0"/>
              </a:spcAft>
            </a:pPr>
            <a:r>
              <a:rPr sz="950" b="1" i="0">
                <a:solidFill>
                  <a:srgbClr val="1F497D"/>
                </a:solidFill>
                <a:latin typeface="Arial"/>
              </a:rPr>
              <a:t>Valencia</a:t>
            </a:r>
          </a:p>
          <a:p>
            <a:pPr algn="ctr">
              <a:spcAft>
                <a:spcPts val="0"/>
              </a:spcAft>
            </a:pPr>
            <a:r>
              <a:rPr sz="1400" b="1" i="0">
                <a:solidFill>
                  <a:srgbClr val="00AEEF"/>
                </a:solidFill>
                <a:latin typeface="Arial"/>
              </a:rPr>
              <a:t>13-14%</a:t>
            </a:r>
          </a:p>
        </p:txBody>
      </p:sp>
      <p:sp>
        <p:nvSpPr>
          <p:cNvPr id="33" name="Label TextBox 32"/>
          <p:cNvSpPr txBox="1"/>
          <p:nvPr/>
        </p:nvSpPr>
        <p:spPr>
          <a:xfrm>
            <a:off x="1915668" y="1805922"/>
            <a:ext cx="2286000" cy="731520"/>
          </a:xfrm>
          <a:prstGeom prst="rect">
            <a:avLst/>
          </a:prstGeom>
          <a:noFill/>
        </p:spPr>
        <p:txBody>
          <a:bodyPr wrap="square" anchor="ctr" lIns="0" rIns="0" tIns="0" bIns="0">
            <a:spAutoFit/>
          </a:bodyPr>
          <a:lstStyle/>
          <a:p>
            <a:pPr algn="r">
              <a:spcAft>
                <a:spcPts val="0"/>
              </a:spcAft>
            </a:pPr>
            <a:r>
              <a:rPr sz="1000" b="0" i="0">
                <a:solidFill>
                  <a:srgbClr val="404040"/>
                </a:solidFill>
                <a:latin typeface="Arial"/>
              </a:rPr>
              <a:t>Quality charter (SICTED) and sector councils</a:t>
            </a:r>
          </a:p>
        </p:txBody>
      </p:sp>
      <p:sp>
        <p:nvSpPr>
          <p:cNvPr id="34" name="TextBox 33"/>
          <p:cNvSpPr txBox="1"/>
          <p:nvPr/>
        </p:nvSpPr>
        <p:spPr>
          <a:xfrm>
            <a:off x="457200" y="5285232"/>
            <a:ext cx="10972800"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Growth in international arrivals, 2023 to 2024, as reported. *Melbourne’s 4.3% is a forecast average and sits inside the norm.</a:t>
            </a:r>
          </a:p>
        </p:txBody>
      </p:sp>
      <p:sp>
        <p:nvSpPr>
          <p:cNvPr id="35" name="Rectangle 34"/>
          <p:cNvSpPr/>
          <p:nvPr/>
        </p:nvSpPr>
        <p:spPr>
          <a:xfrm>
            <a:off x="457200" y="5596128"/>
            <a:ext cx="11277295" cy="384048"/>
          </a:xfrm>
          <a:prstGeom prst="rect">
            <a:avLst/>
          </a:prstGeom>
          <a:solidFill>
            <a:srgbClr val="1F497D"/>
          </a:solidFill>
          <a:ln>
            <a:noFill/>
          </a:ln>
        </p:spPr>
        <p:txBody>
          <a:bodyPr rtlCol="0" anchor="ctr"/>
          <a:lstStyle/>
          <a:p>
            <a:pPr algn="ctr"/>
          </a:p>
        </p:txBody>
      </p:sp>
      <p:sp>
        <p:nvSpPr>
          <p:cNvPr id="36" name="TextBox 35"/>
          <p:cNvSpPr txBox="1"/>
          <p:nvPr/>
        </p:nvSpPr>
        <p:spPr>
          <a:xfrm>
            <a:off x="621792" y="5596128"/>
            <a:ext cx="10948111" cy="384048"/>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Growth comes from a coordinated system, not one lever: Wesgro needs partners on access, marketing and institutions.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Fifteen of sixteen organisations raised collaboration and data, and DEDAT rates access and funding as high-impact limits</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03 | WHAT EACH DELIVERABLE FOUND | STAKEHOLDER INSIGHTS, MAR 2026</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Stakeholder Insights Report (Mar 2026) pp16, 20-46 (counts are a Letsema tally of the appendix), 24-25 (DEDAT insights rated High)</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8</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TextBox 7"/>
          <p:cNvSpPr txBox="1"/>
          <p:nvPr/>
        </p:nvSpPr>
        <p:spPr>
          <a:xfrm>
            <a:off x="457200" y="1417320"/>
            <a:ext cx="6521272"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THEMES RAISED, BY NUMBER OF ORGANISATIONS (OF 16)</a:t>
            </a:r>
          </a:p>
        </p:txBody>
      </p:sp>
      <p:sp>
        <p:nvSpPr>
          <p:cNvPr id="9" name="Label TextBox 8"/>
          <p:cNvSpPr txBox="1"/>
          <p:nvPr/>
        </p:nvSpPr>
        <p:spPr>
          <a:xfrm>
            <a:off x="457200" y="1737360"/>
            <a:ext cx="2651760" cy="310896"/>
          </a:xfrm>
          <a:prstGeom prst="rect">
            <a:avLst/>
          </a:prstGeom>
          <a:noFill/>
        </p:spPr>
        <p:txBody>
          <a:bodyPr wrap="square" anchor="ctr" lIns="0" rIns="0" tIns="0" bIns="0">
            <a:spAutoFit/>
          </a:bodyPr>
          <a:lstStyle/>
          <a:p>
            <a:pPr algn="l">
              <a:spcAft>
                <a:spcPts val="0"/>
              </a:spcAft>
            </a:pPr>
            <a:r>
              <a:rPr sz="1000" b="0" i="0">
                <a:solidFill>
                  <a:srgbClr val="404040"/>
                </a:solidFill>
                <a:latin typeface="Arial"/>
              </a:rPr>
              <a:t>Industry and government collaboration</a:t>
            </a:r>
          </a:p>
        </p:txBody>
      </p:sp>
      <p:sp>
        <p:nvSpPr>
          <p:cNvPr id="10" name="Label Rectangle 9"/>
          <p:cNvSpPr/>
          <p:nvPr/>
        </p:nvSpPr>
        <p:spPr>
          <a:xfrm>
            <a:off x="3108960" y="1799539"/>
            <a:ext cx="3199042" cy="186537"/>
          </a:xfrm>
          <a:prstGeom prst="rect">
            <a:avLst/>
          </a:prstGeom>
          <a:solidFill>
            <a:srgbClr val="1F497D"/>
          </a:solidFill>
          <a:ln>
            <a:noFill/>
          </a:ln>
        </p:spPr>
        <p:txBody>
          <a:bodyPr rtlCol="0" anchor="ctr"/>
          <a:lstStyle/>
          <a:p>
            <a:pPr algn="ctr"/>
          </a:p>
        </p:txBody>
      </p:sp>
      <p:sp>
        <p:nvSpPr>
          <p:cNvPr id="11" name="Label TextBox 10"/>
          <p:cNvSpPr txBox="1"/>
          <p:nvPr/>
        </p:nvSpPr>
        <p:spPr>
          <a:xfrm>
            <a:off x="6353722" y="1737360"/>
            <a:ext cx="457200" cy="310896"/>
          </a:xfrm>
          <a:prstGeom prst="rect">
            <a:avLst/>
          </a:prstGeom>
          <a:noFill/>
        </p:spPr>
        <p:txBody>
          <a:bodyPr wrap="square" anchor="ctr" lIns="0" rIns="0" tIns="0" bIns="0">
            <a:spAutoFit/>
          </a:bodyPr>
          <a:lstStyle/>
          <a:p>
            <a:pPr algn="l">
              <a:spcAft>
                <a:spcPts val="0"/>
              </a:spcAft>
            </a:pPr>
            <a:r>
              <a:rPr sz="1000" b="1" i="0">
                <a:solidFill>
                  <a:srgbClr val="1F497D"/>
                </a:solidFill>
                <a:latin typeface="Arial"/>
              </a:rPr>
              <a:t>15</a:t>
            </a:r>
          </a:p>
        </p:txBody>
      </p:sp>
      <p:sp>
        <p:nvSpPr>
          <p:cNvPr id="12" name="Label TextBox 11"/>
          <p:cNvSpPr txBox="1"/>
          <p:nvPr/>
        </p:nvSpPr>
        <p:spPr>
          <a:xfrm>
            <a:off x="457200" y="2048255"/>
            <a:ext cx="2651760" cy="310896"/>
          </a:xfrm>
          <a:prstGeom prst="rect">
            <a:avLst/>
          </a:prstGeom>
          <a:noFill/>
        </p:spPr>
        <p:txBody>
          <a:bodyPr wrap="square" anchor="ctr" lIns="0" rIns="0" tIns="0" bIns="0">
            <a:spAutoFit/>
          </a:bodyPr>
          <a:lstStyle/>
          <a:p>
            <a:pPr algn="l">
              <a:spcAft>
                <a:spcPts val="0"/>
              </a:spcAft>
            </a:pPr>
            <a:r>
              <a:rPr sz="1000" b="0" i="0">
                <a:solidFill>
                  <a:srgbClr val="404040"/>
                </a:solidFill>
                <a:latin typeface="Arial"/>
              </a:rPr>
              <a:t>Policy and data sharing</a:t>
            </a:r>
          </a:p>
        </p:txBody>
      </p:sp>
      <p:sp>
        <p:nvSpPr>
          <p:cNvPr id="13" name="Label Rectangle 12"/>
          <p:cNvSpPr/>
          <p:nvPr/>
        </p:nvSpPr>
        <p:spPr>
          <a:xfrm>
            <a:off x="3108960" y="2110435"/>
            <a:ext cx="3199042" cy="186537"/>
          </a:xfrm>
          <a:prstGeom prst="rect">
            <a:avLst/>
          </a:prstGeom>
          <a:solidFill>
            <a:srgbClr val="1F497D"/>
          </a:solidFill>
          <a:ln>
            <a:noFill/>
          </a:ln>
        </p:spPr>
        <p:txBody>
          <a:bodyPr rtlCol="0" anchor="ctr"/>
          <a:lstStyle/>
          <a:p>
            <a:pPr algn="ctr"/>
          </a:p>
        </p:txBody>
      </p:sp>
      <p:sp>
        <p:nvSpPr>
          <p:cNvPr id="14" name="Label TextBox 13"/>
          <p:cNvSpPr txBox="1"/>
          <p:nvPr/>
        </p:nvSpPr>
        <p:spPr>
          <a:xfrm>
            <a:off x="6353722" y="2048255"/>
            <a:ext cx="457200" cy="310896"/>
          </a:xfrm>
          <a:prstGeom prst="rect">
            <a:avLst/>
          </a:prstGeom>
          <a:noFill/>
        </p:spPr>
        <p:txBody>
          <a:bodyPr wrap="square" anchor="ctr" lIns="0" rIns="0" tIns="0" bIns="0">
            <a:spAutoFit/>
          </a:bodyPr>
          <a:lstStyle/>
          <a:p>
            <a:pPr algn="l">
              <a:spcAft>
                <a:spcPts val="0"/>
              </a:spcAft>
            </a:pPr>
            <a:r>
              <a:rPr sz="1000" b="1" i="0">
                <a:solidFill>
                  <a:srgbClr val="1F497D"/>
                </a:solidFill>
                <a:latin typeface="Arial"/>
              </a:rPr>
              <a:t>15</a:t>
            </a:r>
          </a:p>
        </p:txBody>
      </p:sp>
      <p:sp>
        <p:nvSpPr>
          <p:cNvPr id="15" name="Label TextBox 14"/>
          <p:cNvSpPr txBox="1"/>
          <p:nvPr/>
        </p:nvSpPr>
        <p:spPr>
          <a:xfrm>
            <a:off x="457200" y="2359152"/>
            <a:ext cx="2651760" cy="310896"/>
          </a:xfrm>
          <a:prstGeom prst="rect">
            <a:avLst/>
          </a:prstGeom>
          <a:noFill/>
        </p:spPr>
        <p:txBody>
          <a:bodyPr wrap="square" anchor="ctr" lIns="0" rIns="0" tIns="0" bIns="0">
            <a:spAutoFit/>
          </a:bodyPr>
          <a:lstStyle/>
          <a:p>
            <a:pPr algn="l">
              <a:spcAft>
                <a:spcPts val="0"/>
              </a:spcAft>
            </a:pPr>
            <a:r>
              <a:rPr sz="1000" b="0" i="0">
                <a:solidFill>
                  <a:srgbClr val="404040"/>
                </a:solidFill>
                <a:latin typeface="Arial"/>
              </a:rPr>
              <a:t>Route and product diversification</a:t>
            </a:r>
          </a:p>
        </p:txBody>
      </p:sp>
      <p:sp>
        <p:nvSpPr>
          <p:cNvPr id="16" name="Label Rectangle 15"/>
          <p:cNvSpPr/>
          <p:nvPr/>
        </p:nvSpPr>
        <p:spPr>
          <a:xfrm>
            <a:off x="3108960" y="2421331"/>
            <a:ext cx="2345964" cy="186537"/>
          </a:xfrm>
          <a:prstGeom prst="rect">
            <a:avLst/>
          </a:prstGeom>
          <a:solidFill>
            <a:srgbClr val="4F81BD"/>
          </a:solidFill>
          <a:ln>
            <a:noFill/>
          </a:ln>
        </p:spPr>
        <p:txBody>
          <a:bodyPr rtlCol="0" anchor="ctr"/>
          <a:lstStyle/>
          <a:p>
            <a:pPr algn="ctr"/>
          </a:p>
        </p:txBody>
      </p:sp>
      <p:sp>
        <p:nvSpPr>
          <p:cNvPr id="17" name="Label TextBox 16"/>
          <p:cNvSpPr txBox="1"/>
          <p:nvPr/>
        </p:nvSpPr>
        <p:spPr>
          <a:xfrm>
            <a:off x="5500644" y="2359152"/>
            <a:ext cx="457200" cy="310896"/>
          </a:xfrm>
          <a:prstGeom prst="rect">
            <a:avLst/>
          </a:prstGeom>
          <a:noFill/>
        </p:spPr>
        <p:txBody>
          <a:bodyPr wrap="square" anchor="ctr" lIns="0" rIns="0" tIns="0" bIns="0">
            <a:spAutoFit/>
          </a:bodyPr>
          <a:lstStyle/>
          <a:p>
            <a:pPr algn="l">
              <a:spcAft>
                <a:spcPts val="0"/>
              </a:spcAft>
            </a:pPr>
            <a:r>
              <a:rPr sz="1000" b="1" i="0">
                <a:solidFill>
                  <a:srgbClr val="1F497D"/>
                </a:solidFill>
                <a:latin typeface="Arial"/>
              </a:rPr>
              <a:t>11</a:t>
            </a:r>
          </a:p>
        </p:txBody>
      </p:sp>
      <p:sp>
        <p:nvSpPr>
          <p:cNvPr id="18" name="Label TextBox 17"/>
          <p:cNvSpPr txBox="1"/>
          <p:nvPr/>
        </p:nvSpPr>
        <p:spPr>
          <a:xfrm>
            <a:off x="457200" y="2670048"/>
            <a:ext cx="2651760" cy="310896"/>
          </a:xfrm>
          <a:prstGeom prst="rect">
            <a:avLst/>
          </a:prstGeom>
          <a:noFill/>
        </p:spPr>
        <p:txBody>
          <a:bodyPr wrap="square" anchor="ctr" lIns="0" rIns="0" tIns="0" bIns="0">
            <a:spAutoFit/>
          </a:bodyPr>
          <a:lstStyle/>
          <a:p>
            <a:pPr algn="l">
              <a:spcAft>
                <a:spcPts val="0"/>
              </a:spcAft>
            </a:pPr>
            <a:r>
              <a:rPr sz="1000" b="0" i="0">
                <a:solidFill>
                  <a:srgbClr val="404040"/>
                </a:solidFill>
                <a:latin typeface="Arial"/>
              </a:rPr>
              <a:t>Path to purchase</a:t>
            </a:r>
          </a:p>
        </p:txBody>
      </p:sp>
      <p:sp>
        <p:nvSpPr>
          <p:cNvPr id="19" name="Label Rectangle 18"/>
          <p:cNvSpPr/>
          <p:nvPr/>
        </p:nvSpPr>
        <p:spPr>
          <a:xfrm>
            <a:off x="3108960" y="2732227"/>
            <a:ext cx="2345964" cy="186537"/>
          </a:xfrm>
          <a:prstGeom prst="rect">
            <a:avLst/>
          </a:prstGeom>
          <a:solidFill>
            <a:srgbClr val="4F81BD"/>
          </a:solidFill>
          <a:ln>
            <a:noFill/>
          </a:ln>
        </p:spPr>
        <p:txBody>
          <a:bodyPr rtlCol="0" anchor="ctr"/>
          <a:lstStyle/>
          <a:p>
            <a:pPr algn="ctr"/>
          </a:p>
        </p:txBody>
      </p:sp>
      <p:sp>
        <p:nvSpPr>
          <p:cNvPr id="20" name="Label TextBox 19"/>
          <p:cNvSpPr txBox="1"/>
          <p:nvPr/>
        </p:nvSpPr>
        <p:spPr>
          <a:xfrm>
            <a:off x="5500644" y="2670048"/>
            <a:ext cx="457200" cy="310896"/>
          </a:xfrm>
          <a:prstGeom prst="rect">
            <a:avLst/>
          </a:prstGeom>
          <a:noFill/>
        </p:spPr>
        <p:txBody>
          <a:bodyPr wrap="square" anchor="ctr" lIns="0" rIns="0" tIns="0" bIns="0">
            <a:spAutoFit/>
          </a:bodyPr>
          <a:lstStyle/>
          <a:p>
            <a:pPr algn="l">
              <a:spcAft>
                <a:spcPts val="0"/>
              </a:spcAft>
            </a:pPr>
            <a:r>
              <a:rPr sz="1000" b="1" i="0">
                <a:solidFill>
                  <a:srgbClr val="1F497D"/>
                </a:solidFill>
                <a:latin typeface="Arial"/>
              </a:rPr>
              <a:t>11</a:t>
            </a:r>
          </a:p>
        </p:txBody>
      </p:sp>
      <p:sp>
        <p:nvSpPr>
          <p:cNvPr id="21" name="Label TextBox 20"/>
          <p:cNvSpPr txBox="1"/>
          <p:nvPr/>
        </p:nvSpPr>
        <p:spPr>
          <a:xfrm>
            <a:off x="457200" y="2980944"/>
            <a:ext cx="2651760" cy="310896"/>
          </a:xfrm>
          <a:prstGeom prst="rect">
            <a:avLst/>
          </a:prstGeom>
          <a:noFill/>
        </p:spPr>
        <p:txBody>
          <a:bodyPr wrap="square" anchor="ctr" lIns="0" rIns="0" tIns="0" bIns="0">
            <a:spAutoFit/>
          </a:bodyPr>
          <a:lstStyle/>
          <a:p>
            <a:pPr algn="l">
              <a:spcAft>
                <a:spcPts val="0"/>
              </a:spcAft>
            </a:pPr>
            <a:r>
              <a:rPr sz="1000" b="0" i="0">
                <a:solidFill>
                  <a:srgbClr val="404040"/>
                </a:solidFill>
                <a:latin typeface="Arial"/>
              </a:rPr>
              <a:t>Growth segment preferences</a:t>
            </a:r>
          </a:p>
        </p:txBody>
      </p:sp>
      <p:sp>
        <p:nvSpPr>
          <p:cNvPr id="22" name="Label Rectangle 21"/>
          <p:cNvSpPr/>
          <p:nvPr/>
        </p:nvSpPr>
        <p:spPr>
          <a:xfrm>
            <a:off x="3108960" y="3043123"/>
            <a:ext cx="2132695" cy="186537"/>
          </a:xfrm>
          <a:prstGeom prst="rect">
            <a:avLst/>
          </a:prstGeom>
          <a:solidFill>
            <a:srgbClr val="4F81BD"/>
          </a:solidFill>
          <a:ln>
            <a:noFill/>
          </a:ln>
        </p:spPr>
        <p:txBody>
          <a:bodyPr rtlCol="0" anchor="ctr"/>
          <a:lstStyle/>
          <a:p>
            <a:pPr algn="ctr"/>
          </a:p>
        </p:txBody>
      </p:sp>
      <p:sp>
        <p:nvSpPr>
          <p:cNvPr id="23" name="Label TextBox 22"/>
          <p:cNvSpPr txBox="1"/>
          <p:nvPr/>
        </p:nvSpPr>
        <p:spPr>
          <a:xfrm>
            <a:off x="5287375" y="2980944"/>
            <a:ext cx="457200" cy="310896"/>
          </a:xfrm>
          <a:prstGeom prst="rect">
            <a:avLst/>
          </a:prstGeom>
          <a:noFill/>
        </p:spPr>
        <p:txBody>
          <a:bodyPr wrap="square" anchor="ctr" lIns="0" rIns="0" tIns="0" bIns="0">
            <a:spAutoFit/>
          </a:bodyPr>
          <a:lstStyle/>
          <a:p>
            <a:pPr algn="l">
              <a:spcAft>
                <a:spcPts val="0"/>
              </a:spcAft>
            </a:pPr>
            <a:r>
              <a:rPr sz="1000" b="1" i="0">
                <a:solidFill>
                  <a:srgbClr val="1F497D"/>
                </a:solidFill>
                <a:latin typeface="Arial"/>
              </a:rPr>
              <a:t>10</a:t>
            </a:r>
          </a:p>
        </p:txBody>
      </p:sp>
      <p:sp>
        <p:nvSpPr>
          <p:cNvPr id="24" name="Label TextBox 23"/>
          <p:cNvSpPr txBox="1"/>
          <p:nvPr/>
        </p:nvSpPr>
        <p:spPr>
          <a:xfrm>
            <a:off x="457200" y="3291840"/>
            <a:ext cx="2651760" cy="310896"/>
          </a:xfrm>
          <a:prstGeom prst="rect">
            <a:avLst/>
          </a:prstGeom>
          <a:noFill/>
        </p:spPr>
        <p:txBody>
          <a:bodyPr wrap="square" anchor="ctr" lIns="0" rIns="0" tIns="0" bIns="0">
            <a:spAutoFit/>
          </a:bodyPr>
          <a:lstStyle/>
          <a:p>
            <a:pPr algn="l">
              <a:spcAft>
                <a:spcPts val="0"/>
              </a:spcAft>
            </a:pPr>
            <a:r>
              <a:rPr sz="1000" b="0" i="0">
                <a:solidFill>
                  <a:srgbClr val="404040"/>
                </a:solidFill>
                <a:latin typeface="Arial"/>
              </a:rPr>
              <a:t>Infrastructure, visa and safety</a:t>
            </a:r>
          </a:p>
        </p:txBody>
      </p:sp>
      <p:sp>
        <p:nvSpPr>
          <p:cNvPr id="25" name="Label Rectangle 24"/>
          <p:cNvSpPr/>
          <p:nvPr/>
        </p:nvSpPr>
        <p:spPr>
          <a:xfrm>
            <a:off x="3108960" y="3354019"/>
            <a:ext cx="2132695" cy="186537"/>
          </a:xfrm>
          <a:prstGeom prst="rect">
            <a:avLst/>
          </a:prstGeom>
          <a:solidFill>
            <a:srgbClr val="4F81BD"/>
          </a:solidFill>
          <a:ln>
            <a:noFill/>
          </a:ln>
        </p:spPr>
        <p:txBody>
          <a:bodyPr rtlCol="0" anchor="ctr"/>
          <a:lstStyle/>
          <a:p>
            <a:pPr algn="ctr"/>
          </a:p>
        </p:txBody>
      </p:sp>
      <p:sp>
        <p:nvSpPr>
          <p:cNvPr id="26" name="Label TextBox 25"/>
          <p:cNvSpPr txBox="1"/>
          <p:nvPr/>
        </p:nvSpPr>
        <p:spPr>
          <a:xfrm>
            <a:off x="5287375" y="3291840"/>
            <a:ext cx="457200" cy="310896"/>
          </a:xfrm>
          <a:prstGeom prst="rect">
            <a:avLst/>
          </a:prstGeom>
          <a:noFill/>
        </p:spPr>
        <p:txBody>
          <a:bodyPr wrap="square" anchor="ctr" lIns="0" rIns="0" tIns="0" bIns="0">
            <a:spAutoFit/>
          </a:bodyPr>
          <a:lstStyle/>
          <a:p>
            <a:pPr algn="l">
              <a:spcAft>
                <a:spcPts val="0"/>
              </a:spcAft>
            </a:pPr>
            <a:r>
              <a:rPr sz="1000" b="1" i="0">
                <a:solidFill>
                  <a:srgbClr val="1F497D"/>
                </a:solidFill>
                <a:latin typeface="Arial"/>
              </a:rPr>
              <a:t>10</a:t>
            </a:r>
          </a:p>
        </p:txBody>
      </p:sp>
      <p:sp>
        <p:nvSpPr>
          <p:cNvPr id="27" name="Label TextBox 26"/>
          <p:cNvSpPr txBox="1"/>
          <p:nvPr/>
        </p:nvSpPr>
        <p:spPr>
          <a:xfrm>
            <a:off x="457200" y="3602736"/>
            <a:ext cx="2651760" cy="310896"/>
          </a:xfrm>
          <a:prstGeom prst="rect">
            <a:avLst/>
          </a:prstGeom>
          <a:noFill/>
        </p:spPr>
        <p:txBody>
          <a:bodyPr wrap="square" anchor="ctr" lIns="0" rIns="0" tIns="0" bIns="0">
            <a:spAutoFit/>
          </a:bodyPr>
          <a:lstStyle/>
          <a:p>
            <a:pPr algn="l">
              <a:spcAft>
                <a:spcPts val="0"/>
              </a:spcAft>
            </a:pPr>
            <a:r>
              <a:rPr sz="1000" b="0" i="0">
                <a:solidFill>
                  <a:srgbClr val="404040"/>
                </a:solidFill>
                <a:latin typeface="Arial"/>
              </a:rPr>
              <a:t>Seasonality and events</a:t>
            </a:r>
          </a:p>
        </p:txBody>
      </p:sp>
      <p:sp>
        <p:nvSpPr>
          <p:cNvPr id="28" name="Label Rectangle 27"/>
          <p:cNvSpPr/>
          <p:nvPr/>
        </p:nvSpPr>
        <p:spPr>
          <a:xfrm>
            <a:off x="3108960" y="3664915"/>
            <a:ext cx="1919425" cy="186537"/>
          </a:xfrm>
          <a:prstGeom prst="rect">
            <a:avLst/>
          </a:prstGeom>
          <a:solidFill>
            <a:srgbClr val="4F81BD"/>
          </a:solidFill>
          <a:ln>
            <a:noFill/>
          </a:ln>
        </p:spPr>
        <p:txBody>
          <a:bodyPr rtlCol="0" anchor="ctr"/>
          <a:lstStyle/>
          <a:p>
            <a:pPr algn="ctr"/>
          </a:p>
        </p:txBody>
      </p:sp>
      <p:sp>
        <p:nvSpPr>
          <p:cNvPr id="29" name="Label TextBox 28"/>
          <p:cNvSpPr txBox="1"/>
          <p:nvPr/>
        </p:nvSpPr>
        <p:spPr>
          <a:xfrm>
            <a:off x="5074105" y="3602736"/>
            <a:ext cx="457200" cy="310896"/>
          </a:xfrm>
          <a:prstGeom prst="rect">
            <a:avLst/>
          </a:prstGeom>
          <a:noFill/>
        </p:spPr>
        <p:txBody>
          <a:bodyPr wrap="square" anchor="ctr" lIns="0" rIns="0" tIns="0" bIns="0">
            <a:spAutoFit/>
          </a:bodyPr>
          <a:lstStyle/>
          <a:p>
            <a:pPr algn="l">
              <a:spcAft>
                <a:spcPts val="0"/>
              </a:spcAft>
            </a:pPr>
            <a:r>
              <a:rPr sz="1000" b="1" i="0">
                <a:solidFill>
                  <a:srgbClr val="1F497D"/>
                </a:solidFill>
                <a:latin typeface="Arial"/>
              </a:rPr>
              <a:t>9</a:t>
            </a:r>
          </a:p>
        </p:txBody>
      </p:sp>
      <p:sp>
        <p:nvSpPr>
          <p:cNvPr id="30" name="Label TextBox 29"/>
          <p:cNvSpPr txBox="1"/>
          <p:nvPr/>
        </p:nvSpPr>
        <p:spPr>
          <a:xfrm>
            <a:off x="457200" y="3913632"/>
            <a:ext cx="2651760" cy="310896"/>
          </a:xfrm>
          <a:prstGeom prst="rect">
            <a:avLst/>
          </a:prstGeom>
          <a:noFill/>
        </p:spPr>
        <p:txBody>
          <a:bodyPr wrap="square" anchor="ctr" lIns="0" rIns="0" tIns="0" bIns="0">
            <a:spAutoFit/>
          </a:bodyPr>
          <a:lstStyle/>
          <a:p>
            <a:pPr algn="l">
              <a:spcAft>
                <a:spcPts val="0"/>
              </a:spcAft>
            </a:pPr>
            <a:r>
              <a:rPr sz="1000" b="0" i="0">
                <a:solidFill>
                  <a:srgbClr val="404040"/>
                </a:solidFill>
                <a:latin typeface="Arial"/>
              </a:rPr>
              <a:t>Community and SME inclusion</a:t>
            </a:r>
          </a:p>
        </p:txBody>
      </p:sp>
      <p:sp>
        <p:nvSpPr>
          <p:cNvPr id="31" name="Label Rectangle 30"/>
          <p:cNvSpPr/>
          <p:nvPr/>
        </p:nvSpPr>
        <p:spPr>
          <a:xfrm>
            <a:off x="3108960" y="3975811"/>
            <a:ext cx="1919425" cy="186537"/>
          </a:xfrm>
          <a:prstGeom prst="rect">
            <a:avLst/>
          </a:prstGeom>
          <a:solidFill>
            <a:srgbClr val="4F81BD"/>
          </a:solidFill>
          <a:ln>
            <a:noFill/>
          </a:ln>
        </p:spPr>
        <p:txBody>
          <a:bodyPr rtlCol="0" anchor="ctr"/>
          <a:lstStyle/>
          <a:p>
            <a:pPr algn="ctr"/>
          </a:p>
        </p:txBody>
      </p:sp>
      <p:sp>
        <p:nvSpPr>
          <p:cNvPr id="32" name="Label TextBox 31"/>
          <p:cNvSpPr txBox="1"/>
          <p:nvPr/>
        </p:nvSpPr>
        <p:spPr>
          <a:xfrm>
            <a:off x="5074105" y="3913632"/>
            <a:ext cx="457200" cy="310896"/>
          </a:xfrm>
          <a:prstGeom prst="rect">
            <a:avLst/>
          </a:prstGeom>
          <a:noFill/>
        </p:spPr>
        <p:txBody>
          <a:bodyPr wrap="square" anchor="ctr" lIns="0" rIns="0" tIns="0" bIns="0">
            <a:spAutoFit/>
          </a:bodyPr>
          <a:lstStyle/>
          <a:p>
            <a:pPr algn="l">
              <a:spcAft>
                <a:spcPts val="0"/>
              </a:spcAft>
            </a:pPr>
            <a:r>
              <a:rPr sz="1000" b="1" i="0">
                <a:solidFill>
                  <a:srgbClr val="1F497D"/>
                </a:solidFill>
                <a:latin typeface="Arial"/>
              </a:rPr>
              <a:t>9</a:t>
            </a:r>
          </a:p>
        </p:txBody>
      </p:sp>
      <p:sp>
        <p:nvSpPr>
          <p:cNvPr id="33" name="Label TextBox 32"/>
          <p:cNvSpPr txBox="1"/>
          <p:nvPr/>
        </p:nvSpPr>
        <p:spPr>
          <a:xfrm>
            <a:off x="457200" y="4224528"/>
            <a:ext cx="2651760" cy="310896"/>
          </a:xfrm>
          <a:prstGeom prst="rect">
            <a:avLst/>
          </a:prstGeom>
          <a:noFill/>
        </p:spPr>
        <p:txBody>
          <a:bodyPr wrap="square" anchor="ctr" lIns="0" rIns="0" tIns="0" bIns="0">
            <a:spAutoFit/>
          </a:bodyPr>
          <a:lstStyle/>
          <a:p>
            <a:pPr algn="l">
              <a:spcAft>
                <a:spcPts val="0"/>
              </a:spcAft>
            </a:pPr>
            <a:r>
              <a:rPr sz="1000" b="0" i="0">
                <a:solidFill>
                  <a:srgbClr val="404040"/>
                </a:solidFill>
                <a:latin typeface="Arial"/>
              </a:rPr>
              <a:t>Internal mobility</a:t>
            </a:r>
          </a:p>
        </p:txBody>
      </p:sp>
      <p:sp>
        <p:nvSpPr>
          <p:cNvPr id="34" name="Label Rectangle 33"/>
          <p:cNvSpPr/>
          <p:nvPr/>
        </p:nvSpPr>
        <p:spPr>
          <a:xfrm>
            <a:off x="3108960" y="4286707"/>
            <a:ext cx="1706156" cy="186537"/>
          </a:xfrm>
          <a:prstGeom prst="rect">
            <a:avLst/>
          </a:prstGeom>
          <a:solidFill>
            <a:srgbClr val="4F81BD"/>
          </a:solidFill>
          <a:ln>
            <a:noFill/>
          </a:ln>
        </p:spPr>
        <p:txBody>
          <a:bodyPr rtlCol="0" anchor="ctr"/>
          <a:lstStyle/>
          <a:p>
            <a:pPr algn="ctr"/>
          </a:p>
        </p:txBody>
      </p:sp>
      <p:sp>
        <p:nvSpPr>
          <p:cNvPr id="35" name="Label TextBox 34"/>
          <p:cNvSpPr txBox="1"/>
          <p:nvPr/>
        </p:nvSpPr>
        <p:spPr>
          <a:xfrm>
            <a:off x="4860836" y="4224528"/>
            <a:ext cx="457200" cy="310896"/>
          </a:xfrm>
          <a:prstGeom prst="rect">
            <a:avLst/>
          </a:prstGeom>
          <a:noFill/>
        </p:spPr>
        <p:txBody>
          <a:bodyPr wrap="square" anchor="ctr" lIns="0" rIns="0" tIns="0" bIns="0">
            <a:spAutoFit/>
          </a:bodyPr>
          <a:lstStyle/>
          <a:p>
            <a:pPr algn="l">
              <a:spcAft>
                <a:spcPts val="0"/>
              </a:spcAft>
            </a:pPr>
            <a:r>
              <a:rPr sz="1000" b="1" i="0">
                <a:solidFill>
                  <a:srgbClr val="1F497D"/>
                </a:solidFill>
                <a:latin typeface="Arial"/>
              </a:rPr>
              <a:t>8</a:t>
            </a:r>
          </a:p>
        </p:txBody>
      </p:sp>
      <p:sp>
        <p:nvSpPr>
          <p:cNvPr id="36" name="Label TextBox 35"/>
          <p:cNvSpPr txBox="1"/>
          <p:nvPr/>
        </p:nvSpPr>
        <p:spPr>
          <a:xfrm>
            <a:off x="457200" y="4535424"/>
            <a:ext cx="2651760" cy="310896"/>
          </a:xfrm>
          <a:prstGeom prst="rect">
            <a:avLst/>
          </a:prstGeom>
          <a:noFill/>
        </p:spPr>
        <p:txBody>
          <a:bodyPr wrap="square" anchor="ctr" lIns="0" rIns="0" tIns="0" bIns="0">
            <a:spAutoFit/>
          </a:bodyPr>
          <a:lstStyle/>
          <a:p>
            <a:pPr algn="l">
              <a:spcAft>
                <a:spcPts val="0"/>
              </a:spcAft>
            </a:pPr>
            <a:r>
              <a:rPr sz="1000" b="0" i="0">
                <a:solidFill>
                  <a:srgbClr val="404040"/>
                </a:solidFill>
                <a:latin typeface="Arial"/>
              </a:rPr>
              <a:t>In-destination experience</a:t>
            </a:r>
          </a:p>
        </p:txBody>
      </p:sp>
      <p:sp>
        <p:nvSpPr>
          <p:cNvPr id="37" name="Label Rectangle 36"/>
          <p:cNvSpPr/>
          <p:nvPr/>
        </p:nvSpPr>
        <p:spPr>
          <a:xfrm>
            <a:off x="3108960" y="4597603"/>
            <a:ext cx="1706156" cy="186537"/>
          </a:xfrm>
          <a:prstGeom prst="rect">
            <a:avLst/>
          </a:prstGeom>
          <a:solidFill>
            <a:srgbClr val="4F81BD"/>
          </a:solidFill>
          <a:ln>
            <a:noFill/>
          </a:ln>
        </p:spPr>
        <p:txBody>
          <a:bodyPr rtlCol="0" anchor="ctr"/>
          <a:lstStyle/>
          <a:p>
            <a:pPr algn="ctr"/>
          </a:p>
        </p:txBody>
      </p:sp>
      <p:sp>
        <p:nvSpPr>
          <p:cNvPr id="38" name="Label TextBox 37"/>
          <p:cNvSpPr txBox="1"/>
          <p:nvPr/>
        </p:nvSpPr>
        <p:spPr>
          <a:xfrm>
            <a:off x="4860836" y="4535424"/>
            <a:ext cx="457200" cy="310896"/>
          </a:xfrm>
          <a:prstGeom prst="rect">
            <a:avLst/>
          </a:prstGeom>
          <a:noFill/>
        </p:spPr>
        <p:txBody>
          <a:bodyPr wrap="square" anchor="ctr" lIns="0" rIns="0" tIns="0" bIns="0">
            <a:spAutoFit/>
          </a:bodyPr>
          <a:lstStyle/>
          <a:p>
            <a:pPr algn="l">
              <a:spcAft>
                <a:spcPts val="0"/>
              </a:spcAft>
            </a:pPr>
            <a:r>
              <a:rPr sz="1000" b="1" i="0">
                <a:solidFill>
                  <a:srgbClr val="1F497D"/>
                </a:solidFill>
                <a:latin typeface="Arial"/>
              </a:rPr>
              <a:t>8</a:t>
            </a:r>
          </a:p>
        </p:txBody>
      </p:sp>
      <p:sp>
        <p:nvSpPr>
          <p:cNvPr id="39" name="Label TextBox 38"/>
          <p:cNvSpPr txBox="1"/>
          <p:nvPr/>
        </p:nvSpPr>
        <p:spPr>
          <a:xfrm>
            <a:off x="457200" y="4846320"/>
            <a:ext cx="2651760" cy="310896"/>
          </a:xfrm>
          <a:prstGeom prst="rect">
            <a:avLst/>
          </a:prstGeom>
          <a:noFill/>
        </p:spPr>
        <p:txBody>
          <a:bodyPr wrap="square" anchor="ctr" lIns="0" rIns="0" tIns="0" bIns="0">
            <a:spAutoFit/>
          </a:bodyPr>
          <a:lstStyle/>
          <a:p>
            <a:pPr algn="l">
              <a:spcAft>
                <a:spcPts val="0"/>
              </a:spcAft>
            </a:pPr>
            <a:r>
              <a:rPr sz="1000" b="0" i="0">
                <a:solidFill>
                  <a:srgbClr val="404040"/>
                </a:solidFill>
                <a:latin typeface="Arial"/>
              </a:rPr>
              <a:t>Growth markets</a:t>
            </a:r>
          </a:p>
        </p:txBody>
      </p:sp>
      <p:sp>
        <p:nvSpPr>
          <p:cNvPr id="40" name="Label Rectangle 39"/>
          <p:cNvSpPr/>
          <p:nvPr/>
        </p:nvSpPr>
        <p:spPr>
          <a:xfrm>
            <a:off x="3108960" y="4908499"/>
            <a:ext cx="1706156" cy="186537"/>
          </a:xfrm>
          <a:prstGeom prst="rect">
            <a:avLst/>
          </a:prstGeom>
          <a:solidFill>
            <a:srgbClr val="4F81BD"/>
          </a:solidFill>
          <a:ln>
            <a:noFill/>
          </a:ln>
        </p:spPr>
        <p:txBody>
          <a:bodyPr rtlCol="0" anchor="ctr"/>
          <a:lstStyle/>
          <a:p>
            <a:pPr algn="ctr"/>
          </a:p>
        </p:txBody>
      </p:sp>
      <p:sp>
        <p:nvSpPr>
          <p:cNvPr id="41" name="Label TextBox 40"/>
          <p:cNvSpPr txBox="1"/>
          <p:nvPr/>
        </p:nvSpPr>
        <p:spPr>
          <a:xfrm>
            <a:off x="4860836" y="4846320"/>
            <a:ext cx="457200" cy="310896"/>
          </a:xfrm>
          <a:prstGeom prst="rect">
            <a:avLst/>
          </a:prstGeom>
          <a:noFill/>
        </p:spPr>
        <p:txBody>
          <a:bodyPr wrap="square" anchor="ctr" lIns="0" rIns="0" tIns="0" bIns="0">
            <a:spAutoFit/>
          </a:bodyPr>
          <a:lstStyle/>
          <a:p>
            <a:pPr algn="l">
              <a:spcAft>
                <a:spcPts val="0"/>
              </a:spcAft>
            </a:pPr>
            <a:r>
              <a:rPr sz="1000" b="1" i="0">
                <a:solidFill>
                  <a:srgbClr val="1F497D"/>
                </a:solidFill>
                <a:latin typeface="Arial"/>
              </a:rPr>
              <a:t>8</a:t>
            </a:r>
          </a:p>
        </p:txBody>
      </p:sp>
      <p:sp>
        <p:nvSpPr>
          <p:cNvPr id="42" name="TextBox 41"/>
          <p:cNvSpPr txBox="1"/>
          <p:nvPr/>
        </p:nvSpPr>
        <p:spPr>
          <a:xfrm>
            <a:off x="457200" y="5212080"/>
            <a:ext cx="6521272"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Letsema tally of the sixteen organisations in the report’s appendix.</a:t>
            </a:r>
          </a:p>
        </p:txBody>
      </p:sp>
      <p:sp>
        <p:nvSpPr>
          <p:cNvPr id="43" name="TextBox 42"/>
          <p:cNvSpPr txBox="1"/>
          <p:nvPr/>
        </p:nvSpPr>
        <p:spPr>
          <a:xfrm>
            <a:off x="7975396" y="1417320"/>
            <a:ext cx="3759098"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DEDAT, RATED HIGH IMPACT</a:t>
            </a:r>
          </a:p>
        </p:txBody>
      </p:sp>
      <p:sp>
        <p:nvSpPr>
          <p:cNvPr id="44" name="Rectangle 43"/>
          <p:cNvSpPr/>
          <p:nvPr/>
        </p:nvSpPr>
        <p:spPr>
          <a:xfrm>
            <a:off x="7975396" y="1737360"/>
            <a:ext cx="3759098" cy="786384"/>
          </a:xfrm>
          <a:prstGeom prst="rect">
            <a:avLst/>
          </a:prstGeom>
          <a:solidFill>
            <a:srgbClr val="F2F2F2"/>
          </a:solidFill>
          <a:ln>
            <a:noFill/>
          </a:ln>
        </p:spPr>
        <p:txBody>
          <a:bodyPr rtlCol="0" anchor="ctr"/>
          <a:lstStyle/>
          <a:p>
            <a:pPr algn="ctr"/>
          </a:p>
        </p:txBody>
      </p:sp>
      <p:sp>
        <p:nvSpPr>
          <p:cNvPr id="45" name="Rectangle 44"/>
          <p:cNvSpPr/>
          <p:nvPr/>
        </p:nvSpPr>
        <p:spPr>
          <a:xfrm>
            <a:off x="7975396" y="1737360"/>
            <a:ext cx="64008" cy="786384"/>
          </a:xfrm>
          <a:prstGeom prst="rect">
            <a:avLst/>
          </a:prstGeom>
          <a:solidFill>
            <a:srgbClr val="00AEEF"/>
          </a:solidFill>
          <a:ln>
            <a:noFill/>
          </a:ln>
        </p:spPr>
        <p:txBody>
          <a:bodyPr rtlCol="0" anchor="ctr"/>
          <a:lstStyle/>
          <a:p>
            <a:pPr algn="ctr"/>
          </a:p>
        </p:txBody>
      </p:sp>
      <p:sp>
        <p:nvSpPr>
          <p:cNvPr id="46" name="TextBox 45"/>
          <p:cNvSpPr txBox="1"/>
          <p:nvPr/>
        </p:nvSpPr>
        <p:spPr>
          <a:xfrm>
            <a:off x="8158276" y="1810512"/>
            <a:ext cx="3484778" cy="402336"/>
          </a:xfrm>
          <a:prstGeom prst="rect">
            <a:avLst/>
          </a:prstGeom>
          <a:noFill/>
        </p:spPr>
        <p:txBody>
          <a:bodyPr wrap="square" anchor="t" lIns="36576" rIns="36576" tIns="21945" bIns="21945">
            <a:spAutoFit/>
          </a:bodyPr>
          <a:lstStyle/>
          <a:p>
            <a:pPr algn="l">
              <a:spcAft>
                <a:spcPts val="0"/>
              </a:spcAft>
            </a:pPr>
            <a:r>
              <a:rPr sz="1000" b="0" i="0">
                <a:solidFill>
                  <a:srgbClr val="404040"/>
                </a:solidFill>
                <a:latin typeface="Arial"/>
              </a:rPr>
              <a:t>“Restrictive bilateral air agreements are limiting airlift growth”</a:t>
            </a:r>
          </a:p>
        </p:txBody>
      </p:sp>
      <p:sp>
        <p:nvSpPr>
          <p:cNvPr id="47" name="TextBox 46"/>
          <p:cNvSpPr txBox="1"/>
          <p:nvPr/>
        </p:nvSpPr>
        <p:spPr>
          <a:xfrm>
            <a:off x="8158276" y="2212848"/>
            <a:ext cx="3484778" cy="274320"/>
          </a:xfrm>
          <a:prstGeom prst="rect">
            <a:avLst/>
          </a:prstGeom>
          <a:noFill/>
        </p:spPr>
        <p:txBody>
          <a:bodyPr wrap="square" anchor="t" lIns="36576" rIns="36576" tIns="21945" bIns="21945">
            <a:spAutoFit/>
          </a:bodyPr>
          <a:lstStyle/>
          <a:p>
            <a:pPr algn="l">
              <a:spcAft>
                <a:spcPts val="0"/>
              </a:spcAft>
            </a:pPr>
            <a:r>
              <a:rPr sz="900" b="0" i="1">
                <a:solidFill>
                  <a:srgbClr val="7F7F7F"/>
                </a:solidFill>
                <a:latin typeface="Arial"/>
              </a:rPr>
              <a:t>DEDAT, p24</a:t>
            </a:r>
          </a:p>
        </p:txBody>
      </p:sp>
      <p:sp>
        <p:nvSpPr>
          <p:cNvPr id="48" name="Rectangle 47"/>
          <p:cNvSpPr/>
          <p:nvPr/>
        </p:nvSpPr>
        <p:spPr>
          <a:xfrm>
            <a:off x="7975396" y="2633472"/>
            <a:ext cx="3759098" cy="786384"/>
          </a:xfrm>
          <a:prstGeom prst="rect">
            <a:avLst/>
          </a:prstGeom>
          <a:solidFill>
            <a:srgbClr val="F2F2F2"/>
          </a:solidFill>
          <a:ln>
            <a:noFill/>
          </a:ln>
        </p:spPr>
        <p:txBody>
          <a:bodyPr rtlCol="0" anchor="ctr"/>
          <a:lstStyle/>
          <a:p>
            <a:pPr algn="ctr"/>
          </a:p>
        </p:txBody>
      </p:sp>
      <p:sp>
        <p:nvSpPr>
          <p:cNvPr id="49" name="Rectangle 48"/>
          <p:cNvSpPr/>
          <p:nvPr/>
        </p:nvSpPr>
        <p:spPr>
          <a:xfrm>
            <a:off x="7975396" y="2633472"/>
            <a:ext cx="64008" cy="786384"/>
          </a:xfrm>
          <a:prstGeom prst="rect">
            <a:avLst/>
          </a:prstGeom>
          <a:solidFill>
            <a:srgbClr val="00AEEF"/>
          </a:solidFill>
          <a:ln>
            <a:noFill/>
          </a:ln>
        </p:spPr>
        <p:txBody>
          <a:bodyPr rtlCol="0" anchor="ctr"/>
          <a:lstStyle/>
          <a:p>
            <a:pPr algn="ctr"/>
          </a:p>
        </p:txBody>
      </p:sp>
      <p:sp>
        <p:nvSpPr>
          <p:cNvPr id="50" name="TextBox 49"/>
          <p:cNvSpPr txBox="1"/>
          <p:nvPr/>
        </p:nvSpPr>
        <p:spPr>
          <a:xfrm>
            <a:off x="8158276" y="2706624"/>
            <a:ext cx="3484778" cy="402336"/>
          </a:xfrm>
          <a:prstGeom prst="rect">
            <a:avLst/>
          </a:prstGeom>
          <a:noFill/>
        </p:spPr>
        <p:txBody>
          <a:bodyPr wrap="square" anchor="t" lIns="36576" rIns="36576" tIns="21945" bIns="21945">
            <a:spAutoFit/>
          </a:bodyPr>
          <a:lstStyle/>
          <a:p>
            <a:pPr algn="l">
              <a:spcAft>
                <a:spcPts val="0"/>
              </a:spcAft>
            </a:pPr>
            <a:r>
              <a:rPr sz="1000" b="0" i="0">
                <a:solidFill>
                  <a:srgbClr val="404040"/>
                </a:solidFill>
                <a:latin typeface="Arial"/>
              </a:rPr>
              <a:t>“Tourism funding is materially below peer destinations”</a:t>
            </a:r>
          </a:p>
        </p:txBody>
      </p:sp>
      <p:sp>
        <p:nvSpPr>
          <p:cNvPr id="51" name="TextBox 50"/>
          <p:cNvSpPr txBox="1"/>
          <p:nvPr/>
        </p:nvSpPr>
        <p:spPr>
          <a:xfrm>
            <a:off x="8158276" y="3108960"/>
            <a:ext cx="3484778" cy="274320"/>
          </a:xfrm>
          <a:prstGeom prst="rect">
            <a:avLst/>
          </a:prstGeom>
          <a:noFill/>
        </p:spPr>
        <p:txBody>
          <a:bodyPr wrap="square" anchor="t" lIns="36576" rIns="36576" tIns="21945" bIns="21945">
            <a:spAutoFit/>
          </a:bodyPr>
          <a:lstStyle/>
          <a:p>
            <a:pPr algn="l">
              <a:spcAft>
                <a:spcPts val="0"/>
              </a:spcAft>
            </a:pPr>
            <a:r>
              <a:rPr sz="900" b="0" i="1">
                <a:solidFill>
                  <a:srgbClr val="7F7F7F"/>
                </a:solidFill>
                <a:latin typeface="Arial"/>
              </a:rPr>
              <a:t>DEDAT, p25</a:t>
            </a:r>
          </a:p>
        </p:txBody>
      </p:sp>
      <p:sp>
        <p:nvSpPr>
          <p:cNvPr id="52" name="Rectangle 51"/>
          <p:cNvSpPr/>
          <p:nvPr/>
        </p:nvSpPr>
        <p:spPr>
          <a:xfrm>
            <a:off x="7975396" y="3529584"/>
            <a:ext cx="3759098" cy="786384"/>
          </a:xfrm>
          <a:prstGeom prst="rect">
            <a:avLst/>
          </a:prstGeom>
          <a:solidFill>
            <a:srgbClr val="F2F2F2"/>
          </a:solidFill>
          <a:ln>
            <a:noFill/>
          </a:ln>
        </p:spPr>
        <p:txBody>
          <a:bodyPr rtlCol="0" anchor="ctr"/>
          <a:lstStyle/>
          <a:p>
            <a:pPr algn="ctr"/>
          </a:p>
        </p:txBody>
      </p:sp>
      <p:sp>
        <p:nvSpPr>
          <p:cNvPr id="53" name="Rectangle 52"/>
          <p:cNvSpPr/>
          <p:nvPr/>
        </p:nvSpPr>
        <p:spPr>
          <a:xfrm>
            <a:off x="7975396" y="3529584"/>
            <a:ext cx="64008" cy="786384"/>
          </a:xfrm>
          <a:prstGeom prst="rect">
            <a:avLst/>
          </a:prstGeom>
          <a:solidFill>
            <a:srgbClr val="00AEEF"/>
          </a:solidFill>
          <a:ln>
            <a:noFill/>
          </a:ln>
        </p:spPr>
        <p:txBody>
          <a:bodyPr rtlCol="0" anchor="ctr"/>
          <a:lstStyle/>
          <a:p>
            <a:pPr algn="ctr"/>
          </a:p>
        </p:txBody>
      </p:sp>
      <p:sp>
        <p:nvSpPr>
          <p:cNvPr id="54" name="TextBox 53"/>
          <p:cNvSpPr txBox="1"/>
          <p:nvPr/>
        </p:nvSpPr>
        <p:spPr>
          <a:xfrm>
            <a:off x="8158276" y="3602736"/>
            <a:ext cx="3484778" cy="402336"/>
          </a:xfrm>
          <a:prstGeom prst="rect">
            <a:avLst/>
          </a:prstGeom>
          <a:noFill/>
        </p:spPr>
        <p:txBody>
          <a:bodyPr wrap="square" anchor="t" lIns="36576" rIns="36576" tIns="21945" bIns="21945">
            <a:spAutoFit/>
          </a:bodyPr>
          <a:lstStyle/>
          <a:p>
            <a:pPr algn="l">
              <a:spcAft>
                <a:spcPts val="0"/>
              </a:spcAft>
            </a:pPr>
            <a:r>
              <a:rPr sz="1000" b="0" i="0">
                <a:solidFill>
                  <a:srgbClr val="404040"/>
                </a:solidFill>
                <a:latin typeface="Arial"/>
              </a:rPr>
              <a:t>“SA Tourism’s institutional weakness is constraining implementation”</a:t>
            </a:r>
          </a:p>
        </p:txBody>
      </p:sp>
      <p:sp>
        <p:nvSpPr>
          <p:cNvPr id="55" name="TextBox 54"/>
          <p:cNvSpPr txBox="1"/>
          <p:nvPr/>
        </p:nvSpPr>
        <p:spPr>
          <a:xfrm>
            <a:off x="8158276" y="4005072"/>
            <a:ext cx="3484778" cy="274320"/>
          </a:xfrm>
          <a:prstGeom prst="rect">
            <a:avLst/>
          </a:prstGeom>
          <a:noFill/>
        </p:spPr>
        <p:txBody>
          <a:bodyPr wrap="square" anchor="t" lIns="36576" rIns="36576" tIns="21945" bIns="21945">
            <a:spAutoFit/>
          </a:bodyPr>
          <a:lstStyle/>
          <a:p>
            <a:pPr algn="l">
              <a:spcAft>
                <a:spcPts val="0"/>
              </a:spcAft>
            </a:pPr>
            <a:r>
              <a:rPr sz="900" b="0" i="1">
                <a:solidFill>
                  <a:srgbClr val="7F7F7F"/>
                </a:solidFill>
                <a:latin typeface="Arial"/>
              </a:rPr>
              <a:t>DEDAT, p25</a:t>
            </a:r>
          </a:p>
        </p:txBody>
      </p:sp>
      <p:sp>
        <p:nvSpPr>
          <p:cNvPr id="56" name="Rectangle 55"/>
          <p:cNvSpPr/>
          <p:nvPr/>
        </p:nvSpPr>
        <p:spPr>
          <a:xfrm>
            <a:off x="7975396" y="4480560"/>
            <a:ext cx="3759098" cy="868680"/>
          </a:xfrm>
          <a:prstGeom prst="rect">
            <a:avLst/>
          </a:prstGeom>
          <a:solidFill>
            <a:srgbClr val="FFFFFF"/>
          </a:solidFill>
          <a:ln w="12700">
            <a:solidFill>
              <a:srgbClr val="1F497D"/>
            </a:solidFill>
          </a:ln>
        </p:spPr>
        <p:txBody>
          <a:bodyPr rtlCol="0" anchor="ctr"/>
          <a:lstStyle/>
          <a:p>
            <a:pPr algn="ctr"/>
          </a:p>
        </p:txBody>
      </p:sp>
      <p:sp>
        <p:nvSpPr>
          <p:cNvPr id="57" name="TextBox 56"/>
          <p:cNvSpPr txBox="1"/>
          <p:nvPr/>
        </p:nvSpPr>
        <p:spPr>
          <a:xfrm>
            <a:off x="8112556" y="4526280"/>
            <a:ext cx="3484778" cy="777240"/>
          </a:xfrm>
          <a:prstGeom prst="rect">
            <a:avLst/>
          </a:prstGeom>
          <a:noFill/>
        </p:spPr>
        <p:txBody>
          <a:bodyPr wrap="square" anchor="ctr" lIns="0" rIns="0" tIns="0" bIns="0">
            <a:spAutoFit/>
          </a:bodyPr>
          <a:lstStyle/>
          <a:p>
            <a:pPr algn="l">
              <a:spcAft>
                <a:spcPts val="200"/>
              </a:spcAft>
            </a:pPr>
            <a:r>
              <a:rPr sz="900" b="1" i="0">
                <a:solidFill>
                  <a:srgbClr val="1F497D"/>
                </a:solidFill>
                <a:latin typeface="Arial"/>
              </a:rPr>
              <a:t>NOT YET HEARD</a:t>
            </a:r>
          </a:p>
          <a:p>
            <a:pPr algn="l">
              <a:spcAft>
                <a:spcPts val="0"/>
              </a:spcAft>
            </a:pPr>
            <a:r>
              <a:rPr sz="1050" b="0" i="0">
                <a:solidFill>
                  <a:srgbClr val="404040"/>
                </a:solidFill>
                <a:latin typeface="Arial"/>
              </a:rPr>
              <a:t>Airlines, SA Tourism, the City of Cape Town and Home Affairs.</a:t>
            </a:r>
          </a:p>
        </p:txBody>
      </p:sp>
      <p:sp>
        <p:nvSpPr>
          <p:cNvPr id="58" name="Rectangle 57"/>
          <p:cNvSpPr/>
          <p:nvPr/>
        </p:nvSpPr>
        <p:spPr>
          <a:xfrm>
            <a:off x="457200" y="5596128"/>
            <a:ext cx="11277295" cy="384048"/>
          </a:xfrm>
          <a:prstGeom prst="rect">
            <a:avLst/>
          </a:prstGeom>
          <a:solidFill>
            <a:srgbClr val="1F497D"/>
          </a:solidFill>
          <a:ln>
            <a:noFill/>
          </a:ln>
        </p:spPr>
        <p:txBody>
          <a:bodyPr rtlCol="0" anchor="ctr"/>
          <a:lstStyle/>
          <a:p>
            <a:pPr algn="ctr"/>
          </a:p>
        </p:txBody>
      </p:sp>
      <p:sp>
        <p:nvSpPr>
          <p:cNvPr id="59" name="TextBox 58"/>
          <p:cNvSpPr txBox="1"/>
          <p:nvPr/>
        </p:nvSpPr>
        <p:spPr>
          <a:xfrm>
            <a:off x="621792" y="5596128"/>
            <a:ext cx="10948111" cy="384048"/>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The coordination problem is agreed; hear the missing voices before the final report.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Airlines withdraw winter seats and run eleven routes above 80% estimated load, so new seats follow proven demand</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03 | WHAT EACH DELIVERABLE FOUND | MIDAS AVIATION, MAR 2026</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MIDAS Aviation Market Assessment (Mar 2026) pp3, 13, 15, 17-19, 22. Load factors and India and China volumes are GDS estimates (year to November 2025).</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9</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TextBox 7"/>
          <p:cNvSpPr txBox="1"/>
          <p:nvPr/>
        </p:nvSpPr>
        <p:spPr>
          <a:xfrm>
            <a:off x="457200" y="1417320"/>
            <a:ext cx="5570067"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SHARE OF ANNUAL INTERNATIONAL SEATS BY MONTH, 2025 (%)</a:t>
            </a:r>
          </a:p>
        </p:txBody>
      </p:sp>
      <p:graphicFrame>
        <p:nvGraphicFramePr>
          <p:cNvPr id="9" name="Chart 8"/>
          <p:cNvGraphicFramePr>
            <a:graphicFrameLocks noGrp="1"/>
          </p:cNvGraphicFramePr>
          <p:nvPr/>
        </p:nvGraphicFramePr>
        <p:xfrm>
          <a:off x="411480" y="1645920"/>
          <a:ext cx="5661507" cy="2606040"/>
        </p:xfrm>
        <a:graphic>
          <a:graphicData uri="http://schemas.openxmlformats.org/drawingml/2006/chart">
            <c:chart xmlns:c="http://schemas.openxmlformats.org/drawingml/2006/chart" r:id="rId4"/>
          </a:graphicData>
        </a:graphic>
      </p:graphicFrame>
      <p:sp>
        <p:nvSpPr>
          <p:cNvPr id="10" name="Label TextBox 9"/>
          <p:cNvSpPr txBox="1"/>
          <p:nvPr/>
        </p:nvSpPr>
        <p:spPr>
          <a:xfrm>
            <a:off x="457200" y="4279392"/>
            <a:ext cx="5570067"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Grey: May to September green season.</a:t>
            </a:r>
          </a:p>
        </p:txBody>
      </p:sp>
      <p:sp>
        <p:nvSpPr>
          <p:cNvPr id="11" name="TextBox 10"/>
          <p:cNvSpPr txBox="1"/>
          <p:nvPr/>
        </p:nvSpPr>
        <p:spPr>
          <a:xfrm>
            <a:off x="6210147" y="1417320"/>
            <a:ext cx="5570067"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ESTIMATED LOAD FACTOR BY ROUTE (%)</a:t>
            </a:r>
          </a:p>
        </p:txBody>
      </p:sp>
      <p:graphicFrame>
        <p:nvGraphicFramePr>
          <p:cNvPr id="12" name="Chart 11"/>
          <p:cNvGraphicFramePr>
            <a:graphicFrameLocks noGrp="1"/>
          </p:cNvGraphicFramePr>
          <p:nvPr/>
        </p:nvGraphicFramePr>
        <p:xfrm>
          <a:off x="6164427" y="1645920"/>
          <a:ext cx="5615787" cy="2606040"/>
        </p:xfrm>
        <a:graphic>
          <a:graphicData uri="http://schemas.openxmlformats.org/drawingml/2006/chart">
            <c:chart xmlns:c="http://schemas.openxmlformats.org/drawingml/2006/chart" r:id="rId5"/>
          </a:graphicData>
        </a:graphic>
      </p:graphicFrame>
      <p:cxnSp>
        <p:nvCxnSpPr>
          <p:cNvPr id="13" name="Connector 12"/>
          <p:cNvCxnSpPr/>
          <p:nvPr/>
        </p:nvCxnSpPr>
        <p:spPr>
          <a:xfrm>
            <a:off x="10825531" y="1664208"/>
            <a:ext cx="0" cy="2569464"/>
          </a:xfrm>
          <a:prstGeom prst="line">
            <a:avLst/>
          </a:prstGeom>
          <a:ln w="19050">
            <a:solidFill>
              <a:srgbClr val="00AEEF"/>
            </a:solidFill>
            <a:prstDash val="dash"/>
          </a:ln>
        </p:spPr>
      </p:cxnSp>
      <p:sp>
        <p:nvSpPr>
          <p:cNvPr id="14" name="TextBox 13"/>
          <p:cNvSpPr txBox="1"/>
          <p:nvPr/>
        </p:nvSpPr>
        <p:spPr>
          <a:xfrm>
            <a:off x="10414051" y="4251960"/>
            <a:ext cx="822960" cy="201168"/>
          </a:xfrm>
          <a:prstGeom prst="rect">
            <a:avLst/>
          </a:prstGeom>
          <a:noFill/>
        </p:spPr>
        <p:txBody>
          <a:bodyPr wrap="square" anchor="t" lIns="0" rIns="0" tIns="0" bIns="0">
            <a:spAutoFit/>
          </a:bodyPr>
          <a:lstStyle/>
          <a:p>
            <a:pPr algn="ctr">
              <a:spcAft>
                <a:spcPts val="0"/>
              </a:spcAft>
            </a:pPr>
            <a:r>
              <a:rPr sz="900" b="1" i="0">
                <a:solidFill>
                  <a:srgbClr val="00AEEF"/>
                </a:solidFill>
                <a:latin typeface="Arial"/>
              </a:rPr>
              <a:t>80%</a:t>
            </a:r>
          </a:p>
        </p:txBody>
      </p:sp>
      <p:sp>
        <p:nvSpPr>
          <p:cNvPr id="15" name="TextBox 14"/>
          <p:cNvSpPr txBox="1"/>
          <p:nvPr/>
        </p:nvSpPr>
        <p:spPr>
          <a:xfrm>
            <a:off x="7033107" y="4279392"/>
            <a:ext cx="4747107"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Top 16 of 27 routes; network average 76.0%.</a:t>
            </a:r>
          </a:p>
        </p:txBody>
      </p:sp>
      <p:sp>
        <p:nvSpPr>
          <p:cNvPr id="16" name="TextBox 15"/>
          <p:cNvSpPr txBox="1"/>
          <p:nvPr/>
        </p:nvSpPr>
        <p:spPr>
          <a:xfrm>
            <a:off x="457200" y="4572000"/>
            <a:ext cx="3484778" cy="914400"/>
          </a:xfrm>
          <a:prstGeom prst="rect">
            <a:avLst/>
          </a:prstGeom>
          <a:noFill/>
        </p:spPr>
        <p:txBody>
          <a:bodyPr wrap="square" anchor="t" lIns="0" rIns="0" tIns="0" bIns="0">
            <a:spAutoFit/>
          </a:bodyPr>
          <a:lstStyle/>
          <a:p>
            <a:pPr algn="l">
              <a:spcAft>
                <a:spcPts val="0"/>
              </a:spcAft>
            </a:pPr>
            <a:r>
              <a:rPr sz="1800" b="1" i="0">
                <a:solidFill>
                  <a:srgbClr val="1F497D"/>
                </a:solidFill>
                <a:latin typeface="Arial"/>
              </a:rPr>
              <a:t>17</a:t>
            </a:r>
          </a:p>
          <a:p>
            <a:pPr algn="l">
              <a:spcAft>
                <a:spcPts val="0"/>
              </a:spcAft>
            </a:pPr>
            <a:r>
              <a:rPr sz="1000" b="0" i="0">
                <a:solidFill>
                  <a:srgbClr val="404040"/>
                </a:solidFill>
                <a:latin typeface="Arial"/>
              </a:rPr>
              <a:t>mainline routes added in 2015-25, more than any peer airport</a:t>
            </a:r>
          </a:p>
        </p:txBody>
      </p:sp>
      <p:sp>
        <p:nvSpPr>
          <p:cNvPr id="17" name="TextBox 16"/>
          <p:cNvSpPr txBox="1"/>
          <p:nvPr/>
        </p:nvSpPr>
        <p:spPr>
          <a:xfrm>
            <a:off x="4262018" y="4572000"/>
            <a:ext cx="3484778" cy="914400"/>
          </a:xfrm>
          <a:prstGeom prst="rect">
            <a:avLst/>
          </a:prstGeom>
          <a:noFill/>
        </p:spPr>
        <p:txBody>
          <a:bodyPr wrap="square" anchor="t" lIns="0" rIns="0" tIns="0" bIns="0">
            <a:spAutoFit/>
          </a:bodyPr>
          <a:lstStyle/>
          <a:p>
            <a:pPr algn="l">
              <a:spcAft>
                <a:spcPts val="0"/>
              </a:spcAft>
            </a:pPr>
            <a:r>
              <a:rPr sz="1800" b="1" i="0">
                <a:solidFill>
                  <a:srgbClr val="1F497D"/>
                </a:solidFill>
                <a:latin typeface="Arial"/>
              </a:rPr>
              <a:t>101,000</a:t>
            </a:r>
          </a:p>
          <a:p>
            <a:pPr algn="l">
              <a:spcAft>
                <a:spcPts val="0"/>
              </a:spcAft>
            </a:pPr>
            <a:r>
              <a:rPr sz="1000" b="0" i="0">
                <a:solidFill>
                  <a:srgbClr val="404040"/>
                </a:solidFill>
                <a:latin typeface="Arial"/>
              </a:rPr>
              <a:t>India and China passenger journeys a year already route via hubs</a:t>
            </a:r>
          </a:p>
        </p:txBody>
      </p:sp>
      <p:sp>
        <p:nvSpPr>
          <p:cNvPr id="18" name="TextBox 17"/>
          <p:cNvSpPr txBox="1"/>
          <p:nvPr/>
        </p:nvSpPr>
        <p:spPr>
          <a:xfrm>
            <a:off x="8066836" y="4572000"/>
            <a:ext cx="3484778" cy="914400"/>
          </a:xfrm>
          <a:prstGeom prst="rect">
            <a:avLst/>
          </a:prstGeom>
          <a:noFill/>
        </p:spPr>
        <p:txBody>
          <a:bodyPr wrap="square" anchor="t" lIns="0" rIns="0" tIns="0" bIns="0">
            <a:spAutoFit/>
          </a:bodyPr>
          <a:lstStyle/>
          <a:p>
            <a:pPr algn="l">
              <a:spcAft>
                <a:spcPts val="0"/>
              </a:spcAft>
            </a:pPr>
            <a:r>
              <a:rPr sz="1800" b="1" i="0">
                <a:solidFill>
                  <a:srgbClr val="1F497D"/>
                </a:solidFill>
                <a:latin typeface="Arial"/>
              </a:rPr>
              <a:t>Fares first</a:t>
            </a:r>
          </a:p>
          <a:p>
            <a:pPr algn="l">
              <a:spcAft>
                <a:spcPts val="0"/>
              </a:spcAft>
            </a:pPr>
            <a:r>
              <a:rPr sz="1000" b="0" i="0">
                <a:solidFill>
                  <a:srgbClr val="404040"/>
                </a:solidFill>
                <a:latin typeface="Arial"/>
              </a:rPr>
              <a:t>Airlines will raise fares before adding seats on long-haul routes</a:t>
            </a:r>
          </a:p>
        </p:txBody>
      </p:sp>
      <p:sp>
        <p:nvSpPr>
          <p:cNvPr id="19" name="Rectangle 18"/>
          <p:cNvSpPr/>
          <p:nvPr/>
        </p:nvSpPr>
        <p:spPr>
          <a:xfrm>
            <a:off x="457200" y="5596128"/>
            <a:ext cx="11277295" cy="384048"/>
          </a:xfrm>
          <a:prstGeom prst="rect">
            <a:avLst/>
          </a:prstGeom>
          <a:solidFill>
            <a:srgbClr val="1F497D"/>
          </a:solidFill>
          <a:ln>
            <a:noFill/>
          </a:ln>
        </p:spPr>
        <p:txBody>
          <a:bodyPr rtlCol="0" anchor="ctr"/>
          <a:lstStyle/>
          <a:p>
            <a:pPr algn="ctr"/>
          </a:p>
        </p:txBody>
      </p:sp>
      <p:sp>
        <p:nvSpPr>
          <p:cNvPr id="20" name="TextBox 19"/>
          <p:cNvSpPr txBox="1"/>
          <p:nvPr/>
        </p:nvSpPr>
        <p:spPr>
          <a:xfrm>
            <a:off x="621792" y="5596128"/>
            <a:ext cx="10948111" cy="384048"/>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Hold winter seats with demand, buy frequency on full routes and convert hub traffic now.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No modelled scenario reaches 2.8m by 2035; the accelerated case stops at 2.52m and needs direct India and China routes</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03 | WHAT EACH DELIVERABLE FOUND | DEMAND-SIDE ANALYSIS, JUN 2026</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Demand-Side Analysis (Jun 2026) pp18 (four levers), 19-21 (scenarios, base path, seat ceiling), 53 (three levers). Conservative and accelerated cases report 2024 and 2035 values only.</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10</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TextBox 7"/>
          <p:cNvSpPr txBox="1"/>
          <p:nvPr/>
        </p:nvSpPr>
        <p:spPr>
          <a:xfrm>
            <a:off x="457200" y="1417320"/>
            <a:ext cx="7472476"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ARRIVALS, MILLIONS: BASE CASE BY YEAR AND 2035 SCENARIOS</a:t>
            </a:r>
          </a:p>
        </p:txBody>
      </p:sp>
      <p:graphicFrame>
        <p:nvGraphicFramePr>
          <p:cNvPr id="9" name="Chart 8"/>
          <p:cNvGraphicFramePr>
            <a:graphicFrameLocks noGrp="1"/>
          </p:cNvGraphicFramePr>
          <p:nvPr/>
        </p:nvGraphicFramePr>
        <p:xfrm>
          <a:off x="411480" y="1691640"/>
          <a:ext cx="7563916" cy="2651760"/>
        </p:xfrm>
        <a:graphic>
          <a:graphicData uri="http://schemas.openxmlformats.org/drawingml/2006/chart">
            <c:chart xmlns:c="http://schemas.openxmlformats.org/drawingml/2006/chart" r:id="rId4"/>
          </a:graphicData>
        </a:graphic>
      </p:graphicFrame>
      <p:cxnSp>
        <p:nvCxnSpPr>
          <p:cNvPr id="10" name="Label Connector 9"/>
          <p:cNvCxnSpPr/>
          <p:nvPr/>
        </p:nvCxnSpPr>
        <p:spPr>
          <a:xfrm>
            <a:off x="487119" y="2955125"/>
            <a:ext cx="7412638" cy="0"/>
          </a:xfrm>
          <a:prstGeom prst="line">
            <a:avLst/>
          </a:prstGeom>
          <a:ln w="19050">
            <a:solidFill>
              <a:srgbClr val="D9262B"/>
            </a:solidFill>
            <a:prstDash val="dash"/>
          </a:ln>
        </p:spPr>
      </p:cxnSp>
      <p:sp>
        <p:nvSpPr>
          <p:cNvPr id="11" name="Label TextBox 10"/>
          <p:cNvSpPr txBox="1"/>
          <p:nvPr/>
        </p:nvSpPr>
        <p:spPr>
          <a:xfrm>
            <a:off x="4751822" y="3046565"/>
            <a:ext cx="1107023" cy="365760"/>
          </a:xfrm>
          <a:prstGeom prst="rect">
            <a:avLst/>
          </a:prstGeom>
          <a:noFill/>
        </p:spPr>
        <p:txBody>
          <a:bodyPr wrap="square" anchor="t" lIns="0" rIns="0" tIns="0" bIns="0">
            <a:spAutoFit/>
          </a:bodyPr>
          <a:lstStyle/>
          <a:p>
            <a:pPr algn="ctr">
              <a:spcAft>
                <a:spcPts val="0"/>
              </a:spcAft>
            </a:pPr>
            <a:r>
              <a:rPr sz="850" b="1" i="0">
                <a:solidFill>
                  <a:srgbClr val="D9262B"/>
                </a:solidFill>
                <a:latin typeface="Arial"/>
              </a:rPr>
              <a:t>Seat ceiling
1.8m</a:t>
            </a:r>
          </a:p>
        </p:txBody>
      </p:sp>
      <p:sp>
        <p:nvSpPr>
          <p:cNvPr id="12" name="Label TextBox 11"/>
          <p:cNvSpPr txBox="1"/>
          <p:nvPr/>
        </p:nvSpPr>
        <p:spPr>
          <a:xfrm>
            <a:off x="487119" y="1709928"/>
            <a:ext cx="4447583" cy="228600"/>
          </a:xfrm>
          <a:prstGeom prst="rect">
            <a:avLst/>
          </a:prstGeom>
          <a:noFill/>
        </p:spPr>
        <p:txBody>
          <a:bodyPr wrap="square" anchor="t" lIns="0" rIns="0" tIns="0" bIns="0">
            <a:spAutoFit/>
          </a:bodyPr>
          <a:lstStyle/>
          <a:p>
            <a:pPr algn="ctr">
              <a:spcAft>
                <a:spcPts val="0"/>
              </a:spcAft>
            </a:pPr>
            <a:r>
              <a:rPr sz="850" b="1" i="0">
                <a:solidFill>
                  <a:srgbClr val="1F497D"/>
                </a:solidFill>
                <a:latin typeface="Arial"/>
              </a:rPr>
              <a:t>BASE CASE, BY YEAR</a:t>
            </a:r>
          </a:p>
        </p:txBody>
      </p:sp>
      <p:sp>
        <p:nvSpPr>
          <p:cNvPr id="13" name="Label TextBox 12"/>
          <p:cNvSpPr txBox="1"/>
          <p:nvPr/>
        </p:nvSpPr>
        <p:spPr>
          <a:xfrm>
            <a:off x="5675966" y="1709928"/>
            <a:ext cx="2223791" cy="228600"/>
          </a:xfrm>
          <a:prstGeom prst="rect">
            <a:avLst/>
          </a:prstGeom>
          <a:noFill/>
        </p:spPr>
        <p:txBody>
          <a:bodyPr wrap="square" anchor="t" lIns="0" rIns="0" tIns="0" bIns="0">
            <a:spAutoFit/>
          </a:bodyPr>
          <a:lstStyle/>
          <a:p>
            <a:pPr algn="ctr">
              <a:spcAft>
                <a:spcPts val="0"/>
              </a:spcAft>
            </a:pPr>
            <a:r>
              <a:rPr sz="850" b="1" i="0">
                <a:solidFill>
                  <a:srgbClr val="1F497D"/>
                </a:solidFill>
                <a:latin typeface="Arial"/>
              </a:rPr>
              <a:t>2035 SCENARIOS</a:t>
            </a:r>
          </a:p>
        </p:txBody>
      </p:sp>
      <p:sp>
        <p:nvSpPr>
          <p:cNvPr id="14" name="TextBox 13"/>
          <p:cNvSpPr txBox="1"/>
          <p:nvPr/>
        </p:nvSpPr>
        <p:spPr>
          <a:xfrm>
            <a:off x="457200" y="4370832"/>
            <a:ext cx="7472476"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Base case meets the inbound seat ceiling in 2030; accelerated needs direct India and China routes.</a:t>
            </a:r>
          </a:p>
        </p:txBody>
      </p:sp>
      <p:sp>
        <p:nvSpPr>
          <p:cNvPr id="15" name="TextBox 14"/>
          <p:cNvSpPr txBox="1"/>
          <p:nvPr/>
        </p:nvSpPr>
        <p:spPr>
          <a:xfrm>
            <a:off x="457200" y="4773168"/>
            <a:ext cx="7472476"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THE REPORT’S THREE LEVERS</a:t>
            </a:r>
          </a:p>
        </p:txBody>
      </p:sp>
      <p:sp>
        <p:nvSpPr>
          <p:cNvPr id="16" name="Label Rounded Rectangle 15"/>
          <p:cNvSpPr/>
          <p:nvPr/>
        </p:nvSpPr>
        <p:spPr>
          <a:xfrm>
            <a:off x="457200" y="5047488"/>
            <a:ext cx="2399385" cy="365760"/>
          </a:xfrm>
          <a:prstGeom prst="roundRect">
            <a:avLst/>
          </a:prstGeom>
          <a:solidFill>
            <a:srgbClr val="1F497D"/>
          </a:solidFill>
          <a:ln>
            <a:noFill/>
          </a:ln>
        </p:spPr>
        <p:txBody>
          <a:bodyPr rtlCol="0" anchor="ctr" wrap="square" lIns="45720" rIns="45720" tIns="27432" bIns="27432"/>
          <a:lstStyle/>
          <a:p>
            <a:pPr algn="ctr">
              <a:spcAft>
                <a:spcPts val="0"/>
              </a:spcAft>
            </a:pPr>
            <a:r>
              <a:rPr sz="1050" b="1" i="0">
                <a:solidFill>
                  <a:srgbClr val="FFFFFF"/>
                </a:solidFill>
                <a:latin typeface="Arial"/>
              </a:rPr>
              <a:t>1  Air access</a:t>
            </a:r>
          </a:p>
        </p:txBody>
      </p:sp>
      <p:sp>
        <p:nvSpPr>
          <p:cNvPr id="17" name="Label Rounded Rectangle 16"/>
          <p:cNvSpPr/>
          <p:nvPr/>
        </p:nvSpPr>
        <p:spPr>
          <a:xfrm>
            <a:off x="2993745" y="5047488"/>
            <a:ext cx="2399385" cy="365760"/>
          </a:xfrm>
          <a:prstGeom prst="roundRect">
            <a:avLst/>
          </a:prstGeom>
          <a:solidFill>
            <a:srgbClr val="1F497D"/>
          </a:solidFill>
          <a:ln>
            <a:noFill/>
          </a:ln>
        </p:spPr>
        <p:txBody>
          <a:bodyPr rtlCol="0" anchor="ctr" wrap="square" lIns="45720" rIns="45720" tIns="27432" bIns="27432"/>
          <a:lstStyle/>
          <a:p>
            <a:pPr algn="ctr">
              <a:spcAft>
                <a:spcPts val="0"/>
              </a:spcAft>
            </a:pPr>
            <a:r>
              <a:rPr sz="1050" b="1" i="0">
                <a:solidFill>
                  <a:srgbClr val="FFFFFF"/>
                </a:solidFill>
                <a:latin typeface="Arial"/>
              </a:rPr>
              <a:t>2  Market activation</a:t>
            </a:r>
          </a:p>
        </p:txBody>
      </p:sp>
      <p:sp>
        <p:nvSpPr>
          <p:cNvPr id="18" name="Label Rounded Rectangle 17"/>
          <p:cNvSpPr/>
          <p:nvPr/>
        </p:nvSpPr>
        <p:spPr>
          <a:xfrm>
            <a:off x="5530291" y="5047488"/>
            <a:ext cx="2399385" cy="365760"/>
          </a:xfrm>
          <a:prstGeom prst="roundRect">
            <a:avLst/>
          </a:prstGeom>
          <a:solidFill>
            <a:srgbClr val="1F497D"/>
          </a:solidFill>
          <a:ln>
            <a:noFill/>
          </a:ln>
        </p:spPr>
        <p:txBody>
          <a:bodyPr rtlCol="0" anchor="ctr" wrap="square" lIns="45720" rIns="45720" tIns="27432" bIns="27432"/>
          <a:lstStyle/>
          <a:p>
            <a:pPr algn="ctr">
              <a:spcAft>
                <a:spcPts val="0"/>
              </a:spcAft>
            </a:pPr>
            <a:r>
              <a:rPr sz="1050" b="1" i="0">
                <a:solidFill>
                  <a:srgbClr val="FFFFFF"/>
                </a:solidFill>
                <a:latin typeface="Arial"/>
              </a:rPr>
              <a:t>3  Seasonality and spread</a:t>
            </a:r>
          </a:p>
        </p:txBody>
      </p:sp>
      <p:sp>
        <p:nvSpPr>
          <p:cNvPr id="19" name="TextBox 18"/>
          <p:cNvSpPr txBox="1"/>
          <p:nvPr/>
        </p:nvSpPr>
        <p:spPr>
          <a:xfrm>
            <a:off x="8158276" y="1417320"/>
            <a:ext cx="3576218"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HOW THE MODEL BUILDS GROWTH</a:t>
            </a:r>
          </a:p>
        </p:txBody>
      </p:sp>
      <p:sp>
        <p:nvSpPr>
          <p:cNvPr id="20" name="Rectangle 19"/>
          <p:cNvSpPr/>
          <p:nvPr/>
        </p:nvSpPr>
        <p:spPr>
          <a:xfrm>
            <a:off x="8158276" y="1737360"/>
            <a:ext cx="3576218" cy="841248"/>
          </a:xfrm>
          <a:prstGeom prst="rect">
            <a:avLst/>
          </a:prstGeom>
          <a:solidFill>
            <a:srgbClr val="F2F2F2"/>
          </a:solidFill>
          <a:ln>
            <a:noFill/>
          </a:ln>
        </p:spPr>
        <p:txBody>
          <a:bodyPr rtlCol="0" anchor="ctr"/>
          <a:lstStyle/>
          <a:p>
            <a:pPr algn="ctr"/>
          </a:p>
        </p:txBody>
      </p:sp>
      <p:sp>
        <p:nvSpPr>
          <p:cNvPr id="21" name="Label num"/>
          <p:cNvSpPr txBox="1"/>
          <p:nvPr/>
        </p:nvSpPr>
        <p:spPr>
          <a:xfrm>
            <a:off x="8268004" y="1810512"/>
            <a:ext cx="411480" cy="457200"/>
          </a:xfrm>
          <a:prstGeom prst="rect">
            <a:avLst/>
          </a:prstGeom>
          <a:noFill/>
        </p:spPr>
        <p:txBody>
          <a:bodyPr wrap="square" anchor="t" lIns="0" rIns="0" tIns="0" bIns="0">
            <a:spAutoFit/>
          </a:bodyPr>
          <a:lstStyle/>
          <a:p>
            <a:pPr algn="l">
              <a:spcAft>
                <a:spcPts val="0"/>
              </a:spcAft>
            </a:pPr>
            <a:r>
              <a:rPr sz="2000" b="1" i="0">
                <a:solidFill>
                  <a:srgbClr val="00AEEF"/>
                </a:solidFill>
                <a:latin typeface="Arial"/>
              </a:rPr>
              <a:t>1</a:t>
            </a:r>
          </a:p>
        </p:txBody>
      </p:sp>
      <p:sp>
        <p:nvSpPr>
          <p:cNvPr id="22" name="TextBox 21"/>
          <p:cNvSpPr txBox="1"/>
          <p:nvPr/>
        </p:nvSpPr>
        <p:spPr>
          <a:xfrm>
            <a:off x="8661196" y="1828800"/>
            <a:ext cx="2981858" cy="274320"/>
          </a:xfrm>
          <a:prstGeom prst="rect">
            <a:avLst/>
          </a:prstGeom>
          <a:noFill/>
        </p:spPr>
        <p:txBody>
          <a:bodyPr wrap="square" anchor="t" lIns="0" rIns="0" tIns="0" bIns="0">
            <a:spAutoFit/>
          </a:bodyPr>
          <a:lstStyle/>
          <a:p>
            <a:pPr algn="l">
              <a:spcAft>
                <a:spcPts val="0"/>
              </a:spcAft>
            </a:pPr>
            <a:r>
              <a:rPr sz="1100" b="1" i="0">
                <a:solidFill>
                  <a:srgbClr val="1F497D"/>
                </a:solidFill>
                <a:latin typeface="Arial"/>
              </a:rPr>
              <a:t>Source market growth</a:t>
            </a:r>
          </a:p>
        </p:txBody>
      </p:sp>
      <p:sp>
        <p:nvSpPr>
          <p:cNvPr id="23" name="TextBox 22"/>
          <p:cNvSpPr txBox="1"/>
          <p:nvPr/>
        </p:nvSpPr>
        <p:spPr>
          <a:xfrm>
            <a:off x="8661196" y="2103120"/>
            <a:ext cx="2981858" cy="457200"/>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Outbound growth of each origin country.</a:t>
            </a:r>
          </a:p>
        </p:txBody>
      </p:sp>
      <p:sp>
        <p:nvSpPr>
          <p:cNvPr id="24" name="Rectangle 23"/>
          <p:cNvSpPr/>
          <p:nvPr/>
        </p:nvSpPr>
        <p:spPr>
          <a:xfrm>
            <a:off x="8158276" y="2670048"/>
            <a:ext cx="3576218" cy="841248"/>
          </a:xfrm>
          <a:prstGeom prst="rect">
            <a:avLst/>
          </a:prstGeom>
          <a:solidFill>
            <a:srgbClr val="F2F2F2"/>
          </a:solidFill>
          <a:ln>
            <a:noFill/>
          </a:ln>
        </p:spPr>
        <p:txBody>
          <a:bodyPr rtlCol="0" anchor="ctr"/>
          <a:lstStyle/>
          <a:p>
            <a:pPr algn="ctr"/>
          </a:p>
        </p:txBody>
      </p:sp>
      <p:sp>
        <p:nvSpPr>
          <p:cNvPr id="25" name="Label num"/>
          <p:cNvSpPr txBox="1"/>
          <p:nvPr/>
        </p:nvSpPr>
        <p:spPr>
          <a:xfrm>
            <a:off x="8268004" y="2743200"/>
            <a:ext cx="411480" cy="457200"/>
          </a:xfrm>
          <a:prstGeom prst="rect">
            <a:avLst/>
          </a:prstGeom>
          <a:noFill/>
        </p:spPr>
        <p:txBody>
          <a:bodyPr wrap="square" anchor="t" lIns="0" rIns="0" tIns="0" bIns="0">
            <a:spAutoFit/>
          </a:bodyPr>
          <a:lstStyle/>
          <a:p>
            <a:pPr algn="l">
              <a:spcAft>
                <a:spcPts val="0"/>
              </a:spcAft>
            </a:pPr>
            <a:r>
              <a:rPr sz="2000" b="1" i="0">
                <a:solidFill>
                  <a:srgbClr val="00AEEF"/>
                </a:solidFill>
                <a:latin typeface="Arial"/>
              </a:rPr>
              <a:t>2</a:t>
            </a:r>
          </a:p>
        </p:txBody>
      </p:sp>
      <p:sp>
        <p:nvSpPr>
          <p:cNvPr id="26" name="TextBox 25"/>
          <p:cNvSpPr txBox="1"/>
          <p:nvPr/>
        </p:nvSpPr>
        <p:spPr>
          <a:xfrm>
            <a:off x="8661196" y="2761488"/>
            <a:ext cx="2981858" cy="274320"/>
          </a:xfrm>
          <a:prstGeom prst="rect">
            <a:avLst/>
          </a:prstGeom>
          <a:noFill/>
        </p:spPr>
        <p:txBody>
          <a:bodyPr wrap="square" anchor="t" lIns="0" rIns="0" tIns="0" bIns="0">
            <a:spAutoFit/>
          </a:bodyPr>
          <a:lstStyle/>
          <a:p>
            <a:pPr algn="l">
              <a:spcAft>
                <a:spcPts val="0"/>
              </a:spcAft>
            </a:pPr>
            <a:r>
              <a:rPr sz="1100" b="1" i="0">
                <a:solidFill>
                  <a:srgbClr val="1F497D"/>
                </a:solidFill>
                <a:latin typeface="Arial"/>
              </a:rPr>
              <a:t>Western Cape penetration</a:t>
            </a:r>
          </a:p>
        </p:txBody>
      </p:sp>
      <p:sp>
        <p:nvSpPr>
          <p:cNvPr id="27" name="TextBox 26"/>
          <p:cNvSpPr txBox="1"/>
          <p:nvPr/>
        </p:nvSpPr>
        <p:spPr>
          <a:xfrm>
            <a:off x="8661196" y="3035808"/>
            <a:ext cx="2981858" cy="457200"/>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Share of each market’s outbound trips.</a:t>
            </a:r>
          </a:p>
        </p:txBody>
      </p:sp>
      <p:sp>
        <p:nvSpPr>
          <p:cNvPr id="28" name="Rectangle 27"/>
          <p:cNvSpPr/>
          <p:nvPr/>
        </p:nvSpPr>
        <p:spPr>
          <a:xfrm>
            <a:off x="8158276" y="3602736"/>
            <a:ext cx="3576218" cy="841248"/>
          </a:xfrm>
          <a:prstGeom prst="rect">
            <a:avLst/>
          </a:prstGeom>
          <a:solidFill>
            <a:srgbClr val="F2F2F2"/>
          </a:solidFill>
          <a:ln>
            <a:noFill/>
          </a:ln>
        </p:spPr>
        <p:txBody>
          <a:bodyPr rtlCol="0" anchor="ctr"/>
          <a:lstStyle/>
          <a:p>
            <a:pPr algn="ctr"/>
          </a:p>
        </p:txBody>
      </p:sp>
      <p:sp>
        <p:nvSpPr>
          <p:cNvPr id="29" name="Label num"/>
          <p:cNvSpPr txBox="1"/>
          <p:nvPr/>
        </p:nvSpPr>
        <p:spPr>
          <a:xfrm>
            <a:off x="8268004" y="3675887"/>
            <a:ext cx="411480" cy="457200"/>
          </a:xfrm>
          <a:prstGeom prst="rect">
            <a:avLst/>
          </a:prstGeom>
          <a:noFill/>
        </p:spPr>
        <p:txBody>
          <a:bodyPr wrap="square" anchor="t" lIns="0" rIns="0" tIns="0" bIns="0">
            <a:spAutoFit/>
          </a:bodyPr>
          <a:lstStyle/>
          <a:p>
            <a:pPr algn="l">
              <a:spcAft>
                <a:spcPts val="0"/>
              </a:spcAft>
            </a:pPr>
            <a:r>
              <a:rPr sz="2000" b="1" i="0">
                <a:solidFill>
                  <a:srgbClr val="00AEEF"/>
                </a:solidFill>
                <a:latin typeface="Arial"/>
              </a:rPr>
              <a:t>3</a:t>
            </a:r>
          </a:p>
        </p:txBody>
      </p:sp>
      <p:sp>
        <p:nvSpPr>
          <p:cNvPr id="30" name="TextBox 29"/>
          <p:cNvSpPr txBox="1"/>
          <p:nvPr/>
        </p:nvSpPr>
        <p:spPr>
          <a:xfrm>
            <a:off x="8661196" y="3694176"/>
            <a:ext cx="2981858" cy="274320"/>
          </a:xfrm>
          <a:prstGeom prst="rect">
            <a:avLst/>
          </a:prstGeom>
          <a:noFill/>
        </p:spPr>
        <p:txBody>
          <a:bodyPr wrap="square" anchor="t" lIns="0" rIns="0" tIns="0" bIns="0">
            <a:spAutoFit/>
          </a:bodyPr>
          <a:lstStyle/>
          <a:p>
            <a:pPr algn="l">
              <a:spcAft>
                <a:spcPts val="0"/>
              </a:spcAft>
            </a:pPr>
            <a:r>
              <a:rPr sz="1100" b="1" i="0">
                <a:solidFill>
                  <a:srgbClr val="1F497D"/>
                </a:solidFill>
                <a:latin typeface="Arial"/>
              </a:rPr>
              <a:t>Airlift capacity ceiling</a:t>
            </a:r>
          </a:p>
        </p:txBody>
      </p:sp>
      <p:sp>
        <p:nvSpPr>
          <p:cNvPr id="31" name="TextBox 30"/>
          <p:cNvSpPr txBox="1"/>
          <p:nvPr/>
        </p:nvSpPr>
        <p:spPr>
          <a:xfrm>
            <a:off x="8661196" y="3968496"/>
            <a:ext cx="2981858" cy="457200"/>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Load factors; direct-route odds.</a:t>
            </a:r>
          </a:p>
        </p:txBody>
      </p:sp>
      <p:sp>
        <p:nvSpPr>
          <p:cNvPr id="32" name="Rectangle 31"/>
          <p:cNvSpPr/>
          <p:nvPr/>
        </p:nvSpPr>
        <p:spPr>
          <a:xfrm>
            <a:off x="8158276" y="4535424"/>
            <a:ext cx="3576218" cy="841248"/>
          </a:xfrm>
          <a:prstGeom prst="rect">
            <a:avLst/>
          </a:prstGeom>
          <a:solidFill>
            <a:srgbClr val="F2F2F2"/>
          </a:solidFill>
          <a:ln>
            <a:noFill/>
          </a:ln>
        </p:spPr>
        <p:txBody>
          <a:bodyPr rtlCol="0" anchor="ctr"/>
          <a:lstStyle/>
          <a:p>
            <a:pPr algn="ctr"/>
          </a:p>
        </p:txBody>
      </p:sp>
      <p:sp>
        <p:nvSpPr>
          <p:cNvPr id="33" name="Label num"/>
          <p:cNvSpPr txBox="1"/>
          <p:nvPr/>
        </p:nvSpPr>
        <p:spPr>
          <a:xfrm>
            <a:off x="8268004" y="4608576"/>
            <a:ext cx="411480" cy="457200"/>
          </a:xfrm>
          <a:prstGeom prst="rect">
            <a:avLst/>
          </a:prstGeom>
          <a:noFill/>
        </p:spPr>
        <p:txBody>
          <a:bodyPr wrap="square" anchor="t" lIns="0" rIns="0" tIns="0" bIns="0">
            <a:spAutoFit/>
          </a:bodyPr>
          <a:lstStyle/>
          <a:p>
            <a:pPr algn="l">
              <a:spcAft>
                <a:spcPts val="0"/>
              </a:spcAft>
            </a:pPr>
            <a:r>
              <a:rPr sz="2000" b="1" i="0">
                <a:solidFill>
                  <a:srgbClr val="00AEEF"/>
                </a:solidFill>
                <a:latin typeface="Arial"/>
              </a:rPr>
              <a:t>4</a:t>
            </a:r>
          </a:p>
        </p:txBody>
      </p:sp>
      <p:sp>
        <p:nvSpPr>
          <p:cNvPr id="34" name="TextBox 33"/>
          <p:cNvSpPr txBox="1"/>
          <p:nvPr/>
        </p:nvSpPr>
        <p:spPr>
          <a:xfrm>
            <a:off x="8661196" y="4626864"/>
            <a:ext cx="2981858" cy="274320"/>
          </a:xfrm>
          <a:prstGeom prst="rect">
            <a:avLst/>
          </a:prstGeom>
          <a:noFill/>
        </p:spPr>
        <p:txBody>
          <a:bodyPr wrap="square" anchor="t" lIns="0" rIns="0" tIns="0" bIns="0">
            <a:spAutoFit/>
          </a:bodyPr>
          <a:lstStyle/>
          <a:p>
            <a:pPr algn="l">
              <a:spcAft>
                <a:spcPts val="0"/>
              </a:spcAft>
            </a:pPr>
            <a:r>
              <a:rPr sz="1100" b="1" i="0">
                <a:solidFill>
                  <a:srgbClr val="1F497D"/>
                </a:solidFill>
                <a:latin typeface="Arial"/>
              </a:rPr>
              <a:t>Structural market conditions</a:t>
            </a:r>
          </a:p>
        </p:txBody>
      </p:sp>
      <p:sp>
        <p:nvSpPr>
          <p:cNvPr id="35" name="TextBox 34"/>
          <p:cNvSpPr txBox="1"/>
          <p:nvPr/>
        </p:nvSpPr>
        <p:spPr>
          <a:xfrm>
            <a:off x="8661196" y="4901184"/>
            <a:ext cx="2981858" cy="457200"/>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Currency, visas and macro context.</a:t>
            </a:r>
          </a:p>
        </p:txBody>
      </p:sp>
      <p:sp>
        <p:nvSpPr>
          <p:cNvPr id="36" name="Rectangle 35"/>
          <p:cNvSpPr/>
          <p:nvPr/>
        </p:nvSpPr>
        <p:spPr>
          <a:xfrm>
            <a:off x="457200" y="5596128"/>
            <a:ext cx="11277295" cy="384048"/>
          </a:xfrm>
          <a:prstGeom prst="rect">
            <a:avLst/>
          </a:prstGeom>
          <a:solidFill>
            <a:srgbClr val="1F497D"/>
          </a:solidFill>
          <a:ln>
            <a:noFill/>
          </a:ln>
        </p:spPr>
        <p:txBody>
          <a:bodyPr rtlCol="0" anchor="ctr"/>
          <a:lstStyle/>
          <a:p>
            <a:pPr algn="ctr"/>
          </a:p>
        </p:txBody>
      </p:sp>
      <p:sp>
        <p:nvSpPr>
          <p:cNvPr id="37" name="TextBox 36"/>
          <p:cNvSpPr txBox="1"/>
          <p:nvPr/>
        </p:nvSpPr>
        <p:spPr>
          <a:xfrm>
            <a:off x="621792" y="5596128"/>
            <a:ext cx="10948111" cy="384048"/>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Pursue yield, convert where travellers book, add seats before the ceiling binds.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Growth to 2035 is a portfolio: hubs add the most arrivals, India and China grow fastest and the US pays most per visit</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03 | WHAT EACH DELIVERABLE FOUND | DEMAND-SIDE ANALYSIS, JUN 2026: MARKETS AND SEGMENTS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Demand-Side Analysis (Jun 2026) pp13-14, 21, 23, 29-30; Current State Diagnostic v2 (Dec 2025) pp16-20 (segments). Base case by market group from p21; spend per visitor 2024 (p14) and 2025 for African markets (p29).</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11</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TextBox 7"/>
          <p:cNvSpPr txBox="1"/>
          <p:nvPr/>
        </p:nvSpPr>
        <p:spPr>
          <a:xfrm>
            <a:off x="457200" y="1417320"/>
            <a:ext cx="6521272"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BASE CASE BY MARKET GROUP, 2024 TO 2035</a:t>
            </a:r>
          </a:p>
        </p:txBody>
      </p:sp>
      <p:sp>
        <p:nvSpPr>
          <p:cNvPr id="9" name="Label TextBox 8"/>
          <p:cNvSpPr txBox="1"/>
          <p:nvPr/>
        </p:nvSpPr>
        <p:spPr>
          <a:xfrm>
            <a:off x="457200" y="1737360"/>
            <a:ext cx="1325880" cy="384048"/>
          </a:xfrm>
          <a:prstGeom prst="rect">
            <a:avLst/>
          </a:prstGeom>
          <a:noFill/>
        </p:spPr>
        <p:txBody>
          <a:bodyPr wrap="square" anchor="ctr" lIns="0" rIns="0" tIns="0" bIns="0">
            <a:spAutoFit/>
          </a:bodyPr>
          <a:lstStyle/>
          <a:p>
            <a:pPr algn="l">
              <a:spcAft>
                <a:spcPts val="0"/>
              </a:spcAft>
            </a:pPr>
            <a:r>
              <a:rPr sz="1000" b="1" i="0">
                <a:solidFill>
                  <a:srgbClr val="1F497D"/>
                </a:solidFill>
                <a:latin typeface="Arial"/>
              </a:rPr>
              <a:t>Mature</a:t>
            </a:r>
          </a:p>
        </p:txBody>
      </p:sp>
      <p:cxnSp>
        <p:nvCxnSpPr>
          <p:cNvPr id="10" name="Label Connector 9"/>
          <p:cNvCxnSpPr/>
          <p:nvPr/>
        </p:nvCxnSpPr>
        <p:spPr>
          <a:xfrm>
            <a:off x="1874519" y="1929384"/>
            <a:ext cx="3183713" cy="0"/>
          </a:xfrm>
          <a:prstGeom prst="line">
            <a:avLst/>
          </a:prstGeom>
          <a:ln w="9525">
            <a:solidFill>
              <a:srgbClr val="D9D9D9"/>
            </a:solidFill>
          </a:ln>
        </p:spPr>
      </p:cxnSp>
      <p:sp>
        <p:nvSpPr>
          <p:cNvPr id="11" name="Label Rectangle 10"/>
          <p:cNvSpPr/>
          <p:nvPr/>
        </p:nvSpPr>
        <p:spPr>
          <a:xfrm>
            <a:off x="4151001" y="1865376"/>
            <a:ext cx="772189" cy="128016"/>
          </a:xfrm>
          <a:prstGeom prst="rect">
            <a:avLst/>
          </a:prstGeom>
          <a:solidFill>
            <a:srgbClr val="DCEEF7"/>
          </a:solidFill>
          <a:ln>
            <a:noFill/>
          </a:ln>
        </p:spPr>
        <p:txBody>
          <a:bodyPr rtlCol="0" anchor="ctr"/>
          <a:lstStyle/>
          <a:p>
            <a:pPr algn="ctr"/>
          </a:p>
        </p:txBody>
      </p:sp>
      <p:sp>
        <p:nvSpPr>
          <p:cNvPr id="12" name="Label Oval 11"/>
          <p:cNvSpPr/>
          <p:nvPr/>
        </p:nvSpPr>
        <p:spPr>
          <a:xfrm>
            <a:off x="4068705" y="1847088"/>
            <a:ext cx="164592" cy="164592"/>
          </a:xfrm>
          <a:prstGeom prst="ellipse">
            <a:avLst/>
          </a:prstGeom>
          <a:solidFill>
            <a:srgbClr val="7F7F7F"/>
          </a:solidFill>
          <a:ln>
            <a:noFill/>
          </a:ln>
        </p:spPr>
        <p:txBody>
          <a:bodyPr rtlCol="0" anchor="ctr"/>
          <a:lstStyle/>
          <a:p>
            <a:pPr algn="ctr"/>
          </a:p>
        </p:txBody>
      </p:sp>
      <p:sp>
        <p:nvSpPr>
          <p:cNvPr id="13" name="Label Oval 12"/>
          <p:cNvSpPr/>
          <p:nvPr/>
        </p:nvSpPr>
        <p:spPr>
          <a:xfrm>
            <a:off x="4840895" y="1847088"/>
            <a:ext cx="164592" cy="164592"/>
          </a:xfrm>
          <a:prstGeom prst="ellipse">
            <a:avLst/>
          </a:prstGeom>
          <a:solidFill>
            <a:srgbClr val="1F497D"/>
          </a:solidFill>
          <a:ln>
            <a:noFill/>
          </a:ln>
        </p:spPr>
        <p:txBody>
          <a:bodyPr rtlCol="0" anchor="ctr"/>
          <a:lstStyle/>
          <a:p>
            <a:pPr algn="ctr"/>
          </a:p>
        </p:txBody>
      </p:sp>
      <p:sp>
        <p:nvSpPr>
          <p:cNvPr id="14" name="Label TextBox 13"/>
          <p:cNvSpPr txBox="1"/>
          <p:nvPr/>
        </p:nvSpPr>
        <p:spPr>
          <a:xfrm>
            <a:off x="5051207" y="1792224"/>
            <a:ext cx="1783080" cy="274320"/>
          </a:xfrm>
          <a:prstGeom prst="rect">
            <a:avLst/>
          </a:prstGeom>
          <a:solidFill>
            <a:srgbClr val="FFFFFF"/>
          </a:solidFill>
        </p:spPr>
        <p:txBody>
          <a:bodyPr wrap="square" anchor="ctr" lIns="27432" rIns="27432" tIns="16459" bIns="16459">
            <a:spAutoFit/>
          </a:bodyPr>
          <a:lstStyle/>
          <a:p>
            <a:pPr algn="l">
              <a:spcAft>
                <a:spcPts val="0"/>
              </a:spcAft>
            </a:pPr>
            <a:r>
              <a:rPr sz="950" b="1" i="0">
                <a:solidFill>
                  <a:srgbClr val="1F497D"/>
                </a:solidFill>
                <a:latin typeface="Arial"/>
              </a:rPr>
              <a:t>+194k</a:t>
            </a:r>
            <a:r>
              <a:rPr sz="950" b="0" i="0">
                <a:solidFill>
                  <a:srgbClr val="7F7F7F"/>
                </a:solidFill>
                <a:latin typeface="Arial"/>
              </a:rPr>
              <a:t>  572k to 766k</a:t>
            </a:r>
          </a:p>
        </p:txBody>
      </p:sp>
      <p:sp>
        <p:nvSpPr>
          <p:cNvPr id="15" name="Label TextBox 14"/>
          <p:cNvSpPr txBox="1"/>
          <p:nvPr/>
        </p:nvSpPr>
        <p:spPr>
          <a:xfrm>
            <a:off x="457200" y="2121408"/>
            <a:ext cx="1325880" cy="384048"/>
          </a:xfrm>
          <a:prstGeom prst="rect">
            <a:avLst/>
          </a:prstGeom>
          <a:noFill/>
        </p:spPr>
        <p:txBody>
          <a:bodyPr wrap="square" anchor="ctr" lIns="0" rIns="0" tIns="0" bIns="0">
            <a:spAutoFit/>
          </a:bodyPr>
          <a:lstStyle/>
          <a:p>
            <a:pPr algn="l">
              <a:spcAft>
                <a:spcPts val="0"/>
              </a:spcAft>
            </a:pPr>
            <a:r>
              <a:rPr sz="1000" b="1" i="0">
                <a:solidFill>
                  <a:srgbClr val="1F497D"/>
                </a:solidFill>
                <a:latin typeface="Arial"/>
              </a:rPr>
              <a:t>Hubs</a:t>
            </a:r>
          </a:p>
        </p:txBody>
      </p:sp>
      <p:cxnSp>
        <p:nvCxnSpPr>
          <p:cNvPr id="16" name="Label Connector 15"/>
          <p:cNvCxnSpPr/>
          <p:nvPr/>
        </p:nvCxnSpPr>
        <p:spPr>
          <a:xfrm>
            <a:off x="1874519" y="2313432"/>
            <a:ext cx="3183713" cy="0"/>
          </a:xfrm>
          <a:prstGeom prst="line">
            <a:avLst/>
          </a:prstGeom>
          <a:ln w="9525">
            <a:solidFill>
              <a:srgbClr val="D9D9D9"/>
            </a:solidFill>
          </a:ln>
        </p:spPr>
      </p:cxnSp>
      <p:sp>
        <p:nvSpPr>
          <p:cNvPr id="17" name="Label Rectangle 16"/>
          <p:cNvSpPr/>
          <p:nvPr/>
        </p:nvSpPr>
        <p:spPr>
          <a:xfrm>
            <a:off x="3508030" y="2249424"/>
            <a:ext cx="891121" cy="128016"/>
          </a:xfrm>
          <a:prstGeom prst="rect">
            <a:avLst/>
          </a:prstGeom>
          <a:solidFill>
            <a:srgbClr val="DCEEF7"/>
          </a:solidFill>
          <a:ln>
            <a:noFill/>
          </a:ln>
        </p:spPr>
        <p:txBody>
          <a:bodyPr rtlCol="0" anchor="ctr"/>
          <a:lstStyle/>
          <a:p>
            <a:pPr algn="ctr"/>
          </a:p>
        </p:txBody>
      </p:sp>
      <p:sp>
        <p:nvSpPr>
          <p:cNvPr id="18" name="Label Oval 17"/>
          <p:cNvSpPr/>
          <p:nvPr/>
        </p:nvSpPr>
        <p:spPr>
          <a:xfrm>
            <a:off x="3425734" y="2231136"/>
            <a:ext cx="164592" cy="164592"/>
          </a:xfrm>
          <a:prstGeom prst="ellipse">
            <a:avLst/>
          </a:prstGeom>
          <a:solidFill>
            <a:srgbClr val="7F7F7F"/>
          </a:solidFill>
          <a:ln>
            <a:noFill/>
          </a:ln>
        </p:spPr>
        <p:txBody>
          <a:bodyPr rtlCol="0" anchor="ctr"/>
          <a:lstStyle/>
          <a:p>
            <a:pPr algn="ctr"/>
          </a:p>
        </p:txBody>
      </p:sp>
      <p:sp>
        <p:nvSpPr>
          <p:cNvPr id="19" name="Label Oval 18"/>
          <p:cNvSpPr/>
          <p:nvPr/>
        </p:nvSpPr>
        <p:spPr>
          <a:xfrm>
            <a:off x="4316856" y="2231136"/>
            <a:ext cx="164592" cy="164592"/>
          </a:xfrm>
          <a:prstGeom prst="ellipse">
            <a:avLst/>
          </a:prstGeom>
          <a:solidFill>
            <a:srgbClr val="1F497D"/>
          </a:solidFill>
          <a:ln>
            <a:noFill/>
          </a:ln>
        </p:spPr>
        <p:txBody>
          <a:bodyPr rtlCol="0" anchor="ctr"/>
          <a:lstStyle/>
          <a:p>
            <a:pPr algn="ctr"/>
          </a:p>
        </p:txBody>
      </p:sp>
      <p:sp>
        <p:nvSpPr>
          <p:cNvPr id="20" name="Label TextBox 19"/>
          <p:cNvSpPr txBox="1"/>
          <p:nvPr/>
        </p:nvSpPr>
        <p:spPr>
          <a:xfrm>
            <a:off x="4527168" y="2176272"/>
            <a:ext cx="1783080" cy="274320"/>
          </a:xfrm>
          <a:prstGeom prst="rect">
            <a:avLst/>
          </a:prstGeom>
          <a:solidFill>
            <a:srgbClr val="FFFFFF"/>
          </a:solidFill>
        </p:spPr>
        <p:txBody>
          <a:bodyPr wrap="square" anchor="ctr" lIns="27432" rIns="27432" tIns="16459" bIns="16459">
            <a:spAutoFit/>
          </a:bodyPr>
          <a:lstStyle/>
          <a:p>
            <a:pPr algn="l">
              <a:spcAft>
                <a:spcPts val="0"/>
              </a:spcAft>
            </a:pPr>
            <a:r>
              <a:rPr sz="950" b="1" i="0">
                <a:solidFill>
                  <a:srgbClr val="1F497D"/>
                </a:solidFill>
                <a:latin typeface="Arial"/>
              </a:rPr>
              <a:t>+224k</a:t>
            </a:r>
            <a:r>
              <a:rPr sz="950" b="0" i="0">
                <a:solidFill>
                  <a:srgbClr val="7F7F7F"/>
                </a:solidFill>
                <a:latin typeface="Arial"/>
              </a:rPr>
              <a:t>  410k to 634k</a:t>
            </a:r>
          </a:p>
        </p:txBody>
      </p:sp>
      <p:sp>
        <p:nvSpPr>
          <p:cNvPr id="21" name="Label TextBox 20"/>
          <p:cNvSpPr txBox="1"/>
          <p:nvPr/>
        </p:nvSpPr>
        <p:spPr>
          <a:xfrm>
            <a:off x="457200" y="2505456"/>
            <a:ext cx="1325880" cy="384048"/>
          </a:xfrm>
          <a:prstGeom prst="rect">
            <a:avLst/>
          </a:prstGeom>
          <a:noFill/>
        </p:spPr>
        <p:txBody>
          <a:bodyPr wrap="square" anchor="ctr" lIns="0" rIns="0" tIns="0" bIns="0">
            <a:spAutoFit/>
          </a:bodyPr>
          <a:lstStyle/>
          <a:p>
            <a:pPr algn="l">
              <a:spcAft>
                <a:spcPts val="0"/>
              </a:spcAft>
            </a:pPr>
            <a:r>
              <a:rPr sz="1000" b="1" i="0">
                <a:solidFill>
                  <a:srgbClr val="1F497D"/>
                </a:solidFill>
                <a:latin typeface="Arial"/>
              </a:rPr>
              <a:t>Regional Africa</a:t>
            </a:r>
          </a:p>
        </p:txBody>
      </p:sp>
      <p:cxnSp>
        <p:nvCxnSpPr>
          <p:cNvPr id="22" name="Label Connector 21"/>
          <p:cNvCxnSpPr/>
          <p:nvPr/>
        </p:nvCxnSpPr>
        <p:spPr>
          <a:xfrm>
            <a:off x="1874519" y="2697479"/>
            <a:ext cx="3183713" cy="0"/>
          </a:xfrm>
          <a:prstGeom prst="line">
            <a:avLst/>
          </a:prstGeom>
          <a:ln w="9525">
            <a:solidFill>
              <a:srgbClr val="D9D9D9"/>
            </a:solidFill>
          </a:ln>
        </p:spPr>
      </p:cxnSp>
      <p:sp>
        <p:nvSpPr>
          <p:cNvPr id="23" name="Label Rectangle 22"/>
          <p:cNvSpPr/>
          <p:nvPr/>
        </p:nvSpPr>
        <p:spPr>
          <a:xfrm>
            <a:off x="3002198" y="2633472"/>
            <a:ext cx="475368" cy="128016"/>
          </a:xfrm>
          <a:prstGeom prst="rect">
            <a:avLst/>
          </a:prstGeom>
          <a:solidFill>
            <a:srgbClr val="DCEEF7"/>
          </a:solidFill>
          <a:ln>
            <a:noFill/>
          </a:ln>
        </p:spPr>
        <p:txBody>
          <a:bodyPr rtlCol="0" anchor="ctr"/>
          <a:lstStyle/>
          <a:p>
            <a:pPr algn="ctr"/>
          </a:p>
        </p:txBody>
      </p:sp>
      <p:sp>
        <p:nvSpPr>
          <p:cNvPr id="24" name="Label Oval 23"/>
          <p:cNvSpPr/>
          <p:nvPr/>
        </p:nvSpPr>
        <p:spPr>
          <a:xfrm>
            <a:off x="2919902" y="2615184"/>
            <a:ext cx="164592" cy="164592"/>
          </a:xfrm>
          <a:prstGeom prst="ellipse">
            <a:avLst/>
          </a:prstGeom>
          <a:solidFill>
            <a:srgbClr val="7F7F7F"/>
          </a:solidFill>
          <a:ln>
            <a:noFill/>
          </a:ln>
        </p:spPr>
        <p:txBody>
          <a:bodyPr rtlCol="0" anchor="ctr"/>
          <a:lstStyle/>
          <a:p>
            <a:pPr algn="ctr"/>
          </a:p>
        </p:txBody>
      </p:sp>
      <p:sp>
        <p:nvSpPr>
          <p:cNvPr id="25" name="Label Oval 24"/>
          <p:cNvSpPr/>
          <p:nvPr/>
        </p:nvSpPr>
        <p:spPr>
          <a:xfrm>
            <a:off x="3395270" y="2615184"/>
            <a:ext cx="164592" cy="164592"/>
          </a:xfrm>
          <a:prstGeom prst="ellipse">
            <a:avLst/>
          </a:prstGeom>
          <a:solidFill>
            <a:srgbClr val="1F497D"/>
          </a:solidFill>
          <a:ln>
            <a:noFill/>
          </a:ln>
        </p:spPr>
        <p:txBody>
          <a:bodyPr rtlCol="0" anchor="ctr"/>
          <a:lstStyle/>
          <a:p>
            <a:pPr algn="ctr"/>
          </a:p>
        </p:txBody>
      </p:sp>
      <p:sp>
        <p:nvSpPr>
          <p:cNvPr id="26" name="Label TextBox 25"/>
          <p:cNvSpPr txBox="1"/>
          <p:nvPr/>
        </p:nvSpPr>
        <p:spPr>
          <a:xfrm>
            <a:off x="3605582" y="2560320"/>
            <a:ext cx="1783080" cy="274320"/>
          </a:xfrm>
          <a:prstGeom prst="rect">
            <a:avLst/>
          </a:prstGeom>
          <a:solidFill>
            <a:srgbClr val="FFFFFF"/>
          </a:solidFill>
        </p:spPr>
        <p:txBody>
          <a:bodyPr wrap="square" anchor="ctr" lIns="27432" rIns="27432" tIns="16459" bIns="16459">
            <a:spAutoFit/>
          </a:bodyPr>
          <a:lstStyle/>
          <a:p>
            <a:pPr algn="l">
              <a:spcAft>
                <a:spcPts val="0"/>
              </a:spcAft>
            </a:pPr>
            <a:r>
              <a:rPr sz="950" b="1" i="0">
                <a:solidFill>
                  <a:srgbClr val="1F497D"/>
                </a:solidFill>
                <a:latin typeface="Arial"/>
              </a:rPr>
              <a:t>+119k</a:t>
            </a:r>
            <a:r>
              <a:rPr sz="950" b="0" i="0">
                <a:solidFill>
                  <a:srgbClr val="7F7F7F"/>
                </a:solidFill>
                <a:latin typeface="Arial"/>
              </a:rPr>
              <a:t>  283k to 403k</a:t>
            </a:r>
          </a:p>
        </p:txBody>
      </p:sp>
      <p:sp>
        <p:nvSpPr>
          <p:cNvPr id="27" name="Label TextBox 26"/>
          <p:cNvSpPr txBox="1"/>
          <p:nvPr/>
        </p:nvSpPr>
        <p:spPr>
          <a:xfrm>
            <a:off x="457200" y="2889504"/>
            <a:ext cx="1325880" cy="384048"/>
          </a:xfrm>
          <a:prstGeom prst="rect">
            <a:avLst/>
          </a:prstGeom>
          <a:noFill/>
        </p:spPr>
        <p:txBody>
          <a:bodyPr wrap="square" anchor="ctr" lIns="0" rIns="0" tIns="0" bIns="0">
            <a:spAutoFit/>
          </a:bodyPr>
          <a:lstStyle/>
          <a:p>
            <a:pPr algn="l">
              <a:spcAft>
                <a:spcPts val="0"/>
              </a:spcAft>
            </a:pPr>
            <a:r>
              <a:rPr sz="1000" b="1" i="0">
                <a:solidFill>
                  <a:srgbClr val="1F497D"/>
                </a:solidFill>
                <a:latin typeface="Arial"/>
              </a:rPr>
              <a:t>Acceleration</a:t>
            </a:r>
          </a:p>
        </p:txBody>
      </p:sp>
      <p:cxnSp>
        <p:nvCxnSpPr>
          <p:cNvPr id="28" name="Label Connector 27"/>
          <p:cNvCxnSpPr/>
          <p:nvPr/>
        </p:nvCxnSpPr>
        <p:spPr>
          <a:xfrm>
            <a:off x="1874519" y="3081528"/>
            <a:ext cx="3183713" cy="0"/>
          </a:xfrm>
          <a:prstGeom prst="line">
            <a:avLst/>
          </a:prstGeom>
          <a:ln w="9525">
            <a:solidFill>
              <a:srgbClr val="D9D9D9"/>
            </a:solidFill>
          </a:ln>
        </p:spPr>
      </p:cxnSp>
      <p:sp>
        <p:nvSpPr>
          <p:cNvPr id="29" name="Label Rectangle 28"/>
          <p:cNvSpPr/>
          <p:nvPr/>
        </p:nvSpPr>
        <p:spPr>
          <a:xfrm>
            <a:off x="2555715" y="3017520"/>
            <a:ext cx="746035" cy="128016"/>
          </a:xfrm>
          <a:prstGeom prst="rect">
            <a:avLst/>
          </a:prstGeom>
          <a:solidFill>
            <a:srgbClr val="DCEEF7"/>
          </a:solidFill>
          <a:ln>
            <a:noFill/>
          </a:ln>
        </p:spPr>
        <p:txBody>
          <a:bodyPr rtlCol="0" anchor="ctr"/>
          <a:lstStyle/>
          <a:p>
            <a:pPr algn="ctr"/>
          </a:p>
        </p:txBody>
      </p:sp>
      <p:sp>
        <p:nvSpPr>
          <p:cNvPr id="30" name="Label Oval 29"/>
          <p:cNvSpPr/>
          <p:nvPr/>
        </p:nvSpPr>
        <p:spPr>
          <a:xfrm>
            <a:off x="2473419" y="2999232"/>
            <a:ext cx="164592" cy="164592"/>
          </a:xfrm>
          <a:prstGeom prst="ellipse">
            <a:avLst/>
          </a:prstGeom>
          <a:solidFill>
            <a:srgbClr val="7F7F7F"/>
          </a:solidFill>
          <a:ln>
            <a:noFill/>
          </a:ln>
        </p:spPr>
        <p:txBody>
          <a:bodyPr rtlCol="0" anchor="ctr"/>
          <a:lstStyle/>
          <a:p>
            <a:pPr algn="ctr"/>
          </a:p>
        </p:txBody>
      </p:sp>
      <p:sp>
        <p:nvSpPr>
          <p:cNvPr id="31" name="Label Oval 30"/>
          <p:cNvSpPr/>
          <p:nvPr/>
        </p:nvSpPr>
        <p:spPr>
          <a:xfrm>
            <a:off x="3219454" y="2999232"/>
            <a:ext cx="164592" cy="164592"/>
          </a:xfrm>
          <a:prstGeom prst="ellipse">
            <a:avLst/>
          </a:prstGeom>
          <a:solidFill>
            <a:srgbClr val="1F497D"/>
          </a:solidFill>
          <a:ln>
            <a:noFill/>
          </a:ln>
        </p:spPr>
        <p:txBody>
          <a:bodyPr rtlCol="0" anchor="ctr"/>
          <a:lstStyle/>
          <a:p>
            <a:pPr algn="ctr"/>
          </a:p>
        </p:txBody>
      </p:sp>
      <p:sp>
        <p:nvSpPr>
          <p:cNvPr id="32" name="Label TextBox 31"/>
          <p:cNvSpPr txBox="1"/>
          <p:nvPr/>
        </p:nvSpPr>
        <p:spPr>
          <a:xfrm>
            <a:off x="3429766" y="2944368"/>
            <a:ext cx="1783080" cy="274320"/>
          </a:xfrm>
          <a:prstGeom prst="rect">
            <a:avLst/>
          </a:prstGeom>
          <a:solidFill>
            <a:srgbClr val="FFFFFF"/>
          </a:solidFill>
        </p:spPr>
        <p:txBody>
          <a:bodyPr wrap="square" anchor="ctr" lIns="27432" rIns="27432" tIns="16459" bIns="16459">
            <a:spAutoFit/>
          </a:bodyPr>
          <a:lstStyle/>
          <a:p>
            <a:pPr algn="l">
              <a:spcAft>
                <a:spcPts val="0"/>
              </a:spcAft>
            </a:pPr>
            <a:r>
              <a:rPr sz="950" b="1" i="0">
                <a:solidFill>
                  <a:srgbClr val="1F497D"/>
                </a:solidFill>
                <a:latin typeface="Arial"/>
              </a:rPr>
              <a:t>+187k</a:t>
            </a:r>
            <a:r>
              <a:rPr sz="950" b="0" i="0">
                <a:solidFill>
                  <a:srgbClr val="7F7F7F"/>
                </a:solidFill>
                <a:latin typeface="Arial"/>
              </a:rPr>
              <a:t>  171k to 359k</a:t>
            </a:r>
          </a:p>
        </p:txBody>
      </p:sp>
      <p:sp>
        <p:nvSpPr>
          <p:cNvPr id="33" name="Label TextBox 32"/>
          <p:cNvSpPr txBox="1"/>
          <p:nvPr/>
        </p:nvSpPr>
        <p:spPr>
          <a:xfrm>
            <a:off x="457200" y="3273552"/>
            <a:ext cx="1325880" cy="384048"/>
          </a:xfrm>
          <a:prstGeom prst="rect">
            <a:avLst/>
          </a:prstGeom>
          <a:noFill/>
        </p:spPr>
        <p:txBody>
          <a:bodyPr wrap="square" anchor="ctr" lIns="0" rIns="0" tIns="0" bIns="0">
            <a:spAutoFit/>
          </a:bodyPr>
          <a:lstStyle/>
          <a:p>
            <a:pPr algn="l">
              <a:spcAft>
                <a:spcPts val="0"/>
              </a:spcAft>
            </a:pPr>
            <a:r>
              <a:rPr sz="1000" b="1" i="0">
                <a:solidFill>
                  <a:srgbClr val="1F497D"/>
                </a:solidFill>
                <a:latin typeface="Arial"/>
              </a:rPr>
              <a:t>Strategic</a:t>
            </a:r>
          </a:p>
        </p:txBody>
      </p:sp>
      <p:cxnSp>
        <p:nvCxnSpPr>
          <p:cNvPr id="34" name="Label Connector 33"/>
          <p:cNvCxnSpPr/>
          <p:nvPr/>
        </p:nvCxnSpPr>
        <p:spPr>
          <a:xfrm>
            <a:off x="1874519" y="3465576"/>
            <a:ext cx="3183713" cy="0"/>
          </a:xfrm>
          <a:prstGeom prst="line">
            <a:avLst/>
          </a:prstGeom>
          <a:ln w="9525">
            <a:solidFill>
              <a:srgbClr val="D9D9D9"/>
            </a:solidFill>
          </a:ln>
        </p:spPr>
      </p:cxnSp>
      <p:sp>
        <p:nvSpPr>
          <p:cNvPr id="35" name="Label Rectangle 34"/>
          <p:cNvSpPr/>
          <p:nvPr/>
        </p:nvSpPr>
        <p:spPr>
          <a:xfrm>
            <a:off x="1906357" y="3401568"/>
            <a:ext cx="23396" cy="128016"/>
          </a:xfrm>
          <a:prstGeom prst="rect">
            <a:avLst/>
          </a:prstGeom>
          <a:solidFill>
            <a:srgbClr val="DCEEF7"/>
          </a:solidFill>
          <a:ln>
            <a:noFill/>
          </a:ln>
        </p:spPr>
        <p:txBody>
          <a:bodyPr rtlCol="0" anchor="ctr"/>
          <a:lstStyle/>
          <a:p>
            <a:pPr algn="ctr"/>
          </a:p>
        </p:txBody>
      </p:sp>
      <p:sp>
        <p:nvSpPr>
          <p:cNvPr id="36" name="Label Oval 35"/>
          <p:cNvSpPr/>
          <p:nvPr/>
        </p:nvSpPr>
        <p:spPr>
          <a:xfrm>
            <a:off x="1824061" y="3383280"/>
            <a:ext cx="164592" cy="164592"/>
          </a:xfrm>
          <a:prstGeom prst="ellipse">
            <a:avLst/>
          </a:prstGeom>
          <a:solidFill>
            <a:srgbClr val="7F7F7F"/>
          </a:solidFill>
          <a:ln>
            <a:noFill/>
          </a:ln>
        </p:spPr>
        <p:txBody>
          <a:bodyPr rtlCol="0" anchor="ctr"/>
          <a:lstStyle/>
          <a:p>
            <a:pPr algn="ctr"/>
          </a:p>
        </p:txBody>
      </p:sp>
      <p:sp>
        <p:nvSpPr>
          <p:cNvPr id="37" name="Label Oval 36"/>
          <p:cNvSpPr/>
          <p:nvPr/>
        </p:nvSpPr>
        <p:spPr>
          <a:xfrm>
            <a:off x="1847457" y="3383280"/>
            <a:ext cx="164592" cy="164592"/>
          </a:xfrm>
          <a:prstGeom prst="ellipse">
            <a:avLst/>
          </a:prstGeom>
          <a:solidFill>
            <a:srgbClr val="1F497D"/>
          </a:solidFill>
          <a:ln>
            <a:noFill/>
          </a:ln>
        </p:spPr>
        <p:txBody>
          <a:bodyPr rtlCol="0" anchor="ctr"/>
          <a:lstStyle/>
          <a:p>
            <a:pPr algn="ctr"/>
          </a:p>
        </p:txBody>
      </p:sp>
      <p:sp>
        <p:nvSpPr>
          <p:cNvPr id="38" name="Label TextBox 37"/>
          <p:cNvSpPr txBox="1"/>
          <p:nvPr/>
        </p:nvSpPr>
        <p:spPr>
          <a:xfrm>
            <a:off x="2057769" y="3328416"/>
            <a:ext cx="1783080" cy="274320"/>
          </a:xfrm>
          <a:prstGeom prst="rect">
            <a:avLst/>
          </a:prstGeom>
          <a:solidFill>
            <a:srgbClr val="FFFFFF"/>
          </a:solidFill>
        </p:spPr>
        <p:txBody>
          <a:bodyPr wrap="square" anchor="ctr" lIns="27432" rIns="27432" tIns="16459" bIns="16459">
            <a:spAutoFit/>
          </a:bodyPr>
          <a:lstStyle/>
          <a:p>
            <a:pPr algn="l">
              <a:spcAft>
                <a:spcPts val="0"/>
              </a:spcAft>
            </a:pPr>
            <a:r>
              <a:rPr sz="950" b="1" i="0">
                <a:solidFill>
                  <a:srgbClr val="1F497D"/>
                </a:solidFill>
                <a:latin typeface="Arial"/>
              </a:rPr>
              <a:t>+6k</a:t>
            </a:r>
            <a:r>
              <a:rPr sz="950" b="0" i="0">
                <a:solidFill>
                  <a:srgbClr val="7F7F7F"/>
                </a:solidFill>
                <a:latin typeface="Arial"/>
              </a:rPr>
              <a:t>  8k to 14k</a:t>
            </a:r>
          </a:p>
        </p:txBody>
      </p:sp>
      <p:sp>
        <p:nvSpPr>
          <p:cNvPr id="39" name="Label Oval 38"/>
          <p:cNvSpPr/>
          <p:nvPr/>
        </p:nvSpPr>
        <p:spPr>
          <a:xfrm>
            <a:off x="1874519" y="3730752"/>
            <a:ext cx="128016" cy="128016"/>
          </a:xfrm>
          <a:prstGeom prst="ellipse">
            <a:avLst/>
          </a:prstGeom>
          <a:solidFill>
            <a:srgbClr val="7F7F7F"/>
          </a:solidFill>
          <a:ln>
            <a:noFill/>
          </a:ln>
        </p:spPr>
        <p:txBody>
          <a:bodyPr rtlCol="0" anchor="ctr"/>
          <a:lstStyle/>
          <a:p>
            <a:pPr algn="ctr"/>
          </a:p>
        </p:txBody>
      </p:sp>
      <p:sp>
        <p:nvSpPr>
          <p:cNvPr id="40" name="Label TextBox 39"/>
          <p:cNvSpPr txBox="1"/>
          <p:nvPr/>
        </p:nvSpPr>
        <p:spPr>
          <a:xfrm>
            <a:off x="2057400" y="3685032"/>
            <a:ext cx="914400" cy="228600"/>
          </a:xfrm>
          <a:prstGeom prst="rect">
            <a:avLst/>
          </a:prstGeom>
          <a:noFill/>
        </p:spPr>
        <p:txBody>
          <a:bodyPr wrap="square" anchor="t" lIns="0" rIns="0" tIns="0" bIns="0">
            <a:spAutoFit/>
          </a:bodyPr>
          <a:lstStyle/>
          <a:p>
            <a:pPr algn="l">
              <a:spcAft>
                <a:spcPts val="0"/>
              </a:spcAft>
            </a:pPr>
            <a:r>
              <a:rPr sz="900" b="0" i="0">
                <a:solidFill>
                  <a:srgbClr val="404040"/>
                </a:solidFill>
                <a:latin typeface="Arial"/>
              </a:rPr>
              <a:t>2024</a:t>
            </a:r>
          </a:p>
        </p:txBody>
      </p:sp>
      <p:sp>
        <p:nvSpPr>
          <p:cNvPr id="41" name="Label Oval 40"/>
          <p:cNvSpPr/>
          <p:nvPr/>
        </p:nvSpPr>
        <p:spPr>
          <a:xfrm>
            <a:off x="2697480" y="3730752"/>
            <a:ext cx="128016" cy="128016"/>
          </a:xfrm>
          <a:prstGeom prst="ellipse">
            <a:avLst/>
          </a:prstGeom>
          <a:solidFill>
            <a:srgbClr val="1F497D"/>
          </a:solidFill>
          <a:ln>
            <a:noFill/>
          </a:ln>
        </p:spPr>
        <p:txBody>
          <a:bodyPr rtlCol="0" anchor="ctr"/>
          <a:lstStyle/>
          <a:p>
            <a:pPr algn="ctr"/>
          </a:p>
        </p:txBody>
      </p:sp>
      <p:sp>
        <p:nvSpPr>
          <p:cNvPr id="42" name="Label TextBox 41"/>
          <p:cNvSpPr txBox="1"/>
          <p:nvPr/>
        </p:nvSpPr>
        <p:spPr>
          <a:xfrm>
            <a:off x="2880360" y="3685032"/>
            <a:ext cx="1463040" cy="228600"/>
          </a:xfrm>
          <a:prstGeom prst="rect">
            <a:avLst/>
          </a:prstGeom>
          <a:noFill/>
        </p:spPr>
        <p:txBody>
          <a:bodyPr wrap="square" anchor="t" lIns="0" rIns="0" tIns="0" bIns="0">
            <a:spAutoFit/>
          </a:bodyPr>
          <a:lstStyle/>
          <a:p>
            <a:pPr algn="l">
              <a:spcAft>
                <a:spcPts val="0"/>
              </a:spcAft>
            </a:pPr>
            <a:r>
              <a:rPr sz="900" b="0" i="0">
                <a:solidFill>
                  <a:srgbClr val="404040"/>
                </a:solidFill>
                <a:latin typeface="Arial"/>
              </a:rPr>
              <a:t>2035 base case</a:t>
            </a:r>
          </a:p>
        </p:txBody>
      </p:sp>
      <p:sp>
        <p:nvSpPr>
          <p:cNvPr id="43" name="TextBox 42"/>
          <p:cNvSpPr txBox="1"/>
          <p:nvPr/>
        </p:nvSpPr>
        <p:spPr>
          <a:xfrm>
            <a:off x="457200" y="3950208"/>
            <a:ext cx="6521272"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Hubs: UAE, Ethiopia, Qatar, Turkey. Acceleration: Gulf, China, India, Brazil. Strategic: Japan, South Korea.</a:t>
            </a:r>
          </a:p>
        </p:txBody>
      </p:sp>
      <p:sp>
        <p:nvSpPr>
          <p:cNvPr id="44" name="TextBox 43"/>
          <p:cNvSpPr txBox="1"/>
          <p:nvPr/>
        </p:nvSpPr>
        <p:spPr>
          <a:xfrm>
            <a:off x="7252792" y="1417320"/>
            <a:ext cx="4481702"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SPEND PER VISITOR, 2024 (R)</a:t>
            </a:r>
          </a:p>
        </p:txBody>
      </p:sp>
      <p:sp>
        <p:nvSpPr>
          <p:cNvPr id="45" name="Label TextBox 44"/>
          <p:cNvSpPr txBox="1"/>
          <p:nvPr/>
        </p:nvSpPr>
        <p:spPr>
          <a:xfrm>
            <a:off x="7252792" y="1737360"/>
            <a:ext cx="960120" cy="246888"/>
          </a:xfrm>
          <a:prstGeom prst="rect">
            <a:avLst/>
          </a:prstGeom>
          <a:noFill/>
        </p:spPr>
        <p:txBody>
          <a:bodyPr wrap="square" anchor="ctr" lIns="0" rIns="0" tIns="0" bIns="0">
            <a:spAutoFit/>
          </a:bodyPr>
          <a:lstStyle/>
          <a:p>
            <a:pPr algn="l">
              <a:spcAft>
                <a:spcPts val="0"/>
              </a:spcAft>
            </a:pPr>
            <a:r>
              <a:rPr sz="900" b="0" i="0">
                <a:solidFill>
                  <a:srgbClr val="404040"/>
                </a:solidFill>
                <a:latin typeface="Arial"/>
              </a:rPr>
              <a:t>USA</a:t>
            </a:r>
          </a:p>
        </p:txBody>
      </p:sp>
      <p:sp>
        <p:nvSpPr>
          <p:cNvPr id="46" name="Label Rectangle 45"/>
          <p:cNvSpPr/>
          <p:nvPr/>
        </p:nvSpPr>
        <p:spPr>
          <a:xfrm>
            <a:off x="8212912" y="1786737"/>
            <a:ext cx="2965241" cy="148132"/>
          </a:xfrm>
          <a:prstGeom prst="rect">
            <a:avLst/>
          </a:prstGeom>
          <a:solidFill>
            <a:srgbClr val="4F81BD"/>
          </a:solidFill>
          <a:ln>
            <a:noFill/>
          </a:ln>
        </p:spPr>
        <p:txBody>
          <a:bodyPr rtlCol="0" anchor="ctr"/>
          <a:lstStyle/>
          <a:p>
            <a:pPr algn="ctr"/>
          </a:p>
        </p:txBody>
      </p:sp>
      <p:sp>
        <p:nvSpPr>
          <p:cNvPr id="47" name="Label TextBox 46"/>
          <p:cNvSpPr txBox="1"/>
          <p:nvPr/>
        </p:nvSpPr>
        <p:spPr>
          <a:xfrm>
            <a:off x="11223873" y="1737360"/>
            <a:ext cx="457200" cy="246888"/>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32,900</a:t>
            </a:r>
          </a:p>
        </p:txBody>
      </p:sp>
      <p:sp>
        <p:nvSpPr>
          <p:cNvPr id="48" name="Label TextBox 47"/>
          <p:cNvSpPr txBox="1"/>
          <p:nvPr/>
        </p:nvSpPr>
        <p:spPr>
          <a:xfrm>
            <a:off x="7252792" y="1984248"/>
            <a:ext cx="960120" cy="246888"/>
          </a:xfrm>
          <a:prstGeom prst="rect">
            <a:avLst/>
          </a:prstGeom>
          <a:noFill/>
        </p:spPr>
        <p:txBody>
          <a:bodyPr wrap="square" anchor="ctr" lIns="0" rIns="0" tIns="0" bIns="0">
            <a:spAutoFit/>
          </a:bodyPr>
          <a:lstStyle/>
          <a:p>
            <a:pPr algn="l">
              <a:spcAft>
                <a:spcPts val="0"/>
              </a:spcAft>
            </a:pPr>
            <a:r>
              <a:rPr sz="900" b="0" i="0">
                <a:solidFill>
                  <a:srgbClr val="404040"/>
                </a:solidFill>
                <a:latin typeface="Arial"/>
              </a:rPr>
              <a:t>UK</a:t>
            </a:r>
          </a:p>
        </p:txBody>
      </p:sp>
      <p:sp>
        <p:nvSpPr>
          <p:cNvPr id="49" name="Label Rectangle 48"/>
          <p:cNvSpPr/>
          <p:nvPr/>
        </p:nvSpPr>
        <p:spPr>
          <a:xfrm>
            <a:off x="8212912" y="2033625"/>
            <a:ext cx="2388416" cy="148132"/>
          </a:xfrm>
          <a:prstGeom prst="rect">
            <a:avLst/>
          </a:prstGeom>
          <a:solidFill>
            <a:srgbClr val="4F81BD"/>
          </a:solidFill>
          <a:ln>
            <a:noFill/>
          </a:ln>
        </p:spPr>
        <p:txBody>
          <a:bodyPr rtlCol="0" anchor="ctr"/>
          <a:lstStyle/>
          <a:p>
            <a:pPr algn="ctr"/>
          </a:p>
        </p:txBody>
      </p:sp>
      <p:sp>
        <p:nvSpPr>
          <p:cNvPr id="50" name="Label TextBox 49"/>
          <p:cNvSpPr txBox="1"/>
          <p:nvPr/>
        </p:nvSpPr>
        <p:spPr>
          <a:xfrm>
            <a:off x="10647048" y="1984248"/>
            <a:ext cx="457200" cy="246888"/>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26,500</a:t>
            </a:r>
          </a:p>
        </p:txBody>
      </p:sp>
      <p:sp>
        <p:nvSpPr>
          <p:cNvPr id="51" name="Label TextBox 50"/>
          <p:cNvSpPr txBox="1"/>
          <p:nvPr/>
        </p:nvSpPr>
        <p:spPr>
          <a:xfrm>
            <a:off x="7252792" y="2231136"/>
            <a:ext cx="960120" cy="246888"/>
          </a:xfrm>
          <a:prstGeom prst="rect">
            <a:avLst/>
          </a:prstGeom>
          <a:noFill/>
        </p:spPr>
        <p:txBody>
          <a:bodyPr wrap="square" anchor="ctr" lIns="0" rIns="0" tIns="0" bIns="0">
            <a:spAutoFit/>
          </a:bodyPr>
          <a:lstStyle/>
          <a:p>
            <a:pPr algn="l">
              <a:spcAft>
                <a:spcPts val="0"/>
              </a:spcAft>
            </a:pPr>
            <a:r>
              <a:rPr sz="900" b="0" i="0">
                <a:solidFill>
                  <a:srgbClr val="404040"/>
                </a:solidFill>
                <a:latin typeface="Arial"/>
              </a:rPr>
              <a:t>Germany</a:t>
            </a:r>
          </a:p>
        </p:txBody>
      </p:sp>
      <p:sp>
        <p:nvSpPr>
          <p:cNvPr id="52" name="Label Rectangle 51"/>
          <p:cNvSpPr/>
          <p:nvPr/>
        </p:nvSpPr>
        <p:spPr>
          <a:xfrm>
            <a:off x="8212912" y="2280513"/>
            <a:ext cx="2307300" cy="148132"/>
          </a:xfrm>
          <a:prstGeom prst="rect">
            <a:avLst/>
          </a:prstGeom>
          <a:solidFill>
            <a:srgbClr val="4F81BD"/>
          </a:solidFill>
          <a:ln>
            <a:noFill/>
          </a:ln>
        </p:spPr>
        <p:txBody>
          <a:bodyPr rtlCol="0" anchor="ctr"/>
          <a:lstStyle/>
          <a:p>
            <a:pPr algn="ctr"/>
          </a:p>
        </p:txBody>
      </p:sp>
      <p:sp>
        <p:nvSpPr>
          <p:cNvPr id="53" name="Label TextBox 52"/>
          <p:cNvSpPr txBox="1"/>
          <p:nvPr/>
        </p:nvSpPr>
        <p:spPr>
          <a:xfrm>
            <a:off x="10565932" y="2231136"/>
            <a:ext cx="457200" cy="246888"/>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25,600</a:t>
            </a:r>
          </a:p>
        </p:txBody>
      </p:sp>
      <p:sp>
        <p:nvSpPr>
          <p:cNvPr id="54" name="Label TextBox 53"/>
          <p:cNvSpPr txBox="1"/>
          <p:nvPr/>
        </p:nvSpPr>
        <p:spPr>
          <a:xfrm>
            <a:off x="7252792" y="2478024"/>
            <a:ext cx="960120" cy="246888"/>
          </a:xfrm>
          <a:prstGeom prst="rect">
            <a:avLst/>
          </a:prstGeom>
          <a:noFill/>
        </p:spPr>
        <p:txBody>
          <a:bodyPr wrap="square" anchor="ctr" lIns="0" rIns="0" tIns="0" bIns="0">
            <a:spAutoFit/>
          </a:bodyPr>
          <a:lstStyle/>
          <a:p>
            <a:pPr algn="l">
              <a:spcAft>
                <a:spcPts val="0"/>
              </a:spcAft>
            </a:pPr>
            <a:r>
              <a:rPr sz="900" b="0" i="0">
                <a:solidFill>
                  <a:srgbClr val="404040"/>
                </a:solidFill>
                <a:latin typeface="Arial"/>
              </a:rPr>
              <a:t>Australia</a:t>
            </a:r>
          </a:p>
        </p:txBody>
      </p:sp>
      <p:sp>
        <p:nvSpPr>
          <p:cNvPr id="55" name="Label Rectangle 54"/>
          <p:cNvSpPr/>
          <p:nvPr/>
        </p:nvSpPr>
        <p:spPr>
          <a:xfrm>
            <a:off x="8212912" y="2527401"/>
            <a:ext cx="2154080" cy="148132"/>
          </a:xfrm>
          <a:prstGeom prst="rect">
            <a:avLst/>
          </a:prstGeom>
          <a:solidFill>
            <a:srgbClr val="4F81BD"/>
          </a:solidFill>
          <a:ln>
            <a:noFill/>
          </a:ln>
        </p:spPr>
        <p:txBody>
          <a:bodyPr rtlCol="0" anchor="ctr"/>
          <a:lstStyle/>
          <a:p>
            <a:pPr algn="ctr"/>
          </a:p>
        </p:txBody>
      </p:sp>
      <p:sp>
        <p:nvSpPr>
          <p:cNvPr id="56" name="Label TextBox 55"/>
          <p:cNvSpPr txBox="1"/>
          <p:nvPr/>
        </p:nvSpPr>
        <p:spPr>
          <a:xfrm>
            <a:off x="10412713" y="2478024"/>
            <a:ext cx="457200" cy="246888"/>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23,900</a:t>
            </a:r>
          </a:p>
        </p:txBody>
      </p:sp>
      <p:sp>
        <p:nvSpPr>
          <p:cNvPr id="57" name="Label TextBox 56"/>
          <p:cNvSpPr txBox="1"/>
          <p:nvPr/>
        </p:nvSpPr>
        <p:spPr>
          <a:xfrm>
            <a:off x="7252792" y="2724912"/>
            <a:ext cx="960120" cy="246888"/>
          </a:xfrm>
          <a:prstGeom prst="rect">
            <a:avLst/>
          </a:prstGeom>
          <a:noFill/>
        </p:spPr>
        <p:txBody>
          <a:bodyPr wrap="square" anchor="ctr" lIns="0" rIns="0" tIns="0" bIns="0">
            <a:spAutoFit/>
          </a:bodyPr>
          <a:lstStyle/>
          <a:p>
            <a:pPr algn="l">
              <a:spcAft>
                <a:spcPts val="0"/>
              </a:spcAft>
            </a:pPr>
            <a:r>
              <a:rPr sz="900" b="0" i="0">
                <a:solidFill>
                  <a:srgbClr val="404040"/>
                </a:solidFill>
                <a:latin typeface="Arial"/>
              </a:rPr>
              <a:t>Netherlands</a:t>
            </a:r>
          </a:p>
        </p:txBody>
      </p:sp>
      <p:sp>
        <p:nvSpPr>
          <p:cNvPr id="58" name="Label Rectangle 57"/>
          <p:cNvSpPr/>
          <p:nvPr/>
        </p:nvSpPr>
        <p:spPr>
          <a:xfrm>
            <a:off x="8212912" y="2774289"/>
            <a:ext cx="2100003" cy="148132"/>
          </a:xfrm>
          <a:prstGeom prst="rect">
            <a:avLst/>
          </a:prstGeom>
          <a:solidFill>
            <a:srgbClr val="4F81BD"/>
          </a:solidFill>
          <a:ln>
            <a:noFill/>
          </a:ln>
        </p:spPr>
        <p:txBody>
          <a:bodyPr rtlCol="0" anchor="ctr"/>
          <a:lstStyle/>
          <a:p>
            <a:pPr algn="ctr"/>
          </a:p>
        </p:txBody>
      </p:sp>
      <p:sp>
        <p:nvSpPr>
          <p:cNvPr id="59" name="Label TextBox 58"/>
          <p:cNvSpPr txBox="1"/>
          <p:nvPr/>
        </p:nvSpPr>
        <p:spPr>
          <a:xfrm>
            <a:off x="10358635" y="2724912"/>
            <a:ext cx="457200" cy="246888"/>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23,300</a:t>
            </a:r>
          </a:p>
        </p:txBody>
      </p:sp>
      <p:sp>
        <p:nvSpPr>
          <p:cNvPr id="60" name="Label TextBox 59"/>
          <p:cNvSpPr txBox="1"/>
          <p:nvPr/>
        </p:nvSpPr>
        <p:spPr>
          <a:xfrm>
            <a:off x="7252792" y="2971800"/>
            <a:ext cx="960120" cy="246888"/>
          </a:xfrm>
          <a:prstGeom prst="rect">
            <a:avLst/>
          </a:prstGeom>
          <a:noFill/>
        </p:spPr>
        <p:txBody>
          <a:bodyPr wrap="square" anchor="ctr" lIns="0" rIns="0" tIns="0" bIns="0">
            <a:spAutoFit/>
          </a:bodyPr>
          <a:lstStyle/>
          <a:p>
            <a:pPr algn="l">
              <a:spcAft>
                <a:spcPts val="0"/>
              </a:spcAft>
            </a:pPr>
            <a:r>
              <a:rPr sz="900" b="0" i="0">
                <a:solidFill>
                  <a:srgbClr val="404040"/>
                </a:solidFill>
                <a:latin typeface="Arial"/>
              </a:rPr>
              <a:t>France</a:t>
            </a:r>
          </a:p>
        </p:txBody>
      </p:sp>
      <p:sp>
        <p:nvSpPr>
          <p:cNvPr id="61" name="Label Rectangle 60"/>
          <p:cNvSpPr/>
          <p:nvPr/>
        </p:nvSpPr>
        <p:spPr>
          <a:xfrm>
            <a:off x="8212912" y="3021177"/>
            <a:ext cx="1982836" cy="148132"/>
          </a:xfrm>
          <a:prstGeom prst="rect">
            <a:avLst/>
          </a:prstGeom>
          <a:solidFill>
            <a:srgbClr val="4F81BD"/>
          </a:solidFill>
          <a:ln>
            <a:noFill/>
          </a:ln>
        </p:spPr>
        <p:txBody>
          <a:bodyPr rtlCol="0" anchor="ctr"/>
          <a:lstStyle/>
          <a:p>
            <a:pPr algn="ctr"/>
          </a:p>
        </p:txBody>
      </p:sp>
      <p:sp>
        <p:nvSpPr>
          <p:cNvPr id="62" name="Label TextBox 61"/>
          <p:cNvSpPr txBox="1"/>
          <p:nvPr/>
        </p:nvSpPr>
        <p:spPr>
          <a:xfrm>
            <a:off x="10241468" y="2971800"/>
            <a:ext cx="457200" cy="246888"/>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22,000</a:t>
            </a:r>
          </a:p>
        </p:txBody>
      </p:sp>
      <p:sp>
        <p:nvSpPr>
          <p:cNvPr id="63" name="Label TextBox 62"/>
          <p:cNvSpPr txBox="1"/>
          <p:nvPr/>
        </p:nvSpPr>
        <p:spPr>
          <a:xfrm>
            <a:off x="7252792" y="3218688"/>
            <a:ext cx="960120" cy="246888"/>
          </a:xfrm>
          <a:prstGeom prst="rect">
            <a:avLst/>
          </a:prstGeom>
          <a:noFill/>
        </p:spPr>
        <p:txBody>
          <a:bodyPr wrap="square" anchor="ctr" lIns="0" rIns="0" tIns="0" bIns="0">
            <a:spAutoFit/>
          </a:bodyPr>
          <a:lstStyle/>
          <a:p>
            <a:pPr algn="l">
              <a:spcAft>
                <a:spcPts val="0"/>
              </a:spcAft>
            </a:pPr>
            <a:r>
              <a:rPr sz="900" b="0" i="0">
                <a:solidFill>
                  <a:srgbClr val="404040"/>
                </a:solidFill>
                <a:latin typeface="Arial"/>
              </a:rPr>
              <a:t>Brazil</a:t>
            </a:r>
          </a:p>
        </p:txBody>
      </p:sp>
      <p:sp>
        <p:nvSpPr>
          <p:cNvPr id="64" name="Label Rectangle 63"/>
          <p:cNvSpPr/>
          <p:nvPr/>
        </p:nvSpPr>
        <p:spPr>
          <a:xfrm>
            <a:off x="8212912" y="3268065"/>
            <a:ext cx="1730475" cy="148132"/>
          </a:xfrm>
          <a:prstGeom prst="rect">
            <a:avLst/>
          </a:prstGeom>
          <a:solidFill>
            <a:srgbClr val="4F81BD"/>
          </a:solidFill>
          <a:ln>
            <a:noFill/>
          </a:ln>
        </p:spPr>
        <p:txBody>
          <a:bodyPr rtlCol="0" anchor="ctr"/>
          <a:lstStyle/>
          <a:p>
            <a:pPr algn="ctr"/>
          </a:p>
        </p:txBody>
      </p:sp>
      <p:sp>
        <p:nvSpPr>
          <p:cNvPr id="65" name="Label TextBox 64"/>
          <p:cNvSpPr txBox="1"/>
          <p:nvPr/>
        </p:nvSpPr>
        <p:spPr>
          <a:xfrm>
            <a:off x="9989107" y="3218688"/>
            <a:ext cx="457200" cy="246888"/>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19,200</a:t>
            </a:r>
          </a:p>
        </p:txBody>
      </p:sp>
      <p:sp>
        <p:nvSpPr>
          <p:cNvPr id="66" name="Label TextBox 65"/>
          <p:cNvSpPr txBox="1"/>
          <p:nvPr/>
        </p:nvSpPr>
        <p:spPr>
          <a:xfrm>
            <a:off x="7252792" y="3465576"/>
            <a:ext cx="960120" cy="246888"/>
          </a:xfrm>
          <a:prstGeom prst="rect">
            <a:avLst/>
          </a:prstGeom>
          <a:noFill/>
        </p:spPr>
        <p:txBody>
          <a:bodyPr wrap="square" anchor="ctr" lIns="0" rIns="0" tIns="0" bIns="0">
            <a:spAutoFit/>
          </a:bodyPr>
          <a:lstStyle/>
          <a:p>
            <a:pPr algn="l">
              <a:spcAft>
                <a:spcPts val="0"/>
              </a:spcAft>
            </a:pPr>
            <a:r>
              <a:rPr sz="900" b="0" i="0">
                <a:solidFill>
                  <a:srgbClr val="404040"/>
                </a:solidFill>
                <a:latin typeface="Arial"/>
              </a:rPr>
              <a:t>Namibia</a:t>
            </a:r>
          </a:p>
        </p:txBody>
      </p:sp>
      <p:sp>
        <p:nvSpPr>
          <p:cNvPr id="67" name="Label Rectangle 66"/>
          <p:cNvSpPr/>
          <p:nvPr/>
        </p:nvSpPr>
        <p:spPr>
          <a:xfrm>
            <a:off x="8212912" y="3514953"/>
            <a:ext cx="775108" cy="148132"/>
          </a:xfrm>
          <a:prstGeom prst="rect">
            <a:avLst/>
          </a:prstGeom>
          <a:solidFill>
            <a:srgbClr val="4F81BD"/>
          </a:solidFill>
          <a:ln>
            <a:noFill/>
          </a:ln>
        </p:spPr>
        <p:txBody>
          <a:bodyPr rtlCol="0" anchor="ctr"/>
          <a:lstStyle/>
          <a:p>
            <a:pPr algn="ctr"/>
          </a:p>
        </p:txBody>
      </p:sp>
      <p:sp>
        <p:nvSpPr>
          <p:cNvPr id="68" name="Label TextBox 67"/>
          <p:cNvSpPr txBox="1"/>
          <p:nvPr/>
        </p:nvSpPr>
        <p:spPr>
          <a:xfrm>
            <a:off x="9033740" y="3465576"/>
            <a:ext cx="457200" cy="246888"/>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8,600</a:t>
            </a:r>
          </a:p>
        </p:txBody>
      </p:sp>
      <p:sp>
        <p:nvSpPr>
          <p:cNvPr id="69" name="Label TextBox 68"/>
          <p:cNvSpPr txBox="1"/>
          <p:nvPr/>
        </p:nvSpPr>
        <p:spPr>
          <a:xfrm>
            <a:off x="7252792" y="3712464"/>
            <a:ext cx="960120" cy="246888"/>
          </a:xfrm>
          <a:prstGeom prst="rect">
            <a:avLst/>
          </a:prstGeom>
          <a:noFill/>
        </p:spPr>
        <p:txBody>
          <a:bodyPr wrap="square" anchor="ctr" lIns="0" rIns="0" tIns="0" bIns="0">
            <a:spAutoFit/>
          </a:bodyPr>
          <a:lstStyle/>
          <a:p>
            <a:pPr algn="l">
              <a:spcAft>
                <a:spcPts val="0"/>
              </a:spcAft>
            </a:pPr>
            <a:r>
              <a:rPr sz="900" b="0" i="0">
                <a:solidFill>
                  <a:srgbClr val="404040"/>
                </a:solidFill>
                <a:latin typeface="Arial"/>
              </a:rPr>
              <a:t>Zimbabwe</a:t>
            </a:r>
          </a:p>
        </p:txBody>
      </p:sp>
      <p:sp>
        <p:nvSpPr>
          <p:cNvPr id="70" name="Label Rectangle 69"/>
          <p:cNvSpPr/>
          <p:nvPr/>
        </p:nvSpPr>
        <p:spPr>
          <a:xfrm>
            <a:off x="8212912" y="3761841"/>
            <a:ext cx="766095" cy="148132"/>
          </a:xfrm>
          <a:prstGeom prst="rect">
            <a:avLst/>
          </a:prstGeom>
          <a:solidFill>
            <a:srgbClr val="4F81BD"/>
          </a:solidFill>
          <a:ln>
            <a:noFill/>
          </a:ln>
        </p:spPr>
        <p:txBody>
          <a:bodyPr rtlCol="0" anchor="ctr"/>
          <a:lstStyle/>
          <a:p>
            <a:pPr algn="ctr"/>
          </a:p>
        </p:txBody>
      </p:sp>
      <p:sp>
        <p:nvSpPr>
          <p:cNvPr id="71" name="Label TextBox 70"/>
          <p:cNvSpPr txBox="1"/>
          <p:nvPr/>
        </p:nvSpPr>
        <p:spPr>
          <a:xfrm>
            <a:off x="9024727" y="3712464"/>
            <a:ext cx="457200" cy="246888"/>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8,500</a:t>
            </a:r>
          </a:p>
        </p:txBody>
      </p:sp>
      <p:sp>
        <p:nvSpPr>
          <p:cNvPr id="72" name="TextBox 71"/>
          <p:cNvSpPr txBox="1"/>
          <p:nvPr/>
        </p:nvSpPr>
        <p:spPr>
          <a:xfrm>
            <a:off x="7252792" y="4023360"/>
            <a:ext cx="4481702" cy="457200"/>
          </a:xfrm>
          <a:prstGeom prst="rect">
            <a:avLst/>
          </a:prstGeom>
          <a:noFill/>
        </p:spPr>
        <p:txBody>
          <a:bodyPr wrap="square" anchor="t" lIns="0" rIns="0" tIns="0" bIns="0">
            <a:spAutoFit/>
          </a:bodyPr>
          <a:lstStyle/>
          <a:p>
            <a:pPr algn="l">
              <a:spcAft>
                <a:spcPts val="0"/>
              </a:spcAft>
            </a:pPr>
            <a:r>
              <a:rPr sz="950" b="1" i="0">
                <a:solidFill>
                  <a:srgbClr val="1F497D"/>
                </a:solidFill>
                <a:latin typeface="Arial"/>
              </a:rPr>
              <a:t>Nigeria R31,000 and Ghana R27,700 </a:t>
            </a:r>
            <a:r>
              <a:rPr sz="950" b="0" i="0">
                <a:solidFill>
                  <a:srgbClr val="404040"/>
                </a:solidFill>
                <a:latin typeface="Arial"/>
              </a:rPr>
              <a:t>a visit in 2025.</a:t>
            </a:r>
          </a:p>
        </p:txBody>
      </p:sp>
      <p:sp>
        <p:nvSpPr>
          <p:cNvPr id="73" name="TextBox 72"/>
          <p:cNvSpPr txBox="1"/>
          <p:nvPr/>
        </p:nvSpPr>
        <p:spPr>
          <a:xfrm>
            <a:off x="457200" y="4572000"/>
            <a:ext cx="11277295"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FOUR TARGET SEGMENTS: DEFINED, NOT YET SIZED</a:t>
            </a:r>
          </a:p>
        </p:txBody>
      </p:sp>
      <p:sp>
        <p:nvSpPr>
          <p:cNvPr id="74" name="Rectangle 73"/>
          <p:cNvSpPr/>
          <p:nvPr/>
        </p:nvSpPr>
        <p:spPr>
          <a:xfrm>
            <a:off x="457200" y="4846320"/>
            <a:ext cx="2716453" cy="566928"/>
          </a:xfrm>
          <a:prstGeom prst="rect">
            <a:avLst/>
          </a:prstGeom>
          <a:solidFill>
            <a:srgbClr val="F2F2F2"/>
          </a:solidFill>
          <a:ln>
            <a:noFill/>
          </a:ln>
        </p:spPr>
        <p:txBody>
          <a:bodyPr rtlCol="0" anchor="ctr"/>
          <a:lstStyle/>
          <a:p>
            <a:pPr algn="ctr"/>
          </a:p>
        </p:txBody>
      </p:sp>
      <p:sp>
        <p:nvSpPr>
          <p:cNvPr id="75" name="Rectangle 74"/>
          <p:cNvSpPr/>
          <p:nvPr/>
        </p:nvSpPr>
        <p:spPr>
          <a:xfrm>
            <a:off x="457200" y="4846320"/>
            <a:ext cx="54864" cy="566928"/>
          </a:xfrm>
          <a:prstGeom prst="rect">
            <a:avLst/>
          </a:prstGeom>
          <a:solidFill>
            <a:srgbClr val="00AEEF"/>
          </a:solidFill>
          <a:ln>
            <a:noFill/>
          </a:ln>
        </p:spPr>
        <p:txBody>
          <a:bodyPr rtlCol="0" anchor="ctr"/>
          <a:lstStyle/>
          <a:p>
            <a:pPr algn="ctr"/>
          </a:p>
        </p:txBody>
      </p:sp>
      <p:sp>
        <p:nvSpPr>
          <p:cNvPr id="76" name="TextBox 75"/>
          <p:cNvSpPr txBox="1"/>
          <p:nvPr/>
        </p:nvSpPr>
        <p:spPr>
          <a:xfrm>
            <a:off x="621792" y="4846320"/>
            <a:ext cx="2487853" cy="566928"/>
          </a:xfrm>
          <a:prstGeom prst="rect">
            <a:avLst/>
          </a:prstGeom>
          <a:noFill/>
        </p:spPr>
        <p:txBody>
          <a:bodyPr wrap="square" anchor="ctr" lIns="0" rIns="0" tIns="0" bIns="0">
            <a:spAutoFit/>
          </a:bodyPr>
          <a:lstStyle/>
          <a:p>
            <a:pPr algn="l">
              <a:spcAft>
                <a:spcPts val="0"/>
              </a:spcAft>
            </a:pPr>
            <a:r>
              <a:rPr sz="1050" b="1" i="0">
                <a:solidFill>
                  <a:srgbClr val="1F497D"/>
                </a:solidFill>
                <a:latin typeface="Arial"/>
              </a:rPr>
              <a:t>Curious Explorers</a:t>
            </a:r>
          </a:p>
          <a:p>
            <a:pPr algn="l">
              <a:spcAft>
                <a:spcPts val="0"/>
              </a:spcAft>
            </a:pPr>
            <a:r>
              <a:rPr sz="900" b="0" i="0">
                <a:solidFill>
                  <a:srgbClr val="404040"/>
                </a:solidFill>
                <a:latin typeface="Arial"/>
              </a:rPr>
              <a:t>culture and learning</a:t>
            </a:r>
          </a:p>
        </p:txBody>
      </p:sp>
      <p:sp>
        <p:nvSpPr>
          <p:cNvPr id="77" name="Rectangle 76"/>
          <p:cNvSpPr/>
          <p:nvPr/>
        </p:nvSpPr>
        <p:spPr>
          <a:xfrm>
            <a:off x="3310813" y="4846320"/>
            <a:ext cx="2716453" cy="566928"/>
          </a:xfrm>
          <a:prstGeom prst="rect">
            <a:avLst/>
          </a:prstGeom>
          <a:solidFill>
            <a:srgbClr val="F2F2F2"/>
          </a:solidFill>
          <a:ln>
            <a:noFill/>
          </a:ln>
        </p:spPr>
        <p:txBody>
          <a:bodyPr rtlCol="0" anchor="ctr"/>
          <a:lstStyle/>
          <a:p>
            <a:pPr algn="ctr"/>
          </a:p>
        </p:txBody>
      </p:sp>
      <p:sp>
        <p:nvSpPr>
          <p:cNvPr id="78" name="Rectangle 77"/>
          <p:cNvSpPr/>
          <p:nvPr/>
        </p:nvSpPr>
        <p:spPr>
          <a:xfrm>
            <a:off x="3310813" y="4846320"/>
            <a:ext cx="54864" cy="566928"/>
          </a:xfrm>
          <a:prstGeom prst="rect">
            <a:avLst/>
          </a:prstGeom>
          <a:solidFill>
            <a:srgbClr val="00AEEF"/>
          </a:solidFill>
          <a:ln>
            <a:noFill/>
          </a:ln>
        </p:spPr>
        <p:txBody>
          <a:bodyPr rtlCol="0" anchor="ctr"/>
          <a:lstStyle/>
          <a:p>
            <a:pPr algn="ctr"/>
          </a:p>
        </p:txBody>
      </p:sp>
      <p:sp>
        <p:nvSpPr>
          <p:cNvPr id="79" name="TextBox 78"/>
          <p:cNvSpPr txBox="1"/>
          <p:nvPr/>
        </p:nvSpPr>
        <p:spPr>
          <a:xfrm>
            <a:off x="3475405" y="4846320"/>
            <a:ext cx="2487853" cy="566928"/>
          </a:xfrm>
          <a:prstGeom prst="rect">
            <a:avLst/>
          </a:prstGeom>
          <a:noFill/>
        </p:spPr>
        <p:txBody>
          <a:bodyPr wrap="square" anchor="ctr" lIns="0" rIns="0" tIns="0" bIns="0">
            <a:spAutoFit/>
          </a:bodyPr>
          <a:lstStyle/>
          <a:p>
            <a:pPr algn="l">
              <a:spcAft>
                <a:spcPts val="0"/>
              </a:spcAft>
            </a:pPr>
            <a:r>
              <a:rPr sz="1050" b="1" i="0">
                <a:solidFill>
                  <a:srgbClr val="1F497D"/>
                </a:solidFill>
                <a:latin typeface="Arial"/>
              </a:rPr>
              <a:t>Creative Connectors</a:t>
            </a:r>
          </a:p>
          <a:p>
            <a:pPr algn="l">
              <a:spcAft>
                <a:spcPts val="0"/>
              </a:spcAft>
            </a:pPr>
            <a:r>
              <a:rPr sz="900" b="0" i="0">
                <a:solidFill>
                  <a:srgbClr val="404040"/>
                </a:solidFill>
                <a:latin typeface="Arial"/>
              </a:rPr>
              <a:t>design, food, creativity</a:t>
            </a:r>
          </a:p>
        </p:txBody>
      </p:sp>
      <p:sp>
        <p:nvSpPr>
          <p:cNvPr id="80" name="Rectangle 79"/>
          <p:cNvSpPr/>
          <p:nvPr/>
        </p:nvSpPr>
        <p:spPr>
          <a:xfrm>
            <a:off x="6164427" y="4846320"/>
            <a:ext cx="2716453" cy="566928"/>
          </a:xfrm>
          <a:prstGeom prst="rect">
            <a:avLst/>
          </a:prstGeom>
          <a:solidFill>
            <a:srgbClr val="F2F2F2"/>
          </a:solidFill>
          <a:ln>
            <a:noFill/>
          </a:ln>
        </p:spPr>
        <p:txBody>
          <a:bodyPr rtlCol="0" anchor="ctr"/>
          <a:lstStyle/>
          <a:p>
            <a:pPr algn="ctr"/>
          </a:p>
        </p:txBody>
      </p:sp>
      <p:sp>
        <p:nvSpPr>
          <p:cNvPr id="81" name="Rectangle 80"/>
          <p:cNvSpPr/>
          <p:nvPr/>
        </p:nvSpPr>
        <p:spPr>
          <a:xfrm>
            <a:off x="6164427" y="4846320"/>
            <a:ext cx="54864" cy="566928"/>
          </a:xfrm>
          <a:prstGeom prst="rect">
            <a:avLst/>
          </a:prstGeom>
          <a:solidFill>
            <a:srgbClr val="00AEEF"/>
          </a:solidFill>
          <a:ln>
            <a:noFill/>
          </a:ln>
        </p:spPr>
        <p:txBody>
          <a:bodyPr rtlCol="0" anchor="ctr"/>
          <a:lstStyle/>
          <a:p>
            <a:pPr algn="ctr"/>
          </a:p>
        </p:txBody>
      </p:sp>
      <p:sp>
        <p:nvSpPr>
          <p:cNvPr id="82" name="TextBox 81"/>
          <p:cNvSpPr txBox="1"/>
          <p:nvPr/>
        </p:nvSpPr>
        <p:spPr>
          <a:xfrm>
            <a:off x="6329019" y="4846320"/>
            <a:ext cx="2487853" cy="566928"/>
          </a:xfrm>
          <a:prstGeom prst="rect">
            <a:avLst/>
          </a:prstGeom>
          <a:noFill/>
        </p:spPr>
        <p:txBody>
          <a:bodyPr wrap="square" anchor="ctr" lIns="0" rIns="0" tIns="0" bIns="0">
            <a:spAutoFit/>
          </a:bodyPr>
          <a:lstStyle/>
          <a:p>
            <a:pPr algn="l">
              <a:spcAft>
                <a:spcPts val="0"/>
              </a:spcAft>
            </a:pPr>
            <a:r>
              <a:rPr sz="1050" b="1" i="0">
                <a:solidFill>
                  <a:srgbClr val="1F497D"/>
                </a:solidFill>
                <a:latin typeface="Arial"/>
              </a:rPr>
              <a:t>Discerning Connoisseurs</a:t>
            </a:r>
          </a:p>
          <a:p>
            <a:pPr algn="l">
              <a:spcAft>
                <a:spcPts val="0"/>
              </a:spcAft>
            </a:pPr>
            <a:r>
              <a:rPr sz="900" b="0" i="0">
                <a:solidFill>
                  <a:srgbClr val="404040"/>
                </a:solidFill>
                <a:latin typeface="Arial"/>
              </a:rPr>
              <a:t>exclusivity and refinement</a:t>
            </a:r>
          </a:p>
        </p:txBody>
      </p:sp>
      <p:sp>
        <p:nvSpPr>
          <p:cNvPr id="83" name="Rectangle 82"/>
          <p:cNvSpPr/>
          <p:nvPr/>
        </p:nvSpPr>
        <p:spPr>
          <a:xfrm>
            <a:off x="9018041" y="4846320"/>
            <a:ext cx="2716453" cy="566928"/>
          </a:xfrm>
          <a:prstGeom prst="rect">
            <a:avLst/>
          </a:prstGeom>
          <a:solidFill>
            <a:srgbClr val="F2F2F2"/>
          </a:solidFill>
          <a:ln>
            <a:noFill/>
          </a:ln>
        </p:spPr>
        <p:txBody>
          <a:bodyPr rtlCol="0" anchor="ctr"/>
          <a:lstStyle/>
          <a:p>
            <a:pPr algn="ctr"/>
          </a:p>
        </p:txBody>
      </p:sp>
      <p:sp>
        <p:nvSpPr>
          <p:cNvPr id="84" name="Rectangle 83"/>
          <p:cNvSpPr/>
          <p:nvPr/>
        </p:nvSpPr>
        <p:spPr>
          <a:xfrm>
            <a:off x="9018041" y="4846320"/>
            <a:ext cx="54864" cy="566928"/>
          </a:xfrm>
          <a:prstGeom prst="rect">
            <a:avLst/>
          </a:prstGeom>
          <a:solidFill>
            <a:srgbClr val="00AEEF"/>
          </a:solidFill>
          <a:ln>
            <a:noFill/>
          </a:ln>
        </p:spPr>
        <p:txBody>
          <a:bodyPr rtlCol="0" anchor="ctr"/>
          <a:lstStyle/>
          <a:p>
            <a:pPr algn="ctr"/>
          </a:p>
        </p:txBody>
      </p:sp>
      <p:sp>
        <p:nvSpPr>
          <p:cNvPr id="85" name="TextBox 84"/>
          <p:cNvSpPr txBox="1"/>
          <p:nvPr/>
        </p:nvSpPr>
        <p:spPr>
          <a:xfrm>
            <a:off x="9182633" y="4846320"/>
            <a:ext cx="2487853" cy="566928"/>
          </a:xfrm>
          <a:prstGeom prst="rect">
            <a:avLst/>
          </a:prstGeom>
          <a:noFill/>
        </p:spPr>
        <p:txBody>
          <a:bodyPr wrap="square" anchor="ctr" lIns="0" rIns="0" tIns="0" bIns="0">
            <a:spAutoFit/>
          </a:bodyPr>
          <a:lstStyle/>
          <a:p>
            <a:pPr algn="l">
              <a:spcAft>
                <a:spcPts val="0"/>
              </a:spcAft>
            </a:pPr>
            <a:r>
              <a:rPr sz="1050" b="1" i="0">
                <a:solidFill>
                  <a:srgbClr val="1F497D"/>
                </a:solidFill>
                <a:latin typeface="Arial"/>
              </a:rPr>
              <a:t>Reflective Adventurers</a:t>
            </a:r>
          </a:p>
          <a:p>
            <a:pPr algn="l">
              <a:spcAft>
                <a:spcPts val="0"/>
              </a:spcAft>
            </a:pPr>
            <a:r>
              <a:rPr sz="900" b="0" i="0">
                <a:solidFill>
                  <a:srgbClr val="404040"/>
                </a:solidFill>
                <a:latin typeface="Arial"/>
              </a:rPr>
              <a:t>wellness and nature</a:t>
            </a:r>
          </a:p>
        </p:txBody>
      </p:sp>
      <p:sp>
        <p:nvSpPr>
          <p:cNvPr id="86" name="Rectangle 85"/>
          <p:cNvSpPr/>
          <p:nvPr/>
        </p:nvSpPr>
        <p:spPr>
          <a:xfrm>
            <a:off x="457200" y="5596128"/>
            <a:ext cx="11277295" cy="384048"/>
          </a:xfrm>
          <a:prstGeom prst="rect">
            <a:avLst/>
          </a:prstGeom>
          <a:solidFill>
            <a:srgbClr val="1F497D"/>
          </a:solidFill>
          <a:ln>
            <a:noFill/>
          </a:ln>
        </p:spPr>
        <p:txBody>
          <a:bodyPr rtlCol="0" anchor="ctr"/>
          <a:lstStyle/>
          <a:p>
            <a:pPr algn="ctr"/>
          </a:p>
        </p:txBody>
      </p:sp>
      <p:sp>
        <p:nvSpPr>
          <p:cNvPr id="87" name="TextBox 86"/>
          <p:cNvSpPr txBox="1"/>
          <p:nvPr/>
        </p:nvSpPr>
        <p:spPr>
          <a:xfrm>
            <a:off x="621792" y="5596128"/>
            <a:ext cx="10948111" cy="384048"/>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Prioritise by yield and growth; size the four segments and tie each to a market.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Natural attractions score above 3 in every region, but accessibility falls from 4.7 in the Metro to 1.0 in the Central Karoo</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03 | WHAT EACH DELIVERABLE FOUND | INFRASTRUCTURE REPORT, JUN 2026</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Infrastructure Report (Jun 2026) pp2, 5, 22, 29, 31-34, 36-41. Natural attractions row on p29, a page titled Transport &amp; Enabling Structures; category titles on pp27-29 appear swapped.</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12</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Chart 7"/>
          <p:cNvGraphicFramePr>
            <a:graphicFrameLocks noGrp="1"/>
          </p:cNvGraphicFramePr>
          <p:nvPr/>
        </p:nvGraphicFramePr>
        <p:xfrm>
          <a:off x="411480" y="1371600"/>
          <a:ext cx="6704152" cy="2697480"/>
        </p:xfrm>
        <a:graphic>
          <a:graphicData uri="http://schemas.openxmlformats.org/drawingml/2006/chart">
            <c:chart xmlns:c="http://schemas.openxmlformats.org/drawingml/2006/chart" r:id="rId4"/>
          </a:graphicData>
        </a:graphic>
      </p:graphicFrame>
      <p:sp>
        <p:nvSpPr>
          <p:cNvPr id="9" name="Label TextBox 8"/>
          <p:cNvSpPr txBox="1"/>
          <p:nvPr/>
        </p:nvSpPr>
        <p:spPr>
          <a:xfrm>
            <a:off x="6088687" y="2227112"/>
            <a:ext cx="1097280"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Attractiveness</a:t>
            </a:r>
          </a:p>
        </p:txBody>
      </p:sp>
      <p:sp>
        <p:nvSpPr>
          <p:cNvPr id="10" name="Label TextBox 9"/>
          <p:cNvSpPr txBox="1"/>
          <p:nvPr/>
        </p:nvSpPr>
        <p:spPr>
          <a:xfrm>
            <a:off x="6088687" y="3152103"/>
            <a:ext cx="1097280" cy="274320"/>
          </a:xfrm>
          <a:prstGeom prst="rect">
            <a:avLst/>
          </a:prstGeom>
          <a:noFill/>
        </p:spPr>
        <p:txBody>
          <a:bodyPr wrap="square" anchor="t" lIns="0" rIns="0" tIns="0" bIns="0">
            <a:spAutoFit/>
          </a:bodyPr>
          <a:lstStyle/>
          <a:p>
            <a:pPr algn="l">
              <a:spcAft>
                <a:spcPts val="0"/>
              </a:spcAft>
            </a:pPr>
            <a:r>
              <a:rPr sz="1000" b="1" i="0">
                <a:solidFill>
                  <a:srgbClr val="00AEEF"/>
                </a:solidFill>
                <a:latin typeface="Arial"/>
              </a:rPr>
              <a:t>Accessibility</a:t>
            </a:r>
          </a:p>
        </p:txBody>
      </p:sp>
      <p:sp>
        <p:nvSpPr>
          <p:cNvPr id="11" name="TextBox 10"/>
          <p:cNvSpPr txBox="1"/>
          <p:nvPr/>
        </p:nvSpPr>
        <p:spPr>
          <a:xfrm>
            <a:off x="457200" y="4069080"/>
            <a:ext cx="6521272"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Natural attractions; 50,332 assets scored.</a:t>
            </a:r>
          </a:p>
        </p:txBody>
      </p:sp>
      <p:sp>
        <p:nvSpPr>
          <p:cNvPr id="12" name="TextBox 11"/>
          <p:cNvSpPr txBox="1"/>
          <p:nvPr/>
        </p:nvSpPr>
        <p:spPr>
          <a:xfrm>
            <a:off x="457200" y="4407408"/>
            <a:ext cx="6521272"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SIX TOURING ROUTES: ONE SCORED</a:t>
            </a:r>
          </a:p>
        </p:txBody>
      </p:sp>
      <p:cxnSp>
        <p:nvCxnSpPr>
          <p:cNvPr id="13" name="Label Connector 12"/>
          <p:cNvCxnSpPr/>
          <p:nvPr/>
        </p:nvCxnSpPr>
        <p:spPr>
          <a:xfrm>
            <a:off x="1000639" y="4937760"/>
            <a:ext cx="5434393" cy="0"/>
          </a:xfrm>
          <a:prstGeom prst="line">
            <a:avLst/>
          </a:prstGeom>
          <a:ln w="38100">
            <a:solidFill>
              <a:srgbClr val="D9D9D9"/>
            </a:solidFill>
          </a:ln>
        </p:spPr>
      </p:cxnSp>
      <p:sp>
        <p:nvSpPr>
          <p:cNvPr id="14" name="Label Oval 13"/>
          <p:cNvSpPr/>
          <p:nvPr/>
        </p:nvSpPr>
        <p:spPr>
          <a:xfrm>
            <a:off x="900055" y="4837176"/>
            <a:ext cx="201168" cy="201168"/>
          </a:xfrm>
          <a:prstGeom prst="ellipse">
            <a:avLst/>
          </a:prstGeom>
          <a:solidFill>
            <a:srgbClr val="FFFFFF"/>
          </a:solidFill>
          <a:ln w="19050">
            <a:solidFill>
              <a:srgbClr val="7F7F7F"/>
            </a:solidFill>
          </a:ln>
        </p:spPr>
        <p:txBody>
          <a:bodyPr rtlCol="0" anchor="ctr"/>
          <a:lstStyle/>
          <a:p>
            <a:pPr algn="ctr"/>
          </a:p>
        </p:txBody>
      </p:sp>
      <p:sp>
        <p:nvSpPr>
          <p:cNvPr id="15" name="Label TextBox 14"/>
          <p:cNvSpPr txBox="1"/>
          <p:nvPr/>
        </p:nvSpPr>
        <p:spPr>
          <a:xfrm>
            <a:off x="484632" y="5074920"/>
            <a:ext cx="1032014" cy="411480"/>
          </a:xfrm>
          <a:prstGeom prst="rect">
            <a:avLst/>
          </a:prstGeom>
          <a:noFill/>
        </p:spPr>
        <p:txBody>
          <a:bodyPr wrap="square" anchor="t" lIns="0" rIns="0" tIns="0" bIns="0">
            <a:spAutoFit/>
          </a:bodyPr>
          <a:lstStyle/>
          <a:p>
            <a:pPr algn="ctr">
              <a:spcAft>
                <a:spcPts val="0"/>
              </a:spcAft>
            </a:pPr>
            <a:r>
              <a:rPr sz="850" b="0" i="0">
                <a:solidFill>
                  <a:srgbClr val="7F7F7F"/>
                </a:solidFill>
                <a:latin typeface="Arial"/>
              </a:rPr>
              <a:t>Cape Town and Peninsula</a:t>
            </a:r>
          </a:p>
        </p:txBody>
      </p:sp>
      <p:sp>
        <p:nvSpPr>
          <p:cNvPr id="16" name="Label Oval 15"/>
          <p:cNvSpPr/>
          <p:nvPr/>
        </p:nvSpPr>
        <p:spPr>
          <a:xfrm>
            <a:off x="1986934" y="4837176"/>
            <a:ext cx="201168" cy="201168"/>
          </a:xfrm>
          <a:prstGeom prst="ellipse">
            <a:avLst/>
          </a:prstGeom>
          <a:solidFill>
            <a:srgbClr val="1F497D"/>
          </a:solidFill>
          <a:ln w="19050">
            <a:solidFill>
              <a:srgbClr val="1F497D"/>
            </a:solidFill>
          </a:ln>
        </p:spPr>
        <p:txBody>
          <a:bodyPr rtlCol="0" anchor="ctr"/>
          <a:lstStyle/>
          <a:p>
            <a:pPr algn="ctr"/>
          </a:p>
        </p:txBody>
      </p:sp>
      <p:sp>
        <p:nvSpPr>
          <p:cNvPr id="17" name="Label TextBox 16"/>
          <p:cNvSpPr txBox="1"/>
          <p:nvPr/>
        </p:nvSpPr>
        <p:spPr>
          <a:xfrm>
            <a:off x="1571510" y="5074920"/>
            <a:ext cx="1032014" cy="411480"/>
          </a:xfrm>
          <a:prstGeom prst="rect">
            <a:avLst/>
          </a:prstGeom>
          <a:noFill/>
        </p:spPr>
        <p:txBody>
          <a:bodyPr wrap="square" anchor="t" lIns="0" rIns="0" tIns="0" bIns="0">
            <a:spAutoFit/>
          </a:bodyPr>
          <a:lstStyle/>
          <a:p>
            <a:pPr algn="ctr">
              <a:spcAft>
                <a:spcPts val="0"/>
              </a:spcAft>
            </a:pPr>
            <a:r>
              <a:rPr sz="850" b="1" i="0">
                <a:solidFill>
                  <a:srgbClr val="1F497D"/>
                </a:solidFill>
                <a:latin typeface="Arial"/>
              </a:rPr>
              <a:t>Winelands
Scored: Developing</a:t>
            </a:r>
          </a:p>
        </p:txBody>
      </p:sp>
      <p:sp>
        <p:nvSpPr>
          <p:cNvPr id="18" name="Label Oval 17"/>
          <p:cNvSpPr/>
          <p:nvPr/>
        </p:nvSpPr>
        <p:spPr>
          <a:xfrm>
            <a:off x="3073812" y="4837176"/>
            <a:ext cx="201168" cy="201168"/>
          </a:xfrm>
          <a:prstGeom prst="ellipse">
            <a:avLst/>
          </a:prstGeom>
          <a:solidFill>
            <a:srgbClr val="FFFFFF"/>
          </a:solidFill>
          <a:ln w="19050">
            <a:solidFill>
              <a:srgbClr val="7F7F7F"/>
            </a:solidFill>
          </a:ln>
        </p:spPr>
        <p:txBody>
          <a:bodyPr rtlCol="0" anchor="ctr"/>
          <a:lstStyle/>
          <a:p>
            <a:pPr algn="ctr"/>
          </a:p>
        </p:txBody>
      </p:sp>
      <p:sp>
        <p:nvSpPr>
          <p:cNvPr id="19" name="Label TextBox 18"/>
          <p:cNvSpPr txBox="1"/>
          <p:nvPr/>
        </p:nvSpPr>
        <p:spPr>
          <a:xfrm>
            <a:off x="2658389" y="5074920"/>
            <a:ext cx="1032014" cy="411480"/>
          </a:xfrm>
          <a:prstGeom prst="rect">
            <a:avLst/>
          </a:prstGeom>
          <a:noFill/>
        </p:spPr>
        <p:txBody>
          <a:bodyPr wrap="square" anchor="t" lIns="0" rIns="0" tIns="0" bIns="0">
            <a:spAutoFit/>
          </a:bodyPr>
          <a:lstStyle/>
          <a:p>
            <a:pPr algn="ctr">
              <a:spcAft>
                <a:spcPts val="0"/>
              </a:spcAft>
            </a:pPr>
            <a:r>
              <a:rPr sz="850" b="0" i="0">
                <a:solidFill>
                  <a:srgbClr val="7F7F7F"/>
                </a:solidFill>
                <a:latin typeface="Arial"/>
              </a:rPr>
              <a:t>Garden Route and Klein Karoo</a:t>
            </a:r>
          </a:p>
        </p:txBody>
      </p:sp>
      <p:sp>
        <p:nvSpPr>
          <p:cNvPr id="20" name="Label Oval 19"/>
          <p:cNvSpPr/>
          <p:nvPr/>
        </p:nvSpPr>
        <p:spPr>
          <a:xfrm>
            <a:off x="4160691" y="4837176"/>
            <a:ext cx="201168" cy="201168"/>
          </a:xfrm>
          <a:prstGeom prst="ellipse">
            <a:avLst/>
          </a:prstGeom>
          <a:solidFill>
            <a:srgbClr val="FFFFFF"/>
          </a:solidFill>
          <a:ln w="19050">
            <a:solidFill>
              <a:srgbClr val="7F7F7F"/>
            </a:solidFill>
          </a:ln>
        </p:spPr>
        <p:txBody>
          <a:bodyPr rtlCol="0" anchor="ctr"/>
          <a:lstStyle/>
          <a:p>
            <a:pPr algn="ctr"/>
          </a:p>
        </p:txBody>
      </p:sp>
      <p:sp>
        <p:nvSpPr>
          <p:cNvPr id="21" name="Label TextBox 20"/>
          <p:cNvSpPr txBox="1"/>
          <p:nvPr/>
        </p:nvSpPr>
        <p:spPr>
          <a:xfrm>
            <a:off x="3745268" y="5074920"/>
            <a:ext cx="1032014" cy="411480"/>
          </a:xfrm>
          <a:prstGeom prst="rect">
            <a:avLst/>
          </a:prstGeom>
          <a:noFill/>
        </p:spPr>
        <p:txBody>
          <a:bodyPr wrap="square" anchor="t" lIns="0" rIns="0" tIns="0" bIns="0">
            <a:spAutoFit/>
          </a:bodyPr>
          <a:lstStyle/>
          <a:p>
            <a:pPr algn="ctr">
              <a:spcAft>
                <a:spcPts val="0"/>
              </a:spcAft>
            </a:pPr>
            <a:r>
              <a:rPr sz="850" b="0" i="0">
                <a:solidFill>
                  <a:srgbClr val="7F7F7F"/>
                </a:solidFill>
                <a:latin typeface="Arial"/>
              </a:rPr>
              <a:t>Overberg Whale Coast</a:t>
            </a:r>
          </a:p>
        </p:txBody>
      </p:sp>
      <p:sp>
        <p:nvSpPr>
          <p:cNvPr id="22" name="Label Oval 21"/>
          <p:cNvSpPr/>
          <p:nvPr/>
        </p:nvSpPr>
        <p:spPr>
          <a:xfrm>
            <a:off x="5247570" y="4837176"/>
            <a:ext cx="201168" cy="201168"/>
          </a:xfrm>
          <a:prstGeom prst="ellipse">
            <a:avLst/>
          </a:prstGeom>
          <a:solidFill>
            <a:srgbClr val="FFFFFF"/>
          </a:solidFill>
          <a:ln w="19050">
            <a:solidFill>
              <a:srgbClr val="7F7F7F"/>
            </a:solidFill>
          </a:ln>
        </p:spPr>
        <p:txBody>
          <a:bodyPr rtlCol="0" anchor="ctr"/>
          <a:lstStyle/>
          <a:p>
            <a:pPr algn="ctr"/>
          </a:p>
        </p:txBody>
      </p:sp>
      <p:sp>
        <p:nvSpPr>
          <p:cNvPr id="23" name="Label TextBox 22"/>
          <p:cNvSpPr txBox="1"/>
          <p:nvPr/>
        </p:nvSpPr>
        <p:spPr>
          <a:xfrm>
            <a:off x="4832146" y="5074920"/>
            <a:ext cx="1032014" cy="411480"/>
          </a:xfrm>
          <a:prstGeom prst="rect">
            <a:avLst/>
          </a:prstGeom>
          <a:noFill/>
        </p:spPr>
        <p:txBody>
          <a:bodyPr wrap="square" anchor="t" lIns="0" rIns="0" tIns="0" bIns="0">
            <a:spAutoFit/>
          </a:bodyPr>
          <a:lstStyle/>
          <a:p>
            <a:pPr algn="ctr">
              <a:spcAft>
                <a:spcPts val="0"/>
              </a:spcAft>
            </a:pPr>
            <a:r>
              <a:rPr sz="850" b="0" i="0">
                <a:solidFill>
                  <a:srgbClr val="7F7F7F"/>
                </a:solidFill>
                <a:latin typeface="Arial"/>
              </a:rPr>
              <a:t>West Coast and Cederberg</a:t>
            </a:r>
          </a:p>
        </p:txBody>
      </p:sp>
      <p:sp>
        <p:nvSpPr>
          <p:cNvPr id="24" name="Label Oval 23"/>
          <p:cNvSpPr/>
          <p:nvPr/>
        </p:nvSpPr>
        <p:spPr>
          <a:xfrm>
            <a:off x="6334448" y="4837176"/>
            <a:ext cx="201168" cy="201168"/>
          </a:xfrm>
          <a:prstGeom prst="ellipse">
            <a:avLst/>
          </a:prstGeom>
          <a:solidFill>
            <a:srgbClr val="FFFFFF"/>
          </a:solidFill>
          <a:ln w="19050">
            <a:solidFill>
              <a:srgbClr val="7F7F7F"/>
            </a:solidFill>
          </a:ln>
        </p:spPr>
        <p:txBody>
          <a:bodyPr rtlCol="0" anchor="ctr"/>
          <a:lstStyle/>
          <a:p>
            <a:pPr algn="ctr"/>
          </a:p>
        </p:txBody>
      </p:sp>
      <p:sp>
        <p:nvSpPr>
          <p:cNvPr id="25" name="Label TextBox 24"/>
          <p:cNvSpPr txBox="1"/>
          <p:nvPr/>
        </p:nvSpPr>
        <p:spPr>
          <a:xfrm>
            <a:off x="5919025" y="5074920"/>
            <a:ext cx="1032014" cy="411480"/>
          </a:xfrm>
          <a:prstGeom prst="rect">
            <a:avLst/>
          </a:prstGeom>
          <a:noFill/>
        </p:spPr>
        <p:txBody>
          <a:bodyPr wrap="square" anchor="t" lIns="0" rIns="0" tIns="0" bIns="0">
            <a:spAutoFit/>
          </a:bodyPr>
          <a:lstStyle/>
          <a:p>
            <a:pPr algn="ctr">
              <a:spcAft>
                <a:spcPts val="0"/>
              </a:spcAft>
            </a:pPr>
            <a:r>
              <a:rPr sz="850" b="0" i="0">
                <a:solidFill>
                  <a:srgbClr val="7F7F7F"/>
                </a:solidFill>
                <a:latin typeface="Arial"/>
              </a:rPr>
              <a:t>Route 62 and Cape Karoo</a:t>
            </a:r>
          </a:p>
        </p:txBody>
      </p:sp>
      <p:sp>
        <p:nvSpPr>
          <p:cNvPr id="26" name="Rectangle 25"/>
          <p:cNvSpPr/>
          <p:nvPr/>
        </p:nvSpPr>
        <p:spPr>
          <a:xfrm>
            <a:off x="7298512" y="1417320"/>
            <a:ext cx="54864" cy="914400"/>
          </a:xfrm>
          <a:prstGeom prst="rect">
            <a:avLst/>
          </a:prstGeom>
          <a:solidFill>
            <a:srgbClr val="00AEEF"/>
          </a:solidFill>
          <a:ln>
            <a:noFill/>
          </a:ln>
        </p:spPr>
        <p:txBody>
          <a:bodyPr rtlCol="0" anchor="ctr"/>
          <a:lstStyle/>
          <a:p>
            <a:pPr algn="ctr"/>
          </a:p>
        </p:txBody>
      </p:sp>
      <p:sp>
        <p:nvSpPr>
          <p:cNvPr id="27" name="TextBox 26"/>
          <p:cNvSpPr txBox="1"/>
          <p:nvPr/>
        </p:nvSpPr>
        <p:spPr>
          <a:xfrm>
            <a:off x="7481392" y="1399032"/>
            <a:ext cx="4253102" cy="960120"/>
          </a:xfrm>
          <a:prstGeom prst="rect">
            <a:avLst/>
          </a:prstGeom>
          <a:noFill/>
        </p:spPr>
        <p:txBody>
          <a:bodyPr wrap="square" anchor="t" lIns="0" rIns="0" tIns="0" bIns="0">
            <a:spAutoFit/>
          </a:bodyPr>
          <a:lstStyle/>
          <a:p>
            <a:pPr algn="l">
              <a:spcAft>
                <a:spcPts val="100"/>
              </a:spcAft>
            </a:pPr>
            <a:r>
              <a:rPr sz="1250" b="1" i="0">
                <a:solidFill>
                  <a:srgbClr val="1F497D"/>
                </a:solidFill>
                <a:latin typeface="Arial"/>
              </a:rPr>
              <a:t>Car or nothing</a:t>
            </a:r>
          </a:p>
          <a:p>
            <a:pPr algn="l">
              <a:spcAft>
                <a:spcPts val="0"/>
              </a:spcAft>
            </a:pPr>
            <a:r>
              <a:rPr sz="950" b="0" i="0">
                <a:solidFill>
                  <a:srgbClr val="404040"/>
                </a:solidFill>
                <a:latin typeface="Arial"/>
              </a:rPr>
              <a:t>No car, no Hermanus, Knysna or Plettenberg Bay; the N2 is the only corridor.</a:t>
            </a:r>
          </a:p>
        </p:txBody>
      </p:sp>
      <p:sp>
        <p:nvSpPr>
          <p:cNvPr id="28" name="Rectangle 27"/>
          <p:cNvSpPr/>
          <p:nvPr/>
        </p:nvSpPr>
        <p:spPr>
          <a:xfrm>
            <a:off x="7298512" y="2441448"/>
            <a:ext cx="54864" cy="914400"/>
          </a:xfrm>
          <a:prstGeom prst="rect">
            <a:avLst/>
          </a:prstGeom>
          <a:solidFill>
            <a:srgbClr val="00AEEF"/>
          </a:solidFill>
          <a:ln>
            <a:noFill/>
          </a:ln>
        </p:spPr>
        <p:txBody>
          <a:bodyPr rtlCol="0" anchor="ctr"/>
          <a:lstStyle/>
          <a:p>
            <a:pPr algn="ctr"/>
          </a:p>
        </p:txBody>
      </p:sp>
      <p:sp>
        <p:nvSpPr>
          <p:cNvPr id="29" name="TextBox 28"/>
          <p:cNvSpPr txBox="1"/>
          <p:nvPr/>
        </p:nvSpPr>
        <p:spPr>
          <a:xfrm>
            <a:off x="7481392" y="2423160"/>
            <a:ext cx="4253102" cy="960120"/>
          </a:xfrm>
          <a:prstGeom prst="rect">
            <a:avLst/>
          </a:prstGeom>
          <a:noFill/>
        </p:spPr>
        <p:txBody>
          <a:bodyPr wrap="square" anchor="t" lIns="0" rIns="0" tIns="0" bIns="0">
            <a:spAutoFit/>
          </a:bodyPr>
          <a:lstStyle/>
          <a:p>
            <a:pPr algn="l">
              <a:spcAft>
                <a:spcPts val="100"/>
              </a:spcAft>
            </a:pPr>
            <a:r>
              <a:rPr sz="1250" b="1" i="0">
                <a:solidFill>
                  <a:srgbClr val="1F497D"/>
                </a:solidFill>
                <a:latin typeface="Arial"/>
              </a:rPr>
              <a:t>No mid-market beds</a:t>
            </a:r>
          </a:p>
          <a:p>
            <a:pPr algn="l">
              <a:spcAft>
                <a:spcPts val="0"/>
              </a:spcAft>
            </a:pPr>
            <a:r>
              <a:rPr sz="950" b="0" i="0">
                <a:solidFill>
                  <a:srgbClr val="404040"/>
                </a:solidFill>
                <a:latin typeface="Arial"/>
              </a:rPr>
              <a:t>No mid-scale branded accommodation; most rural properties are off OTAs.</a:t>
            </a:r>
          </a:p>
        </p:txBody>
      </p:sp>
      <p:sp>
        <p:nvSpPr>
          <p:cNvPr id="30" name="Rectangle 29"/>
          <p:cNvSpPr/>
          <p:nvPr/>
        </p:nvSpPr>
        <p:spPr>
          <a:xfrm>
            <a:off x="7298512" y="3465576"/>
            <a:ext cx="54864" cy="914400"/>
          </a:xfrm>
          <a:prstGeom prst="rect">
            <a:avLst/>
          </a:prstGeom>
          <a:solidFill>
            <a:srgbClr val="00AEEF"/>
          </a:solidFill>
          <a:ln>
            <a:noFill/>
          </a:ln>
        </p:spPr>
        <p:txBody>
          <a:bodyPr rtlCol="0" anchor="ctr"/>
          <a:lstStyle/>
          <a:p>
            <a:pPr algn="ctr"/>
          </a:p>
        </p:txBody>
      </p:sp>
      <p:sp>
        <p:nvSpPr>
          <p:cNvPr id="31" name="TextBox 30"/>
          <p:cNvSpPr txBox="1"/>
          <p:nvPr/>
        </p:nvSpPr>
        <p:spPr>
          <a:xfrm>
            <a:off x="7481392" y="3447288"/>
            <a:ext cx="4253102" cy="960120"/>
          </a:xfrm>
          <a:prstGeom prst="rect">
            <a:avLst/>
          </a:prstGeom>
          <a:noFill/>
        </p:spPr>
        <p:txBody>
          <a:bodyPr wrap="square" anchor="t" lIns="0" rIns="0" tIns="0" bIns="0">
            <a:spAutoFit/>
          </a:bodyPr>
          <a:lstStyle/>
          <a:p>
            <a:pPr algn="l">
              <a:spcAft>
                <a:spcPts val="100"/>
              </a:spcAft>
            </a:pPr>
            <a:r>
              <a:rPr sz="1250" b="1" i="0">
                <a:solidFill>
                  <a:srgbClr val="1F497D"/>
                </a:solidFill>
                <a:latin typeface="Arial"/>
              </a:rPr>
              <a:t>Assets without product</a:t>
            </a:r>
          </a:p>
          <a:p>
            <a:pPr algn="l">
              <a:spcAft>
                <a:spcPts val="0"/>
              </a:spcAft>
            </a:pPr>
            <a:r>
              <a:rPr sz="950" b="0" i="0">
                <a:solidFill>
                  <a:srgbClr val="404040"/>
                </a:solidFill>
                <a:latin typeface="Arial"/>
              </a:rPr>
              <a:t>Overberg and West Coast marine and wildflower assets have no tours or booking.</a:t>
            </a:r>
          </a:p>
        </p:txBody>
      </p:sp>
      <p:sp>
        <p:nvSpPr>
          <p:cNvPr id="32" name="Rectangle 31"/>
          <p:cNvSpPr/>
          <p:nvPr/>
        </p:nvSpPr>
        <p:spPr>
          <a:xfrm>
            <a:off x="7298512" y="4489704"/>
            <a:ext cx="54864" cy="914400"/>
          </a:xfrm>
          <a:prstGeom prst="rect">
            <a:avLst/>
          </a:prstGeom>
          <a:solidFill>
            <a:srgbClr val="00AEEF"/>
          </a:solidFill>
          <a:ln>
            <a:noFill/>
          </a:ln>
        </p:spPr>
        <p:txBody>
          <a:bodyPr rtlCol="0" anchor="ctr"/>
          <a:lstStyle/>
          <a:p>
            <a:pPr algn="ctr"/>
          </a:p>
        </p:txBody>
      </p:sp>
      <p:sp>
        <p:nvSpPr>
          <p:cNvPr id="33" name="TextBox 32"/>
          <p:cNvSpPr txBox="1"/>
          <p:nvPr/>
        </p:nvSpPr>
        <p:spPr>
          <a:xfrm>
            <a:off x="7481392" y="4471416"/>
            <a:ext cx="4253102" cy="960120"/>
          </a:xfrm>
          <a:prstGeom prst="rect">
            <a:avLst/>
          </a:prstGeom>
          <a:noFill/>
        </p:spPr>
        <p:txBody>
          <a:bodyPr wrap="square" anchor="t" lIns="0" rIns="0" tIns="0" bIns="0">
            <a:spAutoFit/>
          </a:bodyPr>
          <a:lstStyle/>
          <a:p>
            <a:pPr algn="l">
              <a:spcAft>
                <a:spcPts val="100"/>
              </a:spcAft>
            </a:pPr>
            <a:r>
              <a:rPr sz="1250" b="1" i="0">
                <a:solidFill>
                  <a:srgbClr val="1F497D"/>
                </a:solidFill>
                <a:latin typeface="Arial"/>
              </a:rPr>
              <a:t>Thin off-peak calendar</a:t>
            </a:r>
          </a:p>
          <a:p>
            <a:pPr algn="l">
              <a:spcAft>
                <a:spcPts val="0"/>
              </a:spcAft>
            </a:pPr>
            <a:r>
              <a:rPr sz="950" b="0" i="0">
                <a:solidFill>
                  <a:srgbClr val="404040"/>
                </a:solidFill>
                <a:latin typeface="Arial"/>
              </a:rPr>
              <a:t>Shoulder-season events are the largest lever, yet programming is critically thin.</a:t>
            </a:r>
          </a:p>
        </p:txBody>
      </p:sp>
      <p:sp>
        <p:nvSpPr>
          <p:cNvPr id="34" name="Rectangle 33"/>
          <p:cNvSpPr/>
          <p:nvPr/>
        </p:nvSpPr>
        <p:spPr>
          <a:xfrm>
            <a:off x="457200" y="5596128"/>
            <a:ext cx="11277295" cy="384048"/>
          </a:xfrm>
          <a:prstGeom prst="rect">
            <a:avLst/>
          </a:prstGeom>
          <a:solidFill>
            <a:srgbClr val="1F497D"/>
          </a:solidFill>
          <a:ln>
            <a:noFill/>
          </a:ln>
        </p:spPr>
        <p:txBody>
          <a:bodyPr rtlCol="0" anchor="ctr"/>
          <a:lstStyle/>
          <a:p>
            <a:pPr algn="ctr"/>
          </a:p>
        </p:txBody>
      </p:sp>
      <p:sp>
        <p:nvSpPr>
          <p:cNvPr id="35" name="TextBox 34"/>
          <p:cNvSpPr txBox="1"/>
          <p:nvPr/>
        </p:nvSpPr>
        <p:spPr>
          <a:xfrm>
            <a:off x="621792" y="5596128"/>
            <a:ext cx="10948111" cy="384048"/>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Activate before you build: bookable assets, corridor shuttles, route-by-route investment.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Twenty communities hold 18.4% of residents but receive 0.02 to 0.04% of foreign spend, and most sit beside demand</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03 | WHAT EACH DELIVERABLE FOUND | SME AND COMMUNITY INCLUSION PLAN, SEP 2026</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SME and Community Inclusion Plan (Sep 2026) pp5, 12, 16, 23-24, 27. Bars drawn to scale: full width equals 20%.</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13</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TextBox 7"/>
          <p:cNvSpPr txBox="1"/>
          <p:nvPr/>
        </p:nvSpPr>
        <p:spPr>
          <a:xfrm>
            <a:off x="457200" y="1417320"/>
            <a:ext cx="6521272"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TWENTY PRIORITY COMMUNITIES, TO SCALE</a:t>
            </a:r>
          </a:p>
        </p:txBody>
      </p:sp>
      <p:sp>
        <p:nvSpPr>
          <p:cNvPr id="9" name="Label TextBox 8"/>
          <p:cNvSpPr txBox="1"/>
          <p:nvPr/>
        </p:nvSpPr>
        <p:spPr>
          <a:xfrm>
            <a:off x="457200" y="1737360"/>
            <a:ext cx="2743200"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Share of provincial residents</a:t>
            </a:r>
          </a:p>
        </p:txBody>
      </p:sp>
      <p:sp>
        <p:nvSpPr>
          <p:cNvPr id="10" name="Label Rectangle 9"/>
          <p:cNvSpPr/>
          <p:nvPr/>
        </p:nvSpPr>
        <p:spPr>
          <a:xfrm>
            <a:off x="457200" y="2029968"/>
            <a:ext cx="6521272" cy="457200"/>
          </a:xfrm>
          <a:prstGeom prst="rect">
            <a:avLst/>
          </a:prstGeom>
          <a:solidFill>
            <a:srgbClr val="F2F2F2"/>
          </a:solidFill>
          <a:ln>
            <a:noFill/>
          </a:ln>
        </p:spPr>
        <p:txBody>
          <a:bodyPr rtlCol="0" anchor="ctr"/>
          <a:lstStyle/>
          <a:p>
            <a:pPr algn="ctr"/>
          </a:p>
        </p:txBody>
      </p:sp>
      <p:sp>
        <p:nvSpPr>
          <p:cNvPr id="11" name="Label Rectangle 10"/>
          <p:cNvSpPr/>
          <p:nvPr/>
        </p:nvSpPr>
        <p:spPr>
          <a:xfrm>
            <a:off x="457200" y="2029968"/>
            <a:ext cx="5999570" cy="457200"/>
          </a:xfrm>
          <a:prstGeom prst="rect">
            <a:avLst/>
          </a:prstGeom>
          <a:solidFill>
            <a:srgbClr val="1F497D"/>
          </a:solidFill>
          <a:ln>
            <a:noFill/>
          </a:ln>
        </p:spPr>
        <p:txBody>
          <a:bodyPr rtlCol="0" anchor="ctr"/>
          <a:lstStyle/>
          <a:p>
            <a:pPr algn="ctr"/>
          </a:p>
        </p:txBody>
      </p:sp>
      <p:sp>
        <p:nvSpPr>
          <p:cNvPr id="12" name="Label TextBox 11"/>
          <p:cNvSpPr txBox="1"/>
          <p:nvPr/>
        </p:nvSpPr>
        <p:spPr>
          <a:xfrm>
            <a:off x="566928" y="2029968"/>
            <a:ext cx="1828800" cy="457200"/>
          </a:xfrm>
          <a:prstGeom prst="rect">
            <a:avLst/>
          </a:prstGeom>
          <a:noFill/>
        </p:spPr>
        <p:txBody>
          <a:bodyPr wrap="square" anchor="ctr" lIns="0" rIns="0" tIns="0" bIns="0">
            <a:spAutoFit/>
          </a:bodyPr>
          <a:lstStyle/>
          <a:p>
            <a:pPr algn="l">
              <a:spcAft>
                <a:spcPts val="0"/>
              </a:spcAft>
            </a:pPr>
            <a:r>
              <a:rPr sz="1600" b="1" i="0">
                <a:solidFill>
                  <a:srgbClr val="FFFFFF"/>
                </a:solidFill>
                <a:latin typeface="Arial"/>
              </a:rPr>
              <a:t>18.4%</a:t>
            </a:r>
          </a:p>
        </p:txBody>
      </p:sp>
      <p:sp>
        <p:nvSpPr>
          <p:cNvPr id="13" name="Label TextBox 12"/>
          <p:cNvSpPr txBox="1"/>
          <p:nvPr/>
        </p:nvSpPr>
        <p:spPr>
          <a:xfrm>
            <a:off x="457200" y="2651760"/>
            <a:ext cx="3657600"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Share of foreign direct visitor spend</a:t>
            </a:r>
          </a:p>
        </p:txBody>
      </p:sp>
      <p:sp>
        <p:nvSpPr>
          <p:cNvPr id="14" name="Label Rectangle 13"/>
          <p:cNvSpPr/>
          <p:nvPr/>
        </p:nvSpPr>
        <p:spPr>
          <a:xfrm>
            <a:off x="457200" y="2944368"/>
            <a:ext cx="6521272" cy="457200"/>
          </a:xfrm>
          <a:prstGeom prst="rect">
            <a:avLst/>
          </a:prstGeom>
          <a:solidFill>
            <a:srgbClr val="F2F2F2"/>
          </a:solidFill>
          <a:ln>
            <a:noFill/>
          </a:ln>
        </p:spPr>
        <p:txBody>
          <a:bodyPr rtlCol="0" anchor="ctr"/>
          <a:lstStyle/>
          <a:p>
            <a:pPr algn="ctr"/>
          </a:p>
        </p:txBody>
      </p:sp>
      <p:sp>
        <p:nvSpPr>
          <p:cNvPr id="15" name="Label Rectangle 14"/>
          <p:cNvSpPr/>
          <p:nvPr/>
        </p:nvSpPr>
        <p:spPr>
          <a:xfrm>
            <a:off x="457200" y="2944368"/>
            <a:ext cx="22860" cy="457200"/>
          </a:xfrm>
          <a:prstGeom prst="rect">
            <a:avLst/>
          </a:prstGeom>
          <a:solidFill>
            <a:srgbClr val="00AEEF"/>
          </a:solidFill>
          <a:ln>
            <a:noFill/>
          </a:ln>
        </p:spPr>
        <p:txBody>
          <a:bodyPr rtlCol="0" anchor="ctr"/>
          <a:lstStyle/>
          <a:p>
            <a:pPr algn="ctr"/>
          </a:p>
        </p:txBody>
      </p:sp>
      <p:sp>
        <p:nvSpPr>
          <p:cNvPr id="16" name="Label TextBox 15"/>
          <p:cNvSpPr txBox="1"/>
          <p:nvPr/>
        </p:nvSpPr>
        <p:spPr>
          <a:xfrm>
            <a:off x="594360" y="2944368"/>
            <a:ext cx="4572000" cy="457200"/>
          </a:xfrm>
          <a:prstGeom prst="rect">
            <a:avLst/>
          </a:prstGeom>
          <a:noFill/>
        </p:spPr>
        <p:txBody>
          <a:bodyPr wrap="square" anchor="ctr" lIns="0" rIns="0" tIns="0" bIns="0">
            <a:spAutoFit/>
          </a:bodyPr>
          <a:lstStyle/>
          <a:p>
            <a:pPr algn="l">
              <a:spcAft>
                <a:spcPts val="0"/>
              </a:spcAft>
            </a:pPr>
            <a:r>
              <a:rPr sz="1600" b="1" i="0">
                <a:solidFill>
                  <a:srgbClr val="00AEEF"/>
                </a:solidFill>
                <a:latin typeface="Arial"/>
              </a:rPr>
              <a:t>0.02-0.04%</a:t>
            </a:r>
            <a:r>
              <a:rPr sz="1000" b="0" i="0">
                <a:solidFill>
                  <a:srgbClr val="404040"/>
                </a:solidFill>
                <a:latin typeface="Arial"/>
              </a:rPr>
              <a:t>   R4m to R10m a year</a:t>
            </a:r>
          </a:p>
        </p:txBody>
      </p:sp>
      <p:sp>
        <p:nvSpPr>
          <p:cNvPr id="17" name="Rectangle 16"/>
          <p:cNvSpPr/>
          <p:nvPr/>
        </p:nvSpPr>
        <p:spPr>
          <a:xfrm>
            <a:off x="457200" y="3611880"/>
            <a:ext cx="6521272" cy="685800"/>
          </a:xfrm>
          <a:prstGeom prst="rect">
            <a:avLst/>
          </a:prstGeom>
          <a:solidFill>
            <a:srgbClr val="DCEEF7"/>
          </a:solidFill>
          <a:ln>
            <a:noFill/>
          </a:ln>
        </p:spPr>
        <p:txBody>
          <a:bodyPr rtlCol="0" anchor="ctr"/>
          <a:lstStyle/>
          <a:p>
            <a:pPr algn="ctr"/>
          </a:p>
        </p:txBody>
      </p:sp>
      <p:sp>
        <p:nvSpPr>
          <p:cNvPr id="18" name="TextBox 17"/>
          <p:cNvSpPr txBox="1"/>
          <p:nvPr/>
        </p:nvSpPr>
        <p:spPr>
          <a:xfrm>
            <a:off x="594360" y="3611880"/>
            <a:ext cx="6246952" cy="685800"/>
          </a:xfrm>
          <a:prstGeom prst="rect">
            <a:avLst/>
          </a:prstGeom>
          <a:noFill/>
        </p:spPr>
        <p:txBody>
          <a:bodyPr wrap="square" anchor="ctr" lIns="0" rIns="0" tIns="0" bIns="0">
            <a:spAutoFit/>
          </a:bodyPr>
          <a:lstStyle/>
          <a:p>
            <a:pPr algn="l">
              <a:spcAft>
                <a:spcPts val="0"/>
              </a:spcAft>
            </a:pPr>
            <a:r>
              <a:rPr sz="1600" b="1" i="0">
                <a:solidFill>
                  <a:srgbClr val="1F497D"/>
                </a:solidFill>
                <a:latin typeface="Arial"/>
              </a:rPr>
              <a:t>R259m a year </a:t>
            </a:r>
            <a:r>
              <a:rPr sz="1000" b="0" i="0">
                <a:solidFill>
                  <a:srgbClr val="404040"/>
                </a:solidFill>
                <a:latin typeface="Arial"/>
              </a:rPr>
              <a:t>if they captured 1% of foreign direct spend; R547m at the 2035 ambition</a:t>
            </a:r>
          </a:p>
        </p:txBody>
      </p:sp>
      <p:sp>
        <p:nvSpPr>
          <p:cNvPr id="19" name="TextBox 18"/>
          <p:cNvSpPr txBox="1"/>
          <p:nvPr/>
        </p:nvSpPr>
        <p:spPr>
          <a:xfrm>
            <a:off x="457200" y="4480560"/>
            <a:ext cx="2082317" cy="1005840"/>
          </a:xfrm>
          <a:prstGeom prst="rect">
            <a:avLst/>
          </a:prstGeom>
          <a:noFill/>
        </p:spPr>
        <p:txBody>
          <a:bodyPr wrap="square" anchor="t" lIns="0" rIns="0" tIns="0" bIns="0">
            <a:spAutoFit/>
          </a:bodyPr>
          <a:lstStyle/>
          <a:p>
            <a:pPr algn="l">
              <a:spcAft>
                <a:spcPts val="0"/>
              </a:spcAft>
            </a:pPr>
            <a:r>
              <a:rPr sz="1600" b="1" i="0">
                <a:solidFill>
                  <a:srgbClr val="1F497D"/>
                </a:solidFill>
                <a:latin typeface="Arial"/>
              </a:rPr>
              <a:t>11 of 20</a:t>
            </a:r>
          </a:p>
          <a:p>
            <a:pPr algn="l">
              <a:spcAft>
                <a:spcPts val="0"/>
              </a:spcAft>
            </a:pPr>
            <a:r>
              <a:rPr sz="950" b="0" i="0">
                <a:solidFill>
                  <a:srgbClr val="404040"/>
                </a:solidFill>
                <a:latin typeface="Arial"/>
              </a:rPr>
              <a:t>are held back by organisation; 9 by safety perception</a:t>
            </a:r>
          </a:p>
        </p:txBody>
      </p:sp>
      <p:sp>
        <p:nvSpPr>
          <p:cNvPr id="20" name="TextBox 19"/>
          <p:cNvSpPr txBox="1"/>
          <p:nvPr/>
        </p:nvSpPr>
        <p:spPr>
          <a:xfrm>
            <a:off x="2676677" y="4480560"/>
            <a:ext cx="2082317" cy="1005840"/>
          </a:xfrm>
          <a:prstGeom prst="rect">
            <a:avLst/>
          </a:prstGeom>
          <a:noFill/>
        </p:spPr>
        <p:txBody>
          <a:bodyPr wrap="square" anchor="t" lIns="0" rIns="0" tIns="0" bIns="0">
            <a:spAutoFit/>
          </a:bodyPr>
          <a:lstStyle/>
          <a:p>
            <a:pPr algn="l">
              <a:spcAft>
                <a:spcPts val="0"/>
              </a:spcAft>
            </a:pPr>
            <a:r>
              <a:rPr sz="1600" b="1" i="0">
                <a:solidFill>
                  <a:srgbClr val="1F497D"/>
                </a:solidFill>
                <a:latin typeface="Arial"/>
              </a:rPr>
              <a:t>93 of 107</a:t>
            </a:r>
          </a:p>
          <a:p>
            <a:pPr algn="l">
              <a:spcAft>
                <a:spcPts val="0"/>
              </a:spcAft>
            </a:pPr>
            <a:r>
              <a:rPr sz="950" b="0" i="0">
                <a:solidFill>
                  <a:srgbClr val="404040"/>
                </a:solidFill>
                <a:latin typeface="Arial"/>
              </a:rPr>
              <a:t>communities sit within 45 minutes of a tourism node or corridor</a:t>
            </a:r>
          </a:p>
        </p:txBody>
      </p:sp>
      <p:sp>
        <p:nvSpPr>
          <p:cNvPr id="21" name="TextBox 20"/>
          <p:cNvSpPr txBox="1"/>
          <p:nvPr/>
        </p:nvSpPr>
        <p:spPr>
          <a:xfrm>
            <a:off x="4896154" y="4480560"/>
            <a:ext cx="2082317" cy="1005840"/>
          </a:xfrm>
          <a:prstGeom prst="rect">
            <a:avLst/>
          </a:prstGeom>
          <a:noFill/>
        </p:spPr>
        <p:txBody>
          <a:bodyPr wrap="square" anchor="t" lIns="0" rIns="0" tIns="0" bIns="0">
            <a:spAutoFit/>
          </a:bodyPr>
          <a:lstStyle/>
          <a:p>
            <a:pPr algn="l">
              <a:spcAft>
                <a:spcPts val="0"/>
              </a:spcAft>
            </a:pPr>
            <a:r>
              <a:rPr sz="1600" b="1" i="0">
                <a:solidFill>
                  <a:srgbClr val="1F497D"/>
                </a:solidFill>
                <a:latin typeface="Arial"/>
              </a:rPr>
              <a:t>~R497m</a:t>
            </a:r>
          </a:p>
          <a:p>
            <a:pPr algn="l">
              <a:spcAft>
                <a:spcPts val="0"/>
              </a:spcAft>
            </a:pPr>
            <a:r>
              <a:rPr sz="950" b="0" i="0">
                <a:solidFill>
                  <a:srgbClr val="404040"/>
                </a:solidFill>
                <a:latin typeface="Arial"/>
              </a:rPr>
              <a:t>spent in Kliptown before any operator; ~4,000 visitors a year</a:t>
            </a:r>
          </a:p>
        </p:txBody>
      </p:sp>
      <p:sp>
        <p:nvSpPr>
          <p:cNvPr id="22" name="TextBox 21"/>
          <p:cNvSpPr txBox="1"/>
          <p:nvPr/>
        </p:nvSpPr>
        <p:spPr>
          <a:xfrm>
            <a:off x="8158276" y="1417320"/>
            <a:ext cx="3576218"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THE ORDER THAT WORKED IN THE CASES</a:t>
            </a:r>
          </a:p>
        </p:txBody>
      </p:sp>
      <p:sp>
        <p:nvSpPr>
          <p:cNvPr id="23" name="Label Oval 22"/>
          <p:cNvSpPr/>
          <p:nvPr/>
        </p:nvSpPr>
        <p:spPr>
          <a:xfrm>
            <a:off x="8158276" y="1783080"/>
            <a:ext cx="566928" cy="566928"/>
          </a:xfrm>
          <a:prstGeom prst="ellipse">
            <a:avLst/>
          </a:prstGeom>
          <a:solidFill>
            <a:srgbClr val="00AEEF"/>
          </a:solidFill>
          <a:ln>
            <a:noFill/>
          </a:ln>
        </p:spPr>
        <p:txBody>
          <a:bodyPr rtlCol="0" anchor="ctr" wrap="square" lIns="0" rIns="0" tIns="0" bIns="0"/>
          <a:lstStyle/>
          <a:p>
            <a:pPr algn="ctr">
              <a:spcAft>
                <a:spcPts val="0"/>
              </a:spcAft>
            </a:pPr>
            <a:r>
              <a:rPr sz="1800" b="1" i="0">
                <a:solidFill>
                  <a:srgbClr val="FFFFFF"/>
                </a:solidFill>
                <a:latin typeface="Arial"/>
              </a:rPr>
              <a:t>1</a:t>
            </a:r>
          </a:p>
        </p:txBody>
      </p:sp>
      <p:sp>
        <p:nvSpPr>
          <p:cNvPr id="24" name="Label TextBox 23"/>
          <p:cNvSpPr txBox="1"/>
          <p:nvPr/>
        </p:nvSpPr>
        <p:spPr>
          <a:xfrm>
            <a:off x="8889796" y="1783080"/>
            <a:ext cx="2844698" cy="566928"/>
          </a:xfrm>
          <a:prstGeom prst="rect">
            <a:avLst/>
          </a:prstGeom>
          <a:noFill/>
        </p:spPr>
        <p:txBody>
          <a:bodyPr wrap="square" anchor="ctr" lIns="0" rIns="0" tIns="0" bIns="0">
            <a:spAutoFit/>
          </a:bodyPr>
          <a:lstStyle/>
          <a:p>
            <a:pPr algn="l">
              <a:spcAft>
                <a:spcPts val="0"/>
              </a:spcAft>
            </a:pPr>
            <a:r>
              <a:rPr sz="1200" b="1" i="0">
                <a:solidFill>
                  <a:srgbClr val="1F497D"/>
                </a:solidFill>
                <a:latin typeface="Arial"/>
              </a:rPr>
              <a:t>A seller with a stake</a:t>
            </a:r>
          </a:p>
        </p:txBody>
      </p:sp>
      <p:cxnSp>
        <p:nvCxnSpPr>
          <p:cNvPr id="25" name="Label Connector 24"/>
          <p:cNvCxnSpPr/>
          <p:nvPr/>
        </p:nvCxnSpPr>
        <p:spPr>
          <a:xfrm>
            <a:off x="8441740" y="2368296"/>
            <a:ext cx="0" cy="329184"/>
          </a:xfrm>
          <a:prstGeom prst="line">
            <a:avLst/>
          </a:prstGeom>
          <a:ln w="15875">
            <a:solidFill>
              <a:srgbClr val="7F7F7F"/>
            </a:solidFill>
            <a:tailEnd type="triangle" w="med" len="med"/>
          </a:ln>
        </p:spPr>
      </p:cxnSp>
      <p:sp>
        <p:nvSpPr>
          <p:cNvPr id="26" name="Label Oval 25"/>
          <p:cNvSpPr/>
          <p:nvPr/>
        </p:nvSpPr>
        <p:spPr>
          <a:xfrm>
            <a:off x="8158276" y="2715768"/>
            <a:ext cx="566928" cy="566928"/>
          </a:xfrm>
          <a:prstGeom prst="ellipse">
            <a:avLst/>
          </a:prstGeom>
          <a:solidFill>
            <a:srgbClr val="1F497D"/>
          </a:solidFill>
          <a:ln>
            <a:noFill/>
          </a:ln>
        </p:spPr>
        <p:txBody>
          <a:bodyPr rtlCol="0" anchor="ctr" wrap="square" lIns="0" rIns="0" tIns="0" bIns="0"/>
          <a:lstStyle/>
          <a:p>
            <a:pPr algn="ctr">
              <a:spcAft>
                <a:spcPts val="0"/>
              </a:spcAft>
            </a:pPr>
            <a:r>
              <a:rPr sz="1800" b="1" i="0">
                <a:solidFill>
                  <a:srgbClr val="FFFFFF"/>
                </a:solidFill>
                <a:latin typeface="Arial"/>
              </a:rPr>
              <a:t>2</a:t>
            </a:r>
          </a:p>
        </p:txBody>
      </p:sp>
      <p:sp>
        <p:nvSpPr>
          <p:cNvPr id="27" name="Label TextBox 26"/>
          <p:cNvSpPr txBox="1"/>
          <p:nvPr/>
        </p:nvSpPr>
        <p:spPr>
          <a:xfrm>
            <a:off x="8889796" y="2715768"/>
            <a:ext cx="2844698" cy="566928"/>
          </a:xfrm>
          <a:prstGeom prst="rect">
            <a:avLst/>
          </a:prstGeom>
          <a:noFill/>
        </p:spPr>
        <p:txBody>
          <a:bodyPr wrap="square" anchor="ctr" lIns="0" rIns="0" tIns="0" bIns="0">
            <a:spAutoFit/>
          </a:bodyPr>
          <a:lstStyle/>
          <a:p>
            <a:pPr algn="l">
              <a:spcAft>
                <a:spcPts val="0"/>
              </a:spcAft>
            </a:pPr>
            <a:r>
              <a:rPr sz="1200" b="1" i="0">
                <a:solidFill>
                  <a:srgbClr val="1F497D"/>
                </a:solidFill>
                <a:latin typeface="Arial"/>
              </a:rPr>
              <a:t>A safe, workable visit</a:t>
            </a:r>
          </a:p>
        </p:txBody>
      </p:sp>
      <p:cxnSp>
        <p:nvCxnSpPr>
          <p:cNvPr id="28" name="Label Connector 27"/>
          <p:cNvCxnSpPr/>
          <p:nvPr/>
        </p:nvCxnSpPr>
        <p:spPr>
          <a:xfrm>
            <a:off x="8441740" y="3300984"/>
            <a:ext cx="0" cy="329184"/>
          </a:xfrm>
          <a:prstGeom prst="line">
            <a:avLst/>
          </a:prstGeom>
          <a:ln w="15875">
            <a:solidFill>
              <a:srgbClr val="7F7F7F"/>
            </a:solidFill>
            <a:tailEnd type="triangle" w="med" len="med"/>
          </a:ln>
        </p:spPr>
      </p:cxnSp>
      <p:sp>
        <p:nvSpPr>
          <p:cNvPr id="29" name="Label Oval 28"/>
          <p:cNvSpPr/>
          <p:nvPr/>
        </p:nvSpPr>
        <p:spPr>
          <a:xfrm>
            <a:off x="8158276" y="3648456"/>
            <a:ext cx="566928" cy="566928"/>
          </a:xfrm>
          <a:prstGeom prst="ellipse">
            <a:avLst/>
          </a:prstGeom>
          <a:solidFill>
            <a:srgbClr val="1F497D"/>
          </a:solidFill>
          <a:ln>
            <a:noFill/>
          </a:ln>
        </p:spPr>
        <p:txBody>
          <a:bodyPr rtlCol="0" anchor="ctr" wrap="square" lIns="0" rIns="0" tIns="0" bIns="0"/>
          <a:lstStyle/>
          <a:p>
            <a:pPr algn="ctr">
              <a:spcAft>
                <a:spcPts val="0"/>
              </a:spcAft>
            </a:pPr>
            <a:r>
              <a:rPr sz="1800" b="1" i="0">
                <a:solidFill>
                  <a:srgbClr val="FFFFFF"/>
                </a:solidFill>
                <a:latin typeface="Arial"/>
              </a:rPr>
              <a:t>3</a:t>
            </a:r>
          </a:p>
        </p:txBody>
      </p:sp>
      <p:sp>
        <p:nvSpPr>
          <p:cNvPr id="30" name="Label TextBox 29"/>
          <p:cNvSpPr txBox="1"/>
          <p:nvPr/>
        </p:nvSpPr>
        <p:spPr>
          <a:xfrm>
            <a:off x="8889796" y="3648456"/>
            <a:ext cx="2844698" cy="566928"/>
          </a:xfrm>
          <a:prstGeom prst="rect">
            <a:avLst/>
          </a:prstGeom>
          <a:noFill/>
        </p:spPr>
        <p:txBody>
          <a:bodyPr wrap="square" anchor="ctr" lIns="0" rIns="0" tIns="0" bIns="0">
            <a:spAutoFit/>
          </a:bodyPr>
          <a:lstStyle/>
          <a:p>
            <a:pPr algn="l">
              <a:spcAft>
                <a:spcPts val="0"/>
              </a:spcAft>
            </a:pPr>
            <a:r>
              <a:rPr sz="1200" b="1" i="0">
                <a:solidFill>
                  <a:srgbClr val="1F497D"/>
                </a:solidFill>
                <a:latin typeface="Arial"/>
              </a:rPr>
              <a:t>Product that keeps spend local</a:t>
            </a:r>
          </a:p>
        </p:txBody>
      </p:sp>
      <p:cxnSp>
        <p:nvCxnSpPr>
          <p:cNvPr id="31" name="Label Connector 30"/>
          <p:cNvCxnSpPr/>
          <p:nvPr/>
        </p:nvCxnSpPr>
        <p:spPr>
          <a:xfrm>
            <a:off x="8441740" y="4233672"/>
            <a:ext cx="0" cy="329184"/>
          </a:xfrm>
          <a:prstGeom prst="line">
            <a:avLst/>
          </a:prstGeom>
          <a:ln w="15875">
            <a:solidFill>
              <a:srgbClr val="7F7F7F"/>
            </a:solidFill>
            <a:tailEnd type="triangle" w="med" len="med"/>
          </a:ln>
        </p:spPr>
      </p:cxnSp>
      <p:sp>
        <p:nvSpPr>
          <p:cNvPr id="32" name="Label Oval 31"/>
          <p:cNvSpPr/>
          <p:nvPr/>
        </p:nvSpPr>
        <p:spPr>
          <a:xfrm>
            <a:off x="8158276" y="4581144"/>
            <a:ext cx="566928" cy="566928"/>
          </a:xfrm>
          <a:prstGeom prst="ellipse">
            <a:avLst/>
          </a:prstGeom>
          <a:solidFill>
            <a:srgbClr val="1F497D"/>
          </a:solidFill>
          <a:ln>
            <a:noFill/>
          </a:ln>
        </p:spPr>
        <p:txBody>
          <a:bodyPr rtlCol="0" anchor="ctr" wrap="square" lIns="0" rIns="0" tIns="0" bIns="0"/>
          <a:lstStyle/>
          <a:p>
            <a:pPr algn="ctr">
              <a:spcAft>
                <a:spcPts val="0"/>
              </a:spcAft>
            </a:pPr>
            <a:r>
              <a:rPr sz="1800" b="1" i="0">
                <a:solidFill>
                  <a:srgbClr val="FFFFFF"/>
                </a:solidFill>
                <a:latin typeface="Arial"/>
              </a:rPr>
              <a:t>4</a:t>
            </a:r>
          </a:p>
        </p:txBody>
      </p:sp>
      <p:sp>
        <p:nvSpPr>
          <p:cNvPr id="33" name="Label TextBox 32"/>
          <p:cNvSpPr txBox="1"/>
          <p:nvPr/>
        </p:nvSpPr>
        <p:spPr>
          <a:xfrm>
            <a:off x="8889796" y="4581144"/>
            <a:ext cx="2844698" cy="566928"/>
          </a:xfrm>
          <a:prstGeom prst="rect">
            <a:avLst/>
          </a:prstGeom>
          <a:noFill/>
        </p:spPr>
        <p:txBody>
          <a:bodyPr wrap="square" anchor="ctr" lIns="0" rIns="0" tIns="0" bIns="0">
            <a:spAutoFit/>
          </a:bodyPr>
          <a:lstStyle/>
          <a:p>
            <a:pPr algn="l">
              <a:spcAft>
                <a:spcPts val="0"/>
              </a:spcAft>
            </a:pPr>
            <a:r>
              <a:rPr sz="1200" b="1" i="0">
                <a:solidFill>
                  <a:srgbClr val="1F497D"/>
                </a:solidFill>
                <a:latin typeface="Arial"/>
              </a:rPr>
              <a:t>Then exposure</a:t>
            </a:r>
          </a:p>
        </p:txBody>
      </p:sp>
      <p:sp>
        <p:nvSpPr>
          <p:cNvPr id="34" name="Rectangle 33"/>
          <p:cNvSpPr/>
          <p:nvPr/>
        </p:nvSpPr>
        <p:spPr>
          <a:xfrm>
            <a:off x="457200" y="5596128"/>
            <a:ext cx="11277295" cy="384048"/>
          </a:xfrm>
          <a:prstGeom prst="rect">
            <a:avLst/>
          </a:prstGeom>
          <a:solidFill>
            <a:srgbClr val="1F497D"/>
          </a:solidFill>
          <a:ln>
            <a:noFill/>
          </a:ln>
        </p:spPr>
        <p:txBody>
          <a:bodyPr rtlCol="0" anchor="ctr"/>
          <a:lstStyle/>
          <a:p>
            <a:pPr algn="ctr"/>
          </a:p>
        </p:txBody>
      </p:sp>
      <p:sp>
        <p:nvSpPr>
          <p:cNvPr id="35" name="TextBox 34"/>
          <p:cNvSpPr txBox="1"/>
          <p:nvPr/>
        </p:nvSpPr>
        <p:spPr>
          <a:xfrm>
            <a:off x="621792" y="5596128"/>
            <a:ext cx="10948111" cy="384048"/>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Fund a seller with a stake and pilot two or three communities before any capital.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Fourteen of the eighteen December themes are supported by the evidence and four are partly supported; none is contradicted</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04 | THE TREE, REVISED AND TESTED</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Letsema assessment of the December tree (Diagnostic p64) against all interim deliverables; evidence and pages in appendix A1. Supply and inclusion reports were framed by the tree.</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14</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Label TextBox 7"/>
          <p:cNvSpPr txBox="1"/>
          <p:nvPr/>
        </p:nvSpPr>
        <p:spPr>
          <a:xfrm>
            <a:off x="457200" y="1636776"/>
            <a:ext cx="1463040" cy="822960"/>
          </a:xfrm>
          <a:prstGeom prst="rect">
            <a:avLst/>
          </a:prstGeom>
          <a:noFill/>
        </p:spPr>
        <p:txBody>
          <a:bodyPr wrap="square" anchor="ctr" lIns="0" rIns="0" tIns="0" bIns="0">
            <a:spAutoFit/>
          </a:bodyPr>
          <a:lstStyle/>
          <a:p>
            <a:pPr algn="l">
              <a:spcAft>
                <a:spcPts val="0"/>
              </a:spcAft>
            </a:pPr>
            <a:r>
              <a:rPr sz="950" b="1" i="0">
                <a:solidFill>
                  <a:srgbClr val="1F497D"/>
                </a:solidFill>
                <a:latin typeface="Arial"/>
              </a:rPr>
              <a:t>Reshape demand</a:t>
            </a:r>
          </a:p>
        </p:txBody>
      </p:sp>
      <p:sp>
        <p:nvSpPr>
          <p:cNvPr id="9" name="Label TextBox 8"/>
          <p:cNvSpPr txBox="1"/>
          <p:nvPr/>
        </p:nvSpPr>
        <p:spPr>
          <a:xfrm>
            <a:off x="2011680" y="1417320"/>
            <a:ext cx="4824831" cy="219456"/>
          </a:xfrm>
          <a:prstGeom prst="rect">
            <a:avLst/>
          </a:prstGeom>
          <a:noFill/>
        </p:spPr>
        <p:txBody>
          <a:bodyPr wrap="square" anchor="t" lIns="0" rIns="0" tIns="0" bIns="0">
            <a:spAutoFit/>
          </a:bodyPr>
          <a:lstStyle/>
          <a:p>
            <a:pPr algn="l">
              <a:spcAft>
                <a:spcPts val="0"/>
              </a:spcAft>
            </a:pPr>
            <a:r>
              <a:rPr sz="750" b="1" i="0">
                <a:solidFill>
                  <a:srgbClr val="7F7F7F"/>
                </a:solidFill>
                <a:latin typeface="Arial"/>
              </a:rPr>
              <a:t>1.1  TRAVELLER, BRAND AND PROPOSITION</a:t>
            </a:r>
          </a:p>
        </p:txBody>
      </p:sp>
      <p:cxnSp>
        <p:nvCxnSpPr>
          <p:cNvPr id="10" name="Label Connector 9"/>
          <p:cNvCxnSpPr/>
          <p:nvPr/>
        </p:nvCxnSpPr>
        <p:spPr>
          <a:xfrm>
            <a:off x="2011680" y="1618488"/>
            <a:ext cx="4824831" cy="0"/>
          </a:xfrm>
          <a:prstGeom prst="line">
            <a:avLst/>
          </a:prstGeom>
          <a:ln w="9525">
            <a:solidFill>
              <a:srgbClr val="D9D9D9"/>
            </a:solidFill>
          </a:ln>
        </p:spPr>
      </p:cxnSp>
      <p:sp>
        <p:nvSpPr>
          <p:cNvPr id="11" name="Label TextBox 10"/>
          <p:cNvSpPr txBox="1"/>
          <p:nvPr/>
        </p:nvSpPr>
        <p:spPr>
          <a:xfrm>
            <a:off x="6909663" y="1417320"/>
            <a:ext cx="4824831" cy="219456"/>
          </a:xfrm>
          <a:prstGeom prst="rect">
            <a:avLst/>
          </a:prstGeom>
          <a:noFill/>
        </p:spPr>
        <p:txBody>
          <a:bodyPr wrap="square" anchor="t" lIns="0" rIns="0" tIns="0" bIns="0">
            <a:spAutoFit/>
          </a:bodyPr>
          <a:lstStyle/>
          <a:p>
            <a:pPr algn="l">
              <a:spcAft>
                <a:spcPts val="0"/>
              </a:spcAft>
            </a:pPr>
            <a:r>
              <a:rPr sz="750" b="1" i="0">
                <a:solidFill>
                  <a:srgbClr val="7F7F7F"/>
                </a:solidFill>
                <a:latin typeface="Arial"/>
              </a:rPr>
              <a:t>1.2  SOURCE MARKET GROWTH AND DIVERSIFICATION</a:t>
            </a:r>
          </a:p>
        </p:txBody>
      </p:sp>
      <p:cxnSp>
        <p:nvCxnSpPr>
          <p:cNvPr id="12" name="Label Connector 11"/>
          <p:cNvCxnSpPr/>
          <p:nvPr/>
        </p:nvCxnSpPr>
        <p:spPr>
          <a:xfrm>
            <a:off x="6909663" y="1618488"/>
            <a:ext cx="4824832" cy="0"/>
          </a:xfrm>
          <a:prstGeom prst="line">
            <a:avLst/>
          </a:prstGeom>
          <a:ln w="9525">
            <a:solidFill>
              <a:srgbClr val="D9D9D9"/>
            </a:solidFill>
          </a:ln>
        </p:spPr>
      </p:cxnSp>
      <p:sp>
        <p:nvSpPr>
          <p:cNvPr id="13" name="Label Rectangle 12"/>
          <p:cNvSpPr/>
          <p:nvPr/>
        </p:nvSpPr>
        <p:spPr>
          <a:xfrm>
            <a:off x="2011680" y="1636776"/>
            <a:ext cx="1559509" cy="822960"/>
          </a:xfrm>
          <a:prstGeom prst="rect">
            <a:avLst/>
          </a:prstGeom>
          <a:solidFill>
            <a:srgbClr val="FDECC8"/>
          </a:solidFill>
          <a:ln>
            <a:noFill/>
          </a:ln>
        </p:spPr>
        <p:txBody>
          <a:bodyPr rtlCol="0" anchor="ctr"/>
          <a:lstStyle/>
          <a:p>
            <a:pPr algn="ctr"/>
          </a:p>
        </p:txBody>
      </p:sp>
      <p:sp>
        <p:nvSpPr>
          <p:cNvPr id="14" name="Label Rectangle 13"/>
          <p:cNvSpPr/>
          <p:nvPr/>
        </p:nvSpPr>
        <p:spPr>
          <a:xfrm>
            <a:off x="2011680" y="1636776"/>
            <a:ext cx="1559509" cy="54864"/>
          </a:xfrm>
          <a:prstGeom prst="rect">
            <a:avLst/>
          </a:prstGeom>
          <a:solidFill>
            <a:srgbClr val="F2A900"/>
          </a:solidFill>
          <a:ln>
            <a:noFill/>
          </a:ln>
        </p:spPr>
        <p:txBody>
          <a:bodyPr rtlCol="0" anchor="ctr"/>
          <a:lstStyle/>
          <a:p>
            <a:pPr algn="ctr"/>
          </a:p>
        </p:txBody>
      </p:sp>
      <p:sp>
        <p:nvSpPr>
          <p:cNvPr id="15" name="Label TextBox 14"/>
          <p:cNvSpPr txBox="1"/>
          <p:nvPr/>
        </p:nvSpPr>
        <p:spPr>
          <a:xfrm>
            <a:off x="2084832" y="1746504"/>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Segment preferences</a:t>
            </a:r>
          </a:p>
        </p:txBody>
      </p:sp>
      <p:sp>
        <p:nvSpPr>
          <p:cNvPr id="16" name="Label Oval 15"/>
          <p:cNvSpPr/>
          <p:nvPr/>
        </p:nvSpPr>
        <p:spPr>
          <a:xfrm>
            <a:off x="2084832" y="2258568"/>
            <a:ext cx="82296" cy="82296"/>
          </a:xfrm>
          <a:prstGeom prst="ellipse">
            <a:avLst/>
          </a:prstGeom>
          <a:solidFill>
            <a:srgbClr val="F2A900"/>
          </a:solidFill>
          <a:ln w="9525">
            <a:solidFill>
              <a:srgbClr val="F2A900"/>
            </a:solidFill>
          </a:ln>
        </p:spPr>
        <p:txBody>
          <a:bodyPr rtlCol="0" anchor="ctr"/>
          <a:lstStyle/>
          <a:p>
            <a:pPr algn="ctr"/>
          </a:p>
        </p:txBody>
      </p:sp>
      <p:sp>
        <p:nvSpPr>
          <p:cNvPr id="17" name="Label Oval 16"/>
          <p:cNvSpPr/>
          <p:nvPr/>
        </p:nvSpPr>
        <p:spPr>
          <a:xfrm>
            <a:off x="2194560" y="2258568"/>
            <a:ext cx="82296" cy="82296"/>
          </a:xfrm>
          <a:prstGeom prst="ellipse">
            <a:avLst/>
          </a:prstGeom>
          <a:solidFill>
            <a:srgbClr val="FFFFFF"/>
          </a:solidFill>
          <a:ln w="9525">
            <a:solidFill>
              <a:srgbClr val="F2A900"/>
            </a:solidFill>
          </a:ln>
        </p:spPr>
        <p:txBody>
          <a:bodyPr rtlCol="0" anchor="ctr"/>
          <a:lstStyle/>
          <a:p>
            <a:pPr algn="ctr"/>
          </a:p>
        </p:txBody>
      </p:sp>
      <p:sp>
        <p:nvSpPr>
          <p:cNvPr id="18" name="Label Oval 17"/>
          <p:cNvSpPr/>
          <p:nvPr/>
        </p:nvSpPr>
        <p:spPr>
          <a:xfrm>
            <a:off x="2304288" y="2258568"/>
            <a:ext cx="82296" cy="82296"/>
          </a:xfrm>
          <a:prstGeom prst="ellipse">
            <a:avLst/>
          </a:prstGeom>
          <a:solidFill>
            <a:srgbClr val="FFFFFF"/>
          </a:solidFill>
          <a:ln w="9525">
            <a:solidFill>
              <a:srgbClr val="F2A900"/>
            </a:solidFill>
          </a:ln>
        </p:spPr>
        <p:txBody>
          <a:bodyPr rtlCol="0" anchor="ctr"/>
          <a:lstStyle/>
          <a:p>
            <a:pPr algn="ctr"/>
          </a:p>
        </p:txBody>
      </p:sp>
      <p:sp>
        <p:nvSpPr>
          <p:cNvPr id="19" name="Label TextBox 18"/>
          <p:cNvSpPr txBox="1"/>
          <p:nvPr/>
        </p:nvSpPr>
        <p:spPr>
          <a:xfrm>
            <a:off x="2514600" y="2203704"/>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Unsized</a:t>
            </a:r>
          </a:p>
        </p:txBody>
      </p:sp>
      <p:sp>
        <p:nvSpPr>
          <p:cNvPr id="20" name="Label Rectangle 19"/>
          <p:cNvSpPr/>
          <p:nvPr/>
        </p:nvSpPr>
        <p:spPr>
          <a:xfrm>
            <a:off x="3644341" y="1636776"/>
            <a:ext cx="1559509" cy="822960"/>
          </a:xfrm>
          <a:prstGeom prst="rect">
            <a:avLst/>
          </a:prstGeom>
          <a:solidFill>
            <a:srgbClr val="D6EFDA"/>
          </a:solidFill>
          <a:ln>
            <a:noFill/>
          </a:ln>
        </p:spPr>
        <p:txBody>
          <a:bodyPr rtlCol="0" anchor="ctr"/>
          <a:lstStyle/>
          <a:p>
            <a:pPr algn="ctr"/>
          </a:p>
        </p:txBody>
      </p:sp>
      <p:sp>
        <p:nvSpPr>
          <p:cNvPr id="21" name="Label Rectangle 20"/>
          <p:cNvSpPr/>
          <p:nvPr/>
        </p:nvSpPr>
        <p:spPr>
          <a:xfrm>
            <a:off x="3644341" y="1636776"/>
            <a:ext cx="1559509" cy="54864"/>
          </a:xfrm>
          <a:prstGeom prst="rect">
            <a:avLst/>
          </a:prstGeom>
          <a:solidFill>
            <a:srgbClr val="2E9E44"/>
          </a:solidFill>
          <a:ln>
            <a:noFill/>
          </a:ln>
        </p:spPr>
        <p:txBody>
          <a:bodyPr rtlCol="0" anchor="ctr"/>
          <a:lstStyle/>
          <a:p>
            <a:pPr algn="ctr"/>
          </a:p>
        </p:txBody>
      </p:sp>
      <p:sp>
        <p:nvSpPr>
          <p:cNvPr id="22" name="Label TextBox 21"/>
          <p:cNvSpPr txBox="1"/>
          <p:nvPr/>
        </p:nvSpPr>
        <p:spPr>
          <a:xfrm>
            <a:off x="3717493" y="1746504"/>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Seasonality and spread</a:t>
            </a:r>
          </a:p>
        </p:txBody>
      </p:sp>
      <p:sp>
        <p:nvSpPr>
          <p:cNvPr id="23" name="Label Oval 22"/>
          <p:cNvSpPr/>
          <p:nvPr/>
        </p:nvSpPr>
        <p:spPr>
          <a:xfrm>
            <a:off x="3717493" y="2258568"/>
            <a:ext cx="82296" cy="82296"/>
          </a:xfrm>
          <a:prstGeom prst="ellipse">
            <a:avLst/>
          </a:prstGeom>
          <a:solidFill>
            <a:srgbClr val="2E9E44"/>
          </a:solidFill>
          <a:ln w="9525">
            <a:solidFill>
              <a:srgbClr val="2E9E44"/>
            </a:solidFill>
          </a:ln>
        </p:spPr>
        <p:txBody>
          <a:bodyPr rtlCol="0" anchor="ctr"/>
          <a:lstStyle/>
          <a:p>
            <a:pPr algn="ctr"/>
          </a:p>
        </p:txBody>
      </p:sp>
      <p:sp>
        <p:nvSpPr>
          <p:cNvPr id="24" name="Label Oval 23"/>
          <p:cNvSpPr/>
          <p:nvPr/>
        </p:nvSpPr>
        <p:spPr>
          <a:xfrm>
            <a:off x="3827221" y="2258568"/>
            <a:ext cx="82296" cy="82296"/>
          </a:xfrm>
          <a:prstGeom prst="ellipse">
            <a:avLst/>
          </a:prstGeom>
          <a:solidFill>
            <a:srgbClr val="2E9E44"/>
          </a:solidFill>
          <a:ln w="9525">
            <a:solidFill>
              <a:srgbClr val="2E9E44"/>
            </a:solidFill>
          </a:ln>
        </p:spPr>
        <p:txBody>
          <a:bodyPr rtlCol="0" anchor="ctr"/>
          <a:lstStyle/>
          <a:p>
            <a:pPr algn="ctr"/>
          </a:p>
        </p:txBody>
      </p:sp>
      <p:sp>
        <p:nvSpPr>
          <p:cNvPr id="25" name="Label Oval 24"/>
          <p:cNvSpPr/>
          <p:nvPr/>
        </p:nvSpPr>
        <p:spPr>
          <a:xfrm>
            <a:off x="3936949" y="2258568"/>
            <a:ext cx="82296" cy="82296"/>
          </a:xfrm>
          <a:prstGeom prst="ellipse">
            <a:avLst/>
          </a:prstGeom>
          <a:solidFill>
            <a:srgbClr val="2E9E44"/>
          </a:solidFill>
          <a:ln w="9525">
            <a:solidFill>
              <a:srgbClr val="2E9E44"/>
            </a:solidFill>
          </a:ln>
        </p:spPr>
        <p:txBody>
          <a:bodyPr rtlCol="0" anchor="ctr"/>
          <a:lstStyle/>
          <a:p>
            <a:pPr algn="ctr"/>
          </a:p>
        </p:txBody>
      </p:sp>
      <p:sp>
        <p:nvSpPr>
          <p:cNvPr id="26" name="Label TextBox 25"/>
          <p:cNvSpPr txBox="1"/>
          <p:nvPr/>
        </p:nvSpPr>
        <p:spPr>
          <a:xfrm>
            <a:off x="4147261" y="2203704"/>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Seats, ICCA</a:t>
            </a:r>
          </a:p>
        </p:txBody>
      </p:sp>
      <p:sp>
        <p:nvSpPr>
          <p:cNvPr id="27" name="Label Rectangle 26"/>
          <p:cNvSpPr/>
          <p:nvPr/>
        </p:nvSpPr>
        <p:spPr>
          <a:xfrm>
            <a:off x="5277002" y="1636776"/>
            <a:ext cx="1559509" cy="822960"/>
          </a:xfrm>
          <a:prstGeom prst="rect">
            <a:avLst/>
          </a:prstGeom>
          <a:solidFill>
            <a:srgbClr val="D6EFDA"/>
          </a:solidFill>
          <a:ln>
            <a:noFill/>
          </a:ln>
        </p:spPr>
        <p:txBody>
          <a:bodyPr rtlCol="0" anchor="ctr"/>
          <a:lstStyle/>
          <a:p>
            <a:pPr algn="ctr"/>
          </a:p>
        </p:txBody>
      </p:sp>
      <p:sp>
        <p:nvSpPr>
          <p:cNvPr id="28" name="Label Rectangle 27"/>
          <p:cNvSpPr/>
          <p:nvPr/>
        </p:nvSpPr>
        <p:spPr>
          <a:xfrm>
            <a:off x="5277002" y="1636776"/>
            <a:ext cx="1559509" cy="54864"/>
          </a:xfrm>
          <a:prstGeom prst="rect">
            <a:avLst/>
          </a:prstGeom>
          <a:solidFill>
            <a:srgbClr val="2E9E44"/>
          </a:solidFill>
          <a:ln>
            <a:noFill/>
          </a:ln>
        </p:spPr>
        <p:txBody>
          <a:bodyPr rtlCol="0" anchor="ctr"/>
          <a:lstStyle/>
          <a:p>
            <a:pPr algn="ctr"/>
          </a:p>
        </p:txBody>
      </p:sp>
      <p:sp>
        <p:nvSpPr>
          <p:cNvPr id="29" name="Label TextBox 28"/>
          <p:cNvSpPr txBox="1"/>
          <p:nvPr/>
        </p:nvSpPr>
        <p:spPr>
          <a:xfrm>
            <a:off x="5350154" y="1746504"/>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Path to purchase</a:t>
            </a:r>
          </a:p>
        </p:txBody>
      </p:sp>
      <p:sp>
        <p:nvSpPr>
          <p:cNvPr id="30" name="Label Oval 29"/>
          <p:cNvSpPr/>
          <p:nvPr/>
        </p:nvSpPr>
        <p:spPr>
          <a:xfrm>
            <a:off x="5350154" y="2258568"/>
            <a:ext cx="82296" cy="82296"/>
          </a:xfrm>
          <a:prstGeom prst="ellipse">
            <a:avLst/>
          </a:prstGeom>
          <a:solidFill>
            <a:srgbClr val="2E9E44"/>
          </a:solidFill>
          <a:ln w="9525">
            <a:solidFill>
              <a:srgbClr val="2E9E44"/>
            </a:solidFill>
          </a:ln>
        </p:spPr>
        <p:txBody>
          <a:bodyPr rtlCol="0" anchor="ctr"/>
          <a:lstStyle/>
          <a:p>
            <a:pPr algn="ctr"/>
          </a:p>
        </p:txBody>
      </p:sp>
      <p:sp>
        <p:nvSpPr>
          <p:cNvPr id="31" name="Label Oval 30"/>
          <p:cNvSpPr/>
          <p:nvPr/>
        </p:nvSpPr>
        <p:spPr>
          <a:xfrm>
            <a:off x="5459882" y="2258568"/>
            <a:ext cx="82296" cy="82296"/>
          </a:xfrm>
          <a:prstGeom prst="ellipse">
            <a:avLst/>
          </a:prstGeom>
          <a:solidFill>
            <a:srgbClr val="2E9E44"/>
          </a:solidFill>
          <a:ln w="9525">
            <a:solidFill>
              <a:srgbClr val="2E9E44"/>
            </a:solidFill>
          </a:ln>
        </p:spPr>
        <p:txBody>
          <a:bodyPr rtlCol="0" anchor="ctr"/>
          <a:lstStyle/>
          <a:p>
            <a:pPr algn="ctr"/>
          </a:p>
        </p:txBody>
      </p:sp>
      <p:sp>
        <p:nvSpPr>
          <p:cNvPr id="32" name="Label Oval 31"/>
          <p:cNvSpPr/>
          <p:nvPr/>
        </p:nvSpPr>
        <p:spPr>
          <a:xfrm>
            <a:off x="5569610" y="2258568"/>
            <a:ext cx="82296" cy="82296"/>
          </a:xfrm>
          <a:prstGeom prst="ellipse">
            <a:avLst/>
          </a:prstGeom>
          <a:solidFill>
            <a:srgbClr val="2E9E44"/>
          </a:solidFill>
          <a:ln w="9525">
            <a:solidFill>
              <a:srgbClr val="2E9E44"/>
            </a:solidFill>
          </a:ln>
        </p:spPr>
        <p:txBody>
          <a:bodyPr rtlCol="0" anchor="ctr"/>
          <a:lstStyle/>
          <a:p>
            <a:pPr algn="ctr"/>
          </a:p>
        </p:txBody>
      </p:sp>
      <p:sp>
        <p:nvSpPr>
          <p:cNvPr id="33" name="Label TextBox 32"/>
          <p:cNvSpPr txBox="1"/>
          <p:nvPr/>
        </p:nvSpPr>
        <p:spPr>
          <a:xfrm>
            <a:off x="5779922" y="2203704"/>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OTA gaps</a:t>
            </a:r>
          </a:p>
        </p:txBody>
      </p:sp>
      <p:sp>
        <p:nvSpPr>
          <p:cNvPr id="34" name="Label Rectangle 33"/>
          <p:cNvSpPr/>
          <p:nvPr/>
        </p:nvSpPr>
        <p:spPr>
          <a:xfrm>
            <a:off x="6909663" y="1636776"/>
            <a:ext cx="1559509" cy="822960"/>
          </a:xfrm>
          <a:prstGeom prst="rect">
            <a:avLst/>
          </a:prstGeom>
          <a:solidFill>
            <a:srgbClr val="FDECC8"/>
          </a:solidFill>
          <a:ln>
            <a:noFill/>
          </a:ln>
        </p:spPr>
        <p:txBody>
          <a:bodyPr rtlCol="0" anchor="ctr"/>
          <a:lstStyle/>
          <a:p>
            <a:pPr algn="ctr"/>
          </a:p>
        </p:txBody>
      </p:sp>
      <p:sp>
        <p:nvSpPr>
          <p:cNvPr id="35" name="Label Rectangle 34"/>
          <p:cNvSpPr/>
          <p:nvPr/>
        </p:nvSpPr>
        <p:spPr>
          <a:xfrm>
            <a:off x="6909663" y="1636776"/>
            <a:ext cx="1559509" cy="54864"/>
          </a:xfrm>
          <a:prstGeom prst="rect">
            <a:avLst/>
          </a:prstGeom>
          <a:solidFill>
            <a:srgbClr val="F2A900"/>
          </a:solidFill>
          <a:ln>
            <a:noFill/>
          </a:ln>
        </p:spPr>
        <p:txBody>
          <a:bodyPr rtlCol="0" anchor="ctr"/>
          <a:lstStyle/>
          <a:p>
            <a:pPr algn="ctr"/>
          </a:p>
        </p:txBody>
      </p:sp>
      <p:sp>
        <p:nvSpPr>
          <p:cNvPr id="36" name="Label TextBox 35"/>
          <p:cNvSpPr txBox="1"/>
          <p:nvPr/>
        </p:nvSpPr>
        <p:spPr>
          <a:xfrm>
            <a:off x="6982815" y="1746504"/>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Growth markets</a:t>
            </a:r>
          </a:p>
        </p:txBody>
      </p:sp>
      <p:sp>
        <p:nvSpPr>
          <p:cNvPr id="37" name="Label Oval 36"/>
          <p:cNvSpPr/>
          <p:nvPr/>
        </p:nvSpPr>
        <p:spPr>
          <a:xfrm>
            <a:off x="6982815" y="2258568"/>
            <a:ext cx="82296" cy="82296"/>
          </a:xfrm>
          <a:prstGeom prst="ellipse">
            <a:avLst/>
          </a:prstGeom>
          <a:solidFill>
            <a:srgbClr val="F2A900"/>
          </a:solidFill>
          <a:ln w="9525">
            <a:solidFill>
              <a:srgbClr val="F2A900"/>
            </a:solidFill>
          </a:ln>
        </p:spPr>
        <p:txBody>
          <a:bodyPr rtlCol="0" anchor="ctr"/>
          <a:lstStyle/>
          <a:p>
            <a:pPr algn="ctr"/>
          </a:p>
        </p:txBody>
      </p:sp>
      <p:sp>
        <p:nvSpPr>
          <p:cNvPr id="38" name="Label Oval 37"/>
          <p:cNvSpPr/>
          <p:nvPr/>
        </p:nvSpPr>
        <p:spPr>
          <a:xfrm>
            <a:off x="7092543" y="2258568"/>
            <a:ext cx="82296" cy="82296"/>
          </a:xfrm>
          <a:prstGeom prst="ellipse">
            <a:avLst/>
          </a:prstGeom>
          <a:solidFill>
            <a:srgbClr val="F2A900"/>
          </a:solidFill>
          <a:ln w="9525">
            <a:solidFill>
              <a:srgbClr val="F2A900"/>
            </a:solidFill>
          </a:ln>
        </p:spPr>
        <p:txBody>
          <a:bodyPr rtlCol="0" anchor="ctr"/>
          <a:lstStyle/>
          <a:p>
            <a:pPr algn="ctr"/>
          </a:p>
        </p:txBody>
      </p:sp>
      <p:sp>
        <p:nvSpPr>
          <p:cNvPr id="39" name="Label Oval 38"/>
          <p:cNvSpPr/>
          <p:nvPr/>
        </p:nvSpPr>
        <p:spPr>
          <a:xfrm>
            <a:off x="7202271" y="2258568"/>
            <a:ext cx="82296" cy="82296"/>
          </a:xfrm>
          <a:prstGeom prst="ellipse">
            <a:avLst/>
          </a:prstGeom>
          <a:solidFill>
            <a:srgbClr val="F2A900"/>
          </a:solidFill>
          <a:ln w="9525">
            <a:solidFill>
              <a:srgbClr val="F2A900"/>
            </a:solidFill>
          </a:ln>
        </p:spPr>
        <p:txBody>
          <a:bodyPr rtlCol="0" anchor="ctr"/>
          <a:lstStyle/>
          <a:p>
            <a:pPr algn="ctr"/>
          </a:p>
        </p:txBody>
      </p:sp>
      <p:sp>
        <p:nvSpPr>
          <p:cNvPr id="40" name="Label TextBox 39"/>
          <p:cNvSpPr txBox="1"/>
          <p:nvPr/>
        </p:nvSpPr>
        <p:spPr>
          <a:xfrm>
            <a:off x="7412583" y="2203704"/>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Hub traffic</a:t>
            </a:r>
          </a:p>
        </p:txBody>
      </p:sp>
      <p:sp>
        <p:nvSpPr>
          <p:cNvPr id="41" name="Label Rectangle 40"/>
          <p:cNvSpPr/>
          <p:nvPr/>
        </p:nvSpPr>
        <p:spPr>
          <a:xfrm>
            <a:off x="8542324" y="1636776"/>
            <a:ext cx="1559509" cy="822960"/>
          </a:xfrm>
          <a:prstGeom prst="rect">
            <a:avLst/>
          </a:prstGeom>
          <a:solidFill>
            <a:srgbClr val="D6EFDA"/>
          </a:solidFill>
          <a:ln>
            <a:noFill/>
          </a:ln>
        </p:spPr>
        <p:txBody>
          <a:bodyPr rtlCol="0" anchor="ctr"/>
          <a:lstStyle/>
          <a:p>
            <a:pPr algn="ctr"/>
          </a:p>
        </p:txBody>
      </p:sp>
      <p:sp>
        <p:nvSpPr>
          <p:cNvPr id="42" name="Label Rectangle 41"/>
          <p:cNvSpPr/>
          <p:nvPr/>
        </p:nvSpPr>
        <p:spPr>
          <a:xfrm>
            <a:off x="8542324" y="1636776"/>
            <a:ext cx="1559509" cy="54864"/>
          </a:xfrm>
          <a:prstGeom prst="rect">
            <a:avLst/>
          </a:prstGeom>
          <a:solidFill>
            <a:srgbClr val="2E9E44"/>
          </a:solidFill>
          <a:ln>
            <a:noFill/>
          </a:ln>
        </p:spPr>
        <p:txBody>
          <a:bodyPr rtlCol="0" anchor="ctr"/>
          <a:lstStyle/>
          <a:p>
            <a:pPr algn="ctr"/>
          </a:p>
        </p:txBody>
      </p:sp>
      <p:sp>
        <p:nvSpPr>
          <p:cNvPr id="43" name="Label TextBox 42"/>
          <p:cNvSpPr txBox="1"/>
          <p:nvPr/>
        </p:nvSpPr>
        <p:spPr>
          <a:xfrm>
            <a:off x="8615476" y="1746504"/>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Mature-market yield</a:t>
            </a:r>
          </a:p>
        </p:txBody>
      </p:sp>
      <p:sp>
        <p:nvSpPr>
          <p:cNvPr id="44" name="Label Oval 43"/>
          <p:cNvSpPr/>
          <p:nvPr/>
        </p:nvSpPr>
        <p:spPr>
          <a:xfrm>
            <a:off x="8615476" y="2258568"/>
            <a:ext cx="82296" cy="82296"/>
          </a:xfrm>
          <a:prstGeom prst="ellipse">
            <a:avLst/>
          </a:prstGeom>
          <a:solidFill>
            <a:srgbClr val="2E9E44"/>
          </a:solidFill>
          <a:ln w="9525">
            <a:solidFill>
              <a:srgbClr val="2E9E44"/>
            </a:solidFill>
          </a:ln>
        </p:spPr>
        <p:txBody>
          <a:bodyPr rtlCol="0" anchor="ctr"/>
          <a:lstStyle/>
          <a:p>
            <a:pPr algn="ctr"/>
          </a:p>
        </p:txBody>
      </p:sp>
      <p:sp>
        <p:nvSpPr>
          <p:cNvPr id="45" name="Label Oval 44"/>
          <p:cNvSpPr/>
          <p:nvPr/>
        </p:nvSpPr>
        <p:spPr>
          <a:xfrm>
            <a:off x="8725204" y="2258568"/>
            <a:ext cx="82296" cy="82296"/>
          </a:xfrm>
          <a:prstGeom prst="ellipse">
            <a:avLst/>
          </a:prstGeom>
          <a:solidFill>
            <a:srgbClr val="2E9E44"/>
          </a:solidFill>
          <a:ln w="9525">
            <a:solidFill>
              <a:srgbClr val="2E9E44"/>
            </a:solidFill>
          </a:ln>
        </p:spPr>
        <p:txBody>
          <a:bodyPr rtlCol="0" anchor="ctr"/>
          <a:lstStyle/>
          <a:p>
            <a:pPr algn="ctr"/>
          </a:p>
        </p:txBody>
      </p:sp>
      <p:sp>
        <p:nvSpPr>
          <p:cNvPr id="46" name="Label Oval 45"/>
          <p:cNvSpPr/>
          <p:nvPr/>
        </p:nvSpPr>
        <p:spPr>
          <a:xfrm>
            <a:off x="8834932" y="2258568"/>
            <a:ext cx="82296" cy="82296"/>
          </a:xfrm>
          <a:prstGeom prst="ellipse">
            <a:avLst/>
          </a:prstGeom>
          <a:solidFill>
            <a:srgbClr val="2E9E44"/>
          </a:solidFill>
          <a:ln w="9525">
            <a:solidFill>
              <a:srgbClr val="2E9E44"/>
            </a:solidFill>
          </a:ln>
        </p:spPr>
        <p:txBody>
          <a:bodyPr rtlCol="0" anchor="ctr"/>
          <a:lstStyle/>
          <a:p>
            <a:pPr algn="ctr"/>
          </a:p>
        </p:txBody>
      </p:sp>
      <p:sp>
        <p:nvSpPr>
          <p:cNvPr id="47" name="Label TextBox 46"/>
          <p:cNvSpPr txBox="1"/>
          <p:nvPr/>
        </p:nvSpPr>
        <p:spPr>
          <a:xfrm>
            <a:off x="9045244" y="2203704"/>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Full routes</a:t>
            </a:r>
          </a:p>
        </p:txBody>
      </p:sp>
      <p:sp>
        <p:nvSpPr>
          <p:cNvPr id="48" name="Label Rectangle 47"/>
          <p:cNvSpPr/>
          <p:nvPr/>
        </p:nvSpPr>
        <p:spPr>
          <a:xfrm>
            <a:off x="10174986" y="1636776"/>
            <a:ext cx="1559509" cy="822960"/>
          </a:xfrm>
          <a:prstGeom prst="rect">
            <a:avLst/>
          </a:prstGeom>
          <a:solidFill>
            <a:srgbClr val="D6EFDA"/>
          </a:solidFill>
          <a:ln>
            <a:noFill/>
          </a:ln>
        </p:spPr>
        <p:txBody>
          <a:bodyPr rtlCol="0" anchor="ctr"/>
          <a:lstStyle/>
          <a:p>
            <a:pPr algn="ctr"/>
          </a:p>
        </p:txBody>
      </p:sp>
      <p:sp>
        <p:nvSpPr>
          <p:cNvPr id="49" name="Label Rectangle 48"/>
          <p:cNvSpPr/>
          <p:nvPr/>
        </p:nvSpPr>
        <p:spPr>
          <a:xfrm>
            <a:off x="10174986" y="1636776"/>
            <a:ext cx="1559509" cy="54864"/>
          </a:xfrm>
          <a:prstGeom prst="rect">
            <a:avLst/>
          </a:prstGeom>
          <a:solidFill>
            <a:srgbClr val="2E9E44"/>
          </a:solidFill>
          <a:ln>
            <a:noFill/>
          </a:ln>
        </p:spPr>
        <p:txBody>
          <a:bodyPr rtlCol="0" anchor="ctr"/>
          <a:lstStyle/>
          <a:p>
            <a:pPr algn="ctr"/>
          </a:p>
        </p:txBody>
      </p:sp>
      <p:sp>
        <p:nvSpPr>
          <p:cNvPr id="50" name="Label TextBox 49"/>
          <p:cNvSpPr txBox="1"/>
          <p:nvPr/>
        </p:nvSpPr>
        <p:spPr>
          <a:xfrm>
            <a:off x="10248138" y="1746504"/>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Regional Africa</a:t>
            </a:r>
          </a:p>
        </p:txBody>
      </p:sp>
      <p:sp>
        <p:nvSpPr>
          <p:cNvPr id="51" name="Label Oval 50"/>
          <p:cNvSpPr/>
          <p:nvPr/>
        </p:nvSpPr>
        <p:spPr>
          <a:xfrm>
            <a:off x="10248138" y="2258568"/>
            <a:ext cx="82296" cy="82296"/>
          </a:xfrm>
          <a:prstGeom prst="ellipse">
            <a:avLst/>
          </a:prstGeom>
          <a:solidFill>
            <a:srgbClr val="2E9E44"/>
          </a:solidFill>
          <a:ln w="9525">
            <a:solidFill>
              <a:srgbClr val="2E9E44"/>
            </a:solidFill>
          </a:ln>
        </p:spPr>
        <p:txBody>
          <a:bodyPr rtlCol="0" anchor="ctr"/>
          <a:lstStyle/>
          <a:p>
            <a:pPr algn="ctr"/>
          </a:p>
        </p:txBody>
      </p:sp>
      <p:sp>
        <p:nvSpPr>
          <p:cNvPr id="52" name="Label Oval 51"/>
          <p:cNvSpPr/>
          <p:nvPr/>
        </p:nvSpPr>
        <p:spPr>
          <a:xfrm>
            <a:off x="10357866" y="2258568"/>
            <a:ext cx="82296" cy="82296"/>
          </a:xfrm>
          <a:prstGeom prst="ellipse">
            <a:avLst/>
          </a:prstGeom>
          <a:solidFill>
            <a:srgbClr val="2E9E44"/>
          </a:solidFill>
          <a:ln w="9525">
            <a:solidFill>
              <a:srgbClr val="2E9E44"/>
            </a:solidFill>
          </a:ln>
        </p:spPr>
        <p:txBody>
          <a:bodyPr rtlCol="0" anchor="ctr"/>
          <a:lstStyle/>
          <a:p>
            <a:pPr algn="ctr"/>
          </a:p>
        </p:txBody>
      </p:sp>
      <p:sp>
        <p:nvSpPr>
          <p:cNvPr id="53" name="Label Oval 52"/>
          <p:cNvSpPr/>
          <p:nvPr/>
        </p:nvSpPr>
        <p:spPr>
          <a:xfrm>
            <a:off x="10467594" y="2258568"/>
            <a:ext cx="82296" cy="82296"/>
          </a:xfrm>
          <a:prstGeom prst="ellipse">
            <a:avLst/>
          </a:prstGeom>
          <a:solidFill>
            <a:srgbClr val="FFFFFF"/>
          </a:solidFill>
          <a:ln w="9525">
            <a:solidFill>
              <a:srgbClr val="2E9E44"/>
            </a:solidFill>
          </a:ln>
        </p:spPr>
        <p:txBody>
          <a:bodyPr rtlCol="0" anchor="ctr"/>
          <a:lstStyle/>
          <a:p>
            <a:pPr algn="ctr"/>
          </a:p>
        </p:txBody>
      </p:sp>
      <p:sp>
        <p:nvSpPr>
          <p:cNvPr id="54" name="Label TextBox 53"/>
          <p:cNvSpPr txBox="1"/>
          <p:nvPr/>
        </p:nvSpPr>
        <p:spPr>
          <a:xfrm>
            <a:off x="10677906" y="2203704"/>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Regional loads</a:t>
            </a:r>
          </a:p>
        </p:txBody>
      </p:sp>
      <p:sp>
        <p:nvSpPr>
          <p:cNvPr id="55" name="Label TextBox 54"/>
          <p:cNvSpPr txBox="1"/>
          <p:nvPr/>
        </p:nvSpPr>
        <p:spPr>
          <a:xfrm>
            <a:off x="457200" y="2788920"/>
            <a:ext cx="1463040" cy="822960"/>
          </a:xfrm>
          <a:prstGeom prst="rect">
            <a:avLst/>
          </a:prstGeom>
          <a:noFill/>
        </p:spPr>
        <p:txBody>
          <a:bodyPr wrap="square" anchor="ctr" lIns="0" rIns="0" tIns="0" bIns="0">
            <a:spAutoFit/>
          </a:bodyPr>
          <a:lstStyle/>
          <a:p>
            <a:pPr algn="l">
              <a:spcAft>
                <a:spcPts val="0"/>
              </a:spcAft>
            </a:pPr>
            <a:r>
              <a:rPr sz="950" b="1" i="0">
                <a:solidFill>
                  <a:srgbClr val="1F497D"/>
                </a:solidFill>
                <a:latin typeface="Arial"/>
              </a:rPr>
              <a:t>Transform supply</a:t>
            </a:r>
          </a:p>
        </p:txBody>
      </p:sp>
      <p:sp>
        <p:nvSpPr>
          <p:cNvPr id="56" name="Label TextBox 55"/>
          <p:cNvSpPr txBox="1"/>
          <p:nvPr/>
        </p:nvSpPr>
        <p:spPr>
          <a:xfrm>
            <a:off x="2011680" y="2569464"/>
            <a:ext cx="4824831" cy="219456"/>
          </a:xfrm>
          <a:prstGeom prst="rect">
            <a:avLst/>
          </a:prstGeom>
          <a:noFill/>
        </p:spPr>
        <p:txBody>
          <a:bodyPr wrap="square" anchor="t" lIns="0" rIns="0" tIns="0" bIns="0">
            <a:spAutoFit/>
          </a:bodyPr>
          <a:lstStyle/>
          <a:p>
            <a:pPr algn="l">
              <a:spcAft>
                <a:spcPts val="0"/>
              </a:spcAft>
            </a:pPr>
            <a:r>
              <a:rPr sz="750" b="1" i="0">
                <a:solidFill>
                  <a:srgbClr val="7F7F7F"/>
                </a:solidFill>
                <a:latin typeface="Arial"/>
              </a:rPr>
              <a:t>2.1  ACCESSIBILITY, CONNECTIVITY AND INFRASTRUCTURE</a:t>
            </a:r>
          </a:p>
        </p:txBody>
      </p:sp>
      <p:cxnSp>
        <p:nvCxnSpPr>
          <p:cNvPr id="57" name="Label Connector 56"/>
          <p:cNvCxnSpPr/>
          <p:nvPr/>
        </p:nvCxnSpPr>
        <p:spPr>
          <a:xfrm>
            <a:off x="2011680" y="2770632"/>
            <a:ext cx="4824831" cy="0"/>
          </a:xfrm>
          <a:prstGeom prst="line">
            <a:avLst/>
          </a:prstGeom>
          <a:ln w="9525">
            <a:solidFill>
              <a:srgbClr val="D9D9D9"/>
            </a:solidFill>
          </a:ln>
        </p:spPr>
      </p:cxnSp>
      <p:sp>
        <p:nvSpPr>
          <p:cNvPr id="58" name="Label TextBox 57"/>
          <p:cNvSpPr txBox="1"/>
          <p:nvPr/>
        </p:nvSpPr>
        <p:spPr>
          <a:xfrm>
            <a:off x="6909663" y="2569464"/>
            <a:ext cx="4824831" cy="219456"/>
          </a:xfrm>
          <a:prstGeom prst="rect">
            <a:avLst/>
          </a:prstGeom>
          <a:noFill/>
        </p:spPr>
        <p:txBody>
          <a:bodyPr wrap="square" anchor="t" lIns="0" rIns="0" tIns="0" bIns="0">
            <a:spAutoFit/>
          </a:bodyPr>
          <a:lstStyle/>
          <a:p>
            <a:pPr algn="l">
              <a:spcAft>
                <a:spcPts val="0"/>
              </a:spcAft>
            </a:pPr>
            <a:r>
              <a:rPr sz="750" b="1" i="0">
                <a:solidFill>
                  <a:srgbClr val="7F7F7F"/>
                </a:solidFill>
                <a:latin typeface="Arial"/>
              </a:rPr>
              <a:t>2.2  PRODUCT AND DESTINATION CAPACITY</a:t>
            </a:r>
          </a:p>
        </p:txBody>
      </p:sp>
      <p:cxnSp>
        <p:nvCxnSpPr>
          <p:cNvPr id="59" name="Label Connector 58"/>
          <p:cNvCxnSpPr/>
          <p:nvPr/>
        </p:nvCxnSpPr>
        <p:spPr>
          <a:xfrm>
            <a:off x="6909663" y="2770632"/>
            <a:ext cx="4824832" cy="0"/>
          </a:xfrm>
          <a:prstGeom prst="line">
            <a:avLst/>
          </a:prstGeom>
          <a:ln w="9525">
            <a:solidFill>
              <a:srgbClr val="D9D9D9"/>
            </a:solidFill>
          </a:ln>
        </p:spPr>
      </p:cxnSp>
      <p:sp>
        <p:nvSpPr>
          <p:cNvPr id="60" name="Label Rectangle 59"/>
          <p:cNvSpPr/>
          <p:nvPr/>
        </p:nvSpPr>
        <p:spPr>
          <a:xfrm>
            <a:off x="2011680" y="2788920"/>
            <a:ext cx="1559509" cy="822960"/>
          </a:xfrm>
          <a:prstGeom prst="rect">
            <a:avLst/>
          </a:prstGeom>
          <a:solidFill>
            <a:srgbClr val="D6EFDA"/>
          </a:solidFill>
          <a:ln>
            <a:noFill/>
          </a:ln>
        </p:spPr>
        <p:txBody>
          <a:bodyPr rtlCol="0" anchor="ctr"/>
          <a:lstStyle/>
          <a:p>
            <a:pPr algn="ctr"/>
          </a:p>
        </p:txBody>
      </p:sp>
      <p:sp>
        <p:nvSpPr>
          <p:cNvPr id="61" name="Label Rectangle 60"/>
          <p:cNvSpPr/>
          <p:nvPr/>
        </p:nvSpPr>
        <p:spPr>
          <a:xfrm>
            <a:off x="2011680" y="2788920"/>
            <a:ext cx="1559509" cy="54864"/>
          </a:xfrm>
          <a:prstGeom prst="rect">
            <a:avLst/>
          </a:prstGeom>
          <a:solidFill>
            <a:srgbClr val="2E9E44"/>
          </a:solidFill>
          <a:ln>
            <a:noFill/>
          </a:ln>
        </p:spPr>
        <p:txBody>
          <a:bodyPr rtlCol="0" anchor="ctr"/>
          <a:lstStyle/>
          <a:p>
            <a:pPr algn="ctr"/>
          </a:p>
        </p:txBody>
      </p:sp>
      <p:sp>
        <p:nvSpPr>
          <p:cNvPr id="62" name="Label TextBox 61"/>
          <p:cNvSpPr txBox="1"/>
          <p:nvPr/>
        </p:nvSpPr>
        <p:spPr>
          <a:xfrm>
            <a:off x="2084832" y="2898648"/>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Air and cruise</a:t>
            </a:r>
          </a:p>
        </p:txBody>
      </p:sp>
      <p:sp>
        <p:nvSpPr>
          <p:cNvPr id="63" name="Label Oval 62"/>
          <p:cNvSpPr/>
          <p:nvPr/>
        </p:nvSpPr>
        <p:spPr>
          <a:xfrm>
            <a:off x="2084832" y="3410712"/>
            <a:ext cx="82296" cy="82296"/>
          </a:xfrm>
          <a:prstGeom prst="ellipse">
            <a:avLst/>
          </a:prstGeom>
          <a:solidFill>
            <a:srgbClr val="2E9E44"/>
          </a:solidFill>
          <a:ln w="9525">
            <a:solidFill>
              <a:srgbClr val="2E9E44"/>
            </a:solidFill>
          </a:ln>
        </p:spPr>
        <p:txBody>
          <a:bodyPr rtlCol="0" anchor="ctr"/>
          <a:lstStyle/>
          <a:p>
            <a:pPr algn="ctr"/>
          </a:p>
        </p:txBody>
      </p:sp>
      <p:sp>
        <p:nvSpPr>
          <p:cNvPr id="64" name="Label Oval 63"/>
          <p:cNvSpPr/>
          <p:nvPr/>
        </p:nvSpPr>
        <p:spPr>
          <a:xfrm>
            <a:off x="2194560" y="3410712"/>
            <a:ext cx="82296" cy="82296"/>
          </a:xfrm>
          <a:prstGeom prst="ellipse">
            <a:avLst/>
          </a:prstGeom>
          <a:solidFill>
            <a:srgbClr val="2E9E44"/>
          </a:solidFill>
          <a:ln w="9525">
            <a:solidFill>
              <a:srgbClr val="2E9E44"/>
            </a:solidFill>
          </a:ln>
        </p:spPr>
        <p:txBody>
          <a:bodyPr rtlCol="0" anchor="ctr"/>
          <a:lstStyle/>
          <a:p>
            <a:pPr algn="ctr"/>
          </a:p>
        </p:txBody>
      </p:sp>
      <p:sp>
        <p:nvSpPr>
          <p:cNvPr id="65" name="Label Oval 64"/>
          <p:cNvSpPr/>
          <p:nvPr/>
        </p:nvSpPr>
        <p:spPr>
          <a:xfrm>
            <a:off x="2304288" y="3410712"/>
            <a:ext cx="82296" cy="82296"/>
          </a:xfrm>
          <a:prstGeom prst="ellipse">
            <a:avLst/>
          </a:prstGeom>
          <a:solidFill>
            <a:srgbClr val="2E9E44"/>
          </a:solidFill>
          <a:ln w="9525">
            <a:solidFill>
              <a:srgbClr val="2E9E44"/>
            </a:solidFill>
          </a:ln>
        </p:spPr>
        <p:txBody>
          <a:bodyPr rtlCol="0" anchor="ctr"/>
          <a:lstStyle/>
          <a:p>
            <a:pPr algn="ctr"/>
          </a:p>
        </p:txBody>
      </p:sp>
      <p:sp>
        <p:nvSpPr>
          <p:cNvPr id="66" name="Label TextBox 65"/>
          <p:cNvSpPr txBox="1"/>
          <p:nvPr/>
        </p:nvSpPr>
        <p:spPr>
          <a:xfrm>
            <a:off x="2514600" y="3355848"/>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Routes, cruise</a:t>
            </a:r>
          </a:p>
        </p:txBody>
      </p:sp>
      <p:sp>
        <p:nvSpPr>
          <p:cNvPr id="67" name="Label Rectangle 66"/>
          <p:cNvSpPr/>
          <p:nvPr/>
        </p:nvSpPr>
        <p:spPr>
          <a:xfrm>
            <a:off x="3644341" y="2788920"/>
            <a:ext cx="1559509" cy="822960"/>
          </a:xfrm>
          <a:prstGeom prst="rect">
            <a:avLst/>
          </a:prstGeom>
          <a:solidFill>
            <a:srgbClr val="D6EFDA"/>
          </a:solidFill>
          <a:ln>
            <a:noFill/>
          </a:ln>
        </p:spPr>
        <p:txBody>
          <a:bodyPr rtlCol="0" anchor="ctr"/>
          <a:lstStyle/>
          <a:p>
            <a:pPr algn="ctr"/>
          </a:p>
        </p:txBody>
      </p:sp>
      <p:sp>
        <p:nvSpPr>
          <p:cNvPr id="68" name="Label Rectangle 67"/>
          <p:cNvSpPr/>
          <p:nvPr/>
        </p:nvSpPr>
        <p:spPr>
          <a:xfrm>
            <a:off x="3644341" y="2788920"/>
            <a:ext cx="1559509" cy="54864"/>
          </a:xfrm>
          <a:prstGeom prst="rect">
            <a:avLst/>
          </a:prstGeom>
          <a:solidFill>
            <a:srgbClr val="2E9E44"/>
          </a:solidFill>
          <a:ln>
            <a:noFill/>
          </a:ln>
        </p:spPr>
        <p:txBody>
          <a:bodyPr rtlCol="0" anchor="ctr"/>
          <a:lstStyle/>
          <a:p>
            <a:pPr algn="ctr"/>
          </a:p>
        </p:txBody>
      </p:sp>
      <p:sp>
        <p:nvSpPr>
          <p:cNvPr id="69" name="Label TextBox 68"/>
          <p:cNvSpPr txBox="1"/>
          <p:nvPr/>
        </p:nvSpPr>
        <p:spPr>
          <a:xfrm>
            <a:off x="3717493" y="2898648"/>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Internal mobility</a:t>
            </a:r>
          </a:p>
        </p:txBody>
      </p:sp>
      <p:sp>
        <p:nvSpPr>
          <p:cNvPr id="70" name="Label Oval 69"/>
          <p:cNvSpPr/>
          <p:nvPr/>
        </p:nvSpPr>
        <p:spPr>
          <a:xfrm>
            <a:off x="3717493" y="3410712"/>
            <a:ext cx="82296" cy="82296"/>
          </a:xfrm>
          <a:prstGeom prst="ellipse">
            <a:avLst/>
          </a:prstGeom>
          <a:solidFill>
            <a:srgbClr val="2E9E44"/>
          </a:solidFill>
          <a:ln w="9525">
            <a:solidFill>
              <a:srgbClr val="2E9E44"/>
            </a:solidFill>
          </a:ln>
        </p:spPr>
        <p:txBody>
          <a:bodyPr rtlCol="0" anchor="ctr"/>
          <a:lstStyle/>
          <a:p>
            <a:pPr algn="ctr"/>
          </a:p>
        </p:txBody>
      </p:sp>
      <p:sp>
        <p:nvSpPr>
          <p:cNvPr id="71" name="Label Oval 70"/>
          <p:cNvSpPr/>
          <p:nvPr/>
        </p:nvSpPr>
        <p:spPr>
          <a:xfrm>
            <a:off x="3827221" y="3410712"/>
            <a:ext cx="82296" cy="82296"/>
          </a:xfrm>
          <a:prstGeom prst="ellipse">
            <a:avLst/>
          </a:prstGeom>
          <a:solidFill>
            <a:srgbClr val="2E9E44"/>
          </a:solidFill>
          <a:ln w="9525">
            <a:solidFill>
              <a:srgbClr val="2E9E44"/>
            </a:solidFill>
          </a:ln>
        </p:spPr>
        <p:txBody>
          <a:bodyPr rtlCol="0" anchor="ctr"/>
          <a:lstStyle/>
          <a:p>
            <a:pPr algn="ctr"/>
          </a:p>
        </p:txBody>
      </p:sp>
      <p:sp>
        <p:nvSpPr>
          <p:cNvPr id="72" name="Label Oval 71"/>
          <p:cNvSpPr/>
          <p:nvPr/>
        </p:nvSpPr>
        <p:spPr>
          <a:xfrm>
            <a:off x="3936949" y="3410712"/>
            <a:ext cx="82296" cy="82296"/>
          </a:xfrm>
          <a:prstGeom prst="ellipse">
            <a:avLst/>
          </a:prstGeom>
          <a:solidFill>
            <a:srgbClr val="2E9E44"/>
          </a:solidFill>
          <a:ln w="9525">
            <a:solidFill>
              <a:srgbClr val="2E9E44"/>
            </a:solidFill>
          </a:ln>
        </p:spPr>
        <p:txBody>
          <a:bodyPr rtlCol="0" anchor="ctr"/>
          <a:lstStyle/>
          <a:p>
            <a:pPr algn="ctr"/>
          </a:p>
        </p:txBody>
      </p:sp>
      <p:sp>
        <p:nvSpPr>
          <p:cNvPr id="73" name="Label TextBox 72"/>
          <p:cNvSpPr txBox="1"/>
          <p:nvPr/>
        </p:nvSpPr>
        <p:spPr>
          <a:xfrm>
            <a:off x="4147261" y="3355848"/>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Access decay</a:t>
            </a:r>
          </a:p>
        </p:txBody>
      </p:sp>
      <p:sp>
        <p:nvSpPr>
          <p:cNvPr id="74" name="Label Rectangle 73"/>
          <p:cNvSpPr/>
          <p:nvPr/>
        </p:nvSpPr>
        <p:spPr>
          <a:xfrm>
            <a:off x="5277002" y="2788920"/>
            <a:ext cx="1559509" cy="822960"/>
          </a:xfrm>
          <a:prstGeom prst="rect">
            <a:avLst/>
          </a:prstGeom>
          <a:solidFill>
            <a:srgbClr val="D6EFDA"/>
          </a:solidFill>
          <a:ln>
            <a:noFill/>
          </a:ln>
        </p:spPr>
        <p:txBody>
          <a:bodyPr rtlCol="0" anchor="ctr"/>
          <a:lstStyle/>
          <a:p>
            <a:pPr algn="ctr"/>
          </a:p>
        </p:txBody>
      </p:sp>
      <p:sp>
        <p:nvSpPr>
          <p:cNvPr id="75" name="Label Rectangle 74"/>
          <p:cNvSpPr/>
          <p:nvPr/>
        </p:nvSpPr>
        <p:spPr>
          <a:xfrm>
            <a:off x="5277002" y="2788920"/>
            <a:ext cx="1559509" cy="54864"/>
          </a:xfrm>
          <a:prstGeom prst="rect">
            <a:avLst/>
          </a:prstGeom>
          <a:solidFill>
            <a:srgbClr val="2E9E44"/>
          </a:solidFill>
          <a:ln>
            <a:noFill/>
          </a:ln>
        </p:spPr>
        <p:txBody>
          <a:bodyPr rtlCol="0" anchor="ctr"/>
          <a:lstStyle/>
          <a:p>
            <a:pPr algn="ctr"/>
          </a:p>
        </p:txBody>
      </p:sp>
      <p:sp>
        <p:nvSpPr>
          <p:cNvPr id="76" name="Label TextBox 75"/>
          <p:cNvSpPr txBox="1"/>
          <p:nvPr/>
        </p:nvSpPr>
        <p:spPr>
          <a:xfrm>
            <a:off x="5350154" y="2898648"/>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Visa and safety</a:t>
            </a:r>
          </a:p>
        </p:txBody>
      </p:sp>
      <p:sp>
        <p:nvSpPr>
          <p:cNvPr id="77" name="Label Oval 76"/>
          <p:cNvSpPr/>
          <p:nvPr/>
        </p:nvSpPr>
        <p:spPr>
          <a:xfrm>
            <a:off x="5350154" y="3410712"/>
            <a:ext cx="82296" cy="82296"/>
          </a:xfrm>
          <a:prstGeom prst="ellipse">
            <a:avLst/>
          </a:prstGeom>
          <a:solidFill>
            <a:srgbClr val="2E9E44"/>
          </a:solidFill>
          <a:ln w="9525">
            <a:solidFill>
              <a:srgbClr val="2E9E44"/>
            </a:solidFill>
          </a:ln>
        </p:spPr>
        <p:txBody>
          <a:bodyPr rtlCol="0" anchor="ctr"/>
          <a:lstStyle/>
          <a:p>
            <a:pPr algn="ctr"/>
          </a:p>
        </p:txBody>
      </p:sp>
      <p:sp>
        <p:nvSpPr>
          <p:cNvPr id="78" name="Label Oval 77"/>
          <p:cNvSpPr/>
          <p:nvPr/>
        </p:nvSpPr>
        <p:spPr>
          <a:xfrm>
            <a:off x="5459882" y="3410712"/>
            <a:ext cx="82296" cy="82296"/>
          </a:xfrm>
          <a:prstGeom prst="ellipse">
            <a:avLst/>
          </a:prstGeom>
          <a:solidFill>
            <a:srgbClr val="2E9E44"/>
          </a:solidFill>
          <a:ln w="9525">
            <a:solidFill>
              <a:srgbClr val="2E9E44"/>
            </a:solidFill>
          </a:ln>
        </p:spPr>
        <p:txBody>
          <a:bodyPr rtlCol="0" anchor="ctr"/>
          <a:lstStyle/>
          <a:p>
            <a:pPr algn="ctr"/>
          </a:p>
        </p:txBody>
      </p:sp>
      <p:sp>
        <p:nvSpPr>
          <p:cNvPr id="79" name="Label Oval 78"/>
          <p:cNvSpPr/>
          <p:nvPr/>
        </p:nvSpPr>
        <p:spPr>
          <a:xfrm>
            <a:off x="5569610" y="3410712"/>
            <a:ext cx="82296" cy="82296"/>
          </a:xfrm>
          <a:prstGeom prst="ellipse">
            <a:avLst/>
          </a:prstGeom>
          <a:solidFill>
            <a:srgbClr val="2E9E44"/>
          </a:solidFill>
          <a:ln w="9525">
            <a:solidFill>
              <a:srgbClr val="2E9E44"/>
            </a:solidFill>
          </a:ln>
        </p:spPr>
        <p:txBody>
          <a:bodyPr rtlCol="0" anchor="ctr"/>
          <a:lstStyle/>
          <a:p>
            <a:pPr algn="ctr"/>
          </a:p>
        </p:txBody>
      </p:sp>
      <p:sp>
        <p:nvSpPr>
          <p:cNvPr id="80" name="Label TextBox 79"/>
          <p:cNvSpPr txBox="1"/>
          <p:nvPr/>
        </p:nvSpPr>
        <p:spPr>
          <a:xfrm>
            <a:off x="5779922" y="3355848"/>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eVisa, safety</a:t>
            </a:r>
          </a:p>
        </p:txBody>
      </p:sp>
      <p:sp>
        <p:nvSpPr>
          <p:cNvPr id="81" name="Label Rectangle 80"/>
          <p:cNvSpPr/>
          <p:nvPr/>
        </p:nvSpPr>
        <p:spPr>
          <a:xfrm>
            <a:off x="6909663" y="2788920"/>
            <a:ext cx="1559509" cy="822960"/>
          </a:xfrm>
          <a:prstGeom prst="rect">
            <a:avLst/>
          </a:prstGeom>
          <a:solidFill>
            <a:srgbClr val="D6EFDA"/>
          </a:solidFill>
          <a:ln>
            <a:noFill/>
          </a:ln>
        </p:spPr>
        <p:txBody>
          <a:bodyPr rtlCol="0" anchor="ctr"/>
          <a:lstStyle/>
          <a:p>
            <a:pPr algn="ctr"/>
          </a:p>
        </p:txBody>
      </p:sp>
      <p:sp>
        <p:nvSpPr>
          <p:cNvPr id="82" name="Label Rectangle 81"/>
          <p:cNvSpPr/>
          <p:nvPr/>
        </p:nvSpPr>
        <p:spPr>
          <a:xfrm>
            <a:off x="6909663" y="2788920"/>
            <a:ext cx="1559509" cy="54864"/>
          </a:xfrm>
          <a:prstGeom prst="rect">
            <a:avLst/>
          </a:prstGeom>
          <a:solidFill>
            <a:srgbClr val="2E9E44"/>
          </a:solidFill>
          <a:ln>
            <a:noFill/>
          </a:ln>
        </p:spPr>
        <p:txBody>
          <a:bodyPr rtlCol="0" anchor="ctr"/>
          <a:lstStyle/>
          <a:p>
            <a:pPr algn="ctr"/>
          </a:p>
        </p:txBody>
      </p:sp>
      <p:sp>
        <p:nvSpPr>
          <p:cNvPr id="83" name="Label TextBox 82"/>
          <p:cNvSpPr txBox="1"/>
          <p:nvPr/>
        </p:nvSpPr>
        <p:spPr>
          <a:xfrm>
            <a:off x="6982815" y="2898648"/>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Route and product</a:t>
            </a:r>
          </a:p>
        </p:txBody>
      </p:sp>
      <p:sp>
        <p:nvSpPr>
          <p:cNvPr id="84" name="Label Oval 83"/>
          <p:cNvSpPr/>
          <p:nvPr/>
        </p:nvSpPr>
        <p:spPr>
          <a:xfrm>
            <a:off x="6982815" y="3410712"/>
            <a:ext cx="82296" cy="82296"/>
          </a:xfrm>
          <a:prstGeom prst="ellipse">
            <a:avLst/>
          </a:prstGeom>
          <a:solidFill>
            <a:srgbClr val="2E9E44"/>
          </a:solidFill>
          <a:ln w="9525">
            <a:solidFill>
              <a:srgbClr val="2E9E44"/>
            </a:solidFill>
          </a:ln>
        </p:spPr>
        <p:txBody>
          <a:bodyPr rtlCol="0" anchor="ctr"/>
          <a:lstStyle/>
          <a:p>
            <a:pPr algn="ctr"/>
          </a:p>
        </p:txBody>
      </p:sp>
      <p:sp>
        <p:nvSpPr>
          <p:cNvPr id="85" name="Label Oval 84"/>
          <p:cNvSpPr/>
          <p:nvPr/>
        </p:nvSpPr>
        <p:spPr>
          <a:xfrm>
            <a:off x="7092543" y="3410712"/>
            <a:ext cx="82296" cy="82296"/>
          </a:xfrm>
          <a:prstGeom prst="ellipse">
            <a:avLst/>
          </a:prstGeom>
          <a:solidFill>
            <a:srgbClr val="2E9E44"/>
          </a:solidFill>
          <a:ln w="9525">
            <a:solidFill>
              <a:srgbClr val="2E9E44"/>
            </a:solidFill>
          </a:ln>
        </p:spPr>
        <p:txBody>
          <a:bodyPr rtlCol="0" anchor="ctr"/>
          <a:lstStyle/>
          <a:p>
            <a:pPr algn="ctr"/>
          </a:p>
        </p:txBody>
      </p:sp>
      <p:sp>
        <p:nvSpPr>
          <p:cNvPr id="86" name="Label Oval 85"/>
          <p:cNvSpPr/>
          <p:nvPr/>
        </p:nvSpPr>
        <p:spPr>
          <a:xfrm>
            <a:off x="7202271" y="3410712"/>
            <a:ext cx="82296" cy="82296"/>
          </a:xfrm>
          <a:prstGeom prst="ellipse">
            <a:avLst/>
          </a:prstGeom>
          <a:solidFill>
            <a:srgbClr val="2E9E44"/>
          </a:solidFill>
          <a:ln w="9525">
            <a:solidFill>
              <a:srgbClr val="2E9E44"/>
            </a:solidFill>
          </a:ln>
        </p:spPr>
        <p:txBody>
          <a:bodyPr rtlCol="0" anchor="ctr"/>
          <a:lstStyle/>
          <a:p>
            <a:pPr algn="ctr"/>
          </a:p>
        </p:txBody>
      </p:sp>
      <p:sp>
        <p:nvSpPr>
          <p:cNvPr id="87" name="Label TextBox 86"/>
          <p:cNvSpPr txBox="1"/>
          <p:nvPr/>
        </p:nvSpPr>
        <p:spPr>
          <a:xfrm>
            <a:off x="7412583" y="3355848"/>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Idle assets</a:t>
            </a:r>
          </a:p>
        </p:txBody>
      </p:sp>
      <p:sp>
        <p:nvSpPr>
          <p:cNvPr id="88" name="Label Rectangle 87"/>
          <p:cNvSpPr/>
          <p:nvPr/>
        </p:nvSpPr>
        <p:spPr>
          <a:xfrm>
            <a:off x="8542324" y="2788920"/>
            <a:ext cx="1559509" cy="822960"/>
          </a:xfrm>
          <a:prstGeom prst="rect">
            <a:avLst/>
          </a:prstGeom>
          <a:solidFill>
            <a:srgbClr val="D6EFDA"/>
          </a:solidFill>
          <a:ln>
            <a:noFill/>
          </a:ln>
        </p:spPr>
        <p:txBody>
          <a:bodyPr rtlCol="0" anchor="ctr"/>
          <a:lstStyle/>
          <a:p>
            <a:pPr algn="ctr"/>
          </a:p>
        </p:txBody>
      </p:sp>
      <p:sp>
        <p:nvSpPr>
          <p:cNvPr id="89" name="Label Rectangle 88"/>
          <p:cNvSpPr/>
          <p:nvPr/>
        </p:nvSpPr>
        <p:spPr>
          <a:xfrm>
            <a:off x="8542324" y="2788920"/>
            <a:ext cx="1559509" cy="54864"/>
          </a:xfrm>
          <a:prstGeom prst="rect">
            <a:avLst/>
          </a:prstGeom>
          <a:solidFill>
            <a:srgbClr val="2E9E44"/>
          </a:solidFill>
          <a:ln>
            <a:noFill/>
          </a:ln>
        </p:spPr>
        <p:txBody>
          <a:bodyPr rtlCol="0" anchor="ctr"/>
          <a:lstStyle/>
          <a:p>
            <a:pPr algn="ctr"/>
          </a:p>
        </p:txBody>
      </p:sp>
      <p:sp>
        <p:nvSpPr>
          <p:cNvPr id="90" name="Label TextBox 89"/>
          <p:cNvSpPr txBox="1"/>
          <p:nvPr/>
        </p:nvSpPr>
        <p:spPr>
          <a:xfrm>
            <a:off x="8615476" y="2898648"/>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Visitor experience</a:t>
            </a:r>
          </a:p>
        </p:txBody>
      </p:sp>
      <p:sp>
        <p:nvSpPr>
          <p:cNvPr id="91" name="Label Oval 90"/>
          <p:cNvSpPr/>
          <p:nvPr/>
        </p:nvSpPr>
        <p:spPr>
          <a:xfrm>
            <a:off x="8615476" y="3410712"/>
            <a:ext cx="82296" cy="82296"/>
          </a:xfrm>
          <a:prstGeom prst="ellipse">
            <a:avLst/>
          </a:prstGeom>
          <a:solidFill>
            <a:srgbClr val="2E9E44"/>
          </a:solidFill>
          <a:ln w="9525">
            <a:solidFill>
              <a:srgbClr val="2E9E44"/>
            </a:solidFill>
          </a:ln>
        </p:spPr>
        <p:txBody>
          <a:bodyPr rtlCol="0" anchor="ctr"/>
          <a:lstStyle/>
          <a:p>
            <a:pPr algn="ctr"/>
          </a:p>
        </p:txBody>
      </p:sp>
      <p:sp>
        <p:nvSpPr>
          <p:cNvPr id="92" name="Label Oval 91"/>
          <p:cNvSpPr/>
          <p:nvPr/>
        </p:nvSpPr>
        <p:spPr>
          <a:xfrm>
            <a:off x="8725204" y="3410712"/>
            <a:ext cx="82296" cy="82296"/>
          </a:xfrm>
          <a:prstGeom prst="ellipse">
            <a:avLst/>
          </a:prstGeom>
          <a:solidFill>
            <a:srgbClr val="2E9E44"/>
          </a:solidFill>
          <a:ln w="9525">
            <a:solidFill>
              <a:srgbClr val="2E9E44"/>
            </a:solidFill>
          </a:ln>
        </p:spPr>
        <p:txBody>
          <a:bodyPr rtlCol="0" anchor="ctr"/>
          <a:lstStyle/>
          <a:p>
            <a:pPr algn="ctr"/>
          </a:p>
        </p:txBody>
      </p:sp>
      <p:sp>
        <p:nvSpPr>
          <p:cNvPr id="93" name="Label Oval 92"/>
          <p:cNvSpPr/>
          <p:nvPr/>
        </p:nvSpPr>
        <p:spPr>
          <a:xfrm>
            <a:off x="8834932" y="3410712"/>
            <a:ext cx="82296" cy="82296"/>
          </a:xfrm>
          <a:prstGeom prst="ellipse">
            <a:avLst/>
          </a:prstGeom>
          <a:solidFill>
            <a:srgbClr val="FFFFFF"/>
          </a:solidFill>
          <a:ln w="9525">
            <a:solidFill>
              <a:srgbClr val="2E9E44"/>
            </a:solidFill>
          </a:ln>
        </p:spPr>
        <p:txBody>
          <a:bodyPr rtlCol="0" anchor="ctr"/>
          <a:lstStyle/>
          <a:p>
            <a:pPr algn="ctr"/>
          </a:p>
        </p:txBody>
      </p:sp>
      <p:sp>
        <p:nvSpPr>
          <p:cNvPr id="94" name="Label TextBox 93"/>
          <p:cNvSpPr txBox="1"/>
          <p:nvPr/>
        </p:nvSpPr>
        <p:spPr>
          <a:xfrm>
            <a:off x="9045244" y="3355848"/>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Mid-scale gap</a:t>
            </a:r>
          </a:p>
        </p:txBody>
      </p:sp>
      <p:sp>
        <p:nvSpPr>
          <p:cNvPr id="95" name="Label Rectangle 94"/>
          <p:cNvSpPr/>
          <p:nvPr/>
        </p:nvSpPr>
        <p:spPr>
          <a:xfrm>
            <a:off x="10174986" y="2788920"/>
            <a:ext cx="1559509" cy="822960"/>
          </a:xfrm>
          <a:prstGeom prst="rect">
            <a:avLst/>
          </a:prstGeom>
          <a:solidFill>
            <a:srgbClr val="D6EFDA"/>
          </a:solidFill>
          <a:ln>
            <a:noFill/>
          </a:ln>
        </p:spPr>
        <p:txBody>
          <a:bodyPr rtlCol="0" anchor="ctr"/>
          <a:lstStyle/>
          <a:p>
            <a:pPr algn="ctr"/>
          </a:p>
        </p:txBody>
      </p:sp>
      <p:sp>
        <p:nvSpPr>
          <p:cNvPr id="96" name="Label Rectangle 95"/>
          <p:cNvSpPr/>
          <p:nvPr/>
        </p:nvSpPr>
        <p:spPr>
          <a:xfrm>
            <a:off x="10174986" y="2788920"/>
            <a:ext cx="1559509" cy="54864"/>
          </a:xfrm>
          <a:prstGeom prst="rect">
            <a:avLst/>
          </a:prstGeom>
          <a:solidFill>
            <a:srgbClr val="2E9E44"/>
          </a:solidFill>
          <a:ln>
            <a:noFill/>
          </a:ln>
        </p:spPr>
        <p:txBody>
          <a:bodyPr rtlCol="0" anchor="ctr"/>
          <a:lstStyle/>
          <a:p>
            <a:pPr algn="ctr"/>
          </a:p>
        </p:txBody>
      </p:sp>
      <p:sp>
        <p:nvSpPr>
          <p:cNvPr id="97" name="Label TextBox 96"/>
          <p:cNvSpPr txBox="1"/>
          <p:nvPr/>
        </p:nvSpPr>
        <p:spPr>
          <a:xfrm>
            <a:off x="10248138" y="2898648"/>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Nature attractions</a:t>
            </a:r>
          </a:p>
        </p:txBody>
      </p:sp>
      <p:sp>
        <p:nvSpPr>
          <p:cNvPr id="98" name="Label Oval 97"/>
          <p:cNvSpPr/>
          <p:nvPr/>
        </p:nvSpPr>
        <p:spPr>
          <a:xfrm>
            <a:off x="10248138" y="3410712"/>
            <a:ext cx="82296" cy="82296"/>
          </a:xfrm>
          <a:prstGeom prst="ellipse">
            <a:avLst/>
          </a:prstGeom>
          <a:solidFill>
            <a:srgbClr val="2E9E44"/>
          </a:solidFill>
          <a:ln w="9525">
            <a:solidFill>
              <a:srgbClr val="2E9E44"/>
            </a:solidFill>
          </a:ln>
        </p:spPr>
        <p:txBody>
          <a:bodyPr rtlCol="0" anchor="ctr"/>
          <a:lstStyle/>
          <a:p>
            <a:pPr algn="ctr"/>
          </a:p>
        </p:txBody>
      </p:sp>
      <p:sp>
        <p:nvSpPr>
          <p:cNvPr id="99" name="Label Oval 98"/>
          <p:cNvSpPr/>
          <p:nvPr/>
        </p:nvSpPr>
        <p:spPr>
          <a:xfrm>
            <a:off x="10357866" y="3410712"/>
            <a:ext cx="82296" cy="82296"/>
          </a:xfrm>
          <a:prstGeom prst="ellipse">
            <a:avLst/>
          </a:prstGeom>
          <a:solidFill>
            <a:srgbClr val="2E9E44"/>
          </a:solidFill>
          <a:ln w="9525">
            <a:solidFill>
              <a:srgbClr val="2E9E44"/>
            </a:solidFill>
          </a:ln>
        </p:spPr>
        <p:txBody>
          <a:bodyPr rtlCol="0" anchor="ctr"/>
          <a:lstStyle/>
          <a:p>
            <a:pPr algn="ctr"/>
          </a:p>
        </p:txBody>
      </p:sp>
      <p:sp>
        <p:nvSpPr>
          <p:cNvPr id="100" name="Label Oval 99"/>
          <p:cNvSpPr/>
          <p:nvPr/>
        </p:nvSpPr>
        <p:spPr>
          <a:xfrm>
            <a:off x="10467594" y="3410712"/>
            <a:ext cx="82296" cy="82296"/>
          </a:xfrm>
          <a:prstGeom prst="ellipse">
            <a:avLst/>
          </a:prstGeom>
          <a:solidFill>
            <a:srgbClr val="FFFFFF"/>
          </a:solidFill>
          <a:ln w="9525">
            <a:solidFill>
              <a:srgbClr val="2E9E44"/>
            </a:solidFill>
          </a:ln>
        </p:spPr>
        <p:txBody>
          <a:bodyPr rtlCol="0" anchor="ctr"/>
          <a:lstStyle/>
          <a:p>
            <a:pPr algn="ctr"/>
          </a:p>
        </p:txBody>
      </p:sp>
      <p:sp>
        <p:nvSpPr>
          <p:cNvPr id="101" name="Label TextBox 100"/>
          <p:cNvSpPr txBox="1"/>
          <p:nvPr/>
        </p:nvSpPr>
        <p:spPr>
          <a:xfrm>
            <a:off x="10677906" y="3355848"/>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Flagship limits</a:t>
            </a:r>
          </a:p>
        </p:txBody>
      </p:sp>
      <p:sp>
        <p:nvSpPr>
          <p:cNvPr id="102" name="Label TextBox 101"/>
          <p:cNvSpPr txBox="1"/>
          <p:nvPr/>
        </p:nvSpPr>
        <p:spPr>
          <a:xfrm>
            <a:off x="457200" y="3941064"/>
            <a:ext cx="1463040" cy="822960"/>
          </a:xfrm>
          <a:prstGeom prst="rect">
            <a:avLst/>
          </a:prstGeom>
          <a:noFill/>
        </p:spPr>
        <p:txBody>
          <a:bodyPr wrap="square" anchor="ctr" lIns="0" rIns="0" tIns="0" bIns="0">
            <a:spAutoFit/>
          </a:bodyPr>
          <a:lstStyle/>
          <a:p>
            <a:pPr algn="l">
              <a:spcAft>
                <a:spcPts val="0"/>
              </a:spcAft>
            </a:pPr>
            <a:r>
              <a:rPr sz="950" b="1" i="0">
                <a:solidFill>
                  <a:srgbClr val="1F497D"/>
                </a:solidFill>
                <a:latin typeface="Arial"/>
              </a:rPr>
              <a:t>Build enabling capability</a:t>
            </a:r>
          </a:p>
        </p:txBody>
      </p:sp>
      <p:sp>
        <p:nvSpPr>
          <p:cNvPr id="103" name="Label TextBox 102"/>
          <p:cNvSpPr txBox="1"/>
          <p:nvPr/>
        </p:nvSpPr>
        <p:spPr>
          <a:xfrm>
            <a:off x="2011680" y="3721608"/>
            <a:ext cx="4824831" cy="219456"/>
          </a:xfrm>
          <a:prstGeom prst="rect">
            <a:avLst/>
          </a:prstGeom>
          <a:noFill/>
        </p:spPr>
        <p:txBody>
          <a:bodyPr wrap="square" anchor="t" lIns="0" rIns="0" tIns="0" bIns="0">
            <a:spAutoFit/>
          </a:bodyPr>
          <a:lstStyle/>
          <a:p>
            <a:pPr algn="l">
              <a:spcAft>
                <a:spcPts val="0"/>
              </a:spcAft>
            </a:pPr>
            <a:r>
              <a:rPr sz="750" b="1" i="0">
                <a:solidFill>
                  <a:srgbClr val="7F7F7F"/>
                </a:solidFill>
                <a:latin typeface="Arial"/>
              </a:rPr>
              <a:t>3.1  INVESTMENT, INCLUSION AND SUSTAINABILITY</a:t>
            </a:r>
          </a:p>
        </p:txBody>
      </p:sp>
      <p:cxnSp>
        <p:nvCxnSpPr>
          <p:cNvPr id="104" name="Label Connector 103"/>
          <p:cNvCxnSpPr/>
          <p:nvPr/>
        </p:nvCxnSpPr>
        <p:spPr>
          <a:xfrm>
            <a:off x="2011680" y="3922776"/>
            <a:ext cx="4824831" cy="0"/>
          </a:xfrm>
          <a:prstGeom prst="line">
            <a:avLst/>
          </a:prstGeom>
          <a:ln w="9525">
            <a:solidFill>
              <a:srgbClr val="D9D9D9"/>
            </a:solidFill>
          </a:ln>
        </p:spPr>
      </p:cxnSp>
      <p:sp>
        <p:nvSpPr>
          <p:cNvPr id="105" name="Label TextBox 104"/>
          <p:cNvSpPr txBox="1"/>
          <p:nvPr/>
        </p:nvSpPr>
        <p:spPr>
          <a:xfrm>
            <a:off x="6909663" y="3721608"/>
            <a:ext cx="4824831" cy="219456"/>
          </a:xfrm>
          <a:prstGeom prst="rect">
            <a:avLst/>
          </a:prstGeom>
          <a:noFill/>
        </p:spPr>
        <p:txBody>
          <a:bodyPr wrap="square" anchor="t" lIns="0" rIns="0" tIns="0" bIns="0">
            <a:spAutoFit/>
          </a:bodyPr>
          <a:lstStyle/>
          <a:p>
            <a:pPr algn="l">
              <a:spcAft>
                <a:spcPts val="0"/>
              </a:spcAft>
            </a:pPr>
            <a:r>
              <a:rPr sz="750" b="1" i="0">
                <a:solidFill>
                  <a:srgbClr val="7F7F7F"/>
                </a:solidFill>
                <a:latin typeface="Arial"/>
              </a:rPr>
              <a:t>3.2  GOVERNANCE AND LEADERSHIP</a:t>
            </a:r>
          </a:p>
        </p:txBody>
      </p:sp>
      <p:cxnSp>
        <p:nvCxnSpPr>
          <p:cNvPr id="106" name="Label Connector 105"/>
          <p:cNvCxnSpPr/>
          <p:nvPr/>
        </p:nvCxnSpPr>
        <p:spPr>
          <a:xfrm>
            <a:off x="6909663" y="3922776"/>
            <a:ext cx="4824832" cy="0"/>
          </a:xfrm>
          <a:prstGeom prst="line">
            <a:avLst/>
          </a:prstGeom>
          <a:ln w="9525">
            <a:solidFill>
              <a:srgbClr val="D9D9D9"/>
            </a:solidFill>
          </a:ln>
        </p:spPr>
      </p:cxnSp>
      <p:sp>
        <p:nvSpPr>
          <p:cNvPr id="107" name="Label Rectangle 106"/>
          <p:cNvSpPr/>
          <p:nvPr/>
        </p:nvSpPr>
        <p:spPr>
          <a:xfrm>
            <a:off x="2011680" y="3941064"/>
            <a:ext cx="1559509" cy="822960"/>
          </a:xfrm>
          <a:prstGeom prst="rect">
            <a:avLst/>
          </a:prstGeom>
          <a:solidFill>
            <a:srgbClr val="D6EFDA"/>
          </a:solidFill>
          <a:ln>
            <a:noFill/>
          </a:ln>
        </p:spPr>
        <p:txBody>
          <a:bodyPr rtlCol="0" anchor="ctr"/>
          <a:lstStyle/>
          <a:p>
            <a:pPr algn="ctr"/>
          </a:p>
        </p:txBody>
      </p:sp>
      <p:sp>
        <p:nvSpPr>
          <p:cNvPr id="108" name="Label Rectangle 107"/>
          <p:cNvSpPr/>
          <p:nvPr/>
        </p:nvSpPr>
        <p:spPr>
          <a:xfrm>
            <a:off x="2011680" y="3941064"/>
            <a:ext cx="1559509" cy="54864"/>
          </a:xfrm>
          <a:prstGeom prst="rect">
            <a:avLst/>
          </a:prstGeom>
          <a:solidFill>
            <a:srgbClr val="2E9E44"/>
          </a:solidFill>
          <a:ln>
            <a:noFill/>
          </a:ln>
        </p:spPr>
        <p:txBody>
          <a:bodyPr rtlCol="0" anchor="ctr"/>
          <a:lstStyle/>
          <a:p>
            <a:pPr algn="ctr"/>
          </a:p>
        </p:txBody>
      </p:sp>
      <p:sp>
        <p:nvSpPr>
          <p:cNvPr id="109" name="Label TextBox 108"/>
          <p:cNvSpPr txBox="1"/>
          <p:nvPr/>
        </p:nvSpPr>
        <p:spPr>
          <a:xfrm>
            <a:off x="2084832" y="4050792"/>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Community inclusion</a:t>
            </a:r>
          </a:p>
        </p:txBody>
      </p:sp>
      <p:sp>
        <p:nvSpPr>
          <p:cNvPr id="110" name="Label Oval 109"/>
          <p:cNvSpPr/>
          <p:nvPr/>
        </p:nvSpPr>
        <p:spPr>
          <a:xfrm>
            <a:off x="2084832" y="4562856"/>
            <a:ext cx="82296" cy="82296"/>
          </a:xfrm>
          <a:prstGeom prst="ellipse">
            <a:avLst/>
          </a:prstGeom>
          <a:solidFill>
            <a:srgbClr val="2E9E44"/>
          </a:solidFill>
          <a:ln w="9525">
            <a:solidFill>
              <a:srgbClr val="2E9E44"/>
            </a:solidFill>
          </a:ln>
        </p:spPr>
        <p:txBody>
          <a:bodyPr rtlCol="0" anchor="ctr"/>
          <a:lstStyle/>
          <a:p>
            <a:pPr algn="ctr"/>
          </a:p>
        </p:txBody>
      </p:sp>
      <p:sp>
        <p:nvSpPr>
          <p:cNvPr id="111" name="Label Oval 110"/>
          <p:cNvSpPr/>
          <p:nvPr/>
        </p:nvSpPr>
        <p:spPr>
          <a:xfrm>
            <a:off x="2194560" y="4562856"/>
            <a:ext cx="82296" cy="82296"/>
          </a:xfrm>
          <a:prstGeom prst="ellipse">
            <a:avLst/>
          </a:prstGeom>
          <a:solidFill>
            <a:srgbClr val="2E9E44"/>
          </a:solidFill>
          <a:ln w="9525">
            <a:solidFill>
              <a:srgbClr val="2E9E44"/>
            </a:solidFill>
          </a:ln>
        </p:spPr>
        <p:txBody>
          <a:bodyPr rtlCol="0" anchor="ctr"/>
          <a:lstStyle/>
          <a:p>
            <a:pPr algn="ctr"/>
          </a:p>
        </p:txBody>
      </p:sp>
      <p:sp>
        <p:nvSpPr>
          <p:cNvPr id="112" name="Label Oval 111"/>
          <p:cNvSpPr/>
          <p:nvPr/>
        </p:nvSpPr>
        <p:spPr>
          <a:xfrm>
            <a:off x="2304288" y="4562856"/>
            <a:ext cx="82296" cy="82296"/>
          </a:xfrm>
          <a:prstGeom prst="ellipse">
            <a:avLst/>
          </a:prstGeom>
          <a:solidFill>
            <a:srgbClr val="2E9E44"/>
          </a:solidFill>
          <a:ln w="9525">
            <a:solidFill>
              <a:srgbClr val="2E9E44"/>
            </a:solidFill>
          </a:ln>
        </p:spPr>
        <p:txBody>
          <a:bodyPr rtlCol="0" anchor="ctr"/>
          <a:lstStyle/>
          <a:p>
            <a:pPr algn="ctr"/>
          </a:p>
        </p:txBody>
      </p:sp>
      <p:sp>
        <p:nvSpPr>
          <p:cNvPr id="113" name="Label TextBox 112"/>
          <p:cNvSpPr txBox="1"/>
          <p:nvPr/>
        </p:nvSpPr>
        <p:spPr>
          <a:xfrm>
            <a:off x="2514600" y="4507992"/>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Spend capture</a:t>
            </a:r>
          </a:p>
        </p:txBody>
      </p:sp>
      <p:sp>
        <p:nvSpPr>
          <p:cNvPr id="114" name="Label Rectangle 113"/>
          <p:cNvSpPr/>
          <p:nvPr/>
        </p:nvSpPr>
        <p:spPr>
          <a:xfrm>
            <a:off x="3644341" y="3941064"/>
            <a:ext cx="1559509" cy="822960"/>
          </a:xfrm>
          <a:prstGeom prst="rect">
            <a:avLst/>
          </a:prstGeom>
          <a:solidFill>
            <a:srgbClr val="FDECC8"/>
          </a:solidFill>
          <a:ln>
            <a:noFill/>
          </a:ln>
        </p:spPr>
        <p:txBody>
          <a:bodyPr rtlCol="0" anchor="ctr"/>
          <a:lstStyle/>
          <a:p>
            <a:pPr algn="ctr"/>
          </a:p>
        </p:txBody>
      </p:sp>
      <p:sp>
        <p:nvSpPr>
          <p:cNvPr id="115" name="Label Rectangle 114"/>
          <p:cNvSpPr/>
          <p:nvPr/>
        </p:nvSpPr>
        <p:spPr>
          <a:xfrm>
            <a:off x="3644341" y="3941064"/>
            <a:ext cx="1559509" cy="54864"/>
          </a:xfrm>
          <a:prstGeom prst="rect">
            <a:avLst/>
          </a:prstGeom>
          <a:solidFill>
            <a:srgbClr val="F2A900"/>
          </a:solidFill>
          <a:ln>
            <a:noFill/>
          </a:ln>
        </p:spPr>
        <p:txBody>
          <a:bodyPr rtlCol="0" anchor="ctr"/>
          <a:lstStyle/>
          <a:p>
            <a:pPr algn="ctr"/>
          </a:p>
        </p:txBody>
      </p:sp>
      <p:sp>
        <p:nvSpPr>
          <p:cNvPr id="116" name="Label TextBox 115"/>
          <p:cNvSpPr txBox="1"/>
          <p:nvPr/>
        </p:nvSpPr>
        <p:spPr>
          <a:xfrm>
            <a:off x="3717493" y="4050792"/>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Destination management</a:t>
            </a:r>
          </a:p>
        </p:txBody>
      </p:sp>
      <p:sp>
        <p:nvSpPr>
          <p:cNvPr id="117" name="Label Oval 116"/>
          <p:cNvSpPr/>
          <p:nvPr/>
        </p:nvSpPr>
        <p:spPr>
          <a:xfrm>
            <a:off x="3717493" y="4562856"/>
            <a:ext cx="82296" cy="82296"/>
          </a:xfrm>
          <a:prstGeom prst="ellipse">
            <a:avLst/>
          </a:prstGeom>
          <a:solidFill>
            <a:srgbClr val="F2A900"/>
          </a:solidFill>
          <a:ln w="9525">
            <a:solidFill>
              <a:srgbClr val="F2A900"/>
            </a:solidFill>
          </a:ln>
        </p:spPr>
        <p:txBody>
          <a:bodyPr rtlCol="0" anchor="ctr"/>
          <a:lstStyle/>
          <a:p>
            <a:pPr algn="ctr"/>
          </a:p>
        </p:txBody>
      </p:sp>
      <p:sp>
        <p:nvSpPr>
          <p:cNvPr id="118" name="Label Oval 117"/>
          <p:cNvSpPr/>
          <p:nvPr/>
        </p:nvSpPr>
        <p:spPr>
          <a:xfrm>
            <a:off x="3827221" y="4562856"/>
            <a:ext cx="82296" cy="82296"/>
          </a:xfrm>
          <a:prstGeom prst="ellipse">
            <a:avLst/>
          </a:prstGeom>
          <a:solidFill>
            <a:srgbClr val="F2A900"/>
          </a:solidFill>
          <a:ln w="9525">
            <a:solidFill>
              <a:srgbClr val="F2A900"/>
            </a:solidFill>
          </a:ln>
        </p:spPr>
        <p:txBody>
          <a:bodyPr rtlCol="0" anchor="ctr"/>
          <a:lstStyle/>
          <a:p>
            <a:pPr algn="ctr"/>
          </a:p>
        </p:txBody>
      </p:sp>
      <p:sp>
        <p:nvSpPr>
          <p:cNvPr id="119" name="Label Oval 118"/>
          <p:cNvSpPr/>
          <p:nvPr/>
        </p:nvSpPr>
        <p:spPr>
          <a:xfrm>
            <a:off x="3936949" y="4562856"/>
            <a:ext cx="82296" cy="82296"/>
          </a:xfrm>
          <a:prstGeom prst="ellipse">
            <a:avLst/>
          </a:prstGeom>
          <a:solidFill>
            <a:srgbClr val="FFFFFF"/>
          </a:solidFill>
          <a:ln w="9525">
            <a:solidFill>
              <a:srgbClr val="F2A900"/>
            </a:solidFill>
          </a:ln>
        </p:spPr>
        <p:txBody>
          <a:bodyPr rtlCol="0" anchor="ctr"/>
          <a:lstStyle/>
          <a:p>
            <a:pPr algn="ctr"/>
          </a:p>
        </p:txBody>
      </p:sp>
      <p:sp>
        <p:nvSpPr>
          <p:cNvPr id="120" name="Label TextBox 119"/>
          <p:cNvSpPr txBox="1"/>
          <p:nvPr/>
        </p:nvSpPr>
        <p:spPr>
          <a:xfrm>
            <a:off x="4147261" y="4507992"/>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LTO funding</a:t>
            </a:r>
          </a:p>
        </p:txBody>
      </p:sp>
      <p:sp>
        <p:nvSpPr>
          <p:cNvPr id="121" name="Label Rectangle 120"/>
          <p:cNvSpPr/>
          <p:nvPr/>
        </p:nvSpPr>
        <p:spPr>
          <a:xfrm>
            <a:off x="5277002" y="3941064"/>
            <a:ext cx="1559509" cy="822960"/>
          </a:xfrm>
          <a:prstGeom prst="rect">
            <a:avLst/>
          </a:prstGeom>
          <a:solidFill>
            <a:srgbClr val="FDECC8"/>
          </a:solidFill>
          <a:ln>
            <a:noFill/>
          </a:ln>
        </p:spPr>
        <p:txBody>
          <a:bodyPr rtlCol="0" anchor="ctr"/>
          <a:lstStyle/>
          <a:p>
            <a:pPr algn="ctr"/>
          </a:p>
        </p:txBody>
      </p:sp>
      <p:sp>
        <p:nvSpPr>
          <p:cNvPr id="122" name="Label Rectangle 121"/>
          <p:cNvSpPr/>
          <p:nvPr/>
        </p:nvSpPr>
        <p:spPr>
          <a:xfrm>
            <a:off x="5277002" y="3941064"/>
            <a:ext cx="1559509" cy="54864"/>
          </a:xfrm>
          <a:prstGeom prst="rect">
            <a:avLst/>
          </a:prstGeom>
          <a:solidFill>
            <a:srgbClr val="F2A900"/>
          </a:solidFill>
          <a:ln>
            <a:noFill/>
          </a:ln>
        </p:spPr>
        <p:txBody>
          <a:bodyPr rtlCol="0" anchor="ctr"/>
          <a:lstStyle/>
          <a:p>
            <a:pPr algn="ctr"/>
          </a:p>
        </p:txBody>
      </p:sp>
      <p:sp>
        <p:nvSpPr>
          <p:cNvPr id="123" name="Label TextBox 122"/>
          <p:cNvSpPr txBox="1"/>
          <p:nvPr/>
        </p:nvSpPr>
        <p:spPr>
          <a:xfrm>
            <a:off x="5350154" y="4050792"/>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Capital</a:t>
            </a:r>
          </a:p>
        </p:txBody>
      </p:sp>
      <p:sp>
        <p:nvSpPr>
          <p:cNvPr id="124" name="Label Oval 123"/>
          <p:cNvSpPr/>
          <p:nvPr/>
        </p:nvSpPr>
        <p:spPr>
          <a:xfrm>
            <a:off x="5350154" y="4562856"/>
            <a:ext cx="82296" cy="82296"/>
          </a:xfrm>
          <a:prstGeom prst="ellipse">
            <a:avLst/>
          </a:prstGeom>
          <a:solidFill>
            <a:srgbClr val="F2A900"/>
          </a:solidFill>
          <a:ln w="9525">
            <a:solidFill>
              <a:srgbClr val="F2A900"/>
            </a:solidFill>
          </a:ln>
        </p:spPr>
        <p:txBody>
          <a:bodyPr rtlCol="0" anchor="ctr"/>
          <a:lstStyle/>
          <a:p>
            <a:pPr algn="ctr"/>
          </a:p>
        </p:txBody>
      </p:sp>
      <p:sp>
        <p:nvSpPr>
          <p:cNvPr id="125" name="Label Oval 124"/>
          <p:cNvSpPr/>
          <p:nvPr/>
        </p:nvSpPr>
        <p:spPr>
          <a:xfrm>
            <a:off x="5459882" y="4562856"/>
            <a:ext cx="82296" cy="82296"/>
          </a:xfrm>
          <a:prstGeom prst="ellipse">
            <a:avLst/>
          </a:prstGeom>
          <a:solidFill>
            <a:srgbClr val="F2A900"/>
          </a:solidFill>
          <a:ln w="9525">
            <a:solidFill>
              <a:srgbClr val="F2A900"/>
            </a:solidFill>
          </a:ln>
        </p:spPr>
        <p:txBody>
          <a:bodyPr rtlCol="0" anchor="ctr"/>
          <a:lstStyle/>
          <a:p>
            <a:pPr algn="ctr"/>
          </a:p>
        </p:txBody>
      </p:sp>
      <p:sp>
        <p:nvSpPr>
          <p:cNvPr id="126" name="Label Oval 125"/>
          <p:cNvSpPr/>
          <p:nvPr/>
        </p:nvSpPr>
        <p:spPr>
          <a:xfrm>
            <a:off x="5569610" y="4562856"/>
            <a:ext cx="82296" cy="82296"/>
          </a:xfrm>
          <a:prstGeom prst="ellipse">
            <a:avLst/>
          </a:prstGeom>
          <a:solidFill>
            <a:srgbClr val="FFFFFF"/>
          </a:solidFill>
          <a:ln w="9525">
            <a:solidFill>
              <a:srgbClr val="F2A900"/>
            </a:solidFill>
          </a:ln>
        </p:spPr>
        <p:txBody>
          <a:bodyPr rtlCol="0" anchor="ctr"/>
          <a:lstStyle/>
          <a:p>
            <a:pPr algn="ctr"/>
          </a:p>
        </p:txBody>
      </p:sp>
      <p:sp>
        <p:nvSpPr>
          <p:cNvPr id="127" name="Label TextBox 126"/>
          <p:cNvSpPr txBox="1"/>
          <p:nvPr/>
        </p:nvSpPr>
        <p:spPr>
          <a:xfrm>
            <a:off x="5779922" y="4507992"/>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No pipeline</a:t>
            </a:r>
          </a:p>
        </p:txBody>
      </p:sp>
      <p:sp>
        <p:nvSpPr>
          <p:cNvPr id="128" name="Label Rectangle 127"/>
          <p:cNvSpPr/>
          <p:nvPr/>
        </p:nvSpPr>
        <p:spPr>
          <a:xfrm>
            <a:off x="6909663" y="3941064"/>
            <a:ext cx="1559509" cy="822960"/>
          </a:xfrm>
          <a:prstGeom prst="rect">
            <a:avLst/>
          </a:prstGeom>
          <a:solidFill>
            <a:srgbClr val="D6EFDA"/>
          </a:solidFill>
          <a:ln>
            <a:noFill/>
          </a:ln>
        </p:spPr>
        <p:txBody>
          <a:bodyPr rtlCol="0" anchor="ctr"/>
          <a:lstStyle/>
          <a:p>
            <a:pPr algn="ctr"/>
          </a:p>
        </p:txBody>
      </p:sp>
      <p:sp>
        <p:nvSpPr>
          <p:cNvPr id="129" name="Label Rectangle 128"/>
          <p:cNvSpPr/>
          <p:nvPr/>
        </p:nvSpPr>
        <p:spPr>
          <a:xfrm>
            <a:off x="6909663" y="3941064"/>
            <a:ext cx="1559509" cy="54864"/>
          </a:xfrm>
          <a:prstGeom prst="rect">
            <a:avLst/>
          </a:prstGeom>
          <a:solidFill>
            <a:srgbClr val="2E9E44"/>
          </a:solidFill>
          <a:ln>
            <a:noFill/>
          </a:ln>
        </p:spPr>
        <p:txBody>
          <a:bodyPr rtlCol="0" anchor="ctr"/>
          <a:lstStyle/>
          <a:p>
            <a:pPr algn="ctr"/>
          </a:p>
        </p:txBody>
      </p:sp>
      <p:sp>
        <p:nvSpPr>
          <p:cNvPr id="130" name="Label TextBox 129"/>
          <p:cNvSpPr txBox="1"/>
          <p:nvPr/>
        </p:nvSpPr>
        <p:spPr>
          <a:xfrm>
            <a:off x="6982815" y="4050792"/>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Institutions</a:t>
            </a:r>
          </a:p>
        </p:txBody>
      </p:sp>
      <p:sp>
        <p:nvSpPr>
          <p:cNvPr id="131" name="Label Oval 130"/>
          <p:cNvSpPr/>
          <p:nvPr/>
        </p:nvSpPr>
        <p:spPr>
          <a:xfrm>
            <a:off x="6982815" y="4562856"/>
            <a:ext cx="82296" cy="82296"/>
          </a:xfrm>
          <a:prstGeom prst="ellipse">
            <a:avLst/>
          </a:prstGeom>
          <a:solidFill>
            <a:srgbClr val="2E9E44"/>
          </a:solidFill>
          <a:ln w="9525">
            <a:solidFill>
              <a:srgbClr val="2E9E44"/>
            </a:solidFill>
          </a:ln>
        </p:spPr>
        <p:txBody>
          <a:bodyPr rtlCol="0" anchor="ctr"/>
          <a:lstStyle/>
          <a:p>
            <a:pPr algn="ctr"/>
          </a:p>
        </p:txBody>
      </p:sp>
      <p:sp>
        <p:nvSpPr>
          <p:cNvPr id="132" name="Label Oval 131"/>
          <p:cNvSpPr/>
          <p:nvPr/>
        </p:nvSpPr>
        <p:spPr>
          <a:xfrm>
            <a:off x="7092543" y="4562856"/>
            <a:ext cx="82296" cy="82296"/>
          </a:xfrm>
          <a:prstGeom prst="ellipse">
            <a:avLst/>
          </a:prstGeom>
          <a:solidFill>
            <a:srgbClr val="2E9E44"/>
          </a:solidFill>
          <a:ln w="9525">
            <a:solidFill>
              <a:srgbClr val="2E9E44"/>
            </a:solidFill>
          </a:ln>
        </p:spPr>
        <p:txBody>
          <a:bodyPr rtlCol="0" anchor="ctr"/>
          <a:lstStyle/>
          <a:p>
            <a:pPr algn="ctr"/>
          </a:p>
        </p:txBody>
      </p:sp>
      <p:sp>
        <p:nvSpPr>
          <p:cNvPr id="133" name="Label Oval 132"/>
          <p:cNvSpPr/>
          <p:nvPr/>
        </p:nvSpPr>
        <p:spPr>
          <a:xfrm>
            <a:off x="7202271" y="4562856"/>
            <a:ext cx="82296" cy="82296"/>
          </a:xfrm>
          <a:prstGeom prst="ellipse">
            <a:avLst/>
          </a:prstGeom>
          <a:solidFill>
            <a:srgbClr val="2E9E44"/>
          </a:solidFill>
          <a:ln w="9525">
            <a:solidFill>
              <a:srgbClr val="2E9E44"/>
            </a:solidFill>
          </a:ln>
        </p:spPr>
        <p:txBody>
          <a:bodyPr rtlCol="0" anchor="ctr"/>
          <a:lstStyle/>
          <a:p>
            <a:pPr algn="ctr"/>
          </a:p>
        </p:txBody>
      </p:sp>
      <p:sp>
        <p:nvSpPr>
          <p:cNvPr id="134" name="Label TextBox 133"/>
          <p:cNvSpPr txBox="1"/>
          <p:nvPr/>
        </p:nvSpPr>
        <p:spPr>
          <a:xfrm>
            <a:off x="7412583" y="4507992"/>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National levers</a:t>
            </a:r>
          </a:p>
        </p:txBody>
      </p:sp>
      <p:sp>
        <p:nvSpPr>
          <p:cNvPr id="135" name="Label Rectangle 134"/>
          <p:cNvSpPr/>
          <p:nvPr/>
        </p:nvSpPr>
        <p:spPr>
          <a:xfrm>
            <a:off x="8542324" y="3941064"/>
            <a:ext cx="1559509" cy="822960"/>
          </a:xfrm>
          <a:prstGeom prst="rect">
            <a:avLst/>
          </a:prstGeom>
          <a:solidFill>
            <a:srgbClr val="D6EFDA"/>
          </a:solidFill>
          <a:ln>
            <a:noFill/>
          </a:ln>
        </p:spPr>
        <p:txBody>
          <a:bodyPr rtlCol="0" anchor="ctr"/>
          <a:lstStyle/>
          <a:p>
            <a:pPr algn="ctr"/>
          </a:p>
        </p:txBody>
      </p:sp>
      <p:sp>
        <p:nvSpPr>
          <p:cNvPr id="136" name="Label Rectangle 135"/>
          <p:cNvSpPr/>
          <p:nvPr/>
        </p:nvSpPr>
        <p:spPr>
          <a:xfrm>
            <a:off x="8542324" y="3941064"/>
            <a:ext cx="1559509" cy="54864"/>
          </a:xfrm>
          <a:prstGeom prst="rect">
            <a:avLst/>
          </a:prstGeom>
          <a:solidFill>
            <a:srgbClr val="2E9E44"/>
          </a:solidFill>
          <a:ln>
            <a:noFill/>
          </a:ln>
        </p:spPr>
        <p:txBody>
          <a:bodyPr rtlCol="0" anchor="ctr"/>
          <a:lstStyle/>
          <a:p>
            <a:pPr algn="ctr"/>
          </a:p>
        </p:txBody>
      </p:sp>
      <p:sp>
        <p:nvSpPr>
          <p:cNvPr id="137" name="Label TextBox 136"/>
          <p:cNvSpPr txBox="1"/>
          <p:nvPr/>
        </p:nvSpPr>
        <p:spPr>
          <a:xfrm>
            <a:off x="8615476" y="4050792"/>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Collaboration</a:t>
            </a:r>
          </a:p>
        </p:txBody>
      </p:sp>
      <p:sp>
        <p:nvSpPr>
          <p:cNvPr id="138" name="Label Oval 137"/>
          <p:cNvSpPr/>
          <p:nvPr/>
        </p:nvSpPr>
        <p:spPr>
          <a:xfrm>
            <a:off x="8615476" y="4562856"/>
            <a:ext cx="82296" cy="82296"/>
          </a:xfrm>
          <a:prstGeom prst="ellipse">
            <a:avLst/>
          </a:prstGeom>
          <a:solidFill>
            <a:srgbClr val="2E9E44"/>
          </a:solidFill>
          <a:ln w="9525">
            <a:solidFill>
              <a:srgbClr val="2E9E44"/>
            </a:solidFill>
          </a:ln>
        </p:spPr>
        <p:txBody>
          <a:bodyPr rtlCol="0" anchor="ctr"/>
          <a:lstStyle/>
          <a:p>
            <a:pPr algn="ctr"/>
          </a:p>
        </p:txBody>
      </p:sp>
      <p:sp>
        <p:nvSpPr>
          <p:cNvPr id="139" name="Label Oval 138"/>
          <p:cNvSpPr/>
          <p:nvPr/>
        </p:nvSpPr>
        <p:spPr>
          <a:xfrm>
            <a:off x="8725204" y="4562856"/>
            <a:ext cx="82296" cy="82296"/>
          </a:xfrm>
          <a:prstGeom prst="ellipse">
            <a:avLst/>
          </a:prstGeom>
          <a:solidFill>
            <a:srgbClr val="2E9E44"/>
          </a:solidFill>
          <a:ln w="9525">
            <a:solidFill>
              <a:srgbClr val="2E9E44"/>
            </a:solidFill>
          </a:ln>
        </p:spPr>
        <p:txBody>
          <a:bodyPr rtlCol="0" anchor="ctr"/>
          <a:lstStyle/>
          <a:p>
            <a:pPr algn="ctr"/>
          </a:p>
        </p:txBody>
      </p:sp>
      <p:sp>
        <p:nvSpPr>
          <p:cNvPr id="140" name="Label Oval 139"/>
          <p:cNvSpPr/>
          <p:nvPr/>
        </p:nvSpPr>
        <p:spPr>
          <a:xfrm>
            <a:off x="8834932" y="4562856"/>
            <a:ext cx="82296" cy="82296"/>
          </a:xfrm>
          <a:prstGeom prst="ellipse">
            <a:avLst/>
          </a:prstGeom>
          <a:solidFill>
            <a:srgbClr val="2E9E44"/>
          </a:solidFill>
          <a:ln w="9525">
            <a:solidFill>
              <a:srgbClr val="2E9E44"/>
            </a:solidFill>
          </a:ln>
        </p:spPr>
        <p:txBody>
          <a:bodyPr rtlCol="0" anchor="ctr"/>
          <a:lstStyle/>
          <a:p>
            <a:pPr algn="ctr"/>
          </a:p>
        </p:txBody>
      </p:sp>
      <p:sp>
        <p:nvSpPr>
          <p:cNvPr id="141" name="Label TextBox 140"/>
          <p:cNvSpPr txBox="1"/>
          <p:nvPr/>
        </p:nvSpPr>
        <p:spPr>
          <a:xfrm>
            <a:off x="9045244" y="4507992"/>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15 of 16</a:t>
            </a:r>
          </a:p>
        </p:txBody>
      </p:sp>
      <p:sp>
        <p:nvSpPr>
          <p:cNvPr id="142" name="Label Rectangle 141"/>
          <p:cNvSpPr/>
          <p:nvPr/>
        </p:nvSpPr>
        <p:spPr>
          <a:xfrm>
            <a:off x="10174986" y="3941064"/>
            <a:ext cx="1559509" cy="822960"/>
          </a:xfrm>
          <a:prstGeom prst="rect">
            <a:avLst/>
          </a:prstGeom>
          <a:solidFill>
            <a:srgbClr val="D6EFDA"/>
          </a:solidFill>
          <a:ln>
            <a:noFill/>
          </a:ln>
        </p:spPr>
        <p:txBody>
          <a:bodyPr rtlCol="0" anchor="ctr"/>
          <a:lstStyle/>
          <a:p>
            <a:pPr algn="ctr"/>
          </a:p>
        </p:txBody>
      </p:sp>
      <p:sp>
        <p:nvSpPr>
          <p:cNvPr id="143" name="Label Rectangle 142"/>
          <p:cNvSpPr/>
          <p:nvPr/>
        </p:nvSpPr>
        <p:spPr>
          <a:xfrm>
            <a:off x="10174986" y="3941064"/>
            <a:ext cx="1559509" cy="54864"/>
          </a:xfrm>
          <a:prstGeom prst="rect">
            <a:avLst/>
          </a:prstGeom>
          <a:solidFill>
            <a:srgbClr val="2E9E44"/>
          </a:solidFill>
          <a:ln>
            <a:noFill/>
          </a:ln>
        </p:spPr>
        <p:txBody>
          <a:bodyPr rtlCol="0" anchor="ctr"/>
          <a:lstStyle/>
          <a:p>
            <a:pPr algn="ctr"/>
          </a:p>
        </p:txBody>
      </p:sp>
      <p:sp>
        <p:nvSpPr>
          <p:cNvPr id="144" name="Label TextBox 143"/>
          <p:cNvSpPr txBox="1"/>
          <p:nvPr/>
        </p:nvSpPr>
        <p:spPr>
          <a:xfrm>
            <a:off x="10248138" y="4050792"/>
            <a:ext cx="1413205" cy="4572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Policy and data</a:t>
            </a:r>
          </a:p>
        </p:txBody>
      </p:sp>
      <p:sp>
        <p:nvSpPr>
          <p:cNvPr id="145" name="Label Oval 144"/>
          <p:cNvSpPr/>
          <p:nvPr/>
        </p:nvSpPr>
        <p:spPr>
          <a:xfrm>
            <a:off x="10248138" y="4562856"/>
            <a:ext cx="82296" cy="82296"/>
          </a:xfrm>
          <a:prstGeom prst="ellipse">
            <a:avLst/>
          </a:prstGeom>
          <a:solidFill>
            <a:srgbClr val="2E9E44"/>
          </a:solidFill>
          <a:ln w="9525">
            <a:solidFill>
              <a:srgbClr val="2E9E44"/>
            </a:solidFill>
          </a:ln>
        </p:spPr>
        <p:txBody>
          <a:bodyPr rtlCol="0" anchor="ctr"/>
          <a:lstStyle/>
          <a:p>
            <a:pPr algn="ctr"/>
          </a:p>
        </p:txBody>
      </p:sp>
      <p:sp>
        <p:nvSpPr>
          <p:cNvPr id="146" name="Label Oval 145"/>
          <p:cNvSpPr/>
          <p:nvPr/>
        </p:nvSpPr>
        <p:spPr>
          <a:xfrm>
            <a:off x="10357866" y="4562856"/>
            <a:ext cx="82296" cy="82296"/>
          </a:xfrm>
          <a:prstGeom prst="ellipse">
            <a:avLst/>
          </a:prstGeom>
          <a:solidFill>
            <a:srgbClr val="2E9E44"/>
          </a:solidFill>
          <a:ln w="9525">
            <a:solidFill>
              <a:srgbClr val="2E9E44"/>
            </a:solidFill>
          </a:ln>
        </p:spPr>
        <p:txBody>
          <a:bodyPr rtlCol="0" anchor="ctr"/>
          <a:lstStyle/>
          <a:p>
            <a:pPr algn="ctr"/>
          </a:p>
        </p:txBody>
      </p:sp>
      <p:sp>
        <p:nvSpPr>
          <p:cNvPr id="147" name="Label Oval 146"/>
          <p:cNvSpPr/>
          <p:nvPr/>
        </p:nvSpPr>
        <p:spPr>
          <a:xfrm>
            <a:off x="10467594" y="4562856"/>
            <a:ext cx="82296" cy="82296"/>
          </a:xfrm>
          <a:prstGeom prst="ellipse">
            <a:avLst/>
          </a:prstGeom>
          <a:solidFill>
            <a:srgbClr val="2E9E44"/>
          </a:solidFill>
          <a:ln w="9525">
            <a:solidFill>
              <a:srgbClr val="2E9E44"/>
            </a:solidFill>
          </a:ln>
        </p:spPr>
        <p:txBody>
          <a:bodyPr rtlCol="0" anchor="ctr"/>
          <a:lstStyle/>
          <a:p>
            <a:pPr algn="ctr"/>
          </a:p>
        </p:txBody>
      </p:sp>
      <p:sp>
        <p:nvSpPr>
          <p:cNvPr id="148" name="Label TextBox 147"/>
          <p:cNvSpPr txBox="1"/>
          <p:nvPr/>
        </p:nvSpPr>
        <p:spPr>
          <a:xfrm>
            <a:off x="10677906" y="4507992"/>
            <a:ext cx="992581" cy="201168"/>
          </a:xfrm>
          <a:prstGeom prst="rect">
            <a:avLst/>
          </a:prstGeom>
          <a:noFill/>
        </p:spPr>
        <p:txBody>
          <a:bodyPr wrap="square" anchor="t" lIns="0" rIns="0" tIns="0" bIns="0">
            <a:spAutoFit/>
          </a:bodyPr>
          <a:lstStyle/>
          <a:p>
            <a:pPr algn="r">
              <a:spcAft>
                <a:spcPts val="0"/>
              </a:spcAft>
            </a:pPr>
            <a:r>
              <a:rPr sz="750" b="0" i="1">
                <a:solidFill>
                  <a:srgbClr val="7F7F7F"/>
                </a:solidFill>
                <a:latin typeface="Arial"/>
              </a:rPr>
              <a:t>No method</a:t>
            </a:r>
          </a:p>
        </p:txBody>
      </p:sp>
      <p:sp>
        <p:nvSpPr>
          <p:cNvPr id="149" name="Rectangle 148"/>
          <p:cNvSpPr/>
          <p:nvPr/>
        </p:nvSpPr>
        <p:spPr>
          <a:xfrm>
            <a:off x="2011680" y="4892040"/>
            <a:ext cx="274320" cy="201168"/>
          </a:xfrm>
          <a:prstGeom prst="rect">
            <a:avLst/>
          </a:prstGeom>
          <a:solidFill>
            <a:srgbClr val="D6EFDA"/>
          </a:solidFill>
          <a:ln>
            <a:noFill/>
          </a:ln>
        </p:spPr>
        <p:txBody>
          <a:bodyPr rtlCol="0" anchor="ctr"/>
          <a:lstStyle/>
          <a:p>
            <a:pPr algn="ctr"/>
          </a:p>
        </p:txBody>
      </p:sp>
      <p:sp>
        <p:nvSpPr>
          <p:cNvPr id="150" name="Rectangle 149"/>
          <p:cNvSpPr/>
          <p:nvPr/>
        </p:nvSpPr>
        <p:spPr>
          <a:xfrm>
            <a:off x="2011680" y="4892040"/>
            <a:ext cx="274320" cy="45720"/>
          </a:xfrm>
          <a:prstGeom prst="rect">
            <a:avLst/>
          </a:prstGeom>
          <a:solidFill>
            <a:srgbClr val="2E9E44"/>
          </a:solidFill>
          <a:ln>
            <a:noFill/>
          </a:ln>
        </p:spPr>
        <p:txBody>
          <a:bodyPr rtlCol="0" anchor="ctr"/>
          <a:lstStyle/>
          <a:p>
            <a:pPr algn="ctr"/>
          </a:p>
        </p:txBody>
      </p:sp>
      <p:sp>
        <p:nvSpPr>
          <p:cNvPr id="151" name="TextBox 150"/>
          <p:cNvSpPr txBox="1"/>
          <p:nvPr/>
        </p:nvSpPr>
        <p:spPr>
          <a:xfrm>
            <a:off x="2359152" y="4873752"/>
            <a:ext cx="1371600" cy="256032"/>
          </a:xfrm>
          <a:prstGeom prst="rect">
            <a:avLst/>
          </a:prstGeom>
          <a:noFill/>
        </p:spPr>
        <p:txBody>
          <a:bodyPr wrap="square" anchor="t" lIns="0" rIns="0" tIns="0" bIns="0">
            <a:spAutoFit/>
          </a:bodyPr>
          <a:lstStyle/>
          <a:p>
            <a:pPr algn="l">
              <a:spcAft>
                <a:spcPts val="0"/>
              </a:spcAft>
            </a:pPr>
            <a:r>
              <a:rPr sz="900" b="0" i="0">
                <a:solidFill>
                  <a:srgbClr val="404040"/>
                </a:solidFill>
                <a:latin typeface="Arial"/>
              </a:rPr>
              <a:t>Supported</a:t>
            </a:r>
          </a:p>
        </p:txBody>
      </p:sp>
      <p:sp>
        <p:nvSpPr>
          <p:cNvPr id="152" name="Rectangle 151"/>
          <p:cNvSpPr/>
          <p:nvPr/>
        </p:nvSpPr>
        <p:spPr>
          <a:xfrm>
            <a:off x="3749039" y="4892040"/>
            <a:ext cx="274320" cy="201168"/>
          </a:xfrm>
          <a:prstGeom prst="rect">
            <a:avLst/>
          </a:prstGeom>
          <a:solidFill>
            <a:srgbClr val="FDECC8"/>
          </a:solidFill>
          <a:ln>
            <a:noFill/>
          </a:ln>
        </p:spPr>
        <p:txBody>
          <a:bodyPr rtlCol="0" anchor="ctr"/>
          <a:lstStyle/>
          <a:p>
            <a:pPr algn="ctr"/>
          </a:p>
        </p:txBody>
      </p:sp>
      <p:sp>
        <p:nvSpPr>
          <p:cNvPr id="153" name="Rectangle 152"/>
          <p:cNvSpPr/>
          <p:nvPr/>
        </p:nvSpPr>
        <p:spPr>
          <a:xfrm>
            <a:off x="3749039" y="4892040"/>
            <a:ext cx="274320" cy="45720"/>
          </a:xfrm>
          <a:prstGeom prst="rect">
            <a:avLst/>
          </a:prstGeom>
          <a:solidFill>
            <a:srgbClr val="F2A900"/>
          </a:solidFill>
          <a:ln>
            <a:noFill/>
          </a:ln>
        </p:spPr>
        <p:txBody>
          <a:bodyPr rtlCol="0" anchor="ctr"/>
          <a:lstStyle/>
          <a:p>
            <a:pPr algn="ctr"/>
          </a:p>
        </p:txBody>
      </p:sp>
      <p:sp>
        <p:nvSpPr>
          <p:cNvPr id="154" name="TextBox 153"/>
          <p:cNvSpPr txBox="1"/>
          <p:nvPr/>
        </p:nvSpPr>
        <p:spPr>
          <a:xfrm>
            <a:off x="4096512" y="4873752"/>
            <a:ext cx="1371600" cy="256032"/>
          </a:xfrm>
          <a:prstGeom prst="rect">
            <a:avLst/>
          </a:prstGeom>
          <a:noFill/>
        </p:spPr>
        <p:txBody>
          <a:bodyPr wrap="square" anchor="t" lIns="0" rIns="0" tIns="0" bIns="0">
            <a:spAutoFit/>
          </a:bodyPr>
          <a:lstStyle/>
          <a:p>
            <a:pPr algn="l">
              <a:spcAft>
                <a:spcPts val="0"/>
              </a:spcAft>
            </a:pPr>
            <a:r>
              <a:rPr sz="900" b="0" i="0">
                <a:solidFill>
                  <a:srgbClr val="404040"/>
                </a:solidFill>
                <a:latin typeface="Arial"/>
              </a:rPr>
              <a:t>Partly supported</a:t>
            </a:r>
          </a:p>
        </p:txBody>
      </p:sp>
      <p:sp>
        <p:nvSpPr>
          <p:cNvPr id="155" name="Oval 154"/>
          <p:cNvSpPr/>
          <p:nvPr/>
        </p:nvSpPr>
        <p:spPr>
          <a:xfrm>
            <a:off x="5577840" y="4937760"/>
            <a:ext cx="82296" cy="82296"/>
          </a:xfrm>
          <a:prstGeom prst="ellipse">
            <a:avLst/>
          </a:prstGeom>
          <a:solidFill>
            <a:srgbClr val="1F497D"/>
          </a:solidFill>
          <a:ln w="9525">
            <a:solidFill>
              <a:srgbClr val="1F497D"/>
            </a:solidFill>
          </a:ln>
        </p:spPr>
        <p:txBody>
          <a:bodyPr rtlCol="0" anchor="ctr"/>
          <a:lstStyle/>
          <a:p>
            <a:pPr algn="ctr"/>
          </a:p>
        </p:txBody>
      </p:sp>
      <p:sp>
        <p:nvSpPr>
          <p:cNvPr id="156" name="Oval 155"/>
          <p:cNvSpPr/>
          <p:nvPr/>
        </p:nvSpPr>
        <p:spPr>
          <a:xfrm>
            <a:off x="5687568" y="4937760"/>
            <a:ext cx="82296" cy="82296"/>
          </a:xfrm>
          <a:prstGeom prst="ellipse">
            <a:avLst/>
          </a:prstGeom>
          <a:solidFill>
            <a:srgbClr val="1F497D"/>
          </a:solidFill>
          <a:ln w="9525">
            <a:solidFill>
              <a:srgbClr val="1F497D"/>
            </a:solidFill>
          </a:ln>
        </p:spPr>
        <p:txBody>
          <a:bodyPr rtlCol="0" anchor="ctr"/>
          <a:lstStyle/>
          <a:p>
            <a:pPr algn="ctr"/>
          </a:p>
        </p:txBody>
      </p:sp>
      <p:sp>
        <p:nvSpPr>
          <p:cNvPr id="157" name="Oval 156"/>
          <p:cNvSpPr/>
          <p:nvPr/>
        </p:nvSpPr>
        <p:spPr>
          <a:xfrm>
            <a:off x="5797296" y="4937760"/>
            <a:ext cx="82296" cy="82296"/>
          </a:xfrm>
          <a:prstGeom prst="ellipse">
            <a:avLst/>
          </a:prstGeom>
          <a:solidFill>
            <a:srgbClr val="1F497D"/>
          </a:solidFill>
          <a:ln w="9525">
            <a:solidFill>
              <a:srgbClr val="1F497D"/>
            </a:solidFill>
          </a:ln>
        </p:spPr>
        <p:txBody>
          <a:bodyPr rtlCol="0" anchor="ctr"/>
          <a:lstStyle/>
          <a:p>
            <a:pPr algn="ctr"/>
          </a:p>
        </p:txBody>
      </p:sp>
      <p:sp>
        <p:nvSpPr>
          <p:cNvPr id="158" name="TextBox 157"/>
          <p:cNvSpPr txBox="1"/>
          <p:nvPr/>
        </p:nvSpPr>
        <p:spPr>
          <a:xfrm>
            <a:off x="5943600" y="4873752"/>
            <a:ext cx="4114800" cy="256032"/>
          </a:xfrm>
          <a:prstGeom prst="rect">
            <a:avLst/>
          </a:prstGeom>
          <a:noFill/>
        </p:spPr>
        <p:txBody>
          <a:bodyPr wrap="square" anchor="t" lIns="0" rIns="0" tIns="0" bIns="0">
            <a:spAutoFit/>
          </a:bodyPr>
          <a:lstStyle/>
          <a:p>
            <a:pPr algn="l">
              <a:spcAft>
                <a:spcPts val="0"/>
              </a:spcAft>
            </a:pPr>
            <a:r>
              <a:rPr sz="900" b="0" i="0">
                <a:solidFill>
                  <a:srgbClr val="404040"/>
                </a:solidFill>
                <a:latin typeface="Arial"/>
              </a:rPr>
              <a:t>Evidence strength: one to three dots</a:t>
            </a:r>
          </a:p>
        </p:txBody>
      </p:sp>
      <p:sp>
        <p:nvSpPr>
          <p:cNvPr id="159" name="TextBox 158"/>
          <p:cNvSpPr txBox="1"/>
          <p:nvPr/>
        </p:nvSpPr>
        <p:spPr>
          <a:xfrm>
            <a:off x="457200" y="5230368"/>
            <a:ext cx="11277295"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Supported with strong evidence needs two independent sources; the supply and inclusion reports were framed by the tree.</a:t>
            </a:r>
          </a:p>
        </p:txBody>
      </p:sp>
      <p:sp>
        <p:nvSpPr>
          <p:cNvPr id="160" name="Rectangle 159"/>
          <p:cNvSpPr/>
          <p:nvPr/>
        </p:nvSpPr>
        <p:spPr>
          <a:xfrm>
            <a:off x="457200" y="5596128"/>
            <a:ext cx="11277295" cy="384048"/>
          </a:xfrm>
          <a:prstGeom prst="rect">
            <a:avLst/>
          </a:prstGeom>
          <a:solidFill>
            <a:srgbClr val="1F497D"/>
          </a:solidFill>
          <a:ln>
            <a:noFill/>
          </a:ln>
        </p:spPr>
        <p:txBody>
          <a:bodyPr rtlCol="0" anchor="ctr"/>
          <a:lstStyle/>
          <a:p>
            <a:pPr algn="ctr"/>
          </a:p>
        </p:txBody>
      </p:sp>
      <p:sp>
        <p:nvSpPr>
          <p:cNvPr id="161" name="TextBox 160"/>
          <p:cNvSpPr txBox="1"/>
          <p:nvPr/>
        </p:nvSpPr>
        <p:spPr>
          <a:xfrm>
            <a:off x="621792" y="5596128"/>
            <a:ext cx="10948111" cy="384048"/>
          </a:xfrm>
          <a:prstGeom prst="rect">
            <a:avLst/>
          </a:prstGeom>
          <a:noFill/>
        </p:spPr>
        <p:txBody>
          <a:bodyPr wrap="square" anchor="ctr" lIns="36576" rIns="36576" tIns="21945" bIns="21945">
            <a:spAutoFit/>
          </a:bodyPr>
          <a:lstStyle/>
          <a:p>
            <a:pPr algn="l">
              <a:spcAft>
                <a:spcPts val="0"/>
              </a:spcAft>
            </a:pPr>
            <a:r>
              <a:rPr sz="1100" b="1" i="0">
                <a:solidFill>
                  <a:srgbClr val="FFFFFF"/>
                </a:solidFill>
                <a:latin typeface="Arial"/>
              </a:rPr>
              <a:t>The December framing holds; sharpen four themes and add what the evidence found missing: cruise, capacity, price and skills.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We propose nine changes to the December tree, each driven by a finding in the deliverables</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04 | THE TREE, REVISED AND TESTED</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Current State Diagnostic v2 (Dec 2025) p64 (tree); MIDAS Aviation Market Assessment (Mar 2026) pp13, 15, 17-19, 22; Demand-Side Analysis (Jun 2026) pp14, 20, 23; Infrastructure Report (Jun 2026) pp31-33; Stakeholder Insights Report (Mar 2026) pp24-25, 46; SME and Community Inclusion Plan (Sep 2026) pp5, 12; Wesgro/StratEcon cruise report 2024/25 via mobility factbase; RFP s2, s3.3</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15</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Label Rectangle 7"/>
          <p:cNvSpPr/>
          <p:nvPr/>
        </p:nvSpPr>
        <p:spPr>
          <a:xfrm>
            <a:off x="1943100" y="1325880"/>
            <a:ext cx="5120640" cy="457200"/>
          </a:xfrm>
          <a:prstGeom prst="rect">
            <a:avLst/>
          </a:prstGeom>
          <a:solidFill>
            <a:srgbClr val="7F7F7F"/>
          </a:solidFill>
          <a:ln>
            <a:noFill/>
          </a:ln>
        </p:spPr>
        <p:txBody>
          <a:bodyPr rtlCol="0" anchor="ctr" wrap="square" lIns="36576" rIns="36576" tIns="21945" bIns="21945"/>
          <a:lstStyle/>
          <a:p>
            <a:pPr algn="ctr">
              <a:spcAft>
                <a:spcPts val="0"/>
              </a:spcAft>
            </a:pPr>
            <a:r>
              <a:rPr sz="1100" b="1" i="0">
                <a:solidFill>
                  <a:srgbClr val="FFFFFF"/>
                </a:solidFill>
                <a:latin typeface="Arial"/>
              </a:rPr>
              <a:t>FROM “RECOVERY” TO “GROWTH”</a:t>
            </a:r>
          </a:p>
          <a:p>
            <a:pPr algn="ctr">
              <a:spcAft>
                <a:spcPts val="0"/>
              </a:spcAft>
            </a:pPr>
            <a:r>
              <a:rPr sz="850" b="0" i="0">
                <a:solidFill>
                  <a:srgbClr val="FFFFFF"/>
                </a:solidFill>
                <a:latin typeface="Arial"/>
              </a:rPr>
              <a:t>Doubling International Tourism to The Western Cape By 2035</a:t>
            </a:r>
          </a:p>
        </p:txBody>
      </p:sp>
      <p:cxnSp>
        <p:nvCxnSpPr>
          <p:cNvPr id="9" name="Label Connector 8"/>
          <p:cNvCxnSpPr/>
          <p:nvPr/>
        </p:nvCxnSpPr>
        <p:spPr>
          <a:xfrm>
            <a:off x="1769364" y="1856231"/>
            <a:ext cx="5468112" cy="0"/>
          </a:xfrm>
          <a:prstGeom prst="line">
            <a:avLst/>
          </a:prstGeom>
          <a:ln w="9525">
            <a:solidFill>
              <a:srgbClr val="D9D9D9"/>
            </a:solidFill>
          </a:ln>
        </p:spPr>
      </p:cxnSp>
      <p:cxnSp>
        <p:nvCxnSpPr>
          <p:cNvPr id="10" name="Label Connector 9"/>
          <p:cNvCxnSpPr/>
          <p:nvPr/>
        </p:nvCxnSpPr>
        <p:spPr>
          <a:xfrm>
            <a:off x="1769364" y="1783080"/>
            <a:ext cx="0" cy="146304"/>
          </a:xfrm>
          <a:prstGeom prst="line">
            <a:avLst/>
          </a:prstGeom>
          <a:ln w="9525">
            <a:solidFill>
              <a:srgbClr val="D9D9D9"/>
            </a:solidFill>
          </a:ln>
        </p:spPr>
      </p:cxnSp>
      <p:sp>
        <p:nvSpPr>
          <p:cNvPr id="11" name="Label Rectangle 10"/>
          <p:cNvSpPr/>
          <p:nvPr/>
        </p:nvSpPr>
        <p:spPr>
          <a:xfrm>
            <a:off x="457200" y="1929384"/>
            <a:ext cx="2624328" cy="566928"/>
          </a:xfrm>
          <a:prstGeom prst="rect">
            <a:avLst/>
          </a:prstGeom>
          <a:solidFill>
            <a:srgbClr val="F2F2F2"/>
          </a:solidFill>
          <a:ln w="9525">
            <a:solidFill>
              <a:srgbClr val="D9D9D9"/>
            </a:solidFill>
          </a:ln>
        </p:spPr>
        <p:txBody>
          <a:bodyPr rtlCol="0" anchor="ctr" wrap="square" lIns="36576" rIns="36576" tIns="21945" bIns="21945"/>
          <a:lstStyle/>
          <a:p>
            <a:pPr algn="ctr">
              <a:spcAft>
                <a:spcPts val="100"/>
              </a:spcAft>
            </a:pPr>
            <a:r>
              <a:rPr sz="1000" b="1" i="0">
                <a:solidFill>
                  <a:srgbClr val="7F7F7F"/>
                </a:solidFill>
                <a:latin typeface="Arial"/>
              </a:rPr>
              <a:t>1  RESHAPE DEMAND</a:t>
            </a:r>
          </a:p>
          <a:p>
            <a:pPr algn="ctr">
              <a:spcAft>
                <a:spcPts val="0"/>
              </a:spcAft>
            </a:pPr>
            <a:r>
              <a:rPr sz="750" b="0" i="0">
                <a:solidFill>
                  <a:srgbClr val="7F7F7F"/>
                </a:solidFill>
                <a:latin typeface="Arial"/>
              </a:rPr>
              <a:t>Break through market, seasonality and geographic spread ceilings by reshaping the brand to unlock new traveller segments.</a:t>
            </a:r>
          </a:p>
        </p:txBody>
      </p:sp>
      <p:cxnSp>
        <p:nvCxnSpPr>
          <p:cNvPr id="12" name="Label Connector 11"/>
          <p:cNvCxnSpPr/>
          <p:nvPr/>
        </p:nvCxnSpPr>
        <p:spPr>
          <a:xfrm>
            <a:off x="4503420" y="1783080"/>
            <a:ext cx="0" cy="146304"/>
          </a:xfrm>
          <a:prstGeom prst="line">
            <a:avLst/>
          </a:prstGeom>
          <a:ln w="9525">
            <a:solidFill>
              <a:srgbClr val="D9D9D9"/>
            </a:solidFill>
          </a:ln>
        </p:spPr>
      </p:cxnSp>
      <p:sp>
        <p:nvSpPr>
          <p:cNvPr id="13" name="Label Rectangle 12"/>
          <p:cNvSpPr/>
          <p:nvPr/>
        </p:nvSpPr>
        <p:spPr>
          <a:xfrm>
            <a:off x="3191256" y="1929384"/>
            <a:ext cx="2624328" cy="566928"/>
          </a:xfrm>
          <a:prstGeom prst="rect">
            <a:avLst/>
          </a:prstGeom>
          <a:solidFill>
            <a:srgbClr val="F2F2F2"/>
          </a:solidFill>
          <a:ln w="9525">
            <a:solidFill>
              <a:srgbClr val="D9D9D9"/>
            </a:solidFill>
          </a:ln>
        </p:spPr>
        <p:txBody>
          <a:bodyPr rtlCol="0" anchor="ctr" wrap="square" lIns="36576" rIns="36576" tIns="21945" bIns="21945"/>
          <a:lstStyle/>
          <a:p>
            <a:pPr algn="ctr">
              <a:spcAft>
                <a:spcPts val="100"/>
              </a:spcAft>
            </a:pPr>
            <a:r>
              <a:rPr sz="1000" b="1" i="0">
                <a:solidFill>
                  <a:srgbClr val="7F7F7F"/>
                </a:solidFill>
                <a:latin typeface="Arial"/>
              </a:rPr>
              <a:t>2  TRANSFORM SUPPLY</a:t>
            </a:r>
          </a:p>
          <a:p>
            <a:pPr algn="ctr">
              <a:spcAft>
                <a:spcPts val="0"/>
              </a:spcAft>
            </a:pPr>
            <a:r>
              <a:rPr sz="750" b="0" i="0">
                <a:solidFill>
                  <a:srgbClr val="7F7F7F"/>
                </a:solidFill>
                <a:latin typeface="Arial"/>
              </a:rPr>
              <a:t>Remove mobility, infrastructure and product constraints to expand the destination’s physical carrying capacity.</a:t>
            </a:r>
          </a:p>
        </p:txBody>
      </p:sp>
      <p:cxnSp>
        <p:nvCxnSpPr>
          <p:cNvPr id="14" name="Label Connector 13"/>
          <p:cNvCxnSpPr/>
          <p:nvPr/>
        </p:nvCxnSpPr>
        <p:spPr>
          <a:xfrm>
            <a:off x="7237476" y="1783080"/>
            <a:ext cx="0" cy="146304"/>
          </a:xfrm>
          <a:prstGeom prst="line">
            <a:avLst/>
          </a:prstGeom>
          <a:ln w="9525">
            <a:solidFill>
              <a:srgbClr val="D9D9D9"/>
            </a:solidFill>
          </a:ln>
        </p:spPr>
      </p:cxnSp>
      <p:sp>
        <p:nvSpPr>
          <p:cNvPr id="15" name="Label Rectangle 14"/>
          <p:cNvSpPr/>
          <p:nvPr/>
        </p:nvSpPr>
        <p:spPr>
          <a:xfrm>
            <a:off x="5925312" y="1929384"/>
            <a:ext cx="2624328" cy="566928"/>
          </a:xfrm>
          <a:prstGeom prst="rect">
            <a:avLst/>
          </a:prstGeom>
          <a:solidFill>
            <a:srgbClr val="F2F2F2"/>
          </a:solidFill>
          <a:ln w="9525">
            <a:solidFill>
              <a:srgbClr val="D9D9D9"/>
            </a:solidFill>
          </a:ln>
        </p:spPr>
        <p:txBody>
          <a:bodyPr rtlCol="0" anchor="ctr" wrap="square" lIns="36576" rIns="36576" tIns="21945" bIns="21945"/>
          <a:lstStyle/>
          <a:p>
            <a:pPr algn="ctr">
              <a:spcAft>
                <a:spcPts val="100"/>
              </a:spcAft>
            </a:pPr>
            <a:r>
              <a:rPr sz="1000" b="1" i="0">
                <a:solidFill>
                  <a:srgbClr val="7F7F7F"/>
                </a:solidFill>
                <a:latin typeface="Arial"/>
              </a:rPr>
              <a:t>3  BUILD ENABLING CAPABILITY</a:t>
            </a:r>
          </a:p>
          <a:p>
            <a:pPr algn="ctr">
              <a:spcAft>
                <a:spcPts val="0"/>
              </a:spcAft>
            </a:pPr>
            <a:r>
              <a:rPr sz="750" b="0" i="0">
                <a:solidFill>
                  <a:srgbClr val="7F7F7F"/>
                </a:solidFill>
                <a:latin typeface="Arial"/>
              </a:rPr>
              <a:t>Cultivate an inclusive, well-governed tourism ecosystem that supports sustainable growth, returns and development.</a:t>
            </a:r>
          </a:p>
        </p:txBody>
      </p:sp>
      <p:cxnSp>
        <p:nvCxnSpPr>
          <p:cNvPr id="16" name="Label Connector 15"/>
          <p:cNvCxnSpPr/>
          <p:nvPr/>
        </p:nvCxnSpPr>
        <p:spPr>
          <a:xfrm>
            <a:off x="1085850" y="2496312"/>
            <a:ext cx="0" cy="109728"/>
          </a:xfrm>
          <a:prstGeom prst="line">
            <a:avLst/>
          </a:prstGeom>
          <a:ln w="9525">
            <a:solidFill>
              <a:srgbClr val="D9D9D9"/>
            </a:solidFill>
          </a:ln>
        </p:spPr>
      </p:cxnSp>
      <p:sp>
        <p:nvSpPr>
          <p:cNvPr id="17" name="Label Rectangle 16"/>
          <p:cNvSpPr/>
          <p:nvPr/>
        </p:nvSpPr>
        <p:spPr>
          <a:xfrm>
            <a:off x="457200" y="2606040"/>
            <a:ext cx="1257300" cy="420624"/>
          </a:xfrm>
          <a:prstGeom prst="rect">
            <a:avLst/>
          </a:prstGeom>
          <a:solidFill>
            <a:srgbClr val="F2F2F2"/>
          </a:solidFill>
          <a:ln>
            <a:noFill/>
          </a:ln>
        </p:spPr>
        <p:txBody>
          <a:bodyPr rtlCol="0" anchor="ctr" wrap="square" lIns="36576" rIns="36576" tIns="21945" bIns="21945"/>
          <a:lstStyle/>
          <a:p>
            <a:pPr algn="ctr">
              <a:spcAft>
                <a:spcPts val="0"/>
              </a:spcAft>
            </a:pPr>
            <a:r>
              <a:rPr sz="800" b="1" i="0">
                <a:solidFill>
                  <a:srgbClr val="7F7F7F"/>
                </a:solidFill>
                <a:latin typeface="Arial"/>
              </a:rPr>
              <a:t>1.1 Traveller, Brand and Proposition</a:t>
            </a:r>
          </a:p>
        </p:txBody>
      </p:sp>
      <p:sp>
        <p:nvSpPr>
          <p:cNvPr id="18" name="Label Rectangle 17"/>
          <p:cNvSpPr/>
          <p:nvPr/>
        </p:nvSpPr>
        <p:spPr>
          <a:xfrm>
            <a:off x="457200" y="3099816"/>
            <a:ext cx="1257300" cy="457200"/>
          </a:xfrm>
          <a:prstGeom prst="rect">
            <a:avLst/>
          </a:prstGeom>
          <a:solidFill>
            <a:srgbClr val="F2F2F2"/>
          </a:solidFill>
          <a:ln w="9525">
            <a:solidFill>
              <a:srgbClr val="D9D9D9"/>
            </a:solidFill>
          </a:ln>
        </p:spPr>
        <p:txBody>
          <a:bodyPr rtlCol="0" anchor="ctr"/>
          <a:lstStyle/>
          <a:p>
            <a:pPr algn="ctr"/>
          </a:p>
        </p:txBody>
      </p:sp>
      <p:sp>
        <p:nvSpPr>
          <p:cNvPr id="19" name="Label TextBox 18"/>
          <p:cNvSpPr txBox="1"/>
          <p:nvPr/>
        </p:nvSpPr>
        <p:spPr>
          <a:xfrm>
            <a:off x="484632" y="3099816"/>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7F7F7F"/>
                </a:solidFill>
                <a:latin typeface="Arial"/>
              </a:rPr>
              <a:t>Respond to Growth Segment Traveller Preferences</a:t>
            </a:r>
          </a:p>
        </p:txBody>
      </p:sp>
      <p:sp>
        <p:nvSpPr>
          <p:cNvPr id="20" name="Label Rectangle 19"/>
          <p:cNvSpPr/>
          <p:nvPr/>
        </p:nvSpPr>
        <p:spPr>
          <a:xfrm>
            <a:off x="457200" y="3621024"/>
            <a:ext cx="1257300" cy="457200"/>
          </a:xfrm>
          <a:prstGeom prst="rect">
            <a:avLst/>
          </a:prstGeom>
          <a:solidFill>
            <a:srgbClr val="FFFFFF"/>
          </a:solidFill>
          <a:ln w="19050">
            <a:solidFill>
              <a:srgbClr val="00AEEF"/>
            </a:solidFill>
          </a:ln>
        </p:spPr>
        <p:txBody>
          <a:bodyPr rtlCol="0" anchor="ctr"/>
          <a:lstStyle/>
          <a:p>
            <a:pPr algn="ctr"/>
          </a:p>
        </p:txBody>
      </p:sp>
      <p:sp>
        <p:nvSpPr>
          <p:cNvPr id="21" name="Label TextBox 20"/>
          <p:cNvSpPr txBox="1"/>
          <p:nvPr/>
        </p:nvSpPr>
        <p:spPr>
          <a:xfrm>
            <a:off x="484632" y="3621024"/>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1F497D"/>
                </a:solidFill>
                <a:latin typeface="Arial"/>
              </a:rPr>
              <a:t>Create Green-Season Demand with MICE and Events</a:t>
            </a:r>
          </a:p>
        </p:txBody>
      </p:sp>
      <p:sp>
        <p:nvSpPr>
          <p:cNvPr id="22" name="Label Rounded Rectangle 21"/>
          <p:cNvSpPr/>
          <p:nvPr/>
        </p:nvSpPr>
        <p:spPr>
          <a:xfrm>
            <a:off x="1165860" y="3538728"/>
            <a:ext cx="512064" cy="164592"/>
          </a:xfrm>
          <a:prstGeom prst="roundRect">
            <a:avLst>
              <a:gd name="adj" fmla="val 50000"/>
            </a:avLst>
          </a:prstGeom>
          <a:solidFill>
            <a:srgbClr val="00AEEF"/>
          </a:solidFill>
          <a:ln>
            <a:noFill/>
          </a:ln>
        </p:spPr>
        <p:txBody>
          <a:bodyPr rtlCol="0" anchor="ctr"/>
          <a:lstStyle/>
          <a:p>
            <a:pPr algn="ctr"/>
          </a:p>
        </p:txBody>
      </p:sp>
      <p:sp>
        <p:nvSpPr>
          <p:cNvPr id="23" name="Label TextBox 22"/>
          <p:cNvSpPr txBox="1"/>
          <p:nvPr/>
        </p:nvSpPr>
        <p:spPr>
          <a:xfrm>
            <a:off x="1165860" y="3538728"/>
            <a:ext cx="512064" cy="164592"/>
          </a:xfrm>
          <a:prstGeom prst="rect">
            <a:avLst/>
          </a:prstGeom>
          <a:noFill/>
        </p:spPr>
        <p:txBody>
          <a:bodyPr wrap="square" anchor="ctr" lIns="0" rIns="0" tIns="0" bIns="0">
            <a:spAutoFit/>
          </a:bodyPr>
          <a:lstStyle/>
          <a:p>
            <a:pPr algn="ctr">
              <a:spcAft>
                <a:spcPts val="0"/>
              </a:spcAft>
            </a:pPr>
            <a:r>
              <a:rPr sz="650" b="1" i="0">
                <a:solidFill>
                  <a:srgbClr val="FFFFFF"/>
                </a:solidFill>
                <a:latin typeface="Arial"/>
              </a:rPr>
              <a:t>REWORD</a:t>
            </a:r>
          </a:p>
        </p:txBody>
      </p:sp>
      <p:sp>
        <p:nvSpPr>
          <p:cNvPr id="24" name="Label Rectangle 23"/>
          <p:cNvSpPr/>
          <p:nvPr/>
        </p:nvSpPr>
        <p:spPr>
          <a:xfrm>
            <a:off x="457200" y="4142232"/>
            <a:ext cx="1257300" cy="457200"/>
          </a:xfrm>
          <a:prstGeom prst="rect">
            <a:avLst/>
          </a:prstGeom>
          <a:solidFill>
            <a:srgbClr val="FFFFFF"/>
          </a:solidFill>
          <a:ln w="19050">
            <a:solidFill>
              <a:srgbClr val="00AEEF"/>
            </a:solidFill>
          </a:ln>
        </p:spPr>
        <p:txBody>
          <a:bodyPr rtlCol="0" anchor="ctr"/>
          <a:lstStyle/>
          <a:p>
            <a:pPr algn="ctr"/>
          </a:p>
        </p:txBody>
      </p:sp>
      <p:sp>
        <p:nvSpPr>
          <p:cNvPr id="25" name="Label TextBox 24"/>
          <p:cNvSpPr txBox="1"/>
          <p:nvPr/>
        </p:nvSpPr>
        <p:spPr>
          <a:xfrm>
            <a:off x="484632" y="4142232"/>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1F497D"/>
                </a:solidFill>
                <a:latin typeface="Arial"/>
              </a:rPr>
              <a:t>Make the Whole Province Findable and Bookable</a:t>
            </a:r>
          </a:p>
        </p:txBody>
      </p:sp>
      <p:sp>
        <p:nvSpPr>
          <p:cNvPr id="26" name="Label Rounded Rectangle 25"/>
          <p:cNvSpPr/>
          <p:nvPr/>
        </p:nvSpPr>
        <p:spPr>
          <a:xfrm>
            <a:off x="1165860" y="4059936"/>
            <a:ext cx="512064" cy="164592"/>
          </a:xfrm>
          <a:prstGeom prst="roundRect">
            <a:avLst>
              <a:gd name="adj" fmla="val 50000"/>
            </a:avLst>
          </a:prstGeom>
          <a:solidFill>
            <a:srgbClr val="00AEEF"/>
          </a:solidFill>
          <a:ln>
            <a:noFill/>
          </a:ln>
        </p:spPr>
        <p:txBody>
          <a:bodyPr rtlCol="0" anchor="ctr"/>
          <a:lstStyle/>
          <a:p>
            <a:pPr algn="ctr"/>
          </a:p>
        </p:txBody>
      </p:sp>
      <p:sp>
        <p:nvSpPr>
          <p:cNvPr id="27" name="Label TextBox 26"/>
          <p:cNvSpPr txBox="1"/>
          <p:nvPr/>
        </p:nvSpPr>
        <p:spPr>
          <a:xfrm>
            <a:off x="1165860" y="4059936"/>
            <a:ext cx="512064" cy="164592"/>
          </a:xfrm>
          <a:prstGeom prst="rect">
            <a:avLst/>
          </a:prstGeom>
          <a:noFill/>
        </p:spPr>
        <p:txBody>
          <a:bodyPr wrap="square" anchor="ctr" lIns="0" rIns="0" tIns="0" bIns="0">
            <a:spAutoFit/>
          </a:bodyPr>
          <a:lstStyle/>
          <a:p>
            <a:pPr algn="ctr">
              <a:spcAft>
                <a:spcPts val="0"/>
              </a:spcAft>
            </a:pPr>
            <a:r>
              <a:rPr sz="650" b="1" i="0">
                <a:solidFill>
                  <a:srgbClr val="FFFFFF"/>
                </a:solidFill>
                <a:latin typeface="Arial"/>
              </a:rPr>
              <a:t>REWORD</a:t>
            </a:r>
          </a:p>
        </p:txBody>
      </p:sp>
      <p:sp>
        <p:nvSpPr>
          <p:cNvPr id="28" name="Label Rectangle 27"/>
          <p:cNvSpPr/>
          <p:nvPr/>
        </p:nvSpPr>
        <p:spPr>
          <a:xfrm>
            <a:off x="457200" y="4663440"/>
            <a:ext cx="1257300" cy="457200"/>
          </a:xfrm>
          <a:prstGeom prst="rect">
            <a:avLst/>
          </a:prstGeom>
          <a:solidFill>
            <a:srgbClr val="DCEEF7"/>
          </a:solidFill>
          <a:ln w="19050">
            <a:solidFill>
              <a:srgbClr val="00AEEF"/>
            </a:solidFill>
          </a:ln>
        </p:spPr>
        <p:txBody>
          <a:bodyPr rtlCol="0" anchor="ctr"/>
          <a:lstStyle/>
          <a:p>
            <a:pPr algn="ctr"/>
          </a:p>
        </p:txBody>
      </p:sp>
      <p:sp>
        <p:nvSpPr>
          <p:cNvPr id="29" name="Label TextBox 28"/>
          <p:cNvSpPr txBox="1"/>
          <p:nvPr/>
        </p:nvSpPr>
        <p:spPr>
          <a:xfrm>
            <a:off x="484632" y="4663440"/>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1F497D"/>
                </a:solidFill>
                <a:latin typeface="Arial"/>
              </a:rPr>
              <a:t>Hold a Price and Value Position by Market</a:t>
            </a:r>
          </a:p>
        </p:txBody>
      </p:sp>
      <p:sp>
        <p:nvSpPr>
          <p:cNvPr id="30" name="Label Rounded Rectangle 29"/>
          <p:cNvSpPr/>
          <p:nvPr/>
        </p:nvSpPr>
        <p:spPr>
          <a:xfrm>
            <a:off x="1165860" y="4581144"/>
            <a:ext cx="512064" cy="164592"/>
          </a:xfrm>
          <a:prstGeom prst="roundRect">
            <a:avLst>
              <a:gd name="adj" fmla="val 50000"/>
            </a:avLst>
          </a:prstGeom>
          <a:solidFill>
            <a:srgbClr val="00AEEF"/>
          </a:solidFill>
          <a:ln>
            <a:noFill/>
          </a:ln>
        </p:spPr>
        <p:txBody>
          <a:bodyPr rtlCol="0" anchor="ctr"/>
          <a:lstStyle/>
          <a:p>
            <a:pPr algn="ctr"/>
          </a:p>
        </p:txBody>
      </p:sp>
      <p:sp>
        <p:nvSpPr>
          <p:cNvPr id="31" name="Label TextBox 30"/>
          <p:cNvSpPr txBox="1"/>
          <p:nvPr/>
        </p:nvSpPr>
        <p:spPr>
          <a:xfrm>
            <a:off x="1165860" y="4581144"/>
            <a:ext cx="512064" cy="164592"/>
          </a:xfrm>
          <a:prstGeom prst="rect">
            <a:avLst/>
          </a:prstGeom>
          <a:noFill/>
        </p:spPr>
        <p:txBody>
          <a:bodyPr wrap="square" anchor="ctr" lIns="0" rIns="0" tIns="0" bIns="0">
            <a:spAutoFit/>
          </a:bodyPr>
          <a:lstStyle/>
          <a:p>
            <a:pPr algn="ctr">
              <a:spcAft>
                <a:spcPts val="0"/>
              </a:spcAft>
            </a:pPr>
            <a:r>
              <a:rPr sz="650" b="1" i="0">
                <a:solidFill>
                  <a:srgbClr val="FFFFFF"/>
                </a:solidFill>
                <a:latin typeface="Arial"/>
              </a:rPr>
              <a:t>NEW</a:t>
            </a:r>
          </a:p>
        </p:txBody>
      </p:sp>
      <p:cxnSp>
        <p:nvCxnSpPr>
          <p:cNvPr id="32" name="Label Connector 31"/>
          <p:cNvCxnSpPr/>
          <p:nvPr/>
        </p:nvCxnSpPr>
        <p:spPr>
          <a:xfrm>
            <a:off x="2452878" y="2496312"/>
            <a:ext cx="0" cy="109728"/>
          </a:xfrm>
          <a:prstGeom prst="line">
            <a:avLst/>
          </a:prstGeom>
          <a:ln w="9525">
            <a:solidFill>
              <a:srgbClr val="D9D9D9"/>
            </a:solidFill>
          </a:ln>
        </p:spPr>
      </p:cxnSp>
      <p:sp>
        <p:nvSpPr>
          <p:cNvPr id="33" name="Label Rectangle 32"/>
          <p:cNvSpPr/>
          <p:nvPr/>
        </p:nvSpPr>
        <p:spPr>
          <a:xfrm>
            <a:off x="1824228" y="2606040"/>
            <a:ext cx="1257300" cy="420624"/>
          </a:xfrm>
          <a:prstGeom prst="rect">
            <a:avLst/>
          </a:prstGeom>
          <a:solidFill>
            <a:srgbClr val="F2F2F2"/>
          </a:solidFill>
          <a:ln>
            <a:noFill/>
          </a:ln>
        </p:spPr>
        <p:txBody>
          <a:bodyPr rtlCol="0" anchor="ctr" wrap="square" lIns="36576" rIns="36576" tIns="21945" bIns="21945"/>
          <a:lstStyle/>
          <a:p>
            <a:pPr algn="ctr">
              <a:spcAft>
                <a:spcPts val="0"/>
              </a:spcAft>
            </a:pPr>
            <a:r>
              <a:rPr sz="800" b="1" i="0">
                <a:solidFill>
                  <a:srgbClr val="7F7F7F"/>
                </a:solidFill>
                <a:latin typeface="Arial"/>
              </a:rPr>
              <a:t>1.2 Source Market Growth and Diversification</a:t>
            </a:r>
          </a:p>
        </p:txBody>
      </p:sp>
      <p:sp>
        <p:nvSpPr>
          <p:cNvPr id="34" name="Label Rectangle 33"/>
          <p:cNvSpPr/>
          <p:nvPr/>
        </p:nvSpPr>
        <p:spPr>
          <a:xfrm>
            <a:off x="1824228" y="3099816"/>
            <a:ext cx="1257300" cy="457200"/>
          </a:xfrm>
          <a:prstGeom prst="rect">
            <a:avLst/>
          </a:prstGeom>
          <a:solidFill>
            <a:srgbClr val="FFFFFF"/>
          </a:solidFill>
          <a:ln w="19050">
            <a:solidFill>
              <a:srgbClr val="00AEEF"/>
            </a:solidFill>
          </a:ln>
        </p:spPr>
        <p:txBody>
          <a:bodyPr rtlCol="0" anchor="ctr"/>
          <a:lstStyle/>
          <a:p>
            <a:pPr algn="ctr"/>
          </a:p>
        </p:txBody>
      </p:sp>
      <p:sp>
        <p:nvSpPr>
          <p:cNvPr id="35" name="Label TextBox 34"/>
          <p:cNvSpPr txBox="1"/>
          <p:nvPr/>
        </p:nvSpPr>
        <p:spPr>
          <a:xfrm>
            <a:off x="1851660" y="3099816"/>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1F497D"/>
                </a:solidFill>
                <a:latin typeface="Arial"/>
              </a:rPr>
              <a:t>Convert India and China Hub Traffic Now</a:t>
            </a:r>
          </a:p>
        </p:txBody>
      </p:sp>
      <p:sp>
        <p:nvSpPr>
          <p:cNvPr id="36" name="Label Rounded Rectangle 35"/>
          <p:cNvSpPr/>
          <p:nvPr/>
        </p:nvSpPr>
        <p:spPr>
          <a:xfrm>
            <a:off x="2532888" y="3017520"/>
            <a:ext cx="512064" cy="164592"/>
          </a:xfrm>
          <a:prstGeom prst="roundRect">
            <a:avLst>
              <a:gd name="adj" fmla="val 50000"/>
            </a:avLst>
          </a:prstGeom>
          <a:solidFill>
            <a:srgbClr val="00AEEF"/>
          </a:solidFill>
          <a:ln>
            <a:noFill/>
          </a:ln>
        </p:spPr>
        <p:txBody>
          <a:bodyPr rtlCol="0" anchor="ctr"/>
          <a:lstStyle/>
          <a:p>
            <a:pPr algn="ctr"/>
          </a:p>
        </p:txBody>
      </p:sp>
      <p:sp>
        <p:nvSpPr>
          <p:cNvPr id="37" name="Label TextBox 36"/>
          <p:cNvSpPr txBox="1"/>
          <p:nvPr/>
        </p:nvSpPr>
        <p:spPr>
          <a:xfrm>
            <a:off x="2532888" y="3017520"/>
            <a:ext cx="512064" cy="164592"/>
          </a:xfrm>
          <a:prstGeom prst="rect">
            <a:avLst/>
          </a:prstGeom>
          <a:noFill/>
        </p:spPr>
        <p:txBody>
          <a:bodyPr wrap="square" anchor="ctr" lIns="0" rIns="0" tIns="0" bIns="0">
            <a:spAutoFit/>
          </a:bodyPr>
          <a:lstStyle/>
          <a:p>
            <a:pPr algn="ctr">
              <a:spcAft>
                <a:spcPts val="0"/>
              </a:spcAft>
            </a:pPr>
            <a:r>
              <a:rPr sz="650" b="1" i="0">
                <a:solidFill>
                  <a:srgbClr val="FFFFFF"/>
                </a:solidFill>
                <a:latin typeface="Arial"/>
              </a:rPr>
              <a:t>REWORD</a:t>
            </a:r>
          </a:p>
        </p:txBody>
      </p:sp>
      <p:sp>
        <p:nvSpPr>
          <p:cNvPr id="38" name="Label Rectangle 37"/>
          <p:cNvSpPr/>
          <p:nvPr/>
        </p:nvSpPr>
        <p:spPr>
          <a:xfrm>
            <a:off x="1824228" y="3621024"/>
            <a:ext cx="1257300" cy="457200"/>
          </a:xfrm>
          <a:prstGeom prst="rect">
            <a:avLst/>
          </a:prstGeom>
          <a:solidFill>
            <a:srgbClr val="F2F2F2"/>
          </a:solidFill>
          <a:ln w="9525">
            <a:solidFill>
              <a:srgbClr val="D9D9D9"/>
            </a:solidFill>
          </a:ln>
        </p:spPr>
        <p:txBody>
          <a:bodyPr rtlCol="0" anchor="ctr"/>
          <a:lstStyle/>
          <a:p>
            <a:pPr algn="ctr"/>
          </a:p>
        </p:txBody>
      </p:sp>
      <p:sp>
        <p:nvSpPr>
          <p:cNvPr id="39" name="Label TextBox 38"/>
          <p:cNvSpPr txBox="1"/>
          <p:nvPr/>
        </p:nvSpPr>
        <p:spPr>
          <a:xfrm>
            <a:off x="1851660" y="3621024"/>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7F7F7F"/>
                </a:solidFill>
                <a:latin typeface="Arial"/>
              </a:rPr>
              <a:t>Increase Yield in Mature Markets (UK, Europe, N. America)</a:t>
            </a:r>
          </a:p>
        </p:txBody>
      </p:sp>
      <p:sp>
        <p:nvSpPr>
          <p:cNvPr id="40" name="Label Rectangle 39"/>
          <p:cNvSpPr/>
          <p:nvPr/>
        </p:nvSpPr>
        <p:spPr>
          <a:xfrm>
            <a:off x="1824228" y="4142232"/>
            <a:ext cx="1257300" cy="457200"/>
          </a:xfrm>
          <a:prstGeom prst="rect">
            <a:avLst/>
          </a:prstGeom>
          <a:solidFill>
            <a:srgbClr val="F2F2F2"/>
          </a:solidFill>
          <a:ln w="9525">
            <a:solidFill>
              <a:srgbClr val="D9D9D9"/>
            </a:solidFill>
          </a:ln>
        </p:spPr>
        <p:txBody>
          <a:bodyPr rtlCol="0" anchor="ctr"/>
          <a:lstStyle/>
          <a:p>
            <a:pPr algn="ctr"/>
          </a:p>
        </p:txBody>
      </p:sp>
      <p:sp>
        <p:nvSpPr>
          <p:cNvPr id="41" name="Label TextBox 40"/>
          <p:cNvSpPr txBox="1"/>
          <p:nvPr/>
        </p:nvSpPr>
        <p:spPr>
          <a:xfrm>
            <a:off x="1851660" y="4142232"/>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7F7F7F"/>
                </a:solidFill>
                <a:latin typeface="Arial"/>
              </a:rPr>
              <a:t>Build a Regional Foundation (Africa)</a:t>
            </a:r>
          </a:p>
        </p:txBody>
      </p:sp>
      <p:cxnSp>
        <p:nvCxnSpPr>
          <p:cNvPr id="42" name="Label Connector 41"/>
          <p:cNvCxnSpPr/>
          <p:nvPr/>
        </p:nvCxnSpPr>
        <p:spPr>
          <a:xfrm>
            <a:off x="3819906" y="2496312"/>
            <a:ext cx="0" cy="109728"/>
          </a:xfrm>
          <a:prstGeom prst="line">
            <a:avLst/>
          </a:prstGeom>
          <a:ln w="9525">
            <a:solidFill>
              <a:srgbClr val="D9D9D9"/>
            </a:solidFill>
          </a:ln>
        </p:spPr>
      </p:cxnSp>
      <p:sp>
        <p:nvSpPr>
          <p:cNvPr id="43" name="Label Rectangle 42"/>
          <p:cNvSpPr/>
          <p:nvPr/>
        </p:nvSpPr>
        <p:spPr>
          <a:xfrm>
            <a:off x="3191256" y="2606040"/>
            <a:ext cx="1257300" cy="420624"/>
          </a:xfrm>
          <a:prstGeom prst="rect">
            <a:avLst/>
          </a:prstGeom>
          <a:solidFill>
            <a:srgbClr val="F2F2F2"/>
          </a:solidFill>
          <a:ln>
            <a:noFill/>
          </a:ln>
        </p:spPr>
        <p:txBody>
          <a:bodyPr rtlCol="0" anchor="ctr" wrap="square" lIns="36576" rIns="36576" tIns="21945" bIns="21945"/>
          <a:lstStyle/>
          <a:p>
            <a:pPr algn="ctr">
              <a:spcAft>
                <a:spcPts val="0"/>
              </a:spcAft>
            </a:pPr>
            <a:r>
              <a:rPr sz="800" b="1" i="0">
                <a:solidFill>
                  <a:srgbClr val="7F7F7F"/>
                </a:solidFill>
                <a:latin typeface="Arial"/>
              </a:rPr>
              <a:t>2.1 Accessibility, Connectivity and Infrastructure</a:t>
            </a:r>
          </a:p>
        </p:txBody>
      </p:sp>
      <p:sp>
        <p:nvSpPr>
          <p:cNvPr id="44" name="Label Rectangle 43"/>
          <p:cNvSpPr/>
          <p:nvPr/>
        </p:nvSpPr>
        <p:spPr>
          <a:xfrm>
            <a:off x="3191256" y="3099816"/>
            <a:ext cx="1257300" cy="457200"/>
          </a:xfrm>
          <a:prstGeom prst="rect">
            <a:avLst/>
          </a:prstGeom>
          <a:solidFill>
            <a:srgbClr val="FFFFFF"/>
          </a:solidFill>
          <a:ln w="19050">
            <a:solidFill>
              <a:srgbClr val="00AEEF"/>
            </a:solidFill>
          </a:ln>
        </p:spPr>
        <p:txBody>
          <a:bodyPr rtlCol="0" anchor="ctr"/>
          <a:lstStyle/>
          <a:p>
            <a:pPr algn="ctr"/>
          </a:p>
        </p:txBody>
      </p:sp>
      <p:sp>
        <p:nvSpPr>
          <p:cNvPr id="45" name="Label TextBox 44"/>
          <p:cNvSpPr txBox="1"/>
          <p:nvPr/>
        </p:nvSpPr>
        <p:spPr>
          <a:xfrm>
            <a:off x="3218688" y="3099816"/>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1F497D"/>
                </a:solidFill>
                <a:latin typeface="Arial"/>
              </a:rPr>
              <a:t>Win New Direct Air Routes</a:t>
            </a:r>
          </a:p>
        </p:txBody>
      </p:sp>
      <p:sp>
        <p:nvSpPr>
          <p:cNvPr id="46" name="Label Rounded Rectangle 45"/>
          <p:cNvSpPr/>
          <p:nvPr/>
        </p:nvSpPr>
        <p:spPr>
          <a:xfrm>
            <a:off x="3899916" y="3017520"/>
            <a:ext cx="512064" cy="164592"/>
          </a:xfrm>
          <a:prstGeom prst="roundRect">
            <a:avLst>
              <a:gd name="adj" fmla="val 50000"/>
            </a:avLst>
          </a:prstGeom>
          <a:solidFill>
            <a:srgbClr val="00AEEF"/>
          </a:solidFill>
          <a:ln>
            <a:noFill/>
          </a:ln>
        </p:spPr>
        <p:txBody>
          <a:bodyPr rtlCol="0" anchor="ctr"/>
          <a:lstStyle/>
          <a:p>
            <a:pPr algn="ctr"/>
          </a:p>
        </p:txBody>
      </p:sp>
      <p:sp>
        <p:nvSpPr>
          <p:cNvPr id="47" name="Label TextBox 46"/>
          <p:cNvSpPr txBox="1"/>
          <p:nvPr/>
        </p:nvSpPr>
        <p:spPr>
          <a:xfrm>
            <a:off x="3899916" y="3017520"/>
            <a:ext cx="512064" cy="164592"/>
          </a:xfrm>
          <a:prstGeom prst="rect">
            <a:avLst/>
          </a:prstGeom>
          <a:noFill/>
        </p:spPr>
        <p:txBody>
          <a:bodyPr wrap="square" anchor="ctr" lIns="0" rIns="0" tIns="0" bIns="0">
            <a:spAutoFit/>
          </a:bodyPr>
          <a:lstStyle/>
          <a:p>
            <a:pPr algn="ctr">
              <a:spcAft>
                <a:spcPts val="0"/>
              </a:spcAft>
            </a:pPr>
            <a:r>
              <a:rPr sz="650" b="1" i="0">
                <a:solidFill>
                  <a:srgbClr val="FFFFFF"/>
                </a:solidFill>
                <a:latin typeface="Arial"/>
              </a:rPr>
              <a:t>SPLIT</a:t>
            </a:r>
          </a:p>
        </p:txBody>
      </p:sp>
      <p:sp>
        <p:nvSpPr>
          <p:cNvPr id="48" name="Label Rectangle 47"/>
          <p:cNvSpPr/>
          <p:nvPr/>
        </p:nvSpPr>
        <p:spPr>
          <a:xfrm>
            <a:off x="3191256" y="3621024"/>
            <a:ext cx="1257300" cy="457200"/>
          </a:xfrm>
          <a:prstGeom prst="rect">
            <a:avLst/>
          </a:prstGeom>
          <a:solidFill>
            <a:srgbClr val="FFFFFF"/>
          </a:solidFill>
          <a:ln w="19050">
            <a:solidFill>
              <a:srgbClr val="00AEEF"/>
            </a:solidFill>
          </a:ln>
        </p:spPr>
        <p:txBody>
          <a:bodyPr rtlCol="0" anchor="ctr"/>
          <a:lstStyle/>
          <a:p>
            <a:pPr algn="ctr"/>
          </a:p>
        </p:txBody>
      </p:sp>
      <p:sp>
        <p:nvSpPr>
          <p:cNvPr id="49" name="Label TextBox 48"/>
          <p:cNvSpPr txBox="1"/>
          <p:nvPr/>
        </p:nvSpPr>
        <p:spPr>
          <a:xfrm>
            <a:off x="3218688" y="3621024"/>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1F497D"/>
                </a:solidFill>
                <a:latin typeface="Arial"/>
              </a:rPr>
              <a:t>Underwrite Capacity on Full Routes</a:t>
            </a:r>
          </a:p>
        </p:txBody>
      </p:sp>
      <p:sp>
        <p:nvSpPr>
          <p:cNvPr id="50" name="Label Rounded Rectangle 49"/>
          <p:cNvSpPr/>
          <p:nvPr/>
        </p:nvSpPr>
        <p:spPr>
          <a:xfrm>
            <a:off x="3899916" y="3538728"/>
            <a:ext cx="512064" cy="164592"/>
          </a:xfrm>
          <a:prstGeom prst="roundRect">
            <a:avLst>
              <a:gd name="adj" fmla="val 50000"/>
            </a:avLst>
          </a:prstGeom>
          <a:solidFill>
            <a:srgbClr val="00AEEF"/>
          </a:solidFill>
          <a:ln>
            <a:noFill/>
          </a:ln>
        </p:spPr>
        <p:txBody>
          <a:bodyPr rtlCol="0" anchor="ctr"/>
          <a:lstStyle/>
          <a:p>
            <a:pPr algn="ctr"/>
          </a:p>
        </p:txBody>
      </p:sp>
      <p:sp>
        <p:nvSpPr>
          <p:cNvPr id="51" name="Label TextBox 50"/>
          <p:cNvSpPr txBox="1"/>
          <p:nvPr/>
        </p:nvSpPr>
        <p:spPr>
          <a:xfrm>
            <a:off x="3899916" y="3538728"/>
            <a:ext cx="512064" cy="164592"/>
          </a:xfrm>
          <a:prstGeom prst="rect">
            <a:avLst/>
          </a:prstGeom>
          <a:noFill/>
        </p:spPr>
        <p:txBody>
          <a:bodyPr wrap="square" anchor="ctr" lIns="0" rIns="0" tIns="0" bIns="0">
            <a:spAutoFit/>
          </a:bodyPr>
          <a:lstStyle/>
          <a:p>
            <a:pPr algn="ctr">
              <a:spcAft>
                <a:spcPts val="0"/>
              </a:spcAft>
            </a:pPr>
            <a:r>
              <a:rPr sz="650" b="1" i="0">
                <a:solidFill>
                  <a:srgbClr val="FFFFFF"/>
                </a:solidFill>
                <a:latin typeface="Arial"/>
              </a:rPr>
              <a:t>SPLIT</a:t>
            </a:r>
          </a:p>
        </p:txBody>
      </p:sp>
      <p:sp>
        <p:nvSpPr>
          <p:cNvPr id="52" name="Label Rectangle 51"/>
          <p:cNvSpPr/>
          <p:nvPr/>
        </p:nvSpPr>
        <p:spPr>
          <a:xfrm>
            <a:off x="3191256" y="4142232"/>
            <a:ext cx="1257300" cy="457200"/>
          </a:xfrm>
          <a:prstGeom prst="rect">
            <a:avLst/>
          </a:prstGeom>
          <a:solidFill>
            <a:srgbClr val="DCEEF7"/>
          </a:solidFill>
          <a:ln w="19050">
            <a:solidFill>
              <a:srgbClr val="00AEEF"/>
            </a:solidFill>
          </a:ln>
        </p:spPr>
        <p:txBody>
          <a:bodyPr rtlCol="0" anchor="ctr"/>
          <a:lstStyle/>
          <a:p>
            <a:pPr algn="ctr"/>
          </a:p>
        </p:txBody>
      </p:sp>
      <p:sp>
        <p:nvSpPr>
          <p:cNvPr id="53" name="Label TextBox 52"/>
          <p:cNvSpPr txBox="1"/>
          <p:nvPr/>
        </p:nvSpPr>
        <p:spPr>
          <a:xfrm>
            <a:off x="3218688" y="4142232"/>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1F497D"/>
                </a:solidFill>
                <a:latin typeface="Arial"/>
              </a:rPr>
              <a:t>Grow Cruise Calls and Ports</a:t>
            </a:r>
          </a:p>
        </p:txBody>
      </p:sp>
      <p:sp>
        <p:nvSpPr>
          <p:cNvPr id="54" name="Label Rounded Rectangle 53"/>
          <p:cNvSpPr/>
          <p:nvPr/>
        </p:nvSpPr>
        <p:spPr>
          <a:xfrm>
            <a:off x="3899916" y="4059936"/>
            <a:ext cx="512064" cy="164592"/>
          </a:xfrm>
          <a:prstGeom prst="roundRect">
            <a:avLst>
              <a:gd name="adj" fmla="val 50000"/>
            </a:avLst>
          </a:prstGeom>
          <a:solidFill>
            <a:srgbClr val="00AEEF"/>
          </a:solidFill>
          <a:ln>
            <a:noFill/>
          </a:ln>
        </p:spPr>
        <p:txBody>
          <a:bodyPr rtlCol="0" anchor="ctr"/>
          <a:lstStyle/>
          <a:p>
            <a:pPr algn="ctr"/>
          </a:p>
        </p:txBody>
      </p:sp>
      <p:sp>
        <p:nvSpPr>
          <p:cNvPr id="55" name="Label TextBox 54"/>
          <p:cNvSpPr txBox="1"/>
          <p:nvPr/>
        </p:nvSpPr>
        <p:spPr>
          <a:xfrm>
            <a:off x="3899916" y="4059936"/>
            <a:ext cx="512064" cy="164592"/>
          </a:xfrm>
          <a:prstGeom prst="rect">
            <a:avLst/>
          </a:prstGeom>
          <a:noFill/>
        </p:spPr>
        <p:txBody>
          <a:bodyPr wrap="square" anchor="ctr" lIns="0" rIns="0" tIns="0" bIns="0">
            <a:spAutoFit/>
          </a:bodyPr>
          <a:lstStyle/>
          <a:p>
            <a:pPr algn="ctr">
              <a:spcAft>
                <a:spcPts val="0"/>
              </a:spcAft>
            </a:pPr>
            <a:r>
              <a:rPr sz="650" b="1" i="0">
                <a:solidFill>
                  <a:srgbClr val="FFFFFF"/>
                </a:solidFill>
                <a:latin typeface="Arial"/>
              </a:rPr>
              <a:t>NEW</a:t>
            </a:r>
          </a:p>
        </p:txBody>
      </p:sp>
      <p:sp>
        <p:nvSpPr>
          <p:cNvPr id="56" name="Label Rectangle 55"/>
          <p:cNvSpPr/>
          <p:nvPr/>
        </p:nvSpPr>
        <p:spPr>
          <a:xfrm>
            <a:off x="3191256" y="4663440"/>
            <a:ext cx="1257300" cy="457200"/>
          </a:xfrm>
          <a:prstGeom prst="rect">
            <a:avLst/>
          </a:prstGeom>
          <a:solidFill>
            <a:srgbClr val="F2F2F2"/>
          </a:solidFill>
          <a:ln w="9525">
            <a:solidFill>
              <a:srgbClr val="D9D9D9"/>
            </a:solidFill>
          </a:ln>
        </p:spPr>
        <p:txBody>
          <a:bodyPr rtlCol="0" anchor="ctr"/>
          <a:lstStyle/>
          <a:p>
            <a:pPr algn="ctr"/>
          </a:p>
        </p:txBody>
      </p:sp>
      <p:sp>
        <p:nvSpPr>
          <p:cNvPr id="57" name="Label TextBox 56"/>
          <p:cNvSpPr txBox="1"/>
          <p:nvPr/>
        </p:nvSpPr>
        <p:spPr>
          <a:xfrm>
            <a:off x="3218688" y="4663440"/>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7F7F7F"/>
                </a:solidFill>
                <a:latin typeface="Arial"/>
              </a:rPr>
              <a:t>Accelerate Tourism-Enabling Internal Mobility</a:t>
            </a:r>
          </a:p>
        </p:txBody>
      </p:sp>
      <p:sp>
        <p:nvSpPr>
          <p:cNvPr id="58" name="Label Rectangle 57"/>
          <p:cNvSpPr/>
          <p:nvPr/>
        </p:nvSpPr>
        <p:spPr>
          <a:xfrm>
            <a:off x="3191256" y="5184648"/>
            <a:ext cx="1257300" cy="457200"/>
          </a:xfrm>
          <a:prstGeom prst="rect">
            <a:avLst/>
          </a:prstGeom>
          <a:solidFill>
            <a:srgbClr val="F2F2F2"/>
          </a:solidFill>
          <a:ln w="9525">
            <a:solidFill>
              <a:srgbClr val="D9D9D9"/>
            </a:solidFill>
          </a:ln>
        </p:spPr>
        <p:txBody>
          <a:bodyPr rtlCol="0" anchor="ctr"/>
          <a:lstStyle/>
          <a:p>
            <a:pPr algn="ctr"/>
          </a:p>
        </p:txBody>
      </p:sp>
      <p:sp>
        <p:nvSpPr>
          <p:cNvPr id="59" name="Label TextBox 58"/>
          <p:cNvSpPr txBox="1"/>
          <p:nvPr/>
        </p:nvSpPr>
        <p:spPr>
          <a:xfrm>
            <a:off x="3218688" y="5184648"/>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7F7F7F"/>
                </a:solidFill>
                <a:latin typeface="Arial"/>
              </a:rPr>
              <a:t>Lead Removal of Infrastructure, Visa and Safety Deficits</a:t>
            </a:r>
          </a:p>
        </p:txBody>
      </p:sp>
      <p:cxnSp>
        <p:nvCxnSpPr>
          <p:cNvPr id="60" name="Label Connector 59"/>
          <p:cNvCxnSpPr/>
          <p:nvPr/>
        </p:nvCxnSpPr>
        <p:spPr>
          <a:xfrm>
            <a:off x="5186934" y="2496312"/>
            <a:ext cx="0" cy="109728"/>
          </a:xfrm>
          <a:prstGeom prst="line">
            <a:avLst/>
          </a:prstGeom>
          <a:ln w="9525">
            <a:solidFill>
              <a:srgbClr val="D9D9D9"/>
            </a:solidFill>
          </a:ln>
        </p:spPr>
      </p:cxnSp>
      <p:sp>
        <p:nvSpPr>
          <p:cNvPr id="61" name="Label Rectangle 60"/>
          <p:cNvSpPr/>
          <p:nvPr/>
        </p:nvSpPr>
        <p:spPr>
          <a:xfrm>
            <a:off x="4558284" y="2606040"/>
            <a:ext cx="1257300" cy="420624"/>
          </a:xfrm>
          <a:prstGeom prst="rect">
            <a:avLst/>
          </a:prstGeom>
          <a:solidFill>
            <a:srgbClr val="F2F2F2"/>
          </a:solidFill>
          <a:ln>
            <a:noFill/>
          </a:ln>
        </p:spPr>
        <p:txBody>
          <a:bodyPr rtlCol="0" anchor="ctr" wrap="square" lIns="36576" rIns="36576" tIns="21945" bIns="21945"/>
          <a:lstStyle/>
          <a:p>
            <a:pPr algn="ctr">
              <a:spcAft>
                <a:spcPts val="0"/>
              </a:spcAft>
            </a:pPr>
            <a:r>
              <a:rPr sz="800" b="1" i="0">
                <a:solidFill>
                  <a:srgbClr val="7F7F7F"/>
                </a:solidFill>
                <a:latin typeface="Arial"/>
              </a:rPr>
              <a:t>2.2 Product and Destination Capacity</a:t>
            </a:r>
          </a:p>
        </p:txBody>
      </p:sp>
      <p:sp>
        <p:nvSpPr>
          <p:cNvPr id="62" name="Label Rectangle 61"/>
          <p:cNvSpPr/>
          <p:nvPr/>
        </p:nvSpPr>
        <p:spPr>
          <a:xfrm>
            <a:off x="4558284" y="3099816"/>
            <a:ext cx="1257300" cy="457200"/>
          </a:xfrm>
          <a:prstGeom prst="rect">
            <a:avLst/>
          </a:prstGeom>
          <a:solidFill>
            <a:srgbClr val="F2F2F2"/>
          </a:solidFill>
          <a:ln w="9525">
            <a:solidFill>
              <a:srgbClr val="D9D9D9"/>
            </a:solidFill>
          </a:ln>
        </p:spPr>
        <p:txBody>
          <a:bodyPr rtlCol="0" anchor="ctr"/>
          <a:lstStyle/>
          <a:p>
            <a:pPr algn="ctr"/>
          </a:p>
        </p:txBody>
      </p:sp>
      <p:sp>
        <p:nvSpPr>
          <p:cNvPr id="63" name="Label TextBox 62"/>
          <p:cNvSpPr txBox="1"/>
          <p:nvPr/>
        </p:nvSpPr>
        <p:spPr>
          <a:xfrm>
            <a:off x="4585716" y="3099816"/>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7F7F7F"/>
                </a:solidFill>
                <a:latin typeface="Arial"/>
              </a:rPr>
              <a:t>Support Diversified Route and Product Development</a:t>
            </a:r>
          </a:p>
        </p:txBody>
      </p:sp>
      <p:sp>
        <p:nvSpPr>
          <p:cNvPr id="64" name="Label Rectangle 63"/>
          <p:cNvSpPr/>
          <p:nvPr/>
        </p:nvSpPr>
        <p:spPr>
          <a:xfrm>
            <a:off x="4558284" y="3621024"/>
            <a:ext cx="1257300" cy="457200"/>
          </a:xfrm>
          <a:prstGeom prst="rect">
            <a:avLst/>
          </a:prstGeom>
          <a:solidFill>
            <a:srgbClr val="F2F2F2"/>
          </a:solidFill>
          <a:ln w="9525">
            <a:solidFill>
              <a:srgbClr val="D9D9D9"/>
            </a:solidFill>
          </a:ln>
        </p:spPr>
        <p:txBody>
          <a:bodyPr rtlCol="0" anchor="ctr"/>
          <a:lstStyle/>
          <a:p>
            <a:pPr algn="ctr"/>
          </a:p>
        </p:txBody>
      </p:sp>
      <p:sp>
        <p:nvSpPr>
          <p:cNvPr id="65" name="Label TextBox 64"/>
          <p:cNvSpPr txBox="1"/>
          <p:nvPr/>
        </p:nvSpPr>
        <p:spPr>
          <a:xfrm>
            <a:off x="4585716" y="3621024"/>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7F7F7F"/>
                </a:solidFill>
                <a:latin typeface="Arial"/>
              </a:rPr>
              <a:t>Align Visitor Experience In-Destination</a:t>
            </a:r>
          </a:p>
        </p:txBody>
      </p:sp>
      <p:sp>
        <p:nvSpPr>
          <p:cNvPr id="66" name="Label Rectangle 65"/>
          <p:cNvSpPr/>
          <p:nvPr/>
        </p:nvSpPr>
        <p:spPr>
          <a:xfrm>
            <a:off x="4558284" y="4142232"/>
            <a:ext cx="1257300" cy="457200"/>
          </a:xfrm>
          <a:prstGeom prst="rect">
            <a:avLst/>
          </a:prstGeom>
          <a:solidFill>
            <a:srgbClr val="F2F2F2"/>
          </a:solidFill>
          <a:ln w="9525">
            <a:solidFill>
              <a:srgbClr val="D9D9D9"/>
            </a:solidFill>
          </a:ln>
        </p:spPr>
        <p:txBody>
          <a:bodyPr rtlCol="0" anchor="ctr"/>
          <a:lstStyle/>
          <a:p>
            <a:pPr algn="ctr"/>
          </a:p>
        </p:txBody>
      </p:sp>
      <p:sp>
        <p:nvSpPr>
          <p:cNvPr id="67" name="Label TextBox 66"/>
          <p:cNvSpPr txBox="1"/>
          <p:nvPr/>
        </p:nvSpPr>
        <p:spPr>
          <a:xfrm>
            <a:off x="4585716" y="4142232"/>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7F7F7F"/>
                </a:solidFill>
                <a:latin typeface="Arial"/>
              </a:rPr>
              <a:t>Balance Impact on Nature-Based Attractions</a:t>
            </a:r>
          </a:p>
        </p:txBody>
      </p:sp>
      <p:cxnSp>
        <p:nvCxnSpPr>
          <p:cNvPr id="68" name="Label Connector 67"/>
          <p:cNvCxnSpPr/>
          <p:nvPr/>
        </p:nvCxnSpPr>
        <p:spPr>
          <a:xfrm>
            <a:off x="6553962" y="2496312"/>
            <a:ext cx="0" cy="109728"/>
          </a:xfrm>
          <a:prstGeom prst="line">
            <a:avLst/>
          </a:prstGeom>
          <a:ln w="9525">
            <a:solidFill>
              <a:srgbClr val="D9D9D9"/>
            </a:solidFill>
          </a:ln>
        </p:spPr>
      </p:cxnSp>
      <p:sp>
        <p:nvSpPr>
          <p:cNvPr id="69" name="Label Rectangle 68"/>
          <p:cNvSpPr/>
          <p:nvPr/>
        </p:nvSpPr>
        <p:spPr>
          <a:xfrm>
            <a:off x="5925312" y="2606040"/>
            <a:ext cx="1257300" cy="420624"/>
          </a:xfrm>
          <a:prstGeom prst="rect">
            <a:avLst/>
          </a:prstGeom>
          <a:solidFill>
            <a:srgbClr val="F2F2F2"/>
          </a:solidFill>
          <a:ln>
            <a:noFill/>
          </a:ln>
        </p:spPr>
        <p:txBody>
          <a:bodyPr rtlCol="0" anchor="ctr" wrap="square" lIns="36576" rIns="36576" tIns="21945" bIns="21945"/>
          <a:lstStyle/>
          <a:p>
            <a:pPr algn="ctr">
              <a:spcAft>
                <a:spcPts val="0"/>
              </a:spcAft>
            </a:pPr>
            <a:r>
              <a:rPr sz="800" b="1" i="0">
                <a:solidFill>
                  <a:srgbClr val="7F7F7F"/>
                </a:solidFill>
                <a:latin typeface="Arial"/>
              </a:rPr>
              <a:t>3.1 Investment, Inclusion and Sustainability</a:t>
            </a:r>
          </a:p>
        </p:txBody>
      </p:sp>
      <p:sp>
        <p:nvSpPr>
          <p:cNvPr id="70" name="Label Rectangle 69"/>
          <p:cNvSpPr/>
          <p:nvPr/>
        </p:nvSpPr>
        <p:spPr>
          <a:xfrm>
            <a:off x="5925312" y="3099816"/>
            <a:ext cx="1257300" cy="457200"/>
          </a:xfrm>
          <a:prstGeom prst="rect">
            <a:avLst/>
          </a:prstGeom>
          <a:solidFill>
            <a:srgbClr val="F2F2F2"/>
          </a:solidFill>
          <a:ln w="9525">
            <a:solidFill>
              <a:srgbClr val="D9D9D9"/>
            </a:solidFill>
          </a:ln>
        </p:spPr>
        <p:txBody>
          <a:bodyPr rtlCol="0" anchor="ctr"/>
          <a:lstStyle/>
          <a:p>
            <a:pPr algn="ctr"/>
          </a:p>
        </p:txBody>
      </p:sp>
      <p:sp>
        <p:nvSpPr>
          <p:cNvPr id="71" name="Label TextBox 70"/>
          <p:cNvSpPr txBox="1"/>
          <p:nvPr/>
        </p:nvSpPr>
        <p:spPr>
          <a:xfrm>
            <a:off x="5952744" y="3099816"/>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7F7F7F"/>
                </a:solidFill>
                <a:latin typeface="Arial"/>
              </a:rPr>
              <a:t>Drive Community and SME Inclusion</a:t>
            </a:r>
          </a:p>
        </p:txBody>
      </p:sp>
      <p:sp>
        <p:nvSpPr>
          <p:cNvPr id="72" name="Label Rectangle 71"/>
          <p:cNvSpPr/>
          <p:nvPr/>
        </p:nvSpPr>
        <p:spPr>
          <a:xfrm>
            <a:off x="5925312" y="3621024"/>
            <a:ext cx="1257300" cy="457200"/>
          </a:xfrm>
          <a:prstGeom prst="rect">
            <a:avLst/>
          </a:prstGeom>
          <a:solidFill>
            <a:srgbClr val="FFFFFF"/>
          </a:solidFill>
          <a:ln w="19050">
            <a:solidFill>
              <a:srgbClr val="00AEEF"/>
            </a:solidFill>
          </a:ln>
        </p:spPr>
        <p:txBody>
          <a:bodyPr rtlCol="0" anchor="ctr"/>
          <a:lstStyle/>
          <a:p>
            <a:pPr algn="ctr"/>
          </a:p>
        </p:txBody>
      </p:sp>
      <p:sp>
        <p:nvSpPr>
          <p:cNvPr id="73" name="Label TextBox 72"/>
          <p:cNvSpPr txBox="1"/>
          <p:nvPr/>
        </p:nvSpPr>
        <p:spPr>
          <a:xfrm>
            <a:off x="5952744" y="3621024"/>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1F497D"/>
                </a:solidFill>
                <a:latin typeface="Arial"/>
              </a:rPr>
              <a:t>Fund Local Destination Bodies and Manage Climate Risk</a:t>
            </a:r>
          </a:p>
        </p:txBody>
      </p:sp>
      <p:sp>
        <p:nvSpPr>
          <p:cNvPr id="74" name="Label Rounded Rectangle 73"/>
          <p:cNvSpPr/>
          <p:nvPr/>
        </p:nvSpPr>
        <p:spPr>
          <a:xfrm>
            <a:off x="6633972" y="3538728"/>
            <a:ext cx="512064" cy="164592"/>
          </a:xfrm>
          <a:prstGeom prst="roundRect">
            <a:avLst>
              <a:gd name="adj" fmla="val 50000"/>
            </a:avLst>
          </a:prstGeom>
          <a:solidFill>
            <a:srgbClr val="00AEEF"/>
          </a:solidFill>
          <a:ln>
            <a:noFill/>
          </a:ln>
        </p:spPr>
        <p:txBody>
          <a:bodyPr rtlCol="0" anchor="ctr"/>
          <a:lstStyle/>
          <a:p>
            <a:pPr algn="ctr"/>
          </a:p>
        </p:txBody>
      </p:sp>
      <p:sp>
        <p:nvSpPr>
          <p:cNvPr id="75" name="Label TextBox 74"/>
          <p:cNvSpPr txBox="1"/>
          <p:nvPr/>
        </p:nvSpPr>
        <p:spPr>
          <a:xfrm>
            <a:off x="6633972" y="3538728"/>
            <a:ext cx="512064" cy="164592"/>
          </a:xfrm>
          <a:prstGeom prst="rect">
            <a:avLst/>
          </a:prstGeom>
          <a:noFill/>
        </p:spPr>
        <p:txBody>
          <a:bodyPr wrap="square" anchor="ctr" lIns="0" rIns="0" tIns="0" bIns="0">
            <a:spAutoFit/>
          </a:bodyPr>
          <a:lstStyle/>
          <a:p>
            <a:pPr algn="ctr">
              <a:spcAft>
                <a:spcPts val="0"/>
              </a:spcAft>
            </a:pPr>
            <a:r>
              <a:rPr sz="650" b="1" i="0">
                <a:solidFill>
                  <a:srgbClr val="FFFFFF"/>
                </a:solidFill>
                <a:latin typeface="Arial"/>
              </a:rPr>
              <a:t>REWORD</a:t>
            </a:r>
          </a:p>
        </p:txBody>
      </p:sp>
      <p:sp>
        <p:nvSpPr>
          <p:cNvPr id="76" name="Label Rectangle 75"/>
          <p:cNvSpPr/>
          <p:nvPr/>
        </p:nvSpPr>
        <p:spPr>
          <a:xfrm>
            <a:off x="5925312" y="4142232"/>
            <a:ext cx="1257300" cy="457200"/>
          </a:xfrm>
          <a:prstGeom prst="rect">
            <a:avLst/>
          </a:prstGeom>
          <a:solidFill>
            <a:srgbClr val="F2F2F2"/>
          </a:solidFill>
          <a:ln w="9525">
            <a:solidFill>
              <a:srgbClr val="D9D9D9"/>
            </a:solidFill>
          </a:ln>
        </p:spPr>
        <p:txBody>
          <a:bodyPr rtlCol="0" anchor="ctr"/>
          <a:lstStyle/>
          <a:p>
            <a:pPr algn="ctr"/>
          </a:p>
        </p:txBody>
      </p:sp>
      <p:sp>
        <p:nvSpPr>
          <p:cNvPr id="77" name="Label TextBox 76"/>
          <p:cNvSpPr txBox="1"/>
          <p:nvPr/>
        </p:nvSpPr>
        <p:spPr>
          <a:xfrm>
            <a:off x="5952744" y="4142232"/>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7F7F7F"/>
                </a:solidFill>
                <a:latin typeface="Arial"/>
              </a:rPr>
              <a:t>Crowd-In Capital with Targeted Investment Strategies</a:t>
            </a:r>
          </a:p>
        </p:txBody>
      </p:sp>
      <p:sp>
        <p:nvSpPr>
          <p:cNvPr id="78" name="Label Rectangle 77"/>
          <p:cNvSpPr/>
          <p:nvPr/>
        </p:nvSpPr>
        <p:spPr>
          <a:xfrm>
            <a:off x="5925312" y="4663440"/>
            <a:ext cx="1257300" cy="457200"/>
          </a:xfrm>
          <a:prstGeom prst="rect">
            <a:avLst/>
          </a:prstGeom>
          <a:solidFill>
            <a:srgbClr val="FFFFFF"/>
          </a:solidFill>
          <a:ln w="19050">
            <a:solidFill>
              <a:srgbClr val="00AEEF"/>
            </a:solidFill>
          </a:ln>
        </p:spPr>
        <p:txBody>
          <a:bodyPr rtlCol="0" anchor="ctr"/>
          <a:lstStyle/>
          <a:p>
            <a:pPr algn="ctr"/>
          </a:p>
        </p:txBody>
      </p:sp>
      <p:sp>
        <p:nvSpPr>
          <p:cNvPr id="79" name="Label TextBox 78"/>
          <p:cNvSpPr txBox="1"/>
          <p:nvPr/>
        </p:nvSpPr>
        <p:spPr>
          <a:xfrm>
            <a:off x="5952744" y="4663440"/>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1F497D"/>
                </a:solidFill>
                <a:latin typeface="Arial"/>
              </a:rPr>
              <a:t>Develop Workforce and Service Skills: Untested</a:t>
            </a:r>
          </a:p>
        </p:txBody>
      </p:sp>
      <p:sp>
        <p:nvSpPr>
          <p:cNvPr id="80" name="Label Rounded Rectangle 79"/>
          <p:cNvSpPr/>
          <p:nvPr/>
        </p:nvSpPr>
        <p:spPr>
          <a:xfrm>
            <a:off x="6633972" y="4581144"/>
            <a:ext cx="512064" cy="164592"/>
          </a:xfrm>
          <a:prstGeom prst="roundRect">
            <a:avLst>
              <a:gd name="adj" fmla="val 50000"/>
            </a:avLst>
          </a:prstGeom>
          <a:solidFill>
            <a:srgbClr val="00AEEF"/>
          </a:solidFill>
          <a:ln>
            <a:noFill/>
          </a:ln>
        </p:spPr>
        <p:txBody>
          <a:bodyPr rtlCol="0" anchor="ctr"/>
          <a:lstStyle/>
          <a:p>
            <a:pPr algn="ctr"/>
          </a:p>
        </p:txBody>
      </p:sp>
      <p:sp>
        <p:nvSpPr>
          <p:cNvPr id="81" name="Label TextBox 80"/>
          <p:cNvSpPr txBox="1"/>
          <p:nvPr/>
        </p:nvSpPr>
        <p:spPr>
          <a:xfrm>
            <a:off x="6633972" y="4581144"/>
            <a:ext cx="512064" cy="164592"/>
          </a:xfrm>
          <a:prstGeom prst="rect">
            <a:avLst/>
          </a:prstGeom>
          <a:noFill/>
        </p:spPr>
        <p:txBody>
          <a:bodyPr wrap="square" anchor="ctr" lIns="0" rIns="0" tIns="0" bIns="0">
            <a:spAutoFit/>
          </a:bodyPr>
          <a:lstStyle/>
          <a:p>
            <a:pPr algn="ctr">
              <a:spcAft>
                <a:spcPts val="0"/>
              </a:spcAft>
            </a:pPr>
            <a:r>
              <a:rPr sz="650" b="1" i="0">
                <a:solidFill>
                  <a:srgbClr val="FFFFFF"/>
                </a:solidFill>
                <a:latin typeface="Arial"/>
              </a:rPr>
              <a:t>FLAG</a:t>
            </a:r>
          </a:p>
        </p:txBody>
      </p:sp>
      <p:cxnSp>
        <p:nvCxnSpPr>
          <p:cNvPr id="82" name="Label Connector 81"/>
          <p:cNvCxnSpPr/>
          <p:nvPr/>
        </p:nvCxnSpPr>
        <p:spPr>
          <a:xfrm>
            <a:off x="7920990" y="2496312"/>
            <a:ext cx="0" cy="109728"/>
          </a:xfrm>
          <a:prstGeom prst="line">
            <a:avLst/>
          </a:prstGeom>
          <a:ln w="9525">
            <a:solidFill>
              <a:srgbClr val="D9D9D9"/>
            </a:solidFill>
          </a:ln>
        </p:spPr>
      </p:cxnSp>
      <p:sp>
        <p:nvSpPr>
          <p:cNvPr id="83" name="Label Rectangle 82"/>
          <p:cNvSpPr/>
          <p:nvPr/>
        </p:nvSpPr>
        <p:spPr>
          <a:xfrm>
            <a:off x="7292340" y="2606040"/>
            <a:ext cx="1257300" cy="420624"/>
          </a:xfrm>
          <a:prstGeom prst="rect">
            <a:avLst/>
          </a:prstGeom>
          <a:solidFill>
            <a:srgbClr val="F2F2F2"/>
          </a:solidFill>
          <a:ln>
            <a:noFill/>
          </a:ln>
        </p:spPr>
        <p:txBody>
          <a:bodyPr rtlCol="0" anchor="ctr" wrap="square" lIns="36576" rIns="36576" tIns="21945" bIns="21945"/>
          <a:lstStyle/>
          <a:p>
            <a:pPr algn="ctr">
              <a:spcAft>
                <a:spcPts val="0"/>
              </a:spcAft>
            </a:pPr>
            <a:r>
              <a:rPr sz="800" b="1" i="0">
                <a:solidFill>
                  <a:srgbClr val="7F7F7F"/>
                </a:solidFill>
                <a:latin typeface="Arial"/>
              </a:rPr>
              <a:t>3.2 Governance and Leadership</a:t>
            </a:r>
          </a:p>
        </p:txBody>
      </p:sp>
      <p:sp>
        <p:nvSpPr>
          <p:cNvPr id="84" name="Label Rectangle 83"/>
          <p:cNvSpPr/>
          <p:nvPr/>
        </p:nvSpPr>
        <p:spPr>
          <a:xfrm>
            <a:off x="7292340" y="3099816"/>
            <a:ext cx="1257300" cy="457200"/>
          </a:xfrm>
          <a:prstGeom prst="rect">
            <a:avLst/>
          </a:prstGeom>
          <a:solidFill>
            <a:srgbClr val="FFFFFF"/>
          </a:solidFill>
          <a:ln w="19050">
            <a:solidFill>
              <a:srgbClr val="00AEEF"/>
            </a:solidFill>
          </a:ln>
        </p:spPr>
        <p:txBody>
          <a:bodyPr rtlCol="0" anchor="ctr"/>
          <a:lstStyle/>
          <a:p>
            <a:pPr algn="ctr"/>
          </a:p>
        </p:txBody>
      </p:sp>
      <p:sp>
        <p:nvSpPr>
          <p:cNvPr id="85" name="Label TextBox 84"/>
          <p:cNvSpPr txBox="1"/>
          <p:nvPr/>
        </p:nvSpPr>
        <p:spPr>
          <a:xfrm>
            <a:off x="7319772" y="3099816"/>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1F497D"/>
                </a:solidFill>
                <a:latin typeface="Arial"/>
              </a:rPr>
              <a:t>Review Institutional Arrangements Across All Three Tiers</a:t>
            </a:r>
          </a:p>
        </p:txBody>
      </p:sp>
      <p:sp>
        <p:nvSpPr>
          <p:cNvPr id="86" name="Label Rounded Rectangle 85"/>
          <p:cNvSpPr/>
          <p:nvPr/>
        </p:nvSpPr>
        <p:spPr>
          <a:xfrm>
            <a:off x="8001000" y="3017520"/>
            <a:ext cx="512064" cy="164592"/>
          </a:xfrm>
          <a:prstGeom prst="roundRect">
            <a:avLst>
              <a:gd name="adj" fmla="val 50000"/>
            </a:avLst>
          </a:prstGeom>
          <a:solidFill>
            <a:srgbClr val="00AEEF"/>
          </a:solidFill>
          <a:ln>
            <a:noFill/>
          </a:ln>
        </p:spPr>
        <p:txBody>
          <a:bodyPr rtlCol="0" anchor="ctr"/>
          <a:lstStyle/>
          <a:p>
            <a:pPr algn="ctr"/>
          </a:p>
        </p:txBody>
      </p:sp>
      <p:sp>
        <p:nvSpPr>
          <p:cNvPr id="87" name="Label TextBox 86"/>
          <p:cNvSpPr txBox="1"/>
          <p:nvPr/>
        </p:nvSpPr>
        <p:spPr>
          <a:xfrm>
            <a:off x="8001000" y="3017520"/>
            <a:ext cx="512064" cy="164592"/>
          </a:xfrm>
          <a:prstGeom prst="rect">
            <a:avLst/>
          </a:prstGeom>
          <a:noFill/>
        </p:spPr>
        <p:txBody>
          <a:bodyPr wrap="square" anchor="ctr" lIns="0" rIns="0" tIns="0" bIns="0">
            <a:spAutoFit/>
          </a:bodyPr>
          <a:lstStyle/>
          <a:p>
            <a:pPr algn="ctr">
              <a:spcAft>
                <a:spcPts val="0"/>
              </a:spcAft>
            </a:pPr>
            <a:r>
              <a:rPr sz="650" b="1" i="0">
                <a:solidFill>
                  <a:srgbClr val="FFFFFF"/>
                </a:solidFill>
                <a:latin typeface="Arial"/>
              </a:rPr>
              <a:t>REWORD</a:t>
            </a:r>
          </a:p>
        </p:txBody>
      </p:sp>
      <p:sp>
        <p:nvSpPr>
          <p:cNvPr id="88" name="Label Rectangle 87"/>
          <p:cNvSpPr/>
          <p:nvPr/>
        </p:nvSpPr>
        <p:spPr>
          <a:xfrm>
            <a:off x="7292340" y="3621024"/>
            <a:ext cx="1257300" cy="457200"/>
          </a:xfrm>
          <a:prstGeom prst="rect">
            <a:avLst/>
          </a:prstGeom>
          <a:solidFill>
            <a:srgbClr val="F2F2F2"/>
          </a:solidFill>
          <a:ln w="9525">
            <a:solidFill>
              <a:srgbClr val="D9D9D9"/>
            </a:solidFill>
          </a:ln>
        </p:spPr>
        <p:txBody>
          <a:bodyPr rtlCol="0" anchor="ctr"/>
          <a:lstStyle/>
          <a:p>
            <a:pPr algn="ctr"/>
          </a:p>
        </p:txBody>
      </p:sp>
      <p:sp>
        <p:nvSpPr>
          <p:cNvPr id="89" name="Label TextBox 88"/>
          <p:cNvSpPr txBox="1"/>
          <p:nvPr/>
        </p:nvSpPr>
        <p:spPr>
          <a:xfrm>
            <a:off x="7319772" y="3621024"/>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7F7F7F"/>
                </a:solidFill>
                <a:latin typeface="Arial"/>
              </a:rPr>
              <a:t>Strengthen Industry and Government Collaboration</a:t>
            </a:r>
          </a:p>
        </p:txBody>
      </p:sp>
      <p:sp>
        <p:nvSpPr>
          <p:cNvPr id="90" name="Label Rectangle 89"/>
          <p:cNvSpPr/>
          <p:nvPr/>
        </p:nvSpPr>
        <p:spPr>
          <a:xfrm>
            <a:off x="7292340" y="4142232"/>
            <a:ext cx="1257300" cy="457200"/>
          </a:xfrm>
          <a:prstGeom prst="rect">
            <a:avLst/>
          </a:prstGeom>
          <a:solidFill>
            <a:srgbClr val="F2F2F2"/>
          </a:solidFill>
          <a:ln w="9525">
            <a:solidFill>
              <a:srgbClr val="D9D9D9"/>
            </a:solidFill>
          </a:ln>
        </p:spPr>
        <p:txBody>
          <a:bodyPr rtlCol="0" anchor="ctr"/>
          <a:lstStyle/>
          <a:p>
            <a:pPr algn="ctr"/>
          </a:p>
        </p:txBody>
      </p:sp>
      <p:sp>
        <p:nvSpPr>
          <p:cNvPr id="91" name="Label TextBox 90"/>
          <p:cNvSpPr txBox="1"/>
          <p:nvPr/>
        </p:nvSpPr>
        <p:spPr>
          <a:xfrm>
            <a:off x="7319772" y="4142232"/>
            <a:ext cx="1202436" cy="457200"/>
          </a:xfrm>
          <a:prstGeom prst="rect">
            <a:avLst/>
          </a:prstGeom>
          <a:noFill/>
        </p:spPr>
        <p:txBody>
          <a:bodyPr wrap="square" anchor="ctr" lIns="18288" rIns="18288" tIns="10972" bIns="10972">
            <a:spAutoFit/>
          </a:bodyPr>
          <a:lstStyle/>
          <a:p>
            <a:pPr algn="ctr">
              <a:spcAft>
                <a:spcPts val="0"/>
              </a:spcAft>
            </a:pPr>
            <a:r>
              <a:rPr sz="750" b="0" i="0">
                <a:solidFill>
                  <a:srgbClr val="7F7F7F"/>
                </a:solidFill>
                <a:latin typeface="Arial"/>
              </a:rPr>
              <a:t>Expedite Tourism-Enabling Policy and Data Sharing</a:t>
            </a:r>
          </a:p>
        </p:txBody>
      </p:sp>
      <p:sp>
        <p:nvSpPr>
          <p:cNvPr id="92" name="Label Oval 91"/>
          <p:cNvSpPr/>
          <p:nvPr/>
        </p:nvSpPr>
        <p:spPr>
          <a:xfrm>
            <a:off x="3108960" y="3017520"/>
            <a:ext cx="201168" cy="201168"/>
          </a:xfrm>
          <a:prstGeom prst="ellipse">
            <a:avLst/>
          </a:prstGeom>
          <a:solidFill>
            <a:srgbClr val="1F497D"/>
          </a:solidFill>
          <a:ln>
            <a:noFill/>
          </a:ln>
        </p:spPr>
        <p:txBody>
          <a:bodyPr rtlCol="0" anchor="ctr" wrap="square" lIns="0" rIns="0" tIns="0" bIns="0"/>
          <a:lstStyle/>
          <a:p>
            <a:pPr algn="ctr">
              <a:spcAft>
                <a:spcPts val="0"/>
              </a:spcAft>
            </a:pPr>
            <a:r>
              <a:rPr sz="800" b="1" i="0">
                <a:solidFill>
                  <a:srgbClr val="FFFFFF"/>
                </a:solidFill>
                <a:latin typeface="Arial"/>
              </a:rPr>
              <a:t>1</a:t>
            </a:r>
          </a:p>
        </p:txBody>
      </p:sp>
      <p:sp>
        <p:nvSpPr>
          <p:cNvPr id="93" name="Label Oval 92"/>
          <p:cNvSpPr/>
          <p:nvPr/>
        </p:nvSpPr>
        <p:spPr>
          <a:xfrm>
            <a:off x="3108960" y="3538728"/>
            <a:ext cx="201168" cy="201168"/>
          </a:xfrm>
          <a:prstGeom prst="ellipse">
            <a:avLst/>
          </a:prstGeom>
          <a:solidFill>
            <a:srgbClr val="1F497D"/>
          </a:solidFill>
          <a:ln>
            <a:noFill/>
          </a:ln>
        </p:spPr>
        <p:txBody>
          <a:bodyPr rtlCol="0" anchor="ctr" wrap="square" lIns="0" rIns="0" tIns="0" bIns="0"/>
          <a:lstStyle/>
          <a:p>
            <a:pPr algn="ctr">
              <a:spcAft>
                <a:spcPts val="0"/>
              </a:spcAft>
            </a:pPr>
            <a:r>
              <a:rPr sz="800" b="1" i="0">
                <a:solidFill>
                  <a:srgbClr val="FFFFFF"/>
                </a:solidFill>
                <a:latin typeface="Arial"/>
              </a:rPr>
              <a:t>1</a:t>
            </a:r>
          </a:p>
        </p:txBody>
      </p:sp>
      <p:sp>
        <p:nvSpPr>
          <p:cNvPr id="94" name="Label Oval 93"/>
          <p:cNvSpPr/>
          <p:nvPr/>
        </p:nvSpPr>
        <p:spPr>
          <a:xfrm>
            <a:off x="3108960" y="4059936"/>
            <a:ext cx="201168" cy="201168"/>
          </a:xfrm>
          <a:prstGeom prst="ellipse">
            <a:avLst/>
          </a:prstGeom>
          <a:solidFill>
            <a:srgbClr val="1F497D"/>
          </a:solidFill>
          <a:ln>
            <a:noFill/>
          </a:ln>
        </p:spPr>
        <p:txBody>
          <a:bodyPr rtlCol="0" anchor="ctr" wrap="square" lIns="0" rIns="0" tIns="0" bIns="0"/>
          <a:lstStyle/>
          <a:p>
            <a:pPr algn="ctr">
              <a:spcAft>
                <a:spcPts val="0"/>
              </a:spcAft>
            </a:pPr>
            <a:r>
              <a:rPr sz="800" b="1" i="0">
                <a:solidFill>
                  <a:srgbClr val="FFFFFF"/>
                </a:solidFill>
                <a:latin typeface="Arial"/>
              </a:rPr>
              <a:t>2</a:t>
            </a:r>
          </a:p>
        </p:txBody>
      </p:sp>
      <p:sp>
        <p:nvSpPr>
          <p:cNvPr id="95" name="Label Oval 94"/>
          <p:cNvSpPr/>
          <p:nvPr/>
        </p:nvSpPr>
        <p:spPr>
          <a:xfrm>
            <a:off x="374904" y="3538728"/>
            <a:ext cx="201168" cy="201168"/>
          </a:xfrm>
          <a:prstGeom prst="ellipse">
            <a:avLst/>
          </a:prstGeom>
          <a:solidFill>
            <a:srgbClr val="1F497D"/>
          </a:solidFill>
          <a:ln>
            <a:noFill/>
          </a:ln>
        </p:spPr>
        <p:txBody>
          <a:bodyPr rtlCol="0" anchor="ctr" wrap="square" lIns="0" rIns="0" tIns="0" bIns="0"/>
          <a:lstStyle/>
          <a:p>
            <a:pPr algn="ctr">
              <a:spcAft>
                <a:spcPts val="0"/>
              </a:spcAft>
            </a:pPr>
            <a:r>
              <a:rPr sz="800" b="1" i="0">
                <a:solidFill>
                  <a:srgbClr val="FFFFFF"/>
                </a:solidFill>
                <a:latin typeface="Arial"/>
              </a:rPr>
              <a:t>3</a:t>
            </a:r>
          </a:p>
        </p:txBody>
      </p:sp>
      <p:sp>
        <p:nvSpPr>
          <p:cNvPr id="96" name="Label Oval 95"/>
          <p:cNvSpPr/>
          <p:nvPr/>
        </p:nvSpPr>
        <p:spPr>
          <a:xfrm>
            <a:off x="374904" y="4059936"/>
            <a:ext cx="201168" cy="201168"/>
          </a:xfrm>
          <a:prstGeom prst="ellipse">
            <a:avLst/>
          </a:prstGeom>
          <a:solidFill>
            <a:srgbClr val="1F497D"/>
          </a:solidFill>
          <a:ln>
            <a:noFill/>
          </a:ln>
        </p:spPr>
        <p:txBody>
          <a:bodyPr rtlCol="0" anchor="ctr" wrap="square" lIns="0" rIns="0" tIns="0" bIns="0"/>
          <a:lstStyle/>
          <a:p>
            <a:pPr algn="ctr">
              <a:spcAft>
                <a:spcPts val="0"/>
              </a:spcAft>
            </a:pPr>
            <a:r>
              <a:rPr sz="800" b="1" i="0">
                <a:solidFill>
                  <a:srgbClr val="FFFFFF"/>
                </a:solidFill>
                <a:latin typeface="Arial"/>
              </a:rPr>
              <a:t>4</a:t>
            </a:r>
          </a:p>
        </p:txBody>
      </p:sp>
      <p:sp>
        <p:nvSpPr>
          <p:cNvPr id="97" name="Label Oval 96"/>
          <p:cNvSpPr/>
          <p:nvPr/>
        </p:nvSpPr>
        <p:spPr>
          <a:xfrm>
            <a:off x="374904" y="4581144"/>
            <a:ext cx="201168" cy="201168"/>
          </a:xfrm>
          <a:prstGeom prst="ellipse">
            <a:avLst/>
          </a:prstGeom>
          <a:solidFill>
            <a:srgbClr val="1F497D"/>
          </a:solidFill>
          <a:ln>
            <a:noFill/>
          </a:ln>
        </p:spPr>
        <p:txBody>
          <a:bodyPr rtlCol="0" anchor="ctr" wrap="square" lIns="0" rIns="0" tIns="0" bIns="0"/>
          <a:lstStyle/>
          <a:p>
            <a:pPr algn="ctr">
              <a:spcAft>
                <a:spcPts val="0"/>
              </a:spcAft>
            </a:pPr>
            <a:r>
              <a:rPr sz="800" b="1" i="0">
                <a:solidFill>
                  <a:srgbClr val="FFFFFF"/>
                </a:solidFill>
                <a:latin typeface="Arial"/>
              </a:rPr>
              <a:t>5</a:t>
            </a:r>
          </a:p>
        </p:txBody>
      </p:sp>
      <p:sp>
        <p:nvSpPr>
          <p:cNvPr id="98" name="Label Oval 97"/>
          <p:cNvSpPr/>
          <p:nvPr/>
        </p:nvSpPr>
        <p:spPr>
          <a:xfrm>
            <a:off x="1741932" y="3017520"/>
            <a:ext cx="201168" cy="201168"/>
          </a:xfrm>
          <a:prstGeom prst="ellipse">
            <a:avLst/>
          </a:prstGeom>
          <a:solidFill>
            <a:srgbClr val="1F497D"/>
          </a:solidFill>
          <a:ln>
            <a:noFill/>
          </a:ln>
        </p:spPr>
        <p:txBody>
          <a:bodyPr rtlCol="0" anchor="ctr" wrap="square" lIns="0" rIns="0" tIns="0" bIns="0"/>
          <a:lstStyle/>
          <a:p>
            <a:pPr algn="ctr">
              <a:spcAft>
                <a:spcPts val="0"/>
              </a:spcAft>
            </a:pPr>
            <a:r>
              <a:rPr sz="800" b="1" i="0">
                <a:solidFill>
                  <a:srgbClr val="FFFFFF"/>
                </a:solidFill>
                <a:latin typeface="Arial"/>
              </a:rPr>
              <a:t>6</a:t>
            </a:r>
          </a:p>
        </p:txBody>
      </p:sp>
      <p:sp>
        <p:nvSpPr>
          <p:cNvPr id="99" name="Label Oval 98"/>
          <p:cNvSpPr/>
          <p:nvPr/>
        </p:nvSpPr>
        <p:spPr>
          <a:xfrm>
            <a:off x="5843016" y="4581144"/>
            <a:ext cx="201168" cy="201168"/>
          </a:xfrm>
          <a:prstGeom prst="ellipse">
            <a:avLst/>
          </a:prstGeom>
          <a:solidFill>
            <a:srgbClr val="1F497D"/>
          </a:solidFill>
          <a:ln>
            <a:noFill/>
          </a:ln>
        </p:spPr>
        <p:txBody>
          <a:bodyPr rtlCol="0" anchor="ctr" wrap="square" lIns="0" rIns="0" tIns="0" bIns="0"/>
          <a:lstStyle/>
          <a:p>
            <a:pPr algn="ctr">
              <a:spcAft>
                <a:spcPts val="0"/>
              </a:spcAft>
            </a:pPr>
            <a:r>
              <a:rPr sz="800" b="1" i="0">
                <a:solidFill>
                  <a:srgbClr val="FFFFFF"/>
                </a:solidFill>
                <a:latin typeface="Arial"/>
              </a:rPr>
              <a:t>7</a:t>
            </a:r>
          </a:p>
        </p:txBody>
      </p:sp>
      <p:sp>
        <p:nvSpPr>
          <p:cNvPr id="100" name="Label Oval 99"/>
          <p:cNvSpPr/>
          <p:nvPr/>
        </p:nvSpPr>
        <p:spPr>
          <a:xfrm>
            <a:off x="5843016" y="3538728"/>
            <a:ext cx="201168" cy="201168"/>
          </a:xfrm>
          <a:prstGeom prst="ellipse">
            <a:avLst/>
          </a:prstGeom>
          <a:solidFill>
            <a:srgbClr val="1F497D"/>
          </a:solidFill>
          <a:ln>
            <a:noFill/>
          </a:ln>
        </p:spPr>
        <p:txBody>
          <a:bodyPr rtlCol="0" anchor="ctr" wrap="square" lIns="0" rIns="0" tIns="0" bIns="0"/>
          <a:lstStyle/>
          <a:p>
            <a:pPr algn="ctr">
              <a:spcAft>
                <a:spcPts val="0"/>
              </a:spcAft>
            </a:pPr>
            <a:r>
              <a:rPr sz="800" b="1" i="0">
                <a:solidFill>
                  <a:srgbClr val="FFFFFF"/>
                </a:solidFill>
                <a:latin typeface="Arial"/>
              </a:rPr>
              <a:t>8</a:t>
            </a:r>
          </a:p>
        </p:txBody>
      </p:sp>
      <p:sp>
        <p:nvSpPr>
          <p:cNvPr id="101" name="Label Oval 100"/>
          <p:cNvSpPr/>
          <p:nvPr/>
        </p:nvSpPr>
        <p:spPr>
          <a:xfrm>
            <a:off x="7210044" y="3017520"/>
            <a:ext cx="201168" cy="201168"/>
          </a:xfrm>
          <a:prstGeom prst="ellipse">
            <a:avLst/>
          </a:prstGeom>
          <a:solidFill>
            <a:srgbClr val="1F497D"/>
          </a:solidFill>
          <a:ln>
            <a:noFill/>
          </a:ln>
        </p:spPr>
        <p:txBody>
          <a:bodyPr rtlCol="0" anchor="ctr" wrap="square" lIns="0" rIns="0" tIns="0" bIns="0"/>
          <a:lstStyle/>
          <a:p>
            <a:pPr algn="ctr">
              <a:spcAft>
                <a:spcPts val="0"/>
              </a:spcAft>
            </a:pPr>
            <a:r>
              <a:rPr sz="800" b="1" i="0">
                <a:solidFill>
                  <a:srgbClr val="FFFFFF"/>
                </a:solidFill>
                <a:latin typeface="Arial"/>
              </a:rPr>
              <a:t>9</a:t>
            </a:r>
          </a:p>
        </p:txBody>
      </p:sp>
      <p:sp>
        <p:nvSpPr>
          <p:cNvPr id="102" name="TextBox 101"/>
          <p:cNvSpPr txBox="1"/>
          <p:nvPr/>
        </p:nvSpPr>
        <p:spPr>
          <a:xfrm>
            <a:off x="8778240" y="1325880"/>
            <a:ext cx="2956255"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CHANGE AND EVIDENCE</a:t>
            </a:r>
          </a:p>
        </p:txBody>
      </p:sp>
      <p:sp>
        <p:nvSpPr>
          <p:cNvPr id="103" name="Label badge"/>
          <p:cNvSpPr/>
          <p:nvPr/>
        </p:nvSpPr>
        <p:spPr>
          <a:xfrm>
            <a:off x="8778240" y="1645920"/>
            <a:ext cx="219456" cy="219456"/>
          </a:xfrm>
          <a:prstGeom prst="ellipse">
            <a:avLst/>
          </a:prstGeom>
          <a:solidFill>
            <a:srgbClr val="1F497D"/>
          </a:solidFill>
          <a:ln>
            <a:noFill/>
          </a:ln>
        </p:spPr>
        <p:txBody>
          <a:bodyPr rtlCol="0" anchor="ctr" wrap="square" lIns="0" rIns="0" tIns="0" bIns="0"/>
          <a:lstStyle/>
          <a:p>
            <a:pPr algn="ctr">
              <a:spcAft>
                <a:spcPts val="0"/>
              </a:spcAft>
            </a:pPr>
            <a:r>
              <a:rPr sz="900" b="1" i="0">
                <a:solidFill>
                  <a:srgbClr val="FFFFFF"/>
                </a:solidFill>
                <a:latin typeface="Arial"/>
              </a:rPr>
              <a:t>1</a:t>
            </a:r>
          </a:p>
        </p:txBody>
      </p:sp>
      <p:sp>
        <p:nvSpPr>
          <p:cNvPr id="104" name="TextBox 103"/>
          <p:cNvSpPr txBox="1"/>
          <p:nvPr/>
        </p:nvSpPr>
        <p:spPr>
          <a:xfrm>
            <a:off x="9089136" y="1627632"/>
            <a:ext cx="2645359" cy="45720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Split air access</a:t>
            </a:r>
          </a:p>
          <a:p>
            <a:pPr algn="l">
              <a:spcAft>
                <a:spcPts val="0"/>
              </a:spcAft>
            </a:pPr>
            <a:r>
              <a:rPr sz="900" b="0" i="0">
                <a:solidFill>
                  <a:srgbClr val="404040"/>
                </a:solidFill>
                <a:latin typeface="Arial"/>
              </a:rPr>
              <a:t>11 routes above 80%; fares before seats</a:t>
            </a:r>
          </a:p>
        </p:txBody>
      </p:sp>
      <p:sp>
        <p:nvSpPr>
          <p:cNvPr id="105" name="Label badge"/>
          <p:cNvSpPr/>
          <p:nvPr/>
        </p:nvSpPr>
        <p:spPr>
          <a:xfrm>
            <a:off x="8778240" y="2112264"/>
            <a:ext cx="219456" cy="219456"/>
          </a:xfrm>
          <a:prstGeom prst="ellipse">
            <a:avLst/>
          </a:prstGeom>
          <a:solidFill>
            <a:srgbClr val="1F497D"/>
          </a:solidFill>
          <a:ln>
            <a:noFill/>
          </a:ln>
        </p:spPr>
        <p:txBody>
          <a:bodyPr rtlCol="0" anchor="ctr" wrap="square" lIns="0" rIns="0" tIns="0" bIns="0"/>
          <a:lstStyle/>
          <a:p>
            <a:pPr algn="ctr">
              <a:spcAft>
                <a:spcPts val="0"/>
              </a:spcAft>
            </a:pPr>
            <a:r>
              <a:rPr sz="900" b="1" i="0">
                <a:solidFill>
                  <a:srgbClr val="FFFFFF"/>
                </a:solidFill>
                <a:latin typeface="Arial"/>
              </a:rPr>
              <a:t>2</a:t>
            </a:r>
          </a:p>
        </p:txBody>
      </p:sp>
      <p:sp>
        <p:nvSpPr>
          <p:cNvPr id="106" name="TextBox 105"/>
          <p:cNvSpPr txBox="1"/>
          <p:nvPr/>
        </p:nvSpPr>
        <p:spPr>
          <a:xfrm>
            <a:off x="9089136" y="2093976"/>
            <a:ext cx="2645359" cy="45720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Add cruise</a:t>
            </a:r>
          </a:p>
          <a:p>
            <a:pPr algn="l">
              <a:spcAft>
                <a:spcPts val="0"/>
              </a:spcAft>
            </a:pPr>
            <a:r>
              <a:rPr sz="900" b="0" i="0">
                <a:solidFill>
                  <a:srgbClr val="404040"/>
                </a:solidFill>
                <a:latin typeface="Arial"/>
              </a:rPr>
              <a:t>An RFP target; 79 calls in 2024/25</a:t>
            </a:r>
          </a:p>
        </p:txBody>
      </p:sp>
      <p:sp>
        <p:nvSpPr>
          <p:cNvPr id="107" name="Label badge"/>
          <p:cNvSpPr/>
          <p:nvPr/>
        </p:nvSpPr>
        <p:spPr>
          <a:xfrm>
            <a:off x="8778240" y="2578608"/>
            <a:ext cx="219456" cy="219456"/>
          </a:xfrm>
          <a:prstGeom prst="ellipse">
            <a:avLst/>
          </a:prstGeom>
          <a:solidFill>
            <a:srgbClr val="1F497D"/>
          </a:solidFill>
          <a:ln>
            <a:noFill/>
          </a:ln>
        </p:spPr>
        <p:txBody>
          <a:bodyPr rtlCol="0" anchor="ctr" wrap="square" lIns="0" rIns="0" tIns="0" bIns="0"/>
          <a:lstStyle/>
          <a:p>
            <a:pPr algn="ctr">
              <a:spcAft>
                <a:spcPts val="0"/>
              </a:spcAft>
            </a:pPr>
            <a:r>
              <a:rPr sz="900" b="1" i="0">
                <a:solidFill>
                  <a:srgbClr val="FFFFFF"/>
                </a:solidFill>
                <a:latin typeface="Arial"/>
              </a:rPr>
              <a:t>3</a:t>
            </a:r>
          </a:p>
        </p:txBody>
      </p:sp>
      <p:sp>
        <p:nvSpPr>
          <p:cNvPr id="108" name="TextBox 107"/>
          <p:cNvSpPr txBox="1"/>
          <p:nvPr/>
        </p:nvSpPr>
        <p:spPr>
          <a:xfrm>
            <a:off x="9089136" y="2560320"/>
            <a:ext cx="2645359" cy="45720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Green-season demand</a:t>
            </a:r>
          </a:p>
          <a:p>
            <a:pPr algn="l">
              <a:spcAft>
                <a:spcPts val="0"/>
              </a:spcAft>
            </a:pPr>
            <a:r>
              <a:rPr sz="900" b="0" i="0">
                <a:solidFill>
                  <a:srgbClr val="404040"/>
                </a:solidFill>
                <a:latin typeface="Arial"/>
              </a:rPr>
              <a:t>June holds 6.4% of seats</a:t>
            </a:r>
          </a:p>
        </p:txBody>
      </p:sp>
      <p:sp>
        <p:nvSpPr>
          <p:cNvPr id="109" name="Label badge"/>
          <p:cNvSpPr/>
          <p:nvPr/>
        </p:nvSpPr>
        <p:spPr>
          <a:xfrm>
            <a:off x="8778240" y="3044952"/>
            <a:ext cx="219456" cy="219456"/>
          </a:xfrm>
          <a:prstGeom prst="ellipse">
            <a:avLst/>
          </a:prstGeom>
          <a:solidFill>
            <a:srgbClr val="1F497D"/>
          </a:solidFill>
          <a:ln>
            <a:noFill/>
          </a:ln>
        </p:spPr>
        <p:txBody>
          <a:bodyPr rtlCol="0" anchor="ctr" wrap="square" lIns="0" rIns="0" tIns="0" bIns="0"/>
          <a:lstStyle/>
          <a:p>
            <a:pPr algn="ctr">
              <a:spcAft>
                <a:spcPts val="0"/>
              </a:spcAft>
            </a:pPr>
            <a:r>
              <a:rPr sz="900" b="1" i="0">
                <a:solidFill>
                  <a:srgbClr val="FFFFFF"/>
                </a:solidFill>
                <a:latin typeface="Arial"/>
              </a:rPr>
              <a:t>4</a:t>
            </a:r>
          </a:p>
        </p:txBody>
      </p:sp>
      <p:sp>
        <p:nvSpPr>
          <p:cNvPr id="110" name="TextBox 109"/>
          <p:cNvSpPr txBox="1"/>
          <p:nvPr/>
        </p:nvSpPr>
        <p:spPr>
          <a:xfrm>
            <a:off x="9089136" y="3026664"/>
            <a:ext cx="2645359" cy="45720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Bookable province</a:t>
            </a:r>
          </a:p>
          <a:p>
            <a:pPr algn="l">
              <a:spcAft>
                <a:spcPts val="0"/>
              </a:spcAft>
            </a:pPr>
            <a:r>
              <a:rPr sz="900" b="0" i="0">
                <a:solidFill>
                  <a:srgbClr val="404040"/>
                </a:solidFill>
                <a:latin typeface="Arial"/>
              </a:rPr>
              <a:t>Rural product unbookable; 70% by phone</a:t>
            </a:r>
          </a:p>
        </p:txBody>
      </p:sp>
      <p:sp>
        <p:nvSpPr>
          <p:cNvPr id="111" name="Label badge"/>
          <p:cNvSpPr/>
          <p:nvPr/>
        </p:nvSpPr>
        <p:spPr>
          <a:xfrm>
            <a:off x="8778240" y="3511296"/>
            <a:ext cx="219456" cy="219456"/>
          </a:xfrm>
          <a:prstGeom prst="ellipse">
            <a:avLst/>
          </a:prstGeom>
          <a:solidFill>
            <a:srgbClr val="1F497D"/>
          </a:solidFill>
          <a:ln>
            <a:noFill/>
          </a:ln>
        </p:spPr>
        <p:txBody>
          <a:bodyPr rtlCol="0" anchor="ctr" wrap="square" lIns="0" rIns="0" tIns="0" bIns="0"/>
          <a:lstStyle/>
          <a:p>
            <a:pPr algn="ctr">
              <a:spcAft>
                <a:spcPts val="0"/>
              </a:spcAft>
            </a:pPr>
            <a:r>
              <a:rPr sz="900" b="1" i="0">
                <a:solidFill>
                  <a:srgbClr val="FFFFFF"/>
                </a:solidFill>
                <a:latin typeface="Arial"/>
              </a:rPr>
              <a:t>5</a:t>
            </a:r>
          </a:p>
        </p:txBody>
      </p:sp>
      <p:sp>
        <p:nvSpPr>
          <p:cNvPr id="112" name="TextBox 111"/>
          <p:cNvSpPr txBox="1"/>
          <p:nvPr/>
        </p:nvSpPr>
        <p:spPr>
          <a:xfrm>
            <a:off x="9089136" y="3493008"/>
            <a:ext cx="2645359" cy="45720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Add price and value</a:t>
            </a:r>
          </a:p>
          <a:p>
            <a:pPr algn="l">
              <a:spcAft>
                <a:spcPts val="0"/>
              </a:spcAft>
            </a:pPr>
            <a:r>
              <a:rPr sz="900" b="0" i="0">
                <a:solidFill>
                  <a:srgbClr val="404040"/>
                </a:solidFill>
                <a:latin typeface="Arial"/>
              </a:rPr>
              <a:t>DEDAT value lens; fares rising</a:t>
            </a:r>
          </a:p>
        </p:txBody>
      </p:sp>
      <p:sp>
        <p:nvSpPr>
          <p:cNvPr id="113" name="Label badge"/>
          <p:cNvSpPr/>
          <p:nvPr/>
        </p:nvSpPr>
        <p:spPr>
          <a:xfrm>
            <a:off x="8778240" y="3977639"/>
            <a:ext cx="219456" cy="219456"/>
          </a:xfrm>
          <a:prstGeom prst="ellipse">
            <a:avLst/>
          </a:prstGeom>
          <a:solidFill>
            <a:srgbClr val="1F497D"/>
          </a:solidFill>
          <a:ln>
            <a:noFill/>
          </a:ln>
        </p:spPr>
        <p:txBody>
          <a:bodyPr rtlCol="0" anchor="ctr" wrap="square" lIns="0" rIns="0" tIns="0" bIns="0"/>
          <a:lstStyle/>
          <a:p>
            <a:pPr algn="ctr">
              <a:spcAft>
                <a:spcPts val="0"/>
              </a:spcAft>
            </a:pPr>
            <a:r>
              <a:rPr sz="900" b="1" i="0">
                <a:solidFill>
                  <a:srgbClr val="FFFFFF"/>
                </a:solidFill>
                <a:latin typeface="Arial"/>
              </a:rPr>
              <a:t>6</a:t>
            </a:r>
          </a:p>
        </p:txBody>
      </p:sp>
      <p:sp>
        <p:nvSpPr>
          <p:cNvPr id="114" name="TextBox 113"/>
          <p:cNvSpPr txBox="1"/>
          <p:nvPr/>
        </p:nvSpPr>
        <p:spPr>
          <a:xfrm>
            <a:off x="9089136" y="3959352"/>
            <a:ext cx="2645359" cy="45720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Convert hub traffic</a:t>
            </a:r>
          </a:p>
          <a:p>
            <a:pPr algn="l">
              <a:spcAft>
                <a:spcPts val="0"/>
              </a:spcAft>
            </a:pPr>
            <a:r>
              <a:rPr sz="900" b="0" i="0">
                <a:solidFill>
                  <a:srgbClr val="404040"/>
                </a:solidFill>
                <a:latin typeface="Arial"/>
              </a:rPr>
              <a:t>101,000 journeys via hubs a year</a:t>
            </a:r>
          </a:p>
        </p:txBody>
      </p:sp>
      <p:sp>
        <p:nvSpPr>
          <p:cNvPr id="115" name="Label badge"/>
          <p:cNvSpPr/>
          <p:nvPr/>
        </p:nvSpPr>
        <p:spPr>
          <a:xfrm>
            <a:off x="8778240" y="4443983"/>
            <a:ext cx="219456" cy="219456"/>
          </a:xfrm>
          <a:prstGeom prst="ellipse">
            <a:avLst/>
          </a:prstGeom>
          <a:solidFill>
            <a:srgbClr val="1F497D"/>
          </a:solidFill>
          <a:ln>
            <a:noFill/>
          </a:ln>
        </p:spPr>
        <p:txBody>
          <a:bodyPr rtlCol="0" anchor="ctr" wrap="square" lIns="0" rIns="0" tIns="0" bIns="0"/>
          <a:lstStyle/>
          <a:p>
            <a:pPr algn="ctr">
              <a:spcAft>
                <a:spcPts val="0"/>
              </a:spcAft>
            </a:pPr>
            <a:r>
              <a:rPr sz="900" b="1" i="0">
                <a:solidFill>
                  <a:srgbClr val="FFFFFF"/>
                </a:solidFill>
                <a:latin typeface="Arial"/>
              </a:rPr>
              <a:t>7</a:t>
            </a:r>
          </a:p>
        </p:txBody>
      </p:sp>
      <p:sp>
        <p:nvSpPr>
          <p:cNvPr id="116" name="TextBox 115"/>
          <p:cNvSpPr txBox="1"/>
          <p:nvPr/>
        </p:nvSpPr>
        <p:spPr>
          <a:xfrm>
            <a:off x="9089136" y="4425696"/>
            <a:ext cx="2645359" cy="45720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Add skills, untested</a:t>
            </a:r>
          </a:p>
          <a:p>
            <a:pPr algn="l">
              <a:spcAft>
                <a:spcPts val="0"/>
              </a:spcAft>
            </a:pPr>
            <a:r>
              <a:rPr sz="900" b="0" i="0">
                <a:solidFill>
                  <a:srgbClr val="404040"/>
                </a:solidFill>
                <a:latin typeface="Arial"/>
              </a:rPr>
              <a:t>Jobs goal has no labour analysis</a:t>
            </a:r>
          </a:p>
        </p:txBody>
      </p:sp>
      <p:sp>
        <p:nvSpPr>
          <p:cNvPr id="117" name="Label badge"/>
          <p:cNvSpPr/>
          <p:nvPr/>
        </p:nvSpPr>
        <p:spPr>
          <a:xfrm>
            <a:off x="8778240" y="4910328"/>
            <a:ext cx="219456" cy="219456"/>
          </a:xfrm>
          <a:prstGeom prst="ellipse">
            <a:avLst/>
          </a:prstGeom>
          <a:solidFill>
            <a:srgbClr val="1F497D"/>
          </a:solidFill>
          <a:ln>
            <a:noFill/>
          </a:ln>
        </p:spPr>
        <p:txBody>
          <a:bodyPr rtlCol="0" anchor="ctr" wrap="square" lIns="0" rIns="0" tIns="0" bIns="0"/>
          <a:lstStyle/>
          <a:p>
            <a:pPr algn="ctr">
              <a:spcAft>
                <a:spcPts val="0"/>
              </a:spcAft>
            </a:pPr>
            <a:r>
              <a:rPr sz="900" b="1" i="0">
                <a:solidFill>
                  <a:srgbClr val="FFFFFF"/>
                </a:solidFill>
                <a:latin typeface="Arial"/>
              </a:rPr>
              <a:t>8</a:t>
            </a:r>
          </a:p>
        </p:txBody>
      </p:sp>
      <p:sp>
        <p:nvSpPr>
          <p:cNvPr id="118" name="TextBox 117"/>
          <p:cNvSpPr txBox="1"/>
          <p:nvPr/>
        </p:nvSpPr>
        <p:spPr>
          <a:xfrm>
            <a:off x="9089136" y="4892040"/>
            <a:ext cx="2645359" cy="45720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Fund local bodies</a:t>
            </a:r>
          </a:p>
          <a:p>
            <a:pPr algn="l">
              <a:spcAft>
                <a:spcPts val="0"/>
              </a:spcAft>
            </a:pPr>
            <a:r>
              <a:rPr sz="900" b="0" i="0">
                <a:solidFill>
                  <a:srgbClr val="404040"/>
                </a:solidFill>
                <a:latin typeface="Arial"/>
              </a:rPr>
              <a:t>LTOs unfunded; Meiringspoort flood</a:t>
            </a:r>
          </a:p>
        </p:txBody>
      </p:sp>
      <p:sp>
        <p:nvSpPr>
          <p:cNvPr id="119" name="Label badge"/>
          <p:cNvSpPr/>
          <p:nvPr/>
        </p:nvSpPr>
        <p:spPr>
          <a:xfrm>
            <a:off x="8778240" y="5376672"/>
            <a:ext cx="219456" cy="219456"/>
          </a:xfrm>
          <a:prstGeom prst="ellipse">
            <a:avLst/>
          </a:prstGeom>
          <a:solidFill>
            <a:srgbClr val="1F497D"/>
          </a:solidFill>
          <a:ln>
            <a:noFill/>
          </a:ln>
        </p:spPr>
        <p:txBody>
          <a:bodyPr rtlCol="0" anchor="ctr" wrap="square" lIns="0" rIns="0" tIns="0" bIns="0"/>
          <a:lstStyle/>
          <a:p>
            <a:pPr algn="ctr">
              <a:spcAft>
                <a:spcPts val="0"/>
              </a:spcAft>
            </a:pPr>
            <a:r>
              <a:rPr sz="900" b="1" i="0">
                <a:solidFill>
                  <a:srgbClr val="FFFFFF"/>
                </a:solidFill>
                <a:latin typeface="Arial"/>
              </a:rPr>
              <a:t>9</a:t>
            </a:r>
          </a:p>
        </p:txBody>
      </p:sp>
      <p:sp>
        <p:nvSpPr>
          <p:cNvPr id="120" name="TextBox 119"/>
          <p:cNvSpPr txBox="1"/>
          <p:nvPr/>
        </p:nvSpPr>
        <p:spPr>
          <a:xfrm>
            <a:off x="9089136" y="5358384"/>
            <a:ext cx="2645359" cy="45720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Three-tier institutions</a:t>
            </a:r>
          </a:p>
          <a:p>
            <a:pPr algn="l">
              <a:spcAft>
                <a:spcPts val="0"/>
              </a:spcAft>
            </a:pPr>
            <a:r>
              <a:rPr sz="900" b="0" i="0">
                <a:solidFill>
                  <a:srgbClr val="404040"/>
                </a:solidFill>
                <a:latin typeface="Arial"/>
              </a:rPr>
              <a:t>Air rights and visas sit nationally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Seven findings carry the answer, and each rests on at least two deliverables</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05 | SYNTHESIS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As tagged on each card; pages in the speaker notes and appendix A1</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16</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457200" y="1371600"/>
            <a:ext cx="2716453" cy="2011680"/>
          </a:xfrm>
          <a:prstGeom prst="rect">
            <a:avLst/>
          </a:prstGeom>
          <a:solidFill>
            <a:srgbClr val="F2F2F2"/>
          </a:solidFill>
          <a:ln>
            <a:noFill/>
          </a:ln>
        </p:spPr>
        <p:txBody>
          <a:bodyPr rtlCol="0" anchor="ctr"/>
          <a:lstStyle/>
          <a:p>
            <a:pPr algn="ctr"/>
          </a:p>
        </p:txBody>
      </p:sp>
      <p:sp>
        <p:nvSpPr>
          <p:cNvPr id="9" name="Rectangle 8"/>
          <p:cNvSpPr/>
          <p:nvPr/>
        </p:nvSpPr>
        <p:spPr>
          <a:xfrm>
            <a:off x="457200" y="1371600"/>
            <a:ext cx="2716453" cy="54864"/>
          </a:xfrm>
          <a:prstGeom prst="rect">
            <a:avLst/>
          </a:prstGeom>
          <a:solidFill>
            <a:srgbClr val="00AEEF"/>
          </a:solidFill>
          <a:ln>
            <a:noFill/>
          </a:ln>
        </p:spPr>
        <p:txBody>
          <a:bodyPr rtlCol="0" anchor="ctr"/>
          <a:lstStyle/>
          <a:p>
            <a:pPr algn="ctr"/>
          </a:p>
        </p:txBody>
      </p:sp>
      <p:sp>
        <p:nvSpPr>
          <p:cNvPr id="10" name="Label num"/>
          <p:cNvSpPr txBox="1"/>
          <p:nvPr/>
        </p:nvSpPr>
        <p:spPr>
          <a:xfrm>
            <a:off x="594360" y="1499616"/>
            <a:ext cx="457200" cy="274320"/>
          </a:xfrm>
          <a:prstGeom prst="rect">
            <a:avLst/>
          </a:prstGeom>
          <a:noFill/>
        </p:spPr>
        <p:txBody>
          <a:bodyPr wrap="square" anchor="t" lIns="0" rIns="0" tIns="0" bIns="0">
            <a:spAutoFit/>
          </a:bodyPr>
          <a:lstStyle/>
          <a:p>
            <a:pPr algn="l">
              <a:spcAft>
                <a:spcPts val="0"/>
              </a:spcAft>
            </a:pPr>
            <a:r>
              <a:rPr sz="1100" b="1" i="0">
                <a:solidFill>
                  <a:srgbClr val="00AEEF"/>
                </a:solidFill>
                <a:latin typeface="Arial"/>
              </a:rPr>
              <a:t>01</a:t>
            </a:r>
          </a:p>
        </p:txBody>
      </p:sp>
      <p:sp>
        <p:nvSpPr>
          <p:cNvPr id="11" name="TextBox 10"/>
          <p:cNvSpPr txBox="1"/>
          <p:nvPr/>
        </p:nvSpPr>
        <p:spPr>
          <a:xfrm>
            <a:off x="594360" y="1719072"/>
            <a:ext cx="2442133" cy="457200"/>
          </a:xfrm>
          <a:prstGeom prst="rect">
            <a:avLst/>
          </a:prstGeom>
          <a:noFill/>
        </p:spPr>
        <p:txBody>
          <a:bodyPr wrap="square" anchor="b" lIns="0" rIns="0" tIns="0" bIns="0">
            <a:spAutoFit/>
          </a:bodyPr>
          <a:lstStyle/>
          <a:p>
            <a:pPr algn="l">
              <a:spcAft>
                <a:spcPts val="0"/>
              </a:spcAft>
            </a:pPr>
            <a:r>
              <a:rPr sz="2400" b="1" i="0">
                <a:solidFill>
                  <a:srgbClr val="1F497D"/>
                </a:solidFill>
                <a:latin typeface="Arial"/>
              </a:rPr>
              <a:t>6.4%</a:t>
            </a:r>
          </a:p>
        </p:txBody>
      </p:sp>
      <p:sp>
        <p:nvSpPr>
          <p:cNvPr id="12" name="TextBox 11"/>
          <p:cNvSpPr txBox="1"/>
          <p:nvPr/>
        </p:nvSpPr>
        <p:spPr>
          <a:xfrm>
            <a:off x="594360" y="2240280"/>
            <a:ext cx="2442133" cy="548640"/>
          </a:xfrm>
          <a:prstGeom prst="rect">
            <a:avLst/>
          </a:prstGeom>
          <a:noFill/>
        </p:spPr>
        <p:txBody>
          <a:bodyPr wrap="square" anchor="t" lIns="0" rIns="0" tIns="0" bIns="0">
            <a:spAutoFit/>
          </a:bodyPr>
          <a:lstStyle/>
          <a:p>
            <a:pPr algn="l">
              <a:spcAft>
                <a:spcPts val="0"/>
              </a:spcAft>
            </a:pPr>
            <a:r>
              <a:rPr sz="1050" b="0" i="0">
                <a:solidFill>
                  <a:srgbClr val="404040"/>
                </a:solidFill>
                <a:latin typeface="Arial"/>
              </a:rPr>
              <a:t>of annual seats fly in June.</a:t>
            </a:r>
          </a:p>
        </p:txBody>
      </p:sp>
      <p:sp>
        <p:nvSpPr>
          <p:cNvPr id="13" name="TextBox 12"/>
          <p:cNvSpPr txBox="1"/>
          <p:nvPr/>
        </p:nvSpPr>
        <p:spPr>
          <a:xfrm>
            <a:off x="594360" y="2788920"/>
            <a:ext cx="2442133" cy="274320"/>
          </a:xfrm>
          <a:prstGeom prst="rect">
            <a:avLst/>
          </a:prstGeom>
          <a:noFill/>
        </p:spPr>
        <p:txBody>
          <a:bodyPr wrap="square" anchor="t" lIns="0" rIns="0" tIns="0" bIns="0">
            <a:spAutoFit/>
          </a:bodyPr>
          <a:lstStyle/>
          <a:p>
            <a:pPr algn="l">
              <a:spcAft>
                <a:spcPts val="0"/>
              </a:spcAft>
            </a:pPr>
            <a:r>
              <a:rPr sz="1050" b="1" i="0">
                <a:solidFill>
                  <a:srgbClr val="1F497D"/>
                </a:solidFill>
                <a:latin typeface="Arial"/>
              </a:rPr>
              <a:t>Create green-season demand.</a:t>
            </a:r>
          </a:p>
        </p:txBody>
      </p:sp>
      <p:sp>
        <p:nvSpPr>
          <p:cNvPr id="14" name="Label tags"/>
          <p:cNvSpPr txBox="1"/>
          <p:nvPr/>
        </p:nvSpPr>
        <p:spPr>
          <a:xfrm>
            <a:off x="594360" y="3090672"/>
            <a:ext cx="2442133" cy="228600"/>
          </a:xfrm>
          <a:prstGeom prst="rect">
            <a:avLst/>
          </a:prstGeom>
          <a:noFill/>
        </p:spPr>
        <p:txBody>
          <a:bodyPr wrap="square" anchor="t" lIns="0" rIns="0" tIns="0" bIns="0">
            <a:spAutoFit/>
          </a:bodyPr>
          <a:lstStyle/>
          <a:p>
            <a:pPr algn="l">
              <a:spcAft>
                <a:spcPts val="0"/>
              </a:spcAft>
            </a:pPr>
            <a:r>
              <a:rPr sz="850" b="0" i="1">
                <a:solidFill>
                  <a:srgbClr val="7F7F7F"/>
                </a:solidFill>
                <a:latin typeface="Arial"/>
              </a:rPr>
              <a:t>MIDAS | Demand-Side | Stakeholder</a:t>
            </a:r>
          </a:p>
        </p:txBody>
      </p:sp>
      <p:sp>
        <p:nvSpPr>
          <p:cNvPr id="15" name="Rectangle 14"/>
          <p:cNvSpPr/>
          <p:nvPr/>
        </p:nvSpPr>
        <p:spPr>
          <a:xfrm>
            <a:off x="3310813" y="1371600"/>
            <a:ext cx="2716453" cy="2011680"/>
          </a:xfrm>
          <a:prstGeom prst="rect">
            <a:avLst/>
          </a:prstGeom>
          <a:solidFill>
            <a:srgbClr val="F2F2F2"/>
          </a:solidFill>
          <a:ln>
            <a:noFill/>
          </a:ln>
        </p:spPr>
        <p:txBody>
          <a:bodyPr rtlCol="0" anchor="ctr"/>
          <a:lstStyle/>
          <a:p>
            <a:pPr algn="ctr"/>
          </a:p>
        </p:txBody>
      </p:sp>
      <p:sp>
        <p:nvSpPr>
          <p:cNvPr id="16" name="Rectangle 15"/>
          <p:cNvSpPr/>
          <p:nvPr/>
        </p:nvSpPr>
        <p:spPr>
          <a:xfrm>
            <a:off x="3310813" y="1371600"/>
            <a:ext cx="2716453" cy="54864"/>
          </a:xfrm>
          <a:prstGeom prst="rect">
            <a:avLst/>
          </a:prstGeom>
          <a:solidFill>
            <a:srgbClr val="00AEEF"/>
          </a:solidFill>
          <a:ln>
            <a:noFill/>
          </a:ln>
        </p:spPr>
        <p:txBody>
          <a:bodyPr rtlCol="0" anchor="ctr"/>
          <a:lstStyle/>
          <a:p>
            <a:pPr algn="ctr"/>
          </a:p>
        </p:txBody>
      </p:sp>
      <p:sp>
        <p:nvSpPr>
          <p:cNvPr id="17" name="Label num"/>
          <p:cNvSpPr txBox="1"/>
          <p:nvPr/>
        </p:nvSpPr>
        <p:spPr>
          <a:xfrm>
            <a:off x="3447973" y="1499616"/>
            <a:ext cx="457200" cy="274320"/>
          </a:xfrm>
          <a:prstGeom prst="rect">
            <a:avLst/>
          </a:prstGeom>
          <a:noFill/>
        </p:spPr>
        <p:txBody>
          <a:bodyPr wrap="square" anchor="t" lIns="0" rIns="0" tIns="0" bIns="0">
            <a:spAutoFit/>
          </a:bodyPr>
          <a:lstStyle/>
          <a:p>
            <a:pPr algn="l">
              <a:spcAft>
                <a:spcPts val="0"/>
              </a:spcAft>
            </a:pPr>
            <a:r>
              <a:rPr sz="1100" b="1" i="0">
                <a:solidFill>
                  <a:srgbClr val="00AEEF"/>
                </a:solidFill>
                <a:latin typeface="Arial"/>
              </a:rPr>
              <a:t>02</a:t>
            </a:r>
          </a:p>
        </p:txBody>
      </p:sp>
      <p:sp>
        <p:nvSpPr>
          <p:cNvPr id="18" name="TextBox 17"/>
          <p:cNvSpPr txBox="1"/>
          <p:nvPr/>
        </p:nvSpPr>
        <p:spPr>
          <a:xfrm>
            <a:off x="3447973" y="1719072"/>
            <a:ext cx="2442133" cy="457200"/>
          </a:xfrm>
          <a:prstGeom prst="rect">
            <a:avLst/>
          </a:prstGeom>
          <a:noFill/>
        </p:spPr>
        <p:txBody>
          <a:bodyPr wrap="square" anchor="b" lIns="0" rIns="0" tIns="0" bIns="0">
            <a:spAutoFit/>
          </a:bodyPr>
          <a:lstStyle/>
          <a:p>
            <a:pPr algn="l">
              <a:spcAft>
                <a:spcPts val="0"/>
              </a:spcAft>
            </a:pPr>
            <a:r>
              <a:rPr sz="2400" b="1" i="0">
                <a:solidFill>
                  <a:srgbClr val="1F497D"/>
                </a:solidFill>
                <a:latin typeface="Arial"/>
              </a:rPr>
              <a:t>11 routes</a:t>
            </a:r>
          </a:p>
        </p:txBody>
      </p:sp>
      <p:sp>
        <p:nvSpPr>
          <p:cNvPr id="19" name="TextBox 18"/>
          <p:cNvSpPr txBox="1"/>
          <p:nvPr/>
        </p:nvSpPr>
        <p:spPr>
          <a:xfrm>
            <a:off x="3447973" y="2240280"/>
            <a:ext cx="2442133" cy="548640"/>
          </a:xfrm>
          <a:prstGeom prst="rect">
            <a:avLst/>
          </a:prstGeom>
          <a:noFill/>
        </p:spPr>
        <p:txBody>
          <a:bodyPr wrap="square" anchor="t" lIns="0" rIns="0" tIns="0" bIns="0">
            <a:spAutoFit/>
          </a:bodyPr>
          <a:lstStyle/>
          <a:p>
            <a:pPr algn="l">
              <a:spcAft>
                <a:spcPts val="0"/>
              </a:spcAft>
            </a:pPr>
            <a:r>
              <a:rPr sz="1050" b="0" i="0">
                <a:solidFill>
                  <a:srgbClr val="404040"/>
                </a:solidFill>
                <a:latin typeface="Arial"/>
              </a:rPr>
              <a:t>run above 80% estimated load.</a:t>
            </a:r>
          </a:p>
        </p:txBody>
      </p:sp>
      <p:sp>
        <p:nvSpPr>
          <p:cNvPr id="20" name="TextBox 19"/>
          <p:cNvSpPr txBox="1"/>
          <p:nvPr/>
        </p:nvSpPr>
        <p:spPr>
          <a:xfrm>
            <a:off x="3447973" y="2788920"/>
            <a:ext cx="2442133" cy="274320"/>
          </a:xfrm>
          <a:prstGeom prst="rect">
            <a:avLst/>
          </a:prstGeom>
          <a:noFill/>
        </p:spPr>
        <p:txBody>
          <a:bodyPr wrap="square" anchor="t" lIns="0" rIns="0" tIns="0" bIns="0">
            <a:spAutoFit/>
          </a:bodyPr>
          <a:lstStyle/>
          <a:p>
            <a:pPr algn="l">
              <a:spcAft>
                <a:spcPts val="0"/>
              </a:spcAft>
            </a:pPr>
            <a:r>
              <a:rPr sz="1050" b="1" i="0">
                <a:solidFill>
                  <a:srgbClr val="1F497D"/>
                </a:solidFill>
                <a:latin typeface="Arial"/>
              </a:rPr>
              <a:t>Underwrite frequency.</a:t>
            </a:r>
          </a:p>
        </p:txBody>
      </p:sp>
      <p:sp>
        <p:nvSpPr>
          <p:cNvPr id="21" name="Label tags"/>
          <p:cNvSpPr txBox="1"/>
          <p:nvPr/>
        </p:nvSpPr>
        <p:spPr>
          <a:xfrm>
            <a:off x="3447973" y="3090672"/>
            <a:ext cx="2442133" cy="228600"/>
          </a:xfrm>
          <a:prstGeom prst="rect">
            <a:avLst/>
          </a:prstGeom>
          <a:noFill/>
        </p:spPr>
        <p:txBody>
          <a:bodyPr wrap="square" anchor="t" lIns="0" rIns="0" tIns="0" bIns="0">
            <a:spAutoFit/>
          </a:bodyPr>
          <a:lstStyle/>
          <a:p>
            <a:pPr algn="l">
              <a:spcAft>
                <a:spcPts val="0"/>
              </a:spcAft>
            </a:pPr>
            <a:r>
              <a:rPr sz="850" b="0" i="1">
                <a:solidFill>
                  <a:srgbClr val="7F7F7F"/>
                </a:solidFill>
                <a:latin typeface="Arial"/>
              </a:rPr>
              <a:t>MIDAS | Demand-Side</a:t>
            </a:r>
          </a:p>
        </p:txBody>
      </p:sp>
      <p:sp>
        <p:nvSpPr>
          <p:cNvPr id="22" name="Rectangle 21"/>
          <p:cNvSpPr/>
          <p:nvPr/>
        </p:nvSpPr>
        <p:spPr>
          <a:xfrm>
            <a:off x="6164427" y="1371600"/>
            <a:ext cx="2716453" cy="2011680"/>
          </a:xfrm>
          <a:prstGeom prst="rect">
            <a:avLst/>
          </a:prstGeom>
          <a:solidFill>
            <a:srgbClr val="F2F2F2"/>
          </a:solidFill>
          <a:ln>
            <a:noFill/>
          </a:ln>
        </p:spPr>
        <p:txBody>
          <a:bodyPr rtlCol="0" anchor="ctr"/>
          <a:lstStyle/>
          <a:p>
            <a:pPr algn="ctr"/>
          </a:p>
        </p:txBody>
      </p:sp>
      <p:sp>
        <p:nvSpPr>
          <p:cNvPr id="23" name="Rectangle 22"/>
          <p:cNvSpPr/>
          <p:nvPr/>
        </p:nvSpPr>
        <p:spPr>
          <a:xfrm>
            <a:off x="6164427" y="1371600"/>
            <a:ext cx="2716453" cy="54864"/>
          </a:xfrm>
          <a:prstGeom prst="rect">
            <a:avLst/>
          </a:prstGeom>
          <a:solidFill>
            <a:srgbClr val="00AEEF"/>
          </a:solidFill>
          <a:ln>
            <a:noFill/>
          </a:ln>
        </p:spPr>
        <p:txBody>
          <a:bodyPr rtlCol="0" anchor="ctr"/>
          <a:lstStyle/>
          <a:p>
            <a:pPr algn="ctr"/>
          </a:p>
        </p:txBody>
      </p:sp>
      <p:sp>
        <p:nvSpPr>
          <p:cNvPr id="24" name="Label num"/>
          <p:cNvSpPr txBox="1"/>
          <p:nvPr/>
        </p:nvSpPr>
        <p:spPr>
          <a:xfrm>
            <a:off x="6301587" y="1499616"/>
            <a:ext cx="457200" cy="274320"/>
          </a:xfrm>
          <a:prstGeom prst="rect">
            <a:avLst/>
          </a:prstGeom>
          <a:noFill/>
        </p:spPr>
        <p:txBody>
          <a:bodyPr wrap="square" anchor="t" lIns="0" rIns="0" tIns="0" bIns="0">
            <a:spAutoFit/>
          </a:bodyPr>
          <a:lstStyle/>
          <a:p>
            <a:pPr algn="l">
              <a:spcAft>
                <a:spcPts val="0"/>
              </a:spcAft>
            </a:pPr>
            <a:r>
              <a:rPr sz="1100" b="1" i="0">
                <a:solidFill>
                  <a:srgbClr val="00AEEF"/>
                </a:solidFill>
                <a:latin typeface="Arial"/>
              </a:rPr>
              <a:t>03</a:t>
            </a:r>
          </a:p>
        </p:txBody>
      </p:sp>
      <p:sp>
        <p:nvSpPr>
          <p:cNvPr id="25" name="TextBox 24"/>
          <p:cNvSpPr txBox="1"/>
          <p:nvPr/>
        </p:nvSpPr>
        <p:spPr>
          <a:xfrm>
            <a:off x="6301587" y="1719072"/>
            <a:ext cx="2442133" cy="457200"/>
          </a:xfrm>
          <a:prstGeom prst="rect">
            <a:avLst/>
          </a:prstGeom>
          <a:noFill/>
        </p:spPr>
        <p:txBody>
          <a:bodyPr wrap="square" anchor="b" lIns="0" rIns="0" tIns="0" bIns="0">
            <a:spAutoFit/>
          </a:bodyPr>
          <a:lstStyle/>
          <a:p>
            <a:pPr algn="l">
              <a:spcAft>
                <a:spcPts val="0"/>
              </a:spcAft>
            </a:pPr>
            <a:r>
              <a:rPr sz="2400" b="1" i="0">
                <a:solidFill>
                  <a:srgbClr val="1F497D"/>
                </a:solidFill>
                <a:latin typeface="Arial"/>
              </a:rPr>
              <a:t>101,000</a:t>
            </a:r>
          </a:p>
        </p:txBody>
      </p:sp>
      <p:sp>
        <p:nvSpPr>
          <p:cNvPr id="26" name="TextBox 25"/>
          <p:cNvSpPr txBox="1"/>
          <p:nvPr/>
        </p:nvSpPr>
        <p:spPr>
          <a:xfrm>
            <a:off x="6301587" y="2240280"/>
            <a:ext cx="2442133" cy="548640"/>
          </a:xfrm>
          <a:prstGeom prst="rect">
            <a:avLst/>
          </a:prstGeom>
          <a:noFill/>
        </p:spPr>
        <p:txBody>
          <a:bodyPr wrap="square" anchor="t" lIns="0" rIns="0" tIns="0" bIns="0">
            <a:spAutoFit/>
          </a:bodyPr>
          <a:lstStyle/>
          <a:p>
            <a:pPr algn="l">
              <a:spcAft>
                <a:spcPts val="0"/>
              </a:spcAft>
            </a:pPr>
            <a:r>
              <a:rPr sz="1050" b="0" i="0">
                <a:solidFill>
                  <a:srgbClr val="404040"/>
                </a:solidFill>
                <a:latin typeface="Arial"/>
              </a:rPr>
              <a:t>India and China journeys route via hubs.</a:t>
            </a:r>
          </a:p>
        </p:txBody>
      </p:sp>
      <p:sp>
        <p:nvSpPr>
          <p:cNvPr id="27" name="TextBox 26"/>
          <p:cNvSpPr txBox="1"/>
          <p:nvPr/>
        </p:nvSpPr>
        <p:spPr>
          <a:xfrm>
            <a:off x="6301587" y="2788920"/>
            <a:ext cx="2442133" cy="274320"/>
          </a:xfrm>
          <a:prstGeom prst="rect">
            <a:avLst/>
          </a:prstGeom>
          <a:noFill/>
        </p:spPr>
        <p:txBody>
          <a:bodyPr wrap="square" anchor="t" lIns="0" rIns="0" tIns="0" bIns="0">
            <a:spAutoFit/>
          </a:bodyPr>
          <a:lstStyle/>
          <a:p>
            <a:pPr algn="l">
              <a:spcAft>
                <a:spcPts val="0"/>
              </a:spcAft>
            </a:pPr>
            <a:r>
              <a:rPr sz="1050" b="1" i="0">
                <a:solidFill>
                  <a:srgbClr val="1F497D"/>
                </a:solidFill>
                <a:latin typeface="Arial"/>
              </a:rPr>
              <a:t>Convert hub traffic.</a:t>
            </a:r>
          </a:p>
        </p:txBody>
      </p:sp>
      <p:sp>
        <p:nvSpPr>
          <p:cNvPr id="28" name="Label tags"/>
          <p:cNvSpPr txBox="1"/>
          <p:nvPr/>
        </p:nvSpPr>
        <p:spPr>
          <a:xfrm>
            <a:off x="6301587" y="3090672"/>
            <a:ext cx="2442133" cy="228600"/>
          </a:xfrm>
          <a:prstGeom prst="rect">
            <a:avLst/>
          </a:prstGeom>
          <a:noFill/>
        </p:spPr>
        <p:txBody>
          <a:bodyPr wrap="square" anchor="t" lIns="0" rIns="0" tIns="0" bIns="0">
            <a:spAutoFit/>
          </a:bodyPr>
          <a:lstStyle/>
          <a:p>
            <a:pPr algn="l">
              <a:spcAft>
                <a:spcPts val="0"/>
              </a:spcAft>
            </a:pPr>
            <a:r>
              <a:rPr sz="850" b="0" i="1">
                <a:solidFill>
                  <a:srgbClr val="7F7F7F"/>
                </a:solidFill>
                <a:latin typeface="Arial"/>
              </a:rPr>
              <a:t>MIDAS | Demand-Side</a:t>
            </a:r>
          </a:p>
        </p:txBody>
      </p:sp>
      <p:sp>
        <p:nvSpPr>
          <p:cNvPr id="29" name="Rectangle 28"/>
          <p:cNvSpPr/>
          <p:nvPr/>
        </p:nvSpPr>
        <p:spPr>
          <a:xfrm>
            <a:off x="9018041" y="1371600"/>
            <a:ext cx="2716453" cy="2011680"/>
          </a:xfrm>
          <a:prstGeom prst="rect">
            <a:avLst/>
          </a:prstGeom>
          <a:solidFill>
            <a:srgbClr val="F2F2F2"/>
          </a:solidFill>
          <a:ln>
            <a:noFill/>
          </a:ln>
        </p:spPr>
        <p:txBody>
          <a:bodyPr rtlCol="0" anchor="ctr"/>
          <a:lstStyle/>
          <a:p>
            <a:pPr algn="ctr"/>
          </a:p>
        </p:txBody>
      </p:sp>
      <p:sp>
        <p:nvSpPr>
          <p:cNvPr id="30" name="Rectangle 29"/>
          <p:cNvSpPr/>
          <p:nvPr/>
        </p:nvSpPr>
        <p:spPr>
          <a:xfrm>
            <a:off x="9018041" y="1371600"/>
            <a:ext cx="2716453" cy="54864"/>
          </a:xfrm>
          <a:prstGeom prst="rect">
            <a:avLst/>
          </a:prstGeom>
          <a:solidFill>
            <a:srgbClr val="00AEEF"/>
          </a:solidFill>
          <a:ln>
            <a:noFill/>
          </a:ln>
        </p:spPr>
        <p:txBody>
          <a:bodyPr rtlCol="0" anchor="ctr"/>
          <a:lstStyle/>
          <a:p>
            <a:pPr algn="ctr"/>
          </a:p>
        </p:txBody>
      </p:sp>
      <p:sp>
        <p:nvSpPr>
          <p:cNvPr id="31" name="Label num"/>
          <p:cNvSpPr txBox="1"/>
          <p:nvPr/>
        </p:nvSpPr>
        <p:spPr>
          <a:xfrm>
            <a:off x="9155201" y="1499616"/>
            <a:ext cx="457200" cy="274320"/>
          </a:xfrm>
          <a:prstGeom prst="rect">
            <a:avLst/>
          </a:prstGeom>
          <a:noFill/>
        </p:spPr>
        <p:txBody>
          <a:bodyPr wrap="square" anchor="t" lIns="0" rIns="0" tIns="0" bIns="0">
            <a:spAutoFit/>
          </a:bodyPr>
          <a:lstStyle/>
          <a:p>
            <a:pPr algn="l">
              <a:spcAft>
                <a:spcPts val="0"/>
              </a:spcAft>
            </a:pPr>
            <a:r>
              <a:rPr sz="1100" b="1" i="0">
                <a:solidFill>
                  <a:srgbClr val="00AEEF"/>
                </a:solidFill>
                <a:latin typeface="Arial"/>
              </a:rPr>
              <a:t>04</a:t>
            </a:r>
          </a:p>
        </p:txBody>
      </p:sp>
      <p:sp>
        <p:nvSpPr>
          <p:cNvPr id="32" name="TextBox 31"/>
          <p:cNvSpPr txBox="1"/>
          <p:nvPr/>
        </p:nvSpPr>
        <p:spPr>
          <a:xfrm>
            <a:off x="9155201" y="1719072"/>
            <a:ext cx="2442133" cy="457200"/>
          </a:xfrm>
          <a:prstGeom prst="rect">
            <a:avLst/>
          </a:prstGeom>
          <a:noFill/>
        </p:spPr>
        <p:txBody>
          <a:bodyPr wrap="square" anchor="b" lIns="0" rIns="0" tIns="0" bIns="0">
            <a:spAutoFit/>
          </a:bodyPr>
          <a:lstStyle/>
          <a:p>
            <a:pPr algn="l">
              <a:spcAft>
                <a:spcPts val="0"/>
              </a:spcAft>
            </a:pPr>
            <a:r>
              <a:rPr sz="2400" b="1" i="0">
                <a:solidFill>
                  <a:srgbClr val="1F497D"/>
                </a:solidFill>
                <a:latin typeface="Arial"/>
              </a:rPr>
              <a:t>70%</a:t>
            </a:r>
          </a:p>
        </p:txBody>
      </p:sp>
      <p:sp>
        <p:nvSpPr>
          <p:cNvPr id="33" name="TextBox 32"/>
          <p:cNvSpPr txBox="1"/>
          <p:nvPr/>
        </p:nvSpPr>
        <p:spPr>
          <a:xfrm>
            <a:off x="9155201" y="2240280"/>
            <a:ext cx="2442133" cy="548640"/>
          </a:xfrm>
          <a:prstGeom prst="rect">
            <a:avLst/>
          </a:prstGeom>
          <a:noFill/>
        </p:spPr>
        <p:txBody>
          <a:bodyPr wrap="square" anchor="t" lIns="0" rIns="0" tIns="0" bIns="0">
            <a:spAutoFit/>
          </a:bodyPr>
          <a:lstStyle/>
          <a:p>
            <a:pPr algn="l">
              <a:spcAft>
                <a:spcPts val="0"/>
              </a:spcAft>
            </a:pPr>
            <a:r>
              <a:rPr sz="1050" b="0" i="0">
                <a:solidFill>
                  <a:srgbClr val="404040"/>
                </a:solidFill>
                <a:latin typeface="Arial"/>
              </a:rPr>
              <a:t>of CapeNature bookings come by phone.</a:t>
            </a:r>
          </a:p>
        </p:txBody>
      </p:sp>
      <p:sp>
        <p:nvSpPr>
          <p:cNvPr id="34" name="TextBox 33"/>
          <p:cNvSpPr txBox="1"/>
          <p:nvPr/>
        </p:nvSpPr>
        <p:spPr>
          <a:xfrm>
            <a:off x="9155201" y="2788920"/>
            <a:ext cx="2442133" cy="274320"/>
          </a:xfrm>
          <a:prstGeom prst="rect">
            <a:avLst/>
          </a:prstGeom>
          <a:noFill/>
        </p:spPr>
        <p:txBody>
          <a:bodyPr wrap="square" anchor="t" lIns="0" rIns="0" tIns="0" bIns="0">
            <a:spAutoFit/>
          </a:bodyPr>
          <a:lstStyle/>
          <a:p>
            <a:pPr algn="l">
              <a:spcAft>
                <a:spcPts val="0"/>
              </a:spcAft>
            </a:pPr>
            <a:r>
              <a:rPr sz="1050" b="1" i="0">
                <a:solidFill>
                  <a:srgbClr val="1F497D"/>
                </a:solidFill>
                <a:latin typeface="Arial"/>
              </a:rPr>
              <a:t>Make it bookable.</a:t>
            </a:r>
          </a:p>
        </p:txBody>
      </p:sp>
      <p:sp>
        <p:nvSpPr>
          <p:cNvPr id="35" name="Label tags"/>
          <p:cNvSpPr txBox="1"/>
          <p:nvPr/>
        </p:nvSpPr>
        <p:spPr>
          <a:xfrm>
            <a:off x="9155201" y="3090672"/>
            <a:ext cx="2442133" cy="228600"/>
          </a:xfrm>
          <a:prstGeom prst="rect">
            <a:avLst/>
          </a:prstGeom>
          <a:noFill/>
        </p:spPr>
        <p:txBody>
          <a:bodyPr wrap="square" anchor="t" lIns="0" rIns="0" tIns="0" bIns="0">
            <a:spAutoFit/>
          </a:bodyPr>
          <a:lstStyle/>
          <a:p>
            <a:pPr algn="l">
              <a:spcAft>
                <a:spcPts val="0"/>
              </a:spcAft>
            </a:pPr>
            <a:r>
              <a:rPr sz="850" b="0" i="1">
                <a:solidFill>
                  <a:srgbClr val="7F7F7F"/>
                </a:solidFill>
                <a:latin typeface="Arial"/>
              </a:rPr>
              <a:t>Stakeholder | Infrastructure | Demand-Side</a:t>
            </a:r>
          </a:p>
        </p:txBody>
      </p:sp>
      <p:sp>
        <p:nvSpPr>
          <p:cNvPr id="36" name="Rectangle 35"/>
          <p:cNvSpPr/>
          <p:nvPr/>
        </p:nvSpPr>
        <p:spPr>
          <a:xfrm>
            <a:off x="457200" y="3520440"/>
            <a:ext cx="3667658" cy="2011680"/>
          </a:xfrm>
          <a:prstGeom prst="rect">
            <a:avLst/>
          </a:prstGeom>
          <a:solidFill>
            <a:srgbClr val="F2F2F2"/>
          </a:solidFill>
          <a:ln>
            <a:noFill/>
          </a:ln>
        </p:spPr>
        <p:txBody>
          <a:bodyPr rtlCol="0" anchor="ctr"/>
          <a:lstStyle/>
          <a:p>
            <a:pPr algn="ctr"/>
          </a:p>
        </p:txBody>
      </p:sp>
      <p:sp>
        <p:nvSpPr>
          <p:cNvPr id="37" name="Rectangle 36"/>
          <p:cNvSpPr/>
          <p:nvPr/>
        </p:nvSpPr>
        <p:spPr>
          <a:xfrm>
            <a:off x="457200" y="3520440"/>
            <a:ext cx="3667658" cy="54864"/>
          </a:xfrm>
          <a:prstGeom prst="rect">
            <a:avLst/>
          </a:prstGeom>
          <a:solidFill>
            <a:srgbClr val="00AEEF"/>
          </a:solidFill>
          <a:ln>
            <a:noFill/>
          </a:ln>
        </p:spPr>
        <p:txBody>
          <a:bodyPr rtlCol="0" anchor="ctr"/>
          <a:lstStyle/>
          <a:p>
            <a:pPr algn="ctr"/>
          </a:p>
        </p:txBody>
      </p:sp>
      <p:sp>
        <p:nvSpPr>
          <p:cNvPr id="38" name="Label num"/>
          <p:cNvSpPr txBox="1"/>
          <p:nvPr/>
        </p:nvSpPr>
        <p:spPr>
          <a:xfrm>
            <a:off x="594360" y="3648456"/>
            <a:ext cx="457200" cy="274320"/>
          </a:xfrm>
          <a:prstGeom prst="rect">
            <a:avLst/>
          </a:prstGeom>
          <a:noFill/>
        </p:spPr>
        <p:txBody>
          <a:bodyPr wrap="square" anchor="t" lIns="0" rIns="0" tIns="0" bIns="0">
            <a:spAutoFit/>
          </a:bodyPr>
          <a:lstStyle/>
          <a:p>
            <a:pPr algn="l">
              <a:spcAft>
                <a:spcPts val="0"/>
              </a:spcAft>
            </a:pPr>
            <a:r>
              <a:rPr sz="1100" b="1" i="0">
                <a:solidFill>
                  <a:srgbClr val="00AEEF"/>
                </a:solidFill>
                <a:latin typeface="Arial"/>
              </a:rPr>
              <a:t>05</a:t>
            </a:r>
          </a:p>
        </p:txBody>
      </p:sp>
      <p:sp>
        <p:nvSpPr>
          <p:cNvPr id="39" name="TextBox 38"/>
          <p:cNvSpPr txBox="1"/>
          <p:nvPr/>
        </p:nvSpPr>
        <p:spPr>
          <a:xfrm>
            <a:off x="594360" y="3867912"/>
            <a:ext cx="3393338" cy="457200"/>
          </a:xfrm>
          <a:prstGeom prst="rect">
            <a:avLst/>
          </a:prstGeom>
          <a:noFill/>
        </p:spPr>
        <p:txBody>
          <a:bodyPr wrap="square" anchor="b" lIns="0" rIns="0" tIns="0" bIns="0">
            <a:spAutoFit/>
          </a:bodyPr>
          <a:lstStyle/>
          <a:p>
            <a:pPr algn="l">
              <a:spcAft>
                <a:spcPts val="0"/>
              </a:spcAft>
            </a:pPr>
            <a:r>
              <a:rPr sz="2400" b="1" i="0">
                <a:solidFill>
                  <a:srgbClr val="1F497D"/>
                </a:solidFill>
                <a:latin typeface="Arial"/>
              </a:rPr>
              <a:t>4.7 to 1.0</a:t>
            </a:r>
          </a:p>
        </p:txBody>
      </p:sp>
      <p:sp>
        <p:nvSpPr>
          <p:cNvPr id="40" name="TextBox 39"/>
          <p:cNvSpPr txBox="1"/>
          <p:nvPr/>
        </p:nvSpPr>
        <p:spPr>
          <a:xfrm>
            <a:off x="594360" y="4389120"/>
            <a:ext cx="3393338" cy="548640"/>
          </a:xfrm>
          <a:prstGeom prst="rect">
            <a:avLst/>
          </a:prstGeom>
          <a:noFill/>
        </p:spPr>
        <p:txBody>
          <a:bodyPr wrap="square" anchor="t" lIns="0" rIns="0" tIns="0" bIns="0">
            <a:spAutoFit/>
          </a:bodyPr>
          <a:lstStyle/>
          <a:p>
            <a:pPr algn="l">
              <a:spcAft>
                <a:spcPts val="0"/>
              </a:spcAft>
            </a:pPr>
            <a:r>
              <a:rPr sz="1050" b="0" i="0">
                <a:solidFill>
                  <a:srgbClr val="404040"/>
                </a:solidFill>
                <a:latin typeface="Arial"/>
              </a:rPr>
              <a:t>is the fall in access, Metro to Karoo.</a:t>
            </a:r>
          </a:p>
        </p:txBody>
      </p:sp>
      <p:sp>
        <p:nvSpPr>
          <p:cNvPr id="41" name="TextBox 40"/>
          <p:cNvSpPr txBox="1"/>
          <p:nvPr/>
        </p:nvSpPr>
        <p:spPr>
          <a:xfrm>
            <a:off x="594360" y="4937760"/>
            <a:ext cx="3393338" cy="274320"/>
          </a:xfrm>
          <a:prstGeom prst="rect">
            <a:avLst/>
          </a:prstGeom>
          <a:noFill/>
        </p:spPr>
        <p:txBody>
          <a:bodyPr wrap="square" anchor="t" lIns="0" rIns="0" tIns="0" bIns="0">
            <a:spAutoFit/>
          </a:bodyPr>
          <a:lstStyle/>
          <a:p>
            <a:pPr algn="l">
              <a:spcAft>
                <a:spcPts val="0"/>
              </a:spcAft>
            </a:pPr>
            <a:r>
              <a:rPr sz="1050" b="1" i="0">
                <a:solidFill>
                  <a:srgbClr val="1F497D"/>
                </a:solidFill>
                <a:latin typeface="Arial"/>
              </a:rPr>
              <a:t>Invest by route.</a:t>
            </a:r>
          </a:p>
        </p:txBody>
      </p:sp>
      <p:sp>
        <p:nvSpPr>
          <p:cNvPr id="42" name="Label tags"/>
          <p:cNvSpPr txBox="1"/>
          <p:nvPr/>
        </p:nvSpPr>
        <p:spPr>
          <a:xfrm>
            <a:off x="594360" y="5239512"/>
            <a:ext cx="3393338" cy="228600"/>
          </a:xfrm>
          <a:prstGeom prst="rect">
            <a:avLst/>
          </a:prstGeom>
          <a:noFill/>
        </p:spPr>
        <p:txBody>
          <a:bodyPr wrap="square" anchor="t" lIns="0" rIns="0" tIns="0" bIns="0">
            <a:spAutoFit/>
          </a:bodyPr>
          <a:lstStyle/>
          <a:p>
            <a:pPr algn="l">
              <a:spcAft>
                <a:spcPts val="0"/>
              </a:spcAft>
            </a:pPr>
            <a:r>
              <a:rPr sz="850" b="0" i="1">
                <a:solidFill>
                  <a:srgbClr val="7F7F7F"/>
                </a:solidFill>
                <a:latin typeface="Arial"/>
              </a:rPr>
              <a:t>Infrastructure | Diagnostic</a:t>
            </a:r>
          </a:p>
        </p:txBody>
      </p:sp>
      <p:sp>
        <p:nvSpPr>
          <p:cNvPr id="43" name="Rectangle 42"/>
          <p:cNvSpPr/>
          <p:nvPr/>
        </p:nvSpPr>
        <p:spPr>
          <a:xfrm>
            <a:off x="4262018" y="3520440"/>
            <a:ext cx="3667658" cy="2011680"/>
          </a:xfrm>
          <a:prstGeom prst="rect">
            <a:avLst/>
          </a:prstGeom>
          <a:solidFill>
            <a:srgbClr val="F2F2F2"/>
          </a:solidFill>
          <a:ln>
            <a:noFill/>
          </a:ln>
        </p:spPr>
        <p:txBody>
          <a:bodyPr rtlCol="0" anchor="ctr"/>
          <a:lstStyle/>
          <a:p>
            <a:pPr algn="ctr"/>
          </a:p>
        </p:txBody>
      </p:sp>
      <p:sp>
        <p:nvSpPr>
          <p:cNvPr id="44" name="Rectangle 43"/>
          <p:cNvSpPr/>
          <p:nvPr/>
        </p:nvSpPr>
        <p:spPr>
          <a:xfrm>
            <a:off x="4262018" y="3520440"/>
            <a:ext cx="3667658" cy="54864"/>
          </a:xfrm>
          <a:prstGeom prst="rect">
            <a:avLst/>
          </a:prstGeom>
          <a:solidFill>
            <a:srgbClr val="00AEEF"/>
          </a:solidFill>
          <a:ln>
            <a:noFill/>
          </a:ln>
        </p:spPr>
        <p:txBody>
          <a:bodyPr rtlCol="0" anchor="ctr"/>
          <a:lstStyle/>
          <a:p>
            <a:pPr algn="ctr"/>
          </a:p>
        </p:txBody>
      </p:sp>
      <p:sp>
        <p:nvSpPr>
          <p:cNvPr id="45" name="Label num"/>
          <p:cNvSpPr txBox="1"/>
          <p:nvPr/>
        </p:nvSpPr>
        <p:spPr>
          <a:xfrm>
            <a:off x="4399178" y="3648456"/>
            <a:ext cx="457200" cy="274320"/>
          </a:xfrm>
          <a:prstGeom prst="rect">
            <a:avLst/>
          </a:prstGeom>
          <a:noFill/>
        </p:spPr>
        <p:txBody>
          <a:bodyPr wrap="square" anchor="t" lIns="0" rIns="0" tIns="0" bIns="0">
            <a:spAutoFit/>
          </a:bodyPr>
          <a:lstStyle/>
          <a:p>
            <a:pPr algn="l">
              <a:spcAft>
                <a:spcPts val="0"/>
              </a:spcAft>
            </a:pPr>
            <a:r>
              <a:rPr sz="1100" b="1" i="0">
                <a:solidFill>
                  <a:srgbClr val="00AEEF"/>
                </a:solidFill>
                <a:latin typeface="Arial"/>
              </a:rPr>
              <a:t>06</a:t>
            </a:r>
          </a:p>
        </p:txBody>
      </p:sp>
      <p:sp>
        <p:nvSpPr>
          <p:cNvPr id="46" name="TextBox 45"/>
          <p:cNvSpPr txBox="1"/>
          <p:nvPr/>
        </p:nvSpPr>
        <p:spPr>
          <a:xfrm>
            <a:off x="4399178" y="3867912"/>
            <a:ext cx="3393338" cy="457200"/>
          </a:xfrm>
          <a:prstGeom prst="rect">
            <a:avLst/>
          </a:prstGeom>
          <a:noFill/>
        </p:spPr>
        <p:txBody>
          <a:bodyPr wrap="square" anchor="b" lIns="0" rIns="0" tIns="0" bIns="0">
            <a:spAutoFit/>
          </a:bodyPr>
          <a:lstStyle/>
          <a:p>
            <a:pPr algn="l">
              <a:spcAft>
                <a:spcPts val="0"/>
              </a:spcAft>
            </a:pPr>
            <a:r>
              <a:rPr sz="2400" b="1" i="0">
                <a:solidFill>
                  <a:srgbClr val="1F497D"/>
                </a:solidFill>
                <a:latin typeface="Arial"/>
              </a:rPr>
              <a:t>0.02-0.04%</a:t>
            </a:r>
          </a:p>
        </p:txBody>
      </p:sp>
      <p:sp>
        <p:nvSpPr>
          <p:cNvPr id="47" name="TextBox 46"/>
          <p:cNvSpPr txBox="1"/>
          <p:nvPr/>
        </p:nvSpPr>
        <p:spPr>
          <a:xfrm>
            <a:off x="4399178" y="4389120"/>
            <a:ext cx="3393338" cy="548640"/>
          </a:xfrm>
          <a:prstGeom prst="rect">
            <a:avLst/>
          </a:prstGeom>
          <a:noFill/>
        </p:spPr>
        <p:txBody>
          <a:bodyPr wrap="square" anchor="t" lIns="0" rIns="0" tIns="0" bIns="0">
            <a:spAutoFit/>
          </a:bodyPr>
          <a:lstStyle/>
          <a:p>
            <a:pPr algn="l">
              <a:spcAft>
                <a:spcPts val="0"/>
              </a:spcAft>
            </a:pPr>
            <a:r>
              <a:rPr sz="1050" b="0" i="0">
                <a:solidFill>
                  <a:srgbClr val="404040"/>
                </a:solidFill>
                <a:latin typeface="Arial"/>
              </a:rPr>
              <a:t>of foreign spend reaches communities with 18.4% of residents.</a:t>
            </a:r>
          </a:p>
        </p:txBody>
      </p:sp>
      <p:sp>
        <p:nvSpPr>
          <p:cNvPr id="48" name="TextBox 47"/>
          <p:cNvSpPr txBox="1"/>
          <p:nvPr/>
        </p:nvSpPr>
        <p:spPr>
          <a:xfrm>
            <a:off x="4399178" y="4937760"/>
            <a:ext cx="3393338" cy="274320"/>
          </a:xfrm>
          <a:prstGeom prst="rect">
            <a:avLst/>
          </a:prstGeom>
          <a:noFill/>
        </p:spPr>
        <p:txBody>
          <a:bodyPr wrap="square" anchor="t" lIns="0" rIns="0" tIns="0" bIns="0">
            <a:spAutoFit/>
          </a:bodyPr>
          <a:lstStyle/>
          <a:p>
            <a:pPr algn="l">
              <a:spcAft>
                <a:spcPts val="0"/>
              </a:spcAft>
            </a:pPr>
            <a:r>
              <a:rPr sz="1050" b="1" i="0">
                <a:solidFill>
                  <a:srgbClr val="1F497D"/>
                </a:solidFill>
                <a:latin typeface="Arial"/>
              </a:rPr>
              <a:t>Fund local sellers.</a:t>
            </a:r>
          </a:p>
        </p:txBody>
      </p:sp>
      <p:sp>
        <p:nvSpPr>
          <p:cNvPr id="49" name="Label tags"/>
          <p:cNvSpPr txBox="1"/>
          <p:nvPr/>
        </p:nvSpPr>
        <p:spPr>
          <a:xfrm>
            <a:off x="4399178" y="5239512"/>
            <a:ext cx="3393338" cy="228600"/>
          </a:xfrm>
          <a:prstGeom prst="rect">
            <a:avLst/>
          </a:prstGeom>
          <a:noFill/>
        </p:spPr>
        <p:txBody>
          <a:bodyPr wrap="square" anchor="t" lIns="0" rIns="0" tIns="0" bIns="0">
            <a:spAutoFit/>
          </a:bodyPr>
          <a:lstStyle/>
          <a:p>
            <a:pPr algn="l">
              <a:spcAft>
                <a:spcPts val="0"/>
              </a:spcAft>
            </a:pPr>
            <a:r>
              <a:rPr sz="850" b="0" i="1">
                <a:solidFill>
                  <a:srgbClr val="7F7F7F"/>
                </a:solidFill>
                <a:latin typeface="Arial"/>
              </a:rPr>
              <a:t>SME plan | Stakeholder</a:t>
            </a:r>
          </a:p>
        </p:txBody>
      </p:sp>
      <p:sp>
        <p:nvSpPr>
          <p:cNvPr id="50" name="Rectangle 49"/>
          <p:cNvSpPr/>
          <p:nvPr/>
        </p:nvSpPr>
        <p:spPr>
          <a:xfrm>
            <a:off x="8066836" y="3520440"/>
            <a:ext cx="3667658" cy="2011680"/>
          </a:xfrm>
          <a:prstGeom prst="rect">
            <a:avLst/>
          </a:prstGeom>
          <a:solidFill>
            <a:srgbClr val="F2F2F2"/>
          </a:solidFill>
          <a:ln>
            <a:noFill/>
          </a:ln>
        </p:spPr>
        <p:txBody>
          <a:bodyPr rtlCol="0" anchor="ctr"/>
          <a:lstStyle/>
          <a:p>
            <a:pPr algn="ctr"/>
          </a:p>
        </p:txBody>
      </p:sp>
      <p:sp>
        <p:nvSpPr>
          <p:cNvPr id="51" name="Rectangle 50"/>
          <p:cNvSpPr/>
          <p:nvPr/>
        </p:nvSpPr>
        <p:spPr>
          <a:xfrm>
            <a:off x="8066836" y="3520440"/>
            <a:ext cx="3667658" cy="54864"/>
          </a:xfrm>
          <a:prstGeom prst="rect">
            <a:avLst/>
          </a:prstGeom>
          <a:solidFill>
            <a:srgbClr val="00AEEF"/>
          </a:solidFill>
          <a:ln>
            <a:noFill/>
          </a:ln>
        </p:spPr>
        <p:txBody>
          <a:bodyPr rtlCol="0" anchor="ctr"/>
          <a:lstStyle/>
          <a:p>
            <a:pPr algn="ctr"/>
          </a:p>
        </p:txBody>
      </p:sp>
      <p:sp>
        <p:nvSpPr>
          <p:cNvPr id="52" name="Label num"/>
          <p:cNvSpPr txBox="1"/>
          <p:nvPr/>
        </p:nvSpPr>
        <p:spPr>
          <a:xfrm>
            <a:off x="8203996" y="3648456"/>
            <a:ext cx="457200" cy="274320"/>
          </a:xfrm>
          <a:prstGeom prst="rect">
            <a:avLst/>
          </a:prstGeom>
          <a:noFill/>
        </p:spPr>
        <p:txBody>
          <a:bodyPr wrap="square" anchor="t" lIns="0" rIns="0" tIns="0" bIns="0">
            <a:spAutoFit/>
          </a:bodyPr>
          <a:lstStyle/>
          <a:p>
            <a:pPr algn="l">
              <a:spcAft>
                <a:spcPts val="0"/>
              </a:spcAft>
            </a:pPr>
            <a:r>
              <a:rPr sz="1100" b="1" i="0">
                <a:solidFill>
                  <a:srgbClr val="00AEEF"/>
                </a:solidFill>
                <a:latin typeface="Arial"/>
              </a:rPr>
              <a:t>07</a:t>
            </a:r>
          </a:p>
        </p:txBody>
      </p:sp>
      <p:sp>
        <p:nvSpPr>
          <p:cNvPr id="53" name="TextBox 52"/>
          <p:cNvSpPr txBox="1"/>
          <p:nvPr/>
        </p:nvSpPr>
        <p:spPr>
          <a:xfrm>
            <a:off x="8203996" y="3867912"/>
            <a:ext cx="3393338" cy="457200"/>
          </a:xfrm>
          <a:prstGeom prst="rect">
            <a:avLst/>
          </a:prstGeom>
          <a:noFill/>
        </p:spPr>
        <p:txBody>
          <a:bodyPr wrap="square" anchor="b" lIns="0" rIns="0" tIns="0" bIns="0">
            <a:spAutoFit/>
          </a:bodyPr>
          <a:lstStyle/>
          <a:p>
            <a:pPr algn="l">
              <a:spcAft>
                <a:spcPts val="0"/>
              </a:spcAft>
            </a:pPr>
            <a:r>
              <a:rPr sz="2400" b="1" i="0">
                <a:solidFill>
                  <a:srgbClr val="1F497D"/>
                </a:solidFill>
                <a:latin typeface="Arial"/>
              </a:rPr>
              <a:t>3 tiers</a:t>
            </a:r>
          </a:p>
        </p:txBody>
      </p:sp>
      <p:sp>
        <p:nvSpPr>
          <p:cNvPr id="54" name="TextBox 53"/>
          <p:cNvSpPr txBox="1"/>
          <p:nvPr/>
        </p:nvSpPr>
        <p:spPr>
          <a:xfrm>
            <a:off x="8203996" y="4389120"/>
            <a:ext cx="3393338" cy="548640"/>
          </a:xfrm>
          <a:prstGeom prst="rect">
            <a:avLst/>
          </a:prstGeom>
          <a:noFill/>
        </p:spPr>
        <p:txBody>
          <a:bodyPr wrap="square" anchor="t" lIns="0" rIns="0" tIns="0" bIns="0">
            <a:spAutoFit/>
          </a:bodyPr>
          <a:lstStyle/>
          <a:p>
            <a:pPr algn="l">
              <a:spcAft>
                <a:spcPts val="0"/>
              </a:spcAft>
            </a:pPr>
            <a:r>
              <a:rPr sz="1050" b="0" i="0">
                <a:solidFill>
                  <a:srgbClr val="404040"/>
                </a:solidFill>
                <a:latin typeface="Arial"/>
              </a:rPr>
              <a:t>hold the levers; air rights sit nationally.</a:t>
            </a:r>
          </a:p>
        </p:txBody>
      </p:sp>
      <p:sp>
        <p:nvSpPr>
          <p:cNvPr id="55" name="TextBox 54"/>
          <p:cNvSpPr txBox="1"/>
          <p:nvPr/>
        </p:nvSpPr>
        <p:spPr>
          <a:xfrm>
            <a:off x="8203996" y="4937760"/>
            <a:ext cx="3393338" cy="274320"/>
          </a:xfrm>
          <a:prstGeom prst="rect">
            <a:avLst/>
          </a:prstGeom>
          <a:noFill/>
        </p:spPr>
        <p:txBody>
          <a:bodyPr wrap="square" anchor="t" lIns="0" rIns="0" tIns="0" bIns="0">
            <a:spAutoFit/>
          </a:bodyPr>
          <a:lstStyle/>
          <a:p>
            <a:pPr algn="l">
              <a:spcAft>
                <a:spcPts val="0"/>
              </a:spcAft>
            </a:pPr>
            <a:r>
              <a:rPr sz="1050" b="1" i="0">
                <a:solidFill>
                  <a:srgbClr val="1F497D"/>
                </a:solidFill>
                <a:latin typeface="Arial"/>
              </a:rPr>
              <a:t>Name lever owners.</a:t>
            </a:r>
          </a:p>
        </p:txBody>
      </p:sp>
      <p:sp>
        <p:nvSpPr>
          <p:cNvPr id="56" name="Label tags"/>
          <p:cNvSpPr txBox="1"/>
          <p:nvPr/>
        </p:nvSpPr>
        <p:spPr>
          <a:xfrm>
            <a:off x="8203996" y="5239512"/>
            <a:ext cx="3393338" cy="228600"/>
          </a:xfrm>
          <a:prstGeom prst="rect">
            <a:avLst/>
          </a:prstGeom>
          <a:noFill/>
        </p:spPr>
        <p:txBody>
          <a:bodyPr wrap="square" anchor="t" lIns="0" rIns="0" tIns="0" bIns="0">
            <a:spAutoFit/>
          </a:bodyPr>
          <a:lstStyle/>
          <a:p>
            <a:pPr algn="l">
              <a:spcAft>
                <a:spcPts val="0"/>
              </a:spcAft>
            </a:pPr>
            <a:r>
              <a:rPr sz="850" b="0" i="1">
                <a:solidFill>
                  <a:srgbClr val="7F7F7F"/>
                </a:solidFill>
                <a:latin typeface="Arial"/>
              </a:rPr>
              <a:t>Stakeholder | Benchmark | factbase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The working answer: the province is capture-poor on distribution and coordination, and demand-constrained on price, safety and airlines</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05 | SYNTHESIS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“Capture-poor, not demand-poor” is the DSE client factbase’s framing (s1.1). MIDAS Aviation Market Assessment (Mar 2026) p22; Stakeholder Insights Report (Mar 2026) pp24-25, 46; SME and Community Inclusion Plan (Sep 2026) p27</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17</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457200" y="1417320"/>
            <a:ext cx="4618863" cy="4069080"/>
          </a:xfrm>
          <a:prstGeom prst="rect">
            <a:avLst/>
          </a:prstGeom>
          <a:solidFill>
            <a:srgbClr val="1F497D"/>
          </a:solidFill>
          <a:ln>
            <a:noFill/>
          </a:ln>
        </p:spPr>
        <p:txBody>
          <a:bodyPr rtlCol="0" anchor="ctr"/>
          <a:lstStyle/>
          <a:p>
            <a:pPr algn="ctr"/>
          </a:p>
        </p:txBody>
      </p:sp>
      <p:sp>
        <p:nvSpPr>
          <p:cNvPr id="9" name="TextBox 8"/>
          <p:cNvSpPr txBox="1"/>
          <p:nvPr/>
        </p:nvSpPr>
        <p:spPr>
          <a:xfrm>
            <a:off x="731520" y="1600200"/>
            <a:ext cx="4070223" cy="274320"/>
          </a:xfrm>
          <a:prstGeom prst="rect">
            <a:avLst/>
          </a:prstGeom>
          <a:noFill/>
        </p:spPr>
        <p:txBody>
          <a:bodyPr wrap="square" anchor="t" lIns="0" rIns="0" tIns="0" bIns="0">
            <a:spAutoFit/>
          </a:bodyPr>
          <a:lstStyle/>
          <a:p>
            <a:pPr algn="l">
              <a:spcAft>
                <a:spcPts val="0"/>
              </a:spcAft>
            </a:pPr>
            <a:r>
              <a:rPr sz="1000" b="1" i="0">
                <a:solidFill>
                  <a:srgbClr val="00AEEF"/>
                </a:solidFill>
                <a:latin typeface="Arial"/>
              </a:rPr>
              <a:t>WORKING ANSWER</a:t>
            </a:r>
          </a:p>
        </p:txBody>
      </p:sp>
      <p:sp>
        <p:nvSpPr>
          <p:cNvPr id="10" name="TextBox 9"/>
          <p:cNvSpPr txBox="1"/>
          <p:nvPr/>
        </p:nvSpPr>
        <p:spPr>
          <a:xfrm>
            <a:off x="731520" y="1965960"/>
            <a:ext cx="4070223" cy="1463040"/>
          </a:xfrm>
          <a:prstGeom prst="rect">
            <a:avLst/>
          </a:prstGeom>
          <a:noFill/>
        </p:spPr>
        <p:txBody>
          <a:bodyPr wrap="square" anchor="t" lIns="0" rIns="0" tIns="0" bIns="0">
            <a:spAutoFit/>
          </a:bodyPr>
          <a:lstStyle/>
          <a:p>
            <a:pPr algn="l">
              <a:spcAft>
                <a:spcPts val="0"/>
              </a:spcAft>
            </a:pPr>
            <a:r>
              <a:rPr sz="1600" b="0" i="0">
                <a:solidFill>
                  <a:srgbClr val="FFFFFF"/>
                </a:solidFill>
                <a:latin typeface="Arial"/>
              </a:rPr>
              <a:t>Demand already exists in hubs, events and regions the province cannot yet sell, book or govern. Price, safety and airline economics also bind.</a:t>
            </a:r>
          </a:p>
        </p:txBody>
      </p:sp>
      <p:cxnSp>
        <p:nvCxnSpPr>
          <p:cNvPr id="11" name="Connector 10"/>
          <p:cNvCxnSpPr/>
          <p:nvPr/>
        </p:nvCxnSpPr>
        <p:spPr>
          <a:xfrm>
            <a:off x="731520" y="3291840"/>
            <a:ext cx="4070223" cy="0"/>
          </a:xfrm>
          <a:prstGeom prst="line">
            <a:avLst/>
          </a:prstGeom>
          <a:ln w="19050">
            <a:solidFill>
              <a:srgbClr val="00AEEF"/>
            </a:solidFill>
          </a:ln>
        </p:spPr>
      </p:cxnSp>
      <p:sp>
        <p:nvSpPr>
          <p:cNvPr id="12" name="TextBox 11"/>
          <p:cNvSpPr txBox="1"/>
          <p:nvPr/>
        </p:nvSpPr>
        <p:spPr>
          <a:xfrm>
            <a:off x="731520" y="3429000"/>
            <a:ext cx="4070223" cy="822960"/>
          </a:xfrm>
          <a:prstGeom prst="rect">
            <a:avLst/>
          </a:prstGeom>
          <a:noFill/>
        </p:spPr>
        <p:txBody>
          <a:bodyPr wrap="square" anchor="t" lIns="0" rIns="0" tIns="0" bIns="0">
            <a:spAutoFit/>
          </a:bodyPr>
          <a:lstStyle/>
          <a:p>
            <a:pPr algn="l">
              <a:spcAft>
                <a:spcPts val="400"/>
              </a:spcAft>
            </a:pPr>
            <a:r>
              <a:rPr sz="1300" b="1" i="0">
                <a:solidFill>
                  <a:srgbClr val="FFFFFF"/>
                </a:solidFill>
                <a:latin typeface="Arial"/>
              </a:rPr>
              <a:t>Capture first; name owners for what Wesgro does not control.</a:t>
            </a:r>
          </a:p>
        </p:txBody>
      </p:sp>
      <p:sp>
        <p:nvSpPr>
          <p:cNvPr id="13" name="Label attribution"/>
          <p:cNvSpPr txBox="1"/>
          <p:nvPr/>
        </p:nvSpPr>
        <p:spPr>
          <a:xfrm>
            <a:off x="731520" y="4892040"/>
            <a:ext cx="4070223" cy="457200"/>
          </a:xfrm>
          <a:prstGeom prst="rect">
            <a:avLst/>
          </a:prstGeom>
          <a:noFill/>
        </p:spPr>
        <p:txBody>
          <a:bodyPr wrap="square" anchor="t" lIns="0" rIns="0" tIns="0" bIns="0">
            <a:spAutoFit/>
          </a:bodyPr>
          <a:lstStyle/>
          <a:p>
            <a:pPr algn="l">
              <a:spcAft>
                <a:spcPts val="0"/>
              </a:spcAft>
            </a:pPr>
            <a:r>
              <a:rPr sz="900" b="0" i="1">
                <a:solidFill>
                  <a:srgbClr val="DCEEF7"/>
                </a:solidFill>
                <a:latin typeface="Arial"/>
              </a:rPr>
              <a:t>Qualifies the DSE factbase’s “capture-poor, not demand-poor”</a:t>
            </a:r>
          </a:p>
        </p:txBody>
      </p:sp>
      <p:sp>
        <p:nvSpPr>
          <p:cNvPr id="14" name="Rectangle 13"/>
          <p:cNvSpPr/>
          <p:nvPr/>
        </p:nvSpPr>
        <p:spPr>
          <a:xfrm>
            <a:off x="5258943" y="1417320"/>
            <a:ext cx="3169196" cy="1965960"/>
          </a:xfrm>
          <a:prstGeom prst="rect">
            <a:avLst/>
          </a:prstGeom>
          <a:solidFill>
            <a:srgbClr val="FFFFFF"/>
          </a:solidFill>
          <a:ln w="12700">
            <a:solidFill>
              <a:srgbClr val="D9D9D9"/>
            </a:solidFill>
          </a:ln>
        </p:spPr>
        <p:txBody>
          <a:bodyPr rtlCol="0" anchor="ctr"/>
          <a:lstStyle/>
          <a:p>
            <a:pPr algn="ctr"/>
          </a:p>
        </p:txBody>
      </p:sp>
      <p:sp>
        <p:nvSpPr>
          <p:cNvPr id="15" name="Label kicker"/>
          <p:cNvSpPr txBox="1"/>
          <p:nvPr/>
        </p:nvSpPr>
        <p:spPr>
          <a:xfrm>
            <a:off x="5441823" y="1554480"/>
            <a:ext cx="2803436" cy="228600"/>
          </a:xfrm>
          <a:prstGeom prst="rect">
            <a:avLst/>
          </a:prstGeom>
          <a:noFill/>
        </p:spPr>
        <p:txBody>
          <a:bodyPr wrap="square" anchor="t" lIns="0" rIns="0" tIns="0" bIns="0">
            <a:spAutoFit/>
          </a:bodyPr>
          <a:lstStyle/>
          <a:p>
            <a:pPr algn="l">
              <a:spcAft>
                <a:spcPts val="0"/>
              </a:spcAft>
            </a:pPr>
            <a:r>
              <a:rPr sz="850" b="1" i="0">
                <a:solidFill>
                  <a:srgbClr val="7F7F7F"/>
                </a:solidFill>
                <a:latin typeface="Arial"/>
              </a:rPr>
              <a:t>COUNTER-CASE</a:t>
            </a:r>
          </a:p>
        </p:txBody>
      </p:sp>
      <p:sp>
        <p:nvSpPr>
          <p:cNvPr id="16" name="TextBox 15"/>
          <p:cNvSpPr txBox="1"/>
          <p:nvPr/>
        </p:nvSpPr>
        <p:spPr>
          <a:xfrm>
            <a:off x="5441823" y="1801368"/>
            <a:ext cx="2803436" cy="594360"/>
          </a:xfrm>
          <a:prstGeom prst="rect">
            <a:avLst/>
          </a:prstGeom>
          <a:noFill/>
        </p:spPr>
        <p:txBody>
          <a:bodyPr wrap="square" anchor="t" lIns="0" rIns="0" tIns="0" bIns="0">
            <a:spAutoFit/>
          </a:bodyPr>
          <a:lstStyle/>
          <a:p>
            <a:pPr algn="l">
              <a:spcAft>
                <a:spcPts val="0"/>
              </a:spcAft>
            </a:pPr>
            <a:r>
              <a:rPr sz="1300" b="1" i="0">
                <a:solidFill>
                  <a:srgbClr val="1F497D"/>
                </a:solidFill>
                <a:latin typeface="Arial"/>
              </a:rPr>
              <a:t>Airlines raise fares before adding seats</a:t>
            </a:r>
          </a:p>
        </p:txBody>
      </p:sp>
      <p:sp>
        <p:nvSpPr>
          <p:cNvPr id="17" name="Label source"/>
          <p:cNvSpPr txBox="1"/>
          <p:nvPr/>
        </p:nvSpPr>
        <p:spPr>
          <a:xfrm>
            <a:off x="5441823" y="2423160"/>
            <a:ext cx="2803436"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MIDAS p22</a:t>
            </a:r>
          </a:p>
        </p:txBody>
      </p:sp>
      <p:cxnSp>
        <p:nvCxnSpPr>
          <p:cNvPr id="18" name="Connector 17"/>
          <p:cNvCxnSpPr/>
          <p:nvPr/>
        </p:nvCxnSpPr>
        <p:spPr>
          <a:xfrm>
            <a:off x="5441823" y="2743200"/>
            <a:ext cx="2803436" cy="0"/>
          </a:xfrm>
          <a:prstGeom prst="line">
            <a:avLst/>
          </a:prstGeom>
          <a:ln w="9525">
            <a:solidFill>
              <a:srgbClr val="D9D9D9"/>
            </a:solidFill>
          </a:ln>
        </p:spPr>
      </p:cxnSp>
      <p:sp>
        <p:nvSpPr>
          <p:cNvPr id="19" name="TextBox 18"/>
          <p:cNvSpPr txBox="1"/>
          <p:nvPr/>
        </p:nvSpPr>
        <p:spPr>
          <a:xfrm>
            <a:off x="5441823" y="2834640"/>
            <a:ext cx="2803436" cy="457200"/>
          </a:xfrm>
          <a:prstGeom prst="rect">
            <a:avLst/>
          </a:prstGeom>
          <a:noFill/>
        </p:spPr>
        <p:txBody>
          <a:bodyPr wrap="square" anchor="t" lIns="0" rIns="0" tIns="0" bIns="0">
            <a:spAutoFit/>
          </a:bodyPr>
          <a:lstStyle/>
          <a:p>
            <a:pPr algn="l">
              <a:spcAft>
                <a:spcPts val="0"/>
              </a:spcAft>
            </a:pPr>
            <a:r>
              <a:rPr sz="1100" b="1" i="0">
                <a:solidFill>
                  <a:srgbClr val="00AEEF"/>
                </a:solidFill>
                <a:latin typeface="Arial"/>
              </a:rPr>
              <a:t>Underwrite frequency on full routes.</a:t>
            </a:r>
          </a:p>
        </p:txBody>
      </p:sp>
      <p:sp>
        <p:nvSpPr>
          <p:cNvPr id="20" name="Rectangle 19"/>
          <p:cNvSpPr/>
          <p:nvPr/>
        </p:nvSpPr>
        <p:spPr>
          <a:xfrm>
            <a:off x="8565299" y="1417320"/>
            <a:ext cx="3169196" cy="1965960"/>
          </a:xfrm>
          <a:prstGeom prst="rect">
            <a:avLst/>
          </a:prstGeom>
          <a:solidFill>
            <a:srgbClr val="FFFFFF"/>
          </a:solidFill>
          <a:ln w="12700">
            <a:solidFill>
              <a:srgbClr val="D9D9D9"/>
            </a:solidFill>
          </a:ln>
        </p:spPr>
        <p:txBody>
          <a:bodyPr rtlCol="0" anchor="ctr"/>
          <a:lstStyle/>
          <a:p>
            <a:pPr algn="ctr"/>
          </a:p>
        </p:txBody>
      </p:sp>
      <p:sp>
        <p:nvSpPr>
          <p:cNvPr id="21" name="Label kicker"/>
          <p:cNvSpPr txBox="1"/>
          <p:nvPr/>
        </p:nvSpPr>
        <p:spPr>
          <a:xfrm>
            <a:off x="8748179" y="1554480"/>
            <a:ext cx="2803436" cy="228600"/>
          </a:xfrm>
          <a:prstGeom prst="rect">
            <a:avLst/>
          </a:prstGeom>
          <a:noFill/>
        </p:spPr>
        <p:txBody>
          <a:bodyPr wrap="square" anchor="t" lIns="0" rIns="0" tIns="0" bIns="0">
            <a:spAutoFit/>
          </a:bodyPr>
          <a:lstStyle/>
          <a:p>
            <a:pPr algn="l">
              <a:spcAft>
                <a:spcPts val="0"/>
              </a:spcAft>
            </a:pPr>
            <a:r>
              <a:rPr sz="850" b="1" i="0">
                <a:solidFill>
                  <a:srgbClr val="7F7F7F"/>
                </a:solidFill>
                <a:latin typeface="Arial"/>
              </a:rPr>
              <a:t>COUNTER-CASE</a:t>
            </a:r>
          </a:p>
        </p:txBody>
      </p:sp>
      <p:sp>
        <p:nvSpPr>
          <p:cNvPr id="22" name="TextBox 21"/>
          <p:cNvSpPr txBox="1"/>
          <p:nvPr/>
        </p:nvSpPr>
        <p:spPr>
          <a:xfrm>
            <a:off x="8748179" y="1801368"/>
            <a:ext cx="2803436" cy="594360"/>
          </a:xfrm>
          <a:prstGeom prst="rect">
            <a:avLst/>
          </a:prstGeom>
          <a:noFill/>
        </p:spPr>
        <p:txBody>
          <a:bodyPr wrap="square" anchor="t" lIns="0" rIns="0" tIns="0" bIns="0">
            <a:spAutoFit/>
          </a:bodyPr>
          <a:lstStyle/>
          <a:p>
            <a:pPr algn="l">
              <a:spcAft>
                <a:spcPts val="0"/>
              </a:spcAft>
            </a:pPr>
            <a:r>
              <a:rPr sz="1300" b="1" i="0">
                <a:solidFill>
                  <a:srgbClr val="1F497D"/>
                </a:solidFill>
                <a:latin typeface="Arial"/>
              </a:rPr>
              <a:t>Safety is a core barrier to visits</a:t>
            </a:r>
          </a:p>
        </p:txBody>
      </p:sp>
      <p:sp>
        <p:nvSpPr>
          <p:cNvPr id="23" name="Label source"/>
          <p:cNvSpPr txBox="1"/>
          <p:nvPr/>
        </p:nvSpPr>
        <p:spPr>
          <a:xfrm>
            <a:off x="8748179" y="2423160"/>
            <a:ext cx="2803436"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Stakeholder p24 (DEDAT, High)</a:t>
            </a:r>
          </a:p>
        </p:txBody>
      </p:sp>
      <p:cxnSp>
        <p:nvCxnSpPr>
          <p:cNvPr id="24" name="Connector 23"/>
          <p:cNvCxnSpPr/>
          <p:nvPr/>
        </p:nvCxnSpPr>
        <p:spPr>
          <a:xfrm>
            <a:off x="8748179" y="2743200"/>
            <a:ext cx="2803436" cy="0"/>
          </a:xfrm>
          <a:prstGeom prst="line">
            <a:avLst/>
          </a:prstGeom>
          <a:ln w="9525">
            <a:solidFill>
              <a:srgbClr val="D9D9D9"/>
            </a:solidFill>
          </a:ln>
        </p:spPr>
      </p:cxnSp>
      <p:sp>
        <p:nvSpPr>
          <p:cNvPr id="25" name="TextBox 24"/>
          <p:cNvSpPr txBox="1"/>
          <p:nvPr/>
        </p:nvSpPr>
        <p:spPr>
          <a:xfrm>
            <a:off x="8748179" y="2834640"/>
            <a:ext cx="2803436" cy="457200"/>
          </a:xfrm>
          <a:prstGeom prst="rect">
            <a:avLst/>
          </a:prstGeom>
          <a:noFill/>
        </p:spPr>
        <p:txBody>
          <a:bodyPr wrap="square" anchor="t" lIns="0" rIns="0" tIns="0" bIns="0">
            <a:spAutoFit/>
          </a:bodyPr>
          <a:lstStyle/>
          <a:p>
            <a:pPr algn="l">
              <a:spcAft>
                <a:spcPts val="0"/>
              </a:spcAft>
            </a:pPr>
            <a:r>
              <a:rPr sz="1100" b="1" i="0">
                <a:solidFill>
                  <a:srgbClr val="00AEEF"/>
                </a:solidFill>
                <a:latin typeface="Arial"/>
              </a:rPr>
              <a:t>Name national owners for safety.</a:t>
            </a:r>
          </a:p>
        </p:txBody>
      </p:sp>
      <p:sp>
        <p:nvSpPr>
          <p:cNvPr id="26" name="Rectangle 25"/>
          <p:cNvSpPr/>
          <p:nvPr/>
        </p:nvSpPr>
        <p:spPr>
          <a:xfrm>
            <a:off x="5258943" y="3520439"/>
            <a:ext cx="3169196" cy="1965960"/>
          </a:xfrm>
          <a:prstGeom prst="rect">
            <a:avLst/>
          </a:prstGeom>
          <a:solidFill>
            <a:srgbClr val="FFFFFF"/>
          </a:solidFill>
          <a:ln w="12700">
            <a:solidFill>
              <a:srgbClr val="D9D9D9"/>
            </a:solidFill>
          </a:ln>
        </p:spPr>
        <p:txBody>
          <a:bodyPr rtlCol="0" anchor="ctr"/>
          <a:lstStyle/>
          <a:p>
            <a:pPr algn="ctr"/>
          </a:p>
        </p:txBody>
      </p:sp>
      <p:sp>
        <p:nvSpPr>
          <p:cNvPr id="27" name="Label kicker"/>
          <p:cNvSpPr txBox="1"/>
          <p:nvPr/>
        </p:nvSpPr>
        <p:spPr>
          <a:xfrm>
            <a:off x="5441823" y="3657599"/>
            <a:ext cx="2803436" cy="228600"/>
          </a:xfrm>
          <a:prstGeom prst="rect">
            <a:avLst/>
          </a:prstGeom>
          <a:noFill/>
        </p:spPr>
        <p:txBody>
          <a:bodyPr wrap="square" anchor="t" lIns="0" rIns="0" tIns="0" bIns="0">
            <a:spAutoFit/>
          </a:bodyPr>
          <a:lstStyle/>
          <a:p>
            <a:pPr algn="l">
              <a:spcAft>
                <a:spcPts val="0"/>
              </a:spcAft>
            </a:pPr>
            <a:r>
              <a:rPr sz="850" b="1" i="0">
                <a:solidFill>
                  <a:srgbClr val="7F7F7F"/>
                </a:solidFill>
                <a:latin typeface="Arial"/>
              </a:rPr>
              <a:t>COUNTER-CASE</a:t>
            </a:r>
          </a:p>
        </p:txBody>
      </p:sp>
      <p:sp>
        <p:nvSpPr>
          <p:cNvPr id="28" name="TextBox 27"/>
          <p:cNvSpPr txBox="1"/>
          <p:nvPr/>
        </p:nvSpPr>
        <p:spPr>
          <a:xfrm>
            <a:off x="5441823" y="3904487"/>
            <a:ext cx="2803436" cy="594360"/>
          </a:xfrm>
          <a:prstGeom prst="rect">
            <a:avLst/>
          </a:prstGeom>
          <a:noFill/>
        </p:spPr>
        <p:txBody>
          <a:bodyPr wrap="square" anchor="t" lIns="0" rIns="0" tIns="0" bIns="0">
            <a:spAutoFit/>
          </a:bodyPr>
          <a:lstStyle/>
          <a:p>
            <a:pPr algn="l">
              <a:spcAft>
                <a:spcPts val="0"/>
              </a:spcAft>
            </a:pPr>
            <a:r>
              <a:rPr sz="1300" b="1" i="0">
                <a:solidFill>
                  <a:srgbClr val="1F497D"/>
                </a:solidFill>
                <a:latin typeface="Arial"/>
              </a:rPr>
              <a:t>Peak room prices deter December events</a:t>
            </a:r>
          </a:p>
        </p:txBody>
      </p:sp>
      <p:sp>
        <p:nvSpPr>
          <p:cNvPr id="29" name="Label source"/>
          <p:cNvSpPr txBox="1"/>
          <p:nvPr/>
        </p:nvSpPr>
        <p:spPr>
          <a:xfrm>
            <a:off x="5441823" y="4526279"/>
            <a:ext cx="2803436"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Stakeholder p46 (CTICC, High)</a:t>
            </a:r>
          </a:p>
        </p:txBody>
      </p:sp>
      <p:cxnSp>
        <p:nvCxnSpPr>
          <p:cNvPr id="30" name="Connector 29"/>
          <p:cNvCxnSpPr/>
          <p:nvPr/>
        </p:nvCxnSpPr>
        <p:spPr>
          <a:xfrm>
            <a:off x="5441823" y="4846320"/>
            <a:ext cx="2803436" cy="0"/>
          </a:xfrm>
          <a:prstGeom prst="line">
            <a:avLst/>
          </a:prstGeom>
          <a:ln w="9525">
            <a:solidFill>
              <a:srgbClr val="D9D9D9"/>
            </a:solidFill>
          </a:ln>
        </p:spPr>
      </p:cxnSp>
      <p:sp>
        <p:nvSpPr>
          <p:cNvPr id="31" name="TextBox 30"/>
          <p:cNvSpPr txBox="1"/>
          <p:nvPr/>
        </p:nvSpPr>
        <p:spPr>
          <a:xfrm>
            <a:off x="5441823" y="4937759"/>
            <a:ext cx="2803436" cy="457200"/>
          </a:xfrm>
          <a:prstGeom prst="rect">
            <a:avLst/>
          </a:prstGeom>
          <a:noFill/>
        </p:spPr>
        <p:txBody>
          <a:bodyPr wrap="square" anchor="t" lIns="0" rIns="0" tIns="0" bIns="0">
            <a:spAutoFit/>
          </a:bodyPr>
          <a:lstStyle/>
          <a:p>
            <a:pPr algn="l">
              <a:spcAft>
                <a:spcPts val="0"/>
              </a:spcAft>
            </a:pPr>
            <a:r>
              <a:rPr sz="1100" b="1" i="0">
                <a:solidFill>
                  <a:srgbClr val="00AEEF"/>
                </a:solidFill>
                <a:latin typeface="Arial"/>
              </a:rPr>
              <a:t>Set a price and value position.</a:t>
            </a:r>
          </a:p>
        </p:txBody>
      </p:sp>
      <p:sp>
        <p:nvSpPr>
          <p:cNvPr id="32" name="Rectangle 31"/>
          <p:cNvSpPr/>
          <p:nvPr/>
        </p:nvSpPr>
        <p:spPr>
          <a:xfrm>
            <a:off x="8565299" y="3520439"/>
            <a:ext cx="3169196" cy="1965960"/>
          </a:xfrm>
          <a:prstGeom prst="rect">
            <a:avLst/>
          </a:prstGeom>
          <a:solidFill>
            <a:srgbClr val="FFFFFF"/>
          </a:solidFill>
          <a:ln w="12700">
            <a:solidFill>
              <a:srgbClr val="D9D9D9"/>
            </a:solidFill>
          </a:ln>
        </p:spPr>
        <p:txBody>
          <a:bodyPr rtlCol="0" anchor="ctr"/>
          <a:lstStyle/>
          <a:p>
            <a:pPr algn="ctr"/>
          </a:p>
        </p:txBody>
      </p:sp>
      <p:sp>
        <p:nvSpPr>
          <p:cNvPr id="33" name="Label kicker"/>
          <p:cNvSpPr txBox="1"/>
          <p:nvPr/>
        </p:nvSpPr>
        <p:spPr>
          <a:xfrm>
            <a:off x="8748179" y="3657599"/>
            <a:ext cx="2803436" cy="228600"/>
          </a:xfrm>
          <a:prstGeom prst="rect">
            <a:avLst/>
          </a:prstGeom>
          <a:noFill/>
        </p:spPr>
        <p:txBody>
          <a:bodyPr wrap="square" anchor="t" lIns="0" rIns="0" tIns="0" bIns="0">
            <a:spAutoFit/>
          </a:bodyPr>
          <a:lstStyle/>
          <a:p>
            <a:pPr algn="l">
              <a:spcAft>
                <a:spcPts val="0"/>
              </a:spcAft>
            </a:pPr>
            <a:r>
              <a:rPr sz="850" b="1" i="0">
                <a:solidFill>
                  <a:srgbClr val="7F7F7F"/>
                </a:solidFill>
                <a:latin typeface="Arial"/>
              </a:rPr>
              <a:t>COUNTER-CASE</a:t>
            </a:r>
          </a:p>
        </p:txBody>
      </p:sp>
      <p:sp>
        <p:nvSpPr>
          <p:cNvPr id="34" name="TextBox 33"/>
          <p:cNvSpPr txBox="1"/>
          <p:nvPr/>
        </p:nvSpPr>
        <p:spPr>
          <a:xfrm>
            <a:off x="8748179" y="3904487"/>
            <a:ext cx="2803436" cy="594360"/>
          </a:xfrm>
          <a:prstGeom prst="rect">
            <a:avLst/>
          </a:prstGeom>
          <a:noFill/>
        </p:spPr>
        <p:txBody>
          <a:bodyPr wrap="square" anchor="t" lIns="0" rIns="0" tIns="0" bIns="0">
            <a:spAutoFit/>
          </a:bodyPr>
          <a:lstStyle/>
          <a:p>
            <a:pPr algn="l">
              <a:spcAft>
                <a:spcPts val="0"/>
              </a:spcAft>
            </a:pPr>
            <a:r>
              <a:rPr sz="1300" b="1" i="0">
                <a:solidFill>
                  <a:srgbClr val="1F497D"/>
                </a:solidFill>
                <a:latin typeface="Arial"/>
              </a:rPr>
              <a:t>Funding sits below peer destinations</a:t>
            </a:r>
          </a:p>
        </p:txBody>
      </p:sp>
      <p:sp>
        <p:nvSpPr>
          <p:cNvPr id="35" name="Label source"/>
          <p:cNvSpPr txBox="1"/>
          <p:nvPr/>
        </p:nvSpPr>
        <p:spPr>
          <a:xfrm>
            <a:off x="8748179" y="4526279"/>
            <a:ext cx="2803436"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Stakeholder p25 (DEDAT, High)</a:t>
            </a:r>
          </a:p>
        </p:txBody>
      </p:sp>
      <p:cxnSp>
        <p:nvCxnSpPr>
          <p:cNvPr id="36" name="Connector 35"/>
          <p:cNvCxnSpPr/>
          <p:nvPr/>
        </p:nvCxnSpPr>
        <p:spPr>
          <a:xfrm>
            <a:off x="8748179" y="4846320"/>
            <a:ext cx="2803436" cy="0"/>
          </a:xfrm>
          <a:prstGeom prst="line">
            <a:avLst/>
          </a:prstGeom>
          <a:ln w="9525">
            <a:solidFill>
              <a:srgbClr val="D9D9D9"/>
            </a:solidFill>
          </a:ln>
        </p:spPr>
      </p:cxnSp>
      <p:sp>
        <p:nvSpPr>
          <p:cNvPr id="37" name="TextBox 36"/>
          <p:cNvSpPr txBox="1"/>
          <p:nvPr/>
        </p:nvSpPr>
        <p:spPr>
          <a:xfrm>
            <a:off x="8748179" y="4937759"/>
            <a:ext cx="2803436" cy="457200"/>
          </a:xfrm>
          <a:prstGeom prst="rect">
            <a:avLst/>
          </a:prstGeom>
          <a:noFill/>
        </p:spPr>
        <p:txBody>
          <a:bodyPr wrap="square" anchor="t" lIns="0" rIns="0" tIns="0" bIns="0">
            <a:spAutoFit/>
          </a:bodyPr>
          <a:lstStyle/>
          <a:p>
            <a:pPr algn="l">
              <a:spcAft>
                <a:spcPts val="0"/>
              </a:spcAft>
            </a:pPr>
            <a:r>
              <a:rPr sz="1100" b="1" i="0">
                <a:solidFill>
                  <a:srgbClr val="00AEEF"/>
                </a:solidFill>
                <a:latin typeface="Arial"/>
              </a:rPr>
              <a:t>Sequence and co-fund the moves.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Twelve conditions must hold by 2035, and seven of them sit with the province or national government</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05 | SYNTHESIS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Letsema proposal. Anchors: Demand-Side Analysis (Jun 2026) pp19-21 (paths, seat ceiling); MIDAS Aviation Market Assessment (Mar 2026) pp18-19, 22; SME and Community Inclusion Plan (Sep 2026) p5; cruise target from the Wesgro/StratEcon report via mobility factbase</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18</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cxnSp>
        <p:nvCxnSpPr>
          <p:cNvPr id="8" name="Connector 7"/>
          <p:cNvCxnSpPr/>
          <p:nvPr/>
        </p:nvCxnSpPr>
        <p:spPr>
          <a:xfrm>
            <a:off x="457200" y="1965960"/>
            <a:ext cx="11277295" cy="0"/>
          </a:xfrm>
          <a:prstGeom prst="line">
            <a:avLst/>
          </a:prstGeom>
          <a:ln w="38100">
            <a:solidFill>
              <a:srgbClr val="D9D9D9"/>
            </a:solidFill>
          </a:ln>
        </p:spPr>
      </p:cxnSp>
      <p:sp>
        <p:nvSpPr>
          <p:cNvPr id="9" name="Label Oval 8"/>
          <p:cNvSpPr/>
          <p:nvPr/>
        </p:nvSpPr>
        <p:spPr>
          <a:xfrm>
            <a:off x="457199" y="1554480"/>
            <a:ext cx="822960" cy="822960"/>
          </a:xfrm>
          <a:prstGeom prst="ellipse">
            <a:avLst/>
          </a:prstGeom>
          <a:solidFill>
            <a:srgbClr val="1F497D"/>
          </a:solidFill>
          <a:ln>
            <a:noFill/>
          </a:ln>
        </p:spPr>
        <p:txBody>
          <a:bodyPr rtlCol="0" anchor="ctr" wrap="square" lIns="0" rIns="0" tIns="0" bIns="0"/>
          <a:lstStyle/>
          <a:p>
            <a:pPr algn="ctr">
              <a:spcAft>
                <a:spcPts val="0"/>
              </a:spcAft>
            </a:pPr>
            <a:r>
              <a:rPr sz="1500" b="1" i="0">
                <a:solidFill>
                  <a:srgbClr val="FFFFFF"/>
                </a:solidFill>
                <a:latin typeface="Arial"/>
              </a:rPr>
              <a:t>2028</a:t>
            </a:r>
          </a:p>
        </p:txBody>
      </p:sp>
      <p:sp>
        <p:nvSpPr>
          <p:cNvPr id="10" name="Condition"/>
          <p:cNvSpPr txBox="1"/>
          <p:nvPr/>
        </p:nvSpPr>
        <p:spPr>
          <a:xfrm>
            <a:off x="1417319" y="1581912"/>
            <a:ext cx="2661818" cy="320040"/>
          </a:xfrm>
          <a:prstGeom prst="rect">
            <a:avLst/>
          </a:prstGeom>
          <a:noFill/>
        </p:spPr>
        <p:txBody>
          <a:bodyPr wrap="square" anchor="t" lIns="0" rIns="0" tIns="0" bIns="0">
            <a:spAutoFit/>
          </a:bodyPr>
          <a:lstStyle/>
          <a:p>
            <a:pPr algn="l">
              <a:spcAft>
                <a:spcPts val="0"/>
              </a:spcAft>
            </a:pPr>
            <a:r>
              <a:rPr sz="1000" b="1" i="0">
                <a:solidFill>
                  <a:srgbClr val="00AEEF"/>
                </a:solidFill>
                <a:latin typeface="Arial"/>
              </a:rPr>
              <a:t>Base path 1.67m arrivals</a:t>
            </a:r>
          </a:p>
        </p:txBody>
      </p:sp>
      <p:cxnSp>
        <p:nvCxnSpPr>
          <p:cNvPr id="11" name="Label Connector 10"/>
          <p:cNvCxnSpPr/>
          <p:nvPr/>
        </p:nvCxnSpPr>
        <p:spPr>
          <a:xfrm>
            <a:off x="868680" y="2377440"/>
            <a:ext cx="0" cy="2624328"/>
          </a:xfrm>
          <a:prstGeom prst="line">
            <a:avLst/>
          </a:prstGeom>
          <a:ln w="12700">
            <a:solidFill>
              <a:srgbClr val="D9D9D9"/>
            </a:solidFill>
          </a:ln>
        </p:spPr>
      </p:cxnSp>
      <p:sp>
        <p:nvSpPr>
          <p:cNvPr id="12" name="Label Oval 11"/>
          <p:cNvSpPr/>
          <p:nvPr/>
        </p:nvSpPr>
        <p:spPr>
          <a:xfrm>
            <a:off x="749808" y="2697480"/>
            <a:ext cx="237744" cy="237744"/>
          </a:xfrm>
          <a:prstGeom prst="ellipse">
            <a:avLst/>
          </a:prstGeom>
          <a:solidFill>
            <a:srgbClr val="00AEEF"/>
          </a:solidFill>
          <a:ln>
            <a:noFill/>
          </a:ln>
        </p:spPr>
        <p:txBody>
          <a:bodyPr rtlCol="0" anchor="ctr"/>
          <a:lstStyle/>
          <a:p>
            <a:pPr algn="ctr"/>
          </a:p>
        </p:txBody>
      </p:sp>
      <p:sp>
        <p:nvSpPr>
          <p:cNvPr id="13" name="Condition"/>
          <p:cNvSpPr txBox="1"/>
          <p:nvPr/>
        </p:nvSpPr>
        <p:spPr>
          <a:xfrm>
            <a:off x="1143000" y="2606040"/>
            <a:ext cx="2936138" cy="548640"/>
          </a:xfrm>
          <a:prstGeom prst="rect">
            <a:avLst/>
          </a:prstGeom>
          <a:noFill/>
        </p:spPr>
        <p:txBody>
          <a:bodyPr wrap="square" anchor="ctr" lIns="0" rIns="0" tIns="0" bIns="0">
            <a:spAutoFit/>
          </a:bodyPr>
          <a:lstStyle/>
          <a:p>
            <a:pPr algn="l">
              <a:spcAft>
                <a:spcPts val="0"/>
              </a:spcAft>
            </a:pPr>
            <a:r>
              <a:rPr sz="1100" b="0" i="0">
                <a:solidFill>
                  <a:srgbClr val="404040"/>
                </a:solidFill>
                <a:latin typeface="Arial"/>
              </a:rPr>
              <a:t>Regional product bookable online</a:t>
            </a:r>
          </a:p>
        </p:txBody>
      </p:sp>
      <p:sp>
        <p:nvSpPr>
          <p:cNvPr id="14" name="Label Oval 13"/>
          <p:cNvSpPr/>
          <p:nvPr/>
        </p:nvSpPr>
        <p:spPr>
          <a:xfrm>
            <a:off x="749808" y="3410712"/>
            <a:ext cx="237744" cy="237744"/>
          </a:xfrm>
          <a:prstGeom prst="ellipse">
            <a:avLst/>
          </a:prstGeom>
          <a:solidFill>
            <a:srgbClr val="00AEEF"/>
          </a:solidFill>
          <a:ln>
            <a:noFill/>
          </a:ln>
        </p:spPr>
        <p:txBody>
          <a:bodyPr rtlCol="0" anchor="ctr"/>
          <a:lstStyle/>
          <a:p>
            <a:pPr algn="ctr"/>
          </a:p>
        </p:txBody>
      </p:sp>
      <p:sp>
        <p:nvSpPr>
          <p:cNvPr id="15" name="Condition"/>
          <p:cNvSpPr txBox="1"/>
          <p:nvPr/>
        </p:nvSpPr>
        <p:spPr>
          <a:xfrm>
            <a:off x="1143000" y="3319272"/>
            <a:ext cx="2936138" cy="548640"/>
          </a:xfrm>
          <a:prstGeom prst="rect">
            <a:avLst/>
          </a:prstGeom>
          <a:noFill/>
        </p:spPr>
        <p:txBody>
          <a:bodyPr wrap="square" anchor="ctr" lIns="0" rIns="0" tIns="0" bIns="0">
            <a:spAutoFit/>
          </a:bodyPr>
          <a:lstStyle/>
          <a:p>
            <a:pPr algn="l">
              <a:spcAft>
                <a:spcPts val="0"/>
              </a:spcAft>
            </a:pPr>
            <a:r>
              <a:rPr sz="1100" b="0" i="0">
                <a:solidFill>
                  <a:srgbClr val="404040"/>
                </a:solidFill>
                <a:latin typeface="Arial"/>
              </a:rPr>
              <a:t>Green-season events pipeline running</a:t>
            </a:r>
          </a:p>
        </p:txBody>
      </p:sp>
      <p:sp>
        <p:nvSpPr>
          <p:cNvPr id="16" name="Label Rectangle 15"/>
          <p:cNvSpPr/>
          <p:nvPr/>
        </p:nvSpPr>
        <p:spPr>
          <a:xfrm>
            <a:off x="749808" y="4123944"/>
            <a:ext cx="237744" cy="237744"/>
          </a:xfrm>
          <a:prstGeom prst="rect">
            <a:avLst/>
          </a:prstGeom>
          <a:solidFill>
            <a:srgbClr val="4F81BD"/>
          </a:solidFill>
          <a:ln>
            <a:noFill/>
          </a:ln>
        </p:spPr>
        <p:txBody>
          <a:bodyPr rtlCol="0" anchor="ctr"/>
          <a:lstStyle/>
          <a:p>
            <a:pPr algn="ctr"/>
          </a:p>
        </p:txBody>
      </p:sp>
      <p:sp>
        <p:nvSpPr>
          <p:cNvPr id="17" name="Condition"/>
          <p:cNvSpPr txBox="1"/>
          <p:nvPr/>
        </p:nvSpPr>
        <p:spPr>
          <a:xfrm>
            <a:off x="1143000" y="4032504"/>
            <a:ext cx="2936138" cy="548640"/>
          </a:xfrm>
          <a:prstGeom prst="rect">
            <a:avLst/>
          </a:prstGeom>
          <a:noFill/>
        </p:spPr>
        <p:txBody>
          <a:bodyPr wrap="square" anchor="ctr" lIns="0" rIns="0" tIns="0" bIns="0">
            <a:spAutoFit/>
          </a:bodyPr>
          <a:lstStyle/>
          <a:p>
            <a:pPr algn="l">
              <a:spcAft>
                <a:spcPts val="0"/>
              </a:spcAft>
            </a:pPr>
            <a:r>
              <a:rPr sz="1100" b="0" i="0">
                <a:solidFill>
                  <a:srgbClr val="404040"/>
                </a:solidFill>
                <a:latin typeface="Arial"/>
              </a:rPr>
              <a:t>Community pilots trading</a:t>
            </a:r>
          </a:p>
        </p:txBody>
      </p:sp>
      <p:sp>
        <p:nvSpPr>
          <p:cNvPr id="18" name="Label Isosceles Triangle 17"/>
          <p:cNvSpPr/>
          <p:nvPr/>
        </p:nvSpPr>
        <p:spPr>
          <a:xfrm>
            <a:off x="749808" y="4837175"/>
            <a:ext cx="237744" cy="237744"/>
          </a:xfrm>
          <a:prstGeom prst="triangle">
            <a:avLst/>
          </a:prstGeom>
          <a:solidFill>
            <a:srgbClr val="1F497D"/>
          </a:solidFill>
          <a:ln>
            <a:noFill/>
          </a:ln>
        </p:spPr>
        <p:txBody>
          <a:bodyPr rtlCol="0" anchor="ctr"/>
          <a:lstStyle/>
          <a:p>
            <a:pPr algn="ctr"/>
          </a:p>
        </p:txBody>
      </p:sp>
      <p:sp>
        <p:nvSpPr>
          <p:cNvPr id="19" name="Condition"/>
          <p:cNvSpPr txBox="1"/>
          <p:nvPr/>
        </p:nvSpPr>
        <p:spPr>
          <a:xfrm>
            <a:off x="1143000" y="4745736"/>
            <a:ext cx="2936138" cy="548640"/>
          </a:xfrm>
          <a:prstGeom prst="rect">
            <a:avLst/>
          </a:prstGeom>
          <a:noFill/>
        </p:spPr>
        <p:txBody>
          <a:bodyPr wrap="square" anchor="ctr" lIns="0" rIns="0" tIns="0" bIns="0">
            <a:spAutoFit/>
          </a:bodyPr>
          <a:lstStyle/>
          <a:p>
            <a:pPr algn="l">
              <a:spcAft>
                <a:spcPts val="0"/>
              </a:spcAft>
            </a:pPr>
            <a:r>
              <a:rPr sz="1100" b="0" i="0">
                <a:solidFill>
                  <a:srgbClr val="404040"/>
                </a:solidFill>
                <a:latin typeface="Arial"/>
              </a:rPr>
              <a:t>Visa times published; eVisa working</a:t>
            </a:r>
          </a:p>
        </p:txBody>
      </p:sp>
      <p:sp>
        <p:nvSpPr>
          <p:cNvPr id="20" name="Label Oval 19"/>
          <p:cNvSpPr/>
          <p:nvPr/>
        </p:nvSpPr>
        <p:spPr>
          <a:xfrm>
            <a:off x="4262018" y="1554480"/>
            <a:ext cx="822960" cy="822960"/>
          </a:xfrm>
          <a:prstGeom prst="ellipse">
            <a:avLst/>
          </a:prstGeom>
          <a:solidFill>
            <a:srgbClr val="1F497D"/>
          </a:solidFill>
          <a:ln>
            <a:noFill/>
          </a:ln>
        </p:spPr>
        <p:txBody>
          <a:bodyPr rtlCol="0" anchor="ctr" wrap="square" lIns="0" rIns="0" tIns="0" bIns="0"/>
          <a:lstStyle/>
          <a:p>
            <a:pPr algn="ctr">
              <a:spcAft>
                <a:spcPts val="0"/>
              </a:spcAft>
            </a:pPr>
            <a:r>
              <a:rPr sz="1500" b="1" i="0">
                <a:solidFill>
                  <a:srgbClr val="FFFFFF"/>
                </a:solidFill>
                <a:latin typeface="Arial"/>
              </a:rPr>
              <a:t>2030</a:t>
            </a:r>
          </a:p>
        </p:txBody>
      </p:sp>
      <p:sp>
        <p:nvSpPr>
          <p:cNvPr id="21" name="Condition"/>
          <p:cNvSpPr txBox="1"/>
          <p:nvPr/>
        </p:nvSpPr>
        <p:spPr>
          <a:xfrm>
            <a:off x="5222138" y="1581912"/>
            <a:ext cx="2661818" cy="320040"/>
          </a:xfrm>
          <a:prstGeom prst="rect">
            <a:avLst/>
          </a:prstGeom>
          <a:noFill/>
        </p:spPr>
        <p:txBody>
          <a:bodyPr wrap="square" anchor="t" lIns="0" rIns="0" tIns="0" bIns="0">
            <a:spAutoFit/>
          </a:bodyPr>
          <a:lstStyle/>
          <a:p>
            <a:pPr algn="l">
              <a:spcAft>
                <a:spcPts val="0"/>
              </a:spcAft>
            </a:pPr>
            <a:r>
              <a:rPr sz="1000" b="1" i="0">
                <a:solidFill>
                  <a:srgbClr val="00AEEF"/>
                </a:solidFill>
                <a:latin typeface="Arial"/>
              </a:rPr>
              <a:t>Base meets the 1.8m seat ceiling</a:t>
            </a:r>
          </a:p>
        </p:txBody>
      </p:sp>
      <p:cxnSp>
        <p:nvCxnSpPr>
          <p:cNvPr id="22" name="Label Connector 21"/>
          <p:cNvCxnSpPr/>
          <p:nvPr/>
        </p:nvCxnSpPr>
        <p:spPr>
          <a:xfrm>
            <a:off x="4673498" y="2377440"/>
            <a:ext cx="0" cy="2624328"/>
          </a:xfrm>
          <a:prstGeom prst="line">
            <a:avLst/>
          </a:prstGeom>
          <a:ln w="12700">
            <a:solidFill>
              <a:srgbClr val="D9D9D9"/>
            </a:solidFill>
          </a:ln>
        </p:spPr>
      </p:cxnSp>
      <p:sp>
        <p:nvSpPr>
          <p:cNvPr id="23" name="Label Oval 22"/>
          <p:cNvSpPr/>
          <p:nvPr/>
        </p:nvSpPr>
        <p:spPr>
          <a:xfrm>
            <a:off x="4554626" y="2697480"/>
            <a:ext cx="237744" cy="237744"/>
          </a:xfrm>
          <a:prstGeom prst="ellipse">
            <a:avLst/>
          </a:prstGeom>
          <a:solidFill>
            <a:srgbClr val="00AEEF"/>
          </a:solidFill>
          <a:ln>
            <a:noFill/>
          </a:ln>
        </p:spPr>
        <p:txBody>
          <a:bodyPr rtlCol="0" anchor="ctr"/>
          <a:lstStyle/>
          <a:p>
            <a:pPr algn="ctr"/>
          </a:p>
        </p:txBody>
      </p:sp>
      <p:sp>
        <p:nvSpPr>
          <p:cNvPr id="24" name="Condition"/>
          <p:cNvSpPr txBox="1"/>
          <p:nvPr/>
        </p:nvSpPr>
        <p:spPr>
          <a:xfrm>
            <a:off x="4947818" y="2606040"/>
            <a:ext cx="2936138" cy="548640"/>
          </a:xfrm>
          <a:prstGeom prst="rect">
            <a:avLst/>
          </a:prstGeom>
          <a:noFill/>
        </p:spPr>
        <p:txBody>
          <a:bodyPr wrap="square" anchor="ctr" lIns="0" rIns="0" tIns="0" bIns="0">
            <a:spAutoFit/>
          </a:bodyPr>
          <a:lstStyle/>
          <a:p>
            <a:pPr algn="l">
              <a:spcAft>
                <a:spcPts val="0"/>
              </a:spcAft>
            </a:pPr>
            <a:r>
              <a:rPr sz="1100" b="0" i="0">
                <a:solidFill>
                  <a:srgbClr val="404040"/>
                </a:solidFill>
                <a:latin typeface="Arial"/>
              </a:rPr>
              <a:t>Frequency underwritten on full routes</a:t>
            </a:r>
          </a:p>
        </p:txBody>
      </p:sp>
      <p:sp>
        <p:nvSpPr>
          <p:cNvPr id="25" name="Label Isosceles Triangle 24"/>
          <p:cNvSpPr/>
          <p:nvPr/>
        </p:nvSpPr>
        <p:spPr>
          <a:xfrm>
            <a:off x="4554626" y="3410712"/>
            <a:ext cx="237744" cy="237744"/>
          </a:xfrm>
          <a:prstGeom prst="triangle">
            <a:avLst/>
          </a:prstGeom>
          <a:solidFill>
            <a:srgbClr val="1F497D"/>
          </a:solidFill>
          <a:ln>
            <a:noFill/>
          </a:ln>
        </p:spPr>
        <p:txBody>
          <a:bodyPr rtlCol="0" anchor="ctr"/>
          <a:lstStyle/>
          <a:p>
            <a:pPr algn="ctr"/>
          </a:p>
        </p:txBody>
      </p:sp>
      <p:sp>
        <p:nvSpPr>
          <p:cNvPr id="26" name="Condition"/>
          <p:cNvSpPr txBox="1"/>
          <p:nvPr/>
        </p:nvSpPr>
        <p:spPr>
          <a:xfrm>
            <a:off x="4947818" y="3319272"/>
            <a:ext cx="2936138" cy="548640"/>
          </a:xfrm>
          <a:prstGeom prst="rect">
            <a:avLst/>
          </a:prstGeom>
          <a:noFill/>
        </p:spPr>
        <p:txBody>
          <a:bodyPr wrap="square" anchor="ctr" lIns="0" rIns="0" tIns="0" bIns="0">
            <a:spAutoFit/>
          </a:bodyPr>
          <a:lstStyle/>
          <a:p>
            <a:pPr algn="l">
              <a:spcAft>
                <a:spcPts val="0"/>
              </a:spcAft>
            </a:pPr>
            <a:r>
              <a:rPr sz="1100" b="0" i="0">
                <a:solidFill>
                  <a:srgbClr val="404040"/>
                </a:solidFill>
                <a:latin typeface="Arial"/>
              </a:rPr>
              <a:t>Bilateral air agreements eased</a:t>
            </a:r>
          </a:p>
        </p:txBody>
      </p:sp>
      <p:sp>
        <p:nvSpPr>
          <p:cNvPr id="27" name="Label Oval 26"/>
          <p:cNvSpPr/>
          <p:nvPr/>
        </p:nvSpPr>
        <p:spPr>
          <a:xfrm>
            <a:off x="4554626" y="4123944"/>
            <a:ext cx="237744" cy="237744"/>
          </a:xfrm>
          <a:prstGeom prst="ellipse">
            <a:avLst/>
          </a:prstGeom>
          <a:solidFill>
            <a:srgbClr val="00AEEF"/>
          </a:solidFill>
          <a:ln>
            <a:noFill/>
          </a:ln>
        </p:spPr>
        <p:txBody>
          <a:bodyPr rtlCol="0" anchor="ctr"/>
          <a:lstStyle/>
          <a:p>
            <a:pPr algn="ctr"/>
          </a:p>
        </p:txBody>
      </p:sp>
      <p:sp>
        <p:nvSpPr>
          <p:cNvPr id="28" name="Condition"/>
          <p:cNvSpPr txBox="1"/>
          <p:nvPr/>
        </p:nvSpPr>
        <p:spPr>
          <a:xfrm>
            <a:off x="4947818" y="4032504"/>
            <a:ext cx="2936138" cy="548640"/>
          </a:xfrm>
          <a:prstGeom prst="rect">
            <a:avLst/>
          </a:prstGeom>
          <a:noFill/>
        </p:spPr>
        <p:txBody>
          <a:bodyPr wrap="square" anchor="ctr" lIns="0" rIns="0" tIns="0" bIns="0">
            <a:spAutoFit/>
          </a:bodyPr>
          <a:lstStyle/>
          <a:p>
            <a:pPr algn="l">
              <a:spcAft>
                <a:spcPts val="0"/>
              </a:spcAft>
            </a:pPr>
            <a:r>
              <a:rPr sz="1100" b="0" i="0">
                <a:solidFill>
                  <a:srgbClr val="404040"/>
                </a:solidFill>
                <a:latin typeface="Arial"/>
              </a:rPr>
              <a:t>Cruise at the 250-call target</a:t>
            </a:r>
          </a:p>
        </p:txBody>
      </p:sp>
      <p:sp>
        <p:nvSpPr>
          <p:cNvPr id="29" name="Label Rectangle 28"/>
          <p:cNvSpPr/>
          <p:nvPr/>
        </p:nvSpPr>
        <p:spPr>
          <a:xfrm>
            <a:off x="4554626" y="4837175"/>
            <a:ext cx="237744" cy="237744"/>
          </a:xfrm>
          <a:prstGeom prst="rect">
            <a:avLst/>
          </a:prstGeom>
          <a:solidFill>
            <a:srgbClr val="4F81BD"/>
          </a:solidFill>
          <a:ln>
            <a:noFill/>
          </a:ln>
        </p:spPr>
        <p:txBody>
          <a:bodyPr rtlCol="0" anchor="ctr"/>
          <a:lstStyle/>
          <a:p>
            <a:pPr algn="ctr"/>
          </a:p>
        </p:txBody>
      </p:sp>
      <p:sp>
        <p:nvSpPr>
          <p:cNvPr id="30" name="Condition"/>
          <p:cNvSpPr txBox="1"/>
          <p:nvPr/>
        </p:nvSpPr>
        <p:spPr>
          <a:xfrm>
            <a:off x="4947818" y="4745736"/>
            <a:ext cx="2936138" cy="548640"/>
          </a:xfrm>
          <a:prstGeom prst="rect">
            <a:avLst/>
          </a:prstGeom>
          <a:noFill/>
        </p:spPr>
        <p:txBody>
          <a:bodyPr wrap="square" anchor="ctr" lIns="0" rIns="0" tIns="0" bIns="0">
            <a:spAutoFit/>
          </a:bodyPr>
          <a:lstStyle/>
          <a:p>
            <a:pPr algn="l">
              <a:spcAft>
                <a:spcPts val="0"/>
              </a:spcAft>
            </a:pPr>
            <a:r>
              <a:rPr sz="1100" b="0" i="0">
                <a:solidFill>
                  <a:srgbClr val="404040"/>
                </a:solidFill>
                <a:latin typeface="Arial"/>
              </a:rPr>
              <a:t>Shuttles on priority touring routes</a:t>
            </a:r>
          </a:p>
        </p:txBody>
      </p:sp>
      <p:sp>
        <p:nvSpPr>
          <p:cNvPr id="31" name="Label Oval 30"/>
          <p:cNvSpPr/>
          <p:nvPr/>
        </p:nvSpPr>
        <p:spPr>
          <a:xfrm>
            <a:off x="8066836" y="1554480"/>
            <a:ext cx="822960" cy="822960"/>
          </a:xfrm>
          <a:prstGeom prst="ellipse">
            <a:avLst/>
          </a:prstGeom>
          <a:solidFill>
            <a:srgbClr val="1F497D"/>
          </a:solidFill>
          <a:ln>
            <a:noFill/>
          </a:ln>
        </p:spPr>
        <p:txBody>
          <a:bodyPr rtlCol="0" anchor="ctr" wrap="square" lIns="0" rIns="0" tIns="0" bIns="0"/>
          <a:lstStyle/>
          <a:p>
            <a:pPr algn="ctr">
              <a:spcAft>
                <a:spcPts val="0"/>
              </a:spcAft>
            </a:pPr>
            <a:r>
              <a:rPr sz="1500" b="1" i="0">
                <a:solidFill>
                  <a:srgbClr val="FFFFFF"/>
                </a:solidFill>
                <a:latin typeface="Arial"/>
              </a:rPr>
              <a:t>2035</a:t>
            </a:r>
          </a:p>
        </p:txBody>
      </p:sp>
      <p:sp>
        <p:nvSpPr>
          <p:cNvPr id="32" name="Condition"/>
          <p:cNvSpPr txBox="1"/>
          <p:nvPr/>
        </p:nvSpPr>
        <p:spPr>
          <a:xfrm>
            <a:off x="9026956" y="1581912"/>
            <a:ext cx="2661818" cy="320040"/>
          </a:xfrm>
          <a:prstGeom prst="rect">
            <a:avLst/>
          </a:prstGeom>
          <a:noFill/>
        </p:spPr>
        <p:txBody>
          <a:bodyPr wrap="square" anchor="t" lIns="0" rIns="0" tIns="0" bIns="0">
            <a:spAutoFit/>
          </a:bodyPr>
          <a:lstStyle/>
          <a:p>
            <a:pPr algn="l">
              <a:spcAft>
                <a:spcPts val="0"/>
              </a:spcAft>
            </a:pPr>
            <a:r>
              <a:rPr sz="1000" b="1" i="0">
                <a:solidFill>
                  <a:srgbClr val="00AEEF"/>
                </a:solidFill>
                <a:latin typeface="Arial"/>
              </a:rPr>
              <a:t>Goal 2.8m arrivals</a:t>
            </a:r>
          </a:p>
        </p:txBody>
      </p:sp>
      <p:cxnSp>
        <p:nvCxnSpPr>
          <p:cNvPr id="33" name="Label Connector 32"/>
          <p:cNvCxnSpPr/>
          <p:nvPr/>
        </p:nvCxnSpPr>
        <p:spPr>
          <a:xfrm>
            <a:off x="8478316" y="2377440"/>
            <a:ext cx="0" cy="2624328"/>
          </a:xfrm>
          <a:prstGeom prst="line">
            <a:avLst/>
          </a:prstGeom>
          <a:ln w="12700">
            <a:solidFill>
              <a:srgbClr val="D9D9D9"/>
            </a:solidFill>
          </a:ln>
        </p:spPr>
      </p:cxnSp>
      <p:sp>
        <p:nvSpPr>
          <p:cNvPr id="34" name="Label Isosceles Triangle 33"/>
          <p:cNvSpPr/>
          <p:nvPr/>
        </p:nvSpPr>
        <p:spPr>
          <a:xfrm>
            <a:off x="8359444" y="2697480"/>
            <a:ext cx="237744" cy="237744"/>
          </a:xfrm>
          <a:prstGeom prst="triangle">
            <a:avLst/>
          </a:prstGeom>
          <a:solidFill>
            <a:srgbClr val="1F497D"/>
          </a:solidFill>
          <a:ln>
            <a:noFill/>
          </a:ln>
        </p:spPr>
        <p:txBody>
          <a:bodyPr rtlCol="0" anchor="ctr"/>
          <a:lstStyle/>
          <a:p>
            <a:pPr algn="ctr"/>
          </a:p>
        </p:txBody>
      </p:sp>
      <p:sp>
        <p:nvSpPr>
          <p:cNvPr id="35" name="Condition"/>
          <p:cNvSpPr txBox="1"/>
          <p:nvPr/>
        </p:nvSpPr>
        <p:spPr>
          <a:xfrm>
            <a:off x="8752636" y="2606040"/>
            <a:ext cx="2936138" cy="548640"/>
          </a:xfrm>
          <a:prstGeom prst="rect">
            <a:avLst/>
          </a:prstGeom>
          <a:noFill/>
        </p:spPr>
        <p:txBody>
          <a:bodyPr wrap="square" anchor="ctr" lIns="0" rIns="0" tIns="0" bIns="0">
            <a:spAutoFit/>
          </a:bodyPr>
          <a:lstStyle/>
          <a:p>
            <a:pPr algn="l">
              <a:spcAft>
                <a:spcPts val="0"/>
              </a:spcAft>
            </a:pPr>
            <a:r>
              <a:rPr sz="1100" b="0" i="0">
                <a:solidFill>
                  <a:srgbClr val="404040"/>
                </a:solidFill>
                <a:latin typeface="Arial"/>
              </a:rPr>
              <a:t>Direct India and China services flying</a:t>
            </a:r>
          </a:p>
        </p:txBody>
      </p:sp>
      <p:sp>
        <p:nvSpPr>
          <p:cNvPr id="36" name="Label Rectangle 35"/>
          <p:cNvSpPr/>
          <p:nvPr/>
        </p:nvSpPr>
        <p:spPr>
          <a:xfrm>
            <a:off x="8359444" y="3410712"/>
            <a:ext cx="237744" cy="237744"/>
          </a:xfrm>
          <a:prstGeom prst="rect">
            <a:avLst/>
          </a:prstGeom>
          <a:solidFill>
            <a:srgbClr val="4F81BD"/>
          </a:solidFill>
          <a:ln>
            <a:noFill/>
          </a:ln>
        </p:spPr>
        <p:txBody>
          <a:bodyPr rtlCol="0" anchor="ctr"/>
          <a:lstStyle/>
          <a:p>
            <a:pPr algn="ctr"/>
          </a:p>
        </p:txBody>
      </p:sp>
      <p:sp>
        <p:nvSpPr>
          <p:cNvPr id="37" name="Condition"/>
          <p:cNvSpPr txBox="1"/>
          <p:nvPr/>
        </p:nvSpPr>
        <p:spPr>
          <a:xfrm>
            <a:off x="8752636" y="3319272"/>
            <a:ext cx="2936138" cy="548640"/>
          </a:xfrm>
          <a:prstGeom prst="rect">
            <a:avLst/>
          </a:prstGeom>
          <a:noFill/>
        </p:spPr>
        <p:txBody>
          <a:bodyPr wrap="square" anchor="ctr" lIns="0" rIns="0" tIns="0" bIns="0">
            <a:spAutoFit/>
          </a:bodyPr>
          <a:lstStyle/>
          <a:p>
            <a:pPr algn="l">
              <a:spcAft>
                <a:spcPts val="0"/>
              </a:spcAft>
            </a:pPr>
            <a:r>
              <a:rPr sz="1100" b="0" i="0">
                <a:solidFill>
                  <a:srgbClr val="404040"/>
                </a:solidFill>
                <a:latin typeface="Arial"/>
              </a:rPr>
              <a:t>Access raised on every priority route</a:t>
            </a:r>
          </a:p>
        </p:txBody>
      </p:sp>
      <p:sp>
        <p:nvSpPr>
          <p:cNvPr id="38" name="Label Oval 37"/>
          <p:cNvSpPr/>
          <p:nvPr/>
        </p:nvSpPr>
        <p:spPr>
          <a:xfrm>
            <a:off x="8359444" y="4123944"/>
            <a:ext cx="237744" cy="237744"/>
          </a:xfrm>
          <a:prstGeom prst="ellipse">
            <a:avLst/>
          </a:prstGeom>
          <a:solidFill>
            <a:srgbClr val="00AEEF"/>
          </a:solidFill>
          <a:ln>
            <a:noFill/>
          </a:ln>
        </p:spPr>
        <p:txBody>
          <a:bodyPr rtlCol="0" anchor="ctr"/>
          <a:lstStyle/>
          <a:p>
            <a:pPr algn="ctr"/>
          </a:p>
        </p:txBody>
      </p:sp>
      <p:sp>
        <p:nvSpPr>
          <p:cNvPr id="39" name="Condition"/>
          <p:cNvSpPr txBox="1"/>
          <p:nvPr/>
        </p:nvSpPr>
        <p:spPr>
          <a:xfrm>
            <a:off x="8752636" y="4032504"/>
            <a:ext cx="2936138" cy="548640"/>
          </a:xfrm>
          <a:prstGeom prst="rect">
            <a:avLst/>
          </a:prstGeom>
          <a:noFill/>
        </p:spPr>
        <p:txBody>
          <a:bodyPr wrap="square" anchor="ctr" lIns="0" rIns="0" tIns="0" bIns="0">
            <a:spAutoFit/>
          </a:bodyPr>
          <a:lstStyle/>
          <a:p>
            <a:pPr algn="l">
              <a:spcAft>
                <a:spcPts val="0"/>
              </a:spcAft>
            </a:pPr>
            <a:r>
              <a:rPr sz="1100" b="0" i="0">
                <a:solidFill>
                  <a:srgbClr val="404040"/>
                </a:solidFill>
                <a:latin typeface="Arial"/>
              </a:rPr>
              <a:t>M&amp;E tracking arrivals, spend and jobs</a:t>
            </a:r>
          </a:p>
        </p:txBody>
      </p:sp>
      <p:sp>
        <p:nvSpPr>
          <p:cNvPr id="40" name="Label Rectangle 39"/>
          <p:cNvSpPr/>
          <p:nvPr/>
        </p:nvSpPr>
        <p:spPr>
          <a:xfrm>
            <a:off x="8359444" y="4837175"/>
            <a:ext cx="237744" cy="237744"/>
          </a:xfrm>
          <a:prstGeom prst="rect">
            <a:avLst/>
          </a:prstGeom>
          <a:solidFill>
            <a:srgbClr val="4F81BD"/>
          </a:solidFill>
          <a:ln>
            <a:noFill/>
          </a:ln>
        </p:spPr>
        <p:txBody>
          <a:bodyPr rtlCol="0" anchor="ctr"/>
          <a:lstStyle/>
          <a:p>
            <a:pPr algn="ctr"/>
          </a:p>
        </p:txBody>
      </p:sp>
      <p:sp>
        <p:nvSpPr>
          <p:cNvPr id="41" name="Condition"/>
          <p:cNvSpPr txBox="1"/>
          <p:nvPr/>
        </p:nvSpPr>
        <p:spPr>
          <a:xfrm>
            <a:off x="8752636" y="4745736"/>
            <a:ext cx="2936138" cy="548640"/>
          </a:xfrm>
          <a:prstGeom prst="rect">
            <a:avLst/>
          </a:prstGeom>
          <a:noFill/>
        </p:spPr>
        <p:txBody>
          <a:bodyPr wrap="square" anchor="ctr" lIns="0" rIns="0" tIns="0" bIns="0">
            <a:spAutoFit/>
          </a:bodyPr>
          <a:lstStyle/>
          <a:p>
            <a:pPr algn="l">
              <a:spcAft>
                <a:spcPts val="0"/>
              </a:spcAft>
            </a:pPr>
            <a:r>
              <a:rPr sz="1100" b="0" i="0">
                <a:solidFill>
                  <a:srgbClr val="404040"/>
                </a:solidFill>
                <a:latin typeface="Arial"/>
              </a:rPr>
              <a:t>Communities capture 1% of foreign spend</a:t>
            </a:r>
          </a:p>
        </p:txBody>
      </p:sp>
      <p:sp>
        <p:nvSpPr>
          <p:cNvPr id="42" name="Label Oval 41"/>
          <p:cNvSpPr/>
          <p:nvPr/>
        </p:nvSpPr>
        <p:spPr>
          <a:xfrm>
            <a:off x="457200" y="5559552"/>
            <a:ext cx="182880" cy="182880"/>
          </a:xfrm>
          <a:prstGeom prst="ellipse">
            <a:avLst/>
          </a:prstGeom>
          <a:solidFill>
            <a:srgbClr val="00AEEF"/>
          </a:solidFill>
          <a:ln>
            <a:noFill/>
          </a:ln>
        </p:spPr>
        <p:txBody>
          <a:bodyPr rtlCol="0" anchor="ctr"/>
          <a:lstStyle/>
          <a:p>
            <a:pPr algn="ctr"/>
          </a:p>
        </p:txBody>
      </p:sp>
      <p:sp>
        <p:nvSpPr>
          <p:cNvPr id="43" name="Label TextBox 42"/>
          <p:cNvSpPr txBox="1"/>
          <p:nvPr/>
        </p:nvSpPr>
        <p:spPr>
          <a:xfrm>
            <a:off x="713232" y="5513832"/>
            <a:ext cx="2743200" cy="274320"/>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Wesgro leads</a:t>
            </a:r>
          </a:p>
        </p:txBody>
      </p:sp>
      <p:sp>
        <p:nvSpPr>
          <p:cNvPr id="44" name="Label Rectangle 43"/>
          <p:cNvSpPr/>
          <p:nvPr/>
        </p:nvSpPr>
        <p:spPr>
          <a:xfrm>
            <a:off x="3383280" y="5559552"/>
            <a:ext cx="182880" cy="182880"/>
          </a:xfrm>
          <a:prstGeom prst="rect">
            <a:avLst/>
          </a:prstGeom>
          <a:solidFill>
            <a:srgbClr val="4F81BD"/>
          </a:solidFill>
          <a:ln>
            <a:noFill/>
          </a:ln>
        </p:spPr>
        <p:txBody>
          <a:bodyPr rtlCol="0" anchor="ctr"/>
          <a:lstStyle/>
          <a:p>
            <a:pPr algn="ctr"/>
          </a:p>
        </p:txBody>
      </p:sp>
      <p:sp>
        <p:nvSpPr>
          <p:cNvPr id="45" name="Label TextBox 44"/>
          <p:cNvSpPr txBox="1"/>
          <p:nvPr/>
        </p:nvSpPr>
        <p:spPr>
          <a:xfrm>
            <a:off x="3639312" y="5513832"/>
            <a:ext cx="2743200" cy="274320"/>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Province and municipalities lead</a:t>
            </a:r>
          </a:p>
        </p:txBody>
      </p:sp>
      <p:sp>
        <p:nvSpPr>
          <p:cNvPr id="46" name="Label Isosceles Triangle 45"/>
          <p:cNvSpPr/>
          <p:nvPr/>
        </p:nvSpPr>
        <p:spPr>
          <a:xfrm>
            <a:off x="6309360" y="5559552"/>
            <a:ext cx="182880" cy="182880"/>
          </a:xfrm>
          <a:prstGeom prst="triangle">
            <a:avLst/>
          </a:prstGeom>
          <a:solidFill>
            <a:srgbClr val="1F497D"/>
          </a:solidFill>
          <a:ln>
            <a:noFill/>
          </a:ln>
        </p:spPr>
        <p:txBody>
          <a:bodyPr rtlCol="0" anchor="ctr"/>
          <a:lstStyle/>
          <a:p>
            <a:pPr algn="ctr"/>
          </a:p>
        </p:txBody>
      </p:sp>
      <p:sp>
        <p:nvSpPr>
          <p:cNvPr id="47" name="Label TextBox 46"/>
          <p:cNvSpPr txBox="1"/>
          <p:nvPr/>
        </p:nvSpPr>
        <p:spPr>
          <a:xfrm>
            <a:off x="6565392" y="5513832"/>
            <a:ext cx="2743200" cy="274320"/>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National government leads</a:t>
            </a:r>
          </a:p>
        </p:txBody>
      </p:sp>
      <p:sp>
        <p:nvSpPr>
          <p:cNvPr id="48" name="Label TextBox 47"/>
          <p:cNvSpPr txBox="1"/>
          <p:nvPr/>
        </p:nvSpPr>
        <p:spPr>
          <a:xfrm>
            <a:off x="9235440" y="5513832"/>
            <a:ext cx="3108960"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Lead tier is where the lever sits.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Seven gaps are worth closing in six weeks; the rest we bound, fold in or park</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05 | SYNTHESIS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Letsema assessment. SLA requirements from Annexure B clauses 1.1.2, 1.1.4, 1.1.6, 1.1.7, 1.1.8 and 1.1.10; RFP s2 to s4</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19</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Label Rectangle 7"/>
          <p:cNvSpPr/>
          <p:nvPr/>
        </p:nvSpPr>
        <p:spPr>
          <a:xfrm>
            <a:off x="1417320" y="1417320"/>
            <a:ext cx="6400800" cy="3886200"/>
          </a:xfrm>
          <a:prstGeom prst="rect">
            <a:avLst/>
          </a:prstGeom>
          <a:solidFill>
            <a:srgbClr val="FFFFFF"/>
          </a:solidFill>
          <a:ln w="9525">
            <a:solidFill>
              <a:srgbClr val="D9D9D9"/>
            </a:solidFill>
          </a:ln>
        </p:spPr>
        <p:txBody>
          <a:bodyPr rtlCol="0" anchor="ctr"/>
          <a:lstStyle/>
          <a:p>
            <a:pPr algn="ctr"/>
          </a:p>
        </p:txBody>
      </p:sp>
      <p:sp>
        <p:nvSpPr>
          <p:cNvPr id="9" name="Label Rectangle 8"/>
          <p:cNvSpPr/>
          <p:nvPr/>
        </p:nvSpPr>
        <p:spPr>
          <a:xfrm>
            <a:off x="4617720" y="1417320"/>
            <a:ext cx="3200400" cy="1943100"/>
          </a:xfrm>
          <a:prstGeom prst="rect">
            <a:avLst/>
          </a:prstGeom>
          <a:solidFill>
            <a:srgbClr val="DCEEF7"/>
          </a:solidFill>
          <a:ln>
            <a:noFill/>
          </a:ln>
        </p:spPr>
        <p:txBody>
          <a:bodyPr rtlCol="0" anchor="ctr"/>
          <a:lstStyle/>
          <a:p>
            <a:pPr algn="ctr"/>
          </a:p>
        </p:txBody>
      </p:sp>
      <p:cxnSp>
        <p:nvCxnSpPr>
          <p:cNvPr id="10" name="Label Connector 9"/>
          <p:cNvCxnSpPr/>
          <p:nvPr/>
        </p:nvCxnSpPr>
        <p:spPr>
          <a:xfrm>
            <a:off x="4617720" y="1417320"/>
            <a:ext cx="0" cy="3886200"/>
          </a:xfrm>
          <a:prstGeom prst="line">
            <a:avLst/>
          </a:prstGeom>
          <a:ln w="12700">
            <a:solidFill>
              <a:srgbClr val="D9D9D9"/>
            </a:solidFill>
          </a:ln>
        </p:spPr>
      </p:cxnSp>
      <p:cxnSp>
        <p:nvCxnSpPr>
          <p:cNvPr id="11" name="Label Connector 10"/>
          <p:cNvCxnSpPr/>
          <p:nvPr/>
        </p:nvCxnSpPr>
        <p:spPr>
          <a:xfrm>
            <a:off x="1417320" y="3360420"/>
            <a:ext cx="6400800" cy="0"/>
          </a:xfrm>
          <a:prstGeom prst="line">
            <a:avLst/>
          </a:prstGeom>
          <a:ln w="12700">
            <a:solidFill>
              <a:srgbClr val="D9D9D9"/>
            </a:solidFill>
          </a:ln>
        </p:spPr>
      </p:cxnSp>
      <p:sp>
        <p:nvSpPr>
          <p:cNvPr id="12" name="Label TextBox 11"/>
          <p:cNvSpPr txBox="1"/>
          <p:nvPr/>
        </p:nvSpPr>
        <p:spPr>
          <a:xfrm>
            <a:off x="1508760" y="1481328"/>
            <a:ext cx="3017520" cy="228600"/>
          </a:xfrm>
          <a:prstGeom prst="rect">
            <a:avLst/>
          </a:prstGeom>
          <a:noFill/>
        </p:spPr>
        <p:txBody>
          <a:bodyPr wrap="square" anchor="t" lIns="0" rIns="0" tIns="0" bIns="0">
            <a:spAutoFit/>
          </a:bodyPr>
          <a:lstStyle/>
          <a:p>
            <a:pPr algn="l">
              <a:spcAft>
                <a:spcPts val="0"/>
              </a:spcAft>
            </a:pPr>
            <a:r>
              <a:rPr sz="900" b="1" i="0">
                <a:solidFill>
                  <a:srgbClr val="7F7F7F"/>
                </a:solidFill>
                <a:latin typeface="Arial"/>
              </a:rPr>
              <a:t>BOUND AND FLAG</a:t>
            </a:r>
          </a:p>
        </p:txBody>
      </p:sp>
      <p:sp>
        <p:nvSpPr>
          <p:cNvPr id="13" name="Label TextBox 12"/>
          <p:cNvSpPr txBox="1"/>
          <p:nvPr/>
        </p:nvSpPr>
        <p:spPr>
          <a:xfrm>
            <a:off x="4709159" y="1481328"/>
            <a:ext cx="3017520" cy="228600"/>
          </a:xfrm>
          <a:prstGeom prst="rect">
            <a:avLst/>
          </a:prstGeom>
          <a:noFill/>
        </p:spPr>
        <p:txBody>
          <a:bodyPr wrap="square" anchor="t" lIns="0" rIns="0" tIns="0" bIns="0">
            <a:spAutoFit/>
          </a:bodyPr>
          <a:lstStyle/>
          <a:p>
            <a:pPr algn="l">
              <a:spcAft>
                <a:spcPts val="0"/>
              </a:spcAft>
            </a:pPr>
            <a:r>
              <a:rPr sz="900" b="1" i="0">
                <a:solidFill>
                  <a:srgbClr val="1F497D"/>
                </a:solidFill>
                <a:latin typeface="Arial"/>
              </a:rPr>
              <a:t>CLOSE IN SIX WEEKS</a:t>
            </a:r>
          </a:p>
        </p:txBody>
      </p:sp>
      <p:sp>
        <p:nvSpPr>
          <p:cNvPr id="14" name="Label TextBox 13"/>
          <p:cNvSpPr txBox="1"/>
          <p:nvPr/>
        </p:nvSpPr>
        <p:spPr>
          <a:xfrm>
            <a:off x="1508760" y="3424427"/>
            <a:ext cx="3017520" cy="228600"/>
          </a:xfrm>
          <a:prstGeom prst="rect">
            <a:avLst/>
          </a:prstGeom>
          <a:noFill/>
        </p:spPr>
        <p:txBody>
          <a:bodyPr wrap="square" anchor="t" lIns="0" rIns="0" tIns="0" bIns="0">
            <a:spAutoFit/>
          </a:bodyPr>
          <a:lstStyle/>
          <a:p>
            <a:pPr algn="l">
              <a:spcAft>
                <a:spcPts val="0"/>
              </a:spcAft>
            </a:pPr>
            <a:r>
              <a:rPr sz="900" b="1" i="0">
                <a:solidFill>
                  <a:srgbClr val="7F7F7F"/>
                </a:solidFill>
                <a:latin typeface="Arial"/>
              </a:rPr>
              <a:t>PARK</a:t>
            </a:r>
          </a:p>
        </p:txBody>
      </p:sp>
      <p:sp>
        <p:nvSpPr>
          <p:cNvPr id="15" name="Label TextBox 14"/>
          <p:cNvSpPr txBox="1"/>
          <p:nvPr/>
        </p:nvSpPr>
        <p:spPr>
          <a:xfrm>
            <a:off x="4709159" y="3424427"/>
            <a:ext cx="3017520" cy="228600"/>
          </a:xfrm>
          <a:prstGeom prst="rect">
            <a:avLst/>
          </a:prstGeom>
          <a:noFill/>
        </p:spPr>
        <p:txBody>
          <a:bodyPr wrap="square" anchor="t" lIns="0" rIns="0" tIns="0" bIns="0">
            <a:spAutoFit/>
          </a:bodyPr>
          <a:lstStyle/>
          <a:p>
            <a:pPr algn="l">
              <a:spcAft>
                <a:spcPts val="0"/>
              </a:spcAft>
            </a:pPr>
            <a:r>
              <a:rPr sz="900" b="1" i="0">
                <a:solidFill>
                  <a:srgbClr val="7F7F7F"/>
                </a:solidFill>
                <a:latin typeface="Arial"/>
              </a:rPr>
              <a:t>FOLD IN</a:t>
            </a:r>
          </a:p>
        </p:txBody>
      </p:sp>
      <p:sp>
        <p:nvSpPr>
          <p:cNvPr id="16" name="Label TextBox 15"/>
          <p:cNvSpPr txBox="1"/>
          <p:nvPr/>
        </p:nvSpPr>
        <p:spPr>
          <a:xfrm>
            <a:off x="1417320" y="5349240"/>
            <a:ext cx="1371600" cy="228600"/>
          </a:xfrm>
          <a:prstGeom prst="rect">
            <a:avLst/>
          </a:prstGeom>
          <a:noFill/>
        </p:spPr>
        <p:txBody>
          <a:bodyPr wrap="square" anchor="t" lIns="0" rIns="0" tIns="0" bIns="0">
            <a:spAutoFit/>
          </a:bodyPr>
          <a:lstStyle/>
          <a:p>
            <a:pPr algn="l">
              <a:spcAft>
                <a:spcPts val="0"/>
              </a:spcAft>
            </a:pPr>
            <a:r>
              <a:rPr sz="900" b="0" i="0">
                <a:solidFill>
                  <a:srgbClr val="7F7F7F"/>
                </a:solidFill>
                <a:latin typeface="Arial"/>
              </a:rPr>
              <a:t>High effort</a:t>
            </a:r>
          </a:p>
        </p:txBody>
      </p:sp>
      <p:sp>
        <p:nvSpPr>
          <p:cNvPr id="17" name="Label TextBox 16"/>
          <p:cNvSpPr txBox="1"/>
          <p:nvPr/>
        </p:nvSpPr>
        <p:spPr>
          <a:xfrm>
            <a:off x="6446520" y="5349240"/>
            <a:ext cx="1371600" cy="228600"/>
          </a:xfrm>
          <a:prstGeom prst="rect">
            <a:avLst/>
          </a:prstGeom>
          <a:noFill/>
        </p:spPr>
        <p:txBody>
          <a:bodyPr wrap="square" anchor="t" lIns="0" rIns="0" tIns="0" bIns="0">
            <a:spAutoFit/>
          </a:bodyPr>
          <a:lstStyle/>
          <a:p>
            <a:pPr algn="r">
              <a:spcAft>
                <a:spcPts val="0"/>
              </a:spcAft>
            </a:pPr>
            <a:r>
              <a:rPr sz="900" b="0" i="0">
                <a:solidFill>
                  <a:srgbClr val="7F7F7F"/>
                </a:solidFill>
                <a:latin typeface="Arial"/>
              </a:rPr>
              <a:t>Low effort</a:t>
            </a:r>
          </a:p>
        </p:txBody>
      </p:sp>
      <p:sp>
        <p:nvSpPr>
          <p:cNvPr id="18" name="Label TextBox 17"/>
          <p:cNvSpPr txBox="1"/>
          <p:nvPr/>
        </p:nvSpPr>
        <p:spPr>
          <a:xfrm>
            <a:off x="1417320" y="5349240"/>
            <a:ext cx="6400800" cy="228600"/>
          </a:xfrm>
          <a:prstGeom prst="rect">
            <a:avLst/>
          </a:prstGeom>
          <a:noFill/>
        </p:spPr>
        <p:txBody>
          <a:bodyPr wrap="square" anchor="t" lIns="0" rIns="0" tIns="0" bIns="0">
            <a:spAutoFit/>
          </a:bodyPr>
          <a:lstStyle/>
          <a:p>
            <a:pPr algn="ctr">
              <a:spcAft>
                <a:spcPts val="0"/>
              </a:spcAft>
            </a:pPr>
            <a:r>
              <a:rPr sz="950" b="1" i="0">
                <a:solidFill>
                  <a:srgbClr val="1F497D"/>
                </a:solidFill>
                <a:latin typeface="Arial"/>
              </a:rPr>
              <a:t>Effort to close in six weeks</a:t>
            </a:r>
          </a:p>
        </p:txBody>
      </p:sp>
      <p:sp>
        <p:nvSpPr>
          <p:cNvPr id="19" name="Label TextBox 18"/>
          <p:cNvSpPr txBox="1"/>
          <p:nvPr/>
        </p:nvSpPr>
        <p:spPr>
          <a:xfrm>
            <a:off x="457200" y="1417320"/>
            <a:ext cx="868680" cy="228600"/>
          </a:xfrm>
          <a:prstGeom prst="rect">
            <a:avLst/>
          </a:prstGeom>
          <a:noFill/>
        </p:spPr>
        <p:txBody>
          <a:bodyPr wrap="square" anchor="t" lIns="0" rIns="0" tIns="0" bIns="0">
            <a:spAutoFit/>
          </a:bodyPr>
          <a:lstStyle/>
          <a:p>
            <a:pPr algn="r">
              <a:spcAft>
                <a:spcPts val="0"/>
              </a:spcAft>
            </a:pPr>
            <a:r>
              <a:rPr sz="900" b="0" i="0">
                <a:solidFill>
                  <a:srgbClr val="7F7F7F"/>
                </a:solidFill>
                <a:latin typeface="Arial"/>
              </a:rPr>
              <a:t>High</a:t>
            </a:r>
          </a:p>
        </p:txBody>
      </p:sp>
      <p:sp>
        <p:nvSpPr>
          <p:cNvPr id="20" name="Label TextBox 19"/>
          <p:cNvSpPr txBox="1"/>
          <p:nvPr/>
        </p:nvSpPr>
        <p:spPr>
          <a:xfrm>
            <a:off x="457200" y="5074920"/>
            <a:ext cx="868680" cy="228600"/>
          </a:xfrm>
          <a:prstGeom prst="rect">
            <a:avLst/>
          </a:prstGeom>
          <a:noFill/>
        </p:spPr>
        <p:txBody>
          <a:bodyPr wrap="square" anchor="t" lIns="0" rIns="0" tIns="0" bIns="0">
            <a:spAutoFit/>
          </a:bodyPr>
          <a:lstStyle/>
          <a:p>
            <a:pPr algn="r">
              <a:spcAft>
                <a:spcPts val="0"/>
              </a:spcAft>
            </a:pPr>
            <a:r>
              <a:rPr sz="900" b="0" i="0">
                <a:solidFill>
                  <a:srgbClr val="7F7F7F"/>
                </a:solidFill>
                <a:latin typeface="Arial"/>
              </a:rPr>
              <a:t>Low</a:t>
            </a:r>
          </a:p>
        </p:txBody>
      </p:sp>
      <p:sp>
        <p:nvSpPr>
          <p:cNvPr id="21" name="Label TextBox 20"/>
          <p:cNvSpPr txBox="1"/>
          <p:nvPr/>
        </p:nvSpPr>
        <p:spPr>
          <a:xfrm>
            <a:off x="457200" y="1417320"/>
            <a:ext cx="868680" cy="3886200"/>
          </a:xfrm>
          <a:prstGeom prst="rect">
            <a:avLst/>
          </a:prstGeom>
          <a:noFill/>
        </p:spPr>
        <p:txBody>
          <a:bodyPr wrap="square" anchor="ctr" lIns="0" rIns="0" tIns="0" bIns="0">
            <a:spAutoFit/>
          </a:bodyPr>
          <a:lstStyle/>
          <a:p>
            <a:pPr algn="r">
              <a:spcAft>
                <a:spcPts val="0"/>
              </a:spcAft>
            </a:pPr>
            <a:r>
              <a:rPr sz="950" b="1" i="0">
                <a:solidFill>
                  <a:srgbClr val="1F497D"/>
                </a:solidFill>
                <a:latin typeface="Arial"/>
              </a:rPr>
              <a:t>Consequence for the final report</a:t>
            </a:r>
          </a:p>
        </p:txBody>
      </p:sp>
      <p:sp>
        <p:nvSpPr>
          <p:cNvPr id="22" name="Label Oval 21"/>
          <p:cNvSpPr/>
          <p:nvPr/>
        </p:nvSpPr>
        <p:spPr>
          <a:xfrm>
            <a:off x="6455664" y="1728216"/>
            <a:ext cx="164592" cy="164592"/>
          </a:xfrm>
          <a:prstGeom prst="ellipse">
            <a:avLst/>
          </a:prstGeom>
          <a:solidFill>
            <a:srgbClr val="00AEEF"/>
          </a:solidFill>
          <a:ln>
            <a:noFill/>
          </a:ln>
        </p:spPr>
        <p:txBody>
          <a:bodyPr rtlCol="0" anchor="ctr"/>
          <a:lstStyle/>
          <a:p>
            <a:pPr algn="ctr"/>
          </a:p>
        </p:txBody>
      </p:sp>
      <p:sp>
        <p:nvSpPr>
          <p:cNvPr id="23" name="Label TextBox 22"/>
          <p:cNvSpPr txBox="1"/>
          <p:nvPr/>
        </p:nvSpPr>
        <p:spPr>
          <a:xfrm>
            <a:off x="6665976" y="1691640"/>
            <a:ext cx="2377440" cy="237744"/>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M&amp;E toolkit</a:t>
            </a:r>
          </a:p>
        </p:txBody>
      </p:sp>
      <p:sp>
        <p:nvSpPr>
          <p:cNvPr id="24" name="Label Oval 23"/>
          <p:cNvSpPr/>
          <p:nvPr/>
        </p:nvSpPr>
        <p:spPr>
          <a:xfrm>
            <a:off x="4919472" y="1975104"/>
            <a:ext cx="164592" cy="164592"/>
          </a:xfrm>
          <a:prstGeom prst="ellipse">
            <a:avLst/>
          </a:prstGeom>
          <a:solidFill>
            <a:srgbClr val="00AEEF"/>
          </a:solidFill>
          <a:ln>
            <a:noFill/>
          </a:ln>
        </p:spPr>
        <p:txBody>
          <a:bodyPr rtlCol="0" anchor="ctr"/>
          <a:lstStyle/>
          <a:p>
            <a:pPr algn="ctr"/>
          </a:p>
        </p:txBody>
      </p:sp>
      <p:sp>
        <p:nvSpPr>
          <p:cNvPr id="25" name="Label TextBox 24"/>
          <p:cNvSpPr txBox="1"/>
          <p:nvPr/>
        </p:nvSpPr>
        <p:spPr>
          <a:xfrm>
            <a:off x="5129784" y="1938528"/>
            <a:ext cx="2377440" cy="237744"/>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Investment pipeline and ROI</a:t>
            </a:r>
          </a:p>
        </p:txBody>
      </p:sp>
      <p:sp>
        <p:nvSpPr>
          <p:cNvPr id="26" name="Label Oval 25"/>
          <p:cNvSpPr/>
          <p:nvPr/>
        </p:nvSpPr>
        <p:spPr>
          <a:xfrm>
            <a:off x="5431536" y="2221992"/>
            <a:ext cx="164592" cy="164592"/>
          </a:xfrm>
          <a:prstGeom prst="ellipse">
            <a:avLst/>
          </a:prstGeom>
          <a:solidFill>
            <a:srgbClr val="00AEEF"/>
          </a:solidFill>
          <a:ln>
            <a:noFill/>
          </a:ln>
        </p:spPr>
        <p:txBody>
          <a:bodyPr rtlCol="0" anchor="ctr"/>
          <a:lstStyle/>
          <a:p>
            <a:pPr algn="ctr"/>
          </a:p>
        </p:txBody>
      </p:sp>
      <p:sp>
        <p:nvSpPr>
          <p:cNvPr id="27" name="Label TextBox 26"/>
          <p:cNvSpPr txBox="1"/>
          <p:nvPr/>
        </p:nvSpPr>
        <p:spPr>
          <a:xfrm>
            <a:off x="5641848" y="2185416"/>
            <a:ext cx="2377440" cy="237744"/>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Marketing and brand</a:t>
            </a:r>
          </a:p>
        </p:txBody>
      </p:sp>
      <p:sp>
        <p:nvSpPr>
          <p:cNvPr id="28" name="Label Oval 27"/>
          <p:cNvSpPr/>
          <p:nvPr/>
        </p:nvSpPr>
        <p:spPr>
          <a:xfrm>
            <a:off x="5815583" y="2468880"/>
            <a:ext cx="164592" cy="164592"/>
          </a:xfrm>
          <a:prstGeom prst="ellipse">
            <a:avLst/>
          </a:prstGeom>
          <a:solidFill>
            <a:srgbClr val="00AEEF"/>
          </a:solidFill>
          <a:ln>
            <a:noFill/>
          </a:ln>
        </p:spPr>
        <p:txBody>
          <a:bodyPr rtlCol="0" anchor="ctr"/>
          <a:lstStyle/>
          <a:p>
            <a:pPr algn="ctr"/>
          </a:p>
        </p:txBody>
      </p:sp>
      <p:sp>
        <p:nvSpPr>
          <p:cNvPr id="29" name="Label TextBox 28"/>
          <p:cNvSpPr txBox="1"/>
          <p:nvPr/>
        </p:nvSpPr>
        <p:spPr>
          <a:xfrm>
            <a:off x="6025895" y="2432304"/>
            <a:ext cx="2377440" cy="237744"/>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Spend, yield and jobs</a:t>
            </a:r>
          </a:p>
        </p:txBody>
      </p:sp>
      <p:sp>
        <p:nvSpPr>
          <p:cNvPr id="30" name="Label Oval 29"/>
          <p:cNvSpPr/>
          <p:nvPr/>
        </p:nvSpPr>
        <p:spPr>
          <a:xfrm>
            <a:off x="5047488" y="2715768"/>
            <a:ext cx="164592" cy="164592"/>
          </a:xfrm>
          <a:prstGeom prst="ellipse">
            <a:avLst/>
          </a:prstGeom>
          <a:solidFill>
            <a:srgbClr val="00AEEF"/>
          </a:solidFill>
          <a:ln>
            <a:noFill/>
          </a:ln>
        </p:spPr>
        <p:txBody>
          <a:bodyPr rtlCol="0" anchor="ctr"/>
          <a:lstStyle/>
          <a:p>
            <a:pPr algn="ctr"/>
          </a:p>
        </p:txBody>
      </p:sp>
      <p:sp>
        <p:nvSpPr>
          <p:cNvPr id="31" name="Label TextBox 30"/>
          <p:cNvSpPr txBox="1"/>
          <p:nvPr/>
        </p:nvSpPr>
        <p:spPr>
          <a:xfrm>
            <a:off x="5257799" y="2679191"/>
            <a:ext cx="2377440" cy="237744"/>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Stakeholder coverage</a:t>
            </a:r>
          </a:p>
        </p:txBody>
      </p:sp>
      <p:sp>
        <p:nvSpPr>
          <p:cNvPr id="32" name="Label Oval 31"/>
          <p:cNvSpPr/>
          <p:nvPr/>
        </p:nvSpPr>
        <p:spPr>
          <a:xfrm>
            <a:off x="7095744" y="2962656"/>
            <a:ext cx="164592" cy="164592"/>
          </a:xfrm>
          <a:prstGeom prst="ellipse">
            <a:avLst/>
          </a:prstGeom>
          <a:solidFill>
            <a:srgbClr val="00AEEF"/>
          </a:solidFill>
          <a:ln>
            <a:noFill/>
          </a:ln>
        </p:spPr>
        <p:txBody>
          <a:bodyPr rtlCol="0" anchor="ctr"/>
          <a:lstStyle/>
          <a:p>
            <a:pPr algn="ctr"/>
          </a:p>
        </p:txBody>
      </p:sp>
      <p:sp>
        <p:nvSpPr>
          <p:cNvPr id="33" name="Label TextBox 32"/>
          <p:cNvSpPr txBox="1"/>
          <p:nvPr/>
        </p:nvSpPr>
        <p:spPr>
          <a:xfrm>
            <a:off x="7306055" y="2926080"/>
            <a:ext cx="2377440" cy="237744"/>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Target metric</a:t>
            </a:r>
          </a:p>
        </p:txBody>
      </p:sp>
      <p:sp>
        <p:nvSpPr>
          <p:cNvPr id="34" name="Label Oval 33"/>
          <p:cNvSpPr/>
          <p:nvPr/>
        </p:nvSpPr>
        <p:spPr>
          <a:xfrm>
            <a:off x="6071616" y="3209544"/>
            <a:ext cx="164592" cy="164592"/>
          </a:xfrm>
          <a:prstGeom prst="ellipse">
            <a:avLst/>
          </a:prstGeom>
          <a:solidFill>
            <a:srgbClr val="1F497D"/>
          </a:solidFill>
          <a:ln>
            <a:noFill/>
          </a:ln>
        </p:spPr>
        <p:txBody>
          <a:bodyPr rtlCol="0" anchor="ctr"/>
          <a:lstStyle/>
          <a:p>
            <a:pPr algn="ctr"/>
          </a:p>
        </p:txBody>
      </p:sp>
      <p:sp>
        <p:nvSpPr>
          <p:cNvPr id="35" name="Label TextBox 34"/>
          <p:cNvSpPr txBox="1"/>
          <p:nvPr/>
        </p:nvSpPr>
        <p:spPr>
          <a:xfrm>
            <a:off x="6281927" y="3172968"/>
            <a:ext cx="2377440" cy="237744"/>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Route readiness scoring</a:t>
            </a:r>
          </a:p>
        </p:txBody>
      </p:sp>
      <p:sp>
        <p:nvSpPr>
          <p:cNvPr id="36" name="Label Oval 35"/>
          <p:cNvSpPr/>
          <p:nvPr/>
        </p:nvSpPr>
        <p:spPr>
          <a:xfrm>
            <a:off x="2743200" y="2112264"/>
            <a:ext cx="164592" cy="164592"/>
          </a:xfrm>
          <a:prstGeom prst="ellipse">
            <a:avLst/>
          </a:prstGeom>
          <a:solidFill>
            <a:srgbClr val="1F497D"/>
          </a:solidFill>
          <a:ln>
            <a:noFill/>
          </a:ln>
        </p:spPr>
        <p:txBody>
          <a:bodyPr rtlCol="0" anchor="ctr"/>
          <a:lstStyle/>
          <a:p>
            <a:pPr algn="ctr"/>
          </a:p>
        </p:txBody>
      </p:sp>
      <p:sp>
        <p:nvSpPr>
          <p:cNvPr id="37" name="Label TextBox 36"/>
          <p:cNvSpPr txBox="1"/>
          <p:nvPr/>
        </p:nvSpPr>
        <p:spPr>
          <a:xfrm>
            <a:off x="2953512" y="2075688"/>
            <a:ext cx="2377440" cy="237744"/>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Safety and visas</a:t>
            </a:r>
          </a:p>
        </p:txBody>
      </p:sp>
      <p:sp>
        <p:nvSpPr>
          <p:cNvPr id="38" name="Label Oval 37"/>
          <p:cNvSpPr/>
          <p:nvPr/>
        </p:nvSpPr>
        <p:spPr>
          <a:xfrm>
            <a:off x="3767328" y="2811780"/>
            <a:ext cx="164592" cy="164592"/>
          </a:xfrm>
          <a:prstGeom prst="ellipse">
            <a:avLst/>
          </a:prstGeom>
          <a:solidFill>
            <a:srgbClr val="1F497D"/>
          </a:solidFill>
          <a:ln>
            <a:noFill/>
          </a:ln>
        </p:spPr>
        <p:txBody>
          <a:bodyPr rtlCol="0" anchor="ctr"/>
          <a:lstStyle/>
          <a:p>
            <a:pPr algn="ctr"/>
          </a:p>
        </p:txBody>
      </p:sp>
      <p:sp>
        <p:nvSpPr>
          <p:cNvPr id="39" name="Label TextBox 38"/>
          <p:cNvSpPr txBox="1"/>
          <p:nvPr/>
        </p:nvSpPr>
        <p:spPr>
          <a:xfrm>
            <a:off x="1344167" y="2775204"/>
            <a:ext cx="2377440" cy="237744"/>
          </a:xfrm>
          <a:prstGeom prst="rect">
            <a:avLst/>
          </a:prstGeom>
          <a:noFill/>
        </p:spPr>
        <p:txBody>
          <a:bodyPr wrap="square" anchor="t" lIns="0" rIns="0" tIns="0" bIns="0">
            <a:spAutoFit/>
          </a:bodyPr>
          <a:lstStyle/>
          <a:p>
            <a:pPr algn="r">
              <a:spcAft>
                <a:spcPts val="0"/>
              </a:spcAft>
            </a:pPr>
            <a:r>
              <a:rPr sz="950" b="0" i="0">
                <a:solidFill>
                  <a:srgbClr val="404040"/>
                </a:solidFill>
                <a:latin typeface="Arial"/>
              </a:rPr>
              <a:t>Mega events</a:t>
            </a:r>
          </a:p>
        </p:txBody>
      </p:sp>
      <p:sp>
        <p:nvSpPr>
          <p:cNvPr id="40" name="Label Oval 39"/>
          <p:cNvSpPr/>
          <p:nvPr/>
        </p:nvSpPr>
        <p:spPr>
          <a:xfrm>
            <a:off x="5303520" y="3822192"/>
            <a:ext cx="164592" cy="164592"/>
          </a:xfrm>
          <a:prstGeom prst="ellipse">
            <a:avLst/>
          </a:prstGeom>
          <a:solidFill>
            <a:srgbClr val="00AEEF"/>
          </a:solidFill>
          <a:ln>
            <a:noFill/>
          </a:ln>
        </p:spPr>
        <p:txBody>
          <a:bodyPr rtlCol="0" anchor="ctr"/>
          <a:lstStyle/>
          <a:p>
            <a:pPr algn="ctr"/>
          </a:p>
        </p:txBody>
      </p:sp>
      <p:sp>
        <p:nvSpPr>
          <p:cNvPr id="41" name="Label TextBox 40"/>
          <p:cNvSpPr txBox="1"/>
          <p:nvPr/>
        </p:nvSpPr>
        <p:spPr>
          <a:xfrm>
            <a:off x="5513831" y="3785616"/>
            <a:ext cx="2377440" cy="237744"/>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Cruise</a:t>
            </a:r>
          </a:p>
        </p:txBody>
      </p:sp>
      <p:sp>
        <p:nvSpPr>
          <p:cNvPr id="42" name="Label Oval 41"/>
          <p:cNvSpPr/>
          <p:nvPr/>
        </p:nvSpPr>
        <p:spPr>
          <a:xfrm>
            <a:off x="5943600" y="4366260"/>
            <a:ext cx="164592" cy="164592"/>
          </a:xfrm>
          <a:prstGeom prst="ellipse">
            <a:avLst/>
          </a:prstGeom>
          <a:solidFill>
            <a:srgbClr val="1F497D"/>
          </a:solidFill>
          <a:ln>
            <a:noFill/>
          </a:ln>
        </p:spPr>
        <p:txBody>
          <a:bodyPr rtlCol="0" anchor="ctr"/>
          <a:lstStyle/>
          <a:p>
            <a:pPr algn="ctr"/>
          </a:p>
        </p:txBody>
      </p:sp>
      <p:sp>
        <p:nvSpPr>
          <p:cNvPr id="43" name="Label TextBox 42"/>
          <p:cNvSpPr txBox="1"/>
          <p:nvPr/>
        </p:nvSpPr>
        <p:spPr>
          <a:xfrm>
            <a:off x="6153912" y="4329684"/>
            <a:ext cx="2377440" cy="237744"/>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ASEAN and Brazil</a:t>
            </a:r>
          </a:p>
        </p:txBody>
      </p:sp>
      <p:sp>
        <p:nvSpPr>
          <p:cNvPr id="44" name="Label Oval 43"/>
          <p:cNvSpPr/>
          <p:nvPr/>
        </p:nvSpPr>
        <p:spPr>
          <a:xfrm>
            <a:off x="2103120" y="4055363"/>
            <a:ext cx="164592" cy="164592"/>
          </a:xfrm>
          <a:prstGeom prst="ellipse">
            <a:avLst/>
          </a:prstGeom>
          <a:solidFill>
            <a:srgbClr val="1F497D"/>
          </a:solidFill>
          <a:ln>
            <a:noFill/>
          </a:ln>
        </p:spPr>
        <p:txBody>
          <a:bodyPr rtlCol="0" anchor="ctr"/>
          <a:lstStyle/>
          <a:p>
            <a:pPr algn="ctr"/>
          </a:p>
        </p:txBody>
      </p:sp>
      <p:sp>
        <p:nvSpPr>
          <p:cNvPr id="45" name="Label TextBox 44"/>
          <p:cNvSpPr txBox="1"/>
          <p:nvPr/>
        </p:nvSpPr>
        <p:spPr>
          <a:xfrm>
            <a:off x="2313432" y="4018787"/>
            <a:ext cx="2377440" cy="237744"/>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Skills, technology and sustainability</a:t>
            </a:r>
          </a:p>
        </p:txBody>
      </p:sp>
      <p:sp>
        <p:nvSpPr>
          <p:cNvPr id="46" name="TextBox 45"/>
          <p:cNvSpPr txBox="1"/>
          <p:nvPr/>
        </p:nvSpPr>
        <p:spPr>
          <a:xfrm>
            <a:off x="9018041" y="1417320"/>
            <a:ext cx="2716453"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HOW WE TREAT EACH QUADRANT</a:t>
            </a:r>
          </a:p>
        </p:txBody>
      </p:sp>
      <p:sp>
        <p:nvSpPr>
          <p:cNvPr id="47" name="TextBox 46"/>
          <p:cNvSpPr txBox="1"/>
          <p:nvPr/>
        </p:nvSpPr>
        <p:spPr>
          <a:xfrm>
            <a:off x="9018041" y="1783080"/>
            <a:ext cx="2716453" cy="640080"/>
          </a:xfrm>
          <a:prstGeom prst="rect">
            <a:avLst/>
          </a:prstGeom>
          <a:noFill/>
        </p:spPr>
        <p:txBody>
          <a:bodyPr wrap="square" anchor="t" lIns="0" rIns="0" tIns="0" bIns="0">
            <a:spAutoFit/>
          </a:bodyPr>
          <a:lstStyle/>
          <a:p>
            <a:pPr algn="l">
              <a:spcAft>
                <a:spcPts val="0"/>
              </a:spcAft>
            </a:pPr>
            <a:r>
              <a:rPr sz="1200" b="1" i="0">
                <a:solidFill>
                  <a:srgbClr val="1F497D"/>
                </a:solidFill>
                <a:latin typeface="Arial"/>
              </a:rPr>
              <a:t>Close</a:t>
            </a:r>
          </a:p>
          <a:p>
            <a:pPr algn="l">
              <a:spcAft>
                <a:spcPts val="0"/>
              </a:spcAft>
            </a:pPr>
            <a:r>
              <a:rPr sz="1000" b="0" i="0">
                <a:solidFill>
                  <a:srgbClr val="404040"/>
                </a:solidFill>
                <a:latin typeface="Arial"/>
              </a:rPr>
              <a:t>Analyse now and include in the report.</a:t>
            </a:r>
          </a:p>
        </p:txBody>
      </p:sp>
      <p:sp>
        <p:nvSpPr>
          <p:cNvPr id="48" name="TextBox 47"/>
          <p:cNvSpPr txBox="1"/>
          <p:nvPr/>
        </p:nvSpPr>
        <p:spPr>
          <a:xfrm>
            <a:off x="9018041" y="2468880"/>
            <a:ext cx="2716453" cy="640080"/>
          </a:xfrm>
          <a:prstGeom prst="rect">
            <a:avLst/>
          </a:prstGeom>
          <a:noFill/>
        </p:spPr>
        <p:txBody>
          <a:bodyPr wrap="square" anchor="t" lIns="0" rIns="0" tIns="0" bIns="0">
            <a:spAutoFit/>
          </a:bodyPr>
          <a:lstStyle/>
          <a:p>
            <a:pPr algn="l">
              <a:spcAft>
                <a:spcPts val="0"/>
              </a:spcAft>
            </a:pPr>
            <a:r>
              <a:rPr sz="1200" b="1" i="0">
                <a:solidFill>
                  <a:srgbClr val="1F497D"/>
                </a:solidFill>
                <a:latin typeface="Arial"/>
              </a:rPr>
              <a:t>Bound</a:t>
            </a:r>
          </a:p>
          <a:p>
            <a:pPr algn="l">
              <a:spcAft>
                <a:spcPts val="0"/>
              </a:spcAft>
            </a:pPr>
            <a:r>
              <a:rPr sz="1000" b="0" i="0">
                <a:solidFill>
                  <a:srgbClr val="404040"/>
                </a:solidFill>
                <a:latin typeface="Arial"/>
              </a:rPr>
              <a:t>State as a limitation; name the owner.</a:t>
            </a:r>
          </a:p>
        </p:txBody>
      </p:sp>
      <p:sp>
        <p:nvSpPr>
          <p:cNvPr id="49" name="TextBox 48"/>
          <p:cNvSpPr txBox="1"/>
          <p:nvPr/>
        </p:nvSpPr>
        <p:spPr>
          <a:xfrm>
            <a:off x="9018041" y="3154680"/>
            <a:ext cx="2716453" cy="640080"/>
          </a:xfrm>
          <a:prstGeom prst="rect">
            <a:avLst/>
          </a:prstGeom>
          <a:noFill/>
        </p:spPr>
        <p:txBody>
          <a:bodyPr wrap="square" anchor="t" lIns="0" rIns="0" tIns="0" bIns="0">
            <a:spAutoFit/>
          </a:bodyPr>
          <a:lstStyle/>
          <a:p>
            <a:pPr algn="l">
              <a:spcAft>
                <a:spcPts val="0"/>
              </a:spcAft>
            </a:pPr>
            <a:r>
              <a:rPr sz="1200" b="1" i="0">
                <a:solidFill>
                  <a:srgbClr val="1F497D"/>
                </a:solidFill>
                <a:latin typeface="Arial"/>
              </a:rPr>
              <a:t>Fold in</a:t>
            </a:r>
          </a:p>
          <a:p>
            <a:pPr algn="l">
              <a:spcAft>
                <a:spcPts val="0"/>
              </a:spcAft>
            </a:pPr>
            <a:r>
              <a:rPr sz="1000" b="0" i="0">
                <a:solidFill>
                  <a:srgbClr val="404040"/>
                </a:solidFill>
                <a:latin typeface="Arial"/>
              </a:rPr>
              <a:t>Cover from existing evidence.</a:t>
            </a:r>
          </a:p>
        </p:txBody>
      </p:sp>
      <p:sp>
        <p:nvSpPr>
          <p:cNvPr id="50" name="TextBox 49"/>
          <p:cNvSpPr txBox="1"/>
          <p:nvPr/>
        </p:nvSpPr>
        <p:spPr>
          <a:xfrm>
            <a:off x="9018041" y="3840480"/>
            <a:ext cx="2716453" cy="640080"/>
          </a:xfrm>
          <a:prstGeom prst="rect">
            <a:avLst/>
          </a:prstGeom>
          <a:noFill/>
        </p:spPr>
        <p:txBody>
          <a:bodyPr wrap="square" anchor="t" lIns="0" rIns="0" tIns="0" bIns="0">
            <a:spAutoFit/>
          </a:bodyPr>
          <a:lstStyle/>
          <a:p>
            <a:pPr algn="l">
              <a:spcAft>
                <a:spcPts val="0"/>
              </a:spcAft>
            </a:pPr>
            <a:r>
              <a:rPr sz="1200" b="1" i="0">
                <a:solidFill>
                  <a:srgbClr val="1F497D"/>
                </a:solidFill>
                <a:latin typeface="Arial"/>
              </a:rPr>
              <a:t>Park</a:t>
            </a:r>
          </a:p>
          <a:p>
            <a:pPr algn="l">
              <a:spcAft>
                <a:spcPts val="0"/>
              </a:spcAft>
            </a:pPr>
            <a:r>
              <a:rPr sz="1000" b="0" i="0">
                <a:solidFill>
                  <a:srgbClr val="404040"/>
                </a:solidFill>
                <a:latin typeface="Arial"/>
              </a:rPr>
              <a:t>Name it for the next phase.</a:t>
            </a:r>
          </a:p>
        </p:txBody>
      </p:sp>
      <p:sp>
        <p:nvSpPr>
          <p:cNvPr id="51" name="Oval 50"/>
          <p:cNvSpPr/>
          <p:nvPr/>
        </p:nvSpPr>
        <p:spPr>
          <a:xfrm>
            <a:off x="9018041" y="4709160"/>
            <a:ext cx="164592" cy="164592"/>
          </a:xfrm>
          <a:prstGeom prst="ellipse">
            <a:avLst/>
          </a:prstGeom>
          <a:solidFill>
            <a:srgbClr val="00AEEF"/>
          </a:solidFill>
          <a:ln>
            <a:noFill/>
          </a:ln>
        </p:spPr>
        <p:txBody>
          <a:bodyPr rtlCol="0" anchor="ctr"/>
          <a:lstStyle/>
          <a:p>
            <a:pPr algn="ctr"/>
          </a:p>
        </p:txBody>
      </p:sp>
      <p:sp>
        <p:nvSpPr>
          <p:cNvPr id="52" name="TextBox 51"/>
          <p:cNvSpPr txBox="1"/>
          <p:nvPr/>
        </p:nvSpPr>
        <p:spPr>
          <a:xfrm>
            <a:off x="9274073" y="4645152"/>
            <a:ext cx="2442133" cy="548640"/>
          </a:xfrm>
          <a:prstGeom prst="rect">
            <a:avLst/>
          </a:prstGeom>
          <a:noFill/>
        </p:spPr>
        <p:txBody>
          <a:bodyPr wrap="square" anchor="t" lIns="0" rIns="0" tIns="0" bIns="0">
            <a:spAutoFit/>
          </a:bodyPr>
          <a:lstStyle/>
          <a:p>
            <a:pPr algn="l">
              <a:spcAft>
                <a:spcPts val="0"/>
              </a:spcAft>
            </a:pPr>
            <a:r>
              <a:rPr sz="950" b="0" i="0">
                <a:solidFill>
                  <a:srgbClr val="404040"/>
                </a:solidFill>
                <a:latin typeface="Arial"/>
              </a:rPr>
              <a:t>Cyan dots: required by the SLA or the RFP targets.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Six weeks take the study from aligned findings to an approved final report, if the contract is extended first</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06 | THE ROAD TO THE FINAL REPORT</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Letsema proposal. Weeks run from the week of 12 October 2026; work after 31 October depends on the extension.</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20</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Label Rectangle 7"/>
          <p:cNvSpPr/>
          <p:nvPr/>
        </p:nvSpPr>
        <p:spPr>
          <a:xfrm>
            <a:off x="3108960" y="1371600"/>
            <a:ext cx="1410157" cy="457200"/>
          </a:xfrm>
          <a:prstGeom prst="rect">
            <a:avLst/>
          </a:prstGeom>
          <a:solidFill>
            <a:srgbClr val="1F497D"/>
          </a:solidFill>
          <a:ln>
            <a:noFill/>
          </a:ln>
        </p:spPr>
        <p:txBody>
          <a:bodyPr rtlCol="0" anchor="ctr" wrap="square" lIns="36576" rIns="36576" tIns="21945" bIns="21945"/>
          <a:lstStyle/>
          <a:p>
            <a:pPr algn="ctr">
              <a:spcAft>
                <a:spcPts val="0"/>
              </a:spcAft>
            </a:pPr>
            <a:r>
              <a:rPr sz="900" b="1" i="0">
                <a:solidFill>
                  <a:srgbClr val="FFFFFF"/>
                </a:solidFill>
                <a:latin typeface="Arial"/>
              </a:rPr>
              <a:t>W1</a:t>
            </a:r>
          </a:p>
          <a:p>
            <a:pPr algn="ctr">
              <a:spcAft>
                <a:spcPts val="0"/>
              </a:spcAft>
            </a:pPr>
            <a:r>
              <a:rPr sz="800" b="0" i="0">
                <a:solidFill>
                  <a:srgbClr val="FFFFFF"/>
                </a:solidFill>
                <a:latin typeface="Arial"/>
              </a:rPr>
              <a:t>12 Oct</a:t>
            </a:r>
          </a:p>
        </p:txBody>
      </p:sp>
      <p:sp>
        <p:nvSpPr>
          <p:cNvPr id="9" name="Label Rectangle 8"/>
          <p:cNvSpPr/>
          <p:nvPr/>
        </p:nvSpPr>
        <p:spPr>
          <a:xfrm>
            <a:off x="4546549" y="1371600"/>
            <a:ext cx="1410157" cy="457200"/>
          </a:xfrm>
          <a:prstGeom prst="rect">
            <a:avLst/>
          </a:prstGeom>
          <a:solidFill>
            <a:srgbClr val="1F497D"/>
          </a:solidFill>
          <a:ln>
            <a:noFill/>
          </a:ln>
        </p:spPr>
        <p:txBody>
          <a:bodyPr rtlCol="0" anchor="ctr" wrap="square" lIns="36576" rIns="36576" tIns="21945" bIns="21945"/>
          <a:lstStyle/>
          <a:p>
            <a:pPr algn="ctr">
              <a:spcAft>
                <a:spcPts val="0"/>
              </a:spcAft>
            </a:pPr>
            <a:r>
              <a:rPr sz="900" b="1" i="0">
                <a:solidFill>
                  <a:srgbClr val="FFFFFF"/>
                </a:solidFill>
                <a:latin typeface="Arial"/>
              </a:rPr>
              <a:t>W2</a:t>
            </a:r>
          </a:p>
          <a:p>
            <a:pPr algn="ctr">
              <a:spcAft>
                <a:spcPts val="0"/>
              </a:spcAft>
            </a:pPr>
            <a:r>
              <a:rPr sz="800" b="0" i="0">
                <a:solidFill>
                  <a:srgbClr val="FFFFFF"/>
                </a:solidFill>
                <a:latin typeface="Arial"/>
              </a:rPr>
              <a:t>19 Oct</a:t>
            </a:r>
          </a:p>
        </p:txBody>
      </p:sp>
      <p:sp>
        <p:nvSpPr>
          <p:cNvPr id="10" name="Label Rectangle 9"/>
          <p:cNvSpPr/>
          <p:nvPr/>
        </p:nvSpPr>
        <p:spPr>
          <a:xfrm>
            <a:off x="5984138" y="1371600"/>
            <a:ext cx="1410157" cy="457200"/>
          </a:xfrm>
          <a:prstGeom prst="rect">
            <a:avLst/>
          </a:prstGeom>
          <a:solidFill>
            <a:srgbClr val="1F497D"/>
          </a:solidFill>
          <a:ln>
            <a:noFill/>
          </a:ln>
        </p:spPr>
        <p:txBody>
          <a:bodyPr rtlCol="0" anchor="ctr" wrap="square" lIns="36576" rIns="36576" tIns="21945" bIns="21945"/>
          <a:lstStyle/>
          <a:p>
            <a:pPr algn="ctr">
              <a:spcAft>
                <a:spcPts val="0"/>
              </a:spcAft>
            </a:pPr>
            <a:r>
              <a:rPr sz="900" b="1" i="0">
                <a:solidFill>
                  <a:srgbClr val="FFFFFF"/>
                </a:solidFill>
                <a:latin typeface="Arial"/>
              </a:rPr>
              <a:t>W3</a:t>
            </a:r>
          </a:p>
          <a:p>
            <a:pPr algn="ctr">
              <a:spcAft>
                <a:spcPts val="0"/>
              </a:spcAft>
            </a:pPr>
            <a:r>
              <a:rPr sz="800" b="0" i="0">
                <a:solidFill>
                  <a:srgbClr val="FFFFFF"/>
                </a:solidFill>
                <a:latin typeface="Arial"/>
              </a:rPr>
              <a:t>26 Oct</a:t>
            </a:r>
          </a:p>
        </p:txBody>
      </p:sp>
      <p:sp>
        <p:nvSpPr>
          <p:cNvPr id="11" name="Label Rectangle 10"/>
          <p:cNvSpPr/>
          <p:nvPr/>
        </p:nvSpPr>
        <p:spPr>
          <a:xfrm>
            <a:off x="7421727" y="1371600"/>
            <a:ext cx="1410157" cy="457200"/>
          </a:xfrm>
          <a:prstGeom prst="rect">
            <a:avLst/>
          </a:prstGeom>
          <a:solidFill>
            <a:srgbClr val="1F497D"/>
          </a:solidFill>
          <a:ln>
            <a:noFill/>
          </a:ln>
        </p:spPr>
        <p:txBody>
          <a:bodyPr rtlCol="0" anchor="ctr" wrap="square" lIns="36576" rIns="36576" tIns="21945" bIns="21945"/>
          <a:lstStyle/>
          <a:p>
            <a:pPr algn="ctr">
              <a:spcAft>
                <a:spcPts val="0"/>
              </a:spcAft>
            </a:pPr>
            <a:r>
              <a:rPr sz="900" b="1" i="0">
                <a:solidFill>
                  <a:srgbClr val="FFFFFF"/>
                </a:solidFill>
                <a:latin typeface="Arial"/>
              </a:rPr>
              <a:t>W4</a:t>
            </a:r>
          </a:p>
          <a:p>
            <a:pPr algn="ctr">
              <a:spcAft>
                <a:spcPts val="0"/>
              </a:spcAft>
            </a:pPr>
            <a:r>
              <a:rPr sz="800" b="0" i="0">
                <a:solidFill>
                  <a:srgbClr val="FFFFFF"/>
                </a:solidFill>
                <a:latin typeface="Arial"/>
              </a:rPr>
              <a:t>2 Nov</a:t>
            </a:r>
          </a:p>
        </p:txBody>
      </p:sp>
      <p:sp>
        <p:nvSpPr>
          <p:cNvPr id="12" name="Label Rectangle 11"/>
          <p:cNvSpPr/>
          <p:nvPr/>
        </p:nvSpPr>
        <p:spPr>
          <a:xfrm>
            <a:off x="8859316" y="1371600"/>
            <a:ext cx="1410157" cy="457200"/>
          </a:xfrm>
          <a:prstGeom prst="rect">
            <a:avLst/>
          </a:prstGeom>
          <a:solidFill>
            <a:srgbClr val="1F497D"/>
          </a:solidFill>
          <a:ln>
            <a:noFill/>
          </a:ln>
        </p:spPr>
        <p:txBody>
          <a:bodyPr rtlCol="0" anchor="ctr" wrap="square" lIns="36576" rIns="36576" tIns="21945" bIns="21945"/>
          <a:lstStyle/>
          <a:p>
            <a:pPr algn="ctr">
              <a:spcAft>
                <a:spcPts val="0"/>
              </a:spcAft>
            </a:pPr>
            <a:r>
              <a:rPr sz="900" b="1" i="0">
                <a:solidFill>
                  <a:srgbClr val="FFFFFF"/>
                </a:solidFill>
                <a:latin typeface="Arial"/>
              </a:rPr>
              <a:t>W5</a:t>
            </a:r>
          </a:p>
          <a:p>
            <a:pPr algn="ctr">
              <a:spcAft>
                <a:spcPts val="0"/>
              </a:spcAft>
            </a:pPr>
            <a:r>
              <a:rPr sz="800" b="0" i="0">
                <a:solidFill>
                  <a:srgbClr val="FFFFFF"/>
                </a:solidFill>
                <a:latin typeface="Arial"/>
              </a:rPr>
              <a:t>9 Nov</a:t>
            </a:r>
          </a:p>
        </p:txBody>
      </p:sp>
      <p:sp>
        <p:nvSpPr>
          <p:cNvPr id="13" name="Label Rectangle 12"/>
          <p:cNvSpPr/>
          <p:nvPr/>
        </p:nvSpPr>
        <p:spPr>
          <a:xfrm>
            <a:off x="10296906" y="1371600"/>
            <a:ext cx="1410157" cy="457200"/>
          </a:xfrm>
          <a:prstGeom prst="rect">
            <a:avLst/>
          </a:prstGeom>
          <a:solidFill>
            <a:srgbClr val="1F497D"/>
          </a:solidFill>
          <a:ln>
            <a:noFill/>
          </a:ln>
        </p:spPr>
        <p:txBody>
          <a:bodyPr rtlCol="0" anchor="ctr" wrap="square" lIns="36576" rIns="36576" tIns="21945" bIns="21945"/>
          <a:lstStyle/>
          <a:p>
            <a:pPr algn="ctr">
              <a:spcAft>
                <a:spcPts val="0"/>
              </a:spcAft>
            </a:pPr>
            <a:r>
              <a:rPr sz="900" b="1" i="0">
                <a:solidFill>
                  <a:srgbClr val="FFFFFF"/>
                </a:solidFill>
                <a:latin typeface="Arial"/>
              </a:rPr>
              <a:t>W6</a:t>
            </a:r>
          </a:p>
          <a:p>
            <a:pPr algn="ctr">
              <a:spcAft>
                <a:spcPts val="0"/>
              </a:spcAft>
            </a:pPr>
            <a:r>
              <a:rPr sz="800" b="0" i="0">
                <a:solidFill>
                  <a:srgbClr val="FFFFFF"/>
                </a:solidFill>
                <a:latin typeface="Arial"/>
              </a:rPr>
              <a:t>16 Nov</a:t>
            </a:r>
          </a:p>
        </p:txBody>
      </p:sp>
      <p:sp>
        <p:nvSpPr>
          <p:cNvPr id="14" name="Label Rectangle 13"/>
          <p:cNvSpPr/>
          <p:nvPr/>
        </p:nvSpPr>
        <p:spPr>
          <a:xfrm>
            <a:off x="457200" y="1371600"/>
            <a:ext cx="2606040" cy="457200"/>
          </a:xfrm>
          <a:prstGeom prst="rect">
            <a:avLst/>
          </a:prstGeom>
          <a:solidFill>
            <a:srgbClr val="1F497D"/>
          </a:solidFill>
          <a:ln>
            <a:noFill/>
          </a:ln>
        </p:spPr>
        <p:txBody>
          <a:bodyPr rtlCol="0" anchor="ctr" wrap="square" lIns="36576" rIns="36576" tIns="21945" bIns="21945"/>
          <a:lstStyle/>
          <a:p>
            <a:pPr algn="l">
              <a:spcAft>
                <a:spcPts val="400"/>
              </a:spcAft>
            </a:pPr>
            <a:r>
              <a:rPr sz="900" b="1" i="0">
                <a:solidFill>
                  <a:srgbClr val="FFFFFF"/>
                </a:solidFill>
                <a:latin typeface="Arial"/>
              </a:rPr>
              <a:t>Workstream</a:t>
            </a:r>
          </a:p>
        </p:txBody>
      </p:sp>
      <p:sp>
        <p:nvSpPr>
          <p:cNvPr id="15" name="Label Rectangle 14"/>
          <p:cNvSpPr/>
          <p:nvPr/>
        </p:nvSpPr>
        <p:spPr>
          <a:xfrm>
            <a:off x="457200" y="1901952"/>
            <a:ext cx="11277295" cy="320040"/>
          </a:xfrm>
          <a:prstGeom prst="rect">
            <a:avLst/>
          </a:prstGeom>
          <a:solidFill>
            <a:srgbClr val="F2F2F2"/>
          </a:solidFill>
          <a:ln>
            <a:noFill/>
          </a:ln>
        </p:spPr>
        <p:txBody>
          <a:bodyPr rtlCol="0" anchor="ctr"/>
          <a:lstStyle/>
          <a:p>
            <a:pPr algn="ctr"/>
          </a:p>
        </p:txBody>
      </p:sp>
      <p:sp>
        <p:nvSpPr>
          <p:cNvPr id="16" name="Label TextBox 15"/>
          <p:cNvSpPr txBox="1"/>
          <p:nvPr/>
        </p:nvSpPr>
        <p:spPr>
          <a:xfrm>
            <a:off x="530352" y="1901952"/>
            <a:ext cx="2560320" cy="320040"/>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Alignment and decisions</a:t>
            </a:r>
          </a:p>
        </p:txBody>
      </p:sp>
      <p:sp>
        <p:nvSpPr>
          <p:cNvPr id="17" name="Label Rectangle 16"/>
          <p:cNvSpPr/>
          <p:nvPr/>
        </p:nvSpPr>
        <p:spPr>
          <a:xfrm>
            <a:off x="3145536" y="1956816"/>
            <a:ext cx="1364437" cy="210312"/>
          </a:xfrm>
          <a:prstGeom prst="rect">
            <a:avLst/>
          </a:prstGeom>
          <a:solidFill>
            <a:srgbClr val="1F497D"/>
          </a:solidFill>
          <a:ln>
            <a:noFill/>
          </a:ln>
        </p:spPr>
        <p:txBody>
          <a:bodyPr rtlCol="0" anchor="ctr" wrap="square" lIns="45720" rIns="45720" tIns="27432" bIns="27432"/>
          <a:lstStyle/>
          <a:p>
            <a:pPr algn="l">
              <a:spcAft>
                <a:spcPts val="0"/>
              </a:spcAft>
            </a:pPr>
            <a:r>
              <a:rPr sz="900" b="1" i="0">
                <a:solidFill>
                  <a:srgbClr val="FFFFFF"/>
                </a:solidFill>
                <a:latin typeface="Arial"/>
              </a:rPr>
              <a:t>This session</a:t>
            </a:r>
          </a:p>
        </p:txBody>
      </p:sp>
      <p:sp>
        <p:nvSpPr>
          <p:cNvPr id="18" name="Label Diamond 17"/>
          <p:cNvSpPr/>
          <p:nvPr/>
        </p:nvSpPr>
        <p:spPr>
          <a:xfrm>
            <a:off x="4636763" y="1984248"/>
            <a:ext cx="164592" cy="164592"/>
          </a:xfrm>
          <a:prstGeom prst="diamond">
            <a:avLst/>
          </a:prstGeom>
          <a:solidFill>
            <a:srgbClr val="F2A900"/>
          </a:solidFill>
          <a:ln>
            <a:noFill/>
          </a:ln>
        </p:spPr>
        <p:txBody>
          <a:bodyPr rtlCol="0" anchor="ctr"/>
          <a:lstStyle/>
          <a:p>
            <a:pPr algn="ctr"/>
          </a:p>
        </p:txBody>
      </p:sp>
      <p:sp>
        <p:nvSpPr>
          <p:cNvPr id="19" name="Label Rectangle 18"/>
          <p:cNvSpPr/>
          <p:nvPr/>
        </p:nvSpPr>
        <p:spPr>
          <a:xfrm>
            <a:off x="457200" y="2267712"/>
            <a:ext cx="11277295" cy="320040"/>
          </a:xfrm>
          <a:prstGeom prst="rect">
            <a:avLst/>
          </a:prstGeom>
          <a:solidFill>
            <a:srgbClr val="F2F2F2"/>
          </a:solidFill>
          <a:ln>
            <a:noFill/>
          </a:ln>
        </p:spPr>
        <p:txBody>
          <a:bodyPr rtlCol="0" anchor="ctr"/>
          <a:lstStyle/>
          <a:p>
            <a:pPr algn="ctr"/>
          </a:p>
        </p:txBody>
      </p:sp>
      <p:sp>
        <p:nvSpPr>
          <p:cNvPr id="20" name="Label TextBox 19"/>
          <p:cNvSpPr txBox="1"/>
          <p:nvPr/>
        </p:nvSpPr>
        <p:spPr>
          <a:xfrm>
            <a:off x="530352" y="2267712"/>
            <a:ext cx="2560320" cy="320040"/>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Route readiness scoring</a:t>
            </a:r>
          </a:p>
        </p:txBody>
      </p:sp>
      <p:sp>
        <p:nvSpPr>
          <p:cNvPr id="21" name="Label Rectangle 20"/>
          <p:cNvSpPr/>
          <p:nvPr/>
        </p:nvSpPr>
        <p:spPr>
          <a:xfrm>
            <a:off x="3145536" y="2322576"/>
            <a:ext cx="4239615" cy="210312"/>
          </a:xfrm>
          <a:prstGeom prst="rect">
            <a:avLst/>
          </a:prstGeom>
          <a:solidFill>
            <a:srgbClr val="4F81BD"/>
          </a:solidFill>
          <a:ln>
            <a:noFill/>
          </a:ln>
        </p:spPr>
        <p:txBody>
          <a:bodyPr rtlCol="0" anchor="ctr" wrap="square" lIns="45720" rIns="45720" tIns="27432" bIns="27432"/>
          <a:lstStyle/>
          <a:p>
            <a:pPr algn="l">
              <a:spcAft>
                <a:spcPts val="0"/>
              </a:spcAft>
            </a:pPr>
            <a:r>
              <a:rPr sz="900" b="1" i="0">
                <a:solidFill>
                  <a:srgbClr val="FFFFFF"/>
                </a:solidFill>
                <a:latin typeface="Arial"/>
              </a:rPr>
              <a:t>Score five routes on the Winelands template</a:t>
            </a:r>
          </a:p>
        </p:txBody>
      </p:sp>
      <p:sp>
        <p:nvSpPr>
          <p:cNvPr id="22" name="Label Rectangle 21"/>
          <p:cNvSpPr/>
          <p:nvPr/>
        </p:nvSpPr>
        <p:spPr>
          <a:xfrm>
            <a:off x="457200" y="2633472"/>
            <a:ext cx="11277295" cy="320040"/>
          </a:xfrm>
          <a:prstGeom prst="rect">
            <a:avLst/>
          </a:prstGeom>
          <a:solidFill>
            <a:srgbClr val="F2F2F2"/>
          </a:solidFill>
          <a:ln>
            <a:noFill/>
          </a:ln>
        </p:spPr>
        <p:txBody>
          <a:bodyPr rtlCol="0" anchor="ctr"/>
          <a:lstStyle/>
          <a:p>
            <a:pPr algn="ctr"/>
          </a:p>
        </p:txBody>
      </p:sp>
      <p:sp>
        <p:nvSpPr>
          <p:cNvPr id="23" name="Label TextBox 22"/>
          <p:cNvSpPr txBox="1"/>
          <p:nvPr/>
        </p:nvSpPr>
        <p:spPr>
          <a:xfrm>
            <a:off x="530352" y="2633472"/>
            <a:ext cx="2560320" cy="320040"/>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Marketing and brand</a:t>
            </a:r>
          </a:p>
        </p:txBody>
      </p:sp>
      <p:sp>
        <p:nvSpPr>
          <p:cNvPr id="24" name="Label Rectangle 23"/>
          <p:cNvSpPr/>
          <p:nvPr/>
        </p:nvSpPr>
        <p:spPr>
          <a:xfrm>
            <a:off x="3145536" y="2688336"/>
            <a:ext cx="2802026" cy="210312"/>
          </a:xfrm>
          <a:prstGeom prst="rect">
            <a:avLst/>
          </a:prstGeom>
          <a:solidFill>
            <a:srgbClr val="4F81BD"/>
          </a:solidFill>
          <a:ln>
            <a:noFill/>
          </a:ln>
        </p:spPr>
        <p:txBody>
          <a:bodyPr rtlCol="0" anchor="ctr" wrap="square" lIns="45720" rIns="45720" tIns="27432" bIns="27432"/>
          <a:lstStyle/>
          <a:p>
            <a:pPr algn="l">
              <a:spcAft>
                <a:spcPts val="0"/>
              </a:spcAft>
            </a:pPr>
            <a:r>
              <a:rPr sz="900" b="1" i="0">
                <a:solidFill>
                  <a:srgbClr val="FFFFFF"/>
                </a:solidFill>
                <a:latin typeface="Arial"/>
              </a:rPr>
              <a:t>Audit and peer benchmark</a:t>
            </a:r>
          </a:p>
        </p:txBody>
      </p:sp>
      <p:sp>
        <p:nvSpPr>
          <p:cNvPr id="25" name="Label Rectangle 24"/>
          <p:cNvSpPr/>
          <p:nvPr/>
        </p:nvSpPr>
        <p:spPr>
          <a:xfrm>
            <a:off x="6020714" y="2688336"/>
            <a:ext cx="1364437" cy="210312"/>
          </a:xfrm>
          <a:prstGeom prst="rect">
            <a:avLst/>
          </a:prstGeom>
          <a:solidFill>
            <a:srgbClr val="4F81BD"/>
          </a:solidFill>
          <a:ln>
            <a:noFill/>
          </a:ln>
        </p:spPr>
        <p:txBody>
          <a:bodyPr rtlCol="0" anchor="ctr" wrap="square" lIns="45720" rIns="45720" tIns="27432" bIns="27432"/>
          <a:lstStyle/>
          <a:p>
            <a:pPr algn="l">
              <a:spcAft>
                <a:spcPts val="0"/>
              </a:spcAft>
            </a:pPr>
            <a:r>
              <a:rPr sz="900" b="1" i="0">
                <a:solidFill>
                  <a:srgbClr val="FFFFFF"/>
                </a:solidFill>
                <a:latin typeface="Arial"/>
              </a:rPr>
              <a:t>Workshop</a:t>
            </a:r>
          </a:p>
        </p:txBody>
      </p:sp>
      <p:sp>
        <p:nvSpPr>
          <p:cNvPr id="26" name="Label Rectangle 25"/>
          <p:cNvSpPr/>
          <p:nvPr/>
        </p:nvSpPr>
        <p:spPr>
          <a:xfrm>
            <a:off x="457200" y="2999232"/>
            <a:ext cx="11277295" cy="320040"/>
          </a:xfrm>
          <a:prstGeom prst="rect">
            <a:avLst/>
          </a:prstGeom>
          <a:solidFill>
            <a:srgbClr val="F2F2F2"/>
          </a:solidFill>
          <a:ln>
            <a:noFill/>
          </a:ln>
        </p:spPr>
        <p:txBody>
          <a:bodyPr rtlCol="0" anchor="ctr"/>
          <a:lstStyle/>
          <a:p>
            <a:pPr algn="ctr"/>
          </a:p>
        </p:txBody>
      </p:sp>
      <p:sp>
        <p:nvSpPr>
          <p:cNvPr id="27" name="Label TextBox 26"/>
          <p:cNvSpPr txBox="1"/>
          <p:nvPr/>
        </p:nvSpPr>
        <p:spPr>
          <a:xfrm>
            <a:off x="530352" y="2999232"/>
            <a:ext cx="2560320" cy="320040"/>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Investment ROI, spend and jobs</a:t>
            </a:r>
          </a:p>
        </p:txBody>
      </p:sp>
      <p:sp>
        <p:nvSpPr>
          <p:cNvPr id="28" name="Label Rectangle 27"/>
          <p:cNvSpPr/>
          <p:nvPr/>
        </p:nvSpPr>
        <p:spPr>
          <a:xfrm>
            <a:off x="4583125" y="3054096"/>
            <a:ext cx="4239615" cy="210312"/>
          </a:xfrm>
          <a:prstGeom prst="rect">
            <a:avLst/>
          </a:prstGeom>
          <a:solidFill>
            <a:srgbClr val="4F81BD"/>
          </a:solidFill>
          <a:ln>
            <a:noFill/>
          </a:ln>
        </p:spPr>
        <p:txBody>
          <a:bodyPr rtlCol="0" anchor="ctr" wrap="square" lIns="45720" rIns="45720" tIns="27432" bIns="27432"/>
          <a:lstStyle/>
          <a:p>
            <a:pPr algn="l">
              <a:spcAft>
                <a:spcPts val="0"/>
              </a:spcAft>
            </a:pPr>
            <a:r>
              <a:rPr sz="900" b="1" i="0">
                <a:solidFill>
                  <a:srgbClr val="FFFFFF"/>
                </a:solidFill>
                <a:latin typeface="Arial"/>
              </a:rPr>
              <a:t>Corridor and mid-market ROI; model extension</a:t>
            </a:r>
          </a:p>
        </p:txBody>
      </p:sp>
      <p:sp>
        <p:nvSpPr>
          <p:cNvPr id="29" name="Label Rectangle 28"/>
          <p:cNvSpPr/>
          <p:nvPr/>
        </p:nvSpPr>
        <p:spPr>
          <a:xfrm>
            <a:off x="457200" y="3364991"/>
            <a:ext cx="11277295" cy="320040"/>
          </a:xfrm>
          <a:prstGeom prst="rect">
            <a:avLst/>
          </a:prstGeom>
          <a:solidFill>
            <a:srgbClr val="F2F2F2"/>
          </a:solidFill>
          <a:ln>
            <a:noFill/>
          </a:ln>
        </p:spPr>
        <p:txBody>
          <a:bodyPr rtlCol="0" anchor="ctr"/>
          <a:lstStyle/>
          <a:p>
            <a:pPr algn="ctr"/>
          </a:p>
        </p:txBody>
      </p:sp>
      <p:sp>
        <p:nvSpPr>
          <p:cNvPr id="30" name="Label TextBox 29"/>
          <p:cNvSpPr txBox="1"/>
          <p:nvPr/>
        </p:nvSpPr>
        <p:spPr>
          <a:xfrm>
            <a:off x="530352" y="3364991"/>
            <a:ext cx="2560320" cy="320040"/>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M&amp;E toolkit</a:t>
            </a:r>
          </a:p>
        </p:txBody>
      </p:sp>
      <p:sp>
        <p:nvSpPr>
          <p:cNvPr id="31" name="Label Rectangle 30"/>
          <p:cNvSpPr/>
          <p:nvPr/>
        </p:nvSpPr>
        <p:spPr>
          <a:xfrm>
            <a:off x="4583125" y="3419856"/>
            <a:ext cx="4239615" cy="210312"/>
          </a:xfrm>
          <a:prstGeom prst="rect">
            <a:avLst/>
          </a:prstGeom>
          <a:solidFill>
            <a:srgbClr val="4F81BD"/>
          </a:solidFill>
          <a:ln>
            <a:noFill/>
          </a:ln>
        </p:spPr>
        <p:txBody>
          <a:bodyPr rtlCol="0" anchor="ctr" wrap="square" lIns="45720" rIns="45720" tIns="27432" bIns="27432"/>
          <a:lstStyle/>
          <a:p>
            <a:pPr algn="l">
              <a:spcAft>
                <a:spcPts val="0"/>
              </a:spcAft>
            </a:pPr>
            <a:r>
              <a:rPr sz="900" b="1" i="0">
                <a:solidFill>
                  <a:srgbClr val="FFFFFF"/>
                </a:solidFill>
                <a:latin typeface="Arial"/>
              </a:rPr>
              <a:t>Indicators, baselines, templates</a:t>
            </a:r>
          </a:p>
        </p:txBody>
      </p:sp>
      <p:sp>
        <p:nvSpPr>
          <p:cNvPr id="32" name="Label Diamond 31"/>
          <p:cNvSpPr/>
          <p:nvPr/>
        </p:nvSpPr>
        <p:spPr>
          <a:xfrm>
            <a:off x="8777020" y="3447287"/>
            <a:ext cx="164592" cy="164592"/>
          </a:xfrm>
          <a:prstGeom prst="diamond">
            <a:avLst/>
          </a:prstGeom>
          <a:solidFill>
            <a:srgbClr val="F2A900"/>
          </a:solidFill>
          <a:ln>
            <a:noFill/>
          </a:ln>
        </p:spPr>
        <p:txBody>
          <a:bodyPr rtlCol="0" anchor="ctr"/>
          <a:lstStyle/>
          <a:p>
            <a:pPr algn="ctr"/>
          </a:p>
        </p:txBody>
      </p:sp>
      <p:sp>
        <p:nvSpPr>
          <p:cNvPr id="33" name="Label Rectangle 32"/>
          <p:cNvSpPr/>
          <p:nvPr/>
        </p:nvSpPr>
        <p:spPr>
          <a:xfrm>
            <a:off x="457200" y="3730752"/>
            <a:ext cx="11277295" cy="320040"/>
          </a:xfrm>
          <a:prstGeom prst="rect">
            <a:avLst/>
          </a:prstGeom>
          <a:solidFill>
            <a:srgbClr val="F2F2F2"/>
          </a:solidFill>
          <a:ln>
            <a:noFill/>
          </a:ln>
        </p:spPr>
        <p:txBody>
          <a:bodyPr rtlCol="0" anchor="ctr"/>
          <a:lstStyle/>
          <a:p>
            <a:pPr algn="ctr"/>
          </a:p>
        </p:txBody>
      </p:sp>
      <p:sp>
        <p:nvSpPr>
          <p:cNvPr id="34" name="Label TextBox 33"/>
          <p:cNvSpPr txBox="1"/>
          <p:nvPr/>
        </p:nvSpPr>
        <p:spPr>
          <a:xfrm>
            <a:off x="530352" y="3730752"/>
            <a:ext cx="2560320" cy="320040"/>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Stakeholder validation</a:t>
            </a:r>
          </a:p>
        </p:txBody>
      </p:sp>
      <p:sp>
        <p:nvSpPr>
          <p:cNvPr id="35" name="Label Rectangle 34"/>
          <p:cNvSpPr/>
          <p:nvPr/>
        </p:nvSpPr>
        <p:spPr>
          <a:xfrm>
            <a:off x="4583125" y="3785615"/>
            <a:ext cx="4239615" cy="210312"/>
          </a:xfrm>
          <a:prstGeom prst="rect">
            <a:avLst/>
          </a:prstGeom>
          <a:solidFill>
            <a:srgbClr val="4F81BD"/>
          </a:solidFill>
          <a:ln>
            <a:noFill/>
          </a:ln>
        </p:spPr>
        <p:txBody>
          <a:bodyPr rtlCol="0" anchor="ctr" wrap="square" lIns="45720" rIns="45720" tIns="27432" bIns="27432"/>
          <a:lstStyle/>
          <a:p>
            <a:pPr algn="l">
              <a:spcAft>
                <a:spcPts val="0"/>
              </a:spcAft>
            </a:pPr>
            <a:r>
              <a:rPr sz="900" b="1" i="0">
                <a:solidFill>
                  <a:srgbClr val="FFFFFF"/>
                </a:solidFill>
                <a:latin typeface="Arial"/>
              </a:rPr>
              <a:t>Airlines, trade, SA Tourism, City, DHA</a:t>
            </a:r>
          </a:p>
        </p:txBody>
      </p:sp>
      <p:sp>
        <p:nvSpPr>
          <p:cNvPr id="36" name="Label Rectangle 35"/>
          <p:cNvSpPr/>
          <p:nvPr/>
        </p:nvSpPr>
        <p:spPr>
          <a:xfrm>
            <a:off x="457200" y="4096512"/>
            <a:ext cx="11277295" cy="320040"/>
          </a:xfrm>
          <a:prstGeom prst="rect">
            <a:avLst/>
          </a:prstGeom>
          <a:solidFill>
            <a:srgbClr val="F2F2F2"/>
          </a:solidFill>
          <a:ln>
            <a:noFill/>
          </a:ln>
        </p:spPr>
        <p:txBody>
          <a:bodyPr rtlCol="0" anchor="ctr"/>
          <a:lstStyle/>
          <a:p>
            <a:pPr algn="ctr"/>
          </a:p>
        </p:txBody>
      </p:sp>
      <p:sp>
        <p:nvSpPr>
          <p:cNvPr id="37" name="Label TextBox 36"/>
          <p:cNvSpPr txBox="1"/>
          <p:nvPr/>
        </p:nvSpPr>
        <p:spPr>
          <a:xfrm>
            <a:off x="530352" y="4096512"/>
            <a:ext cx="2560320" cy="320040"/>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Recommendations and roadmap</a:t>
            </a:r>
          </a:p>
        </p:txBody>
      </p:sp>
      <p:sp>
        <p:nvSpPr>
          <p:cNvPr id="38" name="Label Rectangle 37"/>
          <p:cNvSpPr/>
          <p:nvPr/>
        </p:nvSpPr>
        <p:spPr>
          <a:xfrm>
            <a:off x="6020714" y="4151376"/>
            <a:ext cx="4239615" cy="210312"/>
          </a:xfrm>
          <a:prstGeom prst="rect">
            <a:avLst/>
          </a:prstGeom>
          <a:solidFill>
            <a:srgbClr val="4F81BD"/>
          </a:solidFill>
          <a:ln>
            <a:noFill/>
          </a:ln>
        </p:spPr>
        <p:txBody>
          <a:bodyPr rtlCol="0" anchor="ctr" wrap="square" lIns="45720" rIns="45720" tIns="27432" bIns="27432"/>
          <a:lstStyle/>
          <a:p>
            <a:pPr algn="l">
              <a:spcAft>
                <a:spcPts val="0"/>
              </a:spcAft>
            </a:pPr>
            <a:r>
              <a:rPr sz="900" b="1" i="0">
                <a:solidFill>
                  <a:srgbClr val="FFFFFF"/>
                </a:solidFill>
                <a:latin typeface="Arial"/>
              </a:rPr>
              <a:t>Draft, test and refine with owners</a:t>
            </a:r>
          </a:p>
        </p:txBody>
      </p:sp>
      <p:sp>
        <p:nvSpPr>
          <p:cNvPr id="39" name="Label Rectangle 38"/>
          <p:cNvSpPr/>
          <p:nvPr/>
        </p:nvSpPr>
        <p:spPr>
          <a:xfrm>
            <a:off x="457200" y="4462272"/>
            <a:ext cx="11277295" cy="320040"/>
          </a:xfrm>
          <a:prstGeom prst="rect">
            <a:avLst/>
          </a:prstGeom>
          <a:solidFill>
            <a:srgbClr val="F2F2F2"/>
          </a:solidFill>
          <a:ln>
            <a:noFill/>
          </a:ln>
        </p:spPr>
        <p:txBody>
          <a:bodyPr rtlCol="0" anchor="ctr"/>
          <a:lstStyle/>
          <a:p>
            <a:pPr algn="ctr"/>
          </a:p>
        </p:txBody>
      </p:sp>
      <p:sp>
        <p:nvSpPr>
          <p:cNvPr id="40" name="Label TextBox 39"/>
          <p:cNvSpPr txBox="1"/>
          <p:nvPr/>
        </p:nvSpPr>
        <p:spPr>
          <a:xfrm>
            <a:off x="530352" y="4462272"/>
            <a:ext cx="2560320" cy="320040"/>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Final report and approvals</a:t>
            </a:r>
          </a:p>
        </p:txBody>
      </p:sp>
      <p:sp>
        <p:nvSpPr>
          <p:cNvPr id="41" name="Label Rectangle 40"/>
          <p:cNvSpPr/>
          <p:nvPr/>
        </p:nvSpPr>
        <p:spPr>
          <a:xfrm>
            <a:off x="7458303" y="4517136"/>
            <a:ext cx="2802026" cy="210312"/>
          </a:xfrm>
          <a:prstGeom prst="rect">
            <a:avLst/>
          </a:prstGeom>
          <a:solidFill>
            <a:srgbClr val="1F497D"/>
          </a:solidFill>
          <a:ln>
            <a:noFill/>
          </a:ln>
        </p:spPr>
        <p:txBody>
          <a:bodyPr rtlCol="0" anchor="ctr" wrap="square" lIns="45720" rIns="45720" tIns="27432" bIns="27432"/>
          <a:lstStyle/>
          <a:p>
            <a:pPr algn="l">
              <a:spcAft>
                <a:spcPts val="0"/>
              </a:spcAft>
            </a:pPr>
            <a:r>
              <a:rPr sz="900" b="1" i="0">
                <a:solidFill>
                  <a:srgbClr val="FFFFFF"/>
                </a:solidFill>
                <a:latin typeface="Arial"/>
              </a:rPr>
              <a:t>Draft report</a:t>
            </a:r>
          </a:p>
        </p:txBody>
      </p:sp>
      <p:sp>
        <p:nvSpPr>
          <p:cNvPr id="42" name="Label Rectangle 41"/>
          <p:cNvSpPr/>
          <p:nvPr/>
        </p:nvSpPr>
        <p:spPr>
          <a:xfrm>
            <a:off x="10333482" y="4517136"/>
            <a:ext cx="1364437" cy="210312"/>
          </a:xfrm>
          <a:prstGeom prst="rect">
            <a:avLst/>
          </a:prstGeom>
          <a:solidFill>
            <a:srgbClr val="1F497D"/>
          </a:solidFill>
          <a:ln>
            <a:noFill/>
          </a:ln>
        </p:spPr>
        <p:txBody>
          <a:bodyPr rtlCol="0" anchor="ctr" wrap="square" lIns="45720" rIns="45720" tIns="27432" bIns="27432"/>
          <a:lstStyle/>
          <a:p>
            <a:pPr algn="l">
              <a:spcAft>
                <a:spcPts val="0"/>
              </a:spcAft>
            </a:pPr>
            <a:r>
              <a:rPr sz="900" b="1" i="0">
                <a:solidFill>
                  <a:srgbClr val="FFFFFF"/>
                </a:solidFill>
                <a:latin typeface="Arial"/>
              </a:rPr>
              <a:t>Steercom, Exco, Board</a:t>
            </a:r>
          </a:p>
        </p:txBody>
      </p:sp>
      <p:sp>
        <p:nvSpPr>
          <p:cNvPr id="43" name="Label Diamond 42"/>
          <p:cNvSpPr/>
          <p:nvPr/>
        </p:nvSpPr>
        <p:spPr>
          <a:xfrm>
            <a:off x="10214610" y="4544568"/>
            <a:ext cx="164592" cy="164592"/>
          </a:xfrm>
          <a:prstGeom prst="diamond">
            <a:avLst/>
          </a:prstGeom>
          <a:solidFill>
            <a:srgbClr val="F2A900"/>
          </a:solidFill>
          <a:ln>
            <a:noFill/>
          </a:ln>
        </p:spPr>
        <p:txBody>
          <a:bodyPr rtlCol="0" anchor="ctr"/>
          <a:lstStyle/>
          <a:p>
            <a:pPr algn="ctr"/>
          </a:p>
        </p:txBody>
      </p:sp>
      <p:sp>
        <p:nvSpPr>
          <p:cNvPr id="44" name="Label Rectangle 43"/>
          <p:cNvSpPr/>
          <p:nvPr/>
        </p:nvSpPr>
        <p:spPr>
          <a:xfrm>
            <a:off x="457200" y="4828032"/>
            <a:ext cx="11277295" cy="320040"/>
          </a:xfrm>
          <a:prstGeom prst="rect">
            <a:avLst/>
          </a:prstGeom>
          <a:solidFill>
            <a:srgbClr val="F2F2F2"/>
          </a:solidFill>
          <a:ln>
            <a:noFill/>
          </a:ln>
        </p:spPr>
        <p:txBody>
          <a:bodyPr rtlCol="0" anchor="ctr"/>
          <a:lstStyle/>
          <a:p>
            <a:pPr algn="ctr"/>
          </a:p>
        </p:txBody>
      </p:sp>
      <p:sp>
        <p:nvSpPr>
          <p:cNvPr id="45" name="Label TextBox 44"/>
          <p:cNvSpPr txBox="1"/>
          <p:nvPr/>
        </p:nvSpPr>
        <p:spPr>
          <a:xfrm>
            <a:off x="530352" y="4828032"/>
            <a:ext cx="2560320" cy="320040"/>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Knowledge transfer and launch</a:t>
            </a:r>
          </a:p>
        </p:txBody>
      </p:sp>
      <p:sp>
        <p:nvSpPr>
          <p:cNvPr id="46" name="Label Rectangle 45"/>
          <p:cNvSpPr/>
          <p:nvPr/>
        </p:nvSpPr>
        <p:spPr>
          <a:xfrm>
            <a:off x="8895892" y="4882896"/>
            <a:ext cx="2802026" cy="210312"/>
          </a:xfrm>
          <a:prstGeom prst="rect">
            <a:avLst/>
          </a:prstGeom>
          <a:solidFill>
            <a:srgbClr val="4F81BD"/>
          </a:solidFill>
          <a:ln>
            <a:noFill/>
          </a:ln>
        </p:spPr>
        <p:txBody>
          <a:bodyPr rtlCol="0" anchor="ctr" wrap="square" lIns="45720" rIns="45720" tIns="27432" bIns="27432"/>
          <a:lstStyle/>
          <a:p>
            <a:pPr algn="l">
              <a:spcAft>
                <a:spcPts val="0"/>
              </a:spcAft>
            </a:pPr>
            <a:r>
              <a:rPr sz="900" b="1" i="0">
                <a:solidFill>
                  <a:srgbClr val="FFFFFF"/>
                </a:solidFill>
                <a:latin typeface="Arial"/>
              </a:rPr>
              <a:t>Plan sessions; set the launch date</a:t>
            </a:r>
          </a:p>
        </p:txBody>
      </p:sp>
      <p:sp>
        <p:nvSpPr>
          <p:cNvPr id="47" name="Label Diamond 46"/>
          <p:cNvSpPr/>
          <p:nvPr/>
        </p:nvSpPr>
        <p:spPr>
          <a:xfrm>
            <a:off x="11652199" y="4910328"/>
            <a:ext cx="164592" cy="164592"/>
          </a:xfrm>
          <a:prstGeom prst="diamond">
            <a:avLst/>
          </a:prstGeom>
          <a:solidFill>
            <a:srgbClr val="F2A900"/>
          </a:solidFill>
          <a:ln>
            <a:noFill/>
          </a:ln>
        </p:spPr>
        <p:txBody>
          <a:bodyPr rtlCol="0" anchor="ctr"/>
          <a:lstStyle/>
          <a:p>
            <a:pPr algn="ctr"/>
          </a:p>
        </p:txBody>
      </p:sp>
      <p:cxnSp>
        <p:nvCxnSpPr>
          <p:cNvPr id="48" name="Label Connector 47"/>
          <p:cNvCxnSpPr/>
          <p:nvPr/>
        </p:nvCxnSpPr>
        <p:spPr>
          <a:xfrm>
            <a:off x="7185552" y="1828800"/>
            <a:ext cx="0" cy="3410712"/>
          </a:xfrm>
          <a:prstGeom prst="line">
            <a:avLst/>
          </a:prstGeom>
          <a:ln w="25400">
            <a:solidFill>
              <a:srgbClr val="D9262B"/>
            </a:solidFill>
          </a:ln>
        </p:spPr>
      </p:cxnSp>
      <p:sp>
        <p:nvSpPr>
          <p:cNvPr id="49" name="Label TextBox 48"/>
          <p:cNvSpPr txBox="1"/>
          <p:nvPr/>
        </p:nvSpPr>
        <p:spPr>
          <a:xfrm>
            <a:off x="6271152" y="5239512"/>
            <a:ext cx="1828800" cy="237744"/>
          </a:xfrm>
          <a:prstGeom prst="rect">
            <a:avLst/>
          </a:prstGeom>
          <a:noFill/>
        </p:spPr>
        <p:txBody>
          <a:bodyPr wrap="square" anchor="t" lIns="0" rIns="0" tIns="0" bIns="0">
            <a:spAutoFit/>
          </a:bodyPr>
          <a:lstStyle/>
          <a:p>
            <a:pPr algn="ctr">
              <a:spcAft>
                <a:spcPts val="0"/>
              </a:spcAft>
            </a:pPr>
            <a:r>
              <a:rPr sz="850" b="1" i="0">
                <a:solidFill>
                  <a:srgbClr val="D9262B"/>
                </a:solidFill>
                <a:latin typeface="Arial"/>
              </a:rPr>
              <a:t>Contract ends 31 Oct</a:t>
            </a:r>
          </a:p>
        </p:txBody>
      </p:sp>
      <p:sp>
        <p:nvSpPr>
          <p:cNvPr id="50" name="Label TextBox 49"/>
          <p:cNvSpPr txBox="1"/>
          <p:nvPr/>
        </p:nvSpPr>
        <p:spPr>
          <a:xfrm>
            <a:off x="4847075" y="1920240"/>
            <a:ext cx="1463040" cy="274320"/>
          </a:xfrm>
          <a:prstGeom prst="rect">
            <a:avLst/>
          </a:prstGeom>
          <a:noFill/>
        </p:spPr>
        <p:txBody>
          <a:bodyPr wrap="square" anchor="ctr" lIns="0" rIns="0" tIns="0" bIns="0">
            <a:spAutoFit/>
          </a:bodyPr>
          <a:lstStyle/>
          <a:p>
            <a:pPr algn="l">
              <a:spcAft>
                <a:spcPts val="0"/>
              </a:spcAft>
            </a:pPr>
            <a:r>
              <a:rPr sz="900" b="1" i="0">
                <a:solidFill>
                  <a:srgbClr val="1F497D"/>
                </a:solidFill>
                <a:latin typeface="Arial"/>
              </a:rPr>
              <a:t>Extension decision</a:t>
            </a:r>
          </a:p>
        </p:txBody>
      </p:sp>
      <p:sp>
        <p:nvSpPr>
          <p:cNvPr id="51" name="TextBox 50"/>
          <p:cNvSpPr txBox="1"/>
          <p:nvPr/>
        </p:nvSpPr>
        <p:spPr>
          <a:xfrm>
            <a:off x="457200" y="5257800"/>
            <a:ext cx="2743200"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RISKS TO THE PLAN</a:t>
            </a:r>
          </a:p>
        </p:txBody>
      </p:sp>
      <p:sp>
        <p:nvSpPr>
          <p:cNvPr id="52" name="TextBox 51"/>
          <p:cNvSpPr txBox="1"/>
          <p:nvPr/>
        </p:nvSpPr>
        <p:spPr>
          <a:xfrm>
            <a:off x="457200" y="5532120"/>
            <a:ext cx="3667658" cy="36576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Contract: </a:t>
            </a:r>
            <a:r>
              <a:rPr sz="1000" b="0" i="0">
                <a:solidFill>
                  <a:srgbClr val="404040"/>
                </a:solidFill>
                <a:latin typeface="Arial"/>
              </a:rPr>
              <a:t>without an extension, work stops on 31 October.</a:t>
            </a:r>
          </a:p>
        </p:txBody>
      </p:sp>
      <p:sp>
        <p:nvSpPr>
          <p:cNvPr id="53" name="TextBox 52"/>
          <p:cNvSpPr txBox="1"/>
          <p:nvPr/>
        </p:nvSpPr>
        <p:spPr>
          <a:xfrm>
            <a:off x="4262018" y="5532120"/>
            <a:ext cx="3667658" cy="36576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Access: </a:t>
            </a:r>
            <a:r>
              <a:rPr sz="1000" b="0" i="0">
                <a:solidFill>
                  <a:srgbClr val="404040"/>
                </a:solidFill>
                <a:latin typeface="Arial"/>
              </a:rPr>
              <a:t>airlines, DHA and SA Tourism may not engage in time.</a:t>
            </a:r>
          </a:p>
        </p:txBody>
      </p:sp>
      <p:sp>
        <p:nvSpPr>
          <p:cNvPr id="54" name="TextBox 53"/>
          <p:cNvSpPr txBox="1"/>
          <p:nvPr/>
        </p:nvSpPr>
        <p:spPr>
          <a:xfrm>
            <a:off x="8066836" y="5532120"/>
            <a:ext cx="3667658" cy="36576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Data: </a:t>
            </a:r>
            <a:r>
              <a:rPr sz="1000" b="0" i="0">
                <a:solidFill>
                  <a:srgbClr val="404040"/>
                </a:solidFill>
                <a:latin typeface="Arial"/>
              </a:rPr>
              <a:t>Wesgro marketing and booking data may arrive late.</a:t>
            </a:r>
          </a:p>
        </p:txBody>
      </p:sp>
      <p:sp>
        <p:nvSpPr>
          <p:cNvPr id="55" name="TextBox 54"/>
          <p:cNvSpPr txBox="1"/>
          <p:nvPr/>
        </p:nvSpPr>
        <p:spPr>
          <a:xfrm>
            <a:off x="8991295" y="5257800"/>
            <a:ext cx="2743200" cy="228600"/>
          </a:xfrm>
          <a:prstGeom prst="rect">
            <a:avLst/>
          </a:prstGeom>
          <a:noFill/>
        </p:spPr>
        <p:txBody>
          <a:bodyPr wrap="square" anchor="t" lIns="0" rIns="0" tIns="0" bIns="0">
            <a:spAutoFit/>
          </a:bodyPr>
          <a:lstStyle/>
          <a:p>
            <a:pPr algn="r">
              <a:spcAft>
                <a:spcPts val="0"/>
              </a:spcAft>
            </a:pPr>
            <a:r>
              <a:rPr sz="900" b="0" i="1">
                <a:solidFill>
                  <a:srgbClr val="7F7F7F"/>
                </a:solidFill>
                <a:latin typeface="Arial"/>
              </a:rPr>
              <a:t>Diamond: milestone or decision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We ask for six decisions today so drafting can start with confidence</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06 | THE ROAD TO THE FINAL REPORT</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Letsema proposal; SLA clause 4.3</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21</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Rectangle 7"/>
          <p:cNvSpPr/>
          <p:nvPr/>
        </p:nvSpPr>
        <p:spPr>
          <a:xfrm>
            <a:off x="457200" y="1417320"/>
            <a:ext cx="3667658" cy="1965960"/>
          </a:xfrm>
          <a:prstGeom prst="rect">
            <a:avLst/>
          </a:prstGeom>
          <a:solidFill>
            <a:srgbClr val="DCEEF7"/>
          </a:solidFill>
          <a:ln>
            <a:noFill/>
          </a:ln>
        </p:spPr>
        <p:txBody>
          <a:bodyPr rtlCol="0" anchor="ctr"/>
          <a:lstStyle/>
          <a:p>
            <a:pPr algn="ctr"/>
          </a:p>
        </p:txBody>
      </p:sp>
      <p:sp>
        <p:nvSpPr>
          <p:cNvPr id="9" name="Label num"/>
          <p:cNvSpPr txBox="1"/>
          <p:nvPr/>
        </p:nvSpPr>
        <p:spPr>
          <a:xfrm>
            <a:off x="640080" y="1527048"/>
            <a:ext cx="640080" cy="548640"/>
          </a:xfrm>
          <a:prstGeom prst="rect">
            <a:avLst/>
          </a:prstGeom>
          <a:noFill/>
        </p:spPr>
        <p:txBody>
          <a:bodyPr wrap="square" anchor="t" lIns="0" rIns="0" tIns="0" bIns="0">
            <a:spAutoFit/>
          </a:bodyPr>
          <a:lstStyle/>
          <a:p>
            <a:pPr algn="l">
              <a:spcAft>
                <a:spcPts val="0"/>
              </a:spcAft>
            </a:pPr>
            <a:r>
              <a:rPr sz="2800" b="1" i="0">
                <a:solidFill>
                  <a:srgbClr val="00AEEF"/>
                </a:solidFill>
                <a:latin typeface="Arial"/>
              </a:rPr>
              <a:t>1</a:t>
            </a:r>
          </a:p>
        </p:txBody>
      </p:sp>
      <p:sp>
        <p:nvSpPr>
          <p:cNvPr id="10" name="Rectangle 9"/>
          <p:cNvSpPr/>
          <p:nvPr/>
        </p:nvSpPr>
        <p:spPr>
          <a:xfrm>
            <a:off x="3667658" y="1618488"/>
            <a:ext cx="256032" cy="256032"/>
          </a:xfrm>
          <a:prstGeom prst="rect">
            <a:avLst/>
          </a:prstGeom>
          <a:solidFill>
            <a:srgbClr val="FFFFFF"/>
          </a:solidFill>
          <a:ln w="15875">
            <a:solidFill>
              <a:srgbClr val="1F497D"/>
            </a:solidFill>
          </a:ln>
        </p:spPr>
        <p:txBody>
          <a:bodyPr rtlCol="0" anchor="ctr"/>
          <a:lstStyle/>
          <a:p>
            <a:pPr algn="ctr"/>
          </a:p>
        </p:txBody>
      </p:sp>
      <p:sp>
        <p:nvSpPr>
          <p:cNvPr id="11" name="TextBox 10"/>
          <p:cNvSpPr txBox="1"/>
          <p:nvPr/>
        </p:nvSpPr>
        <p:spPr>
          <a:xfrm>
            <a:off x="640080" y="2103120"/>
            <a:ext cx="3301898" cy="320040"/>
          </a:xfrm>
          <a:prstGeom prst="rect">
            <a:avLst/>
          </a:prstGeom>
          <a:noFill/>
        </p:spPr>
        <p:txBody>
          <a:bodyPr wrap="square" anchor="t" lIns="0" rIns="0" tIns="0" bIns="0">
            <a:spAutoFit/>
          </a:bodyPr>
          <a:lstStyle/>
          <a:p>
            <a:pPr algn="l">
              <a:spcAft>
                <a:spcPts val="0"/>
              </a:spcAft>
            </a:pPr>
            <a:r>
              <a:rPr sz="1400" b="1" i="0">
                <a:solidFill>
                  <a:srgbClr val="1F497D"/>
                </a:solidFill>
                <a:latin typeface="Arial"/>
              </a:rPr>
              <a:t>Extend the contract</a:t>
            </a:r>
          </a:p>
        </p:txBody>
      </p:sp>
      <p:sp>
        <p:nvSpPr>
          <p:cNvPr id="12" name="TextBox 11"/>
          <p:cNvSpPr txBox="1"/>
          <p:nvPr/>
        </p:nvSpPr>
        <p:spPr>
          <a:xfrm>
            <a:off x="640080" y="2441448"/>
            <a:ext cx="3301898" cy="548640"/>
          </a:xfrm>
          <a:prstGeom prst="rect">
            <a:avLst/>
          </a:prstGeom>
          <a:noFill/>
        </p:spPr>
        <p:txBody>
          <a:bodyPr wrap="square" anchor="t" lIns="0" rIns="0" tIns="0" bIns="0">
            <a:spAutoFit/>
          </a:bodyPr>
          <a:lstStyle/>
          <a:p>
            <a:pPr algn="l">
              <a:spcAft>
                <a:spcPts val="0"/>
              </a:spcAft>
            </a:pPr>
            <a:r>
              <a:rPr sz="1100" b="0" i="0">
                <a:solidFill>
                  <a:srgbClr val="404040"/>
                </a:solidFill>
                <a:latin typeface="Arial"/>
              </a:rPr>
              <a:t>Agree the clause 4.3 addendum so work continues past 31 October.</a:t>
            </a:r>
          </a:p>
        </p:txBody>
      </p:sp>
      <p:sp>
        <p:nvSpPr>
          <p:cNvPr id="13" name="Label owner"/>
          <p:cNvSpPr txBox="1"/>
          <p:nvPr/>
        </p:nvSpPr>
        <p:spPr>
          <a:xfrm>
            <a:off x="640080" y="3044952"/>
            <a:ext cx="3301898"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Owner: Wesgro executive sponsor</a:t>
            </a:r>
          </a:p>
        </p:txBody>
      </p:sp>
      <p:sp>
        <p:nvSpPr>
          <p:cNvPr id="14" name="Rectangle 13"/>
          <p:cNvSpPr/>
          <p:nvPr/>
        </p:nvSpPr>
        <p:spPr>
          <a:xfrm>
            <a:off x="4262018" y="1417320"/>
            <a:ext cx="3667658" cy="1965960"/>
          </a:xfrm>
          <a:prstGeom prst="rect">
            <a:avLst/>
          </a:prstGeom>
          <a:solidFill>
            <a:srgbClr val="DCEEF7"/>
          </a:solidFill>
          <a:ln>
            <a:noFill/>
          </a:ln>
        </p:spPr>
        <p:txBody>
          <a:bodyPr rtlCol="0" anchor="ctr"/>
          <a:lstStyle/>
          <a:p>
            <a:pPr algn="ctr"/>
          </a:p>
        </p:txBody>
      </p:sp>
      <p:sp>
        <p:nvSpPr>
          <p:cNvPr id="15" name="Label num"/>
          <p:cNvSpPr txBox="1"/>
          <p:nvPr/>
        </p:nvSpPr>
        <p:spPr>
          <a:xfrm>
            <a:off x="4444898" y="1527048"/>
            <a:ext cx="640080" cy="548640"/>
          </a:xfrm>
          <a:prstGeom prst="rect">
            <a:avLst/>
          </a:prstGeom>
          <a:noFill/>
        </p:spPr>
        <p:txBody>
          <a:bodyPr wrap="square" anchor="t" lIns="0" rIns="0" tIns="0" bIns="0">
            <a:spAutoFit/>
          </a:bodyPr>
          <a:lstStyle/>
          <a:p>
            <a:pPr algn="l">
              <a:spcAft>
                <a:spcPts val="0"/>
              </a:spcAft>
            </a:pPr>
            <a:r>
              <a:rPr sz="2800" b="1" i="0">
                <a:solidFill>
                  <a:srgbClr val="00AEEF"/>
                </a:solidFill>
                <a:latin typeface="Arial"/>
              </a:rPr>
              <a:t>2</a:t>
            </a:r>
          </a:p>
        </p:txBody>
      </p:sp>
      <p:sp>
        <p:nvSpPr>
          <p:cNvPr id="16" name="Rectangle 15"/>
          <p:cNvSpPr/>
          <p:nvPr/>
        </p:nvSpPr>
        <p:spPr>
          <a:xfrm>
            <a:off x="7472476" y="1618488"/>
            <a:ext cx="256032" cy="256032"/>
          </a:xfrm>
          <a:prstGeom prst="rect">
            <a:avLst/>
          </a:prstGeom>
          <a:solidFill>
            <a:srgbClr val="FFFFFF"/>
          </a:solidFill>
          <a:ln w="15875">
            <a:solidFill>
              <a:srgbClr val="1F497D"/>
            </a:solidFill>
          </a:ln>
        </p:spPr>
        <p:txBody>
          <a:bodyPr rtlCol="0" anchor="ctr"/>
          <a:lstStyle/>
          <a:p>
            <a:pPr algn="ctr"/>
          </a:p>
        </p:txBody>
      </p:sp>
      <p:sp>
        <p:nvSpPr>
          <p:cNvPr id="17" name="TextBox 16"/>
          <p:cNvSpPr txBox="1"/>
          <p:nvPr/>
        </p:nvSpPr>
        <p:spPr>
          <a:xfrm>
            <a:off x="4444898" y="2103120"/>
            <a:ext cx="3301898" cy="320040"/>
          </a:xfrm>
          <a:prstGeom prst="rect">
            <a:avLst/>
          </a:prstGeom>
          <a:noFill/>
        </p:spPr>
        <p:txBody>
          <a:bodyPr wrap="square" anchor="t" lIns="0" rIns="0" tIns="0" bIns="0">
            <a:spAutoFit/>
          </a:bodyPr>
          <a:lstStyle/>
          <a:p>
            <a:pPr algn="l">
              <a:spcAft>
                <a:spcPts val="0"/>
              </a:spcAft>
            </a:pPr>
            <a:r>
              <a:rPr sz="1400" b="1" i="0">
                <a:solidFill>
                  <a:srgbClr val="1F497D"/>
                </a:solidFill>
                <a:latin typeface="Arial"/>
              </a:rPr>
              <a:t>Adopt the working answer</a:t>
            </a:r>
          </a:p>
        </p:txBody>
      </p:sp>
      <p:sp>
        <p:nvSpPr>
          <p:cNvPr id="18" name="TextBox 17"/>
          <p:cNvSpPr txBox="1"/>
          <p:nvPr/>
        </p:nvSpPr>
        <p:spPr>
          <a:xfrm>
            <a:off x="4444898" y="2441448"/>
            <a:ext cx="3301898" cy="548640"/>
          </a:xfrm>
          <a:prstGeom prst="rect">
            <a:avLst/>
          </a:prstGeom>
          <a:noFill/>
        </p:spPr>
        <p:txBody>
          <a:bodyPr wrap="square" anchor="t" lIns="0" rIns="0" tIns="0" bIns="0">
            <a:spAutoFit/>
          </a:bodyPr>
          <a:lstStyle/>
          <a:p>
            <a:pPr algn="l">
              <a:spcAft>
                <a:spcPts val="0"/>
              </a:spcAft>
            </a:pPr>
            <a:r>
              <a:rPr sz="1100" b="0" i="0">
                <a:solidFill>
                  <a:srgbClr val="404040"/>
                </a:solidFill>
                <a:latin typeface="Arial"/>
              </a:rPr>
              <a:t>Use the seven findings and the answer as the report’s spine.</a:t>
            </a:r>
          </a:p>
        </p:txBody>
      </p:sp>
      <p:sp>
        <p:nvSpPr>
          <p:cNvPr id="19" name="Label owner"/>
          <p:cNvSpPr txBox="1"/>
          <p:nvPr/>
        </p:nvSpPr>
        <p:spPr>
          <a:xfrm>
            <a:off x="4444898" y="3044952"/>
            <a:ext cx="3301898"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Owner: Project steering committee</a:t>
            </a:r>
          </a:p>
        </p:txBody>
      </p:sp>
      <p:sp>
        <p:nvSpPr>
          <p:cNvPr id="20" name="Rectangle 19"/>
          <p:cNvSpPr/>
          <p:nvPr/>
        </p:nvSpPr>
        <p:spPr>
          <a:xfrm>
            <a:off x="8066836" y="1417320"/>
            <a:ext cx="3667658" cy="1965960"/>
          </a:xfrm>
          <a:prstGeom prst="rect">
            <a:avLst/>
          </a:prstGeom>
          <a:solidFill>
            <a:srgbClr val="DCEEF7"/>
          </a:solidFill>
          <a:ln>
            <a:noFill/>
          </a:ln>
        </p:spPr>
        <p:txBody>
          <a:bodyPr rtlCol="0" anchor="ctr"/>
          <a:lstStyle/>
          <a:p>
            <a:pPr algn="ctr"/>
          </a:p>
        </p:txBody>
      </p:sp>
      <p:sp>
        <p:nvSpPr>
          <p:cNvPr id="21" name="Label num"/>
          <p:cNvSpPr txBox="1"/>
          <p:nvPr/>
        </p:nvSpPr>
        <p:spPr>
          <a:xfrm>
            <a:off x="8249716" y="1527048"/>
            <a:ext cx="640080" cy="548640"/>
          </a:xfrm>
          <a:prstGeom prst="rect">
            <a:avLst/>
          </a:prstGeom>
          <a:noFill/>
        </p:spPr>
        <p:txBody>
          <a:bodyPr wrap="square" anchor="t" lIns="0" rIns="0" tIns="0" bIns="0">
            <a:spAutoFit/>
          </a:bodyPr>
          <a:lstStyle/>
          <a:p>
            <a:pPr algn="l">
              <a:spcAft>
                <a:spcPts val="0"/>
              </a:spcAft>
            </a:pPr>
            <a:r>
              <a:rPr sz="2800" b="1" i="0">
                <a:solidFill>
                  <a:srgbClr val="00AEEF"/>
                </a:solidFill>
                <a:latin typeface="Arial"/>
              </a:rPr>
              <a:t>3</a:t>
            </a:r>
          </a:p>
        </p:txBody>
      </p:sp>
      <p:sp>
        <p:nvSpPr>
          <p:cNvPr id="22" name="Rectangle 21"/>
          <p:cNvSpPr/>
          <p:nvPr/>
        </p:nvSpPr>
        <p:spPr>
          <a:xfrm>
            <a:off x="11277295" y="1618488"/>
            <a:ext cx="256032" cy="256032"/>
          </a:xfrm>
          <a:prstGeom prst="rect">
            <a:avLst/>
          </a:prstGeom>
          <a:solidFill>
            <a:srgbClr val="FFFFFF"/>
          </a:solidFill>
          <a:ln w="15875">
            <a:solidFill>
              <a:srgbClr val="1F497D"/>
            </a:solidFill>
          </a:ln>
        </p:spPr>
        <p:txBody>
          <a:bodyPr rtlCol="0" anchor="ctr"/>
          <a:lstStyle/>
          <a:p>
            <a:pPr algn="ctr"/>
          </a:p>
        </p:txBody>
      </p:sp>
      <p:sp>
        <p:nvSpPr>
          <p:cNvPr id="23" name="TextBox 22"/>
          <p:cNvSpPr txBox="1"/>
          <p:nvPr/>
        </p:nvSpPr>
        <p:spPr>
          <a:xfrm>
            <a:off x="8249716" y="2103120"/>
            <a:ext cx="3301898" cy="320040"/>
          </a:xfrm>
          <a:prstGeom prst="rect">
            <a:avLst/>
          </a:prstGeom>
          <a:noFill/>
        </p:spPr>
        <p:txBody>
          <a:bodyPr wrap="square" anchor="t" lIns="0" rIns="0" tIns="0" bIns="0">
            <a:spAutoFit/>
          </a:bodyPr>
          <a:lstStyle/>
          <a:p>
            <a:pPr algn="l">
              <a:spcAft>
                <a:spcPts val="0"/>
              </a:spcAft>
            </a:pPr>
            <a:r>
              <a:rPr sz="1400" b="1" i="0">
                <a:solidFill>
                  <a:srgbClr val="1F497D"/>
                </a:solidFill>
                <a:latin typeface="Arial"/>
              </a:rPr>
              <a:t>Approve the tree changes</a:t>
            </a:r>
          </a:p>
        </p:txBody>
      </p:sp>
      <p:sp>
        <p:nvSpPr>
          <p:cNvPr id="24" name="TextBox 23"/>
          <p:cNvSpPr txBox="1"/>
          <p:nvPr/>
        </p:nvSpPr>
        <p:spPr>
          <a:xfrm>
            <a:off x="8249716" y="2441448"/>
            <a:ext cx="3301898" cy="548640"/>
          </a:xfrm>
          <a:prstGeom prst="rect">
            <a:avLst/>
          </a:prstGeom>
          <a:noFill/>
        </p:spPr>
        <p:txBody>
          <a:bodyPr wrap="square" anchor="t" lIns="0" rIns="0" tIns="0" bIns="0">
            <a:spAutoFit/>
          </a:bodyPr>
          <a:lstStyle/>
          <a:p>
            <a:pPr algn="l">
              <a:spcAft>
                <a:spcPts val="0"/>
              </a:spcAft>
            </a:pPr>
            <a:r>
              <a:rPr sz="1100" b="0" i="0">
                <a:solidFill>
                  <a:srgbClr val="404040"/>
                </a:solidFill>
                <a:latin typeface="Arial"/>
              </a:rPr>
              <a:t>Adopt the nine changes to the December tree.</a:t>
            </a:r>
          </a:p>
        </p:txBody>
      </p:sp>
      <p:sp>
        <p:nvSpPr>
          <p:cNvPr id="25" name="Label owner"/>
          <p:cNvSpPr txBox="1"/>
          <p:nvPr/>
        </p:nvSpPr>
        <p:spPr>
          <a:xfrm>
            <a:off x="8249716" y="3044952"/>
            <a:ext cx="3301898"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Owner: Project steering committee</a:t>
            </a:r>
          </a:p>
        </p:txBody>
      </p:sp>
      <p:sp>
        <p:nvSpPr>
          <p:cNvPr id="26" name="Rectangle 25"/>
          <p:cNvSpPr/>
          <p:nvPr/>
        </p:nvSpPr>
        <p:spPr>
          <a:xfrm>
            <a:off x="457200" y="3520439"/>
            <a:ext cx="3667658" cy="1965960"/>
          </a:xfrm>
          <a:prstGeom prst="rect">
            <a:avLst/>
          </a:prstGeom>
          <a:solidFill>
            <a:srgbClr val="DCEEF7"/>
          </a:solidFill>
          <a:ln>
            <a:noFill/>
          </a:ln>
        </p:spPr>
        <p:txBody>
          <a:bodyPr rtlCol="0" anchor="ctr"/>
          <a:lstStyle/>
          <a:p>
            <a:pPr algn="ctr"/>
          </a:p>
        </p:txBody>
      </p:sp>
      <p:sp>
        <p:nvSpPr>
          <p:cNvPr id="27" name="Label num"/>
          <p:cNvSpPr txBox="1"/>
          <p:nvPr/>
        </p:nvSpPr>
        <p:spPr>
          <a:xfrm>
            <a:off x="640080" y="3630168"/>
            <a:ext cx="640080" cy="548640"/>
          </a:xfrm>
          <a:prstGeom prst="rect">
            <a:avLst/>
          </a:prstGeom>
          <a:noFill/>
        </p:spPr>
        <p:txBody>
          <a:bodyPr wrap="square" anchor="t" lIns="0" rIns="0" tIns="0" bIns="0">
            <a:spAutoFit/>
          </a:bodyPr>
          <a:lstStyle/>
          <a:p>
            <a:pPr algn="l">
              <a:spcAft>
                <a:spcPts val="0"/>
              </a:spcAft>
            </a:pPr>
            <a:r>
              <a:rPr sz="2800" b="1" i="0">
                <a:solidFill>
                  <a:srgbClr val="00AEEF"/>
                </a:solidFill>
                <a:latin typeface="Arial"/>
              </a:rPr>
              <a:t>4</a:t>
            </a:r>
          </a:p>
        </p:txBody>
      </p:sp>
      <p:sp>
        <p:nvSpPr>
          <p:cNvPr id="28" name="Rectangle 27"/>
          <p:cNvSpPr/>
          <p:nvPr/>
        </p:nvSpPr>
        <p:spPr>
          <a:xfrm>
            <a:off x="3667658" y="3721607"/>
            <a:ext cx="256032" cy="256032"/>
          </a:xfrm>
          <a:prstGeom prst="rect">
            <a:avLst/>
          </a:prstGeom>
          <a:solidFill>
            <a:srgbClr val="FFFFFF"/>
          </a:solidFill>
          <a:ln w="15875">
            <a:solidFill>
              <a:srgbClr val="1F497D"/>
            </a:solidFill>
          </a:ln>
        </p:spPr>
        <p:txBody>
          <a:bodyPr rtlCol="0" anchor="ctr"/>
          <a:lstStyle/>
          <a:p>
            <a:pPr algn="ctr"/>
          </a:p>
        </p:txBody>
      </p:sp>
      <p:sp>
        <p:nvSpPr>
          <p:cNvPr id="29" name="TextBox 28"/>
          <p:cNvSpPr txBox="1"/>
          <p:nvPr/>
        </p:nvSpPr>
        <p:spPr>
          <a:xfrm>
            <a:off x="640080" y="4206240"/>
            <a:ext cx="3301898" cy="320040"/>
          </a:xfrm>
          <a:prstGeom prst="rect">
            <a:avLst/>
          </a:prstGeom>
          <a:noFill/>
        </p:spPr>
        <p:txBody>
          <a:bodyPr wrap="square" anchor="t" lIns="0" rIns="0" tIns="0" bIns="0">
            <a:spAutoFit/>
          </a:bodyPr>
          <a:lstStyle/>
          <a:p>
            <a:pPr algn="l">
              <a:spcAft>
                <a:spcPts val="0"/>
              </a:spcAft>
            </a:pPr>
            <a:r>
              <a:rPr sz="1400" b="1" i="0">
                <a:solidFill>
                  <a:srgbClr val="1F497D"/>
                </a:solidFill>
                <a:latin typeface="Arial"/>
              </a:rPr>
              <a:t>Close the marketing gap</a:t>
            </a:r>
          </a:p>
        </p:txBody>
      </p:sp>
      <p:sp>
        <p:nvSpPr>
          <p:cNvPr id="30" name="TextBox 29"/>
          <p:cNvSpPr txBox="1"/>
          <p:nvPr/>
        </p:nvSpPr>
        <p:spPr>
          <a:xfrm>
            <a:off x="640080" y="4544568"/>
            <a:ext cx="3301898" cy="548640"/>
          </a:xfrm>
          <a:prstGeom prst="rect">
            <a:avLst/>
          </a:prstGeom>
          <a:noFill/>
        </p:spPr>
        <p:txBody>
          <a:bodyPr wrap="square" anchor="t" lIns="0" rIns="0" tIns="0" bIns="0">
            <a:spAutoFit/>
          </a:bodyPr>
          <a:lstStyle/>
          <a:p>
            <a:pPr algn="l">
              <a:spcAft>
                <a:spcPts val="0"/>
              </a:spcAft>
            </a:pPr>
            <a:r>
              <a:rPr sz="1100" b="0" i="0">
                <a:solidFill>
                  <a:srgbClr val="404040"/>
                </a:solidFill>
                <a:latin typeface="Arial"/>
              </a:rPr>
              <a:t>Approve a rapid marketing audit and peer benchmark.</a:t>
            </a:r>
          </a:p>
        </p:txBody>
      </p:sp>
      <p:sp>
        <p:nvSpPr>
          <p:cNvPr id="31" name="Label owner"/>
          <p:cNvSpPr txBox="1"/>
          <p:nvPr/>
        </p:nvSpPr>
        <p:spPr>
          <a:xfrm>
            <a:off x="640080" y="5148072"/>
            <a:ext cx="3301898"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Owner: Wesgro marketing lead</a:t>
            </a:r>
          </a:p>
        </p:txBody>
      </p:sp>
      <p:sp>
        <p:nvSpPr>
          <p:cNvPr id="32" name="Rectangle 31"/>
          <p:cNvSpPr/>
          <p:nvPr/>
        </p:nvSpPr>
        <p:spPr>
          <a:xfrm>
            <a:off x="4262018" y="3520439"/>
            <a:ext cx="3667658" cy="1965960"/>
          </a:xfrm>
          <a:prstGeom prst="rect">
            <a:avLst/>
          </a:prstGeom>
          <a:solidFill>
            <a:srgbClr val="DCEEF7"/>
          </a:solidFill>
          <a:ln>
            <a:noFill/>
          </a:ln>
        </p:spPr>
        <p:txBody>
          <a:bodyPr rtlCol="0" anchor="ctr"/>
          <a:lstStyle/>
          <a:p>
            <a:pPr algn="ctr"/>
          </a:p>
        </p:txBody>
      </p:sp>
      <p:sp>
        <p:nvSpPr>
          <p:cNvPr id="33" name="Label num"/>
          <p:cNvSpPr txBox="1"/>
          <p:nvPr/>
        </p:nvSpPr>
        <p:spPr>
          <a:xfrm>
            <a:off x="4444898" y="3630168"/>
            <a:ext cx="640080" cy="548640"/>
          </a:xfrm>
          <a:prstGeom prst="rect">
            <a:avLst/>
          </a:prstGeom>
          <a:noFill/>
        </p:spPr>
        <p:txBody>
          <a:bodyPr wrap="square" anchor="t" lIns="0" rIns="0" tIns="0" bIns="0">
            <a:spAutoFit/>
          </a:bodyPr>
          <a:lstStyle/>
          <a:p>
            <a:pPr algn="l">
              <a:spcAft>
                <a:spcPts val="0"/>
              </a:spcAft>
            </a:pPr>
            <a:r>
              <a:rPr sz="2800" b="1" i="0">
                <a:solidFill>
                  <a:srgbClr val="00AEEF"/>
                </a:solidFill>
                <a:latin typeface="Arial"/>
              </a:rPr>
              <a:t>5</a:t>
            </a:r>
          </a:p>
        </p:txBody>
      </p:sp>
      <p:sp>
        <p:nvSpPr>
          <p:cNvPr id="34" name="Rectangle 33"/>
          <p:cNvSpPr/>
          <p:nvPr/>
        </p:nvSpPr>
        <p:spPr>
          <a:xfrm>
            <a:off x="7472476" y="3721607"/>
            <a:ext cx="256032" cy="256032"/>
          </a:xfrm>
          <a:prstGeom prst="rect">
            <a:avLst/>
          </a:prstGeom>
          <a:solidFill>
            <a:srgbClr val="FFFFFF"/>
          </a:solidFill>
          <a:ln w="15875">
            <a:solidFill>
              <a:srgbClr val="1F497D"/>
            </a:solidFill>
          </a:ln>
        </p:spPr>
        <p:txBody>
          <a:bodyPr rtlCol="0" anchor="ctr"/>
          <a:lstStyle/>
          <a:p>
            <a:pPr algn="ctr"/>
          </a:p>
        </p:txBody>
      </p:sp>
      <p:sp>
        <p:nvSpPr>
          <p:cNvPr id="35" name="TextBox 34"/>
          <p:cNvSpPr txBox="1"/>
          <p:nvPr/>
        </p:nvSpPr>
        <p:spPr>
          <a:xfrm>
            <a:off x="4444898" y="4206240"/>
            <a:ext cx="3301898" cy="320040"/>
          </a:xfrm>
          <a:prstGeom prst="rect">
            <a:avLst/>
          </a:prstGeom>
          <a:noFill/>
        </p:spPr>
        <p:txBody>
          <a:bodyPr wrap="square" anchor="t" lIns="0" rIns="0" tIns="0" bIns="0">
            <a:spAutoFit/>
          </a:bodyPr>
          <a:lstStyle/>
          <a:p>
            <a:pPr algn="l">
              <a:spcAft>
                <a:spcPts val="0"/>
              </a:spcAft>
            </a:pPr>
            <a:r>
              <a:rPr sz="1400" b="1" i="0">
                <a:solidFill>
                  <a:srgbClr val="1F497D"/>
                </a:solidFill>
                <a:latin typeface="Arial"/>
              </a:rPr>
              <a:t>Open the missing doors</a:t>
            </a:r>
          </a:p>
        </p:txBody>
      </p:sp>
      <p:sp>
        <p:nvSpPr>
          <p:cNvPr id="36" name="TextBox 35"/>
          <p:cNvSpPr txBox="1"/>
          <p:nvPr/>
        </p:nvSpPr>
        <p:spPr>
          <a:xfrm>
            <a:off x="4444898" y="4544568"/>
            <a:ext cx="3301898" cy="548640"/>
          </a:xfrm>
          <a:prstGeom prst="rect">
            <a:avLst/>
          </a:prstGeom>
          <a:noFill/>
        </p:spPr>
        <p:txBody>
          <a:bodyPr wrap="square" anchor="t" lIns="0" rIns="0" tIns="0" bIns="0">
            <a:spAutoFit/>
          </a:bodyPr>
          <a:lstStyle/>
          <a:p>
            <a:pPr algn="l">
              <a:spcAft>
                <a:spcPts val="0"/>
              </a:spcAft>
            </a:pPr>
            <a:r>
              <a:rPr sz="1100" b="0" i="0">
                <a:solidFill>
                  <a:srgbClr val="404040"/>
                </a:solidFill>
                <a:latin typeface="Arial"/>
              </a:rPr>
              <a:t>Broker airline, SA Tourism, City and DHA interviews.</a:t>
            </a:r>
          </a:p>
        </p:txBody>
      </p:sp>
      <p:sp>
        <p:nvSpPr>
          <p:cNvPr id="37" name="Label owner"/>
          <p:cNvSpPr txBox="1"/>
          <p:nvPr/>
        </p:nvSpPr>
        <p:spPr>
          <a:xfrm>
            <a:off x="4444898" y="5148072"/>
            <a:ext cx="3301898"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Owner: Wesgro Air Access and executive sponsor</a:t>
            </a:r>
          </a:p>
        </p:txBody>
      </p:sp>
      <p:sp>
        <p:nvSpPr>
          <p:cNvPr id="38" name="Rectangle 37"/>
          <p:cNvSpPr/>
          <p:nvPr/>
        </p:nvSpPr>
        <p:spPr>
          <a:xfrm>
            <a:off x="8066836" y="3520439"/>
            <a:ext cx="3667658" cy="1965960"/>
          </a:xfrm>
          <a:prstGeom prst="rect">
            <a:avLst/>
          </a:prstGeom>
          <a:solidFill>
            <a:srgbClr val="DCEEF7"/>
          </a:solidFill>
          <a:ln>
            <a:noFill/>
          </a:ln>
        </p:spPr>
        <p:txBody>
          <a:bodyPr rtlCol="0" anchor="ctr"/>
          <a:lstStyle/>
          <a:p>
            <a:pPr algn="ctr"/>
          </a:p>
        </p:txBody>
      </p:sp>
      <p:sp>
        <p:nvSpPr>
          <p:cNvPr id="39" name="Label num"/>
          <p:cNvSpPr txBox="1"/>
          <p:nvPr/>
        </p:nvSpPr>
        <p:spPr>
          <a:xfrm>
            <a:off x="8249716" y="3630168"/>
            <a:ext cx="640080" cy="548640"/>
          </a:xfrm>
          <a:prstGeom prst="rect">
            <a:avLst/>
          </a:prstGeom>
          <a:noFill/>
        </p:spPr>
        <p:txBody>
          <a:bodyPr wrap="square" anchor="t" lIns="0" rIns="0" tIns="0" bIns="0">
            <a:spAutoFit/>
          </a:bodyPr>
          <a:lstStyle/>
          <a:p>
            <a:pPr algn="l">
              <a:spcAft>
                <a:spcPts val="0"/>
              </a:spcAft>
            </a:pPr>
            <a:r>
              <a:rPr sz="2800" b="1" i="0">
                <a:solidFill>
                  <a:srgbClr val="00AEEF"/>
                </a:solidFill>
                <a:latin typeface="Arial"/>
              </a:rPr>
              <a:t>6</a:t>
            </a:r>
          </a:p>
        </p:txBody>
      </p:sp>
      <p:sp>
        <p:nvSpPr>
          <p:cNvPr id="40" name="Rectangle 39"/>
          <p:cNvSpPr/>
          <p:nvPr/>
        </p:nvSpPr>
        <p:spPr>
          <a:xfrm>
            <a:off x="11277295" y="3721607"/>
            <a:ext cx="256032" cy="256032"/>
          </a:xfrm>
          <a:prstGeom prst="rect">
            <a:avLst/>
          </a:prstGeom>
          <a:solidFill>
            <a:srgbClr val="FFFFFF"/>
          </a:solidFill>
          <a:ln w="15875">
            <a:solidFill>
              <a:srgbClr val="1F497D"/>
            </a:solidFill>
          </a:ln>
        </p:spPr>
        <p:txBody>
          <a:bodyPr rtlCol="0" anchor="ctr"/>
          <a:lstStyle/>
          <a:p>
            <a:pPr algn="ctr"/>
          </a:p>
        </p:txBody>
      </p:sp>
      <p:sp>
        <p:nvSpPr>
          <p:cNvPr id="41" name="TextBox 40"/>
          <p:cNvSpPr txBox="1"/>
          <p:nvPr/>
        </p:nvSpPr>
        <p:spPr>
          <a:xfrm>
            <a:off x="8249716" y="4206240"/>
            <a:ext cx="3301898" cy="320040"/>
          </a:xfrm>
          <a:prstGeom prst="rect">
            <a:avLst/>
          </a:prstGeom>
          <a:noFill/>
        </p:spPr>
        <p:txBody>
          <a:bodyPr wrap="square" anchor="t" lIns="0" rIns="0" tIns="0" bIns="0">
            <a:spAutoFit/>
          </a:bodyPr>
          <a:lstStyle/>
          <a:p>
            <a:pPr algn="l">
              <a:spcAft>
                <a:spcPts val="0"/>
              </a:spcAft>
            </a:pPr>
            <a:r>
              <a:rPr sz="1400" b="1" i="0">
                <a:solidFill>
                  <a:srgbClr val="1F497D"/>
                </a:solidFill>
                <a:latin typeface="Arial"/>
              </a:rPr>
              <a:t>Bound the rest</a:t>
            </a:r>
          </a:p>
        </p:txBody>
      </p:sp>
      <p:sp>
        <p:nvSpPr>
          <p:cNvPr id="42" name="TextBox 41"/>
          <p:cNvSpPr txBox="1"/>
          <p:nvPr/>
        </p:nvSpPr>
        <p:spPr>
          <a:xfrm>
            <a:off x="8249716" y="4544568"/>
            <a:ext cx="3301898" cy="548640"/>
          </a:xfrm>
          <a:prstGeom prst="rect">
            <a:avLst/>
          </a:prstGeom>
          <a:noFill/>
        </p:spPr>
        <p:txBody>
          <a:bodyPr wrap="square" anchor="t" lIns="0" rIns="0" tIns="0" bIns="0">
            <a:spAutoFit/>
          </a:bodyPr>
          <a:lstStyle/>
          <a:p>
            <a:pPr algn="l">
              <a:spcAft>
                <a:spcPts val="0"/>
              </a:spcAft>
            </a:pPr>
            <a:r>
              <a:rPr sz="1100" b="0" i="0">
                <a:solidFill>
                  <a:srgbClr val="404040"/>
                </a:solidFill>
                <a:latin typeface="Arial"/>
              </a:rPr>
              <a:t>Bound safety and visas; fold in cruise, ASEAN and Brazil; park skills.</a:t>
            </a:r>
          </a:p>
        </p:txBody>
      </p:sp>
      <p:sp>
        <p:nvSpPr>
          <p:cNvPr id="43" name="Label owner"/>
          <p:cNvSpPr txBox="1"/>
          <p:nvPr/>
        </p:nvSpPr>
        <p:spPr>
          <a:xfrm>
            <a:off x="8249716" y="5148072"/>
            <a:ext cx="3301898" cy="274320"/>
          </a:xfrm>
          <a:prstGeom prst="rect">
            <a:avLst/>
          </a:prstGeom>
          <a:noFill/>
        </p:spPr>
        <p:txBody>
          <a:bodyPr wrap="square" anchor="t" lIns="0" rIns="0" tIns="0" bIns="0">
            <a:spAutoFit/>
          </a:bodyPr>
          <a:lstStyle/>
          <a:p>
            <a:pPr algn="l">
              <a:spcAft>
                <a:spcPts val="0"/>
              </a:spcAft>
            </a:pPr>
            <a:r>
              <a:rPr sz="900" b="0" i="1">
                <a:solidFill>
                  <a:srgbClr val="7F7F7F"/>
                </a:solidFill>
                <a:latin typeface="Arial"/>
              </a:rPr>
              <a:t>Owner: Project steering committee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nd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11480" y="2011680"/>
            <a:ext cx="5486400" cy="1280160"/>
          </a:xfrm>
          <a:prstGeom prst="rect">
            <a:avLst/>
          </a:prstGeom>
          <a:noFill/>
        </p:spPr>
        <p:txBody>
          <a:bodyPr wrap="square" anchor="t" lIns="0" rIns="0" tIns="0" bIns="0">
            <a:spAutoFit/>
          </a:bodyPr>
          <a:lstStyle/>
          <a:p>
            <a:pPr algn="l">
              <a:spcAft>
                <a:spcPts val="0"/>
              </a:spcAft>
            </a:pPr>
            <a:r>
              <a:rPr sz="8000" b="0" i="0">
                <a:solidFill>
                  <a:srgbClr val="FFFFFF"/>
                </a:solidFill>
                <a:latin typeface="Arial"/>
              </a:rPr>
              <a:t>END</a:t>
            </a:r>
          </a:p>
        </p:txBody>
      </p:sp>
      <p:sp>
        <p:nvSpPr>
          <p:cNvPr id="4" name="TextBox 3"/>
          <p:cNvSpPr txBox="1"/>
          <p:nvPr/>
        </p:nvSpPr>
        <p:spPr>
          <a:xfrm>
            <a:off x="457200" y="3246120"/>
            <a:ext cx="5486400" cy="548640"/>
          </a:xfrm>
          <a:prstGeom prst="rect">
            <a:avLst/>
          </a:prstGeom>
          <a:noFill/>
        </p:spPr>
        <p:txBody>
          <a:bodyPr wrap="square" anchor="t" lIns="0" rIns="0" tIns="0" bIns="0">
            <a:spAutoFit/>
          </a:bodyPr>
          <a:lstStyle/>
          <a:p>
            <a:pPr algn="l">
              <a:spcAft>
                <a:spcPts val="0"/>
              </a:spcAft>
            </a:pPr>
            <a:r>
              <a:rPr sz="2600" b="0" i="0">
                <a:solidFill>
                  <a:srgbClr val="FFFFFF"/>
                </a:solidFill>
                <a:latin typeface="Arial"/>
              </a:rPr>
              <a:t>THANK YOU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Evidence behind each verdict, with source pages</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APPENDIX | A1 EVIDENCE BY DECEMBER THEME</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As cited per row. DSA Demand-Side Analysis; Infra Infrastructure Report; Stake Stakeholder Insights; SME SME and Community Inclusion Plan. Themes as worded on Diagnostic p64.</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23</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graphicFrame>
        <p:nvGraphicFramePr>
          <p:cNvPr id="8" name="Table 7"/>
          <p:cNvGraphicFramePr>
            <a:graphicFrameLocks noGrp="1"/>
          </p:cNvGraphicFramePr>
          <p:nvPr/>
        </p:nvGraphicFramePr>
        <p:xfrm>
          <a:off x="457200" y="1188720"/>
          <a:ext cx="11277295" cy="4059936"/>
        </p:xfrm>
        <a:graphic>
          <a:graphicData uri="http://schemas.openxmlformats.org/drawingml/2006/table">
            <a:tbl>
              <a:tblPr firstRow="1" bandRow="0">
                <a:tableStyleId>{5C22544A-7EE6-4342-B048-85BDC9FD1C3A}</a:tableStyleId>
              </a:tblPr>
              <a:tblGrid>
                <a:gridCol w="411480"/>
                <a:gridCol w="3108960"/>
                <a:gridCol w="868680"/>
                <a:gridCol w="685800"/>
                <a:gridCol w="4160520"/>
                <a:gridCol w="2041855"/>
              </a:tblGrid>
              <a:tr h="274320">
                <a:tc>
                  <a:txBody>
                    <a:bodyPr wrap="square"/>
                    <a:lstStyle/>
                    <a:p>
                      <a:pPr algn="l"/>
                      <a:r>
                        <a:rPr sz="900" b="1" i="0">
                          <a:solidFill>
                            <a:srgbClr val="FFFFFF"/>
                          </a:solidFill>
                          <a:latin typeface="Arial"/>
                        </a:rPr>
                        <a:t>Area</a:t>
                      </a:r>
                    </a:p>
                  </a:txBody>
                  <a:tcPr marL="54864" marR="54864" marT="27432" marB="27432" anchor="ctr">
                    <a:solidFill>
                      <a:srgbClr val="1F497D"/>
                    </a:solidFill>
                  </a:tcPr>
                </a:tc>
                <a:tc>
                  <a:txBody>
                    <a:bodyPr wrap="square"/>
                    <a:lstStyle/>
                    <a:p>
                      <a:pPr algn="l"/>
                      <a:r>
                        <a:rPr sz="900" b="1" i="0">
                          <a:solidFill>
                            <a:srgbClr val="FFFFFF"/>
                          </a:solidFill>
                          <a:latin typeface="Arial"/>
                        </a:rPr>
                        <a:t>Theme (December 2025)</a:t>
                      </a:r>
                    </a:p>
                  </a:txBody>
                  <a:tcPr marL="54864" marR="54864" marT="27432" marB="27432" anchor="ctr">
                    <a:solidFill>
                      <a:srgbClr val="1F497D"/>
                    </a:solidFill>
                  </a:tcPr>
                </a:tc>
                <a:tc>
                  <a:txBody>
                    <a:bodyPr wrap="square"/>
                    <a:lstStyle/>
                    <a:p>
                      <a:pPr algn="l"/>
                      <a:r>
                        <a:rPr sz="900" b="1" i="0">
                          <a:solidFill>
                            <a:srgbClr val="FFFFFF"/>
                          </a:solidFill>
                          <a:latin typeface="Arial"/>
                        </a:rPr>
                        <a:t>Verdict</a:t>
                      </a:r>
                    </a:p>
                  </a:txBody>
                  <a:tcPr marL="54864" marR="54864" marT="27432" marB="27432" anchor="ctr">
                    <a:solidFill>
                      <a:srgbClr val="1F497D"/>
                    </a:solidFill>
                  </a:tcPr>
                </a:tc>
                <a:tc>
                  <a:txBody>
                    <a:bodyPr wrap="square"/>
                    <a:lstStyle/>
                    <a:p>
                      <a:pPr algn="l"/>
                      <a:r>
                        <a:rPr sz="900" b="1" i="0">
                          <a:solidFill>
                            <a:srgbClr val="FFFFFF"/>
                          </a:solidFill>
                          <a:latin typeface="Arial"/>
                        </a:rPr>
                        <a:t>Strength</a:t>
                      </a:r>
                    </a:p>
                  </a:txBody>
                  <a:tcPr marL="54864" marR="54864" marT="27432" marB="27432" anchor="ctr">
                    <a:solidFill>
                      <a:srgbClr val="1F497D"/>
                    </a:solidFill>
                  </a:tcPr>
                </a:tc>
                <a:tc>
                  <a:txBody>
                    <a:bodyPr wrap="square"/>
                    <a:lstStyle/>
                    <a:p>
                      <a:pPr algn="l"/>
                      <a:r>
                        <a:rPr sz="900" b="1" i="0">
                          <a:solidFill>
                            <a:srgbClr val="FFFFFF"/>
                          </a:solidFill>
                          <a:latin typeface="Arial"/>
                        </a:rPr>
                        <a:t>Key evidence</a:t>
                      </a:r>
                    </a:p>
                  </a:txBody>
                  <a:tcPr marL="54864" marR="54864" marT="27432" marB="27432" anchor="ctr">
                    <a:solidFill>
                      <a:srgbClr val="1F497D"/>
                    </a:solidFill>
                  </a:tcPr>
                </a:tc>
                <a:tc>
                  <a:txBody>
                    <a:bodyPr wrap="square"/>
                    <a:lstStyle/>
                    <a:p>
                      <a:pPr algn="l"/>
                      <a:r>
                        <a:rPr sz="900" b="1" i="0">
                          <a:solidFill>
                            <a:srgbClr val="FFFFFF"/>
                          </a:solidFill>
                          <a:latin typeface="Arial"/>
                        </a:rPr>
                        <a:t>Source</a:t>
                      </a:r>
                    </a:p>
                  </a:txBody>
                  <a:tcPr marL="54864" marR="54864" marT="27432" marB="27432" anchor="ctr">
                    <a:solidFill>
                      <a:srgbClr val="1F497D"/>
                    </a:solidFill>
                  </a:tcPr>
                </a:tc>
              </a:tr>
              <a:tr h="210312">
                <a:tc>
                  <a:txBody>
                    <a:bodyPr wrap="square"/>
                    <a:lstStyle/>
                    <a:p>
                      <a:pPr algn="l"/>
                      <a:r>
                        <a:rPr sz="900" b="0" i="0">
                          <a:solidFill>
                            <a:srgbClr val="404040"/>
                          </a:solidFill>
                          <a:latin typeface="Arial"/>
                        </a:rPr>
                        <a:t>1.1</a:t>
                      </a:r>
                    </a:p>
                  </a:txBody>
                  <a:tcPr marL="54864" marR="54864" marT="27432" marB="27432" anchor="ctr">
                    <a:solidFill>
                      <a:srgbClr val="FFFFFF"/>
                    </a:solidFill>
                  </a:tcPr>
                </a:tc>
                <a:tc>
                  <a:txBody>
                    <a:bodyPr wrap="square"/>
                    <a:lstStyle/>
                    <a:p>
                      <a:pPr algn="l"/>
                      <a:r>
                        <a:rPr sz="900" b="0" i="0">
                          <a:solidFill>
                            <a:srgbClr val="404040"/>
                          </a:solidFill>
                          <a:latin typeface="Arial"/>
                        </a:rPr>
                        <a:t>Respond to Growth Segment Traveller Preferences</a:t>
                      </a:r>
                    </a:p>
                  </a:txBody>
                  <a:tcPr marL="54864" marR="54864" marT="27432" marB="27432" anchor="ctr">
                    <a:solidFill>
                      <a:srgbClr val="FFFFFF"/>
                    </a:solidFill>
                  </a:tcPr>
                </a:tc>
                <a:tc>
                  <a:txBody>
                    <a:bodyPr wrap="square"/>
                    <a:lstStyle/>
                    <a:p>
                      <a:pPr algn="l"/>
                      <a:r>
                        <a:rPr sz="900" b="0" i="0">
                          <a:solidFill>
                            <a:srgbClr val="404040"/>
                          </a:solidFill>
                          <a:latin typeface="Arial"/>
                        </a:rPr>
                        <a:t>Partly</a:t>
                      </a:r>
                    </a:p>
                  </a:txBody>
                  <a:tcPr marL="54864" marR="54864" marT="27432" marB="27432" anchor="ctr">
                    <a:solidFill>
                      <a:srgbClr val="FDECC8"/>
                    </a:solidFill>
                  </a:tcPr>
                </a:tc>
                <a:tc>
                  <a:txBody>
                    <a:bodyPr wrap="square"/>
                    <a:lstStyle/>
                    <a:p>
                      <a:pPr algn="l"/>
                      <a:r>
                        <a:rPr sz="900" b="0" i="0">
                          <a:solidFill>
                            <a:srgbClr val="404040"/>
                          </a:solidFill>
                          <a:latin typeface="Arial"/>
                        </a:rPr>
                        <a:t>Thin</a:t>
                      </a:r>
                    </a:p>
                  </a:txBody>
                  <a:tcPr marL="54864" marR="54864" marT="27432" marB="27432" anchor="ctr">
                    <a:solidFill>
                      <a:srgbClr val="FFFFFF"/>
                    </a:solidFill>
                  </a:tcPr>
                </a:tc>
                <a:tc>
                  <a:txBody>
                    <a:bodyPr wrap="square"/>
                    <a:lstStyle/>
                    <a:p>
                      <a:pPr algn="l"/>
                      <a:r>
                        <a:rPr sz="900" b="0" i="0">
                          <a:solidFill>
                            <a:srgbClr val="404040"/>
                          </a:solidFill>
                          <a:latin typeface="Arial"/>
                        </a:rPr>
                        <a:t>Four Skift segments profiled qualitatively; no sizing or market mapping</a:t>
                      </a:r>
                    </a:p>
                  </a:txBody>
                  <a:tcPr marL="54864" marR="54864" marT="27432" marB="27432" anchor="ctr">
                    <a:solidFill>
                      <a:srgbClr val="FFFFFF"/>
                    </a:solidFill>
                  </a:tcPr>
                </a:tc>
                <a:tc>
                  <a:txBody>
                    <a:bodyPr wrap="square"/>
                    <a:lstStyle/>
                    <a:p>
                      <a:pPr algn="l"/>
                      <a:r>
                        <a:rPr sz="900" b="0" i="0">
                          <a:solidFill>
                            <a:srgbClr val="404040"/>
                          </a:solidFill>
                          <a:latin typeface="Arial"/>
                        </a:rPr>
                        <a:t>Diagnostic pp16-20; DSA pp6-7</a:t>
                      </a:r>
                    </a:p>
                  </a:txBody>
                  <a:tcPr marL="54864" marR="54864" marT="27432" marB="27432" anchor="ctr">
                    <a:solidFill>
                      <a:srgbClr val="FFFFFF"/>
                    </a:solidFill>
                  </a:tcPr>
                </a:tc>
              </a:tr>
              <a:tr h="210312">
                <a:tc>
                  <a:txBody>
                    <a:bodyPr wrap="square"/>
                    <a:lstStyle/>
                    <a:p>
                      <a:pPr algn="l"/>
                      <a:r>
                        <a:rPr sz="900" b="0" i="0">
                          <a:solidFill>
                            <a:srgbClr val="404040"/>
                          </a:solidFill>
                          <a:latin typeface="Arial"/>
                        </a:rPr>
                        <a:t>1.1</a:t>
                      </a:r>
                    </a:p>
                  </a:txBody>
                  <a:tcPr marL="54864" marR="54864" marT="27432" marB="27432" anchor="ctr">
                    <a:solidFill>
                      <a:srgbClr val="F2F2F2"/>
                    </a:solidFill>
                  </a:tcPr>
                </a:tc>
                <a:tc>
                  <a:txBody>
                    <a:bodyPr wrap="square"/>
                    <a:lstStyle/>
                    <a:p>
                      <a:pPr algn="l"/>
                      <a:r>
                        <a:rPr sz="900" b="0" i="0">
                          <a:solidFill>
                            <a:srgbClr val="404040"/>
                          </a:solidFill>
                          <a:latin typeface="Arial"/>
                        </a:rPr>
                        <a:t>Develop the Seasonality and Spread Proposition</a:t>
                      </a:r>
                    </a:p>
                  </a:txBody>
                  <a:tcPr marL="54864" marR="54864" marT="27432" marB="27432" anchor="ctr">
                    <a:solidFill>
                      <a:srgbClr val="F2F2F2"/>
                    </a:solidFill>
                  </a:tcPr>
                </a:tc>
                <a:tc>
                  <a:txBody>
                    <a:bodyPr wrap="square"/>
                    <a:lstStyle/>
                    <a:p>
                      <a:pPr algn="l"/>
                      <a:r>
                        <a:rPr sz="900" b="0" i="0">
                          <a:solidFill>
                            <a:srgbClr val="404040"/>
                          </a:solidFill>
                          <a:latin typeface="Arial"/>
                        </a:rPr>
                        <a:t>Supported</a:t>
                      </a:r>
                    </a:p>
                  </a:txBody>
                  <a:tcPr marL="54864" marR="54864" marT="27432" marB="27432" anchor="ctr">
                    <a:solidFill>
                      <a:srgbClr val="D6EFDA"/>
                    </a:solidFill>
                  </a:tcPr>
                </a:tc>
                <a:tc>
                  <a:txBody>
                    <a:bodyPr wrap="square"/>
                    <a:lstStyle/>
                    <a:p>
                      <a:pPr algn="l"/>
                      <a:r>
                        <a:rPr sz="900" b="0" i="0">
                          <a:solidFill>
                            <a:srgbClr val="404040"/>
                          </a:solidFill>
                          <a:latin typeface="Arial"/>
                        </a:rPr>
                        <a:t>Strong</a:t>
                      </a:r>
                    </a:p>
                  </a:txBody>
                  <a:tcPr marL="54864" marR="54864" marT="27432" marB="27432" anchor="ctr">
                    <a:solidFill>
                      <a:srgbClr val="F2F2F2"/>
                    </a:solidFill>
                  </a:tcPr>
                </a:tc>
                <a:tc>
                  <a:txBody>
                    <a:bodyPr wrap="square"/>
                    <a:lstStyle/>
                    <a:p>
                      <a:pPr algn="l"/>
                      <a:r>
                        <a:rPr sz="900" b="0" i="0">
                          <a:solidFill>
                            <a:srgbClr val="404040"/>
                          </a:solidFill>
                          <a:latin typeface="Arial"/>
                        </a:rPr>
                        <a:t>June 6.4% of seats vs 10.8% Dec; ICCA peak Sep-Nov; regions under-visited</a:t>
                      </a:r>
                    </a:p>
                  </a:txBody>
                  <a:tcPr marL="54864" marR="54864" marT="27432" marB="27432" anchor="ctr">
                    <a:solidFill>
                      <a:srgbClr val="F2F2F2"/>
                    </a:solidFill>
                  </a:tcPr>
                </a:tc>
                <a:tc>
                  <a:txBody>
                    <a:bodyPr wrap="square"/>
                    <a:lstStyle/>
                    <a:p>
                      <a:pPr algn="l"/>
                      <a:r>
                        <a:rPr sz="900" b="0" i="0">
                          <a:solidFill>
                            <a:srgbClr val="404040"/>
                          </a:solidFill>
                          <a:latin typeface="Arial"/>
                        </a:rPr>
                        <a:t>MIDAS p15; DSA p37; Stake pp24, 45</a:t>
                      </a:r>
                    </a:p>
                  </a:txBody>
                  <a:tcPr marL="54864" marR="54864" marT="27432" marB="27432" anchor="ctr">
                    <a:solidFill>
                      <a:srgbClr val="F2F2F2"/>
                    </a:solidFill>
                  </a:tcPr>
                </a:tc>
              </a:tr>
              <a:tr h="210312">
                <a:tc>
                  <a:txBody>
                    <a:bodyPr wrap="square"/>
                    <a:lstStyle/>
                    <a:p>
                      <a:pPr algn="l"/>
                      <a:r>
                        <a:rPr sz="900" b="0" i="0">
                          <a:solidFill>
                            <a:srgbClr val="404040"/>
                          </a:solidFill>
                          <a:latin typeface="Arial"/>
                        </a:rPr>
                        <a:t>1.1</a:t>
                      </a:r>
                    </a:p>
                  </a:txBody>
                  <a:tcPr marL="54864" marR="54864" marT="27432" marB="27432" anchor="ctr">
                    <a:solidFill>
                      <a:srgbClr val="FFFFFF"/>
                    </a:solidFill>
                  </a:tcPr>
                </a:tc>
                <a:tc>
                  <a:txBody>
                    <a:bodyPr wrap="square"/>
                    <a:lstStyle/>
                    <a:p>
                      <a:pPr algn="l"/>
                      <a:r>
                        <a:rPr sz="900" b="0" i="0">
                          <a:solidFill>
                            <a:srgbClr val="404040"/>
                          </a:solidFill>
                          <a:latin typeface="Arial"/>
                        </a:rPr>
                        <a:t>Facilitate Adoption Along the Path to Purchase</a:t>
                      </a:r>
                    </a:p>
                  </a:txBody>
                  <a:tcPr marL="54864" marR="54864" marT="27432" marB="27432" anchor="ctr">
                    <a:solidFill>
                      <a:srgbClr val="FFFFFF"/>
                    </a:solidFill>
                  </a:tcPr>
                </a:tc>
                <a:tc>
                  <a:txBody>
                    <a:bodyPr wrap="square"/>
                    <a:lstStyle/>
                    <a:p>
                      <a:pPr algn="l"/>
                      <a:r>
                        <a:rPr sz="900" b="0" i="0">
                          <a:solidFill>
                            <a:srgbClr val="404040"/>
                          </a:solidFill>
                          <a:latin typeface="Arial"/>
                        </a:rPr>
                        <a:t>Supported</a:t>
                      </a:r>
                    </a:p>
                  </a:txBody>
                  <a:tcPr marL="54864" marR="54864" marT="27432" marB="27432" anchor="ctr">
                    <a:solidFill>
                      <a:srgbClr val="D6EFDA"/>
                    </a:solidFill>
                  </a:tcPr>
                </a:tc>
                <a:tc>
                  <a:txBody>
                    <a:bodyPr wrap="square"/>
                    <a:lstStyle/>
                    <a:p>
                      <a:pPr algn="l"/>
                      <a:r>
                        <a:rPr sz="900" b="0" i="0">
                          <a:solidFill>
                            <a:srgbClr val="404040"/>
                          </a:solidFill>
                          <a:latin typeface="Arial"/>
                        </a:rPr>
                        <a:t>Strong</a:t>
                      </a:r>
                    </a:p>
                  </a:txBody>
                  <a:tcPr marL="54864" marR="54864" marT="27432" marB="27432" anchor="ctr">
                    <a:solidFill>
                      <a:srgbClr val="FFFFFF"/>
                    </a:solidFill>
                  </a:tcPr>
                </a:tc>
                <a:tc>
                  <a:txBody>
                    <a:bodyPr wrap="square"/>
                    <a:lstStyle/>
                    <a:p>
                      <a:pPr algn="l"/>
                      <a:r>
                        <a:rPr sz="900" b="0" i="0">
                          <a:solidFill>
                            <a:srgbClr val="404040"/>
                          </a:solidFill>
                          <a:latin typeface="Arial"/>
                        </a:rPr>
                        <a:t>Most rural property not on OTAs; 70% CapeNature by phone; native platforms</a:t>
                      </a:r>
                    </a:p>
                  </a:txBody>
                  <a:tcPr marL="54864" marR="54864" marT="27432" marB="27432" anchor="ctr">
                    <a:solidFill>
                      <a:srgbClr val="FFFFFF"/>
                    </a:solidFill>
                  </a:tcPr>
                </a:tc>
                <a:tc>
                  <a:txBody>
                    <a:bodyPr wrap="square"/>
                    <a:lstStyle/>
                    <a:p>
                      <a:pPr algn="l"/>
                      <a:r>
                        <a:rPr sz="900" b="0" i="0">
                          <a:solidFill>
                            <a:srgbClr val="404040"/>
                          </a:solidFill>
                          <a:latin typeface="Arial"/>
                        </a:rPr>
                        <a:t>Infra p33; Stake p42; DSA pp45-50</a:t>
                      </a:r>
                    </a:p>
                  </a:txBody>
                  <a:tcPr marL="54864" marR="54864" marT="27432" marB="27432" anchor="ctr">
                    <a:solidFill>
                      <a:srgbClr val="FFFFFF"/>
                    </a:solidFill>
                  </a:tcPr>
                </a:tc>
              </a:tr>
              <a:tr h="210312">
                <a:tc>
                  <a:txBody>
                    <a:bodyPr wrap="square"/>
                    <a:lstStyle/>
                    <a:p>
                      <a:pPr algn="l"/>
                      <a:r>
                        <a:rPr sz="900" b="0" i="0">
                          <a:solidFill>
                            <a:srgbClr val="404040"/>
                          </a:solidFill>
                          <a:latin typeface="Arial"/>
                        </a:rPr>
                        <a:t>1.2</a:t>
                      </a:r>
                    </a:p>
                  </a:txBody>
                  <a:tcPr marL="54864" marR="54864" marT="27432" marB="27432" anchor="ctr">
                    <a:solidFill>
                      <a:srgbClr val="F2F2F2"/>
                    </a:solidFill>
                  </a:tcPr>
                </a:tc>
                <a:tc>
                  <a:txBody>
                    <a:bodyPr wrap="square"/>
                    <a:lstStyle/>
                    <a:p>
                      <a:pPr algn="l"/>
                      <a:r>
                        <a:rPr sz="900" b="0" i="0">
                          <a:solidFill>
                            <a:srgbClr val="404040"/>
                          </a:solidFill>
                          <a:latin typeface="Arial"/>
                        </a:rPr>
                        <a:t>Pivot to Growth Markets (China, India, ME, ASEAN)</a:t>
                      </a:r>
                    </a:p>
                  </a:txBody>
                  <a:tcPr marL="54864" marR="54864" marT="27432" marB="27432" anchor="ctr">
                    <a:solidFill>
                      <a:srgbClr val="F2F2F2"/>
                    </a:solidFill>
                  </a:tcPr>
                </a:tc>
                <a:tc>
                  <a:txBody>
                    <a:bodyPr wrap="square"/>
                    <a:lstStyle/>
                    <a:p>
                      <a:pPr algn="l"/>
                      <a:r>
                        <a:rPr sz="900" b="0" i="0">
                          <a:solidFill>
                            <a:srgbClr val="404040"/>
                          </a:solidFill>
                          <a:latin typeface="Arial"/>
                        </a:rPr>
                        <a:t>Partly</a:t>
                      </a:r>
                    </a:p>
                  </a:txBody>
                  <a:tcPr marL="54864" marR="54864" marT="27432" marB="27432" anchor="ctr">
                    <a:solidFill>
                      <a:srgbClr val="FDECC8"/>
                    </a:solidFill>
                  </a:tcPr>
                </a:tc>
                <a:tc>
                  <a:txBody>
                    <a:bodyPr wrap="square"/>
                    <a:lstStyle/>
                    <a:p>
                      <a:pPr algn="l"/>
                      <a:r>
                        <a:rPr sz="900" b="0" i="0">
                          <a:solidFill>
                            <a:srgbClr val="404040"/>
                          </a:solidFill>
                          <a:latin typeface="Arial"/>
                        </a:rPr>
                        <a:t>Strong</a:t>
                      </a:r>
                    </a:p>
                  </a:txBody>
                  <a:tcPr marL="54864" marR="54864" marT="27432" marB="27432" anchor="ctr">
                    <a:solidFill>
                      <a:srgbClr val="F2F2F2"/>
                    </a:solidFill>
                  </a:tcPr>
                </a:tc>
                <a:tc>
                  <a:txBody>
                    <a:bodyPr wrap="square"/>
                    <a:lstStyle/>
                    <a:p>
                      <a:pPr algn="l"/>
                      <a:r>
                        <a:rPr sz="900" b="0" i="0">
                          <a:solidFill>
                            <a:srgbClr val="404040"/>
                          </a:solidFill>
                          <a:latin typeface="Arial"/>
                        </a:rPr>
                        <a:t>~101,000 India and China journeys via hubs (GDS); no direct route before ~2030; ASEAN not analysed</a:t>
                      </a:r>
                    </a:p>
                  </a:txBody>
                  <a:tcPr marL="54864" marR="54864" marT="27432" marB="27432" anchor="ctr">
                    <a:solidFill>
                      <a:srgbClr val="F2F2F2"/>
                    </a:solidFill>
                  </a:tcPr>
                </a:tc>
                <a:tc>
                  <a:txBody>
                    <a:bodyPr wrap="square"/>
                    <a:lstStyle/>
                    <a:p>
                      <a:pPr algn="l"/>
                      <a:r>
                        <a:rPr sz="900" b="0" i="0">
                          <a:solidFill>
                            <a:srgbClr val="404040"/>
                          </a:solidFill>
                          <a:latin typeface="Arial"/>
                        </a:rPr>
                        <a:t>MIDAS pp3, 18-19; DSA p23</a:t>
                      </a:r>
                    </a:p>
                  </a:txBody>
                  <a:tcPr marL="54864" marR="54864" marT="27432" marB="27432" anchor="ctr">
                    <a:solidFill>
                      <a:srgbClr val="F2F2F2"/>
                    </a:solidFill>
                  </a:tcPr>
                </a:tc>
              </a:tr>
              <a:tr h="210312">
                <a:tc>
                  <a:txBody>
                    <a:bodyPr wrap="square"/>
                    <a:lstStyle/>
                    <a:p>
                      <a:pPr algn="l"/>
                      <a:r>
                        <a:rPr sz="900" b="0" i="0">
                          <a:solidFill>
                            <a:srgbClr val="404040"/>
                          </a:solidFill>
                          <a:latin typeface="Arial"/>
                        </a:rPr>
                        <a:t>1.2</a:t>
                      </a:r>
                    </a:p>
                  </a:txBody>
                  <a:tcPr marL="54864" marR="54864" marT="27432" marB="27432" anchor="ctr">
                    <a:solidFill>
                      <a:srgbClr val="FFFFFF"/>
                    </a:solidFill>
                  </a:tcPr>
                </a:tc>
                <a:tc>
                  <a:txBody>
                    <a:bodyPr wrap="square"/>
                    <a:lstStyle/>
                    <a:p>
                      <a:pPr algn="l"/>
                      <a:r>
                        <a:rPr sz="900" b="0" i="0">
                          <a:solidFill>
                            <a:srgbClr val="404040"/>
                          </a:solidFill>
                          <a:latin typeface="Arial"/>
                        </a:rPr>
                        <a:t>Increase Yield in Mature Markets (UK, Europe, N. America)</a:t>
                      </a:r>
                    </a:p>
                  </a:txBody>
                  <a:tcPr marL="54864" marR="54864" marT="27432" marB="27432" anchor="ctr">
                    <a:solidFill>
                      <a:srgbClr val="FFFFFF"/>
                    </a:solidFill>
                  </a:tcPr>
                </a:tc>
                <a:tc>
                  <a:txBody>
                    <a:bodyPr wrap="square"/>
                    <a:lstStyle/>
                    <a:p>
                      <a:pPr algn="l"/>
                      <a:r>
                        <a:rPr sz="900" b="0" i="0">
                          <a:solidFill>
                            <a:srgbClr val="404040"/>
                          </a:solidFill>
                          <a:latin typeface="Arial"/>
                        </a:rPr>
                        <a:t>Supported</a:t>
                      </a:r>
                    </a:p>
                  </a:txBody>
                  <a:tcPr marL="54864" marR="54864" marT="27432" marB="27432" anchor="ctr">
                    <a:solidFill>
                      <a:srgbClr val="D6EFDA"/>
                    </a:solidFill>
                  </a:tcPr>
                </a:tc>
                <a:tc>
                  <a:txBody>
                    <a:bodyPr wrap="square"/>
                    <a:lstStyle/>
                    <a:p>
                      <a:pPr algn="l"/>
                      <a:r>
                        <a:rPr sz="900" b="0" i="0">
                          <a:solidFill>
                            <a:srgbClr val="404040"/>
                          </a:solidFill>
                          <a:latin typeface="Arial"/>
                        </a:rPr>
                        <a:t>Strong</a:t>
                      </a:r>
                    </a:p>
                  </a:txBody>
                  <a:tcPr marL="54864" marR="54864" marT="27432" marB="27432" anchor="ctr">
                    <a:solidFill>
                      <a:srgbClr val="FFFFFF"/>
                    </a:solidFill>
                  </a:tcPr>
                </a:tc>
                <a:tc>
                  <a:txBody>
                    <a:bodyPr wrap="square"/>
                    <a:lstStyle/>
                    <a:p>
                      <a:pPr algn="l"/>
                      <a:r>
                        <a:rPr sz="900" b="0" i="0">
                          <a:solidFill>
                            <a:srgbClr val="404040"/>
                          </a:solidFill>
                          <a:latin typeface="Arial"/>
                        </a:rPr>
                        <a:t>Newark, Atlanta, LHR, FRA at 83-89% est. load; US R32,900 a visit</a:t>
                      </a:r>
                    </a:p>
                  </a:txBody>
                  <a:tcPr marL="54864" marR="54864" marT="27432" marB="27432" anchor="ctr">
                    <a:solidFill>
                      <a:srgbClr val="FFFFFF"/>
                    </a:solidFill>
                  </a:tcPr>
                </a:tc>
                <a:tc>
                  <a:txBody>
                    <a:bodyPr wrap="square"/>
                    <a:lstStyle/>
                    <a:p>
                      <a:pPr algn="l"/>
                      <a:r>
                        <a:rPr sz="900" b="0" i="0">
                          <a:solidFill>
                            <a:srgbClr val="404040"/>
                          </a:solidFill>
                          <a:latin typeface="Arial"/>
                        </a:rPr>
                        <a:t>MIDAS pp9, 17; DSA p14</a:t>
                      </a:r>
                    </a:p>
                  </a:txBody>
                  <a:tcPr marL="54864" marR="54864" marT="27432" marB="27432" anchor="ctr">
                    <a:solidFill>
                      <a:srgbClr val="FFFFFF"/>
                    </a:solidFill>
                  </a:tcPr>
                </a:tc>
              </a:tr>
              <a:tr h="210312">
                <a:tc>
                  <a:txBody>
                    <a:bodyPr wrap="square"/>
                    <a:lstStyle/>
                    <a:p>
                      <a:pPr algn="l"/>
                      <a:r>
                        <a:rPr sz="900" b="0" i="0">
                          <a:solidFill>
                            <a:srgbClr val="404040"/>
                          </a:solidFill>
                          <a:latin typeface="Arial"/>
                        </a:rPr>
                        <a:t>1.2</a:t>
                      </a:r>
                    </a:p>
                  </a:txBody>
                  <a:tcPr marL="54864" marR="54864" marT="27432" marB="27432" anchor="ctr">
                    <a:solidFill>
                      <a:srgbClr val="F2F2F2"/>
                    </a:solidFill>
                  </a:tcPr>
                </a:tc>
                <a:tc>
                  <a:txBody>
                    <a:bodyPr wrap="square"/>
                    <a:lstStyle/>
                    <a:p>
                      <a:pPr algn="l"/>
                      <a:r>
                        <a:rPr sz="900" b="0" i="0">
                          <a:solidFill>
                            <a:srgbClr val="404040"/>
                          </a:solidFill>
                          <a:latin typeface="Arial"/>
                        </a:rPr>
                        <a:t>Build a Regional Foundation (Africa)</a:t>
                      </a:r>
                    </a:p>
                  </a:txBody>
                  <a:tcPr marL="54864" marR="54864" marT="27432" marB="27432" anchor="ctr">
                    <a:solidFill>
                      <a:srgbClr val="F2F2F2"/>
                    </a:solidFill>
                  </a:tcPr>
                </a:tc>
                <a:tc>
                  <a:txBody>
                    <a:bodyPr wrap="square"/>
                    <a:lstStyle/>
                    <a:p>
                      <a:pPr algn="l"/>
                      <a:r>
                        <a:rPr sz="900" b="0" i="0">
                          <a:solidFill>
                            <a:srgbClr val="404040"/>
                          </a:solidFill>
                          <a:latin typeface="Arial"/>
                        </a:rPr>
                        <a:t>Supported</a:t>
                      </a:r>
                    </a:p>
                  </a:txBody>
                  <a:tcPr marL="54864" marR="54864" marT="27432" marB="27432" anchor="ctr">
                    <a:solidFill>
                      <a:srgbClr val="D6EFDA"/>
                    </a:solidFill>
                  </a:tcPr>
                </a:tc>
                <a:tc>
                  <a:txBody>
                    <a:bodyPr wrap="square"/>
                    <a:lstStyle/>
                    <a:p>
                      <a:pPr algn="l"/>
                      <a:r>
                        <a:rPr sz="900" b="0" i="0">
                          <a:solidFill>
                            <a:srgbClr val="404040"/>
                          </a:solidFill>
                          <a:latin typeface="Arial"/>
                        </a:rPr>
                        <a:t>Moderate</a:t>
                      </a:r>
                    </a:p>
                  </a:txBody>
                  <a:tcPr marL="54864" marR="54864" marT="27432" marB="27432" anchor="ctr">
                    <a:solidFill>
                      <a:srgbClr val="F2F2F2"/>
                    </a:solidFill>
                  </a:tcPr>
                </a:tc>
                <a:tc>
                  <a:txBody>
                    <a:bodyPr wrap="square"/>
                    <a:lstStyle/>
                    <a:p>
                      <a:pPr algn="l"/>
                      <a:r>
                        <a:rPr sz="900" b="0" i="0">
                          <a:solidFill>
                            <a:srgbClr val="404040"/>
                          </a:solidFill>
                          <a:latin typeface="Arial"/>
                        </a:rPr>
                        <a:t>Five African routes above 81% est. load; Nigeria, Kenya, Ghana priority</a:t>
                      </a:r>
                    </a:p>
                  </a:txBody>
                  <a:tcPr marL="54864" marR="54864" marT="27432" marB="27432" anchor="ctr">
                    <a:solidFill>
                      <a:srgbClr val="F2F2F2"/>
                    </a:solidFill>
                  </a:tcPr>
                </a:tc>
                <a:tc>
                  <a:txBody>
                    <a:bodyPr wrap="square"/>
                    <a:lstStyle/>
                    <a:p>
                      <a:pPr algn="l"/>
                      <a:r>
                        <a:rPr sz="900" b="0" i="0">
                          <a:solidFill>
                            <a:srgbClr val="404040"/>
                          </a:solidFill>
                          <a:latin typeface="Arial"/>
                        </a:rPr>
                        <a:t>MIDAS p17; DSA pp27-30</a:t>
                      </a:r>
                    </a:p>
                  </a:txBody>
                  <a:tcPr marL="54864" marR="54864" marT="27432" marB="27432" anchor="ctr">
                    <a:solidFill>
                      <a:srgbClr val="F2F2F2"/>
                    </a:solidFill>
                  </a:tcPr>
                </a:tc>
              </a:tr>
              <a:tr h="210312">
                <a:tc>
                  <a:txBody>
                    <a:bodyPr wrap="square"/>
                    <a:lstStyle/>
                    <a:p>
                      <a:pPr algn="l"/>
                      <a:r>
                        <a:rPr sz="900" b="0" i="0">
                          <a:solidFill>
                            <a:srgbClr val="404040"/>
                          </a:solidFill>
                          <a:latin typeface="Arial"/>
                        </a:rPr>
                        <a:t>2.1</a:t>
                      </a:r>
                    </a:p>
                  </a:txBody>
                  <a:tcPr marL="54864" marR="54864" marT="27432" marB="27432" anchor="ctr">
                    <a:solidFill>
                      <a:srgbClr val="FFFFFF"/>
                    </a:solidFill>
                  </a:tcPr>
                </a:tc>
                <a:tc>
                  <a:txBody>
                    <a:bodyPr wrap="square"/>
                    <a:lstStyle/>
                    <a:p>
                      <a:pPr algn="l"/>
                      <a:r>
                        <a:rPr sz="900" b="0" i="0">
                          <a:solidFill>
                            <a:srgbClr val="404040"/>
                          </a:solidFill>
                          <a:latin typeface="Arial"/>
                        </a:rPr>
                        <a:t>Close the Air Access and Cruise Capacity Gaps</a:t>
                      </a:r>
                    </a:p>
                  </a:txBody>
                  <a:tcPr marL="54864" marR="54864" marT="27432" marB="27432" anchor="ctr">
                    <a:solidFill>
                      <a:srgbClr val="FFFFFF"/>
                    </a:solidFill>
                  </a:tcPr>
                </a:tc>
                <a:tc>
                  <a:txBody>
                    <a:bodyPr wrap="square"/>
                    <a:lstStyle/>
                    <a:p>
                      <a:pPr algn="l"/>
                      <a:r>
                        <a:rPr sz="900" b="0" i="0">
                          <a:solidFill>
                            <a:srgbClr val="404040"/>
                          </a:solidFill>
                          <a:latin typeface="Arial"/>
                        </a:rPr>
                        <a:t>Supported</a:t>
                      </a:r>
                    </a:p>
                  </a:txBody>
                  <a:tcPr marL="54864" marR="54864" marT="27432" marB="27432" anchor="ctr">
                    <a:solidFill>
                      <a:srgbClr val="D6EFDA"/>
                    </a:solidFill>
                  </a:tcPr>
                </a:tc>
                <a:tc>
                  <a:txBody>
                    <a:bodyPr wrap="square"/>
                    <a:lstStyle/>
                    <a:p>
                      <a:pPr algn="l"/>
                      <a:r>
                        <a:rPr sz="900" b="0" i="0">
                          <a:solidFill>
                            <a:srgbClr val="404040"/>
                          </a:solidFill>
                          <a:latin typeface="Arial"/>
                        </a:rPr>
                        <a:t>Strong</a:t>
                      </a:r>
                    </a:p>
                  </a:txBody>
                  <a:tcPr marL="54864" marR="54864" marT="27432" marB="27432" anchor="ctr">
                    <a:solidFill>
                      <a:srgbClr val="FFFFFF"/>
                    </a:solidFill>
                  </a:tcPr>
                </a:tc>
                <a:tc>
                  <a:txBody>
                    <a:bodyPr wrap="square"/>
                    <a:lstStyle/>
                    <a:p>
                      <a:pPr algn="l"/>
                      <a:r>
                        <a:rPr sz="900" b="0" i="0">
                          <a:solidFill>
                            <a:srgbClr val="404040"/>
                          </a:solidFill>
                          <a:latin typeface="Arial"/>
                        </a:rPr>
                        <a:t>17 routes won; 79 cruise calls; fares before seats; bilaterals bind</a:t>
                      </a:r>
                    </a:p>
                  </a:txBody>
                  <a:tcPr marL="54864" marR="54864" marT="27432" marB="27432" anchor="ctr">
                    <a:solidFill>
                      <a:srgbClr val="FFFFFF"/>
                    </a:solidFill>
                  </a:tcPr>
                </a:tc>
                <a:tc>
                  <a:txBody>
                    <a:bodyPr wrap="square"/>
                    <a:lstStyle/>
                    <a:p>
                      <a:pPr algn="l"/>
                      <a:r>
                        <a:rPr sz="900" b="0" i="0">
                          <a:solidFill>
                            <a:srgbClr val="404040"/>
                          </a:solidFill>
                          <a:latin typeface="Arial"/>
                        </a:rPr>
                        <a:t>MIDAS pp13, 22; Stake p24</a:t>
                      </a:r>
                    </a:p>
                  </a:txBody>
                  <a:tcPr marL="54864" marR="54864" marT="27432" marB="27432" anchor="ctr">
                    <a:solidFill>
                      <a:srgbClr val="FFFFFF"/>
                    </a:solidFill>
                  </a:tcPr>
                </a:tc>
              </a:tr>
              <a:tr h="210312">
                <a:tc>
                  <a:txBody>
                    <a:bodyPr wrap="square"/>
                    <a:lstStyle/>
                    <a:p>
                      <a:pPr algn="l"/>
                      <a:r>
                        <a:rPr sz="900" b="0" i="0">
                          <a:solidFill>
                            <a:srgbClr val="404040"/>
                          </a:solidFill>
                          <a:latin typeface="Arial"/>
                        </a:rPr>
                        <a:t>2.1</a:t>
                      </a:r>
                    </a:p>
                  </a:txBody>
                  <a:tcPr marL="54864" marR="54864" marT="27432" marB="27432" anchor="ctr">
                    <a:solidFill>
                      <a:srgbClr val="F2F2F2"/>
                    </a:solidFill>
                  </a:tcPr>
                </a:tc>
                <a:tc>
                  <a:txBody>
                    <a:bodyPr wrap="square"/>
                    <a:lstStyle/>
                    <a:p>
                      <a:pPr algn="l"/>
                      <a:r>
                        <a:rPr sz="900" b="0" i="0">
                          <a:solidFill>
                            <a:srgbClr val="404040"/>
                          </a:solidFill>
                          <a:latin typeface="Arial"/>
                        </a:rPr>
                        <a:t>Accelerate Tourism-Enabling Internal Mobility</a:t>
                      </a:r>
                    </a:p>
                  </a:txBody>
                  <a:tcPr marL="54864" marR="54864" marT="27432" marB="27432" anchor="ctr">
                    <a:solidFill>
                      <a:srgbClr val="F2F2F2"/>
                    </a:solidFill>
                  </a:tcPr>
                </a:tc>
                <a:tc>
                  <a:txBody>
                    <a:bodyPr wrap="square"/>
                    <a:lstStyle/>
                    <a:p>
                      <a:pPr algn="l"/>
                      <a:r>
                        <a:rPr sz="900" b="0" i="0">
                          <a:solidFill>
                            <a:srgbClr val="404040"/>
                          </a:solidFill>
                          <a:latin typeface="Arial"/>
                        </a:rPr>
                        <a:t>Supported</a:t>
                      </a:r>
                    </a:p>
                  </a:txBody>
                  <a:tcPr marL="54864" marR="54864" marT="27432" marB="27432" anchor="ctr">
                    <a:solidFill>
                      <a:srgbClr val="D6EFDA"/>
                    </a:solidFill>
                  </a:tcPr>
                </a:tc>
                <a:tc>
                  <a:txBody>
                    <a:bodyPr wrap="square"/>
                    <a:lstStyle/>
                    <a:p>
                      <a:pPr algn="l"/>
                      <a:r>
                        <a:rPr sz="900" b="0" i="0">
                          <a:solidFill>
                            <a:srgbClr val="404040"/>
                          </a:solidFill>
                          <a:latin typeface="Arial"/>
                        </a:rPr>
                        <a:t>Strong</a:t>
                      </a:r>
                    </a:p>
                  </a:txBody>
                  <a:tcPr marL="54864" marR="54864" marT="27432" marB="27432" anchor="ctr">
                    <a:solidFill>
                      <a:srgbClr val="F2F2F2"/>
                    </a:solidFill>
                  </a:tcPr>
                </a:tc>
                <a:tc>
                  <a:txBody>
                    <a:bodyPr wrap="square"/>
                    <a:lstStyle/>
                    <a:p>
                      <a:pPr algn="l"/>
                      <a:r>
                        <a:rPr sz="900" b="0" i="0">
                          <a:solidFill>
                            <a:srgbClr val="404040"/>
                          </a:solidFill>
                          <a:latin typeface="Arial"/>
                        </a:rPr>
                        <a:t>Access 4.7 Metro to 1.0 Karoo; car-only beyond the N2; 1.6% public transport</a:t>
                      </a:r>
                    </a:p>
                  </a:txBody>
                  <a:tcPr marL="54864" marR="54864" marT="27432" marB="27432" anchor="ctr">
                    <a:solidFill>
                      <a:srgbClr val="F2F2F2"/>
                    </a:solidFill>
                  </a:tcPr>
                </a:tc>
                <a:tc>
                  <a:txBody>
                    <a:bodyPr wrap="square"/>
                    <a:lstStyle/>
                    <a:p>
                      <a:pPr algn="l"/>
                      <a:r>
                        <a:rPr sz="900" b="0" i="0">
                          <a:solidFill>
                            <a:srgbClr val="404040"/>
                          </a:solidFill>
                          <a:latin typeface="Arial"/>
                        </a:rPr>
                        <a:t>Infra pp29, 34, 41; PLTF via factbase</a:t>
                      </a:r>
                    </a:p>
                  </a:txBody>
                  <a:tcPr marL="54864" marR="54864" marT="27432" marB="27432" anchor="ctr">
                    <a:solidFill>
                      <a:srgbClr val="F2F2F2"/>
                    </a:solidFill>
                  </a:tcPr>
                </a:tc>
              </a:tr>
              <a:tr h="210312">
                <a:tc>
                  <a:txBody>
                    <a:bodyPr wrap="square"/>
                    <a:lstStyle/>
                    <a:p>
                      <a:pPr algn="l"/>
                      <a:r>
                        <a:rPr sz="900" b="0" i="0">
                          <a:solidFill>
                            <a:srgbClr val="404040"/>
                          </a:solidFill>
                          <a:latin typeface="Arial"/>
                        </a:rPr>
                        <a:t>2.1</a:t>
                      </a:r>
                    </a:p>
                  </a:txBody>
                  <a:tcPr marL="54864" marR="54864" marT="27432" marB="27432" anchor="ctr">
                    <a:solidFill>
                      <a:srgbClr val="FFFFFF"/>
                    </a:solidFill>
                  </a:tcPr>
                </a:tc>
                <a:tc>
                  <a:txBody>
                    <a:bodyPr wrap="square"/>
                    <a:lstStyle/>
                    <a:p>
                      <a:pPr algn="l"/>
                      <a:r>
                        <a:rPr sz="900" b="0" i="0">
                          <a:solidFill>
                            <a:srgbClr val="404040"/>
                          </a:solidFill>
                          <a:latin typeface="Arial"/>
                        </a:rPr>
                        <a:t>Lead Removal of Infrastructure, Visa and Safety Deficits</a:t>
                      </a:r>
                    </a:p>
                  </a:txBody>
                  <a:tcPr marL="54864" marR="54864" marT="27432" marB="27432" anchor="ctr">
                    <a:solidFill>
                      <a:srgbClr val="FFFFFF"/>
                    </a:solidFill>
                  </a:tcPr>
                </a:tc>
                <a:tc>
                  <a:txBody>
                    <a:bodyPr wrap="square"/>
                    <a:lstStyle/>
                    <a:p>
                      <a:pPr algn="l"/>
                      <a:r>
                        <a:rPr sz="900" b="0" i="0">
                          <a:solidFill>
                            <a:srgbClr val="404040"/>
                          </a:solidFill>
                          <a:latin typeface="Arial"/>
                        </a:rPr>
                        <a:t>Supported</a:t>
                      </a:r>
                    </a:p>
                  </a:txBody>
                  <a:tcPr marL="54864" marR="54864" marT="27432" marB="27432" anchor="ctr">
                    <a:solidFill>
                      <a:srgbClr val="D6EFDA"/>
                    </a:solidFill>
                  </a:tcPr>
                </a:tc>
                <a:tc>
                  <a:txBody>
                    <a:bodyPr wrap="square"/>
                    <a:lstStyle/>
                    <a:p>
                      <a:pPr algn="l"/>
                      <a:r>
                        <a:rPr sz="900" b="0" i="0">
                          <a:solidFill>
                            <a:srgbClr val="404040"/>
                          </a:solidFill>
                          <a:latin typeface="Arial"/>
                        </a:rPr>
                        <a:t>Strong</a:t>
                      </a:r>
                    </a:p>
                  </a:txBody>
                  <a:tcPr marL="54864" marR="54864" marT="27432" marB="27432" anchor="ctr">
                    <a:solidFill>
                      <a:srgbClr val="FFFFFF"/>
                    </a:solidFill>
                  </a:tcPr>
                </a:tc>
                <a:tc>
                  <a:txBody>
                    <a:bodyPr wrap="square"/>
                    <a:lstStyle/>
                    <a:p>
                      <a:pPr algn="l"/>
                      <a:r>
                        <a:rPr sz="900" b="0" i="0">
                          <a:solidFill>
                            <a:srgbClr val="404040"/>
                          </a:solidFill>
                          <a:latin typeface="Arial"/>
                        </a:rPr>
                        <a:t>Safety gaps in 9 of 20 communities; eVisa 440 of 13,887; DEDAT rates safety High</a:t>
                      </a:r>
                    </a:p>
                  </a:txBody>
                  <a:tcPr marL="54864" marR="54864" marT="27432" marB="27432" anchor="ctr">
                    <a:solidFill>
                      <a:srgbClr val="FFFFFF"/>
                    </a:solidFill>
                  </a:tcPr>
                </a:tc>
                <a:tc>
                  <a:txBody>
                    <a:bodyPr wrap="square"/>
                    <a:lstStyle/>
                    <a:p>
                      <a:pPr algn="l"/>
                      <a:r>
                        <a:rPr sz="900" b="0" i="0">
                          <a:solidFill>
                            <a:srgbClr val="404040"/>
                          </a:solidFill>
                          <a:latin typeface="Arial"/>
                        </a:rPr>
                        <a:t>SME p27; Stake p24; BDO via factbase</a:t>
                      </a:r>
                    </a:p>
                  </a:txBody>
                  <a:tcPr marL="54864" marR="54864" marT="27432" marB="27432" anchor="ctr">
                    <a:solidFill>
                      <a:srgbClr val="FFFFFF"/>
                    </a:solidFill>
                  </a:tcPr>
                </a:tc>
              </a:tr>
              <a:tr h="210312">
                <a:tc>
                  <a:txBody>
                    <a:bodyPr wrap="square"/>
                    <a:lstStyle/>
                    <a:p>
                      <a:pPr algn="l"/>
                      <a:r>
                        <a:rPr sz="900" b="0" i="0">
                          <a:solidFill>
                            <a:srgbClr val="404040"/>
                          </a:solidFill>
                          <a:latin typeface="Arial"/>
                        </a:rPr>
                        <a:t>2.2</a:t>
                      </a:r>
                    </a:p>
                  </a:txBody>
                  <a:tcPr marL="54864" marR="54864" marT="27432" marB="27432" anchor="ctr">
                    <a:solidFill>
                      <a:srgbClr val="F2F2F2"/>
                    </a:solidFill>
                  </a:tcPr>
                </a:tc>
                <a:tc>
                  <a:txBody>
                    <a:bodyPr wrap="square"/>
                    <a:lstStyle/>
                    <a:p>
                      <a:pPr algn="l"/>
                      <a:r>
                        <a:rPr sz="900" b="0" i="0">
                          <a:solidFill>
                            <a:srgbClr val="404040"/>
                          </a:solidFill>
                          <a:latin typeface="Arial"/>
                        </a:rPr>
                        <a:t>Support Diversified Route and Product Development</a:t>
                      </a:r>
                    </a:p>
                  </a:txBody>
                  <a:tcPr marL="54864" marR="54864" marT="27432" marB="27432" anchor="ctr">
                    <a:solidFill>
                      <a:srgbClr val="F2F2F2"/>
                    </a:solidFill>
                  </a:tcPr>
                </a:tc>
                <a:tc>
                  <a:txBody>
                    <a:bodyPr wrap="square"/>
                    <a:lstStyle/>
                    <a:p>
                      <a:pPr algn="l"/>
                      <a:r>
                        <a:rPr sz="900" b="0" i="0">
                          <a:solidFill>
                            <a:srgbClr val="404040"/>
                          </a:solidFill>
                          <a:latin typeface="Arial"/>
                        </a:rPr>
                        <a:t>Supported</a:t>
                      </a:r>
                    </a:p>
                  </a:txBody>
                  <a:tcPr marL="54864" marR="54864" marT="27432" marB="27432" anchor="ctr">
                    <a:solidFill>
                      <a:srgbClr val="D6EFDA"/>
                    </a:solidFill>
                  </a:tcPr>
                </a:tc>
                <a:tc>
                  <a:txBody>
                    <a:bodyPr wrap="square"/>
                    <a:lstStyle/>
                    <a:p>
                      <a:pPr algn="l"/>
                      <a:r>
                        <a:rPr sz="900" b="0" i="0">
                          <a:solidFill>
                            <a:srgbClr val="404040"/>
                          </a:solidFill>
                          <a:latin typeface="Arial"/>
                        </a:rPr>
                        <a:t>Strong</a:t>
                      </a:r>
                    </a:p>
                  </a:txBody>
                  <a:tcPr marL="54864" marR="54864" marT="27432" marB="27432" anchor="ctr">
                    <a:solidFill>
                      <a:srgbClr val="F2F2F2"/>
                    </a:solidFill>
                  </a:tcPr>
                </a:tc>
                <a:tc>
                  <a:txBody>
                    <a:bodyPr wrap="square"/>
                    <a:lstStyle/>
                    <a:p>
                      <a:pPr algn="l"/>
                      <a:r>
                        <a:rPr sz="900" b="0" i="0">
                          <a:solidFill>
                            <a:srgbClr val="404040"/>
                          </a:solidFill>
                          <a:latin typeface="Arial"/>
                        </a:rPr>
                        <a:t>Marine and wildflower assets have no bookable product; one of six routes scored</a:t>
                      </a:r>
                    </a:p>
                  </a:txBody>
                  <a:tcPr marL="54864" marR="54864" marT="27432" marB="27432" anchor="ctr">
                    <a:solidFill>
                      <a:srgbClr val="F2F2F2"/>
                    </a:solidFill>
                  </a:tcPr>
                </a:tc>
                <a:tc>
                  <a:txBody>
                    <a:bodyPr wrap="square"/>
                    <a:lstStyle/>
                    <a:p>
                      <a:pPr algn="l"/>
                      <a:r>
                        <a:rPr sz="900" b="0" i="0">
                          <a:solidFill>
                            <a:srgbClr val="404040"/>
                          </a:solidFill>
                          <a:latin typeface="Arial"/>
                        </a:rPr>
                        <a:t>Infra pp31-34, 36-40</a:t>
                      </a:r>
                    </a:p>
                  </a:txBody>
                  <a:tcPr marL="54864" marR="54864" marT="27432" marB="27432" anchor="ctr">
                    <a:solidFill>
                      <a:srgbClr val="F2F2F2"/>
                    </a:solidFill>
                  </a:tcPr>
                </a:tc>
              </a:tr>
              <a:tr h="210312">
                <a:tc>
                  <a:txBody>
                    <a:bodyPr wrap="square"/>
                    <a:lstStyle/>
                    <a:p>
                      <a:pPr algn="l"/>
                      <a:r>
                        <a:rPr sz="900" b="0" i="0">
                          <a:solidFill>
                            <a:srgbClr val="404040"/>
                          </a:solidFill>
                          <a:latin typeface="Arial"/>
                        </a:rPr>
                        <a:t>2.2</a:t>
                      </a:r>
                    </a:p>
                  </a:txBody>
                  <a:tcPr marL="54864" marR="54864" marT="27432" marB="27432" anchor="ctr">
                    <a:solidFill>
                      <a:srgbClr val="FFFFFF"/>
                    </a:solidFill>
                  </a:tcPr>
                </a:tc>
                <a:tc>
                  <a:txBody>
                    <a:bodyPr wrap="square"/>
                    <a:lstStyle/>
                    <a:p>
                      <a:pPr algn="l"/>
                      <a:r>
                        <a:rPr sz="900" b="0" i="0">
                          <a:solidFill>
                            <a:srgbClr val="404040"/>
                          </a:solidFill>
                          <a:latin typeface="Arial"/>
                        </a:rPr>
                        <a:t>Align Visitor Experience In-Destination</a:t>
                      </a:r>
                    </a:p>
                  </a:txBody>
                  <a:tcPr marL="54864" marR="54864" marT="27432" marB="27432" anchor="ctr">
                    <a:solidFill>
                      <a:srgbClr val="FFFFFF"/>
                    </a:solidFill>
                  </a:tcPr>
                </a:tc>
                <a:tc>
                  <a:txBody>
                    <a:bodyPr wrap="square"/>
                    <a:lstStyle/>
                    <a:p>
                      <a:pPr algn="l"/>
                      <a:r>
                        <a:rPr sz="900" b="0" i="0">
                          <a:solidFill>
                            <a:srgbClr val="404040"/>
                          </a:solidFill>
                          <a:latin typeface="Arial"/>
                        </a:rPr>
                        <a:t>Supported</a:t>
                      </a:r>
                    </a:p>
                  </a:txBody>
                  <a:tcPr marL="54864" marR="54864" marT="27432" marB="27432" anchor="ctr">
                    <a:solidFill>
                      <a:srgbClr val="D6EFDA"/>
                    </a:solidFill>
                  </a:tcPr>
                </a:tc>
                <a:tc>
                  <a:txBody>
                    <a:bodyPr wrap="square"/>
                    <a:lstStyle/>
                    <a:p>
                      <a:pPr algn="l"/>
                      <a:r>
                        <a:rPr sz="900" b="0" i="0">
                          <a:solidFill>
                            <a:srgbClr val="404040"/>
                          </a:solidFill>
                          <a:latin typeface="Arial"/>
                        </a:rPr>
                        <a:t>Moderate</a:t>
                      </a:r>
                    </a:p>
                  </a:txBody>
                  <a:tcPr marL="54864" marR="54864" marT="27432" marB="27432" anchor="ctr">
                    <a:solidFill>
                      <a:srgbClr val="FFFFFF"/>
                    </a:solidFill>
                  </a:tcPr>
                </a:tc>
                <a:tc>
                  <a:txBody>
                    <a:bodyPr wrap="square"/>
                    <a:lstStyle/>
                    <a:p>
                      <a:pPr algn="l"/>
                      <a:r>
                        <a:rPr sz="900" b="0" i="0">
                          <a:solidFill>
                            <a:srgbClr val="404040"/>
                          </a:solidFill>
                          <a:latin typeface="Arial"/>
                        </a:rPr>
                        <a:t>No mid-scale branded beds; 3-hour Cableway queues</a:t>
                      </a:r>
                    </a:p>
                  </a:txBody>
                  <a:tcPr marL="54864" marR="54864" marT="27432" marB="27432" anchor="ctr">
                    <a:solidFill>
                      <a:srgbClr val="FFFFFF"/>
                    </a:solidFill>
                  </a:tcPr>
                </a:tc>
                <a:tc>
                  <a:txBody>
                    <a:bodyPr wrap="square"/>
                    <a:lstStyle/>
                    <a:p>
                      <a:pPr algn="l"/>
                      <a:r>
                        <a:rPr sz="900" b="0" i="0">
                          <a:solidFill>
                            <a:srgbClr val="404040"/>
                          </a:solidFill>
                          <a:latin typeface="Arial"/>
                        </a:rPr>
                        <a:t>Infra p32; Stake p36</a:t>
                      </a:r>
                    </a:p>
                  </a:txBody>
                  <a:tcPr marL="54864" marR="54864" marT="27432" marB="27432" anchor="ctr">
                    <a:solidFill>
                      <a:srgbClr val="FFFFFF"/>
                    </a:solidFill>
                  </a:tcPr>
                </a:tc>
              </a:tr>
              <a:tr h="210312">
                <a:tc>
                  <a:txBody>
                    <a:bodyPr wrap="square"/>
                    <a:lstStyle/>
                    <a:p>
                      <a:pPr algn="l"/>
                      <a:r>
                        <a:rPr sz="900" b="0" i="0">
                          <a:solidFill>
                            <a:srgbClr val="404040"/>
                          </a:solidFill>
                          <a:latin typeface="Arial"/>
                        </a:rPr>
                        <a:t>2.2</a:t>
                      </a:r>
                    </a:p>
                  </a:txBody>
                  <a:tcPr marL="54864" marR="54864" marT="27432" marB="27432" anchor="ctr">
                    <a:solidFill>
                      <a:srgbClr val="F2F2F2"/>
                    </a:solidFill>
                  </a:tcPr>
                </a:tc>
                <a:tc>
                  <a:txBody>
                    <a:bodyPr wrap="square"/>
                    <a:lstStyle/>
                    <a:p>
                      <a:pPr algn="l"/>
                      <a:r>
                        <a:rPr sz="900" b="0" i="0">
                          <a:solidFill>
                            <a:srgbClr val="404040"/>
                          </a:solidFill>
                          <a:latin typeface="Arial"/>
                        </a:rPr>
                        <a:t>Balance Impact on Nature-Based Attractions</a:t>
                      </a:r>
                    </a:p>
                  </a:txBody>
                  <a:tcPr marL="54864" marR="54864" marT="27432" marB="27432" anchor="ctr">
                    <a:solidFill>
                      <a:srgbClr val="F2F2F2"/>
                    </a:solidFill>
                  </a:tcPr>
                </a:tc>
                <a:tc>
                  <a:txBody>
                    <a:bodyPr wrap="square"/>
                    <a:lstStyle/>
                    <a:p>
                      <a:pPr algn="l"/>
                      <a:r>
                        <a:rPr sz="900" b="0" i="0">
                          <a:solidFill>
                            <a:srgbClr val="404040"/>
                          </a:solidFill>
                          <a:latin typeface="Arial"/>
                        </a:rPr>
                        <a:t>Supported</a:t>
                      </a:r>
                    </a:p>
                  </a:txBody>
                  <a:tcPr marL="54864" marR="54864" marT="27432" marB="27432" anchor="ctr">
                    <a:solidFill>
                      <a:srgbClr val="D6EFDA"/>
                    </a:solidFill>
                  </a:tcPr>
                </a:tc>
                <a:tc>
                  <a:txBody>
                    <a:bodyPr wrap="square"/>
                    <a:lstStyle/>
                    <a:p>
                      <a:pPr algn="l"/>
                      <a:r>
                        <a:rPr sz="900" b="0" i="0">
                          <a:solidFill>
                            <a:srgbClr val="404040"/>
                          </a:solidFill>
                          <a:latin typeface="Arial"/>
                        </a:rPr>
                        <a:t>Moderate</a:t>
                      </a:r>
                    </a:p>
                  </a:txBody>
                  <a:tcPr marL="54864" marR="54864" marT="27432" marB="27432" anchor="ctr">
                    <a:solidFill>
                      <a:srgbClr val="F2F2F2"/>
                    </a:solidFill>
                  </a:tcPr>
                </a:tc>
                <a:tc>
                  <a:txBody>
                    <a:bodyPr wrap="square"/>
                    <a:lstStyle/>
                    <a:p>
                      <a:pPr algn="l"/>
                      <a:r>
                        <a:rPr sz="900" b="0" i="0">
                          <a:solidFill>
                            <a:srgbClr val="404040"/>
                          </a:solidFill>
                          <a:latin typeface="Arial"/>
                        </a:rPr>
                        <a:t>Boulders and summit at capacity; reserves under-used</a:t>
                      </a:r>
                    </a:p>
                  </a:txBody>
                  <a:tcPr marL="54864" marR="54864" marT="27432" marB="27432" anchor="ctr">
                    <a:solidFill>
                      <a:srgbClr val="F2F2F2"/>
                    </a:solidFill>
                  </a:tcPr>
                </a:tc>
                <a:tc>
                  <a:txBody>
                    <a:bodyPr wrap="square"/>
                    <a:lstStyle/>
                    <a:p>
                      <a:pPr algn="l"/>
                      <a:r>
                        <a:rPr sz="900" b="0" i="0">
                          <a:solidFill>
                            <a:srgbClr val="404040"/>
                          </a:solidFill>
                          <a:latin typeface="Arial"/>
                        </a:rPr>
                        <a:t>Stake pp24, 36; Infra p27</a:t>
                      </a:r>
                    </a:p>
                  </a:txBody>
                  <a:tcPr marL="54864" marR="54864" marT="27432" marB="27432" anchor="ctr">
                    <a:solidFill>
                      <a:srgbClr val="F2F2F2"/>
                    </a:solidFill>
                  </a:tcPr>
                </a:tc>
              </a:tr>
              <a:tr h="210312">
                <a:tc>
                  <a:txBody>
                    <a:bodyPr wrap="square"/>
                    <a:lstStyle/>
                    <a:p>
                      <a:pPr algn="l"/>
                      <a:r>
                        <a:rPr sz="900" b="0" i="0">
                          <a:solidFill>
                            <a:srgbClr val="404040"/>
                          </a:solidFill>
                          <a:latin typeface="Arial"/>
                        </a:rPr>
                        <a:t>3.1</a:t>
                      </a:r>
                    </a:p>
                  </a:txBody>
                  <a:tcPr marL="54864" marR="54864" marT="27432" marB="27432" anchor="ctr">
                    <a:solidFill>
                      <a:srgbClr val="FFFFFF"/>
                    </a:solidFill>
                  </a:tcPr>
                </a:tc>
                <a:tc>
                  <a:txBody>
                    <a:bodyPr wrap="square"/>
                    <a:lstStyle/>
                    <a:p>
                      <a:pPr algn="l"/>
                      <a:r>
                        <a:rPr sz="900" b="0" i="0">
                          <a:solidFill>
                            <a:srgbClr val="404040"/>
                          </a:solidFill>
                          <a:latin typeface="Arial"/>
                        </a:rPr>
                        <a:t>Drive Community and SME Inclusion</a:t>
                      </a:r>
                    </a:p>
                  </a:txBody>
                  <a:tcPr marL="54864" marR="54864" marT="27432" marB="27432" anchor="ctr">
                    <a:solidFill>
                      <a:srgbClr val="FFFFFF"/>
                    </a:solidFill>
                  </a:tcPr>
                </a:tc>
                <a:tc>
                  <a:txBody>
                    <a:bodyPr wrap="square"/>
                    <a:lstStyle/>
                    <a:p>
                      <a:pPr algn="l"/>
                      <a:r>
                        <a:rPr sz="900" b="0" i="0">
                          <a:solidFill>
                            <a:srgbClr val="404040"/>
                          </a:solidFill>
                          <a:latin typeface="Arial"/>
                        </a:rPr>
                        <a:t>Supported</a:t>
                      </a:r>
                    </a:p>
                  </a:txBody>
                  <a:tcPr marL="54864" marR="54864" marT="27432" marB="27432" anchor="ctr">
                    <a:solidFill>
                      <a:srgbClr val="D6EFDA"/>
                    </a:solidFill>
                  </a:tcPr>
                </a:tc>
                <a:tc>
                  <a:txBody>
                    <a:bodyPr wrap="square"/>
                    <a:lstStyle/>
                    <a:p>
                      <a:pPr algn="l"/>
                      <a:r>
                        <a:rPr sz="900" b="0" i="0">
                          <a:solidFill>
                            <a:srgbClr val="404040"/>
                          </a:solidFill>
                          <a:latin typeface="Arial"/>
                        </a:rPr>
                        <a:t>Strong</a:t>
                      </a:r>
                    </a:p>
                  </a:txBody>
                  <a:tcPr marL="54864" marR="54864" marT="27432" marB="27432" anchor="ctr">
                    <a:solidFill>
                      <a:srgbClr val="FFFFFF"/>
                    </a:solidFill>
                  </a:tcPr>
                </a:tc>
                <a:tc>
                  <a:txBody>
                    <a:bodyPr wrap="square"/>
                    <a:lstStyle/>
                    <a:p>
                      <a:pPr algn="l"/>
                      <a:r>
                        <a:rPr sz="900" b="0" i="0">
                          <a:solidFill>
                            <a:srgbClr val="404040"/>
                          </a:solidFill>
                          <a:latin typeface="Arial"/>
                        </a:rPr>
                        <a:t>18.4% of residents, 0.02-0.04% of spend; organisation binds in 11 of 20</a:t>
                      </a:r>
                    </a:p>
                  </a:txBody>
                  <a:tcPr marL="54864" marR="54864" marT="27432" marB="27432" anchor="ctr">
                    <a:solidFill>
                      <a:srgbClr val="FFFFFF"/>
                    </a:solidFill>
                  </a:tcPr>
                </a:tc>
                <a:tc>
                  <a:txBody>
                    <a:bodyPr wrap="square"/>
                    <a:lstStyle/>
                    <a:p>
                      <a:pPr algn="l"/>
                      <a:r>
                        <a:rPr sz="900" b="0" i="0">
                          <a:solidFill>
                            <a:srgbClr val="404040"/>
                          </a:solidFill>
                          <a:latin typeface="Arial"/>
                        </a:rPr>
                        <a:t>SME pp5, 27</a:t>
                      </a:r>
                    </a:p>
                  </a:txBody>
                  <a:tcPr marL="54864" marR="54864" marT="27432" marB="27432" anchor="ctr">
                    <a:solidFill>
                      <a:srgbClr val="FFFFFF"/>
                    </a:solidFill>
                  </a:tcPr>
                </a:tc>
              </a:tr>
              <a:tr h="210312">
                <a:tc>
                  <a:txBody>
                    <a:bodyPr wrap="square"/>
                    <a:lstStyle/>
                    <a:p>
                      <a:pPr algn="l"/>
                      <a:r>
                        <a:rPr sz="900" b="0" i="0">
                          <a:solidFill>
                            <a:srgbClr val="404040"/>
                          </a:solidFill>
                          <a:latin typeface="Arial"/>
                        </a:rPr>
                        <a:t>3.1</a:t>
                      </a:r>
                    </a:p>
                  </a:txBody>
                  <a:tcPr marL="54864" marR="54864" marT="27432" marB="27432" anchor="ctr">
                    <a:solidFill>
                      <a:srgbClr val="F2F2F2"/>
                    </a:solidFill>
                  </a:tcPr>
                </a:tc>
                <a:tc>
                  <a:txBody>
                    <a:bodyPr wrap="square"/>
                    <a:lstStyle/>
                    <a:p>
                      <a:pPr algn="l"/>
                      <a:r>
                        <a:rPr sz="900" b="0" i="0">
                          <a:solidFill>
                            <a:srgbClr val="404040"/>
                          </a:solidFill>
                          <a:latin typeface="Arial"/>
                        </a:rPr>
                        <a:t>Ensure Sustainable Destination Management</a:t>
                      </a:r>
                    </a:p>
                  </a:txBody>
                  <a:tcPr marL="54864" marR="54864" marT="27432" marB="27432" anchor="ctr">
                    <a:solidFill>
                      <a:srgbClr val="F2F2F2"/>
                    </a:solidFill>
                  </a:tcPr>
                </a:tc>
                <a:tc>
                  <a:txBody>
                    <a:bodyPr wrap="square"/>
                    <a:lstStyle/>
                    <a:p>
                      <a:pPr algn="l"/>
                      <a:r>
                        <a:rPr sz="900" b="0" i="0">
                          <a:solidFill>
                            <a:srgbClr val="404040"/>
                          </a:solidFill>
                          <a:latin typeface="Arial"/>
                        </a:rPr>
                        <a:t>Partly</a:t>
                      </a:r>
                    </a:p>
                  </a:txBody>
                  <a:tcPr marL="54864" marR="54864" marT="27432" marB="27432" anchor="ctr">
                    <a:solidFill>
                      <a:srgbClr val="FDECC8"/>
                    </a:solidFill>
                  </a:tcPr>
                </a:tc>
                <a:tc>
                  <a:txBody>
                    <a:bodyPr wrap="square"/>
                    <a:lstStyle/>
                    <a:p>
                      <a:pPr algn="l"/>
                      <a:r>
                        <a:rPr sz="900" b="0" i="0">
                          <a:solidFill>
                            <a:srgbClr val="404040"/>
                          </a:solidFill>
                          <a:latin typeface="Arial"/>
                        </a:rPr>
                        <a:t>Moderate</a:t>
                      </a:r>
                    </a:p>
                  </a:txBody>
                  <a:tcPr marL="54864" marR="54864" marT="27432" marB="27432" anchor="ctr">
                    <a:solidFill>
                      <a:srgbClr val="F2F2F2"/>
                    </a:solidFill>
                  </a:tcPr>
                </a:tc>
                <a:tc>
                  <a:txBody>
                    <a:bodyPr wrap="square"/>
                    <a:lstStyle/>
                    <a:p>
                      <a:pPr algn="l"/>
                      <a:r>
                        <a:rPr sz="900" b="0" i="0">
                          <a:solidFill>
                            <a:srgbClr val="404040"/>
                          </a:solidFill>
                          <a:latin typeface="Arial"/>
                        </a:rPr>
                        <a:t>LTOs not sustainable without municipal funding; Circular 131; Meiringspoort flood R421m</a:t>
                      </a:r>
                    </a:p>
                  </a:txBody>
                  <a:tcPr marL="54864" marR="54864" marT="27432" marB="27432" anchor="ctr">
                    <a:solidFill>
                      <a:srgbClr val="F2F2F2"/>
                    </a:solidFill>
                  </a:tcPr>
                </a:tc>
                <a:tc>
                  <a:txBody>
                    <a:bodyPr wrap="square"/>
                    <a:lstStyle/>
                    <a:p>
                      <a:pPr algn="l"/>
                      <a:r>
                        <a:rPr sz="900" b="0" i="0">
                          <a:solidFill>
                            <a:srgbClr val="404040"/>
                          </a:solidFill>
                          <a:latin typeface="Arial"/>
                        </a:rPr>
                        <a:t>Stake pp12, 25; SME (De Rust)</a:t>
                      </a:r>
                    </a:p>
                  </a:txBody>
                  <a:tcPr marL="54864" marR="54864" marT="27432" marB="27432" anchor="ctr">
                    <a:solidFill>
                      <a:srgbClr val="F2F2F2"/>
                    </a:solidFill>
                  </a:tcPr>
                </a:tc>
              </a:tr>
              <a:tr h="210312">
                <a:tc>
                  <a:txBody>
                    <a:bodyPr wrap="square"/>
                    <a:lstStyle/>
                    <a:p>
                      <a:pPr algn="l"/>
                      <a:r>
                        <a:rPr sz="900" b="0" i="0">
                          <a:solidFill>
                            <a:srgbClr val="404040"/>
                          </a:solidFill>
                          <a:latin typeface="Arial"/>
                        </a:rPr>
                        <a:t>3.1</a:t>
                      </a:r>
                    </a:p>
                  </a:txBody>
                  <a:tcPr marL="54864" marR="54864" marT="27432" marB="27432" anchor="ctr">
                    <a:solidFill>
                      <a:srgbClr val="FFFFFF"/>
                    </a:solidFill>
                  </a:tcPr>
                </a:tc>
                <a:tc>
                  <a:txBody>
                    <a:bodyPr wrap="square"/>
                    <a:lstStyle/>
                    <a:p>
                      <a:pPr algn="l"/>
                      <a:r>
                        <a:rPr sz="900" b="0" i="0">
                          <a:solidFill>
                            <a:srgbClr val="404040"/>
                          </a:solidFill>
                          <a:latin typeface="Arial"/>
                        </a:rPr>
                        <a:t>Crowd-In Capital with Targeted Investment Strategies</a:t>
                      </a:r>
                    </a:p>
                  </a:txBody>
                  <a:tcPr marL="54864" marR="54864" marT="27432" marB="27432" anchor="ctr">
                    <a:solidFill>
                      <a:srgbClr val="FFFFFF"/>
                    </a:solidFill>
                  </a:tcPr>
                </a:tc>
                <a:tc>
                  <a:txBody>
                    <a:bodyPr wrap="square"/>
                    <a:lstStyle/>
                    <a:p>
                      <a:pPr algn="l"/>
                      <a:r>
                        <a:rPr sz="900" b="0" i="0">
                          <a:solidFill>
                            <a:srgbClr val="404040"/>
                          </a:solidFill>
                          <a:latin typeface="Arial"/>
                        </a:rPr>
                        <a:t>Partly</a:t>
                      </a:r>
                    </a:p>
                  </a:txBody>
                  <a:tcPr marL="54864" marR="54864" marT="27432" marB="27432" anchor="ctr">
                    <a:solidFill>
                      <a:srgbClr val="FDECC8"/>
                    </a:solidFill>
                  </a:tcPr>
                </a:tc>
                <a:tc>
                  <a:txBody>
                    <a:bodyPr wrap="square"/>
                    <a:lstStyle/>
                    <a:p>
                      <a:pPr algn="l"/>
                      <a:r>
                        <a:rPr sz="900" b="0" i="0">
                          <a:solidFill>
                            <a:srgbClr val="404040"/>
                          </a:solidFill>
                          <a:latin typeface="Arial"/>
                        </a:rPr>
                        <a:t>Moderate</a:t>
                      </a:r>
                    </a:p>
                  </a:txBody>
                  <a:tcPr marL="54864" marR="54864" marT="27432" marB="27432" anchor="ctr">
                    <a:solidFill>
                      <a:srgbClr val="FFFFFF"/>
                    </a:solidFill>
                  </a:tcPr>
                </a:tc>
                <a:tc>
                  <a:txBody>
                    <a:bodyPr wrap="square"/>
                    <a:lstStyle/>
                    <a:p>
                      <a:pPr algn="l"/>
                      <a:r>
                        <a:rPr sz="900" b="0" i="0">
                          <a:solidFill>
                            <a:srgbClr val="404040"/>
                          </a:solidFill>
                          <a:latin typeface="Arial"/>
                        </a:rPr>
                        <a:t>Kliptown ~R497m, ~4,000 visitors; no costed pipeline or ROI</a:t>
                      </a:r>
                    </a:p>
                  </a:txBody>
                  <a:tcPr marL="54864" marR="54864" marT="27432" marB="27432" anchor="ctr">
                    <a:solidFill>
                      <a:srgbClr val="FFFFFF"/>
                    </a:solidFill>
                  </a:tcPr>
                </a:tc>
                <a:tc>
                  <a:txBody>
                    <a:bodyPr wrap="square"/>
                    <a:lstStyle/>
                    <a:p>
                      <a:pPr algn="l"/>
                      <a:r>
                        <a:rPr sz="900" b="0" i="0">
                          <a:solidFill>
                            <a:srgbClr val="404040"/>
                          </a:solidFill>
                          <a:latin typeface="Arial"/>
                        </a:rPr>
                        <a:t>SME pp23-24; Infra</a:t>
                      </a:r>
                    </a:p>
                  </a:txBody>
                  <a:tcPr marL="54864" marR="54864" marT="27432" marB="27432" anchor="ctr">
                    <a:solidFill>
                      <a:srgbClr val="FFFFFF"/>
                    </a:solidFill>
                  </a:tcPr>
                </a:tc>
              </a:tr>
              <a:tr h="210312">
                <a:tc>
                  <a:txBody>
                    <a:bodyPr wrap="square"/>
                    <a:lstStyle/>
                    <a:p>
                      <a:pPr algn="l"/>
                      <a:r>
                        <a:rPr sz="900" b="0" i="0">
                          <a:solidFill>
                            <a:srgbClr val="404040"/>
                          </a:solidFill>
                          <a:latin typeface="Arial"/>
                        </a:rPr>
                        <a:t>3.2</a:t>
                      </a:r>
                    </a:p>
                  </a:txBody>
                  <a:tcPr marL="54864" marR="54864" marT="27432" marB="27432" anchor="ctr">
                    <a:solidFill>
                      <a:srgbClr val="F2F2F2"/>
                    </a:solidFill>
                  </a:tcPr>
                </a:tc>
                <a:tc>
                  <a:txBody>
                    <a:bodyPr wrap="square"/>
                    <a:lstStyle/>
                    <a:p>
                      <a:pPr algn="l"/>
                      <a:r>
                        <a:rPr sz="900" b="0" i="0">
                          <a:solidFill>
                            <a:srgbClr val="404040"/>
                          </a:solidFill>
                          <a:latin typeface="Arial"/>
                        </a:rPr>
                        <a:t>Review Institutional Arrangements (Wesgro, DEDAT, CTT)</a:t>
                      </a:r>
                    </a:p>
                  </a:txBody>
                  <a:tcPr marL="54864" marR="54864" marT="27432" marB="27432" anchor="ctr">
                    <a:solidFill>
                      <a:srgbClr val="F2F2F2"/>
                    </a:solidFill>
                  </a:tcPr>
                </a:tc>
                <a:tc>
                  <a:txBody>
                    <a:bodyPr wrap="square"/>
                    <a:lstStyle/>
                    <a:p>
                      <a:pPr algn="l"/>
                      <a:r>
                        <a:rPr sz="900" b="0" i="0">
                          <a:solidFill>
                            <a:srgbClr val="404040"/>
                          </a:solidFill>
                          <a:latin typeface="Arial"/>
                        </a:rPr>
                        <a:t>Supported</a:t>
                      </a:r>
                    </a:p>
                  </a:txBody>
                  <a:tcPr marL="54864" marR="54864" marT="27432" marB="27432" anchor="ctr">
                    <a:solidFill>
                      <a:srgbClr val="D6EFDA"/>
                    </a:solidFill>
                  </a:tcPr>
                </a:tc>
                <a:tc>
                  <a:txBody>
                    <a:bodyPr wrap="square"/>
                    <a:lstStyle/>
                    <a:p>
                      <a:pPr algn="l"/>
                      <a:r>
                        <a:rPr sz="900" b="0" i="0">
                          <a:solidFill>
                            <a:srgbClr val="404040"/>
                          </a:solidFill>
                          <a:latin typeface="Arial"/>
                        </a:rPr>
                        <a:t>Strong</a:t>
                      </a:r>
                    </a:p>
                  </a:txBody>
                  <a:tcPr marL="54864" marR="54864" marT="27432" marB="27432" anchor="ctr">
                    <a:solidFill>
                      <a:srgbClr val="F2F2F2"/>
                    </a:solidFill>
                  </a:tcPr>
                </a:tc>
                <a:tc>
                  <a:txBody>
                    <a:bodyPr wrap="square"/>
                    <a:lstStyle/>
                    <a:p>
                      <a:pPr algn="l"/>
                      <a:r>
                        <a:rPr sz="900" b="0" i="0">
                          <a:solidFill>
                            <a:srgbClr val="404040"/>
                          </a:solidFill>
                          <a:latin typeface="Arial"/>
                        </a:rPr>
                        <a:t>Air rights, visas, ports national; funding below peers; SA Tourism weak</a:t>
                      </a:r>
                    </a:p>
                  </a:txBody>
                  <a:tcPr marL="54864" marR="54864" marT="27432" marB="27432" anchor="ctr">
                    <a:solidFill>
                      <a:srgbClr val="F2F2F2"/>
                    </a:solidFill>
                  </a:tcPr>
                </a:tc>
                <a:tc>
                  <a:txBody>
                    <a:bodyPr wrap="square"/>
                    <a:lstStyle/>
                    <a:p>
                      <a:pPr algn="l"/>
                      <a:r>
                        <a:rPr sz="900" b="0" i="0">
                          <a:solidFill>
                            <a:srgbClr val="404040"/>
                          </a:solidFill>
                          <a:latin typeface="Arial"/>
                        </a:rPr>
                        <a:t>Stake pp13, 25; factbase</a:t>
                      </a:r>
                    </a:p>
                  </a:txBody>
                  <a:tcPr marL="54864" marR="54864" marT="27432" marB="27432" anchor="ctr">
                    <a:solidFill>
                      <a:srgbClr val="F2F2F2"/>
                    </a:solidFill>
                  </a:tcPr>
                </a:tc>
              </a:tr>
              <a:tr h="210312">
                <a:tc>
                  <a:txBody>
                    <a:bodyPr wrap="square"/>
                    <a:lstStyle/>
                    <a:p>
                      <a:pPr algn="l"/>
                      <a:r>
                        <a:rPr sz="900" b="0" i="0">
                          <a:solidFill>
                            <a:srgbClr val="404040"/>
                          </a:solidFill>
                          <a:latin typeface="Arial"/>
                        </a:rPr>
                        <a:t>3.2</a:t>
                      </a:r>
                    </a:p>
                  </a:txBody>
                  <a:tcPr marL="54864" marR="54864" marT="27432" marB="27432" anchor="ctr">
                    <a:solidFill>
                      <a:srgbClr val="FFFFFF"/>
                    </a:solidFill>
                  </a:tcPr>
                </a:tc>
                <a:tc>
                  <a:txBody>
                    <a:bodyPr wrap="square"/>
                    <a:lstStyle/>
                    <a:p>
                      <a:pPr algn="l"/>
                      <a:r>
                        <a:rPr sz="900" b="0" i="0">
                          <a:solidFill>
                            <a:srgbClr val="404040"/>
                          </a:solidFill>
                          <a:latin typeface="Arial"/>
                        </a:rPr>
                        <a:t>Strengthen Industry &gt;&gt; Government Collaboration</a:t>
                      </a:r>
                    </a:p>
                  </a:txBody>
                  <a:tcPr marL="54864" marR="54864" marT="27432" marB="27432" anchor="ctr">
                    <a:solidFill>
                      <a:srgbClr val="FFFFFF"/>
                    </a:solidFill>
                  </a:tcPr>
                </a:tc>
                <a:tc>
                  <a:txBody>
                    <a:bodyPr wrap="square"/>
                    <a:lstStyle/>
                    <a:p>
                      <a:pPr algn="l"/>
                      <a:r>
                        <a:rPr sz="900" b="0" i="0">
                          <a:solidFill>
                            <a:srgbClr val="404040"/>
                          </a:solidFill>
                          <a:latin typeface="Arial"/>
                        </a:rPr>
                        <a:t>Supported</a:t>
                      </a:r>
                    </a:p>
                  </a:txBody>
                  <a:tcPr marL="54864" marR="54864" marT="27432" marB="27432" anchor="ctr">
                    <a:solidFill>
                      <a:srgbClr val="D6EFDA"/>
                    </a:solidFill>
                  </a:tcPr>
                </a:tc>
                <a:tc>
                  <a:txBody>
                    <a:bodyPr wrap="square"/>
                    <a:lstStyle/>
                    <a:p>
                      <a:pPr algn="l"/>
                      <a:r>
                        <a:rPr sz="900" b="0" i="0">
                          <a:solidFill>
                            <a:srgbClr val="404040"/>
                          </a:solidFill>
                          <a:latin typeface="Arial"/>
                        </a:rPr>
                        <a:t>Strong</a:t>
                      </a:r>
                    </a:p>
                  </a:txBody>
                  <a:tcPr marL="54864" marR="54864" marT="27432" marB="27432" anchor="ctr">
                    <a:solidFill>
                      <a:srgbClr val="FFFFFF"/>
                    </a:solidFill>
                  </a:tcPr>
                </a:tc>
                <a:tc>
                  <a:txBody>
                    <a:bodyPr wrap="square"/>
                    <a:lstStyle/>
                    <a:p>
                      <a:pPr algn="l"/>
                      <a:r>
                        <a:rPr sz="900" b="0" i="0">
                          <a:solidFill>
                            <a:srgbClr val="404040"/>
                          </a:solidFill>
                          <a:latin typeface="Arial"/>
                        </a:rPr>
                        <a:t>Raised by 15 of 16 organisations (Letsema tally); Air Access model works</a:t>
                      </a:r>
                    </a:p>
                  </a:txBody>
                  <a:tcPr marL="54864" marR="54864" marT="27432" marB="27432" anchor="ctr">
                    <a:solidFill>
                      <a:srgbClr val="FFFFFF"/>
                    </a:solidFill>
                  </a:tcPr>
                </a:tc>
                <a:tc>
                  <a:txBody>
                    <a:bodyPr wrap="square"/>
                    <a:lstStyle/>
                    <a:p>
                      <a:pPr algn="l"/>
                      <a:r>
                        <a:rPr sz="900" b="0" i="0">
                          <a:solidFill>
                            <a:srgbClr val="404040"/>
                          </a:solidFill>
                          <a:latin typeface="Arial"/>
                        </a:rPr>
                        <a:t>Stake pp20-46; MIDAS p13</a:t>
                      </a:r>
                    </a:p>
                  </a:txBody>
                  <a:tcPr marL="54864" marR="54864" marT="27432" marB="27432" anchor="ctr">
                    <a:solidFill>
                      <a:srgbClr val="FFFFFF"/>
                    </a:solidFill>
                  </a:tcPr>
                </a:tc>
              </a:tr>
              <a:tr h="210312">
                <a:tc>
                  <a:txBody>
                    <a:bodyPr wrap="square"/>
                    <a:lstStyle/>
                    <a:p>
                      <a:pPr algn="l"/>
                      <a:r>
                        <a:rPr sz="900" b="0" i="0">
                          <a:solidFill>
                            <a:srgbClr val="404040"/>
                          </a:solidFill>
                          <a:latin typeface="Arial"/>
                        </a:rPr>
                        <a:t>3.2</a:t>
                      </a:r>
                    </a:p>
                  </a:txBody>
                  <a:tcPr marL="54864" marR="54864" marT="27432" marB="27432" anchor="ctr">
                    <a:solidFill>
                      <a:srgbClr val="F2F2F2"/>
                    </a:solidFill>
                  </a:tcPr>
                </a:tc>
                <a:tc>
                  <a:txBody>
                    <a:bodyPr wrap="square"/>
                    <a:lstStyle/>
                    <a:p>
                      <a:pPr algn="l"/>
                      <a:r>
                        <a:rPr sz="900" b="0" i="0">
                          <a:solidFill>
                            <a:srgbClr val="404040"/>
                          </a:solidFill>
                          <a:latin typeface="Arial"/>
                        </a:rPr>
                        <a:t>Expedite Tourism-Enabling Policy and Data Sharing</a:t>
                      </a:r>
                    </a:p>
                  </a:txBody>
                  <a:tcPr marL="54864" marR="54864" marT="27432" marB="27432" anchor="ctr">
                    <a:solidFill>
                      <a:srgbClr val="F2F2F2"/>
                    </a:solidFill>
                  </a:tcPr>
                </a:tc>
                <a:tc>
                  <a:txBody>
                    <a:bodyPr wrap="square"/>
                    <a:lstStyle/>
                    <a:p>
                      <a:pPr algn="l"/>
                      <a:r>
                        <a:rPr sz="900" b="0" i="0">
                          <a:solidFill>
                            <a:srgbClr val="404040"/>
                          </a:solidFill>
                          <a:latin typeface="Arial"/>
                        </a:rPr>
                        <a:t>Supported</a:t>
                      </a:r>
                    </a:p>
                  </a:txBody>
                  <a:tcPr marL="54864" marR="54864" marT="27432" marB="27432" anchor="ctr">
                    <a:solidFill>
                      <a:srgbClr val="D6EFDA"/>
                    </a:solidFill>
                  </a:tcPr>
                </a:tc>
                <a:tc>
                  <a:txBody>
                    <a:bodyPr wrap="square"/>
                    <a:lstStyle/>
                    <a:p>
                      <a:pPr algn="l"/>
                      <a:r>
                        <a:rPr sz="900" b="0" i="0">
                          <a:solidFill>
                            <a:srgbClr val="404040"/>
                          </a:solidFill>
                          <a:latin typeface="Arial"/>
                        </a:rPr>
                        <a:t>Strong</a:t>
                      </a:r>
                    </a:p>
                  </a:txBody>
                  <a:tcPr marL="54864" marR="54864" marT="27432" marB="27432" anchor="ctr">
                    <a:solidFill>
                      <a:srgbClr val="F2F2F2"/>
                    </a:solidFill>
                  </a:tcPr>
                </a:tc>
                <a:tc>
                  <a:txBody>
                    <a:bodyPr wrap="square"/>
                    <a:lstStyle/>
                    <a:p>
                      <a:pPr algn="l"/>
                      <a:r>
                        <a:rPr sz="900" b="0" i="0">
                          <a:solidFill>
                            <a:srgbClr val="404040"/>
                          </a:solidFill>
                          <a:latin typeface="Arial"/>
                        </a:rPr>
                        <a:t>No approved tourism GDP or jobs method; policy gap (DEDAT)</a:t>
                      </a:r>
                    </a:p>
                  </a:txBody>
                  <a:tcPr marL="54864" marR="54864" marT="27432" marB="27432" anchor="ctr">
                    <a:solidFill>
                      <a:srgbClr val="F2F2F2"/>
                    </a:solidFill>
                  </a:tcPr>
                </a:tc>
                <a:tc>
                  <a:txBody>
                    <a:bodyPr wrap="square"/>
                    <a:lstStyle/>
                    <a:p>
                      <a:pPr algn="l"/>
                      <a:r>
                        <a:rPr sz="900" b="0" i="0">
                          <a:solidFill>
                            <a:srgbClr val="404040"/>
                          </a:solidFill>
                          <a:latin typeface="Arial"/>
                        </a:rPr>
                        <a:t>Stake pp25, 37; factbases</a:t>
                      </a:r>
                    </a:p>
                  </a:txBody>
                  <a:tcPr marL="54864" marR="54864" marT="27432" marB="27432" anchor="ctr">
                    <a:solidFill>
                      <a:srgbClr val="F2F2F2"/>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475488"/>
            <a:ext cx="11277295" cy="822960"/>
          </a:xfrm>
        </p:spPr>
        <p:txBody>
          <a:bodyPr wrap="square" anchor="t" lIns="0" rIns="0" tIns="0" bIns="0">
            <a:normAutofit/>
          </a:bodyPr>
          <a:lstStyle/>
          <a:p>
            <a:pPr algn="l"/>
            <a:r>
              <a:rPr sz="2200" b="1" i="0">
                <a:solidFill>
                  <a:srgbClr val="00AEEF"/>
                </a:solidFill>
                <a:latin typeface="Arial"/>
              </a:rPr>
              <a:t>Reconcile these figures before anything goes to the Board</a:t>
            </a:r>
          </a:p>
        </p:txBody>
      </p:sp>
      <p:sp>
        <p:nvSpPr>
          <p:cNvPr id="3" name="Topic"/>
          <p:cNvSpPr txBox="1"/>
          <p:nvPr/>
        </p:nvSpPr>
        <p:spPr>
          <a:xfrm>
            <a:off x="457200" y="256032"/>
            <a:ext cx="8686800" cy="256032"/>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APPENDIX | A2 DATA ISSUES AND BASELINES</a:t>
            </a:r>
          </a:p>
        </p:txBody>
      </p:sp>
      <p:pic>
        <p:nvPicPr>
          <p:cNvPr id="4" name="Picture 3" descr="wesgro_logo.png"/>
          <p:cNvPicPr>
            <a:picLocks noChangeAspect="1"/>
          </p:cNvPicPr>
          <p:nvPr/>
        </p:nvPicPr>
        <p:blipFill>
          <a:blip r:embed="rId2"/>
          <a:stretch>
            <a:fillRect/>
          </a:stretch>
        </p:blipFill>
        <p:spPr>
          <a:xfrm>
            <a:off x="384048" y="6291072"/>
            <a:ext cx="836540" cy="384048"/>
          </a:xfrm>
          <a:prstGeom prst="rect">
            <a:avLst/>
          </a:prstGeom>
        </p:spPr>
      </p:pic>
      <p:sp>
        <p:nvSpPr>
          <p:cNvPr id="5" name="Source"/>
          <p:cNvSpPr txBox="1"/>
          <p:nvPr/>
        </p:nvSpPr>
        <p:spPr>
          <a:xfrm>
            <a:off x="1463040" y="6309360"/>
            <a:ext cx="9692640" cy="384048"/>
          </a:xfrm>
          <a:prstGeom prst="rect">
            <a:avLst/>
          </a:prstGeom>
          <a:noFill/>
        </p:spPr>
        <p:txBody>
          <a:bodyPr wrap="square" anchor="b" lIns="0" rIns="0" tIns="0" bIns="0">
            <a:spAutoFit/>
          </a:bodyPr>
          <a:lstStyle/>
          <a:p>
            <a:pPr algn="l">
              <a:spcAft>
                <a:spcPts val="0"/>
              </a:spcAft>
            </a:pPr>
            <a:r>
              <a:rPr sz="800" b="0" i="0">
                <a:solidFill>
                  <a:srgbClr val="7F7F7F"/>
                </a:solidFill>
                <a:latin typeface="Arial"/>
              </a:rPr>
              <a:t>Source: Letsema review of inputs; baselines from RFP s2, Diagnostic p25, Demand-Side, City TDF 2024 and PERO 2025 via municipal factbase, CTAA update, Wesgro plan, Tourism Blueprint 2030</a:t>
            </a:r>
          </a:p>
        </p:txBody>
      </p:sp>
      <p:sp>
        <p:nvSpPr>
          <p:cNvPr id="6" name="Page number"/>
          <p:cNvSpPr txBox="1"/>
          <p:nvPr/>
        </p:nvSpPr>
        <p:spPr>
          <a:xfrm>
            <a:off x="11292840" y="6419088"/>
            <a:ext cx="457200" cy="228600"/>
          </a:xfrm>
          <a:prstGeom prst="rect">
            <a:avLst/>
          </a:prstGeom>
          <a:noFill/>
        </p:spPr>
        <p:txBody>
          <a:bodyPr wrap="square" anchor="t" lIns="36576" rIns="36576" tIns="21945" bIns="21945">
            <a:spAutoFit/>
          </a:bodyPr>
          <a:lstStyle/>
          <a:p>
            <a:pPr algn="r">
              <a:spcAft>
                <a:spcPts val="0"/>
              </a:spcAft>
            </a:pPr>
            <a:r>
              <a:rPr sz="900" b="0" i="0">
                <a:solidFill>
                  <a:srgbClr val="7F7F7F"/>
                </a:solidFill>
                <a:latin typeface="Arial"/>
              </a:rPr>
              <a:t>24</a:t>
            </a:r>
          </a:p>
        </p:txBody>
      </p:sp>
      <p:sp>
        <p:nvSpPr>
          <p:cNvPr id="7" name="Draft marker"/>
          <p:cNvSpPr txBox="1"/>
          <p:nvPr/>
        </p:nvSpPr>
        <p:spPr>
          <a:xfrm>
            <a:off x="9966960" y="109728"/>
            <a:ext cx="1920240" cy="228600"/>
          </a:xfrm>
          <a:prstGeom prst="rect">
            <a:avLst/>
          </a:prstGeom>
          <a:noFill/>
        </p:spPr>
        <p:txBody>
          <a:bodyPr wrap="square" anchor="t" lIns="36576" rIns="36576" tIns="21945" bIns="21945">
            <a:spAutoFit/>
          </a:bodyPr>
          <a:lstStyle/>
          <a:p>
            <a:pPr algn="r">
              <a:spcAft>
                <a:spcPts val="0"/>
              </a:spcAft>
            </a:pPr>
            <a:r>
              <a:rPr sz="800" b="1" i="0">
                <a:solidFill>
                  <a:srgbClr val="7F7F7F"/>
                </a:solidFill>
                <a:latin typeface="Arial"/>
              </a:rPr>
              <a:t>DRAFT FOR DISCUSSION</a:t>
            </a:r>
          </a:p>
        </p:txBody>
      </p:sp>
      <p:sp>
        <p:nvSpPr>
          <p:cNvPr id="8" name="TextBox 7"/>
          <p:cNvSpPr txBox="1"/>
          <p:nvPr/>
        </p:nvSpPr>
        <p:spPr>
          <a:xfrm>
            <a:off x="457200" y="1325880"/>
            <a:ext cx="6521272"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DATA ISSUES TO RESOLVE</a:t>
            </a:r>
          </a:p>
        </p:txBody>
      </p:sp>
      <p:sp>
        <p:nvSpPr>
          <p:cNvPr id="9" name="TextBox 8"/>
          <p:cNvSpPr txBox="1"/>
          <p:nvPr/>
        </p:nvSpPr>
        <p:spPr>
          <a:xfrm>
            <a:off x="457200" y="1645920"/>
            <a:ext cx="6338392" cy="4297680"/>
          </a:xfrm>
          <a:prstGeom prst="rect">
            <a:avLst/>
          </a:prstGeom>
          <a:noFill/>
        </p:spPr>
        <p:txBody>
          <a:bodyPr wrap="square" anchor="t" lIns="0" rIns="0" tIns="0" bIns="0">
            <a:spAutoFit/>
          </a:bodyPr>
          <a:lstStyle/>
          <a:p>
            <a:pPr algn="l" marL="146304" indent="-146304">
              <a:spcAft>
                <a:spcPts val="900"/>
              </a:spcAft>
              <a:buClr>
                <a:srgbClr val="00AEEF"/>
              </a:buClr>
              <a:buFont typeface="Arial"/>
              <a:buChar char="•"/>
            </a:pPr>
            <a:r>
              <a:rPr sz="1050" b="1" i="0">
                <a:solidFill>
                  <a:srgbClr val="1F497D"/>
                </a:solidFill>
                <a:latin typeface="Arial"/>
              </a:rPr>
              <a:t>Kenya yield: </a:t>
            </a:r>
            <a:r>
              <a:rPr sz="1050" b="0" i="0">
                <a:solidFill>
                  <a:srgbClr val="404040"/>
                </a:solidFill>
                <a:latin typeface="Arial"/>
              </a:rPr>
              <a:t>US$1,650 on 2.1m (Benchmark p27) against ~US$1,460 on 2.4m (Demand-Side p15).</a:t>
            </a:r>
          </a:p>
          <a:p>
            <a:pPr algn="l" marL="146304" indent="-146304">
              <a:spcAft>
                <a:spcPts val="900"/>
              </a:spcAft>
              <a:buClr>
                <a:srgbClr val="00AEEF"/>
              </a:buClr>
              <a:buFont typeface="Arial"/>
              <a:buChar char="•"/>
            </a:pPr>
            <a:r>
              <a:rPr sz="1050" b="1" i="0">
                <a:solidFill>
                  <a:srgbClr val="1F497D"/>
                </a:solidFill>
                <a:latin typeface="Arial"/>
              </a:rPr>
              <a:t>Overberg seasonality: </a:t>
            </a:r>
            <a:r>
              <a:rPr sz="1050" b="0" i="0">
                <a:solidFill>
                  <a:srgbClr val="404040"/>
                </a:solidFill>
                <a:latin typeface="Arial"/>
              </a:rPr>
              <a:t>winter peak (Infrastructure p28) against a May to July shoulder (Stakeholder p26).</a:t>
            </a:r>
          </a:p>
          <a:p>
            <a:pPr algn="l" marL="146304" indent="-146304">
              <a:spcAft>
                <a:spcPts val="900"/>
              </a:spcAft>
              <a:buClr>
                <a:srgbClr val="00AEEF"/>
              </a:buClr>
              <a:buFont typeface="Arial"/>
              <a:buChar char="•"/>
            </a:pPr>
            <a:r>
              <a:rPr sz="1050" b="1" i="0">
                <a:solidFill>
                  <a:srgbClr val="1F497D"/>
                </a:solidFill>
                <a:latin typeface="Arial"/>
              </a:rPr>
              <a:t>India and China units: </a:t>
            </a:r>
            <a:r>
              <a:rPr sz="1050" b="0" i="0">
                <a:solidFill>
                  <a:srgbClr val="404040"/>
                </a:solidFill>
                <a:latin typeface="Arial"/>
              </a:rPr>
              <a:t>MIDAS mixes passengers, bookings and travellers (pp3, 18-19).</a:t>
            </a:r>
          </a:p>
          <a:p>
            <a:pPr algn="l" marL="146304" indent="-146304">
              <a:spcAft>
                <a:spcPts val="900"/>
              </a:spcAft>
              <a:buClr>
                <a:srgbClr val="00AEEF"/>
              </a:buClr>
              <a:buFont typeface="Arial"/>
              <a:buChar char="•"/>
            </a:pPr>
            <a:r>
              <a:rPr sz="1050" b="1" i="0">
                <a:solidFill>
                  <a:srgbClr val="1F497D"/>
                </a:solidFill>
                <a:latin typeface="Arial"/>
              </a:rPr>
              <a:t>Category labels: </a:t>
            </a:r>
            <a:r>
              <a:rPr sz="1050" b="0" i="0">
                <a:solidFill>
                  <a:srgbClr val="404040"/>
                </a:solidFill>
                <a:latin typeface="Arial"/>
              </a:rPr>
              <a:t>Infrastructure pp27-29 titles do not match the categories shown.</a:t>
            </a:r>
          </a:p>
          <a:p>
            <a:pPr algn="l" marL="146304" indent="-146304">
              <a:spcAft>
                <a:spcPts val="900"/>
              </a:spcAft>
              <a:buClr>
                <a:srgbClr val="00AEEF"/>
              </a:buClr>
              <a:buFont typeface="Arial"/>
              <a:buChar char="•"/>
            </a:pPr>
            <a:r>
              <a:rPr sz="1050" b="1" i="0">
                <a:solidFill>
                  <a:srgbClr val="1F497D"/>
                </a:solidFill>
                <a:latin typeface="Arial"/>
              </a:rPr>
              <a:t>Placeholder text: </a:t>
            </a:r>
            <a:r>
              <a:rPr sz="1050" b="0" i="0">
                <a:solidFill>
                  <a:srgbClr val="404040"/>
                </a:solidFill>
                <a:latin typeface="Arial"/>
              </a:rPr>
              <a:t>Infrastructure p15 carries another engagement’s text.</a:t>
            </a:r>
          </a:p>
          <a:p>
            <a:pPr algn="l" marL="146304" indent="-146304">
              <a:spcAft>
                <a:spcPts val="900"/>
              </a:spcAft>
              <a:buClr>
                <a:srgbClr val="00AEEF"/>
              </a:buClr>
              <a:buFont typeface="Arial"/>
              <a:buChar char="•"/>
            </a:pPr>
            <a:r>
              <a:rPr sz="1050" b="1" i="0">
                <a:solidFill>
                  <a:srgbClr val="1F497D"/>
                </a:solidFill>
                <a:latin typeface="Arial"/>
              </a:rPr>
              <a:t>Top-five share: </a:t>
            </a:r>
            <a:r>
              <a:rPr sz="1050" b="0" i="0">
                <a:solidFill>
                  <a:srgbClr val="404040"/>
                </a:solidFill>
                <a:latin typeface="Arial"/>
              </a:rPr>
              <a:t>61% in text, 63% in chart (Demand-Side p13; Diagnostic p29).</a:t>
            </a:r>
          </a:p>
          <a:p>
            <a:pPr algn="l" marL="146304" indent="-146304">
              <a:spcAft>
                <a:spcPts val="900"/>
              </a:spcAft>
              <a:buClr>
                <a:srgbClr val="00AEEF"/>
              </a:buClr>
              <a:buFont typeface="Arial"/>
              <a:buChar char="•"/>
            </a:pPr>
            <a:r>
              <a:rPr sz="1050" b="1" i="0">
                <a:solidFill>
                  <a:srgbClr val="1F497D"/>
                </a:solidFill>
                <a:latin typeface="Arial"/>
              </a:rPr>
              <a:t>Seat ceiling: </a:t>
            </a:r>
            <a:r>
              <a:rPr sz="1050" b="0" i="0">
                <a:solidFill>
                  <a:srgbClr val="404040"/>
                </a:solidFill>
                <a:latin typeface="Arial"/>
              </a:rPr>
              <a:t>check the 1.8m ceiling (Demand-Side p21) against MIDAS capacity (p17).</a:t>
            </a:r>
          </a:p>
          <a:p>
            <a:pPr algn="l" marL="146304" indent="-146304">
              <a:spcAft>
                <a:spcPts val="900"/>
              </a:spcAft>
              <a:buClr>
                <a:srgbClr val="00AEEF"/>
              </a:buClr>
              <a:buFont typeface="Arial"/>
              <a:buChar char="•"/>
            </a:pPr>
            <a:r>
              <a:rPr sz="1050" b="1" i="0">
                <a:solidFill>
                  <a:srgbClr val="1F497D"/>
                </a:solidFill>
                <a:latin typeface="Arial"/>
              </a:rPr>
              <a:t>Factbase figures: </a:t>
            </a:r>
            <a:r>
              <a:rPr sz="1050" b="0" i="0">
                <a:solidFill>
                  <a:srgbClr val="404040"/>
                </a:solidFill>
                <a:latin typeface="Arial"/>
              </a:rPr>
              <a:t>capture shares, transport share, cruise totals and eVisa data need primary checks.</a:t>
            </a:r>
          </a:p>
        </p:txBody>
      </p:sp>
      <p:sp>
        <p:nvSpPr>
          <p:cNvPr id="10" name="TextBox 9"/>
          <p:cNvSpPr txBox="1"/>
          <p:nvPr/>
        </p:nvSpPr>
        <p:spPr>
          <a:xfrm>
            <a:off x="7207072" y="1325880"/>
            <a:ext cx="4527423" cy="274320"/>
          </a:xfrm>
          <a:prstGeom prst="rect">
            <a:avLst/>
          </a:prstGeom>
          <a:noFill/>
        </p:spPr>
        <p:txBody>
          <a:bodyPr wrap="square" anchor="t" lIns="0" rIns="0" tIns="0" bIns="0">
            <a:spAutoFit/>
          </a:bodyPr>
          <a:lstStyle/>
          <a:p>
            <a:pPr algn="l">
              <a:spcAft>
                <a:spcPts val="0"/>
              </a:spcAft>
            </a:pPr>
            <a:r>
              <a:rPr sz="1000" b="1" i="0">
                <a:solidFill>
                  <a:srgbClr val="1F497D"/>
                </a:solidFill>
                <a:latin typeface="Arial"/>
              </a:rPr>
              <a:t>ARRIVAL BASELINES IN CIRCULATION</a:t>
            </a:r>
          </a:p>
        </p:txBody>
      </p:sp>
      <p:sp>
        <p:nvSpPr>
          <p:cNvPr id="11" name="TextBox 10"/>
          <p:cNvSpPr txBox="1"/>
          <p:nvPr/>
        </p:nvSpPr>
        <p:spPr>
          <a:xfrm>
            <a:off x="7207072" y="1645920"/>
            <a:ext cx="960120" cy="457200"/>
          </a:xfrm>
          <a:prstGeom prst="rect">
            <a:avLst/>
          </a:prstGeom>
          <a:noFill/>
        </p:spPr>
        <p:txBody>
          <a:bodyPr wrap="square" anchor="t" lIns="0" rIns="0" tIns="0" bIns="0">
            <a:spAutoFit/>
          </a:bodyPr>
          <a:lstStyle/>
          <a:p>
            <a:pPr algn="l">
              <a:spcAft>
                <a:spcPts val="0"/>
              </a:spcAft>
            </a:pPr>
            <a:r>
              <a:rPr sz="1200" b="1" i="0">
                <a:solidFill>
                  <a:srgbClr val="1F497D"/>
                </a:solidFill>
                <a:latin typeface="Arial"/>
              </a:rPr>
              <a:t>1.4m</a:t>
            </a:r>
          </a:p>
        </p:txBody>
      </p:sp>
      <p:sp>
        <p:nvSpPr>
          <p:cNvPr id="12" name="TextBox 11"/>
          <p:cNvSpPr txBox="1"/>
          <p:nvPr/>
        </p:nvSpPr>
        <p:spPr>
          <a:xfrm>
            <a:off x="8212912" y="1664208"/>
            <a:ext cx="3521583" cy="457200"/>
          </a:xfrm>
          <a:prstGeom prst="rect">
            <a:avLst/>
          </a:prstGeom>
          <a:noFill/>
        </p:spPr>
        <p:txBody>
          <a:bodyPr wrap="square" anchor="t" lIns="0" rIns="0" tIns="0" bIns="0">
            <a:spAutoFit/>
          </a:bodyPr>
          <a:lstStyle/>
          <a:p>
            <a:pPr algn="l">
              <a:spcAft>
                <a:spcPts val="0"/>
              </a:spcAft>
            </a:pPr>
            <a:r>
              <a:rPr sz="900" b="0" i="0">
                <a:solidFill>
                  <a:srgbClr val="404040"/>
                </a:solidFill>
                <a:latin typeface="Arial"/>
              </a:rPr>
              <a:t>international tourist arrivals, base of the 2.8m goal (RFP s2)</a:t>
            </a:r>
          </a:p>
        </p:txBody>
      </p:sp>
      <p:sp>
        <p:nvSpPr>
          <p:cNvPr id="13" name="TextBox 12"/>
          <p:cNvSpPr txBox="1"/>
          <p:nvPr/>
        </p:nvSpPr>
        <p:spPr>
          <a:xfrm>
            <a:off x="7207072" y="2157984"/>
            <a:ext cx="960120" cy="457200"/>
          </a:xfrm>
          <a:prstGeom prst="rect">
            <a:avLst/>
          </a:prstGeom>
          <a:noFill/>
        </p:spPr>
        <p:txBody>
          <a:bodyPr wrap="square" anchor="t" lIns="0" rIns="0" tIns="0" bIns="0">
            <a:spAutoFit/>
          </a:bodyPr>
          <a:lstStyle/>
          <a:p>
            <a:pPr algn="l">
              <a:spcAft>
                <a:spcPts val="0"/>
              </a:spcAft>
            </a:pPr>
            <a:r>
              <a:rPr sz="1200" b="1" i="0">
                <a:solidFill>
                  <a:srgbClr val="1F497D"/>
                </a:solidFill>
                <a:latin typeface="Arial"/>
              </a:rPr>
              <a:t>1.44m</a:t>
            </a:r>
          </a:p>
        </p:txBody>
      </p:sp>
      <p:sp>
        <p:nvSpPr>
          <p:cNvPr id="14" name="TextBox 13"/>
          <p:cNvSpPr txBox="1"/>
          <p:nvPr/>
        </p:nvSpPr>
        <p:spPr>
          <a:xfrm>
            <a:off x="8212912" y="2176272"/>
            <a:ext cx="3521583" cy="457200"/>
          </a:xfrm>
          <a:prstGeom prst="rect">
            <a:avLst/>
          </a:prstGeom>
          <a:noFill/>
        </p:spPr>
        <p:txBody>
          <a:bodyPr wrap="square" anchor="t" lIns="0" rIns="0" tIns="0" bIns="0">
            <a:spAutoFit/>
          </a:bodyPr>
          <a:lstStyle/>
          <a:p>
            <a:pPr algn="l">
              <a:spcAft>
                <a:spcPts val="0"/>
              </a:spcAft>
            </a:pPr>
            <a:r>
              <a:rPr sz="900" b="0" i="0">
                <a:solidFill>
                  <a:srgbClr val="404040"/>
                </a:solidFill>
                <a:latin typeface="Arial"/>
              </a:rPr>
              <a:t>Cape Town airport international passenger arrivals, FY24/25 (Diagnostic p25)</a:t>
            </a:r>
          </a:p>
        </p:txBody>
      </p:sp>
      <p:sp>
        <p:nvSpPr>
          <p:cNvPr id="15" name="TextBox 14"/>
          <p:cNvSpPr txBox="1"/>
          <p:nvPr/>
        </p:nvSpPr>
        <p:spPr>
          <a:xfrm>
            <a:off x="7207072" y="2670048"/>
            <a:ext cx="960120" cy="457200"/>
          </a:xfrm>
          <a:prstGeom prst="rect">
            <a:avLst/>
          </a:prstGeom>
          <a:noFill/>
        </p:spPr>
        <p:txBody>
          <a:bodyPr wrap="square" anchor="t" lIns="0" rIns="0" tIns="0" bIns="0">
            <a:spAutoFit/>
          </a:bodyPr>
          <a:lstStyle/>
          <a:p>
            <a:pPr algn="l">
              <a:spcAft>
                <a:spcPts val="0"/>
              </a:spcAft>
            </a:pPr>
            <a:r>
              <a:rPr sz="1200" b="1" i="0">
                <a:solidFill>
                  <a:srgbClr val="1F497D"/>
                </a:solidFill>
                <a:latin typeface="Arial"/>
              </a:rPr>
              <a:t>1.445m</a:t>
            </a:r>
          </a:p>
        </p:txBody>
      </p:sp>
      <p:sp>
        <p:nvSpPr>
          <p:cNvPr id="16" name="TextBox 15"/>
          <p:cNvSpPr txBox="1"/>
          <p:nvPr/>
        </p:nvSpPr>
        <p:spPr>
          <a:xfrm>
            <a:off x="8212912" y="2688336"/>
            <a:ext cx="3521583" cy="457200"/>
          </a:xfrm>
          <a:prstGeom prst="rect">
            <a:avLst/>
          </a:prstGeom>
          <a:noFill/>
        </p:spPr>
        <p:txBody>
          <a:bodyPr wrap="square" anchor="t" lIns="0" rIns="0" tIns="0" bIns="0">
            <a:spAutoFit/>
          </a:bodyPr>
          <a:lstStyle/>
          <a:p>
            <a:pPr algn="l">
              <a:spcAft>
                <a:spcPts val="0"/>
              </a:spcAft>
            </a:pPr>
            <a:r>
              <a:rPr sz="900" b="0" i="0">
                <a:solidFill>
                  <a:srgbClr val="404040"/>
                </a:solidFill>
                <a:latin typeface="Arial"/>
              </a:rPr>
              <a:t>modelled international arrivals, 2024 (Demand-Side p19)</a:t>
            </a:r>
          </a:p>
        </p:txBody>
      </p:sp>
      <p:sp>
        <p:nvSpPr>
          <p:cNvPr id="17" name="TextBox 16"/>
          <p:cNvSpPr txBox="1"/>
          <p:nvPr/>
        </p:nvSpPr>
        <p:spPr>
          <a:xfrm>
            <a:off x="7207072" y="3182112"/>
            <a:ext cx="960120" cy="457200"/>
          </a:xfrm>
          <a:prstGeom prst="rect">
            <a:avLst/>
          </a:prstGeom>
          <a:noFill/>
        </p:spPr>
        <p:txBody>
          <a:bodyPr wrap="square" anchor="t" lIns="0" rIns="0" tIns="0" bIns="0">
            <a:spAutoFit/>
          </a:bodyPr>
          <a:lstStyle/>
          <a:p>
            <a:pPr algn="l">
              <a:spcAft>
                <a:spcPts val="0"/>
              </a:spcAft>
            </a:pPr>
            <a:r>
              <a:rPr sz="1200" b="1" i="0">
                <a:solidFill>
                  <a:srgbClr val="1F497D"/>
                </a:solidFill>
                <a:latin typeface="Arial"/>
              </a:rPr>
              <a:t>1.57m</a:t>
            </a:r>
          </a:p>
        </p:txBody>
      </p:sp>
      <p:sp>
        <p:nvSpPr>
          <p:cNvPr id="18" name="TextBox 17"/>
          <p:cNvSpPr txBox="1"/>
          <p:nvPr/>
        </p:nvSpPr>
        <p:spPr>
          <a:xfrm>
            <a:off x="8212912" y="3200400"/>
            <a:ext cx="3521583" cy="457200"/>
          </a:xfrm>
          <a:prstGeom prst="rect">
            <a:avLst/>
          </a:prstGeom>
          <a:noFill/>
        </p:spPr>
        <p:txBody>
          <a:bodyPr wrap="square" anchor="t" lIns="0" rIns="0" tIns="0" bIns="0">
            <a:spAutoFit/>
          </a:bodyPr>
          <a:lstStyle/>
          <a:p>
            <a:pPr algn="l">
              <a:spcAft>
                <a:spcPts val="0"/>
              </a:spcAft>
            </a:pPr>
            <a:r>
              <a:rPr sz="900" b="0" i="0">
                <a:solidFill>
                  <a:srgbClr val="404040"/>
                </a:solidFill>
                <a:latin typeface="Arial"/>
              </a:rPr>
              <a:t>airport international passenger arrivals, FY25/26 (Demand-Side)</a:t>
            </a:r>
          </a:p>
        </p:txBody>
      </p:sp>
      <p:sp>
        <p:nvSpPr>
          <p:cNvPr id="19" name="TextBox 18"/>
          <p:cNvSpPr txBox="1"/>
          <p:nvPr/>
        </p:nvSpPr>
        <p:spPr>
          <a:xfrm>
            <a:off x="7207072" y="3694176"/>
            <a:ext cx="960120" cy="457200"/>
          </a:xfrm>
          <a:prstGeom prst="rect">
            <a:avLst/>
          </a:prstGeom>
          <a:noFill/>
        </p:spPr>
        <p:txBody>
          <a:bodyPr wrap="square" anchor="t" lIns="0" rIns="0" tIns="0" bIns="0">
            <a:spAutoFit/>
          </a:bodyPr>
          <a:lstStyle/>
          <a:p>
            <a:pPr algn="l">
              <a:spcAft>
                <a:spcPts val="0"/>
              </a:spcAft>
            </a:pPr>
            <a:r>
              <a:rPr sz="1200" b="1" i="0">
                <a:solidFill>
                  <a:srgbClr val="1F497D"/>
                </a:solidFill>
                <a:latin typeface="Arial"/>
              </a:rPr>
              <a:t>1.62m</a:t>
            </a:r>
          </a:p>
        </p:txBody>
      </p:sp>
      <p:sp>
        <p:nvSpPr>
          <p:cNvPr id="20" name="TextBox 19"/>
          <p:cNvSpPr txBox="1"/>
          <p:nvPr/>
        </p:nvSpPr>
        <p:spPr>
          <a:xfrm>
            <a:off x="8212912" y="3712463"/>
            <a:ext cx="3521583" cy="457200"/>
          </a:xfrm>
          <a:prstGeom prst="rect">
            <a:avLst/>
          </a:prstGeom>
          <a:noFill/>
        </p:spPr>
        <p:txBody>
          <a:bodyPr wrap="square" anchor="t" lIns="0" rIns="0" tIns="0" bIns="0">
            <a:spAutoFit/>
          </a:bodyPr>
          <a:lstStyle/>
          <a:p>
            <a:pPr algn="l">
              <a:spcAft>
                <a:spcPts val="0"/>
              </a:spcAft>
            </a:pPr>
            <a:r>
              <a:rPr sz="900" b="0" i="0">
                <a:solidFill>
                  <a:srgbClr val="404040"/>
                </a:solidFill>
                <a:latin typeface="Arial"/>
              </a:rPr>
              <a:t>Cape Town international arrivals baseline (City TDF 2024)</a:t>
            </a:r>
          </a:p>
        </p:txBody>
      </p:sp>
      <p:sp>
        <p:nvSpPr>
          <p:cNvPr id="21" name="TextBox 20"/>
          <p:cNvSpPr txBox="1"/>
          <p:nvPr/>
        </p:nvSpPr>
        <p:spPr>
          <a:xfrm>
            <a:off x="7207072" y="4206240"/>
            <a:ext cx="960120" cy="457200"/>
          </a:xfrm>
          <a:prstGeom prst="rect">
            <a:avLst/>
          </a:prstGeom>
          <a:noFill/>
        </p:spPr>
        <p:txBody>
          <a:bodyPr wrap="square" anchor="t" lIns="0" rIns="0" tIns="0" bIns="0">
            <a:spAutoFit/>
          </a:bodyPr>
          <a:lstStyle/>
          <a:p>
            <a:pPr algn="l">
              <a:spcAft>
                <a:spcPts val="0"/>
              </a:spcAft>
            </a:pPr>
            <a:r>
              <a:rPr sz="1200" b="1" i="0">
                <a:solidFill>
                  <a:srgbClr val="1F497D"/>
                </a:solidFill>
                <a:latin typeface="Arial"/>
              </a:rPr>
              <a:t>932,831</a:t>
            </a:r>
          </a:p>
        </p:txBody>
      </p:sp>
      <p:sp>
        <p:nvSpPr>
          <p:cNvPr id="22" name="TextBox 21"/>
          <p:cNvSpPr txBox="1"/>
          <p:nvPr/>
        </p:nvSpPr>
        <p:spPr>
          <a:xfrm>
            <a:off x="8212912" y="4224528"/>
            <a:ext cx="3521583" cy="457200"/>
          </a:xfrm>
          <a:prstGeom prst="rect">
            <a:avLst/>
          </a:prstGeom>
          <a:noFill/>
        </p:spPr>
        <p:txBody>
          <a:bodyPr wrap="square" anchor="t" lIns="0" rIns="0" tIns="0" bIns="0">
            <a:spAutoFit/>
          </a:bodyPr>
          <a:lstStyle/>
          <a:p>
            <a:pPr algn="l">
              <a:spcAft>
                <a:spcPts val="0"/>
              </a:spcAft>
            </a:pPr>
            <a:r>
              <a:rPr sz="900" b="0" i="0">
                <a:solidFill>
                  <a:srgbClr val="404040"/>
                </a:solidFill>
                <a:latin typeface="Arial"/>
              </a:rPr>
              <a:t>airport overnight international visitors, 2024 (PERO 2025)</a:t>
            </a:r>
          </a:p>
        </p:txBody>
      </p:sp>
      <p:sp>
        <p:nvSpPr>
          <p:cNvPr id="23" name="TextBox 22"/>
          <p:cNvSpPr txBox="1"/>
          <p:nvPr/>
        </p:nvSpPr>
        <p:spPr>
          <a:xfrm>
            <a:off x="7207072" y="4718304"/>
            <a:ext cx="960120" cy="457200"/>
          </a:xfrm>
          <a:prstGeom prst="rect">
            <a:avLst/>
          </a:prstGeom>
          <a:noFill/>
        </p:spPr>
        <p:txBody>
          <a:bodyPr wrap="square" anchor="t" lIns="0" rIns="0" tIns="0" bIns="0">
            <a:spAutoFit/>
          </a:bodyPr>
          <a:lstStyle/>
          <a:p>
            <a:pPr algn="l">
              <a:spcAft>
                <a:spcPts val="0"/>
              </a:spcAft>
            </a:pPr>
            <a:r>
              <a:rPr sz="1200" b="1" i="0">
                <a:solidFill>
                  <a:srgbClr val="1F497D"/>
                </a:solidFill>
                <a:latin typeface="Arial"/>
              </a:rPr>
              <a:t>3.1m</a:t>
            </a:r>
          </a:p>
        </p:txBody>
      </p:sp>
      <p:sp>
        <p:nvSpPr>
          <p:cNvPr id="24" name="TextBox 23"/>
          <p:cNvSpPr txBox="1"/>
          <p:nvPr/>
        </p:nvSpPr>
        <p:spPr>
          <a:xfrm>
            <a:off x="8212912" y="4736592"/>
            <a:ext cx="3521583" cy="457200"/>
          </a:xfrm>
          <a:prstGeom prst="rect">
            <a:avLst/>
          </a:prstGeom>
          <a:noFill/>
        </p:spPr>
        <p:txBody>
          <a:bodyPr wrap="square" anchor="t" lIns="0" rIns="0" tIns="0" bIns="0">
            <a:spAutoFit/>
          </a:bodyPr>
          <a:lstStyle/>
          <a:p>
            <a:pPr algn="l">
              <a:spcAft>
                <a:spcPts val="0"/>
              </a:spcAft>
            </a:pPr>
            <a:r>
              <a:rPr sz="900" b="0" i="0">
                <a:solidFill>
                  <a:srgbClr val="404040"/>
                </a:solidFill>
                <a:latin typeface="Arial"/>
              </a:rPr>
              <a:t>airport two-way international passengers, 2024 (CTAA update)</a:t>
            </a:r>
          </a:p>
        </p:txBody>
      </p:sp>
      <p:sp>
        <p:nvSpPr>
          <p:cNvPr id="25" name="TextBox 24"/>
          <p:cNvSpPr txBox="1"/>
          <p:nvPr/>
        </p:nvSpPr>
        <p:spPr>
          <a:xfrm>
            <a:off x="7207072" y="5230368"/>
            <a:ext cx="960120" cy="457200"/>
          </a:xfrm>
          <a:prstGeom prst="rect">
            <a:avLst/>
          </a:prstGeom>
          <a:noFill/>
        </p:spPr>
        <p:txBody>
          <a:bodyPr wrap="square" anchor="t" lIns="0" rIns="0" tIns="0" bIns="0">
            <a:spAutoFit/>
          </a:bodyPr>
          <a:lstStyle/>
          <a:p>
            <a:pPr algn="l">
              <a:spcAft>
                <a:spcPts val="0"/>
              </a:spcAft>
            </a:pPr>
            <a:r>
              <a:rPr sz="1200" b="1" i="0">
                <a:solidFill>
                  <a:srgbClr val="1F497D"/>
                </a:solidFill>
                <a:latin typeface="Arial"/>
              </a:rPr>
              <a:t>5.7m</a:t>
            </a:r>
          </a:p>
        </p:txBody>
      </p:sp>
      <p:sp>
        <p:nvSpPr>
          <p:cNvPr id="26" name="TextBox 25"/>
          <p:cNvSpPr txBox="1"/>
          <p:nvPr/>
        </p:nvSpPr>
        <p:spPr>
          <a:xfrm>
            <a:off x="8212912" y="5248656"/>
            <a:ext cx="3521583" cy="457200"/>
          </a:xfrm>
          <a:prstGeom prst="rect">
            <a:avLst/>
          </a:prstGeom>
          <a:noFill/>
        </p:spPr>
        <p:txBody>
          <a:bodyPr wrap="square" anchor="t" lIns="0" rIns="0" tIns="0" bIns="0">
            <a:spAutoFit/>
          </a:bodyPr>
          <a:lstStyle/>
          <a:p>
            <a:pPr algn="l">
              <a:spcAft>
                <a:spcPts val="0"/>
              </a:spcAft>
            </a:pPr>
            <a:r>
              <a:rPr sz="900" b="0" i="0">
                <a:solidFill>
                  <a:srgbClr val="404040"/>
                </a:solidFill>
                <a:latin typeface="Arial"/>
              </a:rPr>
              <a:t>pre-COVID long-term arrivals target (Tourism Blueprint 2030)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