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International arrivals (m)</c:v>
                </c:pt>
              </c:strCache>
            </c:strRef>
          </c:tx>
          <c:spPr>
            <a:solidFill>
              <a:srgbClr val="00AEEF"/>
            </a:solidFill>
          </c:spPr>
          <c:dPt>
            <c:idx val="0"/>
            <c:spPr>
              <a:solidFill>
                <a:srgbClr val="D9D9D9"/>
              </a:solidFill>
            </c:spPr>
          </c:dPt>
          <c:dPt>
            <c:idx val="1"/>
            <c:spPr>
              <a:solidFill>
                <a:srgbClr val="4F81BD"/>
              </a:solidFill>
            </c:spPr>
          </c:dPt>
          <c:dPt>
            <c:idx val="2"/>
            <c:spPr>
              <a:solidFill>
                <a:srgbClr val="4F81BD"/>
              </a:solidFill>
            </c:spPr>
          </c:dPt>
          <c:dPt>
            <c:idx val="3"/>
            <c:spPr>
              <a:solidFill>
                <a:srgbClr val="00AEEF"/>
              </a:solidFill>
            </c:spPr>
          </c:dPt>
          <c:dPt>
            <c:idx val="4"/>
            <c:spPr>
              <a:solidFill>
                <a:srgbClr val="1F497D"/>
              </a:solidFill>
            </c:spPr>
          </c:dPt>
          <c:cat>
            <c:strRef>
              <c:f>Sheet1!$A$2:$A$6</c:f>
              <c:strCache>
                <c:ptCount val="5"/>
                <c:pt idx="0">
                  <c:v>2024 base</c:v>
                </c:pt>
                <c:pt idx="1">
                  <c:v>Conservative 2035</c:v>
                </c:pt>
                <c:pt idx="2">
                  <c:v>Base 2035</c:v>
                </c:pt>
                <c:pt idx="3">
                  <c:v>Accelerated 2035</c:v>
                </c:pt>
                <c:pt idx="4">
                  <c:v>Goal 2035</c:v>
                </c:pt>
              </c:strCache>
            </c:strRef>
          </c:cat>
          <c:val>
            <c:numRef>
              <c:f>Sheet1!$B$2:$B$6</c:f>
              <c:numCache>
                <c:formatCode>General</c:formatCode>
                <c:ptCount val="5"/>
                <c:pt idx="0">
                  <c:v>1.445</c:v>
                </c:pt>
                <c:pt idx="1">
                  <c:v>1.823</c:v>
                </c:pt>
                <c:pt idx="2">
                  <c:v>2.176</c:v>
                </c:pt>
                <c:pt idx="3">
                  <c:v>2.516</c:v>
                </c:pt>
                <c:pt idx="4">
                  <c:v>2.8</c:v>
                </c:pt>
              </c:numCache>
            </c:numRef>
          </c:val>
        </c:ser>
        <c:dLbls>
          <c:numFmt formatCode="0.00&quot;m&quot;" sourceLinked="0"/>
          <c:txPr>
            <a:bodyPr/>
            <a:lstStyle/>
            <a:p>
              <a:pPr>
                <a:defRPr sz="1000">
                  <a:solidFill>
                    <a:srgbClr val="404040"/>
                  </a:solidFill>
                </a:defRPr>
              </a:pPr>
            </a:p>
          </c:txPr>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1000"/>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1000"/>
            </a:pPr>
          </a:p>
        </c:txPr>
        <c:crossAx val="-2068027336"/>
        <c:crosses val="autoZero"/>
      </c:valAx>
    </c:plotArea>
    <c:dispBlanksAs val="gap"/>
  </c:chart>
  <c:txPr>
    <a:bodyPr/>
    <a:lstStyle/>
    <a:p>
      <a:pPr>
        <a:defRPr sz="1000">
          <a:solidFill>
            <a:srgbClr val="40404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annual international seats (%)</c:v>
                </c:pt>
              </c:strCache>
            </c:strRef>
          </c:tx>
          <c:spPr>
            <a:solidFill>
              <a:srgbClr val="00AEEF"/>
            </a:solidFill>
          </c:spPr>
          <c:dPt>
            <c:idx val="4"/>
            <c:spPr>
              <a:solidFill>
                <a:srgbClr val="D9D9D9"/>
              </a:solidFill>
            </c:spPr>
          </c:dPt>
          <c:dPt>
            <c:idx val="5"/>
            <c:spPr>
              <a:solidFill>
                <a:srgbClr val="D9D9D9"/>
              </a:solidFill>
            </c:spPr>
          </c:dPt>
          <c:dPt>
            <c:idx val="6"/>
            <c:spPr>
              <a:solidFill>
                <a:srgbClr val="D9D9D9"/>
              </a:solidFill>
            </c:spPr>
          </c:dPt>
          <c:dPt>
            <c:idx val="7"/>
            <c:spPr>
              <a:solidFill>
                <a:srgbClr val="D9D9D9"/>
              </a:solidFill>
            </c:spPr>
          </c:dPt>
          <c:dPt>
            <c:idx val="8"/>
            <c:spPr>
              <a:solidFill>
                <a:srgbClr val="D9D9D9"/>
              </a:solidFill>
            </c:spPr>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9.8</c:v>
                </c:pt>
                <c:pt idx="1">
                  <c:v>8.8</c:v>
                </c:pt>
                <c:pt idx="2">
                  <c:v>9.7</c:v>
                </c:pt>
                <c:pt idx="3">
                  <c:v>7.8</c:v>
                </c:pt>
                <c:pt idx="4">
                  <c:v>6.9</c:v>
                </c:pt>
                <c:pt idx="5">
                  <c:v>6.4</c:v>
                </c:pt>
                <c:pt idx="6">
                  <c:v>6.9</c:v>
                </c:pt>
                <c:pt idx="7">
                  <c:v>6.9</c:v>
                </c:pt>
                <c:pt idx="8">
                  <c:v>6.9</c:v>
                </c:pt>
                <c:pt idx="9">
                  <c:v>8.7</c:v>
                </c:pt>
                <c:pt idx="10">
                  <c:v>10.3</c:v>
                </c:pt>
                <c:pt idx="11">
                  <c:v>10.8</c:v>
                </c:pt>
              </c:numCache>
            </c:numRef>
          </c:val>
        </c:ser>
        <c:dLbls>
          <c:numFmt formatCode="0.0" sourceLinked="0"/>
          <c:txPr>
            <a:bodyPr/>
            <a:lstStyle/>
            <a:p>
              <a:pPr>
                <a:defRPr sz="950">
                  <a:solidFill>
                    <a:srgbClr val="404040"/>
                  </a:solidFill>
                </a:defRPr>
              </a:pPr>
            </a:p>
          </c:txPr>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50"/>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950"/>
            </a:pPr>
          </a:p>
        </c:txPr>
        <c:crossAx val="-2068027336"/>
        <c:crosses val="autoZero"/>
      </c:valAx>
    </c:plotArea>
    <c:dispBlanksAs val="gap"/>
  </c:chart>
  <c:txPr>
    <a:bodyPr/>
    <a:lstStyle/>
    <a:p>
      <a:pPr>
        <a:defRPr sz="950">
          <a:solidFill>
            <a:srgbClr val="40404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Load factor %</c:v>
                </c:pt>
              </c:strCache>
            </c:strRef>
          </c:tx>
          <c:spPr>
            <a:solidFill>
              <a:srgbClr val="00AEEF"/>
            </a:solidFill>
          </c:spPr>
          <c:dPt>
            <c:idx val="0"/>
            <c:spPr>
              <a:solidFill>
                <a:srgbClr val="00AEEF"/>
              </a:solidFill>
            </c:spPr>
          </c:dPt>
          <c:dPt>
            <c:idx val="1"/>
            <c:spPr>
              <a:solidFill>
                <a:srgbClr val="00AEEF"/>
              </a:solidFill>
            </c:spPr>
          </c:dPt>
          <c:dPt>
            <c:idx val="2"/>
            <c:spPr>
              <a:solidFill>
                <a:srgbClr val="00AEEF"/>
              </a:solidFill>
            </c:spPr>
          </c:dPt>
          <c:dPt>
            <c:idx val="3"/>
            <c:spPr>
              <a:solidFill>
                <a:srgbClr val="00AEEF"/>
              </a:solidFill>
            </c:spPr>
          </c:dPt>
          <c:dPt>
            <c:idx val="4"/>
            <c:spPr>
              <a:solidFill>
                <a:srgbClr val="00AEEF"/>
              </a:solidFill>
            </c:spPr>
          </c:dPt>
          <c:dPt>
            <c:idx val="5"/>
            <c:spPr>
              <a:solidFill>
                <a:srgbClr val="00AEEF"/>
              </a:solidFill>
            </c:spPr>
          </c:dPt>
          <c:dPt>
            <c:idx val="6"/>
            <c:spPr>
              <a:solidFill>
                <a:srgbClr val="00AEEF"/>
              </a:solidFill>
            </c:spPr>
          </c:dPt>
          <c:dPt>
            <c:idx val="7"/>
            <c:spPr>
              <a:solidFill>
                <a:srgbClr val="00AEEF"/>
              </a:solidFill>
            </c:spPr>
          </c:dPt>
          <c:dPt>
            <c:idx val="8"/>
            <c:spPr>
              <a:solidFill>
                <a:srgbClr val="00AEEF"/>
              </a:solidFill>
            </c:spPr>
          </c:dPt>
          <c:dPt>
            <c:idx val="9"/>
            <c:spPr>
              <a:solidFill>
                <a:srgbClr val="00AEEF"/>
              </a:solidFill>
            </c:spPr>
          </c:dPt>
          <c:dPt>
            <c:idx val="10"/>
            <c:spPr>
              <a:solidFill>
                <a:srgbClr val="00AEEF"/>
              </a:solidFill>
            </c:spPr>
          </c:dPt>
          <c:dPt>
            <c:idx val="11"/>
            <c:spPr>
              <a:solidFill>
                <a:srgbClr val="4F81BD"/>
              </a:solidFill>
            </c:spPr>
          </c:dPt>
          <c:dPt>
            <c:idx val="12"/>
            <c:spPr>
              <a:solidFill>
                <a:srgbClr val="4F81BD"/>
              </a:solidFill>
            </c:spPr>
          </c:dPt>
          <c:dPt>
            <c:idx val="13"/>
            <c:spPr>
              <a:solidFill>
                <a:srgbClr val="4F81BD"/>
              </a:solidFill>
            </c:spPr>
          </c:dPt>
          <c:dPt>
            <c:idx val="14"/>
            <c:spPr>
              <a:solidFill>
                <a:srgbClr val="4F81BD"/>
              </a:solidFill>
            </c:spPr>
          </c:dPt>
          <c:dPt>
            <c:idx val="15"/>
            <c:spPr>
              <a:solidFill>
                <a:srgbClr val="4F81BD"/>
              </a:solidFill>
            </c:spPr>
          </c:dPt>
          <c:dPt>
            <c:idx val="16"/>
            <c:spPr>
              <a:solidFill>
                <a:srgbClr val="4F81BD"/>
              </a:solidFill>
            </c:spPr>
          </c:dPt>
          <c:dPt>
            <c:idx val="17"/>
            <c:spPr>
              <a:solidFill>
                <a:srgbClr val="4F81BD"/>
              </a:solidFill>
            </c:spPr>
          </c:dPt>
          <c:dPt>
            <c:idx val="18"/>
            <c:spPr>
              <a:solidFill>
                <a:srgbClr val="4F81BD"/>
              </a:solidFill>
            </c:spPr>
          </c:dPt>
          <c:dPt>
            <c:idx val="19"/>
            <c:spPr>
              <a:solidFill>
                <a:srgbClr val="D9D9D9"/>
              </a:solidFill>
            </c:spPr>
          </c:dPt>
          <c:dPt>
            <c:idx val="20"/>
            <c:spPr>
              <a:solidFill>
                <a:srgbClr val="D9D9D9"/>
              </a:solidFill>
            </c:spPr>
          </c:dPt>
          <c:dPt>
            <c:idx val="21"/>
            <c:spPr>
              <a:solidFill>
                <a:srgbClr val="D9D9D9"/>
              </a:solidFill>
            </c:spPr>
          </c:dPt>
          <c:cat>
            <c:strRef>
              <c:f>Sheet1!$A$2:$A$23</c:f>
              <c:strCache>
                <c:ptCount val="22"/>
                <c:pt idx="0">
                  <c:v>Newark</c:v>
                </c:pt>
                <c:pt idx="1">
                  <c:v>Luanda NBJ</c:v>
                </c:pt>
                <c:pt idx="2">
                  <c:v>Atlanta</c:v>
                </c:pt>
                <c:pt idx="3">
                  <c:v>Luanda LAD</c:v>
                </c:pt>
                <c:pt idx="4">
                  <c:v>Maputo</c:v>
                </c:pt>
                <c:pt idx="5">
                  <c:v>Frankfurt</c:v>
                </c:pt>
                <c:pt idx="6">
                  <c:v>Heathrow</c:v>
                </c:pt>
                <c:pt idx="7">
                  <c:v>Gaborone</c:v>
                </c:pt>
                <c:pt idx="8">
                  <c:v>Mauritius</c:v>
                </c:pt>
                <c:pt idx="9">
                  <c:v>Harare</c:v>
                </c:pt>
                <c:pt idx="10">
                  <c:v>Washington</c:v>
                </c:pt>
                <c:pt idx="11">
                  <c:v>Windhoek</c:v>
                </c:pt>
                <c:pt idx="12">
                  <c:v>Paris</c:v>
                </c:pt>
                <c:pt idx="13">
                  <c:v>Istanbul</c:v>
                </c:pt>
                <c:pt idx="14">
                  <c:v>Amsterdam</c:v>
                </c:pt>
                <c:pt idx="15">
                  <c:v>Munich</c:v>
                </c:pt>
                <c:pt idx="16">
                  <c:v>Zurich</c:v>
                </c:pt>
                <c:pt idx="17">
                  <c:v>Dubai</c:v>
                </c:pt>
                <c:pt idx="18">
                  <c:v>Addis Ababa</c:v>
                </c:pt>
                <c:pt idx="19">
                  <c:v>Doha</c:v>
                </c:pt>
                <c:pt idx="20">
                  <c:v>Victoria Falls</c:v>
                </c:pt>
                <c:pt idx="21">
                  <c:v>Livingstone</c:v>
                </c:pt>
              </c:strCache>
            </c:strRef>
          </c:cat>
          <c:val>
            <c:numRef>
              <c:f>Sheet1!$B$2:$B$23</c:f>
              <c:numCache>
                <c:formatCode>General</c:formatCode>
                <c:ptCount val="22"/>
                <c:pt idx="0">
                  <c:v>88.6</c:v>
                </c:pt>
                <c:pt idx="1">
                  <c:v>86.2</c:v>
                </c:pt>
                <c:pt idx="2">
                  <c:v>84.3</c:v>
                </c:pt>
                <c:pt idx="3">
                  <c:v>83.4</c:v>
                </c:pt>
                <c:pt idx="4">
                  <c:v>83.3</c:v>
                </c:pt>
                <c:pt idx="5">
                  <c:v>83.0</c:v>
                </c:pt>
                <c:pt idx="6">
                  <c:v>83.0</c:v>
                </c:pt>
                <c:pt idx="7">
                  <c:v>82.3</c:v>
                </c:pt>
                <c:pt idx="8">
                  <c:v>81.8</c:v>
                </c:pt>
                <c:pt idx="9">
                  <c:v>81.3</c:v>
                </c:pt>
                <c:pt idx="10">
                  <c:v>80.2</c:v>
                </c:pt>
                <c:pt idx="11">
                  <c:v>78.5</c:v>
                </c:pt>
                <c:pt idx="12">
                  <c:v>76.7</c:v>
                </c:pt>
                <c:pt idx="13">
                  <c:v>75.5</c:v>
                </c:pt>
                <c:pt idx="14">
                  <c:v>75.4</c:v>
                </c:pt>
                <c:pt idx="15">
                  <c:v>74.0</c:v>
                </c:pt>
                <c:pt idx="16">
                  <c:v>72.8</c:v>
                </c:pt>
                <c:pt idx="17">
                  <c:v>72.3</c:v>
                </c:pt>
                <c:pt idx="18">
                  <c:v>71.9</c:v>
                </c:pt>
                <c:pt idx="19">
                  <c:v>65.2</c:v>
                </c:pt>
                <c:pt idx="20">
                  <c:v>51.9</c:v>
                </c:pt>
                <c:pt idx="21">
                  <c:v>19.6</c:v>
                </c:pt>
              </c:numCache>
            </c:numRef>
          </c:val>
        </c:ser>
        <c:dLbls>
          <c:numFmt formatCode="0" sourceLinked="0"/>
          <c:txPr>
            <a:bodyPr/>
            <a:lstStyle/>
            <a:p>
              <a:pPr>
                <a:defRPr sz="850">
                  <a:solidFill>
                    <a:srgbClr val="404040"/>
                  </a:solidFill>
                </a:defRPr>
              </a:pPr>
            </a:p>
          </c:txPr>
          <c:showLegendKey val="0"/>
          <c:showVal val="1"/>
          <c:showCatName val="0"/>
          <c:showSerName val="0"/>
          <c:showPercent val="0"/>
          <c:showBubbleSize val="0"/>
          <c:showLeaderLines val="1"/>
        </c:dLbls>
        <c:gapWidth val="30"/>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850"/>
            </a:pPr>
          </a:p>
        </c:txPr>
        <c:crossAx val="-2113994440"/>
        <c:crosses val="autoZero"/>
        <c:auto val="1"/>
        <c:lblAlgn val="ctr"/>
        <c:lblOffset val="100"/>
        <c:noMultiLvlLbl val="0"/>
      </c:catAx>
      <c:valAx>
        <c:axId val="-2113994440"/>
        <c:scaling/>
        <c:delete/>
        <c:axPos val="b"/>
        <c:majorTickMark val="out"/>
        <c:minorTickMark val="none"/>
        <c:tickLblPos val="nextTo"/>
        <c:txPr>
          <a:bodyPr/>
          <a:lstStyle/>
          <a:p>
            <a:pPr>
              <a:defRPr sz="850"/>
            </a:pPr>
          </a:p>
        </c:txPr>
        <c:crossAx val="-2068027336"/>
        <c:crosses val="autoZero"/>
      </c:valAx>
    </c:plotArea>
    <c:dispBlanksAs val="gap"/>
  </c:chart>
  <c:txPr>
    <a:bodyPr/>
    <a:lstStyle/>
    <a:p>
      <a:pPr>
        <a:defRPr sz="850">
          <a:solidFill>
            <a:srgbClr val="40404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Mainline routes added</c:v>
                </c:pt>
              </c:strCache>
            </c:strRef>
          </c:tx>
          <c:spPr>
            <a:solidFill>
              <a:srgbClr val="00AEEF"/>
            </a:solidFill>
          </c:spPr>
          <c:dPt>
            <c:idx val="0"/>
            <c:spPr>
              <a:solidFill>
                <a:srgbClr val="1F497D"/>
              </a:solidFill>
            </c:spPr>
          </c:dPt>
          <c:cat>
            <c:strRef>
              <c:f>Sheet1!$A$2:$A$10</c:f>
              <c:strCache>
                <c:ptCount val="9"/>
                <c:pt idx="0">
                  <c:v>Cape Town</c:v>
                </c:pt>
                <c:pt idx="1">
                  <c:v>Santiago</c:v>
                </c:pt>
                <c:pt idx="2">
                  <c:v>Valencia</c:v>
                </c:pt>
                <c:pt idx="3">
                  <c:v>Calgary</c:v>
                </c:pt>
                <c:pt idx="4">
                  <c:v>Edinburgh</c:v>
                </c:pt>
                <c:pt idx="5">
                  <c:v>Keflavik</c:v>
                </c:pt>
                <c:pt idx="6">
                  <c:v>Marrakech</c:v>
                </c:pt>
                <c:pt idx="7">
                  <c:v>Christchurch</c:v>
                </c:pt>
                <c:pt idx="8">
                  <c:v>Larnaca</c:v>
                </c:pt>
              </c:strCache>
            </c:strRef>
          </c:cat>
          <c:val>
            <c:numRef>
              <c:f>Sheet1!$B$2:$B$10</c:f>
              <c:numCache>
                <c:formatCode>General</c:formatCode>
                <c:ptCount val="9"/>
                <c:pt idx="0">
                  <c:v>17</c:v>
                </c:pt>
                <c:pt idx="1">
                  <c:v>14</c:v>
                </c:pt>
                <c:pt idx="2">
                  <c:v>12</c:v>
                </c:pt>
                <c:pt idx="3">
                  <c:v>8</c:v>
                </c:pt>
                <c:pt idx="4">
                  <c:v>4</c:v>
                </c:pt>
                <c:pt idx="5">
                  <c:v>4</c:v>
                </c:pt>
                <c:pt idx="6">
                  <c:v>1</c:v>
                </c:pt>
                <c:pt idx="7">
                  <c:v>0</c:v>
                </c:pt>
                <c:pt idx="8">
                  <c:v>-2</c:v>
                </c:pt>
              </c:numCache>
            </c:numRef>
          </c:val>
        </c:ser>
        <c:dLbls>
          <c:numFmt formatCode="0" sourceLinked="0"/>
          <c:txPr>
            <a:bodyPr/>
            <a:lstStyle/>
            <a:p>
              <a:pPr>
                <a:defRPr sz="950">
                  <a:solidFill>
                    <a:srgbClr val="404040"/>
                  </a:solidFill>
                </a:defRPr>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50"/>
            </a:pPr>
          </a:p>
        </c:txPr>
        <c:crossAx val="-2113994440"/>
        <c:crosses val="autoZero"/>
        <c:auto val="1"/>
        <c:lblAlgn val="ctr"/>
        <c:lblOffset val="100"/>
        <c:noMultiLvlLbl val="0"/>
      </c:catAx>
      <c:valAx>
        <c:axId val="-2113994440"/>
        <c:scaling/>
        <c:delete/>
        <c:axPos val="l"/>
        <c:majorTickMark val="out"/>
        <c:minorTickMark val="none"/>
        <c:tickLblPos val="nextTo"/>
        <c:txPr>
          <a:bodyPr/>
          <a:lstStyle/>
          <a:p>
            <a:pPr>
              <a:defRPr sz="950"/>
            </a:pPr>
          </a:p>
        </c:txPr>
        <c:crossAx val="-2068027336"/>
        <c:crosses val="autoZero"/>
      </c:valAx>
    </c:plotArea>
    <c:dispBlanksAs val="gap"/>
  </c:chart>
  <c:txPr>
    <a:bodyPr/>
    <a:lstStyle/>
    <a:p>
      <a:pPr>
        <a:defRPr sz="950">
          <a:solidFill>
            <a:srgbClr val="40404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Attractiveness</c:v>
                </c:pt>
              </c:strCache>
            </c:strRef>
          </c:tx>
          <c:spPr>
            <a:solidFill>
              <a:srgbClr val="1F497D"/>
            </a:solidFill>
          </c:spPr>
          <c:cat>
            <c:strRef>
              <c:f>Sheet1!$A$2:$A$7</c:f>
              <c:strCache>
                <c:ptCount val="6"/>
                <c:pt idx="0">
                  <c:v>Cape Metro</c:v>
                </c:pt>
                <c:pt idx="1">
                  <c:v>Cape Winelands</c:v>
                </c:pt>
                <c:pt idx="2">
                  <c:v>Garden Route</c:v>
                </c:pt>
                <c:pt idx="3">
                  <c:v>Overberg</c:v>
                </c:pt>
                <c:pt idx="4">
                  <c:v>West Coast</c:v>
                </c:pt>
                <c:pt idx="5">
                  <c:v>Central Karoo</c:v>
                </c:pt>
              </c:strCache>
            </c:strRef>
          </c:cat>
          <c:val>
            <c:numRef>
              <c:f>Sheet1!$B$2:$B$7</c:f>
              <c:numCache>
                <c:formatCode>General</c:formatCode>
                <c:ptCount val="6"/>
                <c:pt idx="0">
                  <c:v>4.8</c:v>
                </c:pt>
                <c:pt idx="1">
                  <c:v>4.0</c:v>
                </c:pt>
                <c:pt idx="2">
                  <c:v>4.3</c:v>
                </c:pt>
                <c:pt idx="3">
                  <c:v>4.3</c:v>
                </c:pt>
                <c:pt idx="4">
                  <c:v>4.3</c:v>
                </c:pt>
                <c:pt idx="5">
                  <c:v>3.3</c:v>
                </c:pt>
              </c:numCache>
            </c:numRef>
          </c:val>
        </c:ser>
        <c:ser>
          <c:idx val="1"/>
          <c:order val="1"/>
          <c:tx>
            <c:strRef>
              <c:f>Sheet1!$C$1</c:f>
              <c:strCache>
                <c:ptCount val="1"/>
                <c:pt idx="0">
                  <c:v>Accessibility</c:v>
                </c:pt>
              </c:strCache>
            </c:strRef>
          </c:tx>
          <c:spPr>
            <a:solidFill>
              <a:srgbClr val="00AEEF"/>
            </a:solidFill>
          </c:spPr>
          <c:cat>
            <c:strRef>
              <c:f>Sheet1!$A$2:$A$7</c:f>
              <c:strCache>
                <c:ptCount val="6"/>
                <c:pt idx="0">
                  <c:v>Cape Metro</c:v>
                </c:pt>
                <c:pt idx="1">
                  <c:v>Cape Winelands</c:v>
                </c:pt>
                <c:pt idx="2">
                  <c:v>Garden Route</c:v>
                </c:pt>
                <c:pt idx="3">
                  <c:v>Overberg</c:v>
                </c:pt>
                <c:pt idx="4">
                  <c:v>West Coast</c:v>
                </c:pt>
                <c:pt idx="5">
                  <c:v>Central Karoo</c:v>
                </c:pt>
              </c:strCache>
            </c:strRef>
          </c:cat>
          <c:val>
            <c:numRef>
              <c:f>Sheet1!$C$2:$C$7</c:f>
              <c:numCache>
                <c:formatCode>General</c:formatCode>
                <c:ptCount val="6"/>
                <c:pt idx="0">
                  <c:v>4.7</c:v>
                </c:pt>
                <c:pt idx="1">
                  <c:v>3.3</c:v>
                </c:pt>
                <c:pt idx="2">
                  <c:v>3.0</c:v>
                </c:pt>
                <c:pt idx="3">
                  <c:v>2.0</c:v>
                </c:pt>
                <c:pt idx="4">
                  <c:v>2.0</c:v>
                </c:pt>
                <c:pt idx="5">
                  <c:v>1.0</c:v>
                </c:pt>
              </c:numCache>
            </c:numRef>
          </c:val>
        </c:ser>
        <c:dLbls>
          <c:numFmt formatCode="0.0" sourceLinked="0"/>
          <c:txPr>
            <a:bodyPr/>
            <a:lstStyle/>
            <a:p>
              <a:pPr>
                <a:defRPr sz="950">
                  <a:solidFill>
                    <a:srgbClr val="404040"/>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50"/>
            </a:pPr>
          </a:p>
        </c:txPr>
        <c:crossAx val="-2113994440"/>
        <c:crosses val="autoZero"/>
        <c:auto val="1"/>
        <c:lblAlgn val="ctr"/>
        <c:lblOffset val="100"/>
        <c:noMultiLvlLbl val="0"/>
      </c:catAx>
      <c:valAx>
        <c:axId val="-2113994440"/>
        <c:scaling>
          <c:max val="5.0"/>
          <c:min val="0.0"/>
        </c:scaling>
        <c:delete/>
        <c:axPos val="l"/>
        <c:majorTickMark val="out"/>
        <c:minorTickMark val="none"/>
        <c:tickLblPos val="nextTo"/>
        <c:txPr>
          <a:bodyPr/>
          <a:lstStyle/>
          <a:p>
            <a:pPr>
              <a:defRPr sz="950"/>
            </a:pPr>
          </a:p>
        </c:txPr>
        <c:crossAx val="-2068027336"/>
        <c:crosses val="autoZero"/>
      </c:valAx>
    </c:plotArea>
    <c:legend>
      <c:legendPos val="t"/>
      <c:overlay val="0"/>
      <c:txPr>
        <a:bodyPr/>
        <a:lstStyle/>
        <a:p>
          <a:pPr>
            <a:defRPr sz="950"/>
          </a:pPr>
        </a:p>
      </c:txPr>
    </c:legend>
    <c:dispBlanksAs val="gap"/>
  </c:chart>
  <c:txPr>
    <a:bodyPr/>
    <a:lstStyle/>
    <a:p>
      <a:pPr>
        <a:defRPr sz="950">
          <a:solidFill>
            <a:srgbClr val="40404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session pack. Purpose: step back from the individual deliverables, test the findings against the hypothesis tree, agree how to close the gaps and align on the shape of the final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most deliverables were completed months apart and read in isolation. Today we read them together and ask one question of each finding: what does it tell Wesgro and its partners to do? We want challenge, not sign-off.</a:t>
            </a:r>
          </a:p>
          <a:p>
            <a:r>
              <a:t>Question for the room: which of the facts on slide 6 would you act on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evidence base is broad. The Infrastructure Report and the SME plan are drafts, and the M&amp;E toolkit has not been tabled. The contract term ends 31 October 2026; the remaining work runs past that date unless the term is extended.</a:t>
            </a:r>
          </a:p>
          <a:p>
            <a:r>
              <a:t>Question: is the extension position confirmed?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the tree as the team last revised it. The markers are the team's own July judgement. The rest of the deck tests every box against the evidence and asks what it tells us to do.</a:t>
            </a:r>
          </a:p>
          <a:p>
            <a:r>
              <a:t>Question: is anything missing from this tree before we score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twelve statements are the backbone of the pack. Each is a fact from a deliverable, paired with the action it implies. The branch slides that follow give the detail.</a:t>
            </a:r>
          </a:p>
          <a:p>
            <a:r>
              <a:t>Question: which of these would we be prepared to put in front of the Board as written?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Demand-Side model shows what current levers deliver. The base case reaches 2.18m and the accelerated case 2.52m, the latter only with direct India and China routes. MIDAS says those routes are unlikely before 2030. The gap is therefore a design question: which levers outside the model do we pull? The benchmarks name them.</a:t>
            </a:r>
          </a:p>
          <a:p>
            <a:r>
              <a:t>Question: which of the levers on the right do we test quantitatively before the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airlines schedule to demand, so June carries 6.4% of the year's international seats against 10.8% in December. Winter seats are scarce, not idle; venues and beds are the idle capacity. MIDAS notes that connecting traffic is especially critical in the low season, so green-season demand is what keeps seats in the schedule. ICCA association meetings already run counter-seasonal (24 in September, 27 in October across 2022-24), while CTICC reports June to August as structurally weak. The Infrastructure Report says Overberg demand and pricing peak in winter; the Overberg District itself says May to July remains a shoulder season. Melbourne turned a curated events calendar into a structural demand engine.</a:t>
            </a:r>
          </a:p>
          <a:p>
            <a:r>
              <a:t>Question: who owns a single events and MICE pipeline for the province?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routes to US hubs, Heathrow and Frankfurt and the regional routes to Luanda, Maputo, Gaborone, Harare and Mauritius all run above 80% on MIDAS's GDS estimates. These are the strongest cases for extra frequency or larger aircraft, with MIDAS's caveats: load factors do not measure profitability, US hub routes fill partly with connecting traffic, and regional capacity should follow demand growth. Victoria Falls and Livingstone look exposed (our inference; MIDAS does not comment). Mature markets are not saturated: Cape Town captures 0.12-0.23% of US, German and UK outbound trips, a figure from the Wesgro source-market analysis reached through the client factbase and still to be verified against the primary.</a:t>
            </a:r>
          </a:p>
          <a:p>
            <a:r>
              <a:t>Question: which three routes do we take to airlines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MIDAS is clear that no Indian airline has aircraft for Cape Town before about 2030, and that a China route depends on government-to-government work. The near-term play is to convert the travellers who already come via Addis Ababa, Dubai and Doha, and to lay the relationship groundwork now. Riyadh Air is the emerging hub to court.</a:t>
            </a:r>
          </a:p>
          <a:p>
            <a:r>
              <a:t>Question: which hub carriers do we co-market with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supply audit found most rural properties have no OTA presence and whole asset classes (marine, wildflower, heritage, MICE, community) disconnected from any distribution channel. Visitors to the Overberg do not know how close it is to Cape Town. In growth markets, discovery and booking happen on platforms where the province is thinly present. Singapore and NZ wired marketing into booking and route performance.</a:t>
            </a:r>
          </a:p>
          <a:p>
            <a:r>
              <a:t>Question: what share of marketing spend should move to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seasonality, distribution, mature-market yield and Africa are well evidenced and point to clear actions. The segments and the new brand hypothesis are not. Marketing itself has never been analysed as a lever.</a:t>
            </a:r>
          </a:p>
          <a:p>
            <a:r>
              <a:t>Question: are we comfortable recommending a brand shift on the evidence we hold?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Wesgro's route development is a genuine success. International seats have grown 6.1% a year since 2010 while Johannesburg shrank, and Cape Town's share of SA international capacity rose from 10% to 25%. MIDAS warns that long-haul markets are now mature from the airlines' point of view: without a reason to add seats they will lift fares. That shifts the task from winning routes to underwriting frequency. Chile and NZ both fund route support.</a:t>
            </a:r>
          </a:p>
          <a:p>
            <a:r>
              <a:t>Question: do we recommend a public-private air access fund?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supply audit scored 50,332 assets. Natural assets in the Garden Route, Overberg and West Coast score 4.0-4.3 for attractiveness, close to the Metro. Accessibility falls to 2.0 and below. The N2 is the only continuous inter-regional corridor and large parts of the province are car-only. The Garden Route has no inter-town shuttle "despite obvious demand", and the Overberg's most-requested route is unserved.</a:t>
            </a:r>
          </a:p>
          <a:p>
            <a:r>
              <a:t>Question: which two or three corridors does the roadmap back first?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statements of fact from the supply audit, MIDAS, the cruise report and stakeholders. Each comes with a concrete response. Most do not need large capital: they need an operator, a listing, an interpreter or a shuttle.</a:t>
            </a:r>
          </a:p>
          <a:p>
            <a:r>
              <a:t>Question: which of these could be live by the 2027 green season?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routes are the right unit for investment and marketing: they match how international visitors actually travel. Only the Winelands has been scored. Completing the scorecard for the other five gives the final report a ranked corridor programme.</a:t>
            </a:r>
          </a:p>
          <a:p>
            <a:r>
              <a:t>Question: can we score the other five routes within the next four weeks?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every supply focus area is supported. The weakness is in the response: there is no prioritised pipeline or ROI, which the SLA requires.</a:t>
            </a:r>
          </a:p>
          <a:p>
            <a:r>
              <a:t>Question: who owns the investment prioritisation, and by when?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93 of 107 long-listed communities are within 45 minutes of a tourism node. The binding constraint is organisation, not distance: no local body holds the product, takes bookings and records local revenue. Safety gates several of the strongest opportunities. The benchmarks give the sequence: seller, safe visit, local product, then exposure.</a:t>
            </a:r>
          </a:p>
          <a:p>
            <a:r>
              <a:t>Question: which two or three pilots do we recommend?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each first move plugs a community into demand that already passes by. None needs large capital up front. Most interventions have no budget line yet and need validation with the named partners.</a:t>
            </a:r>
          </a:p>
          <a:p>
            <a:r>
              <a:t>Question: which pilots carry the best mix of readiness, demand and safety?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stakeholders agree on the problem. The levers that matter most sit with national bodies; tourism spend sits outside tourism budgets; coordination bodies are proposed, not operating; and no one can measure provincial tourism GDP or jobs with an approved method. Cape Town Air Access is the proof that a joint model works here.</a:t>
            </a:r>
          </a:p>
          <a:p>
            <a:r>
              <a:t>Question: what is Wesgro's mandate in a coordinated system?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enabling pillar has the strongest consensus. Skills and investment are the weakest links: we cannot yet support the 300,000 jobs goal or the SLA requirement for ROI-ranked investments.</a:t>
            </a:r>
          </a:p>
          <a:p>
            <a:r>
              <a:t>Question: do we close these gaps or bound them as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global growth runs at 3-5% a year. Five comparators beat it with one or two structural levers backed by supply enablers; Melbourne's 4.3% is a forecast of Australian arrivals growth and sits inside the norm, so its lesson is the events model, not the growth rate. The numbers make the levers concrete: Chile's airport concession, Melbourne's hotel build, NZ's route-tied marketing return.</a:t>
            </a:r>
          </a:p>
          <a:p>
            <a:r>
              <a:t>Question: which comparator is closest to what the Western Cape could do by 2030?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the benchmark report's own required changes, consolidated. Each maps to a focus area on the tree and to a finding in this pack.</a:t>
            </a:r>
          </a:p>
          <a:p>
            <a:r>
              <a:t>Question: which three are non-negotiable for the final roadmap?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the single slide to hold in mind. Supply, distribution and governance are well evidenced and point to clear actions. The thin areas are segments and brand, workforce skills and capital. No focus area is contradicted. The tree's claim that demand is "proven" holds in a specific sense: demand exists and is reachable, but much of it is not yet converted. One caveat: the Infrastructure Report and the SME plan were framed by this tree, so the supply and inclusion verdicts lean on hypothesis-led work; MIDAS, the stakeholder round and the client factbases are the independent corroboration.</a:t>
            </a:r>
          </a:p>
          <a:p>
            <a:r>
              <a:t>Question: which amber boxes must turn green before we recommend on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each theme is evidenced in at least two independent workstreams. Together they say the Western Cape is capture-poor rather than demand-poor: it converts too little of the demand it already reaches, spreads it too little and coordinates the actors too loosely.</a:t>
            </a:r>
          </a:p>
          <a:p>
            <a:r>
              <a:t>Question: is anything missing, or overstated?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choices the final report must make explicit. For each, we propose a default to react to.</a:t>
            </a:r>
          </a:p>
          <a:p>
            <a:r>
              <a:t>Question: where do we disagree with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a strawman to attack, not a conclusion. It answers the core question in one line and states the moves that must happen, by when.</a:t>
            </a:r>
          </a:p>
          <a:p>
            <a:r>
              <a:t>Question: which condition is weakest, and what would we need to believe instead?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a thesis that names its own risks is more persuasive than one that does not. Four constraints in the inputs are demand-side and cannot be fixed by conversion alone. The moves survive if we accept two things: the arrivals ceiling is lower than 2.8m without national action on visas, bilaterals and safety; and price positioning is a choice the final report must address.</a:t>
            </a:r>
          </a:p>
          <a:p>
            <a:r>
              <a:t>Question: which of these four would change our priority order?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red gaps would leave a recommendation or an SLA requirement unsupported. Amber gaps can be bounded as limitations if time runs short.</a:t>
            </a:r>
          </a:p>
          <a:p>
            <a:r>
              <a:t>Question: is the red list right?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four of the seven demand focus areas depend on marketing. We have platform intelligence for China, India and the Gulf and strong benchmark models, but nothing on what Wesgro spends and where, what return it earns or how the brand performs. "The Cape" concept is an untested strategy input.</a:t>
            </a:r>
          </a:p>
          <a:p>
            <a:r>
              <a:t>Question: which option do we commit to, and who leads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"Bound" means we state the limitation in the final report rather than analyse it. Owners are roles, to be named in the room.</a:t>
            </a:r>
          </a:p>
          <a:p>
            <a:r>
              <a:t>Question: do we accept the "bound" calls, and who owns each line?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are moves, not final recommendations. Each is grounded in a fact from the deliverables and names a lead. "Firm" moves could go into the draft now.</a:t>
            </a:r>
          </a:p>
          <a:p>
            <a:r>
              <a:t>Question: is there anything here we would not put in front of the Board?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organising by pillar keeps the link to the tree and the evidence; adding horizons and owners makes it implementable. The alternative, by actor, is easier to hand over but breaks the logic chain.</a:t>
            </a:r>
          </a:p>
          <a:p>
            <a:r>
              <a:t>Question: which structure will Exco and the Board find most usable?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we need a position, an owner and a date for each.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close by confirming each decision, its owner and the date it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plan front-loads the decisions and the gap work, so drafting starts on settled foundations in week 3. The contract term ends on 31 October, inside week 3: everything to the right of the red line depends on an extension agreed under SLA clause 4.3.</a:t>
            </a:r>
          </a:p>
          <a:p>
            <a:r>
              <a:t>Question: are the Steercom, Exco and Board dates realistic for Wesgro?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table for the hypothesis scorecard. Page references are to the PDF page of each input.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table for the hypothesis scorecard. Page references are to the PDF page of each input.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reference. This matters for measurement, not for the direction of the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client factbases carry "OpenAI" as author in their file metadata and describe themselves as compilations from a supplied source pack. Figures from them are cited to the primary report where possible and must be verified before the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changes the direction of the findings, but each would undermine credibility if it reached the Board unresolved.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2.xml"/><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3.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cover_bg.jp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411480" y="4709160"/>
            <a:ext cx="7772400" cy="502920"/>
          </a:xfrm>
        </p:spPr>
        <p:txBody>
          <a:bodyPr lIns="0" rIns="0" tIns="0" bIns="0"/>
          <a:lstStyle/>
          <a:p>
            <a:pPr algn="l"/>
            <a:r>
              <a:rPr sz="2800" b="1" i="0">
                <a:solidFill>
                  <a:srgbClr val="FFFFFF"/>
                </a:solidFill>
                <a:latin typeface="Arial"/>
              </a:rPr>
              <a:t>Unlocking Tourism Growth</a:t>
            </a:r>
          </a:p>
        </p:txBody>
      </p:sp>
      <p:pic>
        <p:nvPicPr>
          <p:cNvPr id="4" name="Picture 3" descr="letsema.png"/>
          <p:cNvPicPr>
            <a:picLocks noChangeAspect="1"/>
          </p:cNvPicPr>
          <p:nvPr/>
        </p:nvPicPr>
        <p:blipFill>
          <a:blip r:embed="rId3"/>
          <a:stretch>
            <a:fillRect/>
          </a:stretch>
        </p:blipFill>
        <p:spPr>
          <a:xfrm>
            <a:off x="411480" y="2697480"/>
            <a:ext cx="1874519" cy="245063"/>
          </a:xfrm>
          <a:prstGeom prst="rect">
            <a:avLst/>
          </a:prstGeom>
        </p:spPr>
      </p:pic>
      <p:sp>
        <p:nvSpPr>
          <p:cNvPr id="5" name="TextBox 4"/>
          <p:cNvSpPr txBox="1"/>
          <p:nvPr/>
        </p:nvSpPr>
        <p:spPr>
          <a:xfrm>
            <a:off x="411480" y="3035808"/>
            <a:ext cx="2743200" cy="228600"/>
          </a:xfrm>
          <a:prstGeom prst="rect">
            <a:avLst/>
          </a:prstGeom>
          <a:noFill/>
        </p:spPr>
        <p:txBody>
          <a:bodyPr wrap="square" anchor="t" lIns="36576" rIns="36576" tIns="21945" bIns="21945">
            <a:spAutoFit/>
          </a:bodyPr>
          <a:lstStyle/>
          <a:p>
            <a:pPr algn="l">
              <a:spcAft>
                <a:spcPts val="0"/>
              </a:spcAft>
            </a:pPr>
            <a:r>
              <a:rPr sz="800" b="0" i="1">
                <a:solidFill>
                  <a:srgbClr val="FFFFFF"/>
                </a:solidFill>
                <a:latin typeface="Arial"/>
              </a:rPr>
              <a:t>In partnership with</a:t>
            </a:r>
          </a:p>
        </p:txBody>
      </p:sp>
      <p:pic>
        <p:nvPicPr>
          <p:cNvPr id="6" name="Picture 5" descr="skift.png"/>
          <p:cNvPicPr>
            <a:picLocks noChangeAspect="1"/>
          </p:cNvPicPr>
          <p:nvPr/>
        </p:nvPicPr>
        <p:blipFill>
          <a:blip r:embed="rId4"/>
          <a:stretch>
            <a:fillRect/>
          </a:stretch>
        </p:blipFill>
        <p:spPr>
          <a:xfrm>
            <a:off x="411480" y="3273552"/>
            <a:ext cx="685800" cy="404132"/>
          </a:xfrm>
          <a:prstGeom prst="rect">
            <a:avLst/>
          </a:prstGeom>
        </p:spPr>
      </p:pic>
      <p:sp>
        <p:nvSpPr>
          <p:cNvPr id="7" name="TextBox 6"/>
          <p:cNvSpPr txBox="1"/>
          <p:nvPr/>
        </p:nvSpPr>
        <p:spPr>
          <a:xfrm>
            <a:off x="411480" y="5230368"/>
            <a:ext cx="7772400" cy="457200"/>
          </a:xfrm>
          <a:prstGeom prst="rect">
            <a:avLst/>
          </a:prstGeom>
          <a:noFill/>
        </p:spPr>
        <p:txBody>
          <a:bodyPr wrap="square" anchor="t" lIns="0" rIns="0" tIns="0" bIns="0">
            <a:spAutoFit/>
          </a:bodyPr>
          <a:lstStyle/>
          <a:p>
            <a:pPr algn="l">
              <a:spcAft>
                <a:spcPts val="0"/>
              </a:spcAft>
            </a:pPr>
            <a:r>
              <a:rPr sz="2200" b="0" i="0">
                <a:solidFill>
                  <a:srgbClr val="FFFFFF"/>
                </a:solidFill>
                <a:latin typeface="Arial"/>
              </a:rPr>
              <a:t>Summary of Findings: Taking Stock</a:t>
            </a:r>
          </a:p>
        </p:txBody>
      </p:sp>
      <p:sp>
        <p:nvSpPr>
          <p:cNvPr id="8" name="TextBox 7"/>
          <p:cNvSpPr txBox="1"/>
          <p:nvPr/>
        </p:nvSpPr>
        <p:spPr>
          <a:xfrm>
            <a:off x="411480" y="5715000"/>
            <a:ext cx="7772400" cy="274320"/>
          </a:xfrm>
          <a:prstGeom prst="rect">
            <a:avLst/>
          </a:prstGeom>
          <a:noFill/>
        </p:spPr>
        <p:txBody>
          <a:bodyPr wrap="square" anchor="t" lIns="0" rIns="0" tIns="0" bIns="0">
            <a:spAutoFit/>
          </a:bodyPr>
          <a:lstStyle/>
          <a:p>
            <a:pPr algn="l">
              <a:spcAft>
                <a:spcPts val="0"/>
              </a:spcAft>
            </a:pPr>
            <a:r>
              <a:rPr sz="1200" b="0" i="0">
                <a:solidFill>
                  <a:srgbClr val="FFFFFF"/>
                </a:solidFill>
                <a:latin typeface="Arial"/>
              </a:rPr>
              <a:t>Team working session | October 2026</a:t>
            </a:r>
          </a:p>
        </p:txBody>
      </p:sp>
      <p:pic>
        <p:nvPicPr>
          <p:cNvPr id="9" name="Picture 8" descr="flag.png"/>
          <p:cNvPicPr>
            <a:picLocks noChangeAspect="1"/>
          </p:cNvPicPr>
          <p:nvPr/>
        </p:nvPicPr>
        <p:blipFill>
          <a:blip r:embed="rId5"/>
          <a:stretch>
            <a:fillRect/>
          </a:stretch>
        </p:blipFill>
        <p:spPr>
          <a:xfrm>
            <a:off x="11539728" y="6153912"/>
            <a:ext cx="495344" cy="329184"/>
          </a:xfrm>
          <a:prstGeom prst="rect">
            <a:avLst/>
          </a:prstGeom>
        </p:spPr>
      </p:pic>
      <p:sp>
        <p:nvSpPr>
          <p:cNvPr id="10"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Today is about the "so what": what the evidence tells us to do, and what we still need to know</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PURPOSE OF TODAY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384048" y="1234440"/>
            <a:ext cx="731520" cy="731520"/>
          </a:xfrm>
          <a:prstGeom prst="rect">
            <a:avLst/>
          </a:prstGeom>
          <a:noFill/>
        </p:spPr>
        <p:txBody>
          <a:bodyPr wrap="square" anchor="t" lIns="36576" rIns="36576" tIns="21945" bIns="21945">
            <a:spAutoFit/>
          </a:bodyPr>
          <a:lstStyle/>
          <a:p>
            <a:pPr algn="l">
              <a:spcAft>
                <a:spcPts val="0"/>
              </a:spcAft>
            </a:pPr>
            <a:r>
              <a:rPr sz="3000" b="1" i="0">
                <a:solidFill>
                  <a:srgbClr val="00AEEF"/>
                </a:solidFill>
                <a:latin typeface="Arial"/>
              </a:rPr>
              <a:t>01</a:t>
            </a:r>
          </a:p>
        </p:txBody>
      </p:sp>
      <p:sp>
        <p:nvSpPr>
          <p:cNvPr id="9" name="TextBox 8"/>
          <p:cNvSpPr txBox="1"/>
          <p:nvPr/>
        </p:nvSpPr>
        <p:spPr>
          <a:xfrm>
            <a:off x="1143000" y="1280160"/>
            <a:ext cx="4480560" cy="32004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Reflect and challenge</a:t>
            </a:r>
          </a:p>
        </p:txBody>
      </p:sp>
      <p:sp>
        <p:nvSpPr>
          <p:cNvPr id="10" name="TextBox 9"/>
          <p:cNvSpPr txBox="1"/>
          <p:nvPr/>
        </p:nvSpPr>
        <p:spPr>
          <a:xfrm>
            <a:off x="1143000" y="1618488"/>
            <a:ext cx="4480560" cy="731520"/>
          </a:xfrm>
          <a:prstGeom prst="rect">
            <a:avLst/>
          </a:prstGeom>
          <a:noFill/>
        </p:spPr>
        <p:txBody>
          <a:bodyPr wrap="square" anchor="t" lIns="36576" rIns="36576" tIns="21945" bIns="21945">
            <a:spAutoFit/>
          </a:bodyPr>
          <a:lstStyle/>
          <a:p>
            <a:pPr algn="l">
              <a:spcAft>
                <a:spcPts val="400"/>
              </a:spcAft>
            </a:pPr>
            <a:r>
              <a:rPr sz="1100" b="0" i="0">
                <a:solidFill>
                  <a:srgbClr val="404040"/>
                </a:solidFill>
                <a:latin typeface="Arial"/>
              </a:rPr>
              <a:t>Revisit the core question and the hypothesis tree. Test what the evidence supports, and what it tells us to do.</a:t>
            </a:r>
          </a:p>
        </p:txBody>
      </p:sp>
      <p:sp>
        <p:nvSpPr>
          <p:cNvPr id="11" name="TextBox 10"/>
          <p:cNvSpPr txBox="1"/>
          <p:nvPr/>
        </p:nvSpPr>
        <p:spPr>
          <a:xfrm>
            <a:off x="384048" y="2697480"/>
            <a:ext cx="731520" cy="731520"/>
          </a:xfrm>
          <a:prstGeom prst="rect">
            <a:avLst/>
          </a:prstGeom>
          <a:noFill/>
        </p:spPr>
        <p:txBody>
          <a:bodyPr wrap="square" anchor="t" lIns="36576" rIns="36576" tIns="21945" bIns="21945">
            <a:spAutoFit/>
          </a:bodyPr>
          <a:lstStyle/>
          <a:p>
            <a:pPr algn="l">
              <a:spcAft>
                <a:spcPts val="0"/>
              </a:spcAft>
            </a:pPr>
            <a:r>
              <a:rPr sz="3000" b="1" i="0">
                <a:solidFill>
                  <a:srgbClr val="00AEEF"/>
                </a:solidFill>
                <a:latin typeface="Arial"/>
              </a:rPr>
              <a:t>02</a:t>
            </a:r>
          </a:p>
        </p:txBody>
      </p:sp>
      <p:sp>
        <p:nvSpPr>
          <p:cNvPr id="12" name="TextBox 11"/>
          <p:cNvSpPr txBox="1"/>
          <p:nvPr/>
        </p:nvSpPr>
        <p:spPr>
          <a:xfrm>
            <a:off x="1143000" y="2743200"/>
            <a:ext cx="4480560" cy="32004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Close the gaps</a:t>
            </a:r>
          </a:p>
        </p:txBody>
      </p:sp>
      <p:sp>
        <p:nvSpPr>
          <p:cNvPr id="13" name="TextBox 12"/>
          <p:cNvSpPr txBox="1"/>
          <p:nvPr/>
        </p:nvSpPr>
        <p:spPr>
          <a:xfrm>
            <a:off x="1143000" y="3081528"/>
            <a:ext cx="4480560" cy="731520"/>
          </a:xfrm>
          <a:prstGeom prst="rect">
            <a:avLst/>
          </a:prstGeom>
          <a:noFill/>
        </p:spPr>
        <p:txBody>
          <a:bodyPr wrap="square" anchor="t" lIns="36576" rIns="36576" tIns="21945" bIns="21945">
            <a:spAutoFit/>
          </a:bodyPr>
          <a:lstStyle/>
          <a:p>
            <a:pPr algn="l">
              <a:spcAft>
                <a:spcPts val="400"/>
              </a:spcAft>
            </a:pPr>
            <a:r>
              <a:rPr sz="1100" b="0" i="0">
                <a:solidFill>
                  <a:srgbClr val="404040"/>
                </a:solidFill>
                <a:latin typeface="Arial"/>
              </a:rPr>
              <a:t>Agree how to handle the areas with thin or no analysis, starting with marketing and brand, before we draft.</a:t>
            </a:r>
          </a:p>
        </p:txBody>
      </p:sp>
      <p:sp>
        <p:nvSpPr>
          <p:cNvPr id="14" name="TextBox 13"/>
          <p:cNvSpPr txBox="1"/>
          <p:nvPr/>
        </p:nvSpPr>
        <p:spPr>
          <a:xfrm>
            <a:off x="384048" y="4160520"/>
            <a:ext cx="731520" cy="731520"/>
          </a:xfrm>
          <a:prstGeom prst="rect">
            <a:avLst/>
          </a:prstGeom>
          <a:noFill/>
        </p:spPr>
        <p:txBody>
          <a:bodyPr wrap="square" anchor="t" lIns="36576" rIns="36576" tIns="21945" bIns="21945">
            <a:spAutoFit/>
          </a:bodyPr>
          <a:lstStyle/>
          <a:p>
            <a:pPr algn="l">
              <a:spcAft>
                <a:spcPts val="0"/>
              </a:spcAft>
            </a:pPr>
            <a:r>
              <a:rPr sz="3000" b="1" i="0">
                <a:solidFill>
                  <a:srgbClr val="00AEEF"/>
                </a:solidFill>
                <a:latin typeface="Arial"/>
              </a:rPr>
              <a:t>03</a:t>
            </a:r>
          </a:p>
        </p:txBody>
      </p:sp>
      <p:sp>
        <p:nvSpPr>
          <p:cNvPr id="15" name="TextBox 14"/>
          <p:cNvSpPr txBox="1"/>
          <p:nvPr/>
        </p:nvSpPr>
        <p:spPr>
          <a:xfrm>
            <a:off x="1143000" y="4206240"/>
            <a:ext cx="4480560" cy="32004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Align on the response</a:t>
            </a:r>
          </a:p>
        </p:txBody>
      </p:sp>
      <p:sp>
        <p:nvSpPr>
          <p:cNvPr id="16" name="TextBox 15"/>
          <p:cNvSpPr txBox="1"/>
          <p:nvPr/>
        </p:nvSpPr>
        <p:spPr>
          <a:xfrm>
            <a:off x="1143000" y="4544568"/>
            <a:ext cx="4480560" cy="731520"/>
          </a:xfrm>
          <a:prstGeom prst="rect">
            <a:avLst/>
          </a:prstGeom>
          <a:noFill/>
        </p:spPr>
        <p:txBody>
          <a:bodyPr wrap="square" anchor="t" lIns="36576" rIns="36576" tIns="21945" bIns="21945">
            <a:spAutoFit/>
          </a:bodyPr>
          <a:lstStyle/>
          <a:p>
            <a:pPr algn="l">
              <a:spcAft>
                <a:spcPts val="400"/>
              </a:spcAft>
            </a:pPr>
            <a:r>
              <a:rPr sz="1100" b="0" i="0">
                <a:solidFill>
                  <a:srgbClr val="404040"/>
                </a:solidFill>
                <a:latin typeface="Arial"/>
              </a:rPr>
              <a:t>Agree the priority moves, the structure of the final recommendations and the plan for the next six weeks.</a:t>
            </a:r>
          </a:p>
        </p:txBody>
      </p:sp>
      <p:cxnSp>
        <p:nvCxnSpPr>
          <p:cNvPr id="17" name="Connector 16"/>
          <p:cNvCxnSpPr/>
          <p:nvPr/>
        </p:nvCxnSpPr>
        <p:spPr>
          <a:xfrm>
            <a:off x="5989320" y="1280160"/>
            <a:ext cx="0" cy="4572000"/>
          </a:xfrm>
          <a:prstGeom prst="line">
            <a:avLst/>
          </a:prstGeom>
          <a:ln w="19050">
            <a:solidFill>
              <a:srgbClr val="00AEE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63640" y="1234440"/>
            <a:ext cx="5486400" cy="320040"/>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PROPOSED AGENDA (3 HOURS)</a:t>
            </a:r>
          </a:p>
        </p:txBody>
      </p:sp>
      <p:graphicFrame>
        <p:nvGraphicFramePr>
          <p:cNvPr id="19" name="Table 18"/>
          <p:cNvGraphicFramePr>
            <a:graphicFrameLocks noGrp="1"/>
          </p:cNvGraphicFramePr>
          <p:nvPr/>
        </p:nvGraphicFramePr>
        <p:xfrm>
          <a:off x="6263640" y="1645920"/>
          <a:ext cx="5532120" cy="3072384"/>
        </p:xfrm>
        <a:graphic>
          <a:graphicData uri="http://schemas.openxmlformats.org/drawingml/2006/table">
            <a:tbl>
              <a:tblPr firstRow="1" bandRow="0">
                <a:tableStyleId>{5C22544A-7EE6-4342-B048-85BDC9FD1C3A}</a:tableStyleId>
              </a:tblPr>
              <a:tblGrid>
                <a:gridCol w="914400"/>
                <a:gridCol w="4617720"/>
              </a:tblGrid>
              <a:tr h="384048">
                <a:tc>
                  <a:txBody>
                    <a:bodyPr wrap="square"/>
                    <a:lstStyle/>
                    <a:p>
                      <a:pPr algn="l"/>
                      <a:r>
                        <a:rPr sz="1050" b="1" i="0">
                          <a:solidFill>
                            <a:srgbClr val="FFFFFF"/>
                          </a:solidFill>
                          <a:latin typeface="Arial"/>
                        </a:rPr>
                        <a:t>Time</a:t>
                      </a:r>
                    </a:p>
                  </a:txBody>
                  <a:tcPr marL="54864" marR="54864" marT="27432" marB="27432" anchor="ctr">
                    <a:solidFill>
                      <a:srgbClr val="1F497D"/>
                    </a:solidFill>
                  </a:tcPr>
                </a:tc>
                <a:tc>
                  <a:txBody>
                    <a:bodyPr wrap="square"/>
                    <a:lstStyle/>
                    <a:p>
                      <a:pPr algn="l"/>
                      <a:r>
                        <a:rPr sz="1050" b="1" i="0">
                          <a:solidFill>
                            <a:srgbClr val="FFFFFF"/>
                          </a:solidFill>
                          <a:latin typeface="Arial"/>
                        </a:rPr>
                        <a:t>Session</a:t>
                      </a:r>
                    </a:p>
                  </a:txBody>
                  <a:tcPr marL="54864" marR="54864" marT="27432" marB="27432" anchor="ctr">
                    <a:solidFill>
                      <a:srgbClr val="1F497D"/>
                    </a:solidFill>
                  </a:tcPr>
                </a:tc>
              </a:tr>
              <a:tr h="384048">
                <a:tc>
                  <a:txBody>
                    <a:bodyPr wrap="square"/>
                    <a:lstStyle/>
                    <a:p>
                      <a:pPr algn="l"/>
                      <a:r>
                        <a:rPr sz="1050" b="1" i="0">
                          <a:solidFill>
                            <a:srgbClr val="1F497D"/>
                          </a:solidFill>
                          <a:latin typeface="Arial"/>
                        </a:rPr>
                        <a:t>10 min</a:t>
                      </a:r>
                    </a:p>
                  </a:txBody>
                  <a:tcPr marL="54864" marR="54864" marT="27432" marB="27432" anchor="ctr">
                    <a:solidFill>
                      <a:srgbClr val="FFFFFF"/>
                    </a:solidFill>
                  </a:tcPr>
                </a:tc>
                <a:tc>
                  <a:txBody>
                    <a:bodyPr wrap="square"/>
                    <a:lstStyle/>
                    <a:p>
                      <a:pPr algn="l"/>
                      <a:r>
                        <a:rPr sz="1050" b="0" i="0">
                          <a:solidFill>
                            <a:srgbClr val="404040"/>
                          </a:solidFill>
                          <a:latin typeface="Arial"/>
                        </a:rPr>
                        <a:t>Purpose, ground rules and where the study stands</a:t>
                      </a:r>
                    </a:p>
                  </a:txBody>
                  <a:tcPr marL="54864" marR="54864" marT="27432" marB="27432" anchor="ctr">
                    <a:solidFill>
                      <a:srgbClr val="FFFFFF"/>
                    </a:solidFill>
                  </a:tcPr>
                </a:tc>
              </a:tr>
              <a:tr h="384048">
                <a:tc>
                  <a:txBody>
                    <a:bodyPr wrap="square"/>
                    <a:lstStyle/>
                    <a:p>
                      <a:pPr algn="l"/>
                      <a:r>
                        <a:rPr sz="1050" b="1" i="0">
                          <a:solidFill>
                            <a:srgbClr val="1F497D"/>
                          </a:solidFill>
                          <a:latin typeface="Arial"/>
                        </a:rPr>
                        <a:t>15 min</a:t>
                      </a:r>
                    </a:p>
                  </a:txBody>
                  <a:tcPr marL="54864" marR="54864" marT="27432" marB="27432" anchor="ctr">
                    <a:solidFill>
                      <a:srgbClr val="F2F2F2"/>
                    </a:solidFill>
                  </a:tcPr>
                </a:tc>
                <a:tc>
                  <a:txBody>
                    <a:bodyPr wrap="square"/>
                    <a:lstStyle/>
                    <a:p>
                      <a:pPr algn="l"/>
                      <a:r>
                        <a:rPr sz="1050" b="0" i="0">
                          <a:solidFill>
                            <a:srgbClr val="404040"/>
                          </a:solidFill>
                          <a:latin typeface="Arial"/>
                        </a:rPr>
                        <a:t>The core question and twelve facts that shape the answer</a:t>
                      </a:r>
                    </a:p>
                  </a:txBody>
                  <a:tcPr marL="54864" marR="54864" marT="27432" marB="27432" anchor="ctr">
                    <a:solidFill>
                      <a:srgbClr val="F2F2F2"/>
                    </a:solidFill>
                  </a:tcPr>
                </a:tc>
              </a:tr>
              <a:tr h="384048">
                <a:tc>
                  <a:txBody>
                    <a:bodyPr wrap="square"/>
                    <a:lstStyle/>
                    <a:p>
                      <a:pPr algn="l"/>
                      <a:r>
                        <a:rPr sz="1050" b="1" i="0">
                          <a:solidFill>
                            <a:srgbClr val="1F497D"/>
                          </a:solidFill>
                          <a:latin typeface="Arial"/>
                        </a:rPr>
                        <a:t>50 min</a:t>
                      </a:r>
                    </a:p>
                  </a:txBody>
                  <a:tcPr marL="54864" marR="54864" marT="27432" marB="27432" anchor="ctr">
                    <a:solidFill>
                      <a:srgbClr val="FFFFFF"/>
                    </a:solidFill>
                  </a:tcPr>
                </a:tc>
                <a:tc>
                  <a:txBody>
                    <a:bodyPr wrap="square"/>
                    <a:lstStyle/>
                    <a:p>
                      <a:pPr algn="l"/>
                      <a:r>
                        <a:rPr sz="1050" b="0" i="0">
                          <a:solidFill>
                            <a:srgbClr val="404040"/>
                          </a:solidFill>
                          <a:latin typeface="Arial"/>
                        </a:rPr>
                        <a:t>What we found, branch by branch, and what the benchmarks teach</a:t>
                      </a:r>
                    </a:p>
                  </a:txBody>
                  <a:tcPr marL="54864" marR="54864" marT="27432" marB="27432" anchor="ctr">
                    <a:solidFill>
                      <a:srgbClr val="FFFFFF"/>
                    </a:solidFill>
                  </a:tcPr>
                </a:tc>
              </a:tr>
              <a:tr h="384048">
                <a:tc>
                  <a:txBody>
                    <a:bodyPr wrap="square"/>
                    <a:lstStyle/>
                    <a:p>
                      <a:pPr algn="l"/>
                      <a:r>
                        <a:rPr sz="1050" b="1" i="0">
                          <a:solidFill>
                            <a:srgbClr val="1F497D"/>
                          </a:solidFill>
                          <a:latin typeface="Arial"/>
                        </a:rPr>
                        <a:t>30 min</a:t>
                      </a:r>
                    </a:p>
                  </a:txBody>
                  <a:tcPr marL="54864" marR="54864" marT="27432" marB="27432" anchor="ctr">
                    <a:solidFill>
                      <a:srgbClr val="F2F2F2"/>
                    </a:solidFill>
                  </a:tcPr>
                </a:tc>
                <a:tc>
                  <a:txBody>
                    <a:bodyPr wrap="square"/>
                    <a:lstStyle/>
                    <a:p>
                      <a:pPr algn="l"/>
                      <a:r>
                        <a:rPr sz="1050" b="0" i="0">
                          <a:solidFill>
                            <a:srgbClr val="404040"/>
                          </a:solidFill>
                          <a:latin typeface="Arial"/>
                        </a:rPr>
                        <a:t>Stepping back: scorecard, themes and the "so what"</a:t>
                      </a:r>
                    </a:p>
                  </a:txBody>
                  <a:tcPr marL="54864" marR="54864" marT="27432" marB="27432" anchor="ctr">
                    <a:solidFill>
                      <a:srgbClr val="F2F2F2"/>
                    </a:solidFill>
                  </a:tcPr>
                </a:tc>
              </a:tr>
              <a:tr h="384048">
                <a:tc>
                  <a:txBody>
                    <a:bodyPr wrap="square"/>
                    <a:lstStyle/>
                    <a:p>
                      <a:pPr algn="l"/>
                      <a:r>
                        <a:rPr sz="1050" b="1" i="0">
                          <a:solidFill>
                            <a:srgbClr val="1F497D"/>
                          </a:solidFill>
                          <a:latin typeface="Arial"/>
                        </a:rPr>
                        <a:t>25 min</a:t>
                      </a:r>
                    </a:p>
                  </a:txBody>
                  <a:tcPr marL="54864" marR="54864" marT="27432" marB="27432" anchor="ctr">
                    <a:solidFill>
                      <a:srgbClr val="FFFFFF"/>
                    </a:solidFill>
                  </a:tcPr>
                </a:tc>
                <a:tc>
                  <a:txBody>
                    <a:bodyPr wrap="square"/>
                    <a:lstStyle/>
                    <a:p>
                      <a:pPr algn="l"/>
                      <a:r>
                        <a:rPr sz="1050" b="0" i="0">
                          <a:solidFill>
                            <a:srgbClr val="404040"/>
                          </a:solidFill>
                          <a:latin typeface="Arial"/>
                        </a:rPr>
                        <a:t>Gaps, with a focus on marketing and brand</a:t>
                      </a:r>
                    </a:p>
                  </a:txBody>
                  <a:tcPr marL="54864" marR="54864" marT="27432" marB="27432" anchor="ctr">
                    <a:solidFill>
                      <a:srgbClr val="FFFFFF"/>
                    </a:solidFill>
                  </a:tcPr>
                </a:tc>
              </a:tr>
              <a:tr h="384048">
                <a:tc>
                  <a:txBody>
                    <a:bodyPr wrap="square"/>
                    <a:lstStyle/>
                    <a:p>
                      <a:pPr algn="l"/>
                      <a:r>
                        <a:rPr sz="1050" b="1" i="0">
                          <a:solidFill>
                            <a:srgbClr val="1F497D"/>
                          </a:solidFill>
                          <a:latin typeface="Arial"/>
                        </a:rPr>
                        <a:t>30 min</a:t>
                      </a:r>
                    </a:p>
                  </a:txBody>
                  <a:tcPr marL="54864" marR="54864" marT="27432" marB="27432" anchor="ctr">
                    <a:solidFill>
                      <a:srgbClr val="F2F2F2"/>
                    </a:solidFill>
                  </a:tcPr>
                </a:tc>
                <a:tc>
                  <a:txBody>
                    <a:bodyPr wrap="square"/>
                    <a:lstStyle/>
                    <a:p>
                      <a:pPr algn="l"/>
                      <a:r>
                        <a:rPr sz="1050" b="0" i="0">
                          <a:solidFill>
                            <a:srgbClr val="404040"/>
                          </a:solidFill>
                          <a:latin typeface="Arial"/>
                        </a:rPr>
                        <a:t>Priority moves and the shape of the final report</a:t>
                      </a:r>
                    </a:p>
                  </a:txBody>
                  <a:tcPr marL="54864" marR="54864" marT="27432" marB="27432" anchor="ctr">
                    <a:solidFill>
                      <a:srgbClr val="F2F2F2"/>
                    </a:solidFill>
                  </a:tcPr>
                </a:tc>
              </a:tr>
              <a:tr h="384048">
                <a:tc>
                  <a:txBody>
                    <a:bodyPr wrap="square"/>
                    <a:lstStyle/>
                    <a:p>
                      <a:pPr algn="l"/>
                      <a:r>
                        <a:rPr sz="1050" b="1" i="0">
                          <a:solidFill>
                            <a:srgbClr val="1F497D"/>
                          </a:solidFill>
                          <a:latin typeface="Arial"/>
                        </a:rPr>
                        <a:t>20 min</a:t>
                      </a:r>
                    </a:p>
                  </a:txBody>
                  <a:tcPr marL="54864" marR="54864" marT="27432" marB="27432" anchor="ctr">
                    <a:solidFill>
                      <a:srgbClr val="FFFFFF"/>
                    </a:solidFill>
                  </a:tcPr>
                </a:tc>
                <a:tc>
                  <a:txBody>
                    <a:bodyPr wrap="square"/>
                    <a:lstStyle/>
                    <a:p>
                      <a:pPr algn="l"/>
                      <a:r>
                        <a:rPr sz="1050" b="0" i="0">
                          <a:solidFill>
                            <a:srgbClr val="404040"/>
                          </a:solidFill>
                          <a:latin typeface="Arial"/>
                        </a:rPr>
                        <a:t>Next six weeks and decisions</a:t>
                      </a:r>
                    </a:p>
                  </a:txBody>
                  <a:tcPr marL="54864" marR="54864" marT="27432" marB="27432" anchor="ctr">
                    <a:solidFill>
                      <a:srgbClr val="FFFFFF"/>
                    </a:solidFill>
                  </a:tcPr>
                </a:tc>
              </a:tr>
            </a:tbl>
          </a:graphicData>
        </a:graphic>
      </p:graphicFrame>
      <p:sp>
        <p:nvSpPr>
          <p:cNvPr id="20" name="Rectangle 19"/>
          <p:cNvSpPr/>
          <p:nvPr/>
        </p:nvSpPr>
        <p:spPr>
          <a:xfrm>
            <a:off x="6263640" y="4983480"/>
            <a:ext cx="5532120" cy="960120"/>
          </a:xfrm>
          <a:prstGeom prst="rect">
            <a:avLst/>
          </a:prstGeom>
          <a:solidFill>
            <a:srgbClr val="F2F2F2"/>
          </a:solidFill>
          <a:ln>
            <a:noFill/>
          </a:ln>
        </p:spPr>
        <p:txBody>
          <a:bodyPr rtlCol="0" anchor="ctr"/>
          <a:lstStyle/>
          <a:p>
            <a:pPr algn="ctr"/>
          </a:p>
        </p:txBody>
      </p:sp>
      <p:sp>
        <p:nvSpPr>
          <p:cNvPr id="21" name="Rectangle 20"/>
          <p:cNvSpPr/>
          <p:nvPr/>
        </p:nvSpPr>
        <p:spPr>
          <a:xfrm>
            <a:off x="6263640" y="4983480"/>
            <a:ext cx="54864" cy="960120"/>
          </a:xfrm>
          <a:prstGeom prst="rect">
            <a:avLst/>
          </a:prstGeom>
          <a:solidFill>
            <a:srgbClr val="00AEEF"/>
          </a:solidFill>
          <a:ln>
            <a:noFill/>
          </a:ln>
        </p:spPr>
        <p:txBody>
          <a:bodyPr rtlCol="0" anchor="ctr"/>
          <a:lstStyle/>
          <a:p>
            <a:pPr algn="ctr"/>
          </a:p>
        </p:txBody>
      </p:sp>
      <p:sp>
        <p:nvSpPr>
          <p:cNvPr id="22" name="TextBox 21"/>
          <p:cNvSpPr txBox="1"/>
          <p:nvPr/>
        </p:nvSpPr>
        <p:spPr>
          <a:xfrm>
            <a:off x="6428231" y="5074920"/>
            <a:ext cx="52578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Ground rules</a:t>
            </a:r>
          </a:p>
        </p:txBody>
      </p:sp>
      <p:sp>
        <p:nvSpPr>
          <p:cNvPr id="23" name="TextBox 22"/>
          <p:cNvSpPr txBox="1"/>
          <p:nvPr/>
        </p:nvSpPr>
        <p:spPr>
          <a:xfrm>
            <a:off x="6428231" y="5394960"/>
            <a:ext cx="5257800" cy="457200"/>
          </a:xfrm>
          <a:prstGeom prst="rect">
            <a:avLst/>
          </a:prstGeom>
          <a:noFill/>
        </p:spPr>
        <p:txBody>
          <a:bodyPr wrap="square" anchor="t" lIns="36576" rIns="36576" tIns="21945" bIns="21945">
            <a:spAutoFit/>
          </a:bodyPr>
          <a:lstStyle/>
          <a:p>
            <a:pPr algn="l">
              <a:spcAft>
                <a:spcPts val="400"/>
              </a:spcAft>
            </a:pPr>
            <a:r>
              <a:rPr sz="1000" b="0" i="0">
                <a:solidFill>
                  <a:srgbClr val="404040"/>
                </a:solidFill>
                <a:latin typeface="Arial"/>
              </a:rPr>
              <a:t>Challenge the evidence, not the authors. Separate what the data shows from what we infer. Leave with decisions and owners.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Four of ten deliverables are final, three are in draft and three remain, including the M&amp;E toolkit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WHERE THE STUDY STANDS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Signed SLA, Annexure B clause 3.2 (Dec 2025); input documents as received for this session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389120"/>
        </p:xfrm>
        <a:graphic>
          <a:graphicData uri="http://schemas.openxmlformats.org/drawingml/2006/table">
            <a:tbl>
              <a:tblPr firstRow="1" bandRow="0">
                <a:tableStyleId>{5C22544A-7EE6-4342-B048-85BDC9FD1C3A}</a:tableStyleId>
              </a:tblPr>
              <a:tblGrid>
                <a:gridCol w="731520"/>
                <a:gridCol w="3657600"/>
                <a:gridCol w="1097280"/>
                <a:gridCol w="1417320"/>
                <a:gridCol w="4517136"/>
              </a:tblGrid>
              <a:tr h="365760">
                <a:tc>
                  <a:txBody>
                    <a:bodyPr wrap="square"/>
                    <a:lstStyle/>
                    <a:p>
                      <a:pPr algn="l"/>
                      <a:r>
                        <a:rPr sz="1000" b="1" i="0">
                          <a:solidFill>
                            <a:srgbClr val="FFFFFF"/>
                          </a:solidFill>
                          <a:latin typeface="Arial"/>
                        </a:rPr>
                        <a:t>SLA ref</a:t>
                      </a:r>
                    </a:p>
                  </a:txBody>
                  <a:tcPr marL="54864" marR="54864" marT="27432" marB="27432" anchor="ctr">
                    <a:solidFill>
                      <a:srgbClr val="1F497D"/>
                    </a:solidFill>
                  </a:tcPr>
                </a:tc>
                <a:tc>
                  <a:txBody>
                    <a:bodyPr wrap="square"/>
                    <a:lstStyle/>
                    <a:p>
                      <a:pPr algn="l"/>
                      <a:r>
                        <a:rPr sz="1000" b="1" i="0">
                          <a:solidFill>
                            <a:srgbClr val="FFFFFF"/>
                          </a:solidFill>
                          <a:latin typeface="Arial"/>
                        </a:rPr>
                        <a:t>Deliverable</a:t>
                      </a:r>
                    </a:p>
                  </a:txBody>
                  <a:tcPr marL="54864" marR="54864" marT="27432" marB="27432" anchor="ctr">
                    <a:solidFill>
                      <a:srgbClr val="1F497D"/>
                    </a:solidFill>
                  </a:tcPr>
                </a:tc>
                <a:tc>
                  <a:txBody>
                    <a:bodyPr wrap="square"/>
                    <a:lstStyle/>
                    <a:p>
                      <a:pPr algn="l"/>
                      <a:r>
                        <a:rPr sz="1000" b="1" i="0">
                          <a:solidFill>
                            <a:srgbClr val="FFFFFF"/>
                          </a:solidFill>
                          <a:latin typeface="Arial"/>
                        </a:rPr>
                        <a:t>Dated</a:t>
                      </a:r>
                    </a:p>
                  </a:txBody>
                  <a:tcPr marL="54864" marR="54864" marT="27432" marB="27432" anchor="ctr">
                    <a:solidFill>
                      <a:srgbClr val="1F497D"/>
                    </a:solidFill>
                  </a:tcPr>
                </a:tc>
                <a:tc>
                  <a:txBody>
                    <a:bodyPr wrap="square"/>
                    <a:lstStyle/>
                    <a:p>
                      <a:pPr algn="l"/>
                      <a:r>
                        <a:rPr sz="1000" b="1" i="0">
                          <a:solidFill>
                            <a:srgbClr val="FFFFFF"/>
                          </a:solidFill>
                          <a:latin typeface="Arial"/>
                        </a:rPr>
                        <a:t>Status</a:t>
                      </a:r>
                    </a:p>
                  </a:txBody>
                  <a:tcPr marL="54864" marR="54864" marT="27432" marB="27432" anchor="ctr">
                    <a:solidFill>
                      <a:srgbClr val="1F497D"/>
                    </a:solidFill>
                  </a:tcPr>
                </a:tc>
                <a:tc>
                  <a:txBody>
                    <a:bodyPr wrap="square"/>
                    <a:lstStyle/>
                    <a:p>
                      <a:pPr algn="l"/>
                      <a:r>
                        <a:rPr sz="1000" b="1" i="0">
                          <a:solidFill>
                            <a:srgbClr val="FFFFFF"/>
                          </a:solidFill>
                          <a:latin typeface="Arial"/>
                        </a:rPr>
                        <a:t>Comment</a:t>
                      </a:r>
                    </a:p>
                  </a:txBody>
                  <a:tcPr marL="54864" marR="54864" marT="27432" marB="27432" anchor="ctr">
                    <a:solidFill>
                      <a:srgbClr val="1F497D"/>
                    </a:solidFill>
                  </a:tcPr>
                </a:tc>
              </a:tr>
              <a:tr h="365760">
                <a:tc>
                  <a:txBody>
                    <a:bodyPr wrap="square"/>
                    <a:lstStyle/>
                    <a:p>
                      <a:pPr algn="l"/>
                      <a:r>
                        <a:rPr sz="1000" b="0" i="0">
                          <a:solidFill>
                            <a:srgbClr val="7F7F7F"/>
                          </a:solidFill>
                          <a:latin typeface="Arial"/>
                        </a:rPr>
                        <a:t>3.2.1</a:t>
                      </a:r>
                    </a:p>
                  </a:txBody>
                  <a:tcPr marL="54864" marR="54864" marT="27432" marB="27432" anchor="ctr">
                    <a:solidFill>
                      <a:srgbClr val="FFFFFF"/>
                    </a:solidFill>
                  </a:tcPr>
                </a:tc>
                <a:tc>
                  <a:txBody>
                    <a:bodyPr wrap="square"/>
                    <a:lstStyle/>
                    <a:p>
                      <a:pPr algn="l"/>
                      <a:r>
                        <a:rPr sz="1000" b="1" i="0">
                          <a:solidFill>
                            <a:srgbClr val="1F497D"/>
                          </a:solidFill>
                          <a:latin typeface="Arial"/>
                        </a:rPr>
                        <a:t>Inception report and project plan</a:t>
                      </a:r>
                    </a:p>
                  </a:txBody>
                  <a:tcPr marL="54864" marR="54864" marT="27432" marB="27432" anchor="ctr">
                    <a:solidFill>
                      <a:srgbClr val="FFFFFF"/>
                    </a:solidFill>
                  </a:tcPr>
                </a:tc>
                <a:tc>
                  <a:txBody>
                    <a:bodyPr wrap="square"/>
                    <a:lstStyle/>
                    <a:p>
                      <a:pPr algn="l"/>
                      <a:r>
                        <a:rPr sz="1000" b="0" i="0">
                          <a:solidFill>
                            <a:srgbClr val="404040"/>
                          </a:solidFill>
                          <a:latin typeface="Arial"/>
                        </a:rPr>
                        <a:t>Nov 2025</a:t>
                      </a:r>
                    </a:p>
                  </a:txBody>
                  <a:tcPr marL="54864" marR="54864" marT="27432" marB="27432" anchor="ctr">
                    <a:solidFill>
                      <a:srgbClr val="FFFFFF"/>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Four-phase plan, team, benchmark shortlist</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3.2.2</a:t>
                      </a:r>
                    </a:p>
                  </a:txBody>
                  <a:tcPr marL="54864" marR="54864" marT="27432" marB="27432" anchor="ctr">
                    <a:solidFill>
                      <a:srgbClr val="F2F2F2"/>
                    </a:solidFill>
                  </a:tcPr>
                </a:tc>
                <a:tc>
                  <a:txBody>
                    <a:bodyPr wrap="square"/>
                    <a:lstStyle/>
                    <a:p>
                      <a:pPr algn="l"/>
                      <a:r>
                        <a:rPr sz="1000" b="1" i="0">
                          <a:solidFill>
                            <a:srgbClr val="1F497D"/>
                          </a:solidFill>
                          <a:latin typeface="Arial"/>
                        </a:rPr>
                        <a:t>Current State Diagnostic</a:t>
                      </a:r>
                    </a:p>
                  </a:txBody>
                  <a:tcPr marL="54864" marR="54864" marT="27432" marB="27432" anchor="ctr">
                    <a:solidFill>
                      <a:srgbClr val="F2F2F2"/>
                    </a:solidFill>
                  </a:tcPr>
                </a:tc>
                <a:tc>
                  <a:txBody>
                    <a:bodyPr wrap="square"/>
                    <a:lstStyle/>
                    <a:p>
                      <a:pPr algn="l"/>
                      <a:r>
                        <a:rPr sz="1000" b="0" i="0">
                          <a:solidFill>
                            <a:srgbClr val="404040"/>
                          </a:solidFill>
                          <a:latin typeface="Arial"/>
                        </a:rPr>
                        <a:t>Dec 2025</a:t>
                      </a:r>
                    </a:p>
                  </a:txBody>
                  <a:tcPr marL="54864" marR="54864" marT="27432" marB="27432" anchor="ctr">
                    <a:solidFill>
                      <a:srgbClr val="F2F2F2"/>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Baseline and first hypothesis tree</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3.2.3</a:t>
                      </a:r>
                    </a:p>
                  </a:txBody>
                  <a:tcPr marL="54864" marR="54864" marT="27432" marB="27432" anchor="ctr">
                    <a:solidFill>
                      <a:srgbClr val="FFFFFF"/>
                    </a:solidFill>
                  </a:tcPr>
                </a:tc>
                <a:tc>
                  <a:txBody>
                    <a:bodyPr wrap="square"/>
                    <a:lstStyle/>
                    <a:p>
                      <a:pPr algn="l"/>
                      <a:r>
                        <a:rPr sz="1000" b="1" i="0">
                          <a:solidFill>
                            <a:srgbClr val="1F497D"/>
                          </a:solidFill>
                          <a:latin typeface="Arial"/>
                        </a:rPr>
                        <a:t>Market Strategy Report (Demand-Side)</a:t>
                      </a:r>
                    </a:p>
                  </a:txBody>
                  <a:tcPr marL="54864" marR="54864" marT="27432" marB="27432" anchor="ctr">
                    <a:solidFill>
                      <a:srgbClr val="FFFFFF"/>
                    </a:solidFill>
                  </a:tcPr>
                </a:tc>
                <a:tc>
                  <a:txBody>
                    <a:bodyPr wrap="square"/>
                    <a:lstStyle/>
                    <a:p>
                      <a:pPr algn="l"/>
                      <a:r>
                        <a:rPr sz="1000" b="0" i="0">
                          <a:solidFill>
                            <a:srgbClr val="404040"/>
                          </a:solidFill>
                          <a:latin typeface="Arial"/>
                        </a:rPr>
                        <a:t>Jun 2026</a:t>
                      </a:r>
                    </a:p>
                  </a:txBody>
                  <a:tcPr marL="54864" marR="54864" marT="27432" marB="27432" anchor="ctr">
                    <a:solidFill>
                      <a:srgbClr val="FFFFFF"/>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Scenarios, priority markets, route to market</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3.2.4</a:t>
                      </a:r>
                    </a:p>
                  </a:txBody>
                  <a:tcPr marL="54864" marR="54864" marT="27432" marB="27432" anchor="ctr">
                    <a:solidFill>
                      <a:srgbClr val="F2F2F2"/>
                    </a:solidFill>
                  </a:tcPr>
                </a:tc>
                <a:tc>
                  <a:txBody>
                    <a:bodyPr wrap="square"/>
                    <a:lstStyle/>
                    <a:p>
                      <a:pPr algn="l"/>
                      <a:r>
                        <a:rPr sz="1000" b="1" i="0">
                          <a:solidFill>
                            <a:srgbClr val="1F497D"/>
                          </a:solidFill>
                          <a:latin typeface="Arial"/>
                        </a:rPr>
                        <a:t>Infrastructure Investment Framework</a:t>
                      </a:r>
                    </a:p>
                  </a:txBody>
                  <a:tcPr marL="54864" marR="54864" marT="27432" marB="27432" anchor="ctr">
                    <a:solidFill>
                      <a:srgbClr val="F2F2F2"/>
                    </a:solidFill>
                  </a:tcPr>
                </a:tc>
                <a:tc>
                  <a:txBody>
                    <a:bodyPr wrap="square"/>
                    <a:lstStyle/>
                    <a:p>
                      <a:pPr algn="l"/>
                      <a:r>
                        <a:rPr sz="1000" b="0" i="0">
                          <a:solidFill>
                            <a:srgbClr val="404040"/>
                          </a:solidFill>
                          <a:latin typeface="Arial"/>
                        </a:rPr>
                        <a:t>Jun 2026</a:t>
                      </a:r>
                    </a:p>
                  </a:txBody>
                  <a:tcPr marL="54864" marR="54864" marT="27432" marB="27432" anchor="ctr">
                    <a:solidFill>
                      <a:srgbClr val="F2F2F2"/>
                    </a:solidFill>
                  </a:tcPr>
                </a:tc>
                <a:tc>
                  <a:txBody>
                    <a:bodyPr wrap="square"/>
                    <a:lstStyle/>
                    <a:p>
                      <a:pPr algn="l"/>
                      <a:r>
                        <a:rPr sz="1000" b="1" i="0">
                          <a:solidFill>
                            <a:srgbClr val="FFFFFF"/>
                          </a:solidFill>
                          <a:latin typeface="Arial"/>
                        </a:rPr>
                        <a:t>Draft / partial</a:t>
                      </a:r>
                    </a:p>
                  </a:txBody>
                  <a:tcPr marL="54864" marR="54864" marT="27432" marB="27432" anchor="ctr">
                    <a:solidFill>
                      <a:srgbClr val="F2A900"/>
                    </a:solidFill>
                  </a:tcPr>
                </a:tc>
                <a:tc>
                  <a:txBody>
                    <a:bodyPr wrap="square"/>
                    <a:lstStyle/>
                    <a:p>
                      <a:pPr algn="l"/>
                      <a:r>
                        <a:rPr sz="1000" b="0" i="0">
                          <a:solidFill>
                            <a:srgbClr val="404040"/>
                          </a:solidFill>
                          <a:latin typeface="Arial"/>
                        </a:rPr>
                        <a:t>50,332 assets scored; one district and one route profiled; no ROI</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3.2.5</a:t>
                      </a:r>
                    </a:p>
                  </a:txBody>
                  <a:tcPr marL="54864" marR="54864" marT="27432" marB="27432" anchor="ctr">
                    <a:solidFill>
                      <a:srgbClr val="FFFFFF"/>
                    </a:solidFill>
                  </a:tcPr>
                </a:tc>
                <a:tc>
                  <a:txBody>
                    <a:bodyPr wrap="square"/>
                    <a:lstStyle/>
                    <a:p>
                      <a:pPr algn="l"/>
                      <a:r>
                        <a:rPr sz="1000" b="1" i="0">
                          <a:solidFill>
                            <a:srgbClr val="1F497D"/>
                          </a:solidFill>
                          <a:latin typeface="Arial"/>
                        </a:rPr>
                        <a:t>SMME and Inclusion Strategy</a:t>
                      </a:r>
                    </a:p>
                  </a:txBody>
                  <a:tcPr marL="54864" marR="54864" marT="27432" marB="27432" anchor="ctr">
                    <a:solidFill>
                      <a:srgbClr val="FFFFFF"/>
                    </a:solidFill>
                  </a:tcPr>
                </a:tc>
                <a:tc>
                  <a:txBody>
                    <a:bodyPr wrap="square"/>
                    <a:lstStyle/>
                    <a:p>
                      <a:pPr algn="l"/>
                      <a:r>
                        <a:rPr sz="1000" b="0" i="0">
                          <a:solidFill>
                            <a:srgbClr val="404040"/>
                          </a:solidFill>
                          <a:latin typeface="Arial"/>
                        </a:rPr>
                        <a:t>Sep 2026</a:t>
                      </a:r>
                    </a:p>
                  </a:txBody>
                  <a:tcPr marL="54864" marR="54864" marT="27432" marB="27432" anchor="ctr">
                    <a:solidFill>
                      <a:srgbClr val="FFFFFF"/>
                    </a:solidFill>
                  </a:tcPr>
                </a:tc>
                <a:tc>
                  <a:txBody>
                    <a:bodyPr wrap="square"/>
                    <a:lstStyle/>
                    <a:p>
                      <a:pPr algn="l"/>
                      <a:r>
                        <a:rPr sz="1000" b="1" i="0">
                          <a:solidFill>
                            <a:srgbClr val="FFFFFF"/>
                          </a:solidFill>
                          <a:latin typeface="Arial"/>
                        </a:rPr>
                        <a:t>Draft / partial</a:t>
                      </a:r>
                    </a:p>
                  </a:txBody>
                  <a:tcPr marL="54864" marR="54864" marT="27432" marB="27432" anchor="ctr">
                    <a:solidFill>
                      <a:srgbClr val="F2A900"/>
                    </a:solidFill>
                  </a:tcPr>
                </a:tc>
                <a:tc>
                  <a:txBody>
                    <a:bodyPr wrap="square"/>
                    <a:lstStyle/>
                    <a:p>
                      <a:pPr algn="l"/>
                      <a:r>
                        <a:rPr sz="1000" b="0" i="0">
                          <a:solidFill>
                            <a:srgbClr val="404040"/>
                          </a:solidFill>
                          <a:latin typeface="Arial"/>
                        </a:rPr>
                        <a:t>20 communities, named first moves; SMME scale-up thin</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3.2.6</a:t>
                      </a:r>
                    </a:p>
                  </a:txBody>
                  <a:tcPr marL="54864" marR="54864" marT="27432" marB="27432" anchor="ctr">
                    <a:solidFill>
                      <a:srgbClr val="F2F2F2"/>
                    </a:solidFill>
                  </a:tcPr>
                </a:tc>
                <a:tc>
                  <a:txBody>
                    <a:bodyPr wrap="square"/>
                    <a:lstStyle/>
                    <a:p>
                      <a:pPr algn="l"/>
                      <a:r>
                        <a:rPr sz="1000" b="1" i="0">
                          <a:solidFill>
                            <a:srgbClr val="1F497D"/>
                          </a:solidFill>
                          <a:latin typeface="Arial"/>
                        </a:rPr>
                        <a:t>Monitoring and Evaluation Toolkit</a:t>
                      </a:r>
                    </a:p>
                  </a:txBody>
                  <a:tcPr marL="54864" marR="54864" marT="27432" marB="27432" anchor="ctr">
                    <a:solidFill>
                      <a:srgbClr val="F2F2F2"/>
                    </a:solidFill>
                  </a:tcPr>
                </a:tc>
                <a:tc>
                  <a:txBody>
                    <a:bodyPr wrap="square"/>
                    <a:lstStyle/>
                    <a:p>
                      <a:pPr algn="l"/>
                      <a:r>
                        <a:rPr sz="1000" b="0" i="0">
                          <a:solidFill>
                            <a:srgbClr val="404040"/>
                          </a:solidFill>
                          <a:latin typeface="Arial"/>
                        </a:rPr>
                        <a:t>n/a</a:t>
                      </a:r>
                    </a:p>
                  </a:txBody>
                  <a:tcPr marL="54864" marR="54864" marT="27432" marB="27432" anchor="ctr">
                    <a:solidFill>
                      <a:srgbClr val="F2F2F2"/>
                    </a:solidFill>
                  </a:tcPr>
                </a:tc>
                <a:tc>
                  <a:txBody>
                    <a:bodyPr wrap="square"/>
                    <a:lstStyle/>
                    <a:p>
                      <a:pPr algn="l"/>
                      <a:r>
                        <a:rPr sz="1000" b="1" i="0">
                          <a:solidFill>
                            <a:srgbClr val="FFFFFF"/>
                          </a:solidFill>
                          <a:latin typeface="Arial"/>
                        </a:rPr>
                        <a:t>Outstanding</a:t>
                      </a:r>
                    </a:p>
                  </a:txBody>
                  <a:tcPr marL="54864" marR="54864" marT="27432" marB="27432" anchor="ctr">
                    <a:solidFill>
                      <a:srgbClr val="D9262B"/>
                    </a:solidFill>
                  </a:tcPr>
                </a:tc>
                <a:tc>
                  <a:txBody>
                    <a:bodyPr wrap="square"/>
                    <a:lstStyle/>
                    <a:p>
                      <a:pPr algn="l"/>
                      <a:r>
                        <a:rPr sz="1000" b="0" i="0">
                          <a:solidFill>
                            <a:srgbClr val="404040"/>
                          </a:solidFill>
                          <a:latin typeface="Arial"/>
                        </a:rPr>
                        <a:t>Not tabled for this session</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3.2.7</a:t>
                      </a:r>
                    </a:p>
                  </a:txBody>
                  <a:tcPr marL="54864" marR="54864" marT="27432" marB="27432" anchor="ctr">
                    <a:solidFill>
                      <a:srgbClr val="FFFFFF"/>
                    </a:solidFill>
                  </a:tcPr>
                </a:tc>
                <a:tc>
                  <a:txBody>
                    <a:bodyPr wrap="square"/>
                    <a:lstStyle/>
                    <a:p>
                      <a:pPr algn="l"/>
                      <a:r>
                        <a:rPr sz="1000" b="1" i="0">
                          <a:solidFill>
                            <a:srgbClr val="1F497D"/>
                          </a:solidFill>
                          <a:latin typeface="Arial"/>
                        </a:rPr>
                        <a:t>Global Benchmarking Report</a:t>
                      </a:r>
                    </a:p>
                  </a:txBody>
                  <a:tcPr marL="54864" marR="54864" marT="27432" marB="27432" anchor="ctr">
                    <a:solidFill>
                      <a:srgbClr val="FFFFFF"/>
                    </a:solidFill>
                  </a:tcPr>
                </a:tc>
                <a:tc>
                  <a:txBody>
                    <a:bodyPr wrap="square"/>
                    <a:lstStyle/>
                    <a:p>
                      <a:pPr algn="l"/>
                      <a:r>
                        <a:rPr sz="1000" b="0" i="0">
                          <a:solidFill>
                            <a:srgbClr val="404040"/>
                          </a:solidFill>
                          <a:latin typeface="Arial"/>
                        </a:rPr>
                        <a:t>Mar 2026</a:t>
                      </a:r>
                    </a:p>
                  </a:txBody>
                  <a:tcPr marL="54864" marR="54864" marT="27432" marB="27432" anchor="ctr">
                    <a:solidFill>
                      <a:srgbClr val="FFFFFF"/>
                    </a:solidFill>
                  </a:tcPr>
                </a:tc>
                <a:tc>
                  <a:txBody>
                    <a:bodyPr wrap="square"/>
                    <a:lstStyle/>
                    <a:p>
                      <a:pPr algn="l"/>
                      <a:r>
                        <a:rPr sz="1000" b="1" i="0">
                          <a:solidFill>
                            <a:srgbClr val="FFFFFF"/>
                          </a:solidFill>
                          <a:latin typeface="Arial"/>
                        </a:rPr>
                        <a:t>Delivered</a:t>
                      </a:r>
                    </a:p>
                  </a:txBody>
                  <a:tcPr marL="54864" marR="54864" marT="27432" marB="27432" anchor="ctr">
                    <a:solidFill>
                      <a:srgbClr val="2E9E44"/>
                    </a:solidFill>
                  </a:tcPr>
                </a:tc>
                <a:tc>
                  <a:txBody>
                    <a:bodyPr wrap="square"/>
                    <a:lstStyle/>
                    <a:p>
                      <a:pPr algn="l"/>
                      <a:r>
                        <a:rPr sz="1000" b="0" i="0">
                          <a:solidFill>
                            <a:srgbClr val="404040"/>
                          </a:solidFill>
                          <a:latin typeface="Arial"/>
                        </a:rPr>
                        <a:t>Six comparators, twelve transferable levers</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3.2.8</a:t>
                      </a:r>
                    </a:p>
                  </a:txBody>
                  <a:tcPr marL="54864" marR="54864" marT="27432" marB="27432" anchor="ctr">
                    <a:solidFill>
                      <a:srgbClr val="F2F2F2"/>
                    </a:solidFill>
                  </a:tcPr>
                </a:tc>
                <a:tc>
                  <a:txBody>
                    <a:bodyPr wrap="square"/>
                    <a:lstStyle/>
                    <a:p>
                      <a:pPr algn="l"/>
                      <a:r>
                        <a:rPr sz="1000" b="1" i="0">
                          <a:solidFill>
                            <a:srgbClr val="1F497D"/>
                          </a:solidFill>
                          <a:latin typeface="Arial"/>
                        </a:rPr>
                        <a:t>Stakeholder engagement (10 interactions)</a:t>
                      </a:r>
                    </a:p>
                  </a:txBody>
                  <a:tcPr marL="54864" marR="54864" marT="27432" marB="27432" anchor="ctr">
                    <a:solidFill>
                      <a:srgbClr val="F2F2F2"/>
                    </a:solidFill>
                  </a:tcPr>
                </a:tc>
                <a:tc>
                  <a:txBody>
                    <a:bodyPr wrap="square"/>
                    <a:lstStyle/>
                    <a:p>
                      <a:pPr algn="l"/>
                      <a:r>
                        <a:rPr sz="1000" b="0" i="0">
                          <a:solidFill>
                            <a:srgbClr val="404040"/>
                          </a:solidFill>
                          <a:latin typeface="Arial"/>
                        </a:rPr>
                        <a:t>Mar 2026</a:t>
                      </a:r>
                    </a:p>
                  </a:txBody>
                  <a:tcPr marL="54864" marR="54864" marT="27432" marB="27432" anchor="ctr">
                    <a:solidFill>
                      <a:srgbClr val="F2F2F2"/>
                    </a:solidFill>
                  </a:tcPr>
                </a:tc>
                <a:tc>
                  <a:txBody>
                    <a:bodyPr wrap="square"/>
                    <a:lstStyle/>
                    <a:p>
                      <a:pPr algn="l"/>
                      <a:r>
                        <a:rPr sz="1000" b="1" i="0">
                          <a:solidFill>
                            <a:srgbClr val="FFFFFF"/>
                          </a:solidFill>
                          <a:latin typeface="Arial"/>
                        </a:rPr>
                        <a:t>Draft / partial</a:t>
                      </a:r>
                    </a:p>
                  </a:txBody>
                  <a:tcPr marL="54864" marR="54864" marT="27432" marB="27432" anchor="ctr">
                    <a:solidFill>
                      <a:srgbClr val="F2A900"/>
                    </a:solidFill>
                  </a:tcPr>
                </a:tc>
                <a:tc>
                  <a:txBody>
                    <a:bodyPr wrap="square"/>
                    <a:lstStyle/>
                    <a:p>
                      <a:pPr algn="l"/>
                      <a:r>
                        <a:rPr sz="1000" b="0" i="0">
                          <a:solidFill>
                            <a:srgbClr val="404040"/>
                          </a:solidFill>
                          <a:latin typeface="Arial"/>
                        </a:rPr>
                        <a:t>Phase 1: 16 organisations; later phases unclear</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3.2.9</a:t>
                      </a:r>
                    </a:p>
                  </a:txBody>
                  <a:tcPr marL="54864" marR="54864" marT="27432" marB="27432" anchor="ctr">
                    <a:solidFill>
                      <a:srgbClr val="FFFFFF"/>
                    </a:solidFill>
                  </a:tcPr>
                </a:tc>
                <a:tc>
                  <a:txBody>
                    <a:bodyPr wrap="square"/>
                    <a:lstStyle/>
                    <a:p>
                      <a:pPr algn="l"/>
                      <a:r>
                        <a:rPr sz="1000" b="1" i="0">
                          <a:solidFill>
                            <a:srgbClr val="1F497D"/>
                          </a:solidFill>
                          <a:latin typeface="Arial"/>
                        </a:rPr>
                        <a:t>Final Research Report and knowledge transfer</a:t>
                      </a:r>
                    </a:p>
                  </a:txBody>
                  <a:tcPr marL="54864" marR="54864" marT="27432" marB="27432" anchor="ctr">
                    <a:solidFill>
                      <a:srgbClr val="FFFFFF"/>
                    </a:solidFill>
                  </a:tcPr>
                </a:tc>
                <a:tc>
                  <a:txBody>
                    <a:bodyPr wrap="square"/>
                    <a:lstStyle/>
                    <a:p>
                      <a:pPr algn="l"/>
                      <a:r>
                        <a:rPr sz="1000" b="0" i="0">
                          <a:solidFill>
                            <a:srgbClr val="404040"/>
                          </a:solidFill>
                          <a:latin typeface="Arial"/>
                        </a:rPr>
                        <a:t>n/a</a:t>
                      </a:r>
                    </a:p>
                  </a:txBody>
                  <a:tcPr marL="54864" marR="54864" marT="27432" marB="27432" anchor="ctr">
                    <a:solidFill>
                      <a:srgbClr val="FFFFFF"/>
                    </a:solidFill>
                  </a:tcPr>
                </a:tc>
                <a:tc>
                  <a:txBody>
                    <a:bodyPr wrap="square"/>
                    <a:lstStyle/>
                    <a:p>
                      <a:pPr algn="l"/>
                      <a:r>
                        <a:rPr sz="1000" b="1" i="0">
                          <a:solidFill>
                            <a:srgbClr val="FFFFFF"/>
                          </a:solidFill>
                          <a:latin typeface="Arial"/>
                        </a:rPr>
                        <a:t>Outstanding</a:t>
                      </a:r>
                    </a:p>
                  </a:txBody>
                  <a:tcPr marL="54864" marR="54864" marT="27432" marB="27432" anchor="ctr">
                    <a:solidFill>
                      <a:srgbClr val="D9262B"/>
                    </a:solidFill>
                  </a:tcPr>
                </a:tc>
                <a:tc>
                  <a:txBody>
                    <a:bodyPr wrap="square"/>
                    <a:lstStyle/>
                    <a:p>
                      <a:pPr algn="l"/>
                      <a:r>
                        <a:rPr sz="1000" b="0" i="0">
                          <a:solidFill>
                            <a:srgbClr val="404040"/>
                          </a:solidFill>
                          <a:latin typeface="Arial"/>
                        </a:rPr>
                        <a:t>Drafting starts after this session</a:t>
                      </a:r>
                    </a:p>
                  </a:txBody>
                  <a:tcPr marL="54864" marR="54864" marT="27432" marB="27432" anchor="ctr">
                    <a:solidFill>
                      <a:srgbClr val="FFFFFF"/>
                    </a:solidFill>
                  </a:tcPr>
                </a:tc>
              </a:tr>
              <a:tr h="365760">
                <a:tc>
                  <a:txBody>
                    <a:bodyPr wrap="square"/>
                    <a:lstStyle/>
                    <a:p>
                      <a:pPr algn="l"/>
                      <a:r>
                        <a:rPr sz="1000" b="0" i="0">
                          <a:solidFill>
                            <a:srgbClr val="7F7F7F"/>
                          </a:solidFill>
                          <a:latin typeface="Arial"/>
                        </a:rPr>
                        <a:t>3.2.10</a:t>
                      </a:r>
                    </a:p>
                  </a:txBody>
                  <a:tcPr marL="54864" marR="54864" marT="27432" marB="27432" anchor="ctr">
                    <a:solidFill>
                      <a:srgbClr val="F2F2F2"/>
                    </a:solidFill>
                  </a:tcPr>
                </a:tc>
                <a:tc>
                  <a:txBody>
                    <a:bodyPr wrap="square"/>
                    <a:lstStyle/>
                    <a:p>
                      <a:pPr algn="l"/>
                      <a:r>
                        <a:rPr sz="1000" b="1" i="0">
                          <a:solidFill>
                            <a:srgbClr val="1F497D"/>
                          </a:solidFill>
                          <a:latin typeface="Arial"/>
                        </a:rPr>
                        <a:t>Launch event and knowledge transfer (4)</a:t>
                      </a:r>
                    </a:p>
                  </a:txBody>
                  <a:tcPr marL="54864" marR="54864" marT="27432" marB="27432" anchor="ctr">
                    <a:solidFill>
                      <a:srgbClr val="F2F2F2"/>
                    </a:solidFill>
                  </a:tcPr>
                </a:tc>
                <a:tc>
                  <a:txBody>
                    <a:bodyPr wrap="square"/>
                    <a:lstStyle/>
                    <a:p>
                      <a:pPr algn="l"/>
                      <a:r>
                        <a:rPr sz="1000" b="0" i="0">
                          <a:solidFill>
                            <a:srgbClr val="404040"/>
                          </a:solidFill>
                          <a:latin typeface="Arial"/>
                        </a:rPr>
                        <a:t>n/a</a:t>
                      </a:r>
                    </a:p>
                  </a:txBody>
                  <a:tcPr marL="54864" marR="54864" marT="27432" marB="27432" anchor="ctr">
                    <a:solidFill>
                      <a:srgbClr val="F2F2F2"/>
                    </a:solidFill>
                  </a:tcPr>
                </a:tc>
                <a:tc>
                  <a:txBody>
                    <a:bodyPr wrap="square"/>
                    <a:lstStyle/>
                    <a:p>
                      <a:pPr algn="l"/>
                      <a:r>
                        <a:rPr sz="1000" b="1" i="0">
                          <a:solidFill>
                            <a:srgbClr val="FFFFFF"/>
                          </a:solidFill>
                          <a:latin typeface="Arial"/>
                        </a:rPr>
                        <a:t>Outstanding</a:t>
                      </a:r>
                    </a:p>
                  </a:txBody>
                  <a:tcPr marL="54864" marR="54864" marT="27432" marB="27432" anchor="ctr">
                    <a:solidFill>
                      <a:srgbClr val="D9262B"/>
                    </a:solidFill>
                  </a:tcPr>
                </a:tc>
                <a:tc>
                  <a:txBody>
                    <a:bodyPr wrap="square"/>
                    <a:lstStyle/>
                    <a:p>
                      <a:pPr algn="l"/>
                      <a:r>
                        <a:rPr sz="1000" b="0" i="0">
                          <a:solidFill>
                            <a:srgbClr val="404040"/>
                          </a:solidFill>
                          <a:latin typeface="Arial"/>
                        </a:rPr>
                        <a:t>Date and format not yet set</a:t>
                      </a:r>
                    </a:p>
                  </a:txBody>
                  <a:tcPr marL="54864" marR="54864" marT="27432" marB="27432" anchor="ctr">
                    <a:solidFill>
                      <a:srgbClr val="F2F2F2"/>
                    </a:solidFill>
                  </a:tcPr>
                </a:tc>
              </a:tr>
              <a:tr h="365760">
                <a:tc>
                  <a:txBody>
                    <a:bodyPr wrap="square"/>
                    <a:lstStyle/>
                    <a:p>
                      <a:pPr algn="l"/>
                      <a:r>
                        <a:rPr sz="1000" b="0" i="0">
                          <a:solidFill>
                            <a:srgbClr val="7F7F7F"/>
                          </a:solidFill>
                          <a:latin typeface="Arial"/>
                        </a:rPr>
                        <a:t>Extra</a:t>
                      </a:r>
                    </a:p>
                  </a:txBody>
                  <a:tcPr marL="54864" marR="54864" marT="27432" marB="27432" anchor="ctr">
                    <a:solidFill>
                      <a:srgbClr val="FFFFFF"/>
                    </a:solidFill>
                  </a:tcPr>
                </a:tc>
                <a:tc>
                  <a:txBody>
                    <a:bodyPr wrap="square"/>
                    <a:lstStyle/>
                    <a:p>
                      <a:pPr algn="l"/>
                      <a:r>
                        <a:rPr sz="1000" b="1" i="0">
                          <a:solidFill>
                            <a:srgbClr val="1F497D"/>
                          </a:solidFill>
                          <a:latin typeface="Arial"/>
                        </a:rPr>
                        <a:t>MIDAS aviation assessment; three client factbases</a:t>
                      </a:r>
                    </a:p>
                  </a:txBody>
                  <a:tcPr marL="54864" marR="54864" marT="27432" marB="27432" anchor="ctr">
                    <a:solidFill>
                      <a:srgbClr val="FFFFFF"/>
                    </a:solidFill>
                  </a:tcPr>
                </a:tc>
                <a:tc>
                  <a:txBody>
                    <a:bodyPr wrap="square"/>
                    <a:lstStyle/>
                    <a:p>
                      <a:pPr algn="l"/>
                      <a:r>
                        <a:rPr sz="1000" b="0" i="0">
                          <a:solidFill>
                            <a:srgbClr val="404040"/>
                          </a:solidFill>
                          <a:latin typeface="Arial"/>
                        </a:rPr>
                        <a:t>Mar-Jul 2026</a:t>
                      </a:r>
                    </a:p>
                  </a:txBody>
                  <a:tcPr marL="54864" marR="54864" marT="27432" marB="27432" anchor="ctr">
                    <a:solidFill>
                      <a:srgbClr val="FFFFFF"/>
                    </a:solidFill>
                  </a:tcPr>
                </a:tc>
                <a:tc>
                  <a:txBody>
                    <a:bodyPr wrap="square"/>
                    <a:lstStyle/>
                    <a:p>
                      <a:pPr algn="l"/>
                      <a:r>
                        <a:rPr sz="1000" b="1" i="0">
                          <a:solidFill>
                            <a:srgbClr val="FFFFFF"/>
                          </a:solidFill>
                          <a:latin typeface="Arial"/>
                        </a:rPr>
                        <a:t>Supplementary</a:t>
                      </a:r>
                    </a:p>
                  </a:txBody>
                  <a:tcPr marL="54864" marR="54864" marT="27432" marB="27432" anchor="ctr">
                    <a:solidFill>
                      <a:srgbClr val="4F81BD"/>
                    </a:solidFill>
                  </a:tcPr>
                </a:tc>
                <a:tc>
                  <a:txBody>
                    <a:bodyPr wrap="square"/>
                    <a:lstStyle/>
                    <a:p>
                      <a:pPr algn="l"/>
                      <a:r>
                        <a:rPr sz="1000" b="0" i="0">
                          <a:solidFill>
                            <a:srgbClr val="404040"/>
                          </a:solidFill>
                          <a:latin typeface="Arial"/>
                        </a:rPr>
                        <a:t>Route-level air data; secondary syntheses</a:t>
                      </a:r>
                    </a:p>
                  </a:txBody>
                  <a:tcPr marL="54864" marR="54864" marT="27432" marB="27432" anchor="ctr">
                    <a:solidFill>
                      <a:srgbClr val="FFFFFF"/>
                    </a:solidFill>
                  </a:tcPr>
                </a:tc>
              </a:tr>
            </a:tbl>
          </a:graphicData>
        </a:graphic>
      </p:graphicFrame>
      <p:sp>
        <p:nvSpPr>
          <p:cNvPr id="9" name="Rectangle 8"/>
          <p:cNvSpPr/>
          <p:nvPr/>
        </p:nvSpPr>
        <p:spPr>
          <a:xfrm>
            <a:off x="384048" y="5779008"/>
            <a:ext cx="11420856" cy="438912"/>
          </a:xfrm>
          <a:prstGeom prst="rect">
            <a:avLst/>
          </a:prstGeom>
          <a:solidFill>
            <a:srgbClr val="1F497D"/>
          </a:solidFill>
          <a:ln>
            <a:noFill/>
          </a:ln>
        </p:spPr>
        <p:txBody>
          <a:bodyPr rtlCol="0" anchor="ctr"/>
          <a:lstStyle/>
          <a:p>
            <a:pPr algn="ctr"/>
          </a:p>
        </p:txBody>
      </p:sp>
      <p:sp>
        <p:nvSpPr>
          <p:cNvPr id="10" name="TextBox 9"/>
          <p:cNvSpPr txBox="1"/>
          <p:nvPr/>
        </p:nvSpPr>
        <p:spPr>
          <a:xfrm>
            <a:off x="548640" y="5779008"/>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Contract term ends 31 October 2026. Final report, M&amp;E toolkit and launch fall after that date: an extension under SLA clause 4.3 is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The core question</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How does the Western Cape double international tourism, and who must act?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v4 hypothesis tree frames the answer: three pillars, six objectives, twenty focus areas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THE SPINE OF THE STUDY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Wesgro Hypothesis Tree DRAFT v4 (4 Jul 2026), evolved from the Diagnostic tree (Dec 2025, p64)</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218688" y="1143000"/>
            <a:ext cx="5751576" cy="457200"/>
          </a:xfrm>
          <a:prstGeom prst="rect">
            <a:avLst/>
          </a:prstGeom>
          <a:solidFill>
            <a:srgbClr val="1F497D"/>
          </a:solidFill>
          <a:ln>
            <a:noFill/>
          </a:ln>
        </p:spPr>
        <p:txBody>
          <a:bodyPr rtlCol="0" anchor="ctr" wrap="square" lIns="36576" rIns="36576" tIns="21945" bIns="21945"/>
          <a:lstStyle/>
          <a:p>
            <a:pPr algn="ctr">
              <a:spcAft>
                <a:spcPts val="0"/>
              </a:spcAft>
            </a:pPr>
            <a:r>
              <a:rPr sz="1200" b="1" i="0">
                <a:solidFill>
                  <a:srgbClr val="FFFFFF"/>
                </a:solidFill>
                <a:latin typeface="Arial"/>
              </a:rPr>
              <a:t>Unlocking International Tourism Growth</a:t>
            </a:r>
          </a:p>
          <a:p>
            <a:pPr algn="ctr">
              <a:spcAft>
                <a:spcPts val="0"/>
              </a:spcAft>
            </a:pPr>
            <a:r>
              <a:rPr sz="900" b="0" i="0">
                <a:solidFill>
                  <a:srgbClr val="FFFFFF"/>
                </a:solidFill>
                <a:latin typeface="Arial"/>
              </a:rPr>
              <a:t>2.8m international visitors and 300,000 tourism jobs by 2035</a:t>
            </a:r>
          </a:p>
        </p:txBody>
      </p:sp>
      <p:cxnSp>
        <p:nvCxnSpPr>
          <p:cNvPr id="9" name="Connector 8"/>
          <p:cNvCxnSpPr/>
          <p:nvPr/>
        </p:nvCxnSpPr>
        <p:spPr>
          <a:xfrm>
            <a:off x="2231136"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84048"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RESHAPE DEMAND</a:t>
            </a:r>
          </a:p>
          <a:p>
            <a:pPr algn="ctr">
              <a:spcAft>
                <a:spcPts val="0"/>
              </a:spcAft>
            </a:pPr>
            <a:r>
              <a:rPr sz="800" b="0" i="0">
                <a:solidFill>
                  <a:srgbClr val="FFFFFF"/>
                </a:solidFill>
                <a:latin typeface="Arial"/>
              </a:rPr>
              <a:t>Convert proven demand: high-value segments in priority markets and a flatter seasonal curve</a:t>
            </a:r>
          </a:p>
        </p:txBody>
      </p:sp>
      <p:cxnSp>
        <p:nvCxnSpPr>
          <p:cNvPr id="11" name="Connector 10"/>
          <p:cNvCxnSpPr/>
          <p:nvPr/>
        </p:nvCxnSpPr>
        <p:spPr>
          <a:xfrm>
            <a:off x="6053327"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206240"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TRANSFORM SUPPLY</a:t>
            </a:r>
          </a:p>
          <a:p>
            <a:pPr algn="ctr">
              <a:spcAft>
                <a:spcPts val="0"/>
              </a:spcAft>
            </a:pPr>
            <a:r>
              <a:rPr sz="800" b="0" i="0">
                <a:solidFill>
                  <a:srgbClr val="FFFFFF"/>
                </a:solidFill>
                <a:latin typeface="Arial"/>
              </a:rPr>
              <a:t>Remove the mobility, infrastructure and product constraints that cap capacity to convert demand</a:t>
            </a:r>
          </a:p>
        </p:txBody>
      </p:sp>
      <p:cxnSp>
        <p:nvCxnSpPr>
          <p:cNvPr id="13" name="Connector 12"/>
          <p:cNvCxnSpPr/>
          <p:nvPr/>
        </p:nvCxnSpPr>
        <p:spPr>
          <a:xfrm>
            <a:off x="9875519"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028431"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BUILD ENABLING CAPABILITY</a:t>
            </a:r>
          </a:p>
          <a:p>
            <a:pPr algn="ctr">
              <a:spcAft>
                <a:spcPts val="0"/>
              </a:spcAft>
            </a:pPr>
            <a:r>
              <a:rPr sz="800" b="0" i="0">
                <a:solidFill>
                  <a:srgbClr val="FFFFFF"/>
                </a:solidFill>
                <a:latin typeface="Arial"/>
              </a:rPr>
              <a:t>Coordinate institutions, investment and communities so growth is governed, financed and shared</a:t>
            </a:r>
          </a:p>
        </p:txBody>
      </p:sp>
      <p:cxnSp>
        <p:nvCxnSpPr>
          <p:cNvPr id="15" name="Connector 14"/>
          <p:cNvCxnSpPr/>
          <p:nvPr/>
        </p:nvCxnSpPr>
        <p:spPr>
          <a:xfrm>
            <a:off x="2231136" y="1682495"/>
            <a:ext cx="7644383" cy="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8404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Traveller, Brand and Proposition</a:t>
            </a:r>
          </a:p>
        </p:txBody>
      </p:sp>
      <p:cxnSp>
        <p:nvCxnSpPr>
          <p:cNvPr id="17" name="Connector 16"/>
          <p:cNvCxnSpPr/>
          <p:nvPr/>
        </p:nvCxnSpPr>
        <p:spPr>
          <a:xfrm>
            <a:off x="1275588"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295144"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Source Market Growth and Diversification</a:t>
            </a:r>
          </a:p>
        </p:txBody>
      </p:sp>
      <p:cxnSp>
        <p:nvCxnSpPr>
          <p:cNvPr id="19" name="Connector 18"/>
          <p:cNvCxnSpPr/>
          <p:nvPr/>
        </p:nvCxnSpPr>
        <p:spPr>
          <a:xfrm>
            <a:off x="3186684"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206240"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Accessibility, Connectivity and Infrastructure</a:t>
            </a:r>
          </a:p>
        </p:txBody>
      </p:sp>
      <p:cxnSp>
        <p:nvCxnSpPr>
          <p:cNvPr id="21" name="Connector 20"/>
          <p:cNvCxnSpPr/>
          <p:nvPr/>
        </p:nvCxnSpPr>
        <p:spPr>
          <a:xfrm>
            <a:off x="5097779"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117336"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Product and Destination Capacity</a:t>
            </a:r>
          </a:p>
        </p:txBody>
      </p:sp>
      <p:cxnSp>
        <p:nvCxnSpPr>
          <p:cNvPr id="23" name="Connector 22"/>
          <p:cNvCxnSpPr/>
          <p:nvPr/>
        </p:nvCxnSpPr>
        <p:spPr>
          <a:xfrm>
            <a:off x="7008875"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028431"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Inclusion and Sustainability</a:t>
            </a:r>
          </a:p>
        </p:txBody>
      </p:sp>
      <p:cxnSp>
        <p:nvCxnSpPr>
          <p:cNvPr id="25" name="Connector 24"/>
          <p:cNvCxnSpPr/>
          <p:nvPr/>
        </p:nvCxnSpPr>
        <p:spPr>
          <a:xfrm>
            <a:off x="8919972"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93952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Governance, Leadership and Investment</a:t>
            </a:r>
          </a:p>
        </p:txBody>
      </p:sp>
      <p:cxnSp>
        <p:nvCxnSpPr>
          <p:cNvPr id="27" name="Connector 26"/>
          <p:cNvCxnSpPr/>
          <p:nvPr/>
        </p:nvCxnSpPr>
        <p:spPr>
          <a:xfrm>
            <a:off x="10831067"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84048" y="2926080"/>
            <a:ext cx="1783080" cy="548640"/>
          </a:xfrm>
          <a:prstGeom prst="rect">
            <a:avLst/>
          </a:prstGeom>
          <a:solidFill>
            <a:srgbClr val="FFFFFF"/>
          </a:solidFill>
          <a:ln w="9525">
            <a:solidFill>
              <a:srgbClr val="7F7F7F"/>
            </a:solidFill>
          </a:ln>
        </p:spPr>
        <p:txBody>
          <a:bodyPr rtlCol="0" anchor="ctr"/>
          <a:lstStyle/>
          <a:p>
            <a:pPr algn="ctr"/>
          </a:p>
        </p:txBody>
      </p:sp>
      <p:sp>
        <p:nvSpPr>
          <p:cNvPr id="29" name="TextBox 28"/>
          <p:cNvSpPr txBox="1"/>
          <p:nvPr/>
        </p:nvSpPr>
        <p:spPr>
          <a:xfrm>
            <a:off x="420623"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Target the four priority high-value traveller segments</a:t>
            </a:r>
          </a:p>
        </p:txBody>
      </p:sp>
      <p:sp>
        <p:nvSpPr>
          <p:cNvPr id="30" name="Oval 29"/>
          <p:cNvSpPr/>
          <p:nvPr/>
        </p:nvSpPr>
        <p:spPr>
          <a:xfrm>
            <a:off x="2029968" y="2971800"/>
            <a:ext cx="91440" cy="91440"/>
          </a:xfrm>
          <a:prstGeom prst="ellipse">
            <a:avLst/>
          </a:prstGeom>
          <a:solidFill>
            <a:srgbClr val="E97132"/>
          </a:solidFill>
          <a:ln>
            <a:noFill/>
          </a:ln>
        </p:spPr>
        <p:txBody>
          <a:bodyPr rtlCol="0" anchor="ctr"/>
          <a:lstStyle/>
          <a:p>
            <a:pPr algn="ctr"/>
          </a:p>
        </p:txBody>
      </p:sp>
      <p:sp>
        <p:nvSpPr>
          <p:cNvPr id="31" name="Rectangle 30"/>
          <p:cNvSpPr/>
          <p:nvPr/>
        </p:nvSpPr>
        <p:spPr>
          <a:xfrm>
            <a:off x="384048" y="3557016"/>
            <a:ext cx="1783080" cy="548640"/>
          </a:xfrm>
          <a:prstGeom prst="rect">
            <a:avLst/>
          </a:prstGeom>
          <a:solidFill>
            <a:srgbClr val="FFFFFF"/>
          </a:solidFill>
          <a:ln w="9525">
            <a:solidFill>
              <a:srgbClr val="7F7F7F"/>
            </a:solidFill>
          </a:ln>
        </p:spPr>
        <p:txBody>
          <a:bodyPr rtlCol="0" anchor="ctr"/>
          <a:lstStyle/>
          <a:p>
            <a:pPr algn="ctr"/>
          </a:p>
        </p:txBody>
      </p:sp>
      <p:sp>
        <p:nvSpPr>
          <p:cNvPr id="32" name="TextBox 31"/>
          <p:cNvSpPr txBox="1"/>
          <p:nvPr/>
        </p:nvSpPr>
        <p:spPr>
          <a:xfrm>
            <a:off x="420623"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Extend Cape Town's brand equity to the province</a:t>
            </a:r>
          </a:p>
        </p:txBody>
      </p:sp>
      <p:sp>
        <p:nvSpPr>
          <p:cNvPr id="33" name="Oval 32"/>
          <p:cNvSpPr/>
          <p:nvPr/>
        </p:nvSpPr>
        <p:spPr>
          <a:xfrm>
            <a:off x="2029968" y="3602736"/>
            <a:ext cx="91440" cy="91440"/>
          </a:xfrm>
          <a:prstGeom prst="ellipse">
            <a:avLst/>
          </a:prstGeom>
          <a:solidFill>
            <a:srgbClr val="196B24"/>
          </a:solidFill>
          <a:ln>
            <a:noFill/>
          </a:ln>
        </p:spPr>
        <p:txBody>
          <a:bodyPr rtlCol="0" anchor="ctr"/>
          <a:lstStyle/>
          <a:p>
            <a:pPr algn="ctr"/>
          </a:p>
        </p:txBody>
      </p:sp>
      <p:sp>
        <p:nvSpPr>
          <p:cNvPr id="34" name="Rectangle 33"/>
          <p:cNvSpPr/>
          <p:nvPr/>
        </p:nvSpPr>
        <p:spPr>
          <a:xfrm>
            <a:off x="384048" y="4187952"/>
            <a:ext cx="1783080" cy="548640"/>
          </a:xfrm>
          <a:prstGeom prst="rect">
            <a:avLst/>
          </a:prstGeom>
          <a:solidFill>
            <a:srgbClr val="FFFFFF"/>
          </a:solidFill>
          <a:ln w="9525">
            <a:solidFill>
              <a:srgbClr val="7F7F7F"/>
            </a:solidFill>
          </a:ln>
        </p:spPr>
        <p:txBody>
          <a:bodyPr rtlCol="0" anchor="ctr"/>
          <a:lstStyle/>
          <a:p>
            <a:pPr algn="ctr"/>
          </a:p>
        </p:txBody>
      </p:sp>
      <p:sp>
        <p:nvSpPr>
          <p:cNvPr id="35" name="TextBox 34"/>
          <p:cNvSpPr txBox="1"/>
          <p:nvPr/>
        </p:nvSpPr>
        <p:spPr>
          <a:xfrm>
            <a:off x="420623"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Flatten seasonality with MICE and regional spread</a:t>
            </a:r>
          </a:p>
        </p:txBody>
      </p:sp>
      <p:sp>
        <p:nvSpPr>
          <p:cNvPr id="36" name="Oval 35"/>
          <p:cNvSpPr/>
          <p:nvPr/>
        </p:nvSpPr>
        <p:spPr>
          <a:xfrm>
            <a:off x="2029968" y="4233672"/>
            <a:ext cx="91440" cy="91440"/>
          </a:xfrm>
          <a:prstGeom prst="ellipse">
            <a:avLst/>
          </a:prstGeom>
          <a:solidFill>
            <a:srgbClr val="E97132"/>
          </a:solidFill>
          <a:ln>
            <a:noFill/>
          </a:ln>
        </p:spPr>
        <p:txBody>
          <a:bodyPr rtlCol="0" anchor="ctr"/>
          <a:lstStyle/>
          <a:p>
            <a:pPr algn="ctr"/>
          </a:p>
        </p:txBody>
      </p:sp>
      <p:sp>
        <p:nvSpPr>
          <p:cNvPr id="37" name="Rectangle 36"/>
          <p:cNvSpPr/>
          <p:nvPr/>
        </p:nvSpPr>
        <p:spPr>
          <a:xfrm>
            <a:off x="384048" y="4818888"/>
            <a:ext cx="1783080" cy="548640"/>
          </a:xfrm>
          <a:prstGeom prst="rect">
            <a:avLst/>
          </a:prstGeom>
          <a:solidFill>
            <a:srgbClr val="FFFFFF"/>
          </a:solidFill>
          <a:ln w="9525">
            <a:solidFill>
              <a:srgbClr val="7F7F7F"/>
            </a:solidFill>
          </a:ln>
        </p:spPr>
        <p:txBody>
          <a:bodyPr rtlCol="0" anchor="ctr"/>
          <a:lstStyle/>
          <a:p>
            <a:pPr algn="ctr"/>
          </a:p>
        </p:txBody>
      </p:sp>
      <p:sp>
        <p:nvSpPr>
          <p:cNvPr id="38" name="TextBox 37"/>
          <p:cNvSpPr txBox="1"/>
          <p:nvPr/>
        </p:nvSpPr>
        <p:spPr>
          <a:xfrm>
            <a:off x="420623" y="4837175"/>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Embed the destination in market-native booking platforms</a:t>
            </a:r>
          </a:p>
        </p:txBody>
      </p:sp>
      <p:sp>
        <p:nvSpPr>
          <p:cNvPr id="39" name="Oval 38"/>
          <p:cNvSpPr/>
          <p:nvPr/>
        </p:nvSpPr>
        <p:spPr>
          <a:xfrm>
            <a:off x="2029968" y="4864607"/>
            <a:ext cx="91440" cy="91440"/>
          </a:xfrm>
          <a:prstGeom prst="ellipse">
            <a:avLst/>
          </a:prstGeom>
          <a:solidFill>
            <a:srgbClr val="E97132"/>
          </a:solidFill>
          <a:ln>
            <a:noFill/>
          </a:ln>
        </p:spPr>
        <p:txBody>
          <a:bodyPr rtlCol="0" anchor="ctr"/>
          <a:lstStyle/>
          <a:p>
            <a:pPr algn="ctr"/>
          </a:p>
        </p:txBody>
      </p:sp>
      <p:sp>
        <p:nvSpPr>
          <p:cNvPr id="40" name="Rectangle 39"/>
          <p:cNvSpPr/>
          <p:nvPr/>
        </p:nvSpPr>
        <p:spPr>
          <a:xfrm>
            <a:off x="2295144" y="2926080"/>
            <a:ext cx="1783080" cy="548640"/>
          </a:xfrm>
          <a:prstGeom prst="rect">
            <a:avLst/>
          </a:prstGeom>
          <a:solidFill>
            <a:srgbClr val="FFFFFF"/>
          </a:solidFill>
          <a:ln w="9525">
            <a:solidFill>
              <a:srgbClr val="7F7F7F"/>
            </a:solidFill>
          </a:ln>
        </p:spPr>
        <p:txBody>
          <a:bodyPr rtlCol="0" anchor="ctr"/>
          <a:lstStyle/>
          <a:p>
            <a:pPr algn="ctr"/>
          </a:p>
        </p:txBody>
      </p:sp>
      <p:sp>
        <p:nvSpPr>
          <p:cNvPr id="41" name="TextBox 40"/>
          <p:cNvSpPr txBox="1"/>
          <p:nvPr/>
        </p:nvSpPr>
        <p:spPr>
          <a:xfrm>
            <a:off x="2331720"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Grow priority markets (India, China, Gulf, ASEAN)</a:t>
            </a:r>
          </a:p>
        </p:txBody>
      </p:sp>
      <p:sp>
        <p:nvSpPr>
          <p:cNvPr id="42" name="Oval 41"/>
          <p:cNvSpPr/>
          <p:nvPr/>
        </p:nvSpPr>
        <p:spPr>
          <a:xfrm>
            <a:off x="3941063" y="2971800"/>
            <a:ext cx="91440" cy="91440"/>
          </a:xfrm>
          <a:prstGeom prst="ellipse">
            <a:avLst/>
          </a:prstGeom>
          <a:solidFill>
            <a:srgbClr val="E97132"/>
          </a:solidFill>
          <a:ln>
            <a:noFill/>
          </a:ln>
        </p:spPr>
        <p:txBody>
          <a:bodyPr rtlCol="0" anchor="ctr"/>
          <a:lstStyle/>
          <a:p>
            <a:pPr algn="ctr"/>
          </a:p>
        </p:txBody>
      </p:sp>
      <p:sp>
        <p:nvSpPr>
          <p:cNvPr id="43" name="Rectangle 42"/>
          <p:cNvSpPr/>
          <p:nvPr/>
        </p:nvSpPr>
        <p:spPr>
          <a:xfrm>
            <a:off x="2295144" y="3557016"/>
            <a:ext cx="1783080" cy="548640"/>
          </a:xfrm>
          <a:prstGeom prst="rect">
            <a:avLst/>
          </a:prstGeom>
          <a:solidFill>
            <a:srgbClr val="FFFFFF"/>
          </a:solidFill>
          <a:ln w="9525">
            <a:solidFill>
              <a:srgbClr val="7F7F7F"/>
            </a:solidFill>
          </a:ln>
        </p:spPr>
        <p:txBody>
          <a:bodyPr rtlCol="0" anchor="ctr"/>
          <a:lstStyle/>
          <a:p>
            <a:pPr algn="ctr"/>
          </a:p>
        </p:txBody>
      </p:sp>
      <p:sp>
        <p:nvSpPr>
          <p:cNvPr id="44" name="TextBox 43"/>
          <p:cNvSpPr txBox="1"/>
          <p:nvPr/>
        </p:nvSpPr>
        <p:spPr>
          <a:xfrm>
            <a:off x="2331720"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Increase yield in mature markets (UK, Europe, N. America)</a:t>
            </a:r>
          </a:p>
        </p:txBody>
      </p:sp>
      <p:sp>
        <p:nvSpPr>
          <p:cNvPr id="45" name="Oval 44"/>
          <p:cNvSpPr/>
          <p:nvPr/>
        </p:nvSpPr>
        <p:spPr>
          <a:xfrm>
            <a:off x="3941063" y="3602736"/>
            <a:ext cx="91440" cy="91440"/>
          </a:xfrm>
          <a:prstGeom prst="ellipse">
            <a:avLst/>
          </a:prstGeom>
          <a:solidFill>
            <a:srgbClr val="156082"/>
          </a:solidFill>
          <a:ln>
            <a:noFill/>
          </a:ln>
        </p:spPr>
        <p:txBody>
          <a:bodyPr rtlCol="0" anchor="ctr"/>
          <a:lstStyle/>
          <a:p>
            <a:pPr algn="ctr"/>
          </a:p>
        </p:txBody>
      </p:sp>
      <p:sp>
        <p:nvSpPr>
          <p:cNvPr id="46" name="Rectangle 45"/>
          <p:cNvSpPr/>
          <p:nvPr/>
        </p:nvSpPr>
        <p:spPr>
          <a:xfrm>
            <a:off x="2295144" y="4187952"/>
            <a:ext cx="1783080" cy="548640"/>
          </a:xfrm>
          <a:prstGeom prst="rect">
            <a:avLst/>
          </a:prstGeom>
          <a:solidFill>
            <a:srgbClr val="FFFFFF"/>
          </a:solidFill>
          <a:ln w="9525">
            <a:solidFill>
              <a:srgbClr val="7F7F7F"/>
            </a:solidFill>
          </a:ln>
        </p:spPr>
        <p:txBody>
          <a:bodyPr rtlCol="0" anchor="ctr"/>
          <a:lstStyle/>
          <a:p>
            <a:pPr algn="ctr"/>
          </a:p>
        </p:txBody>
      </p:sp>
      <p:sp>
        <p:nvSpPr>
          <p:cNvPr id="47" name="TextBox 46"/>
          <p:cNvSpPr txBox="1"/>
          <p:nvPr/>
        </p:nvSpPr>
        <p:spPr>
          <a:xfrm>
            <a:off x="2331720"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Grow regional top-up and counter-seasonal demand (Africa)</a:t>
            </a:r>
          </a:p>
        </p:txBody>
      </p:sp>
      <p:sp>
        <p:nvSpPr>
          <p:cNvPr id="48" name="Oval 47"/>
          <p:cNvSpPr/>
          <p:nvPr/>
        </p:nvSpPr>
        <p:spPr>
          <a:xfrm>
            <a:off x="3941063" y="4233672"/>
            <a:ext cx="91440" cy="91440"/>
          </a:xfrm>
          <a:prstGeom prst="ellipse">
            <a:avLst/>
          </a:prstGeom>
          <a:solidFill>
            <a:srgbClr val="E97132"/>
          </a:solidFill>
          <a:ln>
            <a:noFill/>
          </a:ln>
        </p:spPr>
        <p:txBody>
          <a:bodyPr rtlCol="0" anchor="ctr"/>
          <a:lstStyle/>
          <a:p>
            <a:pPr algn="ctr"/>
          </a:p>
        </p:txBody>
      </p:sp>
      <p:sp>
        <p:nvSpPr>
          <p:cNvPr id="49" name="Rectangle 48"/>
          <p:cNvSpPr/>
          <p:nvPr/>
        </p:nvSpPr>
        <p:spPr>
          <a:xfrm>
            <a:off x="4206240" y="2926080"/>
            <a:ext cx="1783080" cy="548640"/>
          </a:xfrm>
          <a:prstGeom prst="rect">
            <a:avLst/>
          </a:prstGeom>
          <a:solidFill>
            <a:srgbClr val="FFFFFF"/>
          </a:solidFill>
          <a:ln w="9525">
            <a:solidFill>
              <a:srgbClr val="7F7F7F"/>
            </a:solidFill>
          </a:ln>
        </p:spPr>
        <p:txBody>
          <a:bodyPr rtlCol="0" anchor="ctr"/>
          <a:lstStyle/>
          <a:p>
            <a:pPr algn="ctr"/>
          </a:p>
        </p:txBody>
      </p:sp>
      <p:sp>
        <p:nvSpPr>
          <p:cNvPr id="50" name="TextBox 49"/>
          <p:cNvSpPr txBox="1"/>
          <p:nvPr/>
        </p:nvSpPr>
        <p:spPr>
          <a:xfrm>
            <a:off x="4242816"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Close the air access and cruise capacity gaps</a:t>
            </a:r>
          </a:p>
        </p:txBody>
      </p:sp>
      <p:sp>
        <p:nvSpPr>
          <p:cNvPr id="51" name="Oval 50"/>
          <p:cNvSpPr/>
          <p:nvPr/>
        </p:nvSpPr>
        <p:spPr>
          <a:xfrm>
            <a:off x="5852159" y="2971800"/>
            <a:ext cx="91440" cy="91440"/>
          </a:xfrm>
          <a:prstGeom prst="ellipse">
            <a:avLst/>
          </a:prstGeom>
          <a:solidFill>
            <a:srgbClr val="156082"/>
          </a:solidFill>
          <a:ln>
            <a:noFill/>
          </a:ln>
        </p:spPr>
        <p:txBody>
          <a:bodyPr rtlCol="0" anchor="ctr"/>
          <a:lstStyle/>
          <a:p>
            <a:pPr algn="ctr"/>
          </a:p>
        </p:txBody>
      </p:sp>
      <p:sp>
        <p:nvSpPr>
          <p:cNvPr id="52" name="Rectangle 51"/>
          <p:cNvSpPr/>
          <p:nvPr/>
        </p:nvSpPr>
        <p:spPr>
          <a:xfrm>
            <a:off x="4206240" y="3557016"/>
            <a:ext cx="1783080" cy="548640"/>
          </a:xfrm>
          <a:prstGeom prst="rect">
            <a:avLst/>
          </a:prstGeom>
          <a:solidFill>
            <a:srgbClr val="FFFFFF"/>
          </a:solidFill>
          <a:ln w="9525">
            <a:solidFill>
              <a:srgbClr val="7F7F7F"/>
            </a:solidFill>
          </a:ln>
        </p:spPr>
        <p:txBody>
          <a:bodyPr rtlCol="0" anchor="ctr"/>
          <a:lstStyle/>
          <a:p>
            <a:pPr algn="ctr"/>
          </a:p>
        </p:txBody>
      </p:sp>
      <p:sp>
        <p:nvSpPr>
          <p:cNvPr id="53" name="TextBox 52"/>
          <p:cNvSpPr txBox="1"/>
          <p:nvPr/>
        </p:nvSpPr>
        <p:spPr>
          <a:xfrm>
            <a:off x="4242816"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Accelerate tourism-enabling internal mobility</a:t>
            </a:r>
          </a:p>
        </p:txBody>
      </p:sp>
      <p:sp>
        <p:nvSpPr>
          <p:cNvPr id="54" name="Oval 53"/>
          <p:cNvSpPr/>
          <p:nvPr/>
        </p:nvSpPr>
        <p:spPr>
          <a:xfrm>
            <a:off x="5852159" y="3602736"/>
            <a:ext cx="91440" cy="91440"/>
          </a:xfrm>
          <a:prstGeom prst="ellipse">
            <a:avLst/>
          </a:prstGeom>
          <a:solidFill>
            <a:srgbClr val="156082"/>
          </a:solidFill>
          <a:ln>
            <a:noFill/>
          </a:ln>
        </p:spPr>
        <p:txBody>
          <a:bodyPr rtlCol="0" anchor="ctr"/>
          <a:lstStyle/>
          <a:p>
            <a:pPr algn="ctr"/>
          </a:p>
        </p:txBody>
      </p:sp>
      <p:sp>
        <p:nvSpPr>
          <p:cNvPr id="55" name="Rectangle 54"/>
          <p:cNvSpPr/>
          <p:nvPr/>
        </p:nvSpPr>
        <p:spPr>
          <a:xfrm>
            <a:off x="4206240" y="4187952"/>
            <a:ext cx="1783080" cy="548640"/>
          </a:xfrm>
          <a:prstGeom prst="rect">
            <a:avLst/>
          </a:prstGeom>
          <a:solidFill>
            <a:srgbClr val="FFFFFF"/>
          </a:solidFill>
          <a:ln w="9525">
            <a:solidFill>
              <a:srgbClr val="7F7F7F"/>
            </a:solidFill>
          </a:ln>
        </p:spPr>
        <p:txBody>
          <a:bodyPr rtlCol="0" anchor="ctr"/>
          <a:lstStyle/>
          <a:p>
            <a:pPr algn="ctr"/>
          </a:p>
        </p:txBody>
      </p:sp>
      <p:sp>
        <p:nvSpPr>
          <p:cNvPr id="56" name="TextBox 55"/>
          <p:cNvSpPr txBox="1"/>
          <p:nvPr/>
        </p:nvSpPr>
        <p:spPr>
          <a:xfrm>
            <a:off x="4242816"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Lead removal of infrastructure, visa and safety deficits</a:t>
            </a:r>
          </a:p>
        </p:txBody>
      </p:sp>
      <p:sp>
        <p:nvSpPr>
          <p:cNvPr id="57" name="Oval 56"/>
          <p:cNvSpPr/>
          <p:nvPr/>
        </p:nvSpPr>
        <p:spPr>
          <a:xfrm>
            <a:off x="5852159" y="4233672"/>
            <a:ext cx="91440" cy="91440"/>
          </a:xfrm>
          <a:prstGeom prst="ellipse">
            <a:avLst/>
          </a:prstGeom>
          <a:solidFill>
            <a:srgbClr val="156082"/>
          </a:solidFill>
          <a:ln>
            <a:noFill/>
          </a:ln>
        </p:spPr>
        <p:txBody>
          <a:bodyPr rtlCol="0" anchor="ctr"/>
          <a:lstStyle/>
          <a:p>
            <a:pPr algn="ctr"/>
          </a:p>
        </p:txBody>
      </p:sp>
      <p:sp>
        <p:nvSpPr>
          <p:cNvPr id="58" name="Rectangle 57"/>
          <p:cNvSpPr/>
          <p:nvPr/>
        </p:nvSpPr>
        <p:spPr>
          <a:xfrm>
            <a:off x="6117336" y="2926080"/>
            <a:ext cx="1783080" cy="548640"/>
          </a:xfrm>
          <a:prstGeom prst="rect">
            <a:avLst/>
          </a:prstGeom>
          <a:solidFill>
            <a:srgbClr val="FFFFFF"/>
          </a:solidFill>
          <a:ln w="9525">
            <a:solidFill>
              <a:srgbClr val="7F7F7F"/>
            </a:solidFill>
          </a:ln>
        </p:spPr>
        <p:txBody>
          <a:bodyPr rtlCol="0" anchor="ctr"/>
          <a:lstStyle/>
          <a:p>
            <a:pPr algn="ctr"/>
          </a:p>
        </p:txBody>
      </p:sp>
      <p:sp>
        <p:nvSpPr>
          <p:cNvPr id="59" name="TextBox 58"/>
          <p:cNvSpPr txBox="1"/>
          <p:nvPr/>
        </p:nvSpPr>
        <p:spPr>
          <a:xfrm>
            <a:off x="6153912"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Support diversified route and product development</a:t>
            </a:r>
          </a:p>
        </p:txBody>
      </p:sp>
      <p:sp>
        <p:nvSpPr>
          <p:cNvPr id="60" name="Oval 59"/>
          <p:cNvSpPr/>
          <p:nvPr/>
        </p:nvSpPr>
        <p:spPr>
          <a:xfrm>
            <a:off x="7763255" y="2971800"/>
            <a:ext cx="91440" cy="91440"/>
          </a:xfrm>
          <a:prstGeom prst="ellipse">
            <a:avLst/>
          </a:prstGeom>
          <a:solidFill>
            <a:srgbClr val="156082"/>
          </a:solidFill>
          <a:ln>
            <a:noFill/>
          </a:ln>
        </p:spPr>
        <p:txBody>
          <a:bodyPr rtlCol="0" anchor="ctr"/>
          <a:lstStyle/>
          <a:p>
            <a:pPr algn="ctr"/>
          </a:p>
        </p:txBody>
      </p:sp>
      <p:sp>
        <p:nvSpPr>
          <p:cNvPr id="61" name="Rectangle 60"/>
          <p:cNvSpPr/>
          <p:nvPr/>
        </p:nvSpPr>
        <p:spPr>
          <a:xfrm>
            <a:off x="6117336" y="3557016"/>
            <a:ext cx="1783080" cy="548640"/>
          </a:xfrm>
          <a:prstGeom prst="rect">
            <a:avLst/>
          </a:prstGeom>
          <a:solidFill>
            <a:srgbClr val="FFFFFF"/>
          </a:solidFill>
          <a:ln w="9525">
            <a:solidFill>
              <a:srgbClr val="7F7F7F"/>
            </a:solidFill>
          </a:ln>
        </p:spPr>
        <p:txBody>
          <a:bodyPr rtlCol="0" anchor="ctr"/>
          <a:lstStyle/>
          <a:p>
            <a:pPr algn="ctr"/>
          </a:p>
        </p:txBody>
      </p:sp>
      <p:sp>
        <p:nvSpPr>
          <p:cNvPr id="62" name="TextBox 61"/>
          <p:cNvSpPr txBox="1"/>
          <p:nvPr/>
        </p:nvSpPr>
        <p:spPr>
          <a:xfrm>
            <a:off x="6153912"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Align visitor experience in-destination</a:t>
            </a:r>
          </a:p>
        </p:txBody>
      </p:sp>
      <p:sp>
        <p:nvSpPr>
          <p:cNvPr id="63" name="Oval 62"/>
          <p:cNvSpPr/>
          <p:nvPr/>
        </p:nvSpPr>
        <p:spPr>
          <a:xfrm>
            <a:off x="7763255" y="3602736"/>
            <a:ext cx="91440" cy="91440"/>
          </a:xfrm>
          <a:prstGeom prst="ellipse">
            <a:avLst/>
          </a:prstGeom>
          <a:solidFill>
            <a:srgbClr val="156082"/>
          </a:solidFill>
          <a:ln>
            <a:noFill/>
          </a:ln>
        </p:spPr>
        <p:txBody>
          <a:bodyPr rtlCol="0" anchor="ctr"/>
          <a:lstStyle/>
          <a:p>
            <a:pPr algn="ctr"/>
          </a:p>
        </p:txBody>
      </p:sp>
      <p:sp>
        <p:nvSpPr>
          <p:cNvPr id="64" name="Rectangle 63"/>
          <p:cNvSpPr/>
          <p:nvPr/>
        </p:nvSpPr>
        <p:spPr>
          <a:xfrm>
            <a:off x="6117336" y="4187952"/>
            <a:ext cx="1783080" cy="548640"/>
          </a:xfrm>
          <a:prstGeom prst="rect">
            <a:avLst/>
          </a:prstGeom>
          <a:solidFill>
            <a:srgbClr val="FFFFFF"/>
          </a:solidFill>
          <a:ln w="9525">
            <a:solidFill>
              <a:srgbClr val="7F7F7F"/>
            </a:solidFill>
          </a:ln>
        </p:spPr>
        <p:txBody>
          <a:bodyPr rtlCol="0" anchor="ctr"/>
          <a:lstStyle/>
          <a:p>
            <a:pPr algn="ctr"/>
          </a:p>
        </p:txBody>
      </p:sp>
      <p:sp>
        <p:nvSpPr>
          <p:cNvPr id="65" name="TextBox 64"/>
          <p:cNvSpPr txBox="1"/>
          <p:nvPr/>
        </p:nvSpPr>
        <p:spPr>
          <a:xfrm>
            <a:off x="6153912"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Sustainably maximise nature-based and cultural attractions</a:t>
            </a:r>
          </a:p>
        </p:txBody>
      </p:sp>
      <p:sp>
        <p:nvSpPr>
          <p:cNvPr id="66" name="Oval 65"/>
          <p:cNvSpPr/>
          <p:nvPr/>
        </p:nvSpPr>
        <p:spPr>
          <a:xfrm>
            <a:off x="7763255" y="4233672"/>
            <a:ext cx="91440" cy="91440"/>
          </a:xfrm>
          <a:prstGeom prst="ellipse">
            <a:avLst/>
          </a:prstGeom>
          <a:solidFill>
            <a:srgbClr val="156082"/>
          </a:solidFill>
          <a:ln>
            <a:noFill/>
          </a:ln>
        </p:spPr>
        <p:txBody>
          <a:bodyPr rtlCol="0" anchor="ctr"/>
          <a:lstStyle/>
          <a:p>
            <a:pPr algn="ctr"/>
          </a:p>
        </p:txBody>
      </p:sp>
      <p:sp>
        <p:nvSpPr>
          <p:cNvPr id="67" name="Rectangle 66"/>
          <p:cNvSpPr/>
          <p:nvPr/>
        </p:nvSpPr>
        <p:spPr>
          <a:xfrm>
            <a:off x="8028431" y="2926080"/>
            <a:ext cx="1783080" cy="548640"/>
          </a:xfrm>
          <a:prstGeom prst="rect">
            <a:avLst/>
          </a:prstGeom>
          <a:solidFill>
            <a:srgbClr val="FFFFFF"/>
          </a:solidFill>
          <a:ln w="9525">
            <a:solidFill>
              <a:srgbClr val="7F7F7F"/>
            </a:solidFill>
          </a:ln>
        </p:spPr>
        <p:txBody>
          <a:bodyPr rtlCol="0" anchor="ctr"/>
          <a:lstStyle/>
          <a:p>
            <a:pPr algn="ctr"/>
          </a:p>
        </p:txBody>
      </p:sp>
      <p:sp>
        <p:nvSpPr>
          <p:cNvPr id="68" name="TextBox 67"/>
          <p:cNvSpPr txBox="1"/>
          <p:nvPr/>
        </p:nvSpPr>
        <p:spPr>
          <a:xfrm>
            <a:off x="8065007"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Include MSMEs and communities in tourism value chains</a:t>
            </a:r>
          </a:p>
        </p:txBody>
      </p:sp>
      <p:sp>
        <p:nvSpPr>
          <p:cNvPr id="69" name="Oval 68"/>
          <p:cNvSpPr/>
          <p:nvPr/>
        </p:nvSpPr>
        <p:spPr>
          <a:xfrm>
            <a:off x="9674351" y="2971800"/>
            <a:ext cx="91440" cy="91440"/>
          </a:xfrm>
          <a:prstGeom prst="ellipse">
            <a:avLst/>
          </a:prstGeom>
          <a:solidFill>
            <a:srgbClr val="E97132"/>
          </a:solidFill>
          <a:ln>
            <a:noFill/>
          </a:ln>
        </p:spPr>
        <p:txBody>
          <a:bodyPr rtlCol="0" anchor="ctr"/>
          <a:lstStyle/>
          <a:p>
            <a:pPr algn="ctr"/>
          </a:p>
        </p:txBody>
      </p:sp>
      <p:sp>
        <p:nvSpPr>
          <p:cNvPr id="70" name="Rectangle 69"/>
          <p:cNvSpPr/>
          <p:nvPr/>
        </p:nvSpPr>
        <p:spPr>
          <a:xfrm>
            <a:off x="8028431" y="3557016"/>
            <a:ext cx="1783080" cy="548640"/>
          </a:xfrm>
          <a:prstGeom prst="rect">
            <a:avLst/>
          </a:prstGeom>
          <a:solidFill>
            <a:srgbClr val="FFFFFF"/>
          </a:solidFill>
          <a:ln w="9525">
            <a:solidFill>
              <a:srgbClr val="7F7F7F"/>
            </a:solidFill>
          </a:ln>
        </p:spPr>
        <p:txBody>
          <a:bodyPr rtlCol="0" anchor="ctr"/>
          <a:lstStyle/>
          <a:p>
            <a:pPr algn="ctr"/>
          </a:p>
        </p:txBody>
      </p:sp>
      <p:sp>
        <p:nvSpPr>
          <p:cNvPr id="71" name="TextBox 70"/>
          <p:cNvSpPr txBox="1"/>
          <p:nvPr/>
        </p:nvSpPr>
        <p:spPr>
          <a:xfrm>
            <a:off x="8065007"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Develop the tourism workforce and service skills</a:t>
            </a:r>
          </a:p>
        </p:txBody>
      </p:sp>
      <p:sp>
        <p:nvSpPr>
          <p:cNvPr id="72" name="Oval 71"/>
          <p:cNvSpPr/>
          <p:nvPr/>
        </p:nvSpPr>
        <p:spPr>
          <a:xfrm>
            <a:off x="9674351" y="3602736"/>
            <a:ext cx="91440" cy="91440"/>
          </a:xfrm>
          <a:prstGeom prst="ellipse">
            <a:avLst/>
          </a:prstGeom>
          <a:solidFill>
            <a:srgbClr val="E97132"/>
          </a:solidFill>
          <a:ln>
            <a:noFill/>
          </a:ln>
        </p:spPr>
        <p:txBody>
          <a:bodyPr rtlCol="0" anchor="ctr"/>
          <a:lstStyle/>
          <a:p>
            <a:pPr algn="ctr"/>
          </a:p>
        </p:txBody>
      </p:sp>
      <p:sp>
        <p:nvSpPr>
          <p:cNvPr id="73" name="Rectangle 72"/>
          <p:cNvSpPr/>
          <p:nvPr/>
        </p:nvSpPr>
        <p:spPr>
          <a:xfrm>
            <a:off x="8028431" y="4187952"/>
            <a:ext cx="1783080" cy="548640"/>
          </a:xfrm>
          <a:prstGeom prst="rect">
            <a:avLst/>
          </a:prstGeom>
          <a:solidFill>
            <a:srgbClr val="FFFFFF"/>
          </a:solidFill>
          <a:ln w="9525">
            <a:solidFill>
              <a:srgbClr val="7F7F7F"/>
            </a:solidFill>
          </a:ln>
        </p:spPr>
        <p:txBody>
          <a:bodyPr rtlCol="0" anchor="ctr"/>
          <a:lstStyle/>
          <a:p>
            <a:pPr algn="ctr"/>
          </a:p>
        </p:txBody>
      </p:sp>
      <p:sp>
        <p:nvSpPr>
          <p:cNvPr id="74" name="TextBox 73"/>
          <p:cNvSpPr txBox="1"/>
          <p:nvPr/>
        </p:nvSpPr>
        <p:spPr>
          <a:xfrm>
            <a:off x="8065007"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Ensure sustainable and resilient destination management</a:t>
            </a:r>
          </a:p>
        </p:txBody>
      </p:sp>
      <p:sp>
        <p:nvSpPr>
          <p:cNvPr id="75" name="Oval 74"/>
          <p:cNvSpPr/>
          <p:nvPr/>
        </p:nvSpPr>
        <p:spPr>
          <a:xfrm>
            <a:off x="9674351" y="4233672"/>
            <a:ext cx="91440" cy="91440"/>
          </a:xfrm>
          <a:prstGeom prst="ellipse">
            <a:avLst/>
          </a:prstGeom>
          <a:solidFill>
            <a:srgbClr val="196B24"/>
          </a:solidFill>
          <a:ln>
            <a:noFill/>
          </a:ln>
        </p:spPr>
        <p:txBody>
          <a:bodyPr rtlCol="0" anchor="ctr"/>
          <a:lstStyle/>
          <a:p>
            <a:pPr algn="ctr"/>
          </a:p>
        </p:txBody>
      </p:sp>
      <p:sp>
        <p:nvSpPr>
          <p:cNvPr id="76" name="Rectangle 75"/>
          <p:cNvSpPr/>
          <p:nvPr/>
        </p:nvSpPr>
        <p:spPr>
          <a:xfrm>
            <a:off x="9939528" y="2926080"/>
            <a:ext cx="1783080" cy="548640"/>
          </a:xfrm>
          <a:prstGeom prst="rect">
            <a:avLst/>
          </a:prstGeom>
          <a:solidFill>
            <a:srgbClr val="FFFFFF"/>
          </a:solidFill>
          <a:ln w="9525">
            <a:solidFill>
              <a:srgbClr val="7F7F7F"/>
            </a:solidFill>
          </a:ln>
        </p:spPr>
        <p:txBody>
          <a:bodyPr rtlCol="0" anchor="ctr"/>
          <a:lstStyle/>
          <a:p>
            <a:pPr algn="ctr"/>
          </a:p>
        </p:txBody>
      </p:sp>
      <p:sp>
        <p:nvSpPr>
          <p:cNvPr id="77" name="TextBox 76"/>
          <p:cNvSpPr txBox="1"/>
          <p:nvPr/>
        </p:nvSpPr>
        <p:spPr>
          <a:xfrm>
            <a:off x="9976103" y="2944368"/>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Review institutional arrangements (local, provincial and national)</a:t>
            </a:r>
          </a:p>
        </p:txBody>
      </p:sp>
      <p:sp>
        <p:nvSpPr>
          <p:cNvPr id="78" name="Oval 77"/>
          <p:cNvSpPr/>
          <p:nvPr/>
        </p:nvSpPr>
        <p:spPr>
          <a:xfrm>
            <a:off x="11585447" y="2971800"/>
            <a:ext cx="91440" cy="91440"/>
          </a:xfrm>
          <a:prstGeom prst="ellipse">
            <a:avLst/>
          </a:prstGeom>
          <a:solidFill>
            <a:srgbClr val="156082"/>
          </a:solidFill>
          <a:ln>
            <a:noFill/>
          </a:ln>
        </p:spPr>
        <p:txBody>
          <a:bodyPr rtlCol="0" anchor="ctr"/>
          <a:lstStyle/>
          <a:p>
            <a:pPr algn="ctr"/>
          </a:p>
        </p:txBody>
      </p:sp>
      <p:sp>
        <p:nvSpPr>
          <p:cNvPr id="79" name="Rectangle 78"/>
          <p:cNvSpPr/>
          <p:nvPr/>
        </p:nvSpPr>
        <p:spPr>
          <a:xfrm>
            <a:off x="9939528" y="3557016"/>
            <a:ext cx="1783080" cy="548640"/>
          </a:xfrm>
          <a:prstGeom prst="rect">
            <a:avLst/>
          </a:prstGeom>
          <a:solidFill>
            <a:srgbClr val="FFFFFF"/>
          </a:solidFill>
          <a:ln w="9525">
            <a:solidFill>
              <a:srgbClr val="7F7F7F"/>
            </a:solidFill>
          </a:ln>
        </p:spPr>
        <p:txBody>
          <a:bodyPr rtlCol="0" anchor="ctr"/>
          <a:lstStyle/>
          <a:p>
            <a:pPr algn="ctr"/>
          </a:p>
        </p:txBody>
      </p:sp>
      <p:sp>
        <p:nvSpPr>
          <p:cNvPr id="80" name="TextBox 79"/>
          <p:cNvSpPr txBox="1"/>
          <p:nvPr/>
        </p:nvSpPr>
        <p:spPr>
          <a:xfrm>
            <a:off x="9976103" y="3575304"/>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Strengthen industry and government collaboration</a:t>
            </a:r>
          </a:p>
        </p:txBody>
      </p:sp>
      <p:sp>
        <p:nvSpPr>
          <p:cNvPr id="81" name="Oval 80"/>
          <p:cNvSpPr/>
          <p:nvPr/>
        </p:nvSpPr>
        <p:spPr>
          <a:xfrm>
            <a:off x="11585447" y="3602736"/>
            <a:ext cx="91440" cy="91440"/>
          </a:xfrm>
          <a:prstGeom prst="ellipse">
            <a:avLst/>
          </a:prstGeom>
          <a:solidFill>
            <a:srgbClr val="156082"/>
          </a:solidFill>
          <a:ln>
            <a:noFill/>
          </a:ln>
        </p:spPr>
        <p:txBody>
          <a:bodyPr rtlCol="0" anchor="ctr"/>
          <a:lstStyle/>
          <a:p>
            <a:pPr algn="ctr"/>
          </a:p>
        </p:txBody>
      </p:sp>
      <p:sp>
        <p:nvSpPr>
          <p:cNvPr id="82" name="Rectangle 81"/>
          <p:cNvSpPr/>
          <p:nvPr/>
        </p:nvSpPr>
        <p:spPr>
          <a:xfrm>
            <a:off x="9939528" y="4187952"/>
            <a:ext cx="1783080" cy="548640"/>
          </a:xfrm>
          <a:prstGeom prst="rect">
            <a:avLst/>
          </a:prstGeom>
          <a:solidFill>
            <a:srgbClr val="FFFFFF"/>
          </a:solidFill>
          <a:ln w="9525">
            <a:solidFill>
              <a:srgbClr val="7F7F7F"/>
            </a:solidFill>
          </a:ln>
        </p:spPr>
        <p:txBody>
          <a:bodyPr rtlCol="0" anchor="ctr"/>
          <a:lstStyle/>
          <a:p>
            <a:pPr algn="ctr"/>
          </a:p>
        </p:txBody>
      </p:sp>
      <p:sp>
        <p:nvSpPr>
          <p:cNvPr id="83" name="TextBox 82"/>
          <p:cNvSpPr txBox="1"/>
          <p:nvPr/>
        </p:nvSpPr>
        <p:spPr>
          <a:xfrm>
            <a:off x="9976103" y="4206240"/>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Expedite enabling policy and build the data layer</a:t>
            </a:r>
          </a:p>
        </p:txBody>
      </p:sp>
      <p:sp>
        <p:nvSpPr>
          <p:cNvPr id="84" name="Oval 83"/>
          <p:cNvSpPr/>
          <p:nvPr/>
        </p:nvSpPr>
        <p:spPr>
          <a:xfrm>
            <a:off x="11585447" y="4233672"/>
            <a:ext cx="91440" cy="91440"/>
          </a:xfrm>
          <a:prstGeom prst="ellipse">
            <a:avLst/>
          </a:prstGeom>
          <a:solidFill>
            <a:srgbClr val="E97132"/>
          </a:solidFill>
          <a:ln>
            <a:noFill/>
          </a:ln>
        </p:spPr>
        <p:txBody>
          <a:bodyPr rtlCol="0" anchor="ctr"/>
          <a:lstStyle/>
          <a:p>
            <a:pPr algn="ctr"/>
          </a:p>
        </p:txBody>
      </p:sp>
      <p:sp>
        <p:nvSpPr>
          <p:cNvPr id="85" name="Rectangle 84"/>
          <p:cNvSpPr/>
          <p:nvPr/>
        </p:nvSpPr>
        <p:spPr>
          <a:xfrm>
            <a:off x="9939528" y="4818888"/>
            <a:ext cx="1783080" cy="548640"/>
          </a:xfrm>
          <a:prstGeom prst="rect">
            <a:avLst/>
          </a:prstGeom>
          <a:solidFill>
            <a:srgbClr val="FFFFFF"/>
          </a:solidFill>
          <a:ln w="9525">
            <a:solidFill>
              <a:srgbClr val="7F7F7F"/>
            </a:solidFill>
          </a:ln>
        </p:spPr>
        <p:txBody>
          <a:bodyPr rtlCol="0" anchor="ctr"/>
          <a:lstStyle/>
          <a:p>
            <a:pPr algn="ctr"/>
          </a:p>
        </p:txBody>
      </p:sp>
      <p:sp>
        <p:nvSpPr>
          <p:cNvPr id="86" name="TextBox 85"/>
          <p:cNvSpPr txBox="1"/>
          <p:nvPr/>
        </p:nvSpPr>
        <p:spPr>
          <a:xfrm>
            <a:off x="9976103" y="4837175"/>
            <a:ext cx="1600200" cy="512063"/>
          </a:xfrm>
          <a:prstGeom prst="rect">
            <a:avLst/>
          </a:prstGeom>
          <a:noFill/>
        </p:spPr>
        <p:txBody>
          <a:bodyPr wrap="square" anchor="ctr" lIns="27432" rIns="27432" tIns="16459" bIns="16459">
            <a:spAutoFit/>
          </a:bodyPr>
          <a:lstStyle/>
          <a:p>
            <a:pPr algn="ctr">
              <a:spcAft>
                <a:spcPts val="0"/>
              </a:spcAft>
            </a:pPr>
            <a:r>
              <a:rPr sz="850" b="0" i="0">
                <a:solidFill>
                  <a:srgbClr val="404040"/>
                </a:solidFill>
                <a:latin typeface="Arial"/>
              </a:rPr>
              <a:t>Crowd-in capital with targeted investment strategies</a:t>
            </a:r>
          </a:p>
        </p:txBody>
      </p:sp>
      <p:sp>
        <p:nvSpPr>
          <p:cNvPr id="87" name="Oval 86"/>
          <p:cNvSpPr/>
          <p:nvPr/>
        </p:nvSpPr>
        <p:spPr>
          <a:xfrm>
            <a:off x="11585447" y="4864607"/>
            <a:ext cx="91440" cy="91440"/>
          </a:xfrm>
          <a:prstGeom prst="ellipse">
            <a:avLst/>
          </a:prstGeom>
          <a:solidFill>
            <a:srgbClr val="156082"/>
          </a:solidFill>
          <a:ln>
            <a:noFill/>
          </a:ln>
        </p:spPr>
        <p:txBody>
          <a:bodyPr rtlCol="0" anchor="ctr"/>
          <a:lstStyle/>
          <a:p>
            <a:pPr algn="ctr"/>
          </a:p>
        </p:txBody>
      </p:sp>
      <p:sp>
        <p:nvSpPr>
          <p:cNvPr id="88" name="TextBox 87"/>
          <p:cNvSpPr txBox="1"/>
          <p:nvPr/>
        </p:nvSpPr>
        <p:spPr>
          <a:xfrm>
            <a:off x="6217920" y="5971032"/>
            <a:ext cx="1463040" cy="228600"/>
          </a:xfrm>
          <a:prstGeom prst="rect">
            <a:avLst/>
          </a:prstGeom>
          <a:noFill/>
        </p:spPr>
        <p:txBody>
          <a:bodyPr wrap="square" anchor="t" lIns="36576" rIns="36576" tIns="21945" bIns="21945">
            <a:spAutoFit/>
          </a:bodyPr>
          <a:lstStyle/>
          <a:p>
            <a:pPr algn="r">
              <a:spcAft>
                <a:spcPts val="0"/>
              </a:spcAft>
            </a:pPr>
            <a:r>
              <a:rPr sz="800" b="0" i="0">
                <a:solidFill>
                  <a:srgbClr val="7F7F7F"/>
                </a:solidFill>
                <a:latin typeface="Arial"/>
              </a:rPr>
              <a:t>Team's July 2026 marker:</a:t>
            </a:r>
          </a:p>
        </p:txBody>
      </p:sp>
      <p:sp>
        <p:nvSpPr>
          <p:cNvPr id="89" name="Oval 88"/>
          <p:cNvSpPr/>
          <p:nvPr/>
        </p:nvSpPr>
        <p:spPr>
          <a:xfrm>
            <a:off x="7726680" y="6035040"/>
            <a:ext cx="100584" cy="100584"/>
          </a:xfrm>
          <a:prstGeom prst="ellipse">
            <a:avLst/>
          </a:prstGeom>
          <a:solidFill>
            <a:srgbClr val="156082"/>
          </a:solidFill>
          <a:ln>
            <a:noFill/>
          </a:ln>
        </p:spPr>
        <p:txBody>
          <a:bodyPr rtlCol="0" anchor="ctr"/>
          <a:lstStyle/>
          <a:p>
            <a:pPr algn="ctr"/>
          </a:p>
        </p:txBody>
      </p:sp>
      <p:sp>
        <p:nvSpPr>
          <p:cNvPr id="90" name="TextBox 89"/>
          <p:cNvSpPr txBox="1"/>
          <p:nvPr/>
        </p:nvSpPr>
        <p:spPr>
          <a:xfrm>
            <a:off x="7863840" y="5971032"/>
            <a:ext cx="91440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Validated</a:t>
            </a:r>
          </a:p>
        </p:txBody>
      </p:sp>
      <p:sp>
        <p:nvSpPr>
          <p:cNvPr id="91" name="Oval 90"/>
          <p:cNvSpPr/>
          <p:nvPr/>
        </p:nvSpPr>
        <p:spPr>
          <a:xfrm>
            <a:off x="8778240" y="6035040"/>
            <a:ext cx="100584" cy="100584"/>
          </a:xfrm>
          <a:prstGeom prst="ellipse">
            <a:avLst/>
          </a:prstGeom>
          <a:solidFill>
            <a:srgbClr val="E97132"/>
          </a:solidFill>
          <a:ln>
            <a:noFill/>
          </a:ln>
        </p:spPr>
        <p:txBody>
          <a:bodyPr rtlCol="0" anchor="ctr"/>
          <a:lstStyle/>
          <a:p>
            <a:pPr algn="ctr"/>
          </a:p>
        </p:txBody>
      </p:sp>
      <p:sp>
        <p:nvSpPr>
          <p:cNvPr id="92" name="TextBox 91"/>
          <p:cNvSpPr txBox="1"/>
          <p:nvPr/>
        </p:nvSpPr>
        <p:spPr>
          <a:xfrm>
            <a:off x="8915400" y="5971032"/>
            <a:ext cx="91440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Refined</a:t>
            </a:r>
          </a:p>
        </p:txBody>
      </p:sp>
      <p:sp>
        <p:nvSpPr>
          <p:cNvPr id="93" name="Oval 92"/>
          <p:cNvSpPr/>
          <p:nvPr/>
        </p:nvSpPr>
        <p:spPr>
          <a:xfrm>
            <a:off x="9829800" y="6035040"/>
            <a:ext cx="100584" cy="100584"/>
          </a:xfrm>
          <a:prstGeom prst="ellipse">
            <a:avLst/>
          </a:prstGeom>
          <a:solidFill>
            <a:srgbClr val="196B24"/>
          </a:solidFill>
          <a:ln>
            <a:noFill/>
          </a:ln>
        </p:spPr>
        <p:txBody>
          <a:bodyPr rtlCol="0" anchor="ctr"/>
          <a:lstStyle/>
          <a:p>
            <a:pPr algn="ctr"/>
          </a:p>
        </p:txBody>
      </p:sp>
      <p:sp>
        <p:nvSpPr>
          <p:cNvPr id="94" name="TextBox 93"/>
          <p:cNvSpPr txBox="1"/>
          <p:nvPr/>
        </p:nvSpPr>
        <p:spPr>
          <a:xfrm>
            <a:off x="9966960" y="5971032"/>
            <a:ext cx="91440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New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evidence points to conversion, spread and coordination, not awareness, as the levers that matter</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TWELVE FACTS THAT SHAPE THE ANSWER</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Infrastructure Report (Jun 2026); SME &amp; Community Inclusion Plan (Sep 2026); Global Benchmarking Report (Mar 2026); Demand-Side Analysis (Jun 2026); Stakeholder Insights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873752"/>
        </p:xfrm>
        <a:graphic>
          <a:graphicData uri="http://schemas.openxmlformats.org/drawingml/2006/table">
            <a:tbl>
              <a:tblPr firstRow="1" bandRow="0">
                <a:tableStyleId>{5C22544A-7EE6-4342-B048-85BDC9FD1C3A}</a:tableStyleId>
              </a:tblPr>
              <a:tblGrid>
                <a:gridCol w="1005840"/>
                <a:gridCol w="6766560"/>
                <a:gridCol w="3648456"/>
              </a:tblGrid>
              <a:tr h="374904">
                <a:tc>
                  <a:txBody>
                    <a:bodyPr wrap="square"/>
                    <a:lstStyle/>
                    <a:p>
                      <a:pPr algn="l"/>
                      <a:r>
                        <a:rPr sz="1000" b="1" i="0">
                          <a:solidFill>
                            <a:srgbClr val="FFFFFF"/>
                          </a:solidFill>
                          <a:latin typeface="Arial"/>
                        </a:rPr>
                        <a:t>Pillar</a:t>
                      </a:r>
                    </a:p>
                  </a:txBody>
                  <a:tcPr marL="54864" marR="54864" marT="27432" marB="27432" anchor="ctr">
                    <a:solidFill>
                      <a:srgbClr val="1F497D"/>
                    </a:solidFill>
                  </a:tcPr>
                </a:tc>
                <a:tc>
                  <a:txBody>
                    <a:bodyPr wrap="square"/>
                    <a:lstStyle/>
                    <a:p>
                      <a:pPr algn="l"/>
                      <a:r>
                        <a:rPr sz="1000" b="1" i="0">
                          <a:solidFill>
                            <a:srgbClr val="FFFFFF"/>
                          </a:solidFill>
                          <a:latin typeface="Arial"/>
                        </a:rPr>
                        <a:t>Fact</a:t>
                      </a:r>
                    </a:p>
                  </a:txBody>
                  <a:tcPr marL="54864" marR="54864" marT="27432" marB="27432" anchor="ctr">
                    <a:solidFill>
                      <a:srgbClr val="1F497D"/>
                    </a:solidFill>
                  </a:tcPr>
                </a:tc>
                <a:tc>
                  <a:txBody>
                    <a:bodyPr wrap="square"/>
                    <a:lstStyle/>
                    <a:p>
                      <a:pPr algn="l"/>
                      <a:r>
                        <a:rPr sz="1000" b="1" i="0">
                          <a:solidFill>
                            <a:srgbClr val="FFFFFF"/>
                          </a:solidFill>
                          <a:latin typeface="Arial"/>
                        </a:rPr>
                        <a:t>So what</a:t>
                      </a:r>
                    </a:p>
                  </a:txBody>
                  <a:tcPr marL="54864" marR="54864" marT="27432" marB="27432" anchor="ctr">
                    <a:solidFill>
                      <a:srgbClr val="1F497D"/>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FFFFF"/>
                    </a:solidFill>
                  </a:tcPr>
                </a:tc>
                <a:tc>
                  <a:txBody>
                    <a:bodyPr wrap="square"/>
                    <a:lstStyle/>
                    <a:p>
                      <a:pPr algn="l"/>
                      <a:r>
                        <a:rPr sz="1000" b="0" i="0">
                          <a:solidFill>
                            <a:srgbClr val="404040"/>
                          </a:solidFill>
                          <a:latin typeface="Arial"/>
                        </a:rPr>
                        <a:t>Airlines cut Cape Town international seats to 6.4% of the year in June against 10.8% in December (MIDAS p15).</a:t>
                      </a:r>
                    </a:p>
                  </a:txBody>
                  <a:tcPr marL="54864" marR="54864" marT="27432" marB="27432" anchor="ctr">
                    <a:solidFill>
                      <a:srgbClr val="FFFFFF"/>
                    </a:solidFill>
                  </a:tcPr>
                </a:tc>
                <a:tc>
                  <a:txBody>
                    <a:bodyPr wrap="square"/>
                    <a:lstStyle/>
                    <a:p>
                      <a:pPr algn="l"/>
                      <a:r>
                        <a:rPr sz="1000" b="1" i="0">
                          <a:solidFill>
                            <a:srgbClr val="1F497D"/>
                          </a:solidFill>
                          <a:latin typeface="Arial"/>
                        </a:rPr>
                        <a:t>Create green-season demand to hold seats and fill idle venues.</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2F2F2"/>
                    </a:solidFill>
                  </a:tcPr>
                </a:tc>
                <a:tc>
                  <a:txBody>
                    <a:bodyPr wrap="square"/>
                    <a:lstStyle/>
                    <a:p>
                      <a:pPr algn="l"/>
                      <a:r>
                        <a:rPr sz="1000" b="0" i="0">
                          <a:solidFill>
                            <a:srgbClr val="404040"/>
                          </a:solidFill>
                          <a:latin typeface="Arial"/>
                        </a:rPr>
                        <a:t>Newark, Atlanta, Heathrow and Frankfurt run at 83-89% estimated load (MIDAS p17).</a:t>
                      </a:r>
                    </a:p>
                  </a:txBody>
                  <a:tcPr marL="54864" marR="54864" marT="27432" marB="27432" anchor="ctr">
                    <a:solidFill>
                      <a:srgbClr val="F2F2F2"/>
                    </a:solidFill>
                  </a:tcPr>
                </a:tc>
                <a:tc>
                  <a:txBody>
                    <a:bodyPr wrap="square"/>
                    <a:lstStyle/>
                    <a:p>
                      <a:pPr algn="l"/>
                      <a:r>
                        <a:rPr sz="1000" b="1" i="0">
                          <a:solidFill>
                            <a:srgbClr val="1F497D"/>
                          </a:solidFill>
                          <a:latin typeface="Arial"/>
                        </a:rPr>
                        <a:t>Take frequency and upgauge cases to the airlines.</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FFFFF"/>
                    </a:solidFill>
                  </a:tcPr>
                </a:tc>
                <a:tc>
                  <a:txBody>
                    <a:bodyPr wrap="square"/>
                    <a:lstStyle/>
                    <a:p>
                      <a:pPr algn="l"/>
                      <a:r>
                        <a:rPr sz="1000" b="0" i="0">
                          <a:solidFill>
                            <a:srgbClr val="404040"/>
                          </a:solidFill>
                          <a:latin typeface="Arial"/>
                        </a:rPr>
                        <a:t>An estimated 71,000 India and 30,000 China passenger journeys route to and from Cape Town via hubs each year (MIDAS pp3, 18-19).</a:t>
                      </a:r>
                    </a:p>
                  </a:txBody>
                  <a:tcPr marL="54864" marR="54864" marT="27432" marB="27432" anchor="ctr">
                    <a:solidFill>
                      <a:srgbClr val="FFFFFF"/>
                    </a:solidFill>
                  </a:tcPr>
                </a:tc>
                <a:tc>
                  <a:txBody>
                    <a:bodyPr wrap="square"/>
                    <a:lstStyle/>
                    <a:p>
                      <a:pPr algn="l"/>
                      <a:r>
                        <a:rPr sz="1000" b="1" i="0">
                          <a:solidFill>
                            <a:srgbClr val="1F497D"/>
                          </a:solidFill>
                          <a:latin typeface="Arial"/>
                        </a:rPr>
                        <a:t>Convert them through hub carriers now.</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Demand</a:t>
                      </a:r>
                    </a:p>
                  </a:txBody>
                  <a:tcPr marL="54864" marR="54864" marT="27432" marB="27432" anchor="ctr">
                    <a:solidFill>
                      <a:srgbClr val="F2F2F2"/>
                    </a:solidFill>
                  </a:tcPr>
                </a:tc>
                <a:tc>
                  <a:txBody>
                    <a:bodyPr wrap="square"/>
                    <a:lstStyle/>
                    <a:p>
                      <a:pPr algn="l"/>
                      <a:r>
                        <a:rPr sz="1000" b="0" i="0">
                          <a:solidFill>
                            <a:srgbClr val="404040"/>
                          </a:solidFill>
                          <a:latin typeface="Arial"/>
                        </a:rPr>
                        <a:t>Overberg and West Coast marine and wildflower assets have no guided tours, interpretation or bookable product (Infrastructure p31).</a:t>
                      </a:r>
                    </a:p>
                  </a:txBody>
                  <a:tcPr marL="54864" marR="54864" marT="27432" marB="27432" anchor="ctr">
                    <a:solidFill>
                      <a:srgbClr val="F2F2F2"/>
                    </a:solidFill>
                  </a:tcPr>
                </a:tc>
                <a:tc>
                  <a:txBody>
                    <a:bodyPr wrap="square"/>
                    <a:lstStyle/>
                    <a:p>
                      <a:pPr algn="l"/>
                      <a:r>
                        <a:rPr sz="1000" b="1" i="0">
                          <a:solidFill>
                            <a:srgbClr val="1F497D"/>
                          </a:solidFill>
                          <a:latin typeface="Arial"/>
                        </a:rPr>
                        <a:t>Activate and list what already exists.</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FFFFF"/>
                    </a:solidFill>
                  </a:tcPr>
                </a:tc>
                <a:tc>
                  <a:txBody>
                    <a:bodyPr wrap="square"/>
                    <a:lstStyle/>
                    <a:p>
                      <a:pPr algn="l"/>
                      <a:r>
                        <a:rPr sz="1000" b="0" i="0">
                          <a:solidFill>
                            <a:srgbClr val="404040"/>
                          </a:solidFill>
                          <a:latin typeface="Arial"/>
                        </a:rPr>
                        <a:t>Cape Town added 17 mainline routes in 2015-25, more than any peer airport (MIDAS p13).</a:t>
                      </a:r>
                    </a:p>
                  </a:txBody>
                  <a:tcPr marL="54864" marR="54864" marT="27432" marB="27432" anchor="ctr">
                    <a:solidFill>
                      <a:srgbClr val="FFFFFF"/>
                    </a:solidFill>
                  </a:tcPr>
                </a:tc>
                <a:tc>
                  <a:txBody>
                    <a:bodyPr wrap="square"/>
                    <a:lstStyle/>
                    <a:p>
                      <a:pPr algn="l"/>
                      <a:r>
                        <a:rPr sz="1000" b="1" i="0">
                          <a:solidFill>
                            <a:srgbClr val="1F497D"/>
                          </a:solidFill>
                          <a:latin typeface="Arial"/>
                        </a:rPr>
                        <a:t>Keep the Air Access model; fund frequency.</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2F2F2"/>
                    </a:solidFill>
                  </a:tcPr>
                </a:tc>
                <a:tc>
                  <a:txBody>
                    <a:bodyPr wrap="square"/>
                    <a:lstStyle/>
                    <a:p>
                      <a:pPr algn="l"/>
                      <a:r>
                        <a:rPr sz="1000" b="0" i="0">
                          <a:solidFill>
                            <a:srgbClr val="404040"/>
                          </a:solidFill>
                          <a:latin typeface="Arial"/>
                        </a:rPr>
                        <a:t>Airlines see long-haul markets as mature and will raise fares before adding seats; bilaterals cap airlift (MIDAS p22; DEDAT).</a:t>
                      </a:r>
                    </a:p>
                  </a:txBody>
                  <a:tcPr marL="54864" marR="54864" marT="27432" marB="27432" anchor="ctr">
                    <a:solidFill>
                      <a:srgbClr val="F2F2F2"/>
                    </a:solidFill>
                  </a:tcPr>
                </a:tc>
                <a:tc>
                  <a:txBody>
                    <a:bodyPr wrap="square"/>
                    <a:lstStyle/>
                    <a:p>
                      <a:pPr algn="l"/>
                      <a:r>
                        <a:rPr sz="1000" b="1" i="0">
                          <a:solidFill>
                            <a:srgbClr val="1F497D"/>
                          </a:solidFill>
                          <a:latin typeface="Arial"/>
                        </a:rPr>
                        <a:t>Underwrite capacity through a route fund; lobby on bilaterals.</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FFFFF"/>
                    </a:solidFill>
                  </a:tcPr>
                </a:tc>
                <a:tc>
                  <a:txBody>
                    <a:bodyPr wrap="square"/>
                    <a:lstStyle/>
                    <a:p>
                      <a:pPr algn="l"/>
                      <a:r>
                        <a:rPr sz="1000" b="0" i="0">
                          <a:solidFill>
                            <a:srgbClr val="404040"/>
                          </a:solidFill>
                          <a:latin typeface="Arial"/>
                        </a:rPr>
                        <a:t>Accessibility scores fall from 4.7 in the Metro to 1.0 in the Central Karoo (Infrastructure p29).</a:t>
                      </a:r>
                    </a:p>
                  </a:txBody>
                  <a:tcPr marL="54864" marR="54864" marT="27432" marB="27432" anchor="ctr">
                    <a:solidFill>
                      <a:srgbClr val="FFFFFF"/>
                    </a:solidFill>
                  </a:tcPr>
                </a:tc>
                <a:tc>
                  <a:txBody>
                    <a:bodyPr wrap="square"/>
                    <a:lstStyle/>
                    <a:p>
                      <a:pPr algn="l"/>
                      <a:r>
                        <a:rPr sz="1000" b="1" i="0">
                          <a:solidFill>
                            <a:srgbClr val="1F497D"/>
                          </a:solidFill>
                          <a:latin typeface="Arial"/>
                        </a:rPr>
                        <a:t>Back two or three corridors with mobility.</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Supply</a:t>
                      </a:r>
                    </a:p>
                  </a:txBody>
                  <a:tcPr marL="54864" marR="54864" marT="27432" marB="27432" anchor="ctr">
                    <a:solidFill>
                      <a:srgbClr val="F2F2F2"/>
                    </a:solidFill>
                  </a:tcPr>
                </a:tc>
                <a:tc>
                  <a:txBody>
                    <a:bodyPr wrap="square"/>
                    <a:lstStyle/>
                    <a:p>
                      <a:pPr algn="l"/>
                      <a:r>
                        <a:rPr sz="1000" b="0" i="0">
                          <a:solidFill>
                            <a:srgbClr val="404040"/>
                          </a:solidFill>
                          <a:latin typeface="Arial"/>
                        </a:rPr>
                        <a:t>No mid-scale branded accommodation exists between luxury estates and basic self-catering (Infrastructure p32).</a:t>
                      </a:r>
                    </a:p>
                  </a:txBody>
                  <a:tcPr marL="54864" marR="54864" marT="27432" marB="27432" anchor="ctr">
                    <a:solidFill>
                      <a:srgbClr val="F2F2F2"/>
                    </a:solidFill>
                  </a:tcPr>
                </a:tc>
                <a:tc>
                  <a:txBody>
                    <a:bodyPr wrap="square"/>
                    <a:lstStyle/>
                    <a:p>
                      <a:pPr algn="l"/>
                      <a:r>
                        <a:rPr sz="1000" b="1" i="0">
                          <a:solidFill>
                            <a:srgbClr val="1F497D"/>
                          </a:solidFill>
                          <a:latin typeface="Arial"/>
                        </a:rPr>
                        <a:t>Target investment at the mid-market gap.</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FFFFF"/>
                    </a:solidFill>
                  </a:tcPr>
                </a:tc>
                <a:tc>
                  <a:txBody>
                    <a:bodyPr wrap="square"/>
                    <a:lstStyle/>
                    <a:p>
                      <a:pPr algn="l"/>
                      <a:r>
                        <a:rPr sz="1000" b="0" i="0">
                          <a:solidFill>
                            <a:srgbClr val="404040"/>
                          </a:solidFill>
                          <a:latin typeface="Arial"/>
                        </a:rPr>
                        <a:t>20 priority communities hold 18.4% of residents and 0.02-0.04% of foreign spend (SME plan p5).</a:t>
                      </a:r>
                    </a:p>
                  </a:txBody>
                  <a:tcPr marL="54864" marR="54864" marT="27432" marB="27432" anchor="ctr">
                    <a:solidFill>
                      <a:srgbClr val="FFFFFF"/>
                    </a:solidFill>
                  </a:tcPr>
                </a:tc>
                <a:tc>
                  <a:txBody>
                    <a:bodyPr wrap="square"/>
                    <a:lstStyle/>
                    <a:p>
                      <a:pPr algn="l"/>
                      <a:r>
                        <a:rPr sz="1000" b="1" i="0">
                          <a:solidFill>
                            <a:srgbClr val="1F497D"/>
                          </a:solidFill>
                          <a:latin typeface="Arial"/>
                        </a:rPr>
                        <a:t>Fund sellers with a stake; pilot 2-3.</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2F2F2"/>
                    </a:solidFill>
                  </a:tcPr>
                </a:tc>
                <a:tc>
                  <a:txBody>
                    <a:bodyPr wrap="square"/>
                    <a:lstStyle/>
                    <a:p>
                      <a:pPr algn="l"/>
                      <a:r>
                        <a:rPr sz="1000" b="0" i="0">
                          <a:solidFill>
                            <a:srgbClr val="404040"/>
                          </a:solidFill>
                          <a:latin typeface="Arial"/>
                        </a:rPr>
                        <a:t>Kliptown spent ~R497m on assets before an operator existed; it draws ~4,000 visitors a year (SME plan pp23-24).</a:t>
                      </a:r>
                    </a:p>
                  </a:txBody>
                  <a:tcPr marL="54864" marR="54864" marT="27432" marB="27432" anchor="ctr">
                    <a:solidFill>
                      <a:srgbClr val="F2F2F2"/>
                    </a:solidFill>
                  </a:tcPr>
                </a:tc>
                <a:tc>
                  <a:txBody>
                    <a:bodyPr wrap="square"/>
                    <a:lstStyle/>
                    <a:p>
                      <a:pPr algn="l"/>
                      <a:r>
                        <a:rPr sz="1000" b="1" i="0">
                          <a:solidFill>
                            <a:srgbClr val="1F497D"/>
                          </a:solidFill>
                          <a:latin typeface="Arial"/>
                        </a:rPr>
                        <a:t>Gate capital behind proven demand.</a:t>
                      </a:r>
                    </a:p>
                  </a:txBody>
                  <a:tcPr marL="54864" marR="54864" marT="27432" marB="27432" anchor="ctr">
                    <a:solidFill>
                      <a:srgbClr val="F2F2F2"/>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FFFFF"/>
                    </a:solidFill>
                  </a:tcPr>
                </a:tc>
                <a:tc>
                  <a:txBody>
                    <a:bodyPr wrap="square"/>
                    <a:lstStyle/>
                    <a:p>
                      <a:pPr algn="l"/>
                      <a:r>
                        <a:rPr sz="1000" b="0" i="0">
                          <a:solidFill>
                            <a:srgbClr val="404040"/>
                          </a:solidFill>
                          <a:latin typeface="Arial"/>
                        </a:rPr>
                        <a:t>NZ tied marketing to routes: 16,000+ incremental bookings, ~NZ$55m ROI as reported, 2023/24 (Benchmark p54).</a:t>
                      </a:r>
                    </a:p>
                  </a:txBody>
                  <a:tcPr marL="54864" marR="54864" marT="27432" marB="27432" anchor="ctr">
                    <a:solidFill>
                      <a:srgbClr val="FFFFFF"/>
                    </a:solidFill>
                  </a:tcPr>
                </a:tc>
                <a:tc>
                  <a:txBody>
                    <a:bodyPr wrap="square"/>
                    <a:lstStyle/>
                    <a:p>
                      <a:pPr algn="l"/>
                      <a:r>
                        <a:rPr sz="1000" b="1" i="0">
                          <a:solidFill>
                            <a:srgbClr val="1F497D"/>
                          </a:solidFill>
                          <a:latin typeface="Arial"/>
                        </a:rPr>
                        <a:t>Make marketing route-accountable.</a:t>
                      </a:r>
                    </a:p>
                  </a:txBody>
                  <a:tcPr marL="54864" marR="54864" marT="27432" marB="27432" anchor="ctr">
                    <a:solidFill>
                      <a:srgbClr val="FFFFFF"/>
                    </a:solidFill>
                  </a:tcPr>
                </a:tc>
              </a:tr>
              <a:tr h="374904">
                <a:tc>
                  <a:txBody>
                    <a:bodyPr wrap="square"/>
                    <a:lstStyle/>
                    <a:p>
                      <a:pPr algn="l"/>
                      <a:r>
                        <a:rPr sz="900" b="1" i="0">
                          <a:solidFill>
                            <a:srgbClr val="00AEEF"/>
                          </a:solidFill>
                          <a:latin typeface="Arial"/>
                        </a:rPr>
                        <a:t>Enabling</a:t>
                      </a:r>
                    </a:p>
                  </a:txBody>
                  <a:tcPr marL="54864" marR="54864" marT="27432" marB="27432" anchor="ctr">
                    <a:solidFill>
                      <a:srgbClr val="F2F2F2"/>
                    </a:solidFill>
                  </a:tcPr>
                </a:tc>
                <a:tc>
                  <a:txBody>
                    <a:bodyPr wrap="square"/>
                    <a:lstStyle/>
                    <a:p>
                      <a:pPr algn="l"/>
                      <a:r>
                        <a:rPr sz="1000" b="0" i="0">
                          <a:solidFill>
                            <a:srgbClr val="404040"/>
                          </a:solidFill>
                          <a:latin typeface="Arial"/>
                        </a:rPr>
                        <a:t>Governance and data were each raised by 15 of 16 organisations consulted (Letsema tally of Stakeholder Insights pp20-46).</a:t>
                      </a:r>
                    </a:p>
                  </a:txBody>
                  <a:tcPr marL="54864" marR="54864" marT="27432" marB="27432" anchor="ctr">
                    <a:solidFill>
                      <a:srgbClr val="F2F2F2"/>
                    </a:solidFill>
                  </a:tcPr>
                </a:tc>
                <a:tc>
                  <a:txBody>
                    <a:bodyPr wrap="square"/>
                    <a:lstStyle/>
                    <a:p>
                      <a:pPr algn="l"/>
                      <a:r>
                        <a:rPr sz="1000" b="1" i="0">
                          <a:solidFill>
                            <a:srgbClr val="1F497D"/>
                          </a:solidFill>
                          <a:latin typeface="Arial"/>
                        </a:rPr>
                        <a:t>Build one coordinating body with shared KPIs.</a:t>
                      </a:r>
                    </a:p>
                  </a:txBody>
                  <a:tcPr marL="54864" marR="54864" marT="27432" marB="27432" anchor="ctr">
                    <a:solidFill>
                      <a:srgbClr val="F2F2F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Today's levers take arrivals to roughly 2.2m by 2035; the rest must come from new levers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THE CORE QUESTION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Demand-Side Analysis (Jun 2026), pp19-21 (2024 base 1,445,031; OAG); MIDAS Aviation Market Assessment (Mar 2026); Global Benchmarking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309360" cy="4023360"/>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21792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Modelled international arrivals, millions</a:t>
            </a:r>
          </a:p>
        </p:txBody>
      </p:sp>
      <p:sp>
        <p:nvSpPr>
          <p:cNvPr id="10" name="TextBox 9"/>
          <p:cNvSpPr txBox="1"/>
          <p:nvPr/>
        </p:nvSpPr>
        <p:spPr>
          <a:xfrm>
            <a:off x="457200" y="5532120"/>
            <a:ext cx="6217920" cy="274320"/>
          </a:xfrm>
          <a:prstGeom prst="rect">
            <a:avLst/>
          </a:prstGeom>
          <a:noFill/>
        </p:spPr>
        <p:txBody>
          <a:bodyPr wrap="square" anchor="t" lIns="36576" rIns="36576" tIns="21945" bIns="21945">
            <a:spAutoFit/>
          </a:bodyPr>
          <a:lstStyle/>
          <a:p>
            <a:pPr algn="l">
              <a:spcAft>
                <a:spcPts val="0"/>
              </a:spcAft>
            </a:pPr>
            <a:r>
              <a:rPr sz="950" b="0" i="0">
                <a:solidFill>
                  <a:srgbClr val="7F7F7F"/>
                </a:solidFill>
                <a:latin typeface="Arial"/>
              </a:rPr>
              <a:t>Annual growth 2024-35: conservative 2.0%, base 3.7%, accelerated 5.0%; the goal needs ~6.2% (Letsema calculation)</a:t>
            </a:r>
          </a:p>
        </p:txBody>
      </p:sp>
      <p:sp>
        <p:nvSpPr>
          <p:cNvPr id="11" name="TextBox 10"/>
          <p:cNvSpPr txBox="1"/>
          <p:nvPr/>
        </p:nvSpPr>
        <p:spPr>
          <a:xfrm>
            <a:off x="6949440" y="1207008"/>
            <a:ext cx="484632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LEVERS NOT YET IN THE MODEL</a:t>
            </a:r>
          </a:p>
        </p:txBody>
      </p:sp>
      <p:sp>
        <p:nvSpPr>
          <p:cNvPr id="12" name="Rectangle 11"/>
          <p:cNvSpPr/>
          <p:nvPr/>
        </p:nvSpPr>
        <p:spPr>
          <a:xfrm>
            <a:off x="6949440" y="1554480"/>
            <a:ext cx="64008" cy="566928"/>
          </a:xfrm>
          <a:prstGeom prst="rect">
            <a:avLst/>
          </a:prstGeom>
          <a:solidFill>
            <a:srgbClr val="00AEEF"/>
          </a:solidFill>
          <a:ln>
            <a:noFill/>
          </a:ln>
        </p:spPr>
        <p:txBody>
          <a:bodyPr rtlCol="0" anchor="ctr"/>
          <a:lstStyle/>
          <a:p>
            <a:pPr algn="ctr"/>
          </a:p>
        </p:txBody>
      </p:sp>
      <p:sp>
        <p:nvSpPr>
          <p:cNvPr id="13" name="TextBox 12"/>
          <p:cNvSpPr txBox="1"/>
          <p:nvPr/>
        </p:nvSpPr>
        <p:spPr>
          <a:xfrm>
            <a:off x="7114032" y="1536192"/>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Green-season capacity</a:t>
            </a:r>
          </a:p>
        </p:txBody>
      </p:sp>
      <p:sp>
        <p:nvSpPr>
          <p:cNvPr id="14" name="TextBox 13"/>
          <p:cNvSpPr txBox="1"/>
          <p:nvPr/>
        </p:nvSpPr>
        <p:spPr>
          <a:xfrm>
            <a:off x="7114032" y="1792224"/>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Seats in May-Sep run at 6-7% a month against 10-11% in peak.</a:t>
            </a:r>
          </a:p>
        </p:txBody>
      </p:sp>
      <p:sp>
        <p:nvSpPr>
          <p:cNvPr id="15" name="Rectangle 14"/>
          <p:cNvSpPr/>
          <p:nvPr/>
        </p:nvSpPr>
        <p:spPr>
          <a:xfrm>
            <a:off x="6949440" y="2231136"/>
            <a:ext cx="64008" cy="566928"/>
          </a:xfrm>
          <a:prstGeom prst="rect">
            <a:avLst/>
          </a:prstGeom>
          <a:solidFill>
            <a:srgbClr val="00AEEF"/>
          </a:solidFill>
          <a:ln>
            <a:noFill/>
          </a:ln>
        </p:spPr>
        <p:txBody>
          <a:bodyPr rtlCol="0" anchor="ctr"/>
          <a:lstStyle/>
          <a:p>
            <a:pPr algn="ctr"/>
          </a:p>
        </p:txBody>
      </p:sp>
      <p:sp>
        <p:nvSpPr>
          <p:cNvPr id="16" name="TextBox 15"/>
          <p:cNvSpPr txBox="1"/>
          <p:nvPr/>
        </p:nvSpPr>
        <p:spPr>
          <a:xfrm>
            <a:off x="7114032" y="2212848"/>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Events and MICE</a:t>
            </a:r>
          </a:p>
        </p:txBody>
      </p:sp>
      <p:sp>
        <p:nvSpPr>
          <p:cNvPr id="17" name="TextBox 16"/>
          <p:cNvSpPr txBox="1"/>
          <p:nvPr/>
        </p:nvSpPr>
        <p:spPr>
          <a:xfrm>
            <a:off x="7114032" y="2468880"/>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Melbourne built an events calendar, backed by 5,000 new hotel rooms (+21%).</a:t>
            </a:r>
          </a:p>
        </p:txBody>
      </p:sp>
      <p:sp>
        <p:nvSpPr>
          <p:cNvPr id="18" name="Rectangle 17"/>
          <p:cNvSpPr/>
          <p:nvPr/>
        </p:nvSpPr>
        <p:spPr>
          <a:xfrm>
            <a:off x="6949440" y="2907791"/>
            <a:ext cx="64008" cy="566928"/>
          </a:xfrm>
          <a:prstGeom prst="rect">
            <a:avLst/>
          </a:prstGeom>
          <a:solidFill>
            <a:srgbClr val="00AEEF"/>
          </a:solidFill>
          <a:ln>
            <a:noFill/>
          </a:ln>
        </p:spPr>
        <p:txBody>
          <a:bodyPr rtlCol="0" anchor="ctr"/>
          <a:lstStyle/>
          <a:p>
            <a:pPr algn="ctr"/>
          </a:p>
        </p:txBody>
      </p:sp>
      <p:sp>
        <p:nvSpPr>
          <p:cNvPr id="19" name="TextBox 18"/>
          <p:cNvSpPr txBox="1"/>
          <p:nvPr/>
        </p:nvSpPr>
        <p:spPr>
          <a:xfrm>
            <a:off x="7114032" y="2889503"/>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Visa reform</a:t>
            </a:r>
          </a:p>
        </p:txBody>
      </p:sp>
      <p:sp>
        <p:nvSpPr>
          <p:cNvPr id="20" name="TextBox 19"/>
          <p:cNvSpPr txBox="1"/>
          <p:nvPr/>
        </p:nvSpPr>
        <p:spPr>
          <a:xfrm>
            <a:off x="7114032" y="3145535"/>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BDO models +505,000 tourists to South Africa in 2030 from a China, India, Nigeria exemption (national).</a:t>
            </a:r>
          </a:p>
        </p:txBody>
      </p:sp>
      <p:sp>
        <p:nvSpPr>
          <p:cNvPr id="21" name="Rectangle 20"/>
          <p:cNvSpPr/>
          <p:nvPr/>
        </p:nvSpPr>
        <p:spPr>
          <a:xfrm>
            <a:off x="6949440" y="3584448"/>
            <a:ext cx="64008" cy="566928"/>
          </a:xfrm>
          <a:prstGeom prst="rect">
            <a:avLst/>
          </a:prstGeom>
          <a:solidFill>
            <a:srgbClr val="00AEEF"/>
          </a:solidFill>
          <a:ln>
            <a:noFill/>
          </a:ln>
        </p:spPr>
        <p:txBody>
          <a:bodyPr rtlCol="0" anchor="ctr"/>
          <a:lstStyle/>
          <a:p>
            <a:pPr algn="ctr"/>
          </a:p>
        </p:txBody>
      </p:sp>
      <p:sp>
        <p:nvSpPr>
          <p:cNvPr id="22" name="TextBox 21"/>
          <p:cNvSpPr txBox="1"/>
          <p:nvPr/>
        </p:nvSpPr>
        <p:spPr>
          <a:xfrm>
            <a:off x="7114032" y="3566160"/>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Route-accountable marketing</a:t>
            </a:r>
          </a:p>
        </p:txBody>
      </p:sp>
      <p:sp>
        <p:nvSpPr>
          <p:cNvPr id="23" name="TextBox 22"/>
          <p:cNvSpPr txBox="1"/>
          <p:nvPr/>
        </p:nvSpPr>
        <p:spPr>
          <a:xfrm>
            <a:off x="7114032" y="3822191"/>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NZ: 16,000+ incremental bookings from route-tied campaigns.</a:t>
            </a:r>
          </a:p>
        </p:txBody>
      </p:sp>
      <p:sp>
        <p:nvSpPr>
          <p:cNvPr id="24" name="Rectangle 23"/>
          <p:cNvSpPr/>
          <p:nvPr/>
        </p:nvSpPr>
        <p:spPr>
          <a:xfrm>
            <a:off x="6949440" y="4261104"/>
            <a:ext cx="64008" cy="566928"/>
          </a:xfrm>
          <a:prstGeom prst="rect">
            <a:avLst/>
          </a:prstGeom>
          <a:solidFill>
            <a:srgbClr val="00AEEF"/>
          </a:solidFill>
          <a:ln>
            <a:noFill/>
          </a:ln>
        </p:spPr>
        <p:txBody>
          <a:bodyPr rtlCol="0" anchor="ctr"/>
          <a:lstStyle/>
          <a:p>
            <a:pPr algn="ctr"/>
          </a:p>
        </p:txBody>
      </p:sp>
      <p:sp>
        <p:nvSpPr>
          <p:cNvPr id="25" name="TextBox 24"/>
          <p:cNvSpPr txBox="1"/>
          <p:nvPr/>
        </p:nvSpPr>
        <p:spPr>
          <a:xfrm>
            <a:off x="7114032" y="4242816"/>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Regional activation</a:t>
            </a:r>
          </a:p>
        </p:txBody>
      </p:sp>
      <p:sp>
        <p:nvSpPr>
          <p:cNvPr id="26" name="TextBox 25"/>
          <p:cNvSpPr txBox="1"/>
          <p:nvPr/>
        </p:nvSpPr>
        <p:spPr>
          <a:xfrm>
            <a:off x="7114032" y="4498848"/>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Inactivated assets and six touring routes beyond the Metro.</a:t>
            </a:r>
          </a:p>
        </p:txBody>
      </p:sp>
      <p:sp>
        <p:nvSpPr>
          <p:cNvPr id="27" name="Rectangle 26"/>
          <p:cNvSpPr/>
          <p:nvPr/>
        </p:nvSpPr>
        <p:spPr>
          <a:xfrm>
            <a:off x="6949440" y="4937760"/>
            <a:ext cx="64008" cy="566928"/>
          </a:xfrm>
          <a:prstGeom prst="rect">
            <a:avLst/>
          </a:prstGeom>
          <a:solidFill>
            <a:srgbClr val="00AEEF"/>
          </a:solidFill>
          <a:ln>
            <a:noFill/>
          </a:ln>
        </p:spPr>
        <p:txBody>
          <a:bodyPr rtlCol="0" anchor="ctr"/>
          <a:lstStyle/>
          <a:p>
            <a:pPr algn="ctr"/>
          </a:p>
        </p:txBody>
      </p:sp>
      <p:sp>
        <p:nvSpPr>
          <p:cNvPr id="28" name="TextBox 27"/>
          <p:cNvSpPr txBox="1"/>
          <p:nvPr/>
        </p:nvSpPr>
        <p:spPr>
          <a:xfrm>
            <a:off x="7114032" y="4919472"/>
            <a:ext cx="4663440" cy="274320"/>
          </a:xfrm>
          <a:prstGeom prst="rect">
            <a:avLst/>
          </a:prstGeom>
          <a:noFill/>
        </p:spPr>
        <p:txBody>
          <a:bodyPr wrap="square" anchor="t" lIns="36576" rIns="36576" tIns="21945" bIns="21945">
            <a:spAutoFit/>
          </a:bodyPr>
          <a:lstStyle/>
          <a:p>
            <a:pPr algn="l">
              <a:spcAft>
                <a:spcPts val="0"/>
              </a:spcAft>
            </a:pPr>
            <a:r>
              <a:rPr sz="1050" b="1" i="0">
                <a:solidFill>
                  <a:srgbClr val="1F497D"/>
                </a:solidFill>
                <a:latin typeface="Arial"/>
              </a:rPr>
              <a:t>Low-cost carriers</a:t>
            </a:r>
          </a:p>
        </p:txBody>
      </p:sp>
      <p:sp>
        <p:nvSpPr>
          <p:cNvPr id="29" name="TextBox 28"/>
          <p:cNvSpPr txBox="1"/>
          <p:nvPr/>
        </p:nvSpPr>
        <p:spPr>
          <a:xfrm>
            <a:off x="7114032" y="5175504"/>
            <a:ext cx="4663440" cy="365760"/>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Edinburgh runs 81% LCC routes; Cape Town almost none.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What we found</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The evidence, branch by branch, and what it tells us to do</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Airlines withdraw a third of their seats in winter while venues sit idle: the green season needs demand, not capacity</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SEASONALITY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p15 (international capacity by month, 2025); Demand-Side Analysis (Jun 2026) p37 (ICCA 2022-24); Stakeholder Insights Report (Mar 2026) pp26, 45; Infrastructure Report (Jun 2026) p28; Global Benchmarking Report (Mar 2026) pp13-15 (Melbourne)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309360" cy="3840480"/>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21792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Cape Town international seat capacity by month, % of 2025 total</a:t>
            </a:r>
          </a:p>
        </p:txBody>
      </p:sp>
      <p:sp>
        <p:nvSpPr>
          <p:cNvPr id="10" name="TextBox 9"/>
          <p:cNvSpPr txBox="1"/>
          <p:nvPr/>
        </p:nvSpPr>
        <p:spPr>
          <a:xfrm>
            <a:off x="457200" y="5349240"/>
            <a:ext cx="6217920"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Grey: May to September, the green season. Shares are of scheduled seats, not of demand.</a:t>
            </a:r>
          </a:p>
        </p:txBody>
      </p:sp>
      <p:sp>
        <p:nvSpPr>
          <p:cNvPr id="11" name="Rectangle 10"/>
          <p:cNvSpPr/>
          <p:nvPr/>
        </p:nvSpPr>
        <p:spPr>
          <a:xfrm>
            <a:off x="6949440" y="1234440"/>
            <a:ext cx="4846320" cy="1965960"/>
          </a:xfrm>
          <a:prstGeom prst="rect">
            <a:avLst/>
          </a:prstGeom>
          <a:solidFill>
            <a:srgbClr val="F2F2F2"/>
          </a:solidFill>
          <a:ln>
            <a:noFill/>
          </a:ln>
        </p:spPr>
        <p:txBody>
          <a:bodyPr rtlCol="0" anchor="ctr"/>
          <a:lstStyle/>
          <a:p>
            <a:pPr algn="ctr"/>
          </a:p>
        </p:txBody>
      </p:sp>
      <p:sp>
        <p:nvSpPr>
          <p:cNvPr id="12" name="Rectangle 11"/>
          <p:cNvSpPr/>
          <p:nvPr/>
        </p:nvSpPr>
        <p:spPr>
          <a:xfrm>
            <a:off x="6949440" y="1234440"/>
            <a:ext cx="54864" cy="1965960"/>
          </a:xfrm>
          <a:prstGeom prst="rect">
            <a:avLst/>
          </a:prstGeom>
          <a:solidFill>
            <a:srgbClr val="00AEEF"/>
          </a:solidFill>
          <a:ln>
            <a:noFill/>
          </a:ln>
        </p:spPr>
        <p:txBody>
          <a:bodyPr rtlCol="0" anchor="ctr"/>
          <a:lstStyle/>
          <a:p>
            <a:pPr algn="ctr"/>
          </a:p>
        </p:txBody>
      </p:sp>
      <p:sp>
        <p:nvSpPr>
          <p:cNvPr id="13" name="TextBox 12"/>
          <p:cNvSpPr txBox="1"/>
          <p:nvPr/>
        </p:nvSpPr>
        <p:spPr>
          <a:xfrm>
            <a:off x="7114031" y="1325880"/>
            <a:ext cx="4572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Facts</a:t>
            </a:r>
          </a:p>
        </p:txBody>
      </p:sp>
      <p:sp>
        <p:nvSpPr>
          <p:cNvPr id="14" name="TextBox 13"/>
          <p:cNvSpPr txBox="1"/>
          <p:nvPr/>
        </p:nvSpPr>
        <p:spPr>
          <a:xfrm>
            <a:off x="7114031" y="1645920"/>
            <a:ext cx="4572000" cy="1463039"/>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ICCA association meetings 2022-24 peak in Sep (24), Oct (27) and Nov (23).</a:t>
            </a:r>
          </a:p>
          <a:p>
            <a:pPr algn="l" marL="146304" indent="-146304">
              <a:spcAft>
                <a:spcPts val="300"/>
              </a:spcAft>
              <a:buClr>
                <a:srgbClr val="00AEEF"/>
              </a:buClr>
              <a:buFont typeface="Arial"/>
              <a:buChar char="•"/>
            </a:pPr>
            <a:r>
              <a:rPr sz="950" b="0" i="0">
                <a:solidFill>
                  <a:srgbClr val="404040"/>
                </a:solidFill>
                <a:latin typeface="Arial"/>
              </a:rPr>
              <a:t>CTICC venue demand: June-August and December-January are structurally weak.</a:t>
            </a:r>
          </a:p>
          <a:p>
            <a:pPr algn="l" marL="146304" indent="-146304">
              <a:spcAft>
                <a:spcPts val="300"/>
              </a:spcAft>
              <a:buClr>
                <a:srgbClr val="00AEEF"/>
              </a:buClr>
              <a:buFont typeface="Arial"/>
              <a:buChar char="•"/>
            </a:pPr>
            <a:r>
              <a:rPr sz="950" b="0" i="0">
                <a:solidFill>
                  <a:srgbClr val="404040"/>
                </a:solidFill>
                <a:latin typeface="Arial"/>
              </a:rPr>
              <a:t>Overberg: winter whale-season demand (Infrastructure p28) against a May-July shoulder for key attractions (Overberg District).</a:t>
            </a:r>
          </a:p>
          <a:p>
            <a:pPr algn="l" marL="146304" indent="-146304">
              <a:spcAft>
                <a:spcPts val="300"/>
              </a:spcAft>
              <a:buClr>
                <a:srgbClr val="00AEEF"/>
              </a:buClr>
              <a:buFont typeface="Arial"/>
              <a:buChar char="•"/>
            </a:pPr>
            <a:r>
              <a:rPr sz="950" b="0" i="0">
                <a:solidFill>
                  <a:srgbClr val="404040"/>
                </a:solidFill>
                <a:latin typeface="Arial"/>
              </a:rPr>
              <a:t>Shoulder-season events are "critically thin" outside the Metro.</a:t>
            </a:r>
          </a:p>
        </p:txBody>
      </p:sp>
      <p:sp>
        <p:nvSpPr>
          <p:cNvPr id="15" name="Rectangle 14"/>
          <p:cNvSpPr/>
          <p:nvPr/>
        </p:nvSpPr>
        <p:spPr>
          <a:xfrm>
            <a:off x="6949440" y="3310128"/>
            <a:ext cx="4846320" cy="2331720"/>
          </a:xfrm>
          <a:prstGeom prst="rect">
            <a:avLst/>
          </a:prstGeom>
          <a:solidFill>
            <a:srgbClr val="DCEEF7"/>
          </a:solidFill>
          <a:ln>
            <a:noFill/>
          </a:ln>
        </p:spPr>
        <p:txBody>
          <a:bodyPr rtlCol="0" anchor="ctr"/>
          <a:lstStyle/>
          <a:p>
            <a:pPr algn="ctr"/>
          </a:p>
        </p:txBody>
      </p:sp>
      <p:sp>
        <p:nvSpPr>
          <p:cNvPr id="16" name="Rectangle 15"/>
          <p:cNvSpPr/>
          <p:nvPr/>
        </p:nvSpPr>
        <p:spPr>
          <a:xfrm>
            <a:off x="6949440" y="3310128"/>
            <a:ext cx="54864" cy="2331720"/>
          </a:xfrm>
          <a:prstGeom prst="rect">
            <a:avLst/>
          </a:prstGeom>
          <a:solidFill>
            <a:srgbClr val="00AEEF"/>
          </a:solidFill>
          <a:ln>
            <a:noFill/>
          </a:ln>
        </p:spPr>
        <p:txBody>
          <a:bodyPr rtlCol="0" anchor="ctr"/>
          <a:lstStyle/>
          <a:p>
            <a:pPr algn="ctr"/>
          </a:p>
        </p:txBody>
      </p:sp>
      <p:sp>
        <p:nvSpPr>
          <p:cNvPr id="17" name="TextBox 16"/>
          <p:cNvSpPr txBox="1"/>
          <p:nvPr/>
        </p:nvSpPr>
        <p:spPr>
          <a:xfrm>
            <a:off x="7114031" y="3401568"/>
            <a:ext cx="4572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18" name="TextBox 17"/>
          <p:cNvSpPr txBox="1"/>
          <p:nvPr/>
        </p:nvSpPr>
        <p:spPr>
          <a:xfrm>
            <a:off x="7114031" y="3721608"/>
            <a:ext cx="4572000" cy="1828799"/>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One events and MICE acquisition pipeline across Wesgro, Convention Bureau, City and Province.</a:t>
            </a:r>
          </a:p>
          <a:p>
            <a:pPr algn="l" marL="146304" indent="-146304">
              <a:spcAft>
                <a:spcPts val="300"/>
              </a:spcAft>
              <a:buClr>
                <a:srgbClr val="00AEEF"/>
              </a:buClr>
              <a:buFont typeface="Arial"/>
              <a:buChar char="•"/>
            </a:pPr>
            <a:r>
              <a:rPr sz="950" b="0" i="0">
                <a:solidFill>
                  <a:srgbClr val="404040"/>
                </a:solidFill>
                <a:latin typeface="Arial"/>
              </a:rPr>
              <a:t>Bid for conferences in May-Sep in sectors where the province leads.</a:t>
            </a:r>
          </a:p>
          <a:p>
            <a:pPr algn="l" marL="146304" indent="-146304">
              <a:spcAft>
                <a:spcPts val="300"/>
              </a:spcAft>
              <a:buClr>
                <a:srgbClr val="00AEEF"/>
              </a:buClr>
              <a:buFont typeface="Arial"/>
              <a:buChar char="•"/>
            </a:pPr>
            <a:r>
              <a:rPr sz="950" b="0" i="0">
                <a:solidFill>
                  <a:srgbClr val="404040"/>
                </a:solidFill>
                <a:latin typeface="Arial"/>
              </a:rPr>
              <a:t>Green-season packages with hub carriers (flight, stay, experience).</a:t>
            </a:r>
          </a:p>
          <a:p>
            <a:pPr algn="l" marL="146304" indent="-146304">
              <a:spcAft>
                <a:spcPts val="300"/>
              </a:spcAft>
              <a:buClr>
                <a:srgbClr val="00AEEF"/>
              </a:buClr>
              <a:buFont typeface="Arial"/>
              <a:buChar char="•"/>
            </a:pPr>
            <a:r>
              <a:rPr sz="950" b="0" i="0">
                <a:solidFill>
                  <a:srgbClr val="404040"/>
                </a:solidFill>
                <a:latin typeface="Arial"/>
              </a:rPr>
              <a:t>Programme December-January lifestyle events to use idle venues.</a:t>
            </a:r>
          </a:p>
        </p:txBody>
      </p:sp>
      <p:sp>
        <p:nvSpPr>
          <p:cNvPr id="19" name="Rectangle 18"/>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20" name="TextBox 19"/>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Green-season demand keeps seats in the schedule and fills venues and beds that already exist.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Eleven international routes run above 80% estimated load: the strongest cases for frequency talks with airlines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MATURE AND REGIONAL MARKETS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pp9, 17 (GDS-estimated route load factors, 12 months to Nov 2025; 22 of 27 routes shown; total 76.0%); Wesgro Tourism Source Market Analysis (Nov 2025) via DSE factbase T4 (capture shares)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949440" cy="4251960"/>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8580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Estimated passenger load factor by Cape Town international route, %</a:t>
            </a:r>
          </a:p>
        </p:txBody>
      </p:sp>
      <p:sp>
        <p:nvSpPr>
          <p:cNvPr id="10" name="TextBox 9"/>
          <p:cNvSpPr txBox="1"/>
          <p:nvPr/>
        </p:nvSpPr>
        <p:spPr>
          <a:xfrm>
            <a:off x="457200" y="5715000"/>
            <a:ext cx="6858000"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Cyan: 80% and above. Blue: 70-80%. Grey: below 70%. GDS estimates; they do not measure route profitability.</a:t>
            </a:r>
          </a:p>
        </p:txBody>
      </p:sp>
      <p:sp>
        <p:nvSpPr>
          <p:cNvPr id="11" name="Rectangle 10"/>
          <p:cNvSpPr/>
          <p:nvPr/>
        </p:nvSpPr>
        <p:spPr>
          <a:xfrm>
            <a:off x="7543800" y="1234440"/>
            <a:ext cx="4251960" cy="2103120"/>
          </a:xfrm>
          <a:prstGeom prst="rect">
            <a:avLst/>
          </a:prstGeom>
          <a:solidFill>
            <a:srgbClr val="F2F2F2"/>
          </a:solidFill>
          <a:ln>
            <a:noFill/>
          </a:ln>
        </p:spPr>
        <p:txBody>
          <a:bodyPr rtlCol="0" anchor="ctr"/>
          <a:lstStyle/>
          <a:p>
            <a:pPr algn="ctr"/>
          </a:p>
        </p:txBody>
      </p:sp>
      <p:sp>
        <p:nvSpPr>
          <p:cNvPr id="12" name="Rectangle 11"/>
          <p:cNvSpPr/>
          <p:nvPr/>
        </p:nvSpPr>
        <p:spPr>
          <a:xfrm>
            <a:off x="7543800" y="1234440"/>
            <a:ext cx="54864" cy="2103120"/>
          </a:xfrm>
          <a:prstGeom prst="rect">
            <a:avLst/>
          </a:prstGeom>
          <a:solidFill>
            <a:srgbClr val="00AEEF"/>
          </a:solidFill>
          <a:ln>
            <a:noFill/>
          </a:ln>
        </p:spPr>
        <p:txBody>
          <a:bodyPr rtlCol="0" anchor="ctr"/>
          <a:lstStyle/>
          <a:p>
            <a:pPr algn="ctr"/>
          </a:p>
        </p:txBody>
      </p:sp>
      <p:sp>
        <p:nvSpPr>
          <p:cNvPr id="13" name="TextBox 12"/>
          <p:cNvSpPr txBox="1"/>
          <p:nvPr/>
        </p:nvSpPr>
        <p:spPr>
          <a:xfrm>
            <a:off x="7708392" y="1325880"/>
            <a:ext cx="397764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Facts</a:t>
            </a:r>
          </a:p>
        </p:txBody>
      </p:sp>
      <p:sp>
        <p:nvSpPr>
          <p:cNvPr id="14" name="TextBox 13"/>
          <p:cNvSpPr txBox="1"/>
          <p:nvPr/>
        </p:nvSpPr>
        <p:spPr>
          <a:xfrm>
            <a:off x="7708392" y="1645920"/>
            <a:ext cx="3977640" cy="1600199"/>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German seats ~0.4m, +51% on 2019, while Johannesburg lost German capacity.</a:t>
            </a:r>
          </a:p>
          <a:p>
            <a:pPr algn="l" marL="146304" indent="-146304">
              <a:spcAft>
                <a:spcPts val="300"/>
              </a:spcAft>
              <a:buClr>
                <a:srgbClr val="00AEEF"/>
              </a:buClr>
              <a:buFont typeface="Arial"/>
              <a:buChar char="•"/>
            </a:pPr>
            <a:r>
              <a:rPr sz="950" b="0" i="0">
                <a:solidFill>
                  <a:srgbClr val="404040"/>
                </a:solidFill>
                <a:latin typeface="Arial"/>
              </a:rPr>
              <a:t>US seats grew from launch in 2023 to ~0.3m in 2026.</a:t>
            </a:r>
          </a:p>
          <a:p>
            <a:pPr algn="l" marL="146304" indent="-146304">
              <a:spcAft>
                <a:spcPts val="300"/>
              </a:spcAft>
              <a:buClr>
                <a:srgbClr val="00AEEF"/>
              </a:buClr>
              <a:buFont typeface="Arial"/>
              <a:buChar char="•"/>
            </a:pPr>
            <a:r>
              <a:rPr sz="950" b="0" i="0">
                <a:solidFill>
                  <a:srgbClr val="404040"/>
                </a:solidFill>
                <a:latin typeface="Arial"/>
              </a:rPr>
              <a:t>Western Europe carries 38% of Cape Town's international seats.</a:t>
            </a:r>
          </a:p>
          <a:p>
            <a:pPr algn="l" marL="146304" indent="-146304">
              <a:spcAft>
                <a:spcPts val="300"/>
              </a:spcAft>
              <a:buClr>
                <a:srgbClr val="00AEEF"/>
              </a:buClr>
              <a:buFont typeface="Arial"/>
              <a:buChar char="•"/>
            </a:pPr>
            <a:r>
              <a:rPr sz="950" b="0" i="0">
                <a:solidFill>
                  <a:srgbClr val="404040"/>
                </a:solidFill>
                <a:latin typeface="Arial"/>
              </a:rPr>
              <a:t>Cape Town captures 0.12-0.23% of US, German and UK outbound trips (Wesgro TSMA via factbase; to verify).</a:t>
            </a:r>
          </a:p>
        </p:txBody>
      </p:sp>
      <p:sp>
        <p:nvSpPr>
          <p:cNvPr id="15" name="Rectangle 14"/>
          <p:cNvSpPr/>
          <p:nvPr/>
        </p:nvSpPr>
        <p:spPr>
          <a:xfrm>
            <a:off x="7543800" y="3474720"/>
            <a:ext cx="4251960" cy="2240280"/>
          </a:xfrm>
          <a:prstGeom prst="rect">
            <a:avLst/>
          </a:prstGeom>
          <a:solidFill>
            <a:srgbClr val="DCEEF7"/>
          </a:solidFill>
          <a:ln>
            <a:noFill/>
          </a:ln>
        </p:spPr>
        <p:txBody>
          <a:bodyPr rtlCol="0" anchor="ctr"/>
          <a:lstStyle/>
          <a:p>
            <a:pPr algn="ctr"/>
          </a:p>
        </p:txBody>
      </p:sp>
      <p:sp>
        <p:nvSpPr>
          <p:cNvPr id="16" name="Rectangle 15"/>
          <p:cNvSpPr/>
          <p:nvPr/>
        </p:nvSpPr>
        <p:spPr>
          <a:xfrm>
            <a:off x="7543800" y="3474720"/>
            <a:ext cx="54864" cy="2240280"/>
          </a:xfrm>
          <a:prstGeom prst="rect">
            <a:avLst/>
          </a:prstGeom>
          <a:solidFill>
            <a:srgbClr val="00AEEF"/>
          </a:solidFill>
          <a:ln>
            <a:noFill/>
          </a:ln>
        </p:spPr>
        <p:txBody>
          <a:bodyPr rtlCol="0" anchor="ctr"/>
          <a:lstStyle/>
          <a:p>
            <a:pPr algn="ctr"/>
          </a:p>
        </p:txBody>
      </p:sp>
      <p:sp>
        <p:nvSpPr>
          <p:cNvPr id="17" name="TextBox 16"/>
          <p:cNvSpPr txBox="1"/>
          <p:nvPr/>
        </p:nvSpPr>
        <p:spPr>
          <a:xfrm>
            <a:off x="7708392" y="3566160"/>
            <a:ext cx="397764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18" name="TextBox 17"/>
          <p:cNvSpPr txBox="1"/>
          <p:nvPr/>
        </p:nvSpPr>
        <p:spPr>
          <a:xfrm>
            <a:off x="7708392" y="3886200"/>
            <a:ext cx="3977640" cy="1737360"/>
          </a:xfrm>
          <a:prstGeom prst="rect">
            <a:avLst/>
          </a:prstGeom>
          <a:noFill/>
        </p:spPr>
        <p:txBody>
          <a:bodyPr wrap="square" anchor="t" lIns="36576" rIns="36576" tIns="21945" bIns="21945">
            <a:spAutoFit/>
          </a:bodyPr>
          <a:lstStyle/>
          <a:p>
            <a:pPr algn="l" marL="146304" indent="-146304">
              <a:spcAft>
                <a:spcPts val="300"/>
              </a:spcAft>
              <a:buClr>
                <a:srgbClr val="00AEEF"/>
              </a:buClr>
              <a:buFont typeface="Arial"/>
              <a:buChar char="•"/>
            </a:pPr>
            <a:r>
              <a:rPr sz="950" b="0" i="0">
                <a:solidFill>
                  <a:srgbClr val="404040"/>
                </a:solidFill>
                <a:latin typeface="Arial"/>
              </a:rPr>
              <a:t>Take frequency and upgauge cases to United, Delta, BA and Lufthansa.</a:t>
            </a:r>
          </a:p>
          <a:p>
            <a:pPr algn="l" marL="146304" indent="-146304">
              <a:spcAft>
                <a:spcPts val="300"/>
              </a:spcAft>
              <a:buClr>
                <a:srgbClr val="00AEEF"/>
              </a:buClr>
              <a:buFont typeface="Arial"/>
              <a:buChar char="•"/>
            </a:pPr>
            <a:r>
              <a:rPr sz="950" b="0" i="0">
                <a:solidFill>
                  <a:srgbClr val="404040"/>
                </a:solidFill>
                <a:latin typeface="Arial"/>
              </a:rPr>
              <a:t>Add regional capacity to Luanda, Maputo, Gaborone, Harare, Mauritius.</a:t>
            </a:r>
          </a:p>
          <a:p>
            <a:pPr algn="l" marL="146304" indent="-146304">
              <a:spcAft>
                <a:spcPts val="300"/>
              </a:spcAft>
              <a:buClr>
                <a:srgbClr val="00AEEF"/>
              </a:buClr>
              <a:buFont typeface="Arial"/>
              <a:buChar char="•"/>
            </a:pPr>
            <a:r>
              <a:rPr sz="950" b="0" i="0">
                <a:solidFill>
                  <a:srgbClr val="404040"/>
                </a:solidFill>
                <a:latin typeface="Arial"/>
              </a:rPr>
              <a:t>Sell longer, multi-region trips to mature markets to raise yield.</a:t>
            </a:r>
          </a:p>
          <a:p>
            <a:pPr algn="l" marL="146304" indent="-146304">
              <a:spcAft>
                <a:spcPts val="300"/>
              </a:spcAft>
              <a:buClr>
                <a:srgbClr val="00AEEF"/>
              </a:buClr>
              <a:buFont typeface="Arial"/>
              <a:buChar char="•"/>
            </a:pPr>
            <a:r>
              <a:rPr sz="950" b="0" i="0">
                <a:solidFill>
                  <a:srgbClr val="404040"/>
                </a:solidFill>
                <a:latin typeface="Arial"/>
              </a:rPr>
              <a:t>Review the Victoria Falls and Livingstone routes (our inference from low estimated 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India and China already reach Cape Town through hubs; direct routes are a post-2030 build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GROWTH MARKETS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pp3, 9, 18-20 (GDS bookings, 2025); Demand-Side Analysis (Jun 2026) pp29-30, 45-51; BDO Visa Regime Study (Jul 2024) via mobility factbase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3950208"/>
        </p:xfrm>
        <a:graphic>
          <a:graphicData uri="http://schemas.openxmlformats.org/drawingml/2006/table">
            <a:tbl>
              <a:tblPr firstRow="1" bandRow="0">
                <a:tableStyleId>{5C22544A-7EE6-4342-B048-85BDC9FD1C3A}</a:tableStyleId>
              </a:tblPr>
              <a:tblGrid>
                <a:gridCol w="1143000"/>
                <a:gridCol w="3246120"/>
                <a:gridCol w="2606040"/>
                <a:gridCol w="1737360"/>
                <a:gridCol w="2688336"/>
              </a:tblGrid>
              <a:tr h="658368">
                <a:tc>
                  <a:txBody>
                    <a:bodyPr wrap="square"/>
                    <a:lstStyle/>
                    <a:p>
                      <a:pPr algn="l"/>
                      <a:r>
                        <a:rPr sz="950" b="1" i="0">
                          <a:solidFill>
                            <a:srgbClr val="FFFFFF"/>
                          </a:solidFill>
                          <a:latin typeface="Arial"/>
                        </a:rPr>
                        <a:t>Market</a:t>
                      </a:r>
                    </a:p>
                  </a:txBody>
                  <a:tcPr marL="54864" marR="54864" marT="27432" marB="27432" anchor="ctr">
                    <a:solidFill>
                      <a:srgbClr val="1F497D"/>
                    </a:solidFill>
                  </a:tcPr>
                </a:tc>
                <a:tc>
                  <a:txBody>
                    <a:bodyPr wrap="square"/>
                    <a:lstStyle/>
                    <a:p>
                      <a:pPr algn="l"/>
                      <a:r>
                        <a:rPr sz="950" b="1" i="0">
                          <a:solidFill>
                            <a:srgbClr val="FFFFFF"/>
                          </a:solidFill>
                          <a:latin typeface="Arial"/>
                        </a:rPr>
                        <a:t>What flows today</a:t>
                      </a:r>
                    </a:p>
                  </a:txBody>
                  <a:tcPr marL="54864" marR="54864" marT="27432" marB="27432" anchor="ctr">
                    <a:solidFill>
                      <a:srgbClr val="1F497D"/>
                    </a:solidFill>
                  </a:tcPr>
                </a:tc>
                <a:tc>
                  <a:txBody>
                    <a:bodyPr wrap="square"/>
                    <a:lstStyle/>
                    <a:p>
                      <a:pPr algn="l"/>
                      <a:r>
                        <a:rPr sz="950" b="1" i="0">
                          <a:solidFill>
                            <a:srgbClr val="FFFFFF"/>
                          </a:solidFill>
                          <a:latin typeface="Arial"/>
                        </a:rPr>
                        <a:t>Constraint</a:t>
                      </a:r>
                    </a:p>
                  </a:txBody>
                  <a:tcPr marL="54864" marR="54864" marT="27432" marB="27432" anchor="ctr">
                    <a:solidFill>
                      <a:srgbClr val="1F497D"/>
                    </a:solidFill>
                  </a:tcPr>
                </a:tc>
                <a:tc>
                  <a:txBody>
                    <a:bodyPr wrap="square"/>
                    <a:lstStyle/>
                    <a:p>
                      <a:pPr algn="l"/>
                      <a:r>
                        <a:rPr sz="950" b="1" i="0">
                          <a:solidFill>
                            <a:srgbClr val="FFFFFF"/>
                          </a:solidFill>
                          <a:latin typeface="Arial"/>
                        </a:rPr>
                        <a:t>Earliest direct air</a:t>
                      </a:r>
                    </a:p>
                  </a:txBody>
                  <a:tcPr marL="54864" marR="54864" marT="27432" marB="27432" anchor="ctr">
                    <a:solidFill>
                      <a:srgbClr val="1F497D"/>
                    </a:solidFill>
                  </a:tcPr>
                </a:tc>
                <a:tc>
                  <a:txBody>
                    <a:bodyPr wrap="square"/>
                    <a:lstStyle/>
                    <a:p>
                      <a:pPr algn="l"/>
                      <a:r>
                        <a:rPr sz="950" b="1" i="0">
                          <a:solidFill>
                            <a:srgbClr val="FFFFFF"/>
                          </a:solidFill>
                          <a:latin typeface="Arial"/>
                        </a:rPr>
                        <a:t>Actions now</a:t>
                      </a:r>
                    </a:p>
                  </a:txBody>
                  <a:tcPr marL="54864" marR="54864" marT="27432" marB="27432" anchor="ctr">
                    <a:solidFill>
                      <a:srgbClr val="1F497D"/>
                    </a:solidFill>
                  </a:tcPr>
                </a:tc>
              </a:tr>
              <a:tr h="658368">
                <a:tc>
                  <a:txBody>
                    <a:bodyPr wrap="square"/>
                    <a:lstStyle/>
                    <a:p>
                      <a:pPr algn="l"/>
                      <a:r>
                        <a:rPr sz="950" b="1" i="0">
                          <a:solidFill>
                            <a:srgbClr val="1F497D"/>
                          </a:solidFill>
                          <a:latin typeface="Arial"/>
                        </a:rPr>
                        <a:t>India</a:t>
                      </a:r>
                    </a:p>
                  </a:txBody>
                  <a:tcPr marL="54864" marR="54864" marT="27432" marB="27432" anchor="ctr">
                    <a:solidFill>
                      <a:srgbClr val="FFFFFF"/>
                    </a:solidFill>
                  </a:tcPr>
                </a:tc>
                <a:tc>
                  <a:txBody>
                    <a:bodyPr wrap="square"/>
                    <a:lstStyle/>
                    <a:p>
                      <a:pPr algn="l"/>
                      <a:r>
                        <a:rPr sz="950" b="0" i="0">
                          <a:solidFill>
                            <a:srgbClr val="404040"/>
                          </a:solidFill>
                          <a:latin typeface="Arial"/>
                        </a:rPr>
                        <a:t>~71,000 journeys to and from Cape Town; &gt;=250,000 to SA (GDS estimates). Addis 41%, Dubai 40%, Doha 12%. Mumbai 35,630; Delhi 15,735</a:t>
                      </a:r>
                    </a:p>
                  </a:txBody>
                  <a:tcPr marL="54864" marR="54864" marT="27432" marB="27432" anchor="ctr">
                    <a:solidFill>
                      <a:srgbClr val="FFFFFF"/>
                    </a:solidFill>
                  </a:tcPr>
                </a:tc>
                <a:tc>
                  <a:txBody>
                    <a:bodyPr wrap="square"/>
                    <a:lstStyle/>
                    <a:p>
                      <a:pPr algn="l"/>
                      <a:r>
                        <a:rPr sz="950" b="0" i="0">
                          <a:solidFill>
                            <a:srgbClr val="404040"/>
                          </a:solidFill>
                          <a:latin typeface="Arial"/>
                        </a:rPr>
                        <a:t>No aircraft: Air India and IndiGo fleets committed elsewhere; Johannesburg likely first</a:t>
                      </a:r>
                    </a:p>
                  </a:txBody>
                  <a:tcPr marL="54864" marR="54864" marT="27432" marB="27432" anchor="ctr">
                    <a:solidFill>
                      <a:srgbClr val="FFFFFF"/>
                    </a:solidFill>
                  </a:tcPr>
                </a:tc>
                <a:tc>
                  <a:txBody>
                    <a:bodyPr wrap="square"/>
                    <a:lstStyle/>
                    <a:p>
                      <a:pPr algn="l"/>
                      <a:r>
                        <a:rPr sz="950" b="0" i="0">
                          <a:solidFill>
                            <a:srgbClr val="404040"/>
                          </a:solidFill>
                          <a:latin typeface="Arial"/>
                        </a:rPr>
                        <a:t>~2030 or later</a:t>
                      </a:r>
                    </a:p>
                  </a:txBody>
                  <a:tcPr marL="54864" marR="54864" marT="27432" marB="27432" anchor="ctr">
                    <a:solidFill>
                      <a:srgbClr val="FFFFFF"/>
                    </a:solidFill>
                  </a:tcPr>
                </a:tc>
                <a:tc>
                  <a:txBody>
                    <a:bodyPr wrap="square"/>
                    <a:lstStyle/>
                    <a:p>
                      <a:pPr algn="l"/>
                      <a:r>
                        <a:rPr sz="950" b="0" i="0">
                          <a:solidFill>
                            <a:srgbClr val="404040"/>
                          </a:solidFill>
                          <a:latin typeface="Arial"/>
                        </a:rPr>
                        <a:t>Co-market with Ethiopian and Emirates; build ties with Air India, IndiGo and Indian government</a:t>
                      </a:r>
                    </a:p>
                  </a:txBody>
                  <a:tcPr marL="54864" marR="54864" marT="27432" marB="27432" anchor="ctr">
                    <a:solidFill>
                      <a:srgbClr val="FFFFFF"/>
                    </a:solidFill>
                  </a:tcPr>
                </a:tc>
              </a:tr>
              <a:tr h="658368">
                <a:tc>
                  <a:txBody>
                    <a:bodyPr wrap="square"/>
                    <a:lstStyle/>
                    <a:p>
                      <a:pPr algn="l"/>
                      <a:r>
                        <a:rPr sz="950" b="1" i="0">
                          <a:solidFill>
                            <a:srgbClr val="1F497D"/>
                          </a:solidFill>
                          <a:latin typeface="Arial"/>
                        </a:rPr>
                        <a:t>China</a:t>
                      </a:r>
                    </a:p>
                  </a:txBody>
                  <a:tcPr marL="54864" marR="54864" marT="27432" marB="27432" anchor="ctr">
                    <a:solidFill>
                      <a:srgbClr val="F2F2F2"/>
                    </a:solidFill>
                  </a:tcPr>
                </a:tc>
                <a:tc>
                  <a:txBody>
                    <a:bodyPr wrap="square"/>
                    <a:lstStyle/>
                    <a:p>
                      <a:pPr algn="l"/>
                      <a:r>
                        <a:rPr sz="950" b="0" i="0">
                          <a:solidFill>
                            <a:srgbClr val="404040"/>
                          </a:solidFill>
                          <a:latin typeface="Arial"/>
                        </a:rPr>
                        <a:t>~29,600 journeys to and from Cape Town; 179,000 Johannesburg (direct service). Dubai 8,600; Addis 7,000. Shanghai 9,275; Beijing 7,700</a:t>
                      </a:r>
                    </a:p>
                  </a:txBody>
                  <a:tcPr marL="54864" marR="54864" marT="27432" marB="27432" anchor="ctr">
                    <a:solidFill>
                      <a:srgbClr val="F2F2F2"/>
                    </a:solidFill>
                  </a:tcPr>
                </a:tc>
                <a:tc>
                  <a:txBody>
                    <a:bodyPr wrap="square"/>
                    <a:lstStyle/>
                    <a:p>
                      <a:pPr algn="l"/>
                      <a:r>
                        <a:rPr sz="950" b="0" i="0">
                          <a:solidFill>
                            <a:srgbClr val="404040"/>
                          </a:solidFill>
                          <a:latin typeface="Arial"/>
                        </a:rPr>
                        <a:t>Government-to-government route allocation; 7,000+ nm; visa; Mandarin and payments readiness</a:t>
                      </a:r>
                    </a:p>
                  </a:txBody>
                  <a:tcPr marL="54864" marR="54864" marT="27432" marB="27432" anchor="ctr">
                    <a:solidFill>
                      <a:srgbClr val="F2F2F2"/>
                    </a:solidFill>
                  </a:tcPr>
                </a:tc>
                <a:tc>
                  <a:txBody>
                    <a:bodyPr wrap="square"/>
                    <a:lstStyle/>
                    <a:p>
                      <a:pPr algn="l"/>
                      <a:r>
                        <a:rPr sz="950" b="0" i="0">
                          <a:solidFill>
                            <a:srgbClr val="404040"/>
                          </a:solidFill>
                          <a:latin typeface="Arial"/>
                        </a:rPr>
                        <a:t>Long-term; Guangzhou (China Southern) closest</a:t>
                      </a:r>
                    </a:p>
                  </a:txBody>
                  <a:tcPr marL="54864" marR="54864" marT="27432" marB="27432" anchor="ctr">
                    <a:solidFill>
                      <a:srgbClr val="F2F2F2"/>
                    </a:solidFill>
                  </a:tcPr>
                </a:tc>
                <a:tc>
                  <a:txBody>
                    <a:bodyPr wrap="square"/>
                    <a:lstStyle/>
                    <a:p>
                      <a:pPr algn="l"/>
                      <a:r>
                        <a:rPr sz="950" b="0" i="0">
                          <a:solidFill>
                            <a:srgbClr val="404040"/>
                          </a:solidFill>
                          <a:latin typeface="Arial"/>
                        </a:rPr>
                        <a:t>Grow indirect volume via trade (Trip.com); prepare a route case</a:t>
                      </a:r>
                    </a:p>
                  </a:txBody>
                  <a:tcPr marL="54864" marR="54864" marT="27432" marB="27432" anchor="ctr">
                    <a:solidFill>
                      <a:srgbClr val="F2F2F2"/>
                    </a:solidFill>
                  </a:tcPr>
                </a:tc>
              </a:tr>
              <a:tr h="658368">
                <a:tc>
                  <a:txBody>
                    <a:bodyPr wrap="square"/>
                    <a:lstStyle/>
                    <a:p>
                      <a:pPr algn="l"/>
                      <a:r>
                        <a:rPr sz="950" b="1" i="0">
                          <a:solidFill>
                            <a:srgbClr val="1F497D"/>
                          </a:solidFill>
                          <a:latin typeface="Arial"/>
                        </a:rPr>
                        <a:t>Gulf / Saudi</a:t>
                      </a:r>
                    </a:p>
                  </a:txBody>
                  <a:tcPr marL="54864" marR="54864" marT="27432" marB="27432" anchor="ctr">
                    <a:solidFill>
                      <a:srgbClr val="FFFFFF"/>
                    </a:solidFill>
                  </a:tcPr>
                </a:tc>
                <a:tc>
                  <a:txBody>
                    <a:bodyPr wrap="square"/>
                    <a:lstStyle/>
                    <a:p>
                      <a:pPr algn="l"/>
                      <a:r>
                        <a:rPr sz="950" b="0" i="0">
                          <a:solidFill>
                            <a:srgbClr val="404040"/>
                          </a:solidFill>
                          <a:latin typeface="Arial"/>
                        </a:rPr>
                        <a:t>Middle East carries 23% of Cape Town seats (MIDAS chart); ~137,000 journeys SA-Saudi Arabia</a:t>
                      </a:r>
                    </a:p>
                  </a:txBody>
                  <a:tcPr marL="54864" marR="54864" marT="27432" marB="27432" anchor="ctr">
                    <a:solidFill>
                      <a:srgbClr val="FFFFFF"/>
                    </a:solidFill>
                  </a:tcPr>
                </a:tc>
                <a:tc>
                  <a:txBody>
                    <a:bodyPr wrap="square"/>
                    <a:lstStyle/>
                    <a:p>
                      <a:pPr algn="l"/>
                      <a:r>
                        <a:rPr sz="950" b="0" i="0">
                          <a:solidFill>
                            <a:srgbClr val="404040"/>
                          </a:solidFill>
                          <a:latin typeface="Arial"/>
                        </a:rPr>
                        <a:t>Visa speed; peak pricing; hubs disrupted by conflict in 2026</a:t>
                      </a:r>
                    </a:p>
                  </a:txBody>
                  <a:tcPr marL="54864" marR="54864" marT="27432" marB="27432" anchor="ctr">
                    <a:solidFill>
                      <a:srgbClr val="FFFFFF"/>
                    </a:solidFill>
                  </a:tcPr>
                </a:tc>
                <a:tc>
                  <a:txBody>
                    <a:bodyPr wrap="square"/>
                    <a:lstStyle/>
                    <a:p>
                      <a:pPr algn="l"/>
                      <a:r>
                        <a:rPr sz="950" b="0" i="0">
                          <a:solidFill>
                            <a:srgbClr val="404040"/>
                          </a:solidFill>
                          <a:latin typeface="Arial"/>
                        </a:rPr>
                        <a:t>In place; Riyadh Air emerging</a:t>
                      </a:r>
                    </a:p>
                  </a:txBody>
                  <a:tcPr marL="54864" marR="54864" marT="27432" marB="27432" anchor="ctr">
                    <a:solidFill>
                      <a:srgbClr val="FFFFFF"/>
                    </a:solidFill>
                  </a:tcPr>
                </a:tc>
                <a:tc>
                  <a:txBody>
                    <a:bodyPr wrap="square"/>
                    <a:lstStyle/>
                    <a:p>
                      <a:pPr algn="l"/>
                      <a:r>
                        <a:rPr sz="950" b="0" i="0">
                          <a:solidFill>
                            <a:srgbClr val="404040"/>
                          </a:solidFill>
                          <a:latin typeface="Arial"/>
                        </a:rPr>
                        <a:t>Engage Riyadh Air early; list on Almosafer and Wego</a:t>
                      </a:r>
                    </a:p>
                  </a:txBody>
                  <a:tcPr marL="54864" marR="54864" marT="27432" marB="27432" anchor="ctr">
                    <a:solidFill>
                      <a:srgbClr val="FFFFFF"/>
                    </a:solidFill>
                  </a:tcPr>
                </a:tc>
              </a:tr>
              <a:tr h="658368">
                <a:tc>
                  <a:txBody>
                    <a:bodyPr wrap="square"/>
                    <a:lstStyle/>
                    <a:p>
                      <a:pPr algn="l"/>
                      <a:r>
                        <a:rPr sz="950" b="1" i="0">
                          <a:solidFill>
                            <a:srgbClr val="1F497D"/>
                          </a:solidFill>
                          <a:latin typeface="Arial"/>
                        </a:rPr>
                        <a:t>Australia</a:t>
                      </a:r>
                    </a:p>
                  </a:txBody>
                  <a:tcPr marL="54864" marR="54864" marT="27432" marB="27432" anchor="ctr">
                    <a:solidFill>
                      <a:srgbClr val="F2F2F2"/>
                    </a:solidFill>
                  </a:tcPr>
                </a:tc>
                <a:tc>
                  <a:txBody>
                    <a:bodyPr wrap="square"/>
                    <a:lstStyle/>
                    <a:p>
                      <a:pPr algn="l"/>
                      <a:r>
                        <a:rPr sz="950" b="0" i="0">
                          <a:solidFill>
                            <a:srgbClr val="404040"/>
                          </a:solidFill>
                          <a:latin typeface="Arial"/>
                        </a:rPr>
                        <a:t>~61,000 journeys to and from Cape Town indirectly</a:t>
                      </a:r>
                    </a:p>
                  </a:txBody>
                  <a:tcPr marL="54864" marR="54864" marT="27432" marB="27432" anchor="ctr">
                    <a:solidFill>
                      <a:srgbClr val="F2F2F2"/>
                    </a:solidFill>
                  </a:tcPr>
                </a:tc>
                <a:tc>
                  <a:txBody>
                    <a:bodyPr wrap="square"/>
                    <a:lstStyle/>
                    <a:p>
                      <a:pPr algn="l"/>
                      <a:r>
                        <a:rPr sz="950" b="0" i="0">
                          <a:solidFill>
                            <a:srgbClr val="404040"/>
                          </a:solidFill>
                          <a:latin typeface="Arial"/>
                        </a:rPr>
                        <a:t>Qantas will build Johannesburg frequency first</a:t>
                      </a:r>
                    </a:p>
                  </a:txBody>
                  <a:tcPr marL="54864" marR="54864" marT="27432" marB="27432" anchor="ctr">
                    <a:solidFill>
                      <a:srgbClr val="F2F2F2"/>
                    </a:solidFill>
                  </a:tcPr>
                </a:tc>
                <a:tc>
                  <a:txBody>
                    <a:bodyPr wrap="square"/>
                    <a:lstStyle/>
                    <a:p>
                      <a:pPr algn="l"/>
                      <a:r>
                        <a:rPr sz="950" b="0" i="0">
                          <a:solidFill>
                            <a:srgbClr val="404040"/>
                          </a:solidFill>
                          <a:latin typeface="Arial"/>
                        </a:rPr>
                        <a:t>Not near term</a:t>
                      </a:r>
                    </a:p>
                  </a:txBody>
                  <a:tcPr marL="54864" marR="54864" marT="27432" marB="27432" anchor="ctr">
                    <a:solidFill>
                      <a:srgbClr val="F2F2F2"/>
                    </a:solidFill>
                  </a:tcPr>
                </a:tc>
                <a:tc>
                  <a:txBody>
                    <a:bodyPr wrap="square"/>
                    <a:lstStyle/>
                    <a:p>
                      <a:pPr algn="l"/>
                      <a:r>
                        <a:rPr sz="950" b="0" i="0">
                          <a:solidFill>
                            <a:srgbClr val="404040"/>
                          </a:solidFill>
                          <a:latin typeface="Arial"/>
                        </a:rPr>
                        <a:t>Target via Johannesburg and hub carriers</a:t>
                      </a:r>
                    </a:p>
                  </a:txBody>
                  <a:tcPr marL="54864" marR="54864" marT="27432" marB="27432" anchor="ctr">
                    <a:solidFill>
                      <a:srgbClr val="F2F2F2"/>
                    </a:solidFill>
                  </a:tcPr>
                </a:tc>
              </a:tr>
              <a:tr h="658368">
                <a:tc>
                  <a:txBody>
                    <a:bodyPr wrap="square"/>
                    <a:lstStyle/>
                    <a:p>
                      <a:pPr algn="l"/>
                      <a:r>
                        <a:rPr sz="950" b="1" i="0">
                          <a:solidFill>
                            <a:srgbClr val="1F497D"/>
                          </a:solidFill>
                          <a:latin typeface="Arial"/>
                        </a:rPr>
                        <a:t>Africa</a:t>
                      </a:r>
                    </a:p>
                  </a:txBody>
                  <a:tcPr marL="54864" marR="54864" marT="27432" marB="27432" anchor="ctr">
                    <a:solidFill>
                      <a:srgbClr val="FFFFFF"/>
                    </a:solidFill>
                  </a:tcPr>
                </a:tc>
                <a:tc>
                  <a:txBody>
                    <a:bodyPr wrap="square"/>
                    <a:lstStyle/>
                    <a:p>
                      <a:pPr algn="l"/>
                      <a:r>
                        <a:rPr sz="950" b="0" i="0">
                          <a:solidFill>
                            <a:srgbClr val="404040"/>
                          </a:solidFill>
                          <a:latin typeface="Arial"/>
                        </a:rPr>
                        <a:t>Regional routes run at 81-86% estimated load; Nigeria and Ghana spend R27,700-R31,000 per visitor</a:t>
                      </a:r>
                    </a:p>
                  </a:txBody>
                  <a:tcPr marL="54864" marR="54864" marT="27432" marB="27432" anchor="ctr">
                    <a:solidFill>
                      <a:srgbClr val="FFFFFF"/>
                    </a:solidFill>
                  </a:tcPr>
                </a:tc>
                <a:tc>
                  <a:txBody>
                    <a:bodyPr wrap="square"/>
                    <a:lstStyle/>
                    <a:p>
                      <a:pPr algn="l"/>
                      <a:r>
                        <a:rPr sz="950" b="0" i="0">
                          <a:solidFill>
                            <a:srgbClr val="404040"/>
                          </a:solidFill>
                          <a:latin typeface="Arial"/>
                        </a:rPr>
                        <a:t>Visas, fares, budget sensitivity</a:t>
                      </a:r>
                    </a:p>
                  </a:txBody>
                  <a:tcPr marL="54864" marR="54864" marT="27432" marB="27432" anchor="ctr">
                    <a:solidFill>
                      <a:srgbClr val="FFFFFF"/>
                    </a:solidFill>
                  </a:tcPr>
                </a:tc>
                <a:tc>
                  <a:txBody>
                    <a:bodyPr wrap="square"/>
                    <a:lstStyle/>
                    <a:p>
                      <a:pPr algn="l"/>
                      <a:r>
                        <a:rPr sz="950" b="0" i="0">
                          <a:solidFill>
                            <a:srgbClr val="404040"/>
                          </a:solidFill>
                          <a:latin typeface="Arial"/>
                        </a:rPr>
                        <a:t>Hub and regional carriers</a:t>
                      </a:r>
                    </a:p>
                  </a:txBody>
                  <a:tcPr marL="54864" marR="54864" marT="27432" marB="27432" anchor="ctr">
                    <a:solidFill>
                      <a:srgbClr val="FFFFFF"/>
                    </a:solidFill>
                  </a:tcPr>
                </a:tc>
                <a:tc>
                  <a:txBody>
                    <a:bodyPr wrap="square"/>
                    <a:lstStyle/>
                    <a:p>
                      <a:pPr algn="l"/>
                      <a:r>
                        <a:rPr sz="950" b="0" i="0">
                          <a:solidFill>
                            <a:srgbClr val="404040"/>
                          </a:solidFill>
                          <a:latin typeface="Arial"/>
                        </a:rPr>
                        <a:t>Add regional capacity; pair with visa relief</a:t>
                      </a:r>
                    </a:p>
                  </a:txBody>
                  <a:tcPr marL="54864" marR="54864" marT="27432" marB="27432" anchor="ctr">
                    <a:solidFill>
                      <a:srgbClr val="FFFFFF"/>
                    </a:solidFill>
                  </a:tcPr>
                </a:tc>
              </a:tr>
            </a:tbl>
          </a:graphicData>
        </a:graphic>
      </p:graphicFrame>
      <p:sp>
        <p:nvSpPr>
          <p:cNvPr id="9" name="Rectangle 8"/>
          <p:cNvSpPr/>
          <p:nvPr/>
        </p:nvSpPr>
        <p:spPr>
          <a:xfrm>
            <a:off x="384048" y="5468112"/>
            <a:ext cx="3703320" cy="749808"/>
          </a:xfrm>
          <a:prstGeom prst="rect">
            <a:avLst/>
          </a:prstGeom>
          <a:solidFill>
            <a:srgbClr val="DCEEF7"/>
          </a:solidFill>
          <a:ln>
            <a:noFill/>
          </a:ln>
        </p:spPr>
        <p:txBody>
          <a:bodyPr rtlCol="0" anchor="ctr"/>
          <a:lstStyle/>
          <a:p>
            <a:pPr algn="ctr"/>
          </a:p>
        </p:txBody>
      </p:sp>
      <p:sp>
        <p:nvSpPr>
          <p:cNvPr id="10" name="TextBox 9"/>
          <p:cNvSpPr txBox="1"/>
          <p:nvPr/>
        </p:nvSpPr>
        <p:spPr>
          <a:xfrm>
            <a:off x="493776" y="5541264"/>
            <a:ext cx="3483863" cy="374904"/>
          </a:xfrm>
          <a:prstGeom prst="rect">
            <a:avLst/>
          </a:prstGeom>
          <a:noFill/>
        </p:spPr>
        <p:txBody>
          <a:bodyPr wrap="square" anchor="b" lIns="36576" rIns="36576" tIns="21945" bIns="21945">
            <a:spAutoFit/>
          </a:bodyPr>
          <a:lstStyle/>
          <a:p>
            <a:pPr algn="l">
              <a:spcAft>
                <a:spcPts val="0"/>
              </a:spcAft>
            </a:pPr>
            <a:r>
              <a:rPr sz="1700" b="1" i="0">
                <a:solidFill>
                  <a:srgbClr val="1F497D"/>
                </a:solidFill>
                <a:latin typeface="Arial"/>
              </a:rPr>
              <a:t>440 of 13,887</a:t>
            </a:r>
          </a:p>
        </p:txBody>
      </p:sp>
      <p:sp>
        <p:nvSpPr>
          <p:cNvPr id="11" name="TextBox 10"/>
          <p:cNvSpPr txBox="1"/>
          <p:nvPr/>
        </p:nvSpPr>
        <p:spPr>
          <a:xfrm>
            <a:off x="493776" y="5880506"/>
            <a:ext cx="3483863" cy="322417"/>
          </a:xfrm>
          <a:prstGeom prst="rect">
            <a:avLst/>
          </a:prstGeom>
          <a:noFill/>
        </p:spPr>
        <p:txBody>
          <a:bodyPr wrap="square" anchor="t" lIns="36576" rIns="36576" tIns="21945" bIns="21945">
            <a:spAutoFit/>
          </a:bodyPr>
          <a:lstStyle/>
          <a:p>
            <a:pPr algn="l">
              <a:spcAft>
                <a:spcPts val="0"/>
              </a:spcAft>
            </a:pPr>
            <a:r>
              <a:rPr sz="900" b="0" i="0">
                <a:solidFill>
                  <a:srgbClr val="404040"/>
                </a:solidFill>
                <a:latin typeface="Arial"/>
              </a:rPr>
              <a:t>first-year eVisa applications approved</a:t>
            </a:r>
          </a:p>
        </p:txBody>
      </p:sp>
      <p:sp>
        <p:nvSpPr>
          <p:cNvPr id="12" name="Rectangle 11"/>
          <p:cNvSpPr/>
          <p:nvPr/>
        </p:nvSpPr>
        <p:spPr>
          <a:xfrm>
            <a:off x="4242816" y="5468112"/>
            <a:ext cx="3703320" cy="749808"/>
          </a:xfrm>
          <a:prstGeom prst="rect">
            <a:avLst/>
          </a:prstGeom>
          <a:solidFill>
            <a:srgbClr val="DCEEF7"/>
          </a:solidFill>
          <a:ln>
            <a:noFill/>
          </a:ln>
        </p:spPr>
        <p:txBody>
          <a:bodyPr rtlCol="0" anchor="ctr"/>
          <a:lstStyle/>
          <a:p>
            <a:pPr algn="ctr"/>
          </a:p>
        </p:txBody>
      </p:sp>
      <p:sp>
        <p:nvSpPr>
          <p:cNvPr id="13" name="TextBox 12"/>
          <p:cNvSpPr txBox="1"/>
          <p:nvPr/>
        </p:nvSpPr>
        <p:spPr>
          <a:xfrm>
            <a:off x="4352544" y="5541264"/>
            <a:ext cx="3483863" cy="374904"/>
          </a:xfrm>
          <a:prstGeom prst="rect">
            <a:avLst/>
          </a:prstGeom>
          <a:noFill/>
        </p:spPr>
        <p:txBody>
          <a:bodyPr wrap="square" anchor="b" lIns="36576" rIns="36576" tIns="21945" bIns="21945">
            <a:spAutoFit/>
          </a:bodyPr>
          <a:lstStyle/>
          <a:p>
            <a:pPr algn="l">
              <a:spcAft>
                <a:spcPts val="0"/>
              </a:spcAft>
            </a:pPr>
            <a:r>
              <a:rPr sz="1700" b="1" i="0">
                <a:solidFill>
                  <a:srgbClr val="1F497D"/>
                </a:solidFill>
                <a:latin typeface="Arial"/>
              </a:rPr>
              <a:t>+505,000</a:t>
            </a:r>
          </a:p>
        </p:txBody>
      </p:sp>
      <p:sp>
        <p:nvSpPr>
          <p:cNvPr id="14" name="TextBox 13"/>
          <p:cNvSpPr txBox="1"/>
          <p:nvPr/>
        </p:nvSpPr>
        <p:spPr>
          <a:xfrm>
            <a:off x="4352544" y="5880506"/>
            <a:ext cx="3483863" cy="322417"/>
          </a:xfrm>
          <a:prstGeom prst="rect">
            <a:avLst/>
          </a:prstGeom>
          <a:noFill/>
        </p:spPr>
        <p:txBody>
          <a:bodyPr wrap="square" anchor="t" lIns="36576" rIns="36576" tIns="21945" bIns="21945">
            <a:spAutoFit/>
          </a:bodyPr>
          <a:lstStyle/>
          <a:p>
            <a:pPr algn="l">
              <a:spcAft>
                <a:spcPts val="0"/>
              </a:spcAft>
            </a:pPr>
            <a:r>
              <a:rPr sz="900" b="0" i="0">
                <a:solidFill>
                  <a:srgbClr val="404040"/>
                </a:solidFill>
                <a:latin typeface="Arial"/>
              </a:rPr>
              <a:t>tourists to South Africa in 2030 from a visa exemption (BDO model, national)</a:t>
            </a:r>
          </a:p>
        </p:txBody>
      </p:sp>
      <p:sp>
        <p:nvSpPr>
          <p:cNvPr id="15" name="Rectangle 14"/>
          <p:cNvSpPr/>
          <p:nvPr/>
        </p:nvSpPr>
        <p:spPr>
          <a:xfrm>
            <a:off x="8101583" y="5468112"/>
            <a:ext cx="3703320" cy="749808"/>
          </a:xfrm>
          <a:prstGeom prst="rect">
            <a:avLst/>
          </a:prstGeom>
          <a:solidFill>
            <a:srgbClr val="DCEEF7"/>
          </a:solidFill>
          <a:ln>
            <a:noFill/>
          </a:ln>
        </p:spPr>
        <p:txBody>
          <a:bodyPr rtlCol="0" anchor="ctr"/>
          <a:lstStyle/>
          <a:p>
            <a:pPr algn="ctr"/>
          </a:p>
        </p:txBody>
      </p:sp>
      <p:sp>
        <p:nvSpPr>
          <p:cNvPr id="16" name="TextBox 15"/>
          <p:cNvSpPr txBox="1"/>
          <p:nvPr/>
        </p:nvSpPr>
        <p:spPr>
          <a:xfrm>
            <a:off x="8211311" y="5541264"/>
            <a:ext cx="3483863" cy="374904"/>
          </a:xfrm>
          <a:prstGeom prst="rect">
            <a:avLst/>
          </a:prstGeom>
          <a:noFill/>
        </p:spPr>
        <p:txBody>
          <a:bodyPr wrap="square" anchor="b" lIns="36576" rIns="36576" tIns="21945" bIns="21945">
            <a:spAutoFit/>
          </a:bodyPr>
          <a:lstStyle/>
          <a:p>
            <a:pPr algn="l">
              <a:spcAft>
                <a:spcPts val="0"/>
              </a:spcAft>
            </a:pPr>
            <a:r>
              <a:rPr sz="1700" b="1" i="0">
                <a:solidFill>
                  <a:srgbClr val="1F497D"/>
                </a:solidFill>
                <a:latin typeface="Arial"/>
              </a:rPr>
              <a:t>~30% lower</a:t>
            </a:r>
          </a:p>
        </p:txBody>
      </p:sp>
      <p:sp>
        <p:nvSpPr>
          <p:cNvPr id="17" name="TextBox 16"/>
          <p:cNvSpPr txBox="1"/>
          <p:nvPr/>
        </p:nvSpPr>
        <p:spPr>
          <a:xfrm>
            <a:off x="8211311" y="5880506"/>
            <a:ext cx="3483863" cy="322417"/>
          </a:xfrm>
          <a:prstGeom prst="rect">
            <a:avLst/>
          </a:prstGeom>
          <a:noFill/>
        </p:spPr>
        <p:txBody>
          <a:bodyPr wrap="square" anchor="t" lIns="36576" rIns="36576" tIns="21945" bIns="21945">
            <a:spAutoFit/>
          </a:bodyPr>
          <a:lstStyle/>
          <a:p>
            <a:pPr algn="l">
              <a:spcAft>
                <a:spcPts val="0"/>
              </a:spcAft>
            </a:pPr>
            <a:r>
              <a:rPr sz="900" b="0" i="0">
                <a:solidFill>
                  <a:srgbClr val="404040"/>
                </a:solidFill>
                <a:latin typeface="Arial"/>
              </a:rPr>
              <a:t>Chinese airline operating costs; routes rarely dropped once launched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Much of the province cannot be found or booked: conversion, not awareness, is the binding demand constraint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CONVERSION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pp31-34; Stakeholder Insights Report (Mar 2026) pp26, 42; SME &amp; Community Inclusion Plan (Sep 2026); Demand-Side Analysis (Jun 2026) pp43-55; Global Benchmarking Report (Mar 2026) (Singapore, NZ)</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3840480"/>
        </p:xfrm>
        <a:graphic>
          <a:graphicData uri="http://schemas.openxmlformats.org/drawingml/2006/table">
            <a:tbl>
              <a:tblPr firstRow="1" bandRow="0">
                <a:tableStyleId>{5C22544A-7EE6-4342-B048-85BDC9FD1C3A}</a:tableStyleId>
              </a:tblPr>
              <a:tblGrid>
                <a:gridCol w="5120640"/>
                <a:gridCol w="4288536"/>
                <a:gridCol w="2011680"/>
              </a:tblGrid>
              <a:tr h="548640">
                <a:tc>
                  <a:txBody>
                    <a:bodyPr wrap="square"/>
                    <a:lstStyle/>
                    <a:p>
                      <a:pPr algn="l"/>
                      <a:r>
                        <a:rPr sz="1000" b="1" i="0">
                          <a:solidFill>
                            <a:srgbClr val="FFFFFF"/>
                          </a:solidFill>
                          <a:latin typeface="Arial"/>
                        </a:rPr>
                        <a:t>What the evidence shows</a:t>
                      </a:r>
                    </a:p>
                  </a:txBody>
                  <a:tcPr marL="54864" marR="54864" marT="27432" marB="27432" anchor="ctr">
                    <a:solidFill>
                      <a:srgbClr val="1F497D"/>
                    </a:solidFill>
                  </a:tcPr>
                </a:tc>
                <a:tc>
                  <a:txBody>
                    <a:bodyPr wrap="square"/>
                    <a:lstStyle/>
                    <a:p>
                      <a:pPr algn="l"/>
                      <a:r>
                        <a:rPr sz="1000" b="1" i="0">
                          <a:solidFill>
                            <a:srgbClr val="FFFFFF"/>
                          </a:solidFill>
                          <a:latin typeface="Arial"/>
                        </a:rPr>
                        <a:t>What it means we should do</a:t>
                      </a:r>
                    </a:p>
                  </a:txBody>
                  <a:tcPr marL="54864" marR="54864" marT="27432" marB="27432" anchor="ctr">
                    <a:solidFill>
                      <a:srgbClr val="1F497D"/>
                    </a:solidFill>
                  </a:tcPr>
                </a:tc>
                <a:tc>
                  <a:txBody>
                    <a:bodyPr wrap="square"/>
                    <a:lstStyle/>
                    <a:p>
                      <a:pPr algn="l"/>
                      <a:r>
                        <a:rPr sz="1000" b="1" i="0">
                          <a:solidFill>
                            <a:srgbClr val="FFFFFF"/>
                          </a:solidFill>
                          <a:latin typeface="Arial"/>
                        </a:rPr>
                        <a:t>Source</a:t>
                      </a:r>
                    </a:p>
                  </a:txBody>
                  <a:tcPr marL="54864" marR="54864" marT="27432" marB="27432" anchor="ctr">
                    <a:solidFill>
                      <a:srgbClr val="1F497D"/>
                    </a:solidFill>
                  </a:tcPr>
                </a:tc>
              </a:tr>
              <a:tr h="548640">
                <a:tc>
                  <a:txBody>
                    <a:bodyPr wrap="square"/>
                    <a:lstStyle/>
                    <a:p>
                      <a:pPr algn="l"/>
                      <a:r>
                        <a:rPr sz="1000" b="0" i="0">
                          <a:solidFill>
                            <a:srgbClr val="404040"/>
                          </a:solidFill>
                          <a:latin typeface="Arial"/>
                        </a:rPr>
                        <a:t>Most rural properties have no OTA presence and are invisible to the market.</a:t>
                      </a:r>
                    </a:p>
                  </a:txBody>
                  <a:tcPr marL="54864" marR="54864" marT="27432" marB="27432" anchor="ctr">
                    <a:solidFill>
                      <a:srgbClr val="FFFFFF"/>
                    </a:solidFill>
                  </a:tcPr>
                </a:tc>
                <a:tc>
                  <a:txBody>
                    <a:bodyPr wrap="square"/>
                    <a:lstStyle/>
                    <a:p>
                      <a:pPr algn="l"/>
                      <a:r>
                        <a:rPr sz="1000" b="1" i="0">
                          <a:solidFill>
                            <a:srgbClr val="1F497D"/>
                          </a:solidFill>
                          <a:latin typeface="Arial"/>
                        </a:rPr>
                        <a:t>Province-wide listing drive on OTAs and native platforms</a:t>
                      </a:r>
                    </a:p>
                  </a:txBody>
                  <a:tcPr marL="54864" marR="54864" marT="27432" marB="27432" anchor="ctr">
                    <a:solidFill>
                      <a:srgbClr val="FFFFFF"/>
                    </a:solidFill>
                  </a:tcPr>
                </a:tc>
                <a:tc>
                  <a:txBody>
                    <a:bodyPr wrap="square"/>
                    <a:lstStyle/>
                    <a:p>
                      <a:pPr algn="l"/>
                      <a:r>
                        <a:rPr sz="850" b="0" i="0">
                          <a:solidFill>
                            <a:srgbClr val="7F7F7F"/>
                          </a:solidFill>
                          <a:latin typeface="Arial"/>
                        </a:rPr>
                        <a:t>Infrastructure p33</a:t>
                      </a:r>
                    </a:p>
                  </a:txBody>
                  <a:tcPr marL="54864" marR="54864" marT="27432" marB="27432" anchor="ctr">
                    <a:solidFill>
                      <a:srgbClr val="FFFFFF"/>
                    </a:solidFill>
                  </a:tcPr>
                </a:tc>
              </a:tr>
              <a:tr h="548640">
                <a:tc>
                  <a:txBody>
                    <a:bodyPr wrap="square"/>
                    <a:lstStyle/>
                    <a:p>
                      <a:pPr algn="l"/>
                      <a:r>
                        <a:rPr sz="1000" b="0" i="0">
                          <a:solidFill>
                            <a:srgbClr val="404040"/>
                          </a:solidFill>
                          <a:latin typeface="Arial"/>
                        </a:rPr>
                        <a:t>Overberg and West Coast marine and wildflower assets have no guided tours, interpretation or bookable product.</a:t>
                      </a:r>
                    </a:p>
                  </a:txBody>
                  <a:tcPr marL="54864" marR="54864" marT="27432" marB="27432" anchor="ctr">
                    <a:solidFill>
                      <a:srgbClr val="F2F2F2"/>
                    </a:solidFill>
                  </a:tcPr>
                </a:tc>
                <a:tc>
                  <a:txBody>
                    <a:bodyPr wrap="square"/>
                    <a:lstStyle/>
                    <a:p>
                      <a:pPr algn="l"/>
                      <a:r>
                        <a:rPr sz="1000" b="1" i="0">
                          <a:solidFill>
                            <a:srgbClr val="1F497D"/>
                          </a:solidFill>
                          <a:latin typeface="Arial"/>
                        </a:rPr>
                        <a:t>Package and list what already exists before building</a:t>
                      </a:r>
                    </a:p>
                  </a:txBody>
                  <a:tcPr marL="54864" marR="54864" marT="27432" marB="27432" anchor="ctr">
                    <a:solidFill>
                      <a:srgbClr val="F2F2F2"/>
                    </a:solidFill>
                  </a:tcPr>
                </a:tc>
                <a:tc>
                  <a:txBody>
                    <a:bodyPr wrap="square"/>
                    <a:lstStyle/>
                    <a:p>
                      <a:pPr algn="l"/>
                      <a:r>
                        <a:rPr sz="850" b="0" i="0">
                          <a:solidFill>
                            <a:srgbClr val="7F7F7F"/>
                          </a:solidFill>
                          <a:latin typeface="Arial"/>
                        </a:rPr>
                        <a:t>Infrastructure p31</a:t>
                      </a:r>
                    </a:p>
                  </a:txBody>
                  <a:tcPr marL="54864" marR="54864" marT="27432" marB="27432" anchor="ctr">
                    <a:solidFill>
                      <a:srgbClr val="F2F2F2"/>
                    </a:solidFill>
                  </a:tcPr>
                </a:tc>
              </a:tr>
              <a:tr h="548640">
                <a:tc>
                  <a:txBody>
                    <a:bodyPr wrap="square"/>
                    <a:lstStyle/>
                    <a:p>
                      <a:pPr algn="l"/>
                      <a:r>
                        <a:rPr sz="1000" b="0" i="0">
                          <a:solidFill>
                            <a:srgbClr val="404040"/>
                          </a:solidFill>
                          <a:latin typeface="Arial"/>
                        </a:rPr>
                        <a:t>About 70% of CapeNature reservations come via the call centre.</a:t>
                      </a:r>
                    </a:p>
                  </a:txBody>
                  <a:tcPr marL="54864" marR="54864" marT="27432" marB="27432" anchor="ctr">
                    <a:solidFill>
                      <a:srgbClr val="FFFFFF"/>
                    </a:solidFill>
                  </a:tcPr>
                </a:tc>
                <a:tc>
                  <a:txBody>
                    <a:bodyPr wrap="square"/>
                    <a:lstStyle/>
                    <a:p>
                      <a:pPr algn="l"/>
                      <a:r>
                        <a:rPr sz="1000" b="1" i="0">
                          <a:solidFill>
                            <a:srgbClr val="1F497D"/>
                          </a:solidFill>
                          <a:latin typeface="Arial"/>
                        </a:rPr>
                        <a:t>Fix online booking for complex nature product</a:t>
                      </a:r>
                    </a:p>
                  </a:txBody>
                  <a:tcPr marL="54864" marR="54864" marT="27432" marB="27432" anchor="ctr">
                    <a:solidFill>
                      <a:srgbClr val="FFFFFF"/>
                    </a:solidFill>
                  </a:tcPr>
                </a:tc>
                <a:tc>
                  <a:txBody>
                    <a:bodyPr wrap="square"/>
                    <a:lstStyle/>
                    <a:p>
                      <a:pPr algn="l"/>
                      <a:r>
                        <a:rPr sz="850" b="0" i="0">
                          <a:solidFill>
                            <a:srgbClr val="7F7F7F"/>
                          </a:solidFill>
                          <a:latin typeface="Arial"/>
                        </a:rPr>
                        <a:t>Stakeholders p42</a:t>
                      </a:r>
                    </a:p>
                  </a:txBody>
                  <a:tcPr marL="54864" marR="54864" marT="27432" marB="27432" anchor="ctr">
                    <a:solidFill>
                      <a:srgbClr val="FFFFFF"/>
                    </a:solidFill>
                  </a:tcPr>
                </a:tc>
              </a:tr>
              <a:tr h="548640">
                <a:tc>
                  <a:txBody>
                    <a:bodyPr wrap="square"/>
                    <a:lstStyle/>
                    <a:p>
                      <a:pPr algn="l"/>
                      <a:r>
                        <a:rPr sz="1000" b="0" i="0">
                          <a:solidFill>
                            <a:srgbClr val="404040"/>
                          </a:solidFill>
                          <a:latin typeface="Arial"/>
                        </a:rPr>
                        <a:t>Visitors do not understand how close the Overberg is to Cape Town; offers are not packaged before flights are booked.</a:t>
                      </a:r>
                    </a:p>
                  </a:txBody>
                  <a:tcPr marL="54864" marR="54864" marT="27432" marB="27432" anchor="ctr">
                    <a:solidFill>
                      <a:srgbClr val="F2F2F2"/>
                    </a:solidFill>
                  </a:tcPr>
                </a:tc>
                <a:tc>
                  <a:txBody>
                    <a:bodyPr wrap="square"/>
                    <a:lstStyle/>
                    <a:p>
                      <a:pPr algn="l"/>
                      <a:r>
                        <a:rPr sz="1000" b="1" i="0">
                          <a:solidFill>
                            <a:srgbClr val="1F497D"/>
                          </a:solidFill>
                          <a:latin typeface="Arial"/>
                        </a:rPr>
                        <a:t>Sell regions as add-on journeys at the point of flight booking</a:t>
                      </a:r>
                    </a:p>
                  </a:txBody>
                  <a:tcPr marL="54864" marR="54864" marT="27432" marB="27432" anchor="ctr">
                    <a:solidFill>
                      <a:srgbClr val="F2F2F2"/>
                    </a:solidFill>
                  </a:tcPr>
                </a:tc>
                <a:tc>
                  <a:txBody>
                    <a:bodyPr wrap="square"/>
                    <a:lstStyle/>
                    <a:p>
                      <a:pPr algn="l"/>
                      <a:r>
                        <a:rPr sz="850" b="0" i="0">
                          <a:solidFill>
                            <a:srgbClr val="7F7F7F"/>
                          </a:solidFill>
                          <a:latin typeface="Arial"/>
                        </a:rPr>
                        <a:t>Stakeholders p26</a:t>
                      </a:r>
                    </a:p>
                  </a:txBody>
                  <a:tcPr marL="54864" marR="54864" marT="27432" marB="27432" anchor="ctr">
                    <a:solidFill>
                      <a:srgbClr val="F2F2F2"/>
                    </a:solidFill>
                  </a:tcPr>
                </a:tc>
              </a:tr>
              <a:tr h="548640">
                <a:tc>
                  <a:txBody>
                    <a:bodyPr wrap="square"/>
                    <a:lstStyle/>
                    <a:p>
                      <a:pPr algn="l"/>
                      <a:r>
                        <a:rPr sz="1000" b="0" i="0">
                          <a:solidFill>
                            <a:srgbClr val="404040"/>
                          </a:solidFill>
                          <a:latin typeface="Arial"/>
                        </a:rPr>
                        <a:t>Discovery and booking in China, India and the Gulf run on Douyin, Trip.com, MakeMyTrip and Almosafer.</a:t>
                      </a:r>
                    </a:p>
                  </a:txBody>
                  <a:tcPr marL="54864" marR="54864" marT="27432" marB="27432" anchor="ctr">
                    <a:solidFill>
                      <a:srgbClr val="FFFFFF"/>
                    </a:solidFill>
                  </a:tcPr>
                </a:tc>
                <a:tc>
                  <a:txBody>
                    <a:bodyPr wrap="square"/>
                    <a:lstStyle/>
                    <a:p>
                      <a:pPr algn="l"/>
                      <a:r>
                        <a:rPr sz="1000" b="1" i="0">
                          <a:solidFill>
                            <a:srgbClr val="1F497D"/>
                          </a:solidFill>
                          <a:latin typeface="Arial"/>
                        </a:rPr>
                        <a:t>Activate on native platforms with trade partners</a:t>
                      </a:r>
                    </a:p>
                  </a:txBody>
                  <a:tcPr marL="54864" marR="54864" marT="27432" marB="27432" anchor="ctr">
                    <a:solidFill>
                      <a:srgbClr val="FFFFFF"/>
                    </a:solidFill>
                  </a:tcPr>
                </a:tc>
                <a:tc>
                  <a:txBody>
                    <a:bodyPr wrap="square"/>
                    <a:lstStyle/>
                    <a:p>
                      <a:pPr algn="l"/>
                      <a:r>
                        <a:rPr sz="850" b="0" i="0">
                          <a:solidFill>
                            <a:srgbClr val="7F7F7F"/>
                          </a:solidFill>
                          <a:latin typeface="Arial"/>
                        </a:rPr>
                        <a:t>Demand-Side pp45-50</a:t>
                      </a:r>
                    </a:p>
                  </a:txBody>
                  <a:tcPr marL="54864" marR="54864" marT="27432" marB="27432" anchor="ctr">
                    <a:solidFill>
                      <a:srgbClr val="FFFFFF"/>
                    </a:solidFill>
                  </a:tcPr>
                </a:tc>
              </a:tr>
              <a:tr h="548640">
                <a:tc>
                  <a:txBody>
                    <a:bodyPr wrap="square"/>
                    <a:lstStyle/>
                    <a:p>
                      <a:pPr algn="l"/>
                      <a:r>
                        <a:rPr sz="1000" b="0" i="0">
                          <a:solidFill>
                            <a:srgbClr val="404040"/>
                          </a:solidFill>
                          <a:latin typeface="Arial"/>
                        </a:rPr>
                        <a:t>Singapore built OTA partnerships (Agoda, Klook, Trip.com) into its stopover system; NZ tied campaigns to routes.</a:t>
                      </a:r>
                    </a:p>
                  </a:txBody>
                  <a:tcPr marL="54864" marR="54864" marT="27432" marB="27432" anchor="ctr">
                    <a:solidFill>
                      <a:srgbClr val="F2F2F2"/>
                    </a:solidFill>
                  </a:tcPr>
                </a:tc>
                <a:tc>
                  <a:txBody>
                    <a:bodyPr wrap="square"/>
                    <a:lstStyle/>
                    <a:p>
                      <a:pPr algn="l"/>
                      <a:r>
                        <a:rPr sz="1000" b="1" i="0">
                          <a:solidFill>
                            <a:srgbClr val="1F497D"/>
                          </a:solidFill>
                          <a:latin typeface="Arial"/>
                        </a:rPr>
                        <a:t>Make every campaign accountable for bookings</a:t>
                      </a:r>
                    </a:p>
                  </a:txBody>
                  <a:tcPr marL="54864" marR="54864" marT="27432" marB="27432" anchor="ctr">
                    <a:solidFill>
                      <a:srgbClr val="F2F2F2"/>
                    </a:solidFill>
                  </a:tcPr>
                </a:tc>
                <a:tc>
                  <a:txBody>
                    <a:bodyPr wrap="square"/>
                    <a:lstStyle/>
                    <a:p>
                      <a:pPr algn="l"/>
                      <a:r>
                        <a:rPr sz="850" b="0" i="0">
                          <a:solidFill>
                            <a:srgbClr val="7F7F7F"/>
                          </a:solidFill>
                          <a:latin typeface="Arial"/>
                        </a:rPr>
                        <a:t>Benchmark</a:t>
                      </a:r>
                    </a:p>
                  </a:txBody>
                  <a:tcPr marL="54864" marR="54864" marT="27432" marB="27432" anchor="ctr">
                    <a:solidFill>
                      <a:srgbClr val="F2F2F2"/>
                    </a:solidFill>
                  </a:tcPr>
                </a:tc>
              </a:tr>
            </a:tbl>
          </a:graphicData>
        </a:graphic>
      </p:graphicFrame>
      <p:sp>
        <p:nvSpPr>
          <p:cNvPr id="9" name="Rectangle 8"/>
          <p:cNvSpPr/>
          <p:nvPr/>
        </p:nvSpPr>
        <p:spPr>
          <a:xfrm>
            <a:off x="384048" y="5349240"/>
            <a:ext cx="11420856" cy="457200"/>
          </a:xfrm>
          <a:prstGeom prst="rect">
            <a:avLst/>
          </a:prstGeom>
          <a:solidFill>
            <a:srgbClr val="1F497D"/>
          </a:solidFill>
          <a:ln>
            <a:noFill/>
          </a:ln>
        </p:spPr>
        <p:txBody>
          <a:bodyPr rtlCol="0" anchor="ctr"/>
          <a:lstStyle/>
          <a:p>
            <a:pPr algn="ctr"/>
          </a:p>
        </p:txBody>
      </p:sp>
      <p:sp>
        <p:nvSpPr>
          <p:cNvPr id="10" name="TextBox 9"/>
          <p:cNvSpPr txBox="1"/>
          <p:nvPr/>
        </p:nvSpPr>
        <p:spPr>
          <a:xfrm>
            <a:off x="548640" y="534924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If it cannot be booked, it cannot grow: bookability is the lowest-capital lever in the tree.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Demand levers hold; segment and brand claims still rest on thin evidence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RESHAPE DEMAND | VERDICT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Demand-Side Analysis (Jun 2026); Infrastructure Report (Jun 2026); Stakeholder Insights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097280"/>
            <a:ext cx="11420856" cy="274320"/>
          </a:xfrm>
          <a:prstGeom prst="rect">
            <a:avLst/>
          </a:prstGeom>
          <a:solidFill>
            <a:srgbClr val="1F497D"/>
          </a:solidFill>
          <a:ln>
            <a:noFill/>
          </a:ln>
        </p:spPr>
        <p:txBody>
          <a:bodyPr rtlCol="0" anchor="ctr"/>
          <a:lstStyle/>
          <a:p>
            <a:pPr algn="ctr"/>
          </a:p>
        </p:txBody>
      </p:sp>
      <p:sp>
        <p:nvSpPr>
          <p:cNvPr id="9" name="TextBox 8"/>
          <p:cNvSpPr txBox="1"/>
          <p:nvPr/>
        </p:nvSpPr>
        <p:spPr>
          <a:xfrm>
            <a:off x="420623" y="1097280"/>
            <a:ext cx="245973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Focus area (v4 tree)</a:t>
            </a:r>
          </a:p>
        </p:txBody>
      </p:sp>
      <p:sp>
        <p:nvSpPr>
          <p:cNvPr id="10" name="TextBox 9"/>
          <p:cNvSpPr txBox="1"/>
          <p:nvPr/>
        </p:nvSpPr>
        <p:spPr>
          <a:xfrm>
            <a:off x="2935224" y="1097280"/>
            <a:ext cx="7223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Team marker</a:t>
            </a:r>
          </a:p>
        </p:txBody>
      </p:sp>
      <p:sp>
        <p:nvSpPr>
          <p:cNvPr id="11" name="TextBox 10"/>
          <p:cNvSpPr txBox="1"/>
          <p:nvPr/>
        </p:nvSpPr>
        <p:spPr>
          <a:xfrm>
            <a:off x="3712463" y="1097280"/>
            <a:ext cx="124358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Our verdict</a:t>
            </a:r>
          </a:p>
        </p:txBody>
      </p:sp>
      <p:sp>
        <p:nvSpPr>
          <p:cNvPr id="12" name="TextBox 11"/>
          <p:cNvSpPr txBox="1"/>
          <p:nvPr/>
        </p:nvSpPr>
        <p:spPr>
          <a:xfrm>
            <a:off x="5010912" y="1097280"/>
            <a:ext cx="69494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Evidence</a:t>
            </a:r>
          </a:p>
        </p:txBody>
      </p:sp>
      <p:sp>
        <p:nvSpPr>
          <p:cNvPr id="13" name="TextBox 12"/>
          <p:cNvSpPr txBox="1"/>
          <p:nvPr/>
        </p:nvSpPr>
        <p:spPr>
          <a:xfrm>
            <a:off x="5760720" y="1097280"/>
            <a:ext cx="319125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What the evidence shows</a:t>
            </a:r>
          </a:p>
        </p:txBody>
      </p:sp>
      <p:sp>
        <p:nvSpPr>
          <p:cNvPr id="14" name="TextBox 13"/>
          <p:cNvSpPr txBox="1"/>
          <p:nvPr/>
        </p:nvSpPr>
        <p:spPr>
          <a:xfrm>
            <a:off x="9006839" y="1097280"/>
            <a:ext cx="27797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So what</a:t>
            </a:r>
          </a:p>
        </p:txBody>
      </p:sp>
      <p:sp>
        <p:nvSpPr>
          <p:cNvPr id="15" name="TextBox 14"/>
          <p:cNvSpPr txBox="1"/>
          <p:nvPr/>
        </p:nvSpPr>
        <p:spPr>
          <a:xfrm>
            <a:off x="384048" y="1408176"/>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TRAVELLER, BRAND AND PROPOSITION</a:t>
            </a:r>
          </a:p>
        </p:txBody>
      </p:sp>
      <p:sp>
        <p:nvSpPr>
          <p:cNvPr id="16" name="TextBox 15"/>
          <p:cNvSpPr txBox="1"/>
          <p:nvPr/>
        </p:nvSpPr>
        <p:spPr>
          <a:xfrm>
            <a:off x="402336" y="1636776"/>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1a  </a:t>
            </a:r>
            <a:r>
              <a:rPr sz="1000" b="1" i="0">
                <a:solidFill>
                  <a:srgbClr val="1F497D"/>
                </a:solidFill>
                <a:latin typeface="Arial"/>
              </a:rPr>
              <a:t>Target the four priority high-value traveller segments</a:t>
            </a:r>
          </a:p>
        </p:txBody>
      </p:sp>
      <p:sp>
        <p:nvSpPr>
          <p:cNvPr id="17" name="Oval 16"/>
          <p:cNvSpPr/>
          <p:nvPr/>
        </p:nvSpPr>
        <p:spPr>
          <a:xfrm>
            <a:off x="2944368" y="1892808"/>
            <a:ext cx="91440" cy="91440"/>
          </a:xfrm>
          <a:prstGeom prst="ellipse">
            <a:avLst/>
          </a:prstGeom>
          <a:solidFill>
            <a:srgbClr val="E97132"/>
          </a:solidFill>
          <a:ln>
            <a:noFill/>
          </a:ln>
        </p:spPr>
        <p:txBody>
          <a:bodyPr rtlCol="0" anchor="ctr"/>
          <a:lstStyle/>
          <a:p>
            <a:pPr algn="ctr"/>
          </a:p>
        </p:txBody>
      </p:sp>
      <p:sp>
        <p:nvSpPr>
          <p:cNvPr id="18" name="TextBox 17"/>
          <p:cNvSpPr txBox="1"/>
          <p:nvPr/>
        </p:nvSpPr>
        <p:spPr>
          <a:xfrm>
            <a:off x="3063240" y="1636776"/>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19" name="Rounded Rectangle 18"/>
          <p:cNvSpPr/>
          <p:nvPr/>
        </p:nvSpPr>
        <p:spPr>
          <a:xfrm>
            <a:off x="3703320" y="1819656"/>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20" name="Oval 19"/>
          <p:cNvSpPr/>
          <p:nvPr/>
        </p:nvSpPr>
        <p:spPr>
          <a:xfrm>
            <a:off x="5047488" y="1888236"/>
            <a:ext cx="100584" cy="100584"/>
          </a:xfrm>
          <a:prstGeom prst="ellipse">
            <a:avLst/>
          </a:prstGeom>
          <a:solidFill>
            <a:srgbClr val="1F497D"/>
          </a:solidFill>
          <a:ln w="9525">
            <a:solidFill>
              <a:srgbClr val="1F497D"/>
            </a:solidFill>
          </a:ln>
        </p:spPr>
        <p:txBody>
          <a:bodyPr rtlCol="0" anchor="ctr"/>
          <a:lstStyle/>
          <a:p>
            <a:pPr algn="ctr"/>
          </a:p>
        </p:txBody>
      </p:sp>
      <p:sp>
        <p:nvSpPr>
          <p:cNvPr id="21" name="Oval 20"/>
          <p:cNvSpPr/>
          <p:nvPr/>
        </p:nvSpPr>
        <p:spPr>
          <a:xfrm>
            <a:off x="5184648" y="1888236"/>
            <a:ext cx="100584" cy="100584"/>
          </a:xfrm>
          <a:prstGeom prst="ellipse">
            <a:avLst/>
          </a:prstGeom>
          <a:solidFill>
            <a:srgbClr val="FFFFFF"/>
          </a:solidFill>
          <a:ln w="9525">
            <a:solidFill>
              <a:srgbClr val="1F497D"/>
            </a:solidFill>
          </a:ln>
        </p:spPr>
        <p:txBody>
          <a:bodyPr rtlCol="0" anchor="ctr"/>
          <a:lstStyle/>
          <a:p>
            <a:pPr algn="ctr"/>
          </a:p>
        </p:txBody>
      </p:sp>
      <p:sp>
        <p:nvSpPr>
          <p:cNvPr id="22" name="Oval 21"/>
          <p:cNvSpPr/>
          <p:nvPr/>
        </p:nvSpPr>
        <p:spPr>
          <a:xfrm>
            <a:off x="5321807" y="1888236"/>
            <a:ext cx="100584" cy="100584"/>
          </a:xfrm>
          <a:prstGeom prst="ellipse">
            <a:avLst/>
          </a:prstGeom>
          <a:solidFill>
            <a:srgbClr val="FFFFFF"/>
          </a:solidFill>
          <a:ln w="9525">
            <a:solidFill>
              <a:srgbClr val="1F497D"/>
            </a:solidFill>
          </a:ln>
        </p:spPr>
        <p:txBody>
          <a:bodyPr rtlCol="0" anchor="ctr"/>
          <a:lstStyle/>
          <a:p>
            <a:pPr algn="ctr"/>
          </a:p>
        </p:txBody>
      </p:sp>
      <p:sp>
        <p:nvSpPr>
          <p:cNvPr id="23" name="TextBox 22"/>
          <p:cNvSpPr txBox="1"/>
          <p:nvPr/>
        </p:nvSpPr>
        <p:spPr>
          <a:xfrm>
            <a:off x="5724144" y="1636776"/>
            <a:ext cx="3172968" cy="603504"/>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Four Skift segments are defined qualitatively; no sizing or market mapping has been delivered.</a:t>
            </a:r>
          </a:p>
        </p:txBody>
      </p:sp>
      <p:sp>
        <p:nvSpPr>
          <p:cNvPr id="24" name="TextBox 23"/>
          <p:cNvSpPr txBox="1"/>
          <p:nvPr/>
        </p:nvSpPr>
        <p:spPr>
          <a:xfrm>
            <a:off x="8970263" y="1636776"/>
            <a:ext cx="2798064" cy="603504"/>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Size the segments and tie them to markets before they anchor recommendations.</a:t>
            </a:r>
          </a:p>
        </p:txBody>
      </p:sp>
      <p:cxnSp>
        <p:nvCxnSpPr>
          <p:cNvPr id="25" name="Connector 24"/>
          <p:cNvCxnSpPr/>
          <p:nvPr/>
        </p:nvCxnSpPr>
        <p:spPr>
          <a:xfrm>
            <a:off x="384048" y="2240280"/>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2336" y="2240280"/>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1b  </a:t>
            </a:r>
            <a:r>
              <a:rPr sz="1000" b="1" i="0">
                <a:solidFill>
                  <a:srgbClr val="1F497D"/>
                </a:solidFill>
                <a:latin typeface="Arial"/>
              </a:rPr>
              <a:t>Extend Cape Town's brand equity to the province</a:t>
            </a:r>
          </a:p>
        </p:txBody>
      </p:sp>
      <p:sp>
        <p:nvSpPr>
          <p:cNvPr id="27" name="Oval 26"/>
          <p:cNvSpPr/>
          <p:nvPr/>
        </p:nvSpPr>
        <p:spPr>
          <a:xfrm>
            <a:off x="2944368" y="2496312"/>
            <a:ext cx="91440" cy="91440"/>
          </a:xfrm>
          <a:prstGeom prst="ellipse">
            <a:avLst/>
          </a:prstGeom>
          <a:solidFill>
            <a:srgbClr val="196B24"/>
          </a:solidFill>
          <a:ln>
            <a:noFill/>
          </a:ln>
        </p:spPr>
        <p:txBody>
          <a:bodyPr rtlCol="0" anchor="ctr"/>
          <a:lstStyle/>
          <a:p>
            <a:pPr algn="ctr"/>
          </a:p>
        </p:txBody>
      </p:sp>
      <p:sp>
        <p:nvSpPr>
          <p:cNvPr id="28" name="TextBox 27"/>
          <p:cNvSpPr txBox="1"/>
          <p:nvPr/>
        </p:nvSpPr>
        <p:spPr>
          <a:xfrm>
            <a:off x="3063240" y="2240280"/>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New</a:t>
            </a:r>
          </a:p>
        </p:txBody>
      </p:sp>
      <p:sp>
        <p:nvSpPr>
          <p:cNvPr id="29" name="Rounded Rectangle 28"/>
          <p:cNvSpPr/>
          <p:nvPr/>
        </p:nvSpPr>
        <p:spPr>
          <a:xfrm>
            <a:off x="3703320" y="2423160"/>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30" name="Oval 29"/>
          <p:cNvSpPr/>
          <p:nvPr/>
        </p:nvSpPr>
        <p:spPr>
          <a:xfrm>
            <a:off x="5047488" y="2491740"/>
            <a:ext cx="100584" cy="100584"/>
          </a:xfrm>
          <a:prstGeom prst="ellipse">
            <a:avLst/>
          </a:prstGeom>
          <a:solidFill>
            <a:srgbClr val="1F497D"/>
          </a:solidFill>
          <a:ln w="9525">
            <a:solidFill>
              <a:srgbClr val="1F497D"/>
            </a:solidFill>
          </a:ln>
        </p:spPr>
        <p:txBody>
          <a:bodyPr rtlCol="0" anchor="ctr"/>
          <a:lstStyle/>
          <a:p>
            <a:pPr algn="ctr"/>
          </a:p>
        </p:txBody>
      </p:sp>
      <p:sp>
        <p:nvSpPr>
          <p:cNvPr id="31" name="Oval 30"/>
          <p:cNvSpPr/>
          <p:nvPr/>
        </p:nvSpPr>
        <p:spPr>
          <a:xfrm>
            <a:off x="5184648" y="2491740"/>
            <a:ext cx="100584" cy="100584"/>
          </a:xfrm>
          <a:prstGeom prst="ellipse">
            <a:avLst/>
          </a:prstGeom>
          <a:solidFill>
            <a:srgbClr val="FFFFFF"/>
          </a:solidFill>
          <a:ln w="9525">
            <a:solidFill>
              <a:srgbClr val="1F497D"/>
            </a:solidFill>
          </a:ln>
        </p:spPr>
        <p:txBody>
          <a:bodyPr rtlCol="0" anchor="ctr"/>
          <a:lstStyle/>
          <a:p>
            <a:pPr algn="ctr"/>
          </a:p>
        </p:txBody>
      </p:sp>
      <p:sp>
        <p:nvSpPr>
          <p:cNvPr id="32" name="Oval 31"/>
          <p:cNvSpPr/>
          <p:nvPr/>
        </p:nvSpPr>
        <p:spPr>
          <a:xfrm>
            <a:off x="5321807" y="2491740"/>
            <a:ext cx="100584" cy="100584"/>
          </a:xfrm>
          <a:prstGeom prst="ellipse">
            <a:avLst/>
          </a:prstGeom>
          <a:solidFill>
            <a:srgbClr val="FFFFFF"/>
          </a:solidFill>
          <a:ln w="9525">
            <a:solidFill>
              <a:srgbClr val="1F497D"/>
            </a:solidFill>
          </a:ln>
        </p:spPr>
        <p:txBody>
          <a:bodyPr rtlCol="0" anchor="ctr"/>
          <a:lstStyle/>
          <a:p>
            <a:pPr algn="ctr"/>
          </a:p>
        </p:txBody>
      </p:sp>
      <p:sp>
        <p:nvSpPr>
          <p:cNvPr id="33" name="TextBox 32"/>
          <p:cNvSpPr txBox="1"/>
          <p:nvPr/>
        </p:nvSpPr>
        <p:spPr>
          <a:xfrm>
            <a:off x="5724144" y="2240280"/>
            <a:ext cx="3172968" cy="603504"/>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Rural assets are unknown and unbookable; no brand health or campaign data exists.</a:t>
            </a:r>
          </a:p>
        </p:txBody>
      </p:sp>
      <p:sp>
        <p:nvSpPr>
          <p:cNvPr id="34" name="TextBox 33"/>
          <p:cNvSpPr txBox="1"/>
          <p:nvPr/>
        </p:nvSpPr>
        <p:spPr>
          <a:xfrm>
            <a:off x="8970263" y="2240280"/>
            <a:ext cx="2798064" cy="603504"/>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Test the brand architecture; package regions as journeys first.</a:t>
            </a:r>
          </a:p>
        </p:txBody>
      </p:sp>
      <p:cxnSp>
        <p:nvCxnSpPr>
          <p:cNvPr id="35" name="Connector 34"/>
          <p:cNvCxnSpPr/>
          <p:nvPr/>
        </p:nvCxnSpPr>
        <p:spPr>
          <a:xfrm>
            <a:off x="384048" y="284378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02336" y="2843784"/>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1c  </a:t>
            </a:r>
            <a:r>
              <a:rPr sz="1000" b="1" i="0">
                <a:solidFill>
                  <a:srgbClr val="1F497D"/>
                </a:solidFill>
                <a:latin typeface="Arial"/>
              </a:rPr>
              <a:t>Flatten seasonality with MICE and regional spread</a:t>
            </a:r>
          </a:p>
        </p:txBody>
      </p:sp>
      <p:sp>
        <p:nvSpPr>
          <p:cNvPr id="37" name="Oval 36"/>
          <p:cNvSpPr/>
          <p:nvPr/>
        </p:nvSpPr>
        <p:spPr>
          <a:xfrm>
            <a:off x="2944368" y="3099816"/>
            <a:ext cx="91440" cy="91440"/>
          </a:xfrm>
          <a:prstGeom prst="ellipse">
            <a:avLst/>
          </a:prstGeom>
          <a:solidFill>
            <a:srgbClr val="E97132"/>
          </a:solidFill>
          <a:ln>
            <a:noFill/>
          </a:ln>
        </p:spPr>
        <p:txBody>
          <a:bodyPr rtlCol="0" anchor="ctr"/>
          <a:lstStyle/>
          <a:p>
            <a:pPr algn="ctr"/>
          </a:p>
        </p:txBody>
      </p:sp>
      <p:sp>
        <p:nvSpPr>
          <p:cNvPr id="38" name="TextBox 37"/>
          <p:cNvSpPr txBox="1"/>
          <p:nvPr/>
        </p:nvSpPr>
        <p:spPr>
          <a:xfrm>
            <a:off x="3063240" y="2843784"/>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39" name="Rounded Rectangle 38"/>
          <p:cNvSpPr/>
          <p:nvPr/>
        </p:nvSpPr>
        <p:spPr>
          <a:xfrm>
            <a:off x="3703320" y="302666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40" name="Oval 39"/>
          <p:cNvSpPr/>
          <p:nvPr/>
        </p:nvSpPr>
        <p:spPr>
          <a:xfrm>
            <a:off x="5047488" y="3095244"/>
            <a:ext cx="100584" cy="100584"/>
          </a:xfrm>
          <a:prstGeom prst="ellipse">
            <a:avLst/>
          </a:prstGeom>
          <a:solidFill>
            <a:srgbClr val="1F497D"/>
          </a:solidFill>
          <a:ln w="9525">
            <a:solidFill>
              <a:srgbClr val="1F497D"/>
            </a:solidFill>
          </a:ln>
        </p:spPr>
        <p:txBody>
          <a:bodyPr rtlCol="0" anchor="ctr"/>
          <a:lstStyle/>
          <a:p>
            <a:pPr algn="ctr"/>
          </a:p>
        </p:txBody>
      </p:sp>
      <p:sp>
        <p:nvSpPr>
          <p:cNvPr id="41" name="Oval 40"/>
          <p:cNvSpPr/>
          <p:nvPr/>
        </p:nvSpPr>
        <p:spPr>
          <a:xfrm>
            <a:off x="5184648" y="3095244"/>
            <a:ext cx="100584" cy="100584"/>
          </a:xfrm>
          <a:prstGeom prst="ellipse">
            <a:avLst/>
          </a:prstGeom>
          <a:solidFill>
            <a:srgbClr val="1F497D"/>
          </a:solidFill>
          <a:ln w="9525">
            <a:solidFill>
              <a:srgbClr val="1F497D"/>
            </a:solidFill>
          </a:ln>
        </p:spPr>
        <p:txBody>
          <a:bodyPr rtlCol="0" anchor="ctr"/>
          <a:lstStyle/>
          <a:p>
            <a:pPr algn="ctr"/>
          </a:p>
        </p:txBody>
      </p:sp>
      <p:sp>
        <p:nvSpPr>
          <p:cNvPr id="42" name="Oval 41"/>
          <p:cNvSpPr/>
          <p:nvPr/>
        </p:nvSpPr>
        <p:spPr>
          <a:xfrm>
            <a:off x="5321807" y="3095244"/>
            <a:ext cx="100584" cy="100584"/>
          </a:xfrm>
          <a:prstGeom prst="ellipse">
            <a:avLst/>
          </a:prstGeom>
          <a:solidFill>
            <a:srgbClr val="1F497D"/>
          </a:solidFill>
          <a:ln w="9525">
            <a:solidFill>
              <a:srgbClr val="1F497D"/>
            </a:solidFill>
          </a:ln>
        </p:spPr>
        <p:txBody>
          <a:bodyPr rtlCol="0" anchor="ctr"/>
          <a:lstStyle/>
          <a:p>
            <a:pPr algn="ctr"/>
          </a:p>
        </p:txBody>
      </p:sp>
      <p:sp>
        <p:nvSpPr>
          <p:cNvPr id="43" name="TextBox 42"/>
          <p:cNvSpPr txBox="1"/>
          <p:nvPr/>
        </p:nvSpPr>
        <p:spPr>
          <a:xfrm>
            <a:off x="5724144" y="2843784"/>
            <a:ext cx="3172968" cy="603504"/>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Airlines cut international seats to 6.4% of the year in June against 10.8% in December; ICCA meetings peak Sep-Nov.</a:t>
            </a:r>
          </a:p>
        </p:txBody>
      </p:sp>
      <p:sp>
        <p:nvSpPr>
          <p:cNvPr id="44" name="TextBox 43"/>
          <p:cNvSpPr txBox="1"/>
          <p:nvPr/>
        </p:nvSpPr>
        <p:spPr>
          <a:xfrm>
            <a:off x="8970263" y="2843784"/>
            <a:ext cx="2798064" cy="603504"/>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Create green-season demand through events and MICE to hold seats and fill idle venues.</a:t>
            </a:r>
          </a:p>
        </p:txBody>
      </p:sp>
      <p:cxnSp>
        <p:nvCxnSpPr>
          <p:cNvPr id="45" name="Connector 44"/>
          <p:cNvCxnSpPr/>
          <p:nvPr/>
        </p:nvCxnSpPr>
        <p:spPr>
          <a:xfrm>
            <a:off x="384048" y="3447288"/>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02336" y="3447288"/>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1d  </a:t>
            </a:r>
            <a:r>
              <a:rPr sz="1000" b="1" i="0">
                <a:solidFill>
                  <a:srgbClr val="1F497D"/>
                </a:solidFill>
                <a:latin typeface="Arial"/>
              </a:rPr>
              <a:t>Embed the destination in market-native booking platforms</a:t>
            </a:r>
          </a:p>
        </p:txBody>
      </p:sp>
      <p:sp>
        <p:nvSpPr>
          <p:cNvPr id="47" name="Oval 46"/>
          <p:cNvSpPr/>
          <p:nvPr/>
        </p:nvSpPr>
        <p:spPr>
          <a:xfrm>
            <a:off x="2944368" y="3703320"/>
            <a:ext cx="91440" cy="91440"/>
          </a:xfrm>
          <a:prstGeom prst="ellipse">
            <a:avLst/>
          </a:prstGeom>
          <a:solidFill>
            <a:srgbClr val="E97132"/>
          </a:solidFill>
          <a:ln>
            <a:noFill/>
          </a:ln>
        </p:spPr>
        <p:txBody>
          <a:bodyPr rtlCol="0" anchor="ctr"/>
          <a:lstStyle/>
          <a:p>
            <a:pPr algn="ctr"/>
          </a:p>
        </p:txBody>
      </p:sp>
      <p:sp>
        <p:nvSpPr>
          <p:cNvPr id="48" name="TextBox 47"/>
          <p:cNvSpPr txBox="1"/>
          <p:nvPr/>
        </p:nvSpPr>
        <p:spPr>
          <a:xfrm>
            <a:off x="3063240" y="3447288"/>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49" name="Rounded Rectangle 48"/>
          <p:cNvSpPr/>
          <p:nvPr/>
        </p:nvSpPr>
        <p:spPr>
          <a:xfrm>
            <a:off x="3703320" y="3630168"/>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50" name="Oval 49"/>
          <p:cNvSpPr/>
          <p:nvPr/>
        </p:nvSpPr>
        <p:spPr>
          <a:xfrm>
            <a:off x="5047488" y="3698748"/>
            <a:ext cx="100584" cy="100584"/>
          </a:xfrm>
          <a:prstGeom prst="ellipse">
            <a:avLst/>
          </a:prstGeom>
          <a:solidFill>
            <a:srgbClr val="1F497D"/>
          </a:solidFill>
          <a:ln w="9525">
            <a:solidFill>
              <a:srgbClr val="1F497D"/>
            </a:solidFill>
          </a:ln>
        </p:spPr>
        <p:txBody>
          <a:bodyPr rtlCol="0" anchor="ctr"/>
          <a:lstStyle/>
          <a:p>
            <a:pPr algn="ctr"/>
          </a:p>
        </p:txBody>
      </p:sp>
      <p:sp>
        <p:nvSpPr>
          <p:cNvPr id="51" name="Oval 50"/>
          <p:cNvSpPr/>
          <p:nvPr/>
        </p:nvSpPr>
        <p:spPr>
          <a:xfrm>
            <a:off x="5184648" y="3698748"/>
            <a:ext cx="100584" cy="100584"/>
          </a:xfrm>
          <a:prstGeom prst="ellipse">
            <a:avLst/>
          </a:prstGeom>
          <a:solidFill>
            <a:srgbClr val="1F497D"/>
          </a:solidFill>
          <a:ln w="9525">
            <a:solidFill>
              <a:srgbClr val="1F497D"/>
            </a:solidFill>
          </a:ln>
        </p:spPr>
        <p:txBody>
          <a:bodyPr rtlCol="0" anchor="ctr"/>
          <a:lstStyle/>
          <a:p>
            <a:pPr algn="ctr"/>
          </a:p>
        </p:txBody>
      </p:sp>
      <p:sp>
        <p:nvSpPr>
          <p:cNvPr id="52" name="Oval 51"/>
          <p:cNvSpPr/>
          <p:nvPr/>
        </p:nvSpPr>
        <p:spPr>
          <a:xfrm>
            <a:off x="5321807" y="3698748"/>
            <a:ext cx="100584" cy="100584"/>
          </a:xfrm>
          <a:prstGeom prst="ellipse">
            <a:avLst/>
          </a:prstGeom>
          <a:solidFill>
            <a:srgbClr val="1F497D"/>
          </a:solidFill>
          <a:ln w="9525">
            <a:solidFill>
              <a:srgbClr val="1F497D"/>
            </a:solidFill>
          </a:ln>
        </p:spPr>
        <p:txBody>
          <a:bodyPr rtlCol="0" anchor="ctr"/>
          <a:lstStyle/>
          <a:p>
            <a:pPr algn="ctr"/>
          </a:p>
        </p:txBody>
      </p:sp>
      <p:sp>
        <p:nvSpPr>
          <p:cNvPr id="53" name="TextBox 52"/>
          <p:cNvSpPr txBox="1"/>
          <p:nvPr/>
        </p:nvSpPr>
        <p:spPr>
          <a:xfrm>
            <a:off x="5724144" y="3447288"/>
            <a:ext cx="3172968" cy="603504"/>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Most rural properties have no OTA presence; 70% of CapeNature bookings come by phone.</a:t>
            </a:r>
          </a:p>
        </p:txBody>
      </p:sp>
      <p:sp>
        <p:nvSpPr>
          <p:cNvPr id="54" name="TextBox 53"/>
          <p:cNvSpPr txBox="1"/>
          <p:nvPr/>
        </p:nvSpPr>
        <p:spPr>
          <a:xfrm>
            <a:off x="8970263" y="3447288"/>
            <a:ext cx="2798064" cy="603504"/>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Make product bookable where each market books.</a:t>
            </a:r>
          </a:p>
        </p:txBody>
      </p:sp>
      <p:cxnSp>
        <p:nvCxnSpPr>
          <p:cNvPr id="55" name="Connector 54"/>
          <p:cNvCxnSpPr/>
          <p:nvPr/>
        </p:nvCxnSpPr>
        <p:spPr>
          <a:xfrm>
            <a:off x="384048" y="405079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84048" y="4050792"/>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SOURCE MARKET GROWTH AND DIVERSIFICATION</a:t>
            </a:r>
          </a:p>
        </p:txBody>
      </p:sp>
      <p:sp>
        <p:nvSpPr>
          <p:cNvPr id="57" name="TextBox 56"/>
          <p:cNvSpPr txBox="1"/>
          <p:nvPr/>
        </p:nvSpPr>
        <p:spPr>
          <a:xfrm>
            <a:off x="402336" y="4279392"/>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1e  </a:t>
            </a:r>
            <a:r>
              <a:rPr sz="1000" b="1" i="0">
                <a:solidFill>
                  <a:srgbClr val="1F497D"/>
                </a:solidFill>
                <a:latin typeface="Arial"/>
              </a:rPr>
              <a:t>Grow priority markets (India, China, Gulf, ASEAN)</a:t>
            </a:r>
          </a:p>
        </p:txBody>
      </p:sp>
      <p:sp>
        <p:nvSpPr>
          <p:cNvPr id="58" name="Oval 57"/>
          <p:cNvSpPr/>
          <p:nvPr/>
        </p:nvSpPr>
        <p:spPr>
          <a:xfrm>
            <a:off x="2944368" y="4535424"/>
            <a:ext cx="91440" cy="91440"/>
          </a:xfrm>
          <a:prstGeom prst="ellipse">
            <a:avLst/>
          </a:prstGeom>
          <a:solidFill>
            <a:srgbClr val="E97132"/>
          </a:solidFill>
          <a:ln>
            <a:noFill/>
          </a:ln>
        </p:spPr>
        <p:txBody>
          <a:bodyPr rtlCol="0" anchor="ctr"/>
          <a:lstStyle/>
          <a:p>
            <a:pPr algn="ctr"/>
          </a:p>
        </p:txBody>
      </p:sp>
      <p:sp>
        <p:nvSpPr>
          <p:cNvPr id="59" name="TextBox 58"/>
          <p:cNvSpPr txBox="1"/>
          <p:nvPr/>
        </p:nvSpPr>
        <p:spPr>
          <a:xfrm>
            <a:off x="3063240" y="4279392"/>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60" name="Rounded Rectangle 59"/>
          <p:cNvSpPr/>
          <p:nvPr/>
        </p:nvSpPr>
        <p:spPr>
          <a:xfrm>
            <a:off x="3703320" y="4462272"/>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61" name="Oval 60"/>
          <p:cNvSpPr/>
          <p:nvPr/>
        </p:nvSpPr>
        <p:spPr>
          <a:xfrm>
            <a:off x="5047488" y="4530852"/>
            <a:ext cx="100584" cy="100584"/>
          </a:xfrm>
          <a:prstGeom prst="ellipse">
            <a:avLst/>
          </a:prstGeom>
          <a:solidFill>
            <a:srgbClr val="1F497D"/>
          </a:solidFill>
          <a:ln w="9525">
            <a:solidFill>
              <a:srgbClr val="1F497D"/>
            </a:solidFill>
          </a:ln>
        </p:spPr>
        <p:txBody>
          <a:bodyPr rtlCol="0" anchor="ctr"/>
          <a:lstStyle/>
          <a:p>
            <a:pPr algn="ctr"/>
          </a:p>
        </p:txBody>
      </p:sp>
      <p:sp>
        <p:nvSpPr>
          <p:cNvPr id="62" name="Oval 61"/>
          <p:cNvSpPr/>
          <p:nvPr/>
        </p:nvSpPr>
        <p:spPr>
          <a:xfrm>
            <a:off x="5184648" y="4530852"/>
            <a:ext cx="100584" cy="100584"/>
          </a:xfrm>
          <a:prstGeom prst="ellipse">
            <a:avLst/>
          </a:prstGeom>
          <a:solidFill>
            <a:srgbClr val="1F497D"/>
          </a:solidFill>
          <a:ln w="9525">
            <a:solidFill>
              <a:srgbClr val="1F497D"/>
            </a:solidFill>
          </a:ln>
        </p:spPr>
        <p:txBody>
          <a:bodyPr rtlCol="0" anchor="ctr"/>
          <a:lstStyle/>
          <a:p>
            <a:pPr algn="ctr"/>
          </a:p>
        </p:txBody>
      </p:sp>
      <p:sp>
        <p:nvSpPr>
          <p:cNvPr id="63" name="Oval 62"/>
          <p:cNvSpPr/>
          <p:nvPr/>
        </p:nvSpPr>
        <p:spPr>
          <a:xfrm>
            <a:off x="5321807" y="4530852"/>
            <a:ext cx="100584" cy="100584"/>
          </a:xfrm>
          <a:prstGeom prst="ellipse">
            <a:avLst/>
          </a:prstGeom>
          <a:solidFill>
            <a:srgbClr val="1F497D"/>
          </a:solidFill>
          <a:ln w="9525">
            <a:solidFill>
              <a:srgbClr val="1F497D"/>
            </a:solidFill>
          </a:ln>
        </p:spPr>
        <p:txBody>
          <a:bodyPr rtlCol="0" anchor="ctr"/>
          <a:lstStyle/>
          <a:p>
            <a:pPr algn="ctr"/>
          </a:p>
        </p:txBody>
      </p:sp>
      <p:sp>
        <p:nvSpPr>
          <p:cNvPr id="64" name="TextBox 63"/>
          <p:cNvSpPr txBox="1"/>
          <p:nvPr/>
        </p:nvSpPr>
        <p:spPr>
          <a:xfrm>
            <a:off x="5724144" y="4279392"/>
            <a:ext cx="3172968" cy="603504"/>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An estimated 71,000 India and 30,000 China passenger journeys route to and from Cape Town via hubs (GDS, 2025); no direct route before ~2030.</a:t>
            </a:r>
          </a:p>
        </p:txBody>
      </p:sp>
      <p:sp>
        <p:nvSpPr>
          <p:cNvPr id="65" name="TextBox 64"/>
          <p:cNvSpPr txBox="1"/>
          <p:nvPr/>
        </p:nvSpPr>
        <p:spPr>
          <a:xfrm>
            <a:off x="8970263" y="4279392"/>
            <a:ext cx="2798064" cy="603504"/>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Convert indirect demand via hub carriers now; build route cases for later.</a:t>
            </a:r>
          </a:p>
        </p:txBody>
      </p:sp>
      <p:cxnSp>
        <p:nvCxnSpPr>
          <p:cNvPr id="66" name="Connector 65"/>
          <p:cNvCxnSpPr/>
          <p:nvPr/>
        </p:nvCxnSpPr>
        <p:spPr>
          <a:xfrm>
            <a:off x="384048" y="488289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02336" y="4882896"/>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1f  </a:t>
            </a:r>
            <a:r>
              <a:rPr sz="1000" b="1" i="0">
                <a:solidFill>
                  <a:srgbClr val="1F497D"/>
                </a:solidFill>
                <a:latin typeface="Arial"/>
              </a:rPr>
              <a:t>Increase yield in mature markets (UK, Europe, N. America)</a:t>
            </a:r>
          </a:p>
        </p:txBody>
      </p:sp>
      <p:sp>
        <p:nvSpPr>
          <p:cNvPr id="68" name="Oval 67"/>
          <p:cNvSpPr/>
          <p:nvPr/>
        </p:nvSpPr>
        <p:spPr>
          <a:xfrm>
            <a:off x="2944368" y="5138928"/>
            <a:ext cx="91440" cy="91440"/>
          </a:xfrm>
          <a:prstGeom prst="ellipse">
            <a:avLst/>
          </a:prstGeom>
          <a:solidFill>
            <a:srgbClr val="156082"/>
          </a:solidFill>
          <a:ln>
            <a:noFill/>
          </a:ln>
        </p:spPr>
        <p:txBody>
          <a:bodyPr rtlCol="0" anchor="ctr"/>
          <a:lstStyle/>
          <a:p>
            <a:pPr algn="ctr"/>
          </a:p>
        </p:txBody>
      </p:sp>
      <p:sp>
        <p:nvSpPr>
          <p:cNvPr id="69" name="TextBox 68"/>
          <p:cNvSpPr txBox="1"/>
          <p:nvPr/>
        </p:nvSpPr>
        <p:spPr>
          <a:xfrm>
            <a:off x="3063240" y="4882896"/>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70" name="Rounded Rectangle 69"/>
          <p:cNvSpPr/>
          <p:nvPr/>
        </p:nvSpPr>
        <p:spPr>
          <a:xfrm>
            <a:off x="3703320" y="5065776"/>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71" name="Oval 70"/>
          <p:cNvSpPr/>
          <p:nvPr/>
        </p:nvSpPr>
        <p:spPr>
          <a:xfrm>
            <a:off x="5047488" y="5134356"/>
            <a:ext cx="100584" cy="100584"/>
          </a:xfrm>
          <a:prstGeom prst="ellipse">
            <a:avLst/>
          </a:prstGeom>
          <a:solidFill>
            <a:srgbClr val="1F497D"/>
          </a:solidFill>
          <a:ln w="9525">
            <a:solidFill>
              <a:srgbClr val="1F497D"/>
            </a:solidFill>
          </a:ln>
        </p:spPr>
        <p:txBody>
          <a:bodyPr rtlCol="0" anchor="ctr"/>
          <a:lstStyle/>
          <a:p>
            <a:pPr algn="ctr"/>
          </a:p>
        </p:txBody>
      </p:sp>
      <p:sp>
        <p:nvSpPr>
          <p:cNvPr id="72" name="Oval 71"/>
          <p:cNvSpPr/>
          <p:nvPr/>
        </p:nvSpPr>
        <p:spPr>
          <a:xfrm>
            <a:off x="5184648" y="5134356"/>
            <a:ext cx="100584" cy="100584"/>
          </a:xfrm>
          <a:prstGeom prst="ellipse">
            <a:avLst/>
          </a:prstGeom>
          <a:solidFill>
            <a:srgbClr val="1F497D"/>
          </a:solidFill>
          <a:ln w="9525">
            <a:solidFill>
              <a:srgbClr val="1F497D"/>
            </a:solidFill>
          </a:ln>
        </p:spPr>
        <p:txBody>
          <a:bodyPr rtlCol="0" anchor="ctr"/>
          <a:lstStyle/>
          <a:p>
            <a:pPr algn="ctr"/>
          </a:p>
        </p:txBody>
      </p:sp>
      <p:sp>
        <p:nvSpPr>
          <p:cNvPr id="73" name="Oval 72"/>
          <p:cNvSpPr/>
          <p:nvPr/>
        </p:nvSpPr>
        <p:spPr>
          <a:xfrm>
            <a:off x="5321807" y="5134356"/>
            <a:ext cx="100584" cy="100584"/>
          </a:xfrm>
          <a:prstGeom prst="ellipse">
            <a:avLst/>
          </a:prstGeom>
          <a:solidFill>
            <a:srgbClr val="1F497D"/>
          </a:solidFill>
          <a:ln w="9525">
            <a:solidFill>
              <a:srgbClr val="1F497D"/>
            </a:solidFill>
          </a:ln>
        </p:spPr>
        <p:txBody>
          <a:bodyPr rtlCol="0" anchor="ctr"/>
          <a:lstStyle/>
          <a:p>
            <a:pPr algn="ctr"/>
          </a:p>
        </p:txBody>
      </p:sp>
      <p:sp>
        <p:nvSpPr>
          <p:cNvPr id="74" name="TextBox 73"/>
          <p:cNvSpPr txBox="1"/>
          <p:nvPr/>
        </p:nvSpPr>
        <p:spPr>
          <a:xfrm>
            <a:off x="5724144" y="4882896"/>
            <a:ext cx="3172968" cy="603504"/>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Newark, Atlanta, Heathrow and Frankfurt run at 83-89% estimated load; German seats are up 51% on 2019.</a:t>
            </a:r>
          </a:p>
        </p:txBody>
      </p:sp>
      <p:sp>
        <p:nvSpPr>
          <p:cNvPr id="75" name="TextBox 74"/>
          <p:cNvSpPr txBox="1"/>
          <p:nvPr/>
        </p:nvSpPr>
        <p:spPr>
          <a:xfrm>
            <a:off x="8970263" y="4882896"/>
            <a:ext cx="2798064" cy="603504"/>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Take frequency and upgauge cases to airlines on full routes; sell longer, higher-value trips.</a:t>
            </a:r>
          </a:p>
        </p:txBody>
      </p:sp>
      <p:cxnSp>
        <p:nvCxnSpPr>
          <p:cNvPr id="76" name="Connector 75"/>
          <p:cNvCxnSpPr/>
          <p:nvPr/>
        </p:nvCxnSpPr>
        <p:spPr>
          <a:xfrm>
            <a:off x="384048" y="5486400"/>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02336" y="5486400"/>
            <a:ext cx="2459736" cy="603504"/>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1g  </a:t>
            </a:r>
            <a:r>
              <a:rPr sz="1000" b="1" i="0">
                <a:solidFill>
                  <a:srgbClr val="1F497D"/>
                </a:solidFill>
                <a:latin typeface="Arial"/>
              </a:rPr>
              <a:t>Grow regional top-up and counter-seasonal demand (Africa)</a:t>
            </a:r>
          </a:p>
        </p:txBody>
      </p:sp>
      <p:sp>
        <p:nvSpPr>
          <p:cNvPr id="78" name="Oval 77"/>
          <p:cNvSpPr/>
          <p:nvPr/>
        </p:nvSpPr>
        <p:spPr>
          <a:xfrm>
            <a:off x="2944368" y="5742432"/>
            <a:ext cx="91440" cy="91440"/>
          </a:xfrm>
          <a:prstGeom prst="ellipse">
            <a:avLst/>
          </a:prstGeom>
          <a:solidFill>
            <a:srgbClr val="E97132"/>
          </a:solidFill>
          <a:ln>
            <a:noFill/>
          </a:ln>
        </p:spPr>
        <p:txBody>
          <a:bodyPr rtlCol="0" anchor="ctr"/>
          <a:lstStyle/>
          <a:p>
            <a:pPr algn="ctr"/>
          </a:p>
        </p:txBody>
      </p:sp>
      <p:sp>
        <p:nvSpPr>
          <p:cNvPr id="79" name="TextBox 78"/>
          <p:cNvSpPr txBox="1"/>
          <p:nvPr/>
        </p:nvSpPr>
        <p:spPr>
          <a:xfrm>
            <a:off x="3063240" y="5486400"/>
            <a:ext cx="594359" cy="603504"/>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80" name="Rounded Rectangle 79"/>
          <p:cNvSpPr/>
          <p:nvPr/>
        </p:nvSpPr>
        <p:spPr>
          <a:xfrm>
            <a:off x="3703320" y="5669280"/>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81" name="Oval 80"/>
          <p:cNvSpPr/>
          <p:nvPr/>
        </p:nvSpPr>
        <p:spPr>
          <a:xfrm>
            <a:off x="5047488" y="5737860"/>
            <a:ext cx="100584" cy="100584"/>
          </a:xfrm>
          <a:prstGeom prst="ellipse">
            <a:avLst/>
          </a:prstGeom>
          <a:solidFill>
            <a:srgbClr val="1F497D"/>
          </a:solidFill>
          <a:ln w="9525">
            <a:solidFill>
              <a:srgbClr val="1F497D"/>
            </a:solidFill>
          </a:ln>
        </p:spPr>
        <p:txBody>
          <a:bodyPr rtlCol="0" anchor="ctr"/>
          <a:lstStyle/>
          <a:p>
            <a:pPr algn="ctr"/>
          </a:p>
        </p:txBody>
      </p:sp>
      <p:sp>
        <p:nvSpPr>
          <p:cNvPr id="82" name="Oval 81"/>
          <p:cNvSpPr/>
          <p:nvPr/>
        </p:nvSpPr>
        <p:spPr>
          <a:xfrm>
            <a:off x="5184648" y="5737860"/>
            <a:ext cx="100584" cy="100584"/>
          </a:xfrm>
          <a:prstGeom prst="ellipse">
            <a:avLst/>
          </a:prstGeom>
          <a:solidFill>
            <a:srgbClr val="1F497D"/>
          </a:solidFill>
          <a:ln w="9525">
            <a:solidFill>
              <a:srgbClr val="1F497D"/>
            </a:solidFill>
          </a:ln>
        </p:spPr>
        <p:txBody>
          <a:bodyPr rtlCol="0" anchor="ctr"/>
          <a:lstStyle/>
          <a:p>
            <a:pPr algn="ctr"/>
          </a:p>
        </p:txBody>
      </p:sp>
      <p:sp>
        <p:nvSpPr>
          <p:cNvPr id="83" name="Oval 82"/>
          <p:cNvSpPr/>
          <p:nvPr/>
        </p:nvSpPr>
        <p:spPr>
          <a:xfrm>
            <a:off x="5321807" y="5737860"/>
            <a:ext cx="100584" cy="100584"/>
          </a:xfrm>
          <a:prstGeom prst="ellipse">
            <a:avLst/>
          </a:prstGeom>
          <a:solidFill>
            <a:srgbClr val="FFFFFF"/>
          </a:solidFill>
          <a:ln w="9525">
            <a:solidFill>
              <a:srgbClr val="1F497D"/>
            </a:solidFill>
          </a:ln>
        </p:spPr>
        <p:txBody>
          <a:bodyPr rtlCol="0" anchor="ctr"/>
          <a:lstStyle/>
          <a:p>
            <a:pPr algn="ctr"/>
          </a:p>
        </p:txBody>
      </p:sp>
      <p:sp>
        <p:nvSpPr>
          <p:cNvPr id="84" name="TextBox 83"/>
          <p:cNvSpPr txBox="1"/>
          <p:nvPr/>
        </p:nvSpPr>
        <p:spPr>
          <a:xfrm>
            <a:off x="5724144" y="5486400"/>
            <a:ext cx="3172968" cy="603504"/>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Luanda, Maputo, Gaborone, Harare and Mauritius run above 81% estimated load; Nigeria, Kenya, Ghana lead addressable demand.</a:t>
            </a:r>
          </a:p>
        </p:txBody>
      </p:sp>
      <p:sp>
        <p:nvSpPr>
          <p:cNvPr id="85" name="TextBox 84"/>
          <p:cNvSpPr txBox="1"/>
          <p:nvPr/>
        </p:nvSpPr>
        <p:spPr>
          <a:xfrm>
            <a:off x="8970263" y="5486400"/>
            <a:ext cx="2798064" cy="603504"/>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Add regional capacity; pair Africa activation with visa relief.</a:t>
            </a:r>
          </a:p>
        </p:txBody>
      </p:sp>
      <p:cxnSp>
        <p:nvCxnSpPr>
          <p:cNvPr id="86" name="Connector 85"/>
          <p:cNvCxnSpPr/>
          <p:nvPr/>
        </p:nvCxnSpPr>
        <p:spPr>
          <a:xfrm>
            <a:off x="384048" y="608990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Cape Town leads its peer airports on route wins, but airlines now prefer higher fares to more seats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AIR ACCESS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pp6, 10-13, 17, 22 (mainline routes added 2015-25; capacity 2010-26); Stakeholder Insights Report (Mar 2026) p24 (bilaterals)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5486400" cy="3749039"/>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53949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New international mainline routes, 2015-2025</a:t>
            </a:r>
          </a:p>
        </p:txBody>
      </p:sp>
      <p:sp>
        <p:nvSpPr>
          <p:cNvPr id="10" name="TextBox 9"/>
          <p:cNvSpPr txBox="1"/>
          <p:nvPr/>
        </p:nvSpPr>
        <p:spPr>
          <a:xfrm>
            <a:off x="457200" y="5257800"/>
            <a:ext cx="5394960" cy="41148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Edinburgh added 121 routes in total and 81% of its routes are low-cost; Cape Town has almost no LCCs.</a:t>
            </a:r>
          </a:p>
        </p:txBody>
      </p:sp>
      <p:sp>
        <p:nvSpPr>
          <p:cNvPr id="11" name="Rectangle 10"/>
          <p:cNvSpPr/>
          <p:nvPr/>
        </p:nvSpPr>
        <p:spPr>
          <a:xfrm>
            <a:off x="6126480" y="1234440"/>
            <a:ext cx="1828800" cy="1005840"/>
          </a:xfrm>
          <a:prstGeom prst="rect">
            <a:avLst/>
          </a:prstGeom>
          <a:solidFill>
            <a:srgbClr val="DCEEF7"/>
          </a:solidFill>
          <a:ln>
            <a:noFill/>
          </a:ln>
        </p:spPr>
        <p:txBody>
          <a:bodyPr rtlCol="0" anchor="ctr"/>
          <a:lstStyle/>
          <a:p>
            <a:pPr algn="ctr"/>
          </a:p>
        </p:txBody>
      </p:sp>
      <p:sp>
        <p:nvSpPr>
          <p:cNvPr id="12" name="TextBox 11"/>
          <p:cNvSpPr txBox="1"/>
          <p:nvPr/>
        </p:nvSpPr>
        <p:spPr>
          <a:xfrm>
            <a:off x="6236208" y="1307592"/>
            <a:ext cx="1609344" cy="502920"/>
          </a:xfrm>
          <a:prstGeom prst="rect">
            <a:avLst/>
          </a:prstGeom>
          <a:noFill/>
        </p:spPr>
        <p:txBody>
          <a:bodyPr wrap="square" anchor="b" lIns="36576" rIns="36576" tIns="21945" bIns="21945">
            <a:spAutoFit/>
          </a:bodyPr>
          <a:lstStyle/>
          <a:p>
            <a:pPr algn="l">
              <a:spcAft>
                <a:spcPts val="0"/>
              </a:spcAft>
            </a:pPr>
            <a:r>
              <a:rPr sz="2000" b="1" i="0">
                <a:solidFill>
                  <a:srgbClr val="1F497D"/>
                </a:solidFill>
                <a:latin typeface="Arial"/>
              </a:rPr>
              <a:t>+6.1%</a:t>
            </a:r>
          </a:p>
        </p:txBody>
      </p:sp>
      <p:sp>
        <p:nvSpPr>
          <p:cNvPr id="13" name="TextBox 12"/>
          <p:cNvSpPr txBox="1"/>
          <p:nvPr/>
        </p:nvSpPr>
        <p:spPr>
          <a:xfrm>
            <a:off x="6236208" y="1787652"/>
            <a:ext cx="1609344" cy="432511"/>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Western Cape international seats a year, 2010-25</a:t>
            </a:r>
          </a:p>
        </p:txBody>
      </p:sp>
      <p:sp>
        <p:nvSpPr>
          <p:cNvPr id="14" name="Rectangle 13"/>
          <p:cNvSpPr/>
          <p:nvPr/>
        </p:nvSpPr>
        <p:spPr>
          <a:xfrm>
            <a:off x="8046720" y="1234440"/>
            <a:ext cx="1828800" cy="1005840"/>
          </a:xfrm>
          <a:prstGeom prst="rect">
            <a:avLst/>
          </a:prstGeom>
          <a:solidFill>
            <a:srgbClr val="DCEEF7"/>
          </a:solidFill>
          <a:ln>
            <a:noFill/>
          </a:ln>
        </p:spPr>
        <p:txBody>
          <a:bodyPr rtlCol="0" anchor="ctr"/>
          <a:lstStyle/>
          <a:p>
            <a:pPr algn="ctr"/>
          </a:p>
        </p:txBody>
      </p:sp>
      <p:sp>
        <p:nvSpPr>
          <p:cNvPr id="15" name="TextBox 14"/>
          <p:cNvSpPr txBox="1"/>
          <p:nvPr/>
        </p:nvSpPr>
        <p:spPr>
          <a:xfrm>
            <a:off x="8156448" y="1307592"/>
            <a:ext cx="1609344" cy="502920"/>
          </a:xfrm>
          <a:prstGeom prst="rect">
            <a:avLst/>
          </a:prstGeom>
          <a:noFill/>
        </p:spPr>
        <p:txBody>
          <a:bodyPr wrap="square" anchor="b" lIns="36576" rIns="36576" tIns="21945" bIns="21945">
            <a:spAutoFit/>
          </a:bodyPr>
          <a:lstStyle/>
          <a:p>
            <a:pPr algn="l">
              <a:spcAft>
                <a:spcPts val="0"/>
              </a:spcAft>
            </a:pPr>
            <a:r>
              <a:rPr sz="1800" b="1" i="0">
                <a:solidFill>
                  <a:srgbClr val="1F497D"/>
                </a:solidFill>
                <a:latin typeface="Arial"/>
              </a:rPr>
              <a:t>10% to 25%</a:t>
            </a:r>
          </a:p>
        </p:txBody>
      </p:sp>
      <p:sp>
        <p:nvSpPr>
          <p:cNvPr id="16" name="TextBox 15"/>
          <p:cNvSpPr txBox="1"/>
          <p:nvPr/>
        </p:nvSpPr>
        <p:spPr>
          <a:xfrm>
            <a:off x="8156448" y="1787652"/>
            <a:ext cx="1609344" cy="432511"/>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Cape Town share of SA international seats</a:t>
            </a:r>
          </a:p>
        </p:txBody>
      </p:sp>
      <p:sp>
        <p:nvSpPr>
          <p:cNvPr id="17" name="Rectangle 16"/>
          <p:cNvSpPr/>
          <p:nvPr/>
        </p:nvSpPr>
        <p:spPr>
          <a:xfrm>
            <a:off x="9966960" y="1234440"/>
            <a:ext cx="1828800" cy="1005840"/>
          </a:xfrm>
          <a:prstGeom prst="rect">
            <a:avLst/>
          </a:prstGeom>
          <a:solidFill>
            <a:srgbClr val="DCEEF7"/>
          </a:solidFill>
          <a:ln>
            <a:noFill/>
          </a:ln>
        </p:spPr>
        <p:txBody>
          <a:bodyPr rtlCol="0" anchor="ctr"/>
          <a:lstStyle/>
          <a:p>
            <a:pPr algn="ctr"/>
          </a:p>
        </p:txBody>
      </p:sp>
      <p:sp>
        <p:nvSpPr>
          <p:cNvPr id="18" name="TextBox 17"/>
          <p:cNvSpPr txBox="1"/>
          <p:nvPr/>
        </p:nvSpPr>
        <p:spPr>
          <a:xfrm>
            <a:off x="10076688" y="1307592"/>
            <a:ext cx="1609344" cy="502920"/>
          </a:xfrm>
          <a:prstGeom prst="rect">
            <a:avLst/>
          </a:prstGeom>
          <a:noFill/>
        </p:spPr>
        <p:txBody>
          <a:bodyPr wrap="square" anchor="b" lIns="36576" rIns="36576" tIns="21945" bIns="21945">
            <a:spAutoFit/>
          </a:bodyPr>
          <a:lstStyle/>
          <a:p>
            <a:pPr algn="l">
              <a:spcAft>
                <a:spcPts val="0"/>
              </a:spcAft>
            </a:pPr>
            <a:r>
              <a:rPr sz="2000" b="1" i="0">
                <a:solidFill>
                  <a:srgbClr val="1F497D"/>
                </a:solidFill>
                <a:latin typeface="Arial"/>
              </a:rPr>
              <a:t>+35%</a:t>
            </a:r>
          </a:p>
        </p:txBody>
      </p:sp>
      <p:sp>
        <p:nvSpPr>
          <p:cNvPr id="19" name="TextBox 18"/>
          <p:cNvSpPr txBox="1"/>
          <p:nvPr/>
        </p:nvSpPr>
        <p:spPr>
          <a:xfrm>
            <a:off x="10076688" y="1787652"/>
            <a:ext cx="1609344" cy="432511"/>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seats on top 7 hub routes, 2019-26</a:t>
            </a:r>
          </a:p>
        </p:txBody>
      </p:sp>
      <p:sp>
        <p:nvSpPr>
          <p:cNvPr id="20" name="Rectangle 19"/>
          <p:cNvSpPr/>
          <p:nvPr/>
        </p:nvSpPr>
        <p:spPr>
          <a:xfrm>
            <a:off x="6126480" y="2377440"/>
            <a:ext cx="5669280" cy="1417320"/>
          </a:xfrm>
          <a:prstGeom prst="rect">
            <a:avLst/>
          </a:prstGeom>
          <a:solidFill>
            <a:srgbClr val="F2F2F2"/>
          </a:solidFill>
          <a:ln>
            <a:noFill/>
          </a:ln>
        </p:spPr>
        <p:txBody>
          <a:bodyPr rtlCol="0" anchor="ctr"/>
          <a:lstStyle/>
          <a:p>
            <a:pPr algn="ctr"/>
          </a:p>
        </p:txBody>
      </p:sp>
      <p:sp>
        <p:nvSpPr>
          <p:cNvPr id="21" name="Rectangle 20"/>
          <p:cNvSpPr/>
          <p:nvPr/>
        </p:nvSpPr>
        <p:spPr>
          <a:xfrm>
            <a:off x="6126480" y="2377440"/>
            <a:ext cx="54864" cy="1417320"/>
          </a:xfrm>
          <a:prstGeom prst="rect">
            <a:avLst/>
          </a:prstGeom>
          <a:solidFill>
            <a:srgbClr val="00AEEF"/>
          </a:solidFill>
          <a:ln>
            <a:noFill/>
          </a:ln>
        </p:spPr>
        <p:txBody>
          <a:bodyPr rtlCol="0" anchor="ctr"/>
          <a:lstStyle/>
          <a:p>
            <a:pPr algn="ctr"/>
          </a:p>
        </p:txBody>
      </p:sp>
      <p:sp>
        <p:nvSpPr>
          <p:cNvPr id="22" name="TextBox 21"/>
          <p:cNvSpPr txBox="1"/>
          <p:nvPr/>
        </p:nvSpPr>
        <p:spPr>
          <a:xfrm>
            <a:off x="6291072" y="2468880"/>
            <a:ext cx="53949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The limit</a:t>
            </a:r>
          </a:p>
        </p:txBody>
      </p:sp>
      <p:sp>
        <p:nvSpPr>
          <p:cNvPr id="23" name="TextBox 22"/>
          <p:cNvSpPr txBox="1"/>
          <p:nvPr/>
        </p:nvSpPr>
        <p:spPr>
          <a:xfrm>
            <a:off x="6291072" y="2788920"/>
            <a:ext cx="5394960" cy="914400"/>
          </a:xfrm>
          <a:prstGeom prst="rect">
            <a:avLst/>
          </a:prstGeom>
          <a:noFill/>
        </p:spPr>
        <p:txBody>
          <a:bodyPr wrap="square" anchor="t" lIns="36576" rIns="36576" tIns="21945" bIns="21945">
            <a:spAutoFit/>
          </a:bodyPr>
          <a:lstStyle/>
          <a:p>
            <a:pPr algn="l">
              <a:spcAft>
                <a:spcPts val="400"/>
              </a:spcAft>
            </a:pPr>
            <a:r>
              <a:rPr sz="950" b="0" i="0">
                <a:solidFill>
                  <a:srgbClr val="404040"/>
                </a:solidFill>
                <a:latin typeface="Arial"/>
              </a:rPr>
              <a:t>Airlines will raise fares rather than add capacity on mature long-haul routes (MIDAS). Restrictive bilateral air service agreements cap airlift (DEDAT, High impact). Emirates and Qatar passengers are 80-90% connecting, so hub disruption (as in 2026) hits Cape Town directly.</a:t>
            </a:r>
          </a:p>
        </p:txBody>
      </p:sp>
      <p:sp>
        <p:nvSpPr>
          <p:cNvPr id="24" name="Rectangle 23"/>
          <p:cNvSpPr/>
          <p:nvPr/>
        </p:nvSpPr>
        <p:spPr>
          <a:xfrm>
            <a:off x="6126480" y="3886200"/>
            <a:ext cx="5669280" cy="1783080"/>
          </a:xfrm>
          <a:prstGeom prst="rect">
            <a:avLst/>
          </a:prstGeom>
          <a:solidFill>
            <a:srgbClr val="DCEEF7"/>
          </a:solidFill>
          <a:ln>
            <a:noFill/>
          </a:ln>
        </p:spPr>
        <p:txBody>
          <a:bodyPr rtlCol="0" anchor="ctr"/>
          <a:lstStyle/>
          <a:p>
            <a:pPr algn="ctr"/>
          </a:p>
        </p:txBody>
      </p:sp>
      <p:sp>
        <p:nvSpPr>
          <p:cNvPr id="25" name="Rectangle 24"/>
          <p:cNvSpPr/>
          <p:nvPr/>
        </p:nvSpPr>
        <p:spPr>
          <a:xfrm>
            <a:off x="6126480" y="3886200"/>
            <a:ext cx="54864" cy="1783080"/>
          </a:xfrm>
          <a:prstGeom prst="rect">
            <a:avLst/>
          </a:prstGeom>
          <a:solidFill>
            <a:srgbClr val="00AEEF"/>
          </a:solidFill>
          <a:ln>
            <a:noFill/>
          </a:ln>
        </p:spPr>
        <p:txBody>
          <a:bodyPr rtlCol="0" anchor="ctr"/>
          <a:lstStyle/>
          <a:p>
            <a:pPr algn="ctr"/>
          </a:p>
        </p:txBody>
      </p:sp>
      <p:sp>
        <p:nvSpPr>
          <p:cNvPr id="26" name="TextBox 25"/>
          <p:cNvSpPr txBox="1"/>
          <p:nvPr/>
        </p:nvSpPr>
        <p:spPr>
          <a:xfrm>
            <a:off x="6291072" y="3977639"/>
            <a:ext cx="53949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27" name="TextBox 26"/>
          <p:cNvSpPr txBox="1"/>
          <p:nvPr/>
        </p:nvSpPr>
        <p:spPr>
          <a:xfrm>
            <a:off x="6291072" y="4297680"/>
            <a:ext cx="5394960" cy="1280160"/>
          </a:xfrm>
          <a:prstGeom prst="rect">
            <a:avLst/>
          </a:prstGeom>
          <a:noFill/>
        </p:spPr>
        <p:txBody>
          <a:bodyPr wrap="square" anchor="t" lIns="36576" rIns="36576" tIns="21945" bIns="21945">
            <a:spAutoFit/>
          </a:bodyPr>
          <a:lstStyle/>
          <a:p>
            <a:pPr algn="l" marL="146304" indent="-146304">
              <a:spcAft>
                <a:spcPts val="200"/>
              </a:spcAft>
              <a:buClr>
                <a:srgbClr val="00AEEF"/>
              </a:buClr>
              <a:buFont typeface="Arial"/>
              <a:buChar char="•"/>
            </a:pPr>
            <a:r>
              <a:rPr sz="950" b="0" i="0">
                <a:solidFill>
                  <a:srgbClr val="404040"/>
                </a:solidFill>
                <a:latin typeface="Arial"/>
              </a:rPr>
              <a:t>Create a funded public-private air access fund to underwrite frequency (Chile, NZ).</a:t>
            </a:r>
          </a:p>
          <a:p>
            <a:pPr algn="l" marL="146304" indent="-146304">
              <a:spcAft>
                <a:spcPts val="200"/>
              </a:spcAft>
              <a:buClr>
                <a:srgbClr val="00AEEF"/>
              </a:buClr>
              <a:buFont typeface="Arial"/>
              <a:buChar char="•"/>
            </a:pPr>
            <a:r>
              <a:rPr sz="950" b="0" i="0">
                <a:solidFill>
                  <a:srgbClr val="404040"/>
                </a:solidFill>
                <a:latin typeface="Arial"/>
              </a:rPr>
              <a:t>Tie marketing budgets to priority corridors and route breakeven (NZ).</a:t>
            </a:r>
          </a:p>
          <a:p>
            <a:pPr algn="l" marL="146304" indent="-146304">
              <a:spcAft>
                <a:spcPts val="200"/>
              </a:spcAft>
              <a:buClr>
                <a:srgbClr val="00AEEF"/>
              </a:buClr>
              <a:buFont typeface="Arial"/>
              <a:buChar char="•"/>
            </a:pPr>
            <a:r>
              <a:rPr sz="950" b="0" i="0">
                <a:solidFill>
                  <a:srgbClr val="404040"/>
                </a:solidFill>
                <a:latin typeface="Arial"/>
              </a:rPr>
              <a:t>Build a long-term low-cost carrier case for regional and short-haul routes.</a:t>
            </a:r>
          </a:p>
          <a:p>
            <a:pPr algn="l" marL="146304" indent="-146304">
              <a:spcAft>
                <a:spcPts val="200"/>
              </a:spcAft>
              <a:buClr>
                <a:srgbClr val="00AEEF"/>
              </a:buClr>
              <a:buFont typeface="Arial"/>
              <a:buChar char="•"/>
            </a:pPr>
            <a:r>
              <a:rPr sz="950" b="0" i="0">
                <a:solidFill>
                  <a:srgbClr val="404040"/>
                </a:solidFill>
                <a:latin typeface="Arial"/>
              </a:rPr>
              <a:t>Add domestic capacity on Cape Town-Durban (90% estimated load, 87,000 indirect).</a:t>
            </a:r>
          </a:p>
        </p:txBody>
      </p:sp>
      <p:sp>
        <p:nvSpPr>
          <p:cNvPr id="28" name="Rectangle 27"/>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29" name="TextBox 28"/>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The next phase of air growth is bought with risk-sharing, not won with relationships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Every region outside the Metro is outpaced by its own assets: attractiveness stays high while access collapses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READINESS BEYOND THE METRO</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pp27-29 (scores 1-5; natural attractions category; accommodation readiness)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384048" y="1463040"/>
          <a:ext cx="6400800" cy="3977639"/>
        </p:xfrm>
        <a:graphic>
          <a:graphicData uri="http://schemas.openxmlformats.org/drawingml/2006/chart">
            <c:chart xmlns:c="http://schemas.openxmlformats.org/drawingml/2006/chart" r:id="rId4"/>
          </a:graphicData>
        </a:graphic>
      </p:graphicFrame>
      <p:sp>
        <p:nvSpPr>
          <p:cNvPr id="9" name="TextBox 8"/>
          <p:cNvSpPr txBox="1"/>
          <p:nvPr/>
        </p:nvSpPr>
        <p:spPr>
          <a:xfrm>
            <a:off x="457200" y="1207008"/>
            <a:ext cx="63093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Natural attractions: attractiveness against accessibility, score out of 5</a:t>
            </a:r>
          </a:p>
        </p:txBody>
      </p:sp>
      <p:sp>
        <p:nvSpPr>
          <p:cNvPr id="10" name="Rectangle 9"/>
          <p:cNvSpPr/>
          <p:nvPr/>
        </p:nvSpPr>
        <p:spPr>
          <a:xfrm>
            <a:off x="7040880" y="1234440"/>
            <a:ext cx="4754880" cy="2011680"/>
          </a:xfrm>
          <a:prstGeom prst="rect">
            <a:avLst/>
          </a:prstGeom>
          <a:solidFill>
            <a:srgbClr val="F2F2F2"/>
          </a:solidFill>
          <a:ln>
            <a:noFill/>
          </a:ln>
        </p:spPr>
        <p:txBody>
          <a:bodyPr rtlCol="0" anchor="ctr"/>
          <a:lstStyle/>
          <a:p>
            <a:pPr algn="ctr"/>
          </a:p>
        </p:txBody>
      </p:sp>
      <p:sp>
        <p:nvSpPr>
          <p:cNvPr id="11" name="Rectangle 10"/>
          <p:cNvSpPr/>
          <p:nvPr/>
        </p:nvSpPr>
        <p:spPr>
          <a:xfrm>
            <a:off x="7040880" y="1234440"/>
            <a:ext cx="54864" cy="2011680"/>
          </a:xfrm>
          <a:prstGeom prst="rect">
            <a:avLst/>
          </a:prstGeom>
          <a:solidFill>
            <a:srgbClr val="00AEEF"/>
          </a:solidFill>
          <a:ln>
            <a:noFill/>
          </a:ln>
        </p:spPr>
        <p:txBody>
          <a:bodyPr rtlCol="0" anchor="ctr"/>
          <a:lstStyle/>
          <a:p>
            <a:pPr algn="ctr"/>
          </a:p>
        </p:txBody>
      </p:sp>
      <p:sp>
        <p:nvSpPr>
          <p:cNvPr id="12" name="TextBox 11"/>
          <p:cNvSpPr txBox="1"/>
          <p:nvPr/>
        </p:nvSpPr>
        <p:spPr>
          <a:xfrm>
            <a:off x="7205472" y="1325880"/>
            <a:ext cx="44805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Facts</a:t>
            </a:r>
          </a:p>
        </p:txBody>
      </p:sp>
      <p:sp>
        <p:nvSpPr>
          <p:cNvPr id="13" name="TextBox 12"/>
          <p:cNvSpPr txBox="1"/>
          <p:nvPr/>
        </p:nvSpPr>
        <p:spPr>
          <a:xfrm>
            <a:off x="7205472" y="1645920"/>
            <a:ext cx="4480560" cy="1508760"/>
          </a:xfrm>
          <a:prstGeom prst="rect">
            <a:avLst/>
          </a:prstGeom>
          <a:noFill/>
        </p:spPr>
        <p:txBody>
          <a:bodyPr wrap="square" anchor="t" lIns="36576" rIns="36576" tIns="21945" bIns="21945">
            <a:spAutoFit/>
          </a:bodyPr>
          <a:lstStyle/>
          <a:p>
            <a:pPr algn="l" marL="146304" indent="-146304">
              <a:spcAft>
                <a:spcPts val="200"/>
              </a:spcAft>
              <a:buClr>
                <a:srgbClr val="00AEEF"/>
              </a:buClr>
              <a:buFont typeface="Arial"/>
              <a:buChar char="•"/>
            </a:pPr>
            <a:r>
              <a:rPr sz="950" b="0" i="0">
                <a:solidFill>
                  <a:srgbClr val="404040"/>
                </a:solidFill>
                <a:latin typeface="Arial"/>
              </a:rPr>
              <a:t>N2 is the only continuous corridor: a single point of failure.</a:t>
            </a:r>
          </a:p>
          <a:p>
            <a:pPr algn="l" marL="146304" indent="-146304">
              <a:spcAft>
                <a:spcPts val="200"/>
              </a:spcAft>
              <a:buClr>
                <a:srgbClr val="00AEEF"/>
              </a:buClr>
              <a:buFont typeface="Arial"/>
              <a:buChar char="•"/>
            </a:pPr>
            <a:r>
              <a:rPr sz="950" b="0" i="0">
                <a:solidFill>
                  <a:srgbClr val="404040"/>
                </a:solidFill>
                <a:latin typeface="Arial"/>
              </a:rPr>
              <a:t>Garden Route: no inter-town shuttle despite obvious demand.</a:t>
            </a:r>
          </a:p>
          <a:p>
            <a:pPr algn="l" marL="146304" indent="-146304">
              <a:spcAft>
                <a:spcPts val="200"/>
              </a:spcAft>
              <a:buClr>
                <a:srgbClr val="00AEEF"/>
              </a:buClr>
              <a:buFont typeface="Arial"/>
              <a:buChar char="•"/>
            </a:pPr>
            <a:r>
              <a:rPr sz="950" b="0" i="0">
                <a:solidFill>
                  <a:srgbClr val="404040"/>
                </a:solidFill>
                <a:latin typeface="Arial"/>
              </a:rPr>
              <a:t>Overberg: the most-requested route has no public transport.</a:t>
            </a:r>
          </a:p>
          <a:p>
            <a:pPr algn="l" marL="146304" indent="-146304">
              <a:spcAft>
                <a:spcPts val="200"/>
              </a:spcAft>
              <a:buClr>
                <a:srgbClr val="00AEEF"/>
              </a:buClr>
              <a:buFont typeface="Arial"/>
              <a:buChar char="•"/>
            </a:pPr>
            <a:r>
              <a:rPr sz="950" b="0" i="0">
                <a:solidFill>
                  <a:srgbClr val="404040"/>
                </a:solidFill>
                <a:latin typeface="Arial"/>
              </a:rPr>
              <a:t>Central Karoo: no airport, rail or e-hailing; every access score at the floor.</a:t>
            </a:r>
          </a:p>
        </p:txBody>
      </p:sp>
      <p:sp>
        <p:nvSpPr>
          <p:cNvPr id="14" name="Rectangle 13"/>
          <p:cNvSpPr/>
          <p:nvPr/>
        </p:nvSpPr>
        <p:spPr>
          <a:xfrm>
            <a:off x="7040880" y="3337560"/>
            <a:ext cx="4754880" cy="2331720"/>
          </a:xfrm>
          <a:prstGeom prst="rect">
            <a:avLst/>
          </a:prstGeom>
          <a:solidFill>
            <a:srgbClr val="DCEEF7"/>
          </a:solidFill>
          <a:ln>
            <a:noFill/>
          </a:ln>
        </p:spPr>
        <p:txBody>
          <a:bodyPr rtlCol="0" anchor="ctr"/>
          <a:lstStyle/>
          <a:p>
            <a:pPr algn="ctr"/>
          </a:p>
        </p:txBody>
      </p:sp>
      <p:sp>
        <p:nvSpPr>
          <p:cNvPr id="15" name="Rectangle 14"/>
          <p:cNvSpPr/>
          <p:nvPr/>
        </p:nvSpPr>
        <p:spPr>
          <a:xfrm>
            <a:off x="7040880" y="3337560"/>
            <a:ext cx="54864" cy="2331720"/>
          </a:xfrm>
          <a:prstGeom prst="rect">
            <a:avLst/>
          </a:prstGeom>
          <a:solidFill>
            <a:srgbClr val="00AEEF"/>
          </a:solidFill>
          <a:ln>
            <a:noFill/>
          </a:ln>
        </p:spPr>
        <p:txBody>
          <a:bodyPr rtlCol="0" anchor="ctr"/>
          <a:lstStyle/>
          <a:p>
            <a:pPr algn="ctr"/>
          </a:p>
        </p:txBody>
      </p:sp>
      <p:sp>
        <p:nvSpPr>
          <p:cNvPr id="16" name="TextBox 15"/>
          <p:cNvSpPr txBox="1"/>
          <p:nvPr/>
        </p:nvSpPr>
        <p:spPr>
          <a:xfrm>
            <a:off x="7205472" y="3429000"/>
            <a:ext cx="448056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to do</a:t>
            </a:r>
          </a:p>
        </p:txBody>
      </p:sp>
      <p:sp>
        <p:nvSpPr>
          <p:cNvPr id="17" name="TextBox 16"/>
          <p:cNvSpPr txBox="1"/>
          <p:nvPr/>
        </p:nvSpPr>
        <p:spPr>
          <a:xfrm>
            <a:off x="7205472" y="3749039"/>
            <a:ext cx="4480560" cy="1828799"/>
          </a:xfrm>
          <a:prstGeom prst="rect">
            <a:avLst/>
          </a:prstGeom>
          <a:noFill/>
        </p:spPr>
        <p:txBody>
          <a:bodyPr wrap="square" anchor="t" lIns="36576" rIns="36576" tIns="21945" bIns="21945">
            <a:spAutoFit/>
          </a:bodyPr>
          <a:lstStyle/>
          <a:p>
            <a:pPr algn="l" marL="146304" indent="-146304">
              <a:spcAft>
                <a:spcPts val="200"/>
              </a:spcAft>
              <a:buClr>
                <a:srgbClr val="00AEEF"/>
              </a:buClr>
              <a:buFont typeface="Arial"/>
              <a:buChar char="•"/>
            </a:pPr>
            <a:r>
              <a:rPr sz="950" b="0" i="0">
                <a:solidFill>
                  <a:srgbClr val="404040"/>
                </a:solidFill>
                <a:latin typeface="Arial"/>
              </a:rPr>
              <a:t>Pick two or three corridors (e.g. N2 Garden Route, Whale Coast, Route 62) and invest as a package.</a:t>
            </a:r>
          </a:p>
          <a:p>
            <a:pPr algn="l" marL="146304" indent="-146304">
              <a:spcAft>
                <a:spcPts val="200"/>
              </a:spcAft>
              <a:buClr>
                <a:srgbClr val="00AEEF"/>
              </a:buClr>
              <a:buFont typeface="Arial"/>
              <a:buChar char="•"/>
            </a:pPr>
            <a:r>
              <a:rPr sz="950" b="0" i="0">
                <a:solidFill>
                  <a:srgbClr val="404040"/>
                </a:solidFill>
                <a:latin typeface="Arial"/>
              </a:rPr>
              <a:t>Commission curated shuttles where demand is proven; replicate the Franschhoek Wine Tram model.</a:t>
            </a:r>
          </a:p>
          <a:p>
            <a:pPr algn="l" marL="146304" indent="-146304">
              <a:spcAft>
                <a:spcPts val="200"/>
              </a:spcAft>
              <a:buClr>
                <a:srgbClr val="00AEEF"/>
              </a:buClr>
              <a:buFont typeface="Arial"/>
              <a:buChar char="•"/>
            </a:pPr>
            <a:r>
              <a:rPr sz="950" b="0" i="0">
                <a:solidFill>
                  <a:srgbClr val="404040"/>
                </a:solidFill>
                <a:latin typeface="Arial"/>
              </a:rPr>
              <a:t>Signage, rental and self-drive readiness on scenic routes.</a:t>
            </a:r>
          </a:p>
          <a:p>
            <a:pPr algn="l" marL="146304" indent="-146304">
              <a:spcAft>
                <a:spcPts val="200"/>
              </a:spcAft>
              <a:buClr>
                <a:srgbClr val="00AEEF"/>
              </a:buClr>
              <a:buFont typeface="Arial"/>
              <a:buChar char="•"/>
            </a:pPr>
            <a:r>
              <a:rPr sz="950" b="0" i="0">
                <a:solidFill>
                  <a:srgbClr val="404040"/>
                </a:solidFill>
                <a:latin typeface="Arial"/>
              </a:rPr>
              <a:t>Package George air access into Garden Route itineraries.</a:t>
            </a:r>
          </a:p>
        </p:txBody>
      </p:sp>
      <p:sp>
        <p:nvSpPr>
          <p:cNvPr id="18" name="Rectangle 17"/>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19" name="TextBox 18"/>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Dispersal will not happen by spillover; it needs deliberate corridor investment.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Specific, fixable gaps hold back growth outside the core; most need activation, not construction</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PRODUCT AND CAPACITY GAPS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MIDAS Aviation Market Assessment (Mar 2026) pp20-21; Stakeholder Insights Report (Mar 2026) pp20, 27; SME &amp; Community Inclusion Plan (Sep 2026); Wesgro/StratEcon cruise report 2024/25 via mobility factbase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242816"/>
        </p:xfrm>
        <a:graphic>
          <a:graphicData uri="http://schemas.openxmlformats.org/drawingml/2006/table">
            <a:tbl>
              <a:tblPr firstRow="1" bandRow="0">
                <a:tableStyleId>{5C22544A-7EE6-4342-B048-85BDC9FD1C3A}</a:tableStyleId>
              </a:tblPr>
              <a:tblGrid>
                <a:gridCol w="5120640"/>
                <a:gridCol w="4288536"/>
                <a:gridCol w="2011680"/>
              </a:tblGrid>
              <a:tr h="530352">
                <a:tc>
                  <a:txBody>
                    <a:bodyPr wrap="square"/>
                    <a:lstStyle/>
                    <a:p>
                      <a:pPr algn="l"/>
                      <a:r>
                        <a:rPr sz="1000" b="1" i="0">
                          <a:solidFill>
                            <a:srgbClr val="FFFFFF"/>
                          </a:solidFill>
                          <a:latin typeface="Arial"/>
                        </a:rPr>
                        <a:t>What the evidence shows</a:t>
                      </a:r>
                    </a:p>
                  </a:txBody>
                  <a:tcPr marL="54864" marR="54864" marT="27432" marB="27432" anchor="ctr">
                    <a:solidFill>
                      <a:srgbClr val="1F497D"/>
                    </a:solidFill>
                  </a:tcPr>
                </a:tc>
                <a:tc>
                  <a:txBody>
                    <a:bodyPr wrap="square"/>
                    <a:lstStyle/>
                    <a:p>
                      <a:pPr algn="l"/>
                      <a:r>
                        <a:rPr sz="1000" b="1" i="0">
                          <a:solidFill>
                            <a:srgbClr val="FFFFFF"/>
                          </a:solidFill>
                          <a:latin typeface="Arial"/>
                        </a:rPr>
                        <a:t>What it means we should do</a:t>
                      </a:r>
                    </a:p>
                  </a:txBody>
                  <a:tcPr marL="54864" marR="54864" marT="27432" marB="27432" anchor="ctr">
                    <a:solidFill>
                      <a:srgbClr val="1F497D"/>
                    </a:solidFill>
                  </a:tcPr>
                </a:tc>
                <a:tc>
                  <a:txBody>
                    <a:bodyPr wrap="square"/>
                    <a:lstStyle/>
                    <a:p>
                      <a:pPr algn="l"/>
                      <a:r>
                        <a:rPr sz="1000" b="1" i="0">
                          <a:solidFill>
                            <a:srgbClr val="FFFFFF"/>
                          </a:solidFill>
                          <a:latin typeface="Arial"/>
                        </a:rPr>
                        <a:t>Source</a:t>
                      </a:r>
                    </a:p>
                  </a:txBody>
                  <a:tcPr marL="54864" marR="54864" marT="27432" marB="27432" anchor="ctr">
                    <a:solidFill>
                      <a:srgbClr val="1F497D"/>
                    </a:solidFill>
                  </a:tcPr>
                </a:tc>
              </a:tr>
              <a:tr h="530352">
                <a:tc>
                  <a:txBody>
                    <a:bodyPr wrap="square"/>
                    <a:lstStyle/>
                    <a:p>
                      <a:pPr algn="l"/>
                      <a:r>
                        <a:rPr sz="1000" b="0" i="0">
                          <a:solidFill>
                            <a:srgbClr val="404040"/>
                          </a:solidFill>
                          <a:latin typeface="Arial"/>
                        </a:rPr>
                        <a:t>No mid-scale branded accommodation between luxury estates and basic self-catering; Winelands mid-market absent outside Stellenbosch.</a:t>
                      </a:r>
                    </a:p>
                  </a:txBody>
                  <a:tcPr marL="54864" marR="54864" marT="27432" marB="27432" anchor="ctr">
                    <a:solidFill>
                      <a:srgbClr val="FFFFFF"/>
                    </a:solidFill>
                  </a:tcPr>
                </a:tc>
                <a:tc>
                  <a:txBody>
                    <a:bodyPr wrap="square"/>
                    <a:lstStyle/>
                    <a:p>
                      <a:pPr algn="l"/>
                      <a:r>
                        <a:rPr sz="1000" b="1" i="0">
                          <a:solidFill>
                            <a:srgbClr val="1F497D"/>
                          </a:solidFill>
                          <a:latin typeface="Arial"/>
                        </a:rPr>
                        <a:t>Target incentives and investment promotion at mid-scale brands</a:t>
                      </a:r>
                    </a:p>
                  </a:txBody>
                  <a:tcPr marL="54864" marR="54864" marT="27432" marB="27432" anchor="ctr">
                    <a:solidFill>
                      <a:srgbClr val="FFFFFF"/>
                    </a:solidFill>
                  </a:tcPr>
                </a:tc>
                <a:tc>
                  <a:txBody>
                    <a:bodyPr wrap="square"/>
                    <a:lstStyle/>
                    <a:p>
                      <a:pPr algn="l"/>
                      <a:r>
                        <a:rPr sz="850" b="0" i="0">
                          <a:solidFill>
                            <a:srgbClr val="7F7F7F"/>
                          </a:solidFill>
                          <a:latin typeface="Arial"/>
                        </a:rPr>
                        <a:t>Infrastructure pp32-33</a:t>
                      </a:r>
                    </a:p>
                  </a:txBody>
                  <a:tcPr marL="54864" marR="54864" marT="27432" marB="27432" anchor="ctr">
                    <a:solidFill>
                      <a:srgbClr val="FFFFFF"/>
                    </a:solidFill>
                  </a:tcPr>
                </a:tc>
              </a:tr>
              <a:tr h="530352">
                <a:tc>
                  <a:txBody>
                    <a:bodyPr wrap="square"/>
                    <a:lstStyle/>
                    <a:p>
                      <a:pPr algn="l"/>
                      <a:r>
                        <a:rPr sz="1000" b="0" i="0">
                          <a:solidFill>
                            <a:srgbClr val="404040"/>
                          </a:solidFill>
                          <a:latin typeface="Arial"/>
                        </a:rPr>
                        <a:t>N2 nature products (bungee, canopy, whale watching, forest hikes) operate without interpretation or storytelling.</a:t>
                      </a:r>
                    </a:p>
                  </a:txBody>
                  <a:tcPr marL="54864" marR="54864" marT="27432" marB="27432" anchor="ctr">
                    <a:solidFill>
                      <a:srgbClr val="F2F2F2"/>
                    </a:solidFill>
                  </a:tcPr>
                </a:tc>
                <a:tc>
                  <a:txBody>
                    <a:bodyPr wrap="square"/>
                    <a:lstStyle/>
                    <a:p>
                      <a:pPr algn="l"/>
                      <a:r>
                        <a:rPr sz="1000" b="1" i="0">
                          <a:solidFill>
                            <a:srgbClr val="1F497D"/>
                          </a:solidFill>
                          <a:latin typeface="Arial"/>
                        </a:rPr>
                        <a:t>Fund interpretation and guiding on the N2 corridor</a:t>
                      </a:r>
                    </a:p>
                  </a:txBody>
                  <a:tcPr marL="54864" marR="54864" marT="27432" marB="27432" anchor="ctr">
                    <a:solidFill>
                      <a:srgbClr val="F2F2F2"/>
                    </a:solidFill>
                  </a:tcPr>
                </a:tc>
                <a:tc>
                  <a:txBody>
                    <a:bodyPr wrap="square"/>
                    <a:lstStyle/>
                    <a:p>
                      <a:pPr algn="l"/>
                      <a:r>
                        <a:rPr sz="850" b="0" i="0">
                          <a:solidFill>
                            <a:srgbClr val="7F7F7F"/>
                          </a:solidFill>
                          <a:latin typeface="Arial"/>
                        </a:rPr>
                        <a:t>Infrastructure p31</a:t>
                      </a:r>
                    </a:p>
                  </a:txBody>
                  <a:tcPr marL="54864" marR="54864" marT="27432" marB="27432" anchor="ctr">
                    <a:solidFill>
                      <a:srgbClr val="F2F2F2"/>
                    </a:solidFill>
                  </a:tcPr>
                </a:tc>
              </a:tr>
              <a:tr h="530352">
                <a:tc>
                  <a:txBody>
                    <a:bodyPr wrap="square"/>
                    <a:lstStyle/>
                    <a:p>
                      <a:pPr algn="l"/>
                      <a:r>
                        <a:rPr sz="1000" b="0" i="0">
                          <a:solidFill>
                            <a:srgbClr val="404040"/>
                          </a:solidFill>
                          <a:latin typeface="Arial"/>
                        </a:rPr>
                        <a:t>Franschhoek Wine Tram is the only purpose-built tourism mobility product; it saturates at harvest and wedding weeks.</a:t>
                      </a:r>
                    </a:p>
                  </a:txBody>
                  <a:tcPr marL="54864" marR="54864" marT="27432" marB="27432" anchor="ctr">
                    <a:solidFill>
                      <a:srgbClr val="FFFFFF"/>
                    </a:solidFill>
                  </a:tcPr>
                </a:tc>
                <a:tc>
                  <a:txBody>
                    <a:bodyPr wrap="square"/>
                    <a:lstStyle/>
                    <a:p>
                      <a:pPr algn="l"/>
                      <a:r>
                        <a:rPr sz="1000" b="1" i="0">
                          <a:solidFill>
                            <a:srgbClr val="1F497D"/>
                          </a:solidFill>
                          <a:latin typeface="Arial"/>
                        </a:rPr>
                        <a:t>Replicate the model in other estate clusters; candidates to be tested</a:t>
                      </a:r>
                    </a:p>
                  </a:txBody>
                  <a:tcPr marL="54864" marR="54864" marT="27432" marB="27432" anchor="ctr">
                    <a:solidFill>
                      <a:srgbClr val="FFFFFF"/>
                    </a:solidFill>
                  </a:tcPr>
                </a:tc>
                <a:tc>
                  <a:txBody>
                    <a:bodyPr wrap="square"/>
                    <a:lstStyle/>
                    <a:p>
                      <a:pPr algn="l"/>
                      <a:r>
                        <a:rPr sz="850" b="0" i="0">
                          <a:solidFill>
                            <a:srgbClr val="7F7F7F"/>
                          </a:solidFill>
                          <a:latin typeface="Arial"/>
                        </a:rPr>
                        <a:t>Infrastructure pp24, 29</a:t>
                      </a:r>
                    </a:p>
                  </a:txBody>
                  <a:tcPr marL="54864" marR="54864" marT="27432" marB="27432" anchor="ctr">
                    <a:solidFill>
                      <a:srgbClr val="FFFFFF"/>
                    </a:solidFill>
                  </a:tcPr>
                </a:tc>
              </a:tr>
              <a:tr h="530352">
                <a:tc>
                  <a:txBody>
                    <a:bodyPr wrap="square"/>
                    <a:lstStyle/>
                    <a:p>
                      <a:pPr algn="l"/>
                      <a:r>
                        <a:rPr sz="1000" b="0" i="0">
                          <a:solidFill>
                            <a:srgbClr val="404040"/>
                          </a:solidFill>
                          <a:latin typeface="Arial"/>
                        </a:rPr>
                        <a:t>Large-group and conference demand exceeds venue capacity in the Overberg; few graded hotels for midweek business on the Garden Route.</a:t>
                      </a:r>
                    </a:p>
                  </a:txBody>
                  <a:tcPr marL="54864" marR="54864" marT="27432" marB="27432" anchor="ctr">
                    <a:solidFill>
                      <a:srgbClr val="F2F2F2"/>
                    </a:solidFill>
                  </a:tcPr>
                </a:tc>
                <a:tc>
                  <a:txBody>
                    <a:bodyPr wrap="square"/>
                    <a:lstStyle/>
                    <a:p>
                      <a:pPr algn="l"/>
                      <a:r>
                        <a:rPr sz="1000" b="1" i="0">
                          <a:solidFill>
                            <a:srgbClr val="1F497D"/>
                          </a:solidFill>
                          <a:latin typeface="Arial"/>
                        </a:rPr>
                        <a:t>Back conference-grade hotel capacity in secondary nodes</a:t>
                      </a:r>
                    </a:p>
                  </a:txBody>
                  <a:tcPr marL="54864" marR="54864" marT="27432" marB="27432" anchor="ctr">
                    <a:solidFill>
                      <a:srgbClr val="F2F2F2"/>
                    </a:solidFill>
                  </a:tcPr>
                </a:tc>
                <a:tc>
                  <a:txBody>
                    <a:bodyPr wrap="square"/>
                    <a:lstStyle/>
                    <a:p>
                      <a:pPr algn="l"/>
                      <a:r>
                        <a:rPr sz="850" b="0" i="0">
                          <a:solidFill>
                            <a:srgbClr val="7F7F7F"/>
                          </a:solidFill>
                          <a:latin typeface="Arial"/>
                        </a:rPr>
                        <a:t>Stakeholders p27; Infrastructure p32</a:t>
                      </a:r>
                    </a:p>
                  </a:txBody>
                  <a:tcPr marL="54864" marR="54864" marT="27432" marB="27432" anchor="ctr">
                    <a:solidFill>
                      <a:srgbClr val="F2F2F2"/>
                    </a:solidFill>
                  </a:tcPr>
                </a:tc>
              </a:tr>
              <a:tr h="530352">
                <a:tc>
                  <a:txBody>
                    <a:bodyPr wrap="square"/>
                    <a:lstStyle/>
                    <a:p>
                      <a:pPr algn="l"/>
                      <a:r>
                        <a:rPr sz="1000" b="0" i="0">
                          <a:solidFill>
                            <a:srgbClr val="404040"/>
                          </a:solidFill>
                          <a:latin typeface="Arial"/>
                        </a:rPr>
                        <a:t>Cape Winelands Airport (2028) is unlikely to draw significant volume; George is unlikely to grow much.</a:t>
                      </a:r>
                    </a:p>
                  </a:txBody>
                  <a:tcPr marL="54864" marR="54864" marT="27432" marB="27432" anchor="ctr">
                    <a:solidFill>
                      <a:srgbClr val="FFFFFF"/>
                    </a:solidFill>
                  </a:tcPr>
                </a:tc>
                <a:tc>
                  <a:txBody>
                    <a:bodyPr wrap="square"/>
                    <a:lstStyle/>
                    <a:p>
                      <a:pPr algn="l"/>
                      <a:r>
                        <a:rPr sz="1000" b="1" i="0">
                          <a:solidFill>
                            <a:srgbClr val="1F497D"/>
                          </a:solidFill>
                          <a:latin typeface="Arial"/>
                        </a:rPr>
                        <a:t>Plan for domestic supplemental services first; keep CTIA the gateway</a:t>
                      </a:r>
                    </a:p>
                  </a:txBody>
                  <a:tcPr marL="54864" marR="54864" marT="27432" marB="27432" anchor="ctr">
                    <a:solidFill>
                      <a:srgbClr val="FFFFFF"/>
                    </a:solidFill>
                  </a:tcPr>
                </a:tc>
                <a:tc>
                  <a:txBody>
                    <a:bodyPr wrap="square"/>
                    <a:lstStyle/>
                    <a:p>
                      <a:pPr algn="l"/>
                      <a:r>
                        <a:rPr sz="850" b="0" i="0">
                          <a:solidFill>
                            <a:srgbClr val="7F7F7F"/>
                          </a:solidFill>
                          <a:latin typeface="Arial"/>
                        </a:rPr>
                        <a:t>MIDAS</a:t>
                      </a:r>
                    </a:p>
                  </a:txBody>
                  <a:tcPr marL="54864" marR="54864" marT="27432" marB="27432" anchor="ctr">
                    <a:solidFill>
                      <a:srgbClr val="FFFFFF"/>
                    </a:solidFill>
                  </a:tcPr>
                </a:tc>
              </a:tr>
              <a:tr h="530352">
                <a:tc>
                  <a:txBody>
                    <a:bodyPr wrap="square"/>
                    <a:lstStyle/>
                    <a:p>
                      <a:pPr algn="l"/>
                      <a:r>
                        <a:rPr sz="1000" b="0" i="0">
                          <a:solidFill>
                            <a:srgbClr val="404040"/>
                          </a:solidFill>
                          <a:latin typeface="Arial"/>
                        </a:rPr>
                        <a:t>Cruise: 79 calls and ~100,000 international passengers in 2024/25 (~R2.0bn spend); Wesgro targets 250 calls by 2030; Mossel Bay grew from 4 to 27 calls.</a:t>
                      </a:r>
                    </a:p>
                  </a:txBody>
                  <a:tcPr marL="54864" marR="54864" marT="27432" marB="27432" anchor="ctr">
                    <a:solidFill>
                      <a:srgbClr val="F2F2F2"/>
                    </a:solidFill>
                  </a:tcPr>
                </a:tc>
                <a:tc>
                  <a:txBody>
                    <a:bodyPr wrap="square"/>
                    <a:lstStyle/>
                    <a:p>
                      <a:pPr algn="l"/>
                      <a:r>
                        <a:rPr sz="1000" b="1" i="0">
                          <a:solidFill>
                            <a:srgbClr val="1F497D"/>
                          </a:solidFill>
                          <a:latin typeface="Arial"/>
                        </a:rPr>
                        <a:t>Extend the Air Access partnership model to cruise and small ports</a:t>
                      </a:r>
                    </a:p>
                  </a:txBody>
                  <a:tcPr marL="54864" marR="54864" marT="27432" marB="27432" anchor="ctr">
                    <a:solidFill>
                      <a:srgbClr val="F2F2F2"/>
                    </a:solidFill>
                  </a:tcPr>
                </a:tc>
                <a:tc>
                  <a:txBody>
                    <a:bodyPr wrap="square"/>
                    <a:lstStyle/>
                    <a:p>
                      <a:pPr algn="l"/>
                      <a:r>
                        <a:rPr sz="850" b="0" i="0">
                          <a:solidFill>
                            <a:srgbClr val="7F7F7F"/>
                          </a:solidFill>
                          <a:latin typeface="Arial"/>
                        </a:rPr>
                        <a:t>Wesgro/StratEcon cruise report via mobility factbase; Stakeholders p20</a:t>
                      </a:r>
                    </a:p>
                  </a:txBody>
                  <a:tcPr marL="54864" marR="54864" marT="27432" marB="27432" anchor="ctr">
                    <a:solidFill>
                      <a:srgbClr val="F2F2F2"/>
                    </a:solidFill>
                  </a:tcPr>
                </a:tc>
              </a:tr>
              <a:tr h="530352">
                <a:tc>
                  <a:txBody>
                    <a:bodyPr wrap="square"/>
                    <a:lstStyle/>
                    <a:p>
                      <a:pPr algn="l"/>
                      <a:r>
                        <a:rPr sz="1000" b="0" i="0">
                          <a:solidFill>
                            <a:srgbClr val="404040"/>
                          </a:solidFill>
                          <a:latin typeface="Arial"/>
                        </a:rPr>
                        <a:t>Meiringspoort (N12) closed by flood in May 2026: R421m and ~26 months to rebuild.</a:t>
                      </a:r>
                    </a:p>
                  </a:txBody>
                  <a:tcPr marL="54864" marR="54864" marT="27432" marB="27432" anchor="ctr">
                    <a:solidFill>
                      <a:srgbClr val="FFFFFF"/>
                    </a:solidFill>
                  </a:tcPr>
                </a:tc>
                <a:tc>
                  <a:txBody>
                    <a:bodyPr wrap="square"/>
                    <a:lstStyle/>
                    <a:p>
                      <a:pPr algn="l"/>
                      <a:r>
                        <a:rPr sz="1000" b="1" i="0">
                          <a:solidFill>
                            <a:srgbClr val="1F497D"/>
                          </a:solidFill>
                          <a:latin typeface="Arial"/>
                        </a:rPr>
                        <a:t>Treat climate resilience as a supply risk in corridor plans</a:t>
                      </a:r>
                    </a:p>
                  </a:txBody>
                  <a:tcPr marL="54864" marR="54864" marT="27432" marB="27432" anchor="ctr">
                    <a:solidFill>
                      <a:srgbClr val="FFFFFF"/>
                    </a:solidFill>
                  </a:tcPr>
                </a:tc>
                <a:tc>
                  <a:txBody>
                    <a:bodyPr wrap="square"/>
                    <a:lstStyle/>
                    <a:p>
                      <a:pPr algn="l"/>
                      <a:r>
                        <a:rPr sz="850" b="0" i="0">
                          <a:solidFill>
                            <a:srgbClr val="7F7F7F"/>
                          </a:solidFill>
                          <a:latin typeface="Arial"/>
                        </a:rPr>
                        <a:t>SME plan (De Rust)</a:t>
                      </a:r>
                    </a:p>
                  </a:txBody>
                  <a:tcPr marL="54864" marR="54864" marT="27432" marB="27432" anchor="ctr">
                    <a:solidFill>
                      <a:srgbClr val="FFFFFF"/>
                    </a:solidFill>
                  </a:tcPr>
                </a:tc>
              </a:tr>
            </a:tbl>
          </a:graphicData>
        </a:graphic>
      </p:graphicFrame>
      <p:sp>
        <p:nvSpPr>
          <p:cNvPr id="9" name="Rectangle 8"/>
          <p:cNvSpPr/>
          <p:nvPr/>
        </p:nvSpPr>
        <p:spPr>
          <a:xfrm>
            <a:off x="384048" y="5532120"/>
            <a:ext cx="11420856" cy="457200"/>
          </a:xfrm>
          <a:prstGeom prst="rect">
            <a:avLst/>
          </a:prstGeom>
          <a:solidFill>
            <a:srgbClr val="1F497D"/>
          </a:solidFill>
          <a:ln>
            <a:noFill/>
          </a:ln>
        </p:spPr>
        <p:txBody>
          <a:bodyPr rtlCol="0" anchor="ctr"/>
          <a:lstStyle/>
          <a:p>
            <a:pPr algn="ctr"/>
          </a:p>
        </p:txBody>
      </p:sp>
      <p:sp>
        <p:nvSpPr>
          <p:cNvPr id="10" name="TextBox 9"/>
          <p:cNvSpPr txBox="1"/>
          <p:nvPr/>
        </p:nvSpPr>
        <p:spPr>
          <a:xfrm>
            <a:off x="548640" y="553212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Activate before you build: operators, listings and interpretation open up assets that already exist.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Six touring routes carry international visitors; only the Winelands has been scored for readiness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TOURING ROUTES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pp36-40 (route roles; Winelands readiness scorecard)</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7498080" cy="3968496"/>
        </p:xfrm>
        <a:graphic>
          <a:graphicData uri="http://schemas.openxmlformats.org/drawingml/2006/table">
            <a:tbl>
              <a:tblPr firstRow="1" bandRow="0">
                <a:tableStyleId>{5C22544A-7EE6-4342-B048-85BDC9FD1C3A}</a:tableStyleId>
              </a:tblPr>
              <a:tblGrid>
                <a:gridCol w="2377440"/>
                <a:gridCol w="3017520"/>
                <a:gridCol w="2103120"/>
              </a:tblGrid>
              <a:tr h="566928">
                <a:tc>
                  <a:txBody>
                    <a:bodyPr wrap="square"/>
                    <a:lstStyle/>
                    <a:p>
                      <a:pPr algn="l"/>
                      <a:r>
                        <a:rPr sz="950" b="1" i="0">
                          <a:solidFill>
                            <a:srgbClr val="FFFFFF"/>
                          </a:solidFill>
                          <a:latin typeface="Arial"/>
                        </a:rPr>
                        <a:t>Route</a:t>
                      </a:r>
                    </a:p>
                  </a:txBody>
                  <a:tcPr marL="54864" marR="54864" marT="27432" marB="27432" anchor="ctr">
                    <a:solidFill>
                      <a:srgbClr val="1F497D"/>
                    </a:solidFill>
                  </a:tcPr>
                </a:tc>
                <a:tc>
                  <a:txBody>
                    <a:bodyPr wrap="square"/>
                    <a:lstStyle/>
                    <a:p>
                      <a:pPr algn="l"/>
                      <a:r>
                        <a:rPr sz="950" b="1" i="0">
                          <a:solidFill>
                            <a:srgbClr val="FFFFFF"/>
                          </a:solidFill>
                          <a:latin typeface="Arial"/>
                        </a:rPr>
                        <a:t>Role for international visitors</a:t>
                      </a:r>
                    </a:p>
                  </a:txBody>
                  <a:tcPr marL="54864" marR="54864" marT="27432" marB="27432" anchor="ctr">
                    <a:solidFill>
                      <a:srgbClr val="1F497D"/>
                    </a:solidFill>
                  </a:tcPr>
                </a:tc>
                <a:tc>
                  <a:txBody>
                    <a:bodyPr wrap="square"/>
                    <a:lstStyle/>
                    <a:p>
                      <a:pPr algn="l"/>
                      <a:r>
                        <a:rPr sz="950" b="1" i="0">
                          <a:solidFill>
                            <a:srgbClr val="FFFFFF"/>
                          </a:solidFill>
                          <a:latin typeface="Arial"/>
                        </a:rPr>
                        <a:t>Readiness status</a:t>
                      </a:r>
                    </a:p>
                  </a:txBody>
                  <a:tcPr marL="54864" marR="54864" marT="27432" marB="27432" anchor="ctr">
                    <a:solidFill>
                      <a:srgbClr val="1F497D"/>
                    </a:solidFill>
                  </a:tcPr>
                </a:tc>
              </a:tr>
              <a:tr h="566928">
                <a:tc>
                  <a:txBody>
                    <a:bodyPr wrap="square"/>
                    <a:lstStyle/>
                    <a:p>
                      <a:pPr algn="l"/>
                      <a:r>
                        <a:rPr sz="950" b="1" i="0">
                          <a:solidFill>
                            <a:srgbClr val="1F497D"/>
                          </a:solidFill>
                          <a:latin typeface="Arial"/>
                        </a:rPr>
                        <a:t>01 Cape Town and Peninsula</a:t>
                      </a:r>
                    </a:p>
                  </a:txBody>
                  <a:tcPr marL="54864" marR="54864" marT="27432" marB="27432" anchor="ctr">
                    <a:solidFill>
                      <a:srgbClr val="FFFFFF"/>
                    </a:solidFill>
                  </a:tcPr>
                </a:tc>
                <a:tc>
                  <a:txBody>
                    <a:bodyPr wrap="square"/>
                    <a:lstStyle/>
                    <a:p>
                      <a:pPr algn="l"/>
                      <a:r>
                        <a:rPr sz="950" b="0" i="0">
                          <a:solidFill>
                            <a:srgbClr val="404040"/>
                          </a:solidFill>
                          <a:latin typeface="Arial"/>
                        </a:rPr>
                        <a:t>Main arrival anchor and highest-awareness base</a:t>
                      </a:r>
                    </a:p>
                  </a:txBody>
                  <a:tcPr marL="54864" marR="54864" marT="27432" marB="27432" anchor="ctr">
                    <a:solidFill>
                      <a:srgbClr val="FFFFFF"/>
                    </a:solidFill>
                  </a:tcPr>
                </a:tc>
                <a:tc>
                  <a:txBody>
                    <a:bodyPr wrap="square"/>
                    <a:lstStyle/>
                    <a:p>
                      <a:pPr algn="l"/>
                      <a:r>
                        <a:rPr sz="950" b="0" i="0">
                          <a:solidFill>
                            <a:srgbClr val="404040"/>
                          </a:solidFill>
                          <a:latin typeface="Arial"/>
                        </a:rPr>
                        <a:t>Not scored</a:t>
                      </a:r>
                    </a:p>
                  </a:txBody>
                  <a:tcPr marL="54864" marR="54864" marT="27432" marB="27432" anchor="ctr">
                    <a:solidFill>
                      <a:srgbClr val="FFFFFF"/>
                    </a:solidFill>
                  </a:tcPr>
                </a:tc>
              </a:tr>
              <a:tr h="566928">
                <a:tc>
                  <a:txBody>
                    <a:bodyPr wrap="square"/>
                    <a:lstStyle/>
                    <a:p>
                      <a:pPr algn="l"/>
                      <a:r>
                        <a:rPr sz="950" b="1" i="0">
                          <a:solidFill>
                            <a:srgbClr val="1F497D"/>
                          </a:solidFill>
                          <a:latin typeface="Arial"/>
                        </a:rPr>
                        <a:t>02 Cape Winelands</a:t>
                      </a:r>
                    </a:p>
                  </a:txBody>
                  <a:tcPr marL="54864" marR="54864" marT="27432" marB="27432" anchor="ctr">
                    <a:solidFill>
                      <a:srgbClr val="F2F2F2"/>
                    </a:solidFill>
                  </a:tcPr>
                </a:tc>
                <a:tc>
                  <a:txBody>
                    <a:bodyPr wrap="square"/>
                    <a:lstStyle/>
                    <a:p>
                      <a:pPr algn="l"/>
                      <a:r>
                        <a:rPr sz="950" b="0" i="0">
                          <a:solidFill>
                            <a:srgbClr val="404040"/>
                          </a:solidFill>
                          <a:latin typeface="Arial"/>
                        </a:rPr>
                        <a:t>Premium day-trip or 1-2 night add-on; 50 km from Cape Town, 2-4 days suggested</a:t>
                      </a:r>
                    </a:p>
                  </a:txBody>
                  <a:tcPr marL="54864" marR="54864" marT="27432" marB="27432" anchor="ctr">
                    <a:solidFill>
                      <a:srgbClr val="F2F2F2"/>
                    </a:solidFill>
                  </a:tcPr>
                </a:tc>
                <a:tc>
                  <a:txBody>
                    <a:bodyPr wrap="square"/>
                    <a:lstStyle/>
                    <a:p>
                      <a:pPr algn="l"/>
                      <a:r>
                        <a:rPr sz="950" b="0" i="0">
                          <a:solidFill>
                            <a:srgbClr val="1F497D"/>
                          </a:solidFill>
                          <a:latin typeface="Arial"/>
                        </a:rPr>
                        <a:t>Developing: air and road Ready; accommodation Ready; safety Developing (drink-drive risk on transfers); digital Ready</a:t>
                      </a:r>
                    </a:p>
                  </a:txBody>
                  <a:tcPr marL="54864" marR="54864" marT="27432" marB="27432" anchor="ctr">
                    <a:solidFill>
                      <a:srgbClr val="F2F2F2"/>
                    </a:solidFill>
                  </a:tcPr>
                </a:tc>
              </a:tr>
              <a:tr h="566928">
                <a:tc>
                  <a:txBody>
                    <a:bodyPr wrap="square"/>
                    <a:lstStyle/>
                    <a:p>
                      <a:pPr algn="l"/>
                      <a:r>
                        <a:rPr sz="950" b="1" i="0">
                          <a:solidFill>
                            <a:srgbClr val="1F497D"/>
                          </a:solidFill>
                          <a:latin typeface="Arial"/>
                        </a:rPr>
                        <a:t>03 Garden Route and Klein Karoo</a:t>
                      </a:r>
                    </a:p>
                  </a:txBody>
                  <a:tcPr marL="54864" marR="54864" marT="27432" marB="27432" anchor="ctr">
                    <a:solidFill>
                      <a:srgbClr val="FFFFFF"/>
                    </a:solidFill>
                  </a:tcPr>
                </a:tc>
                <a:tc>
                  <a:txBody>
                    <a:bodyPr wrap="square"/>
                    <a:lstStyle/>
                    <a:p>
                      <a:pPr algn="l"/>
                      <a:r>
                        <a:rPr sz="950" b="0" i="0">
                          <a:solidFill>
                            <a:srgbClr val="404040"/>
                          </a:solidFill>
                          <a:latin typeface="Arial"/>
                        </a:rPr>
                        <a:t>Strongest multi-day international self-drive route</a:t>
                      </a:r>
                    </a:p>
                  </a:txBody>
                  <a:tcPr marL="54864" marR="54864" marT="27432" marB="27432" anchor="ctr">
                    <a:solidFill>
                      <a:srgbClr val="FFFFFF"/>
                    </a:solidFill>
                  </a:tcPr>
                </a:tc>
                <a:tc>
                  <a:txBody>
                    <a:bodyPr wrap="square"/>
                    <a:lstStyle/>
                    <a:p>
                      <a:pPr algn="l"/>
                      <a:r>
                        <a:rPr sz="950" b="0" i="0">
                          <a:solidFill>
                            <a:srgbClr val="404040"/>
                          </a:solidFill>
                          <a:latin typeface="Arial"/>
                        </a:rPr>
                        <a:t>Not scored</a:t>
                      </a:r>
                    </a:p>
                  </a:txBody>
                  <a:tcPr marL="54864" marR="54864" marT="27432" marB="27432" anchor="ctr">
                    <a:solidFill>
                      <a:srgbClr val="FFFFFF"/>
                    </a:solidFill>
                  </a:tcPr>
                </a:tc>
              </a:tr>
              <a:tr h="566928">
                <a:tc>
                  <a:txBody>
                    <a:bodyPr wrap="square"/>
                    <a:lstStyle/>
                    <a:p>
                      <a:pPr algn="l"/>
                      <a:r>
                        <a:rPr sz="950" b="1" i="0">
                          <a:solidFill>
                            <a:srgbClr val="1F497D"/>
                          </a:solidFill>
                          <a:latin typeface="Arial"/>
                        </a:rPr>
                        <a:t>04 Overberg / Whale Coast</a:t>
                      </a:r>
                    </a:p>
                  </a:txBody>
                  <a:tcPr marL="54864" marR="54864" marT="27432" marB="27432" anchor="ctr">
                    <a:solidFill>
                      <a:srgbClr val="F2F2F2"/>
                    </a:solidFill>
                  </a:tcPr>
                </a:tc>
                <a:tc>
                  <a:txBody>
                    <a:bodyPr wrap="square"/>
                    <a:lstStyle/>
                    <a:p>
                      <a:pPr algn="l"/>
                      <a:r>
                        <a:rPr sz="950" b="0" i="0">
                          <a:solidFill>
                            <a:srgbClr val="404040"/>
                          </a:solidFill>
                          <a:latin typeface="Arial"/>
                        </a:rPr>
                        <a:t>Coastal nature and whale-watching seasonal extension</a:t>
                      </a:r>
                    </a:p>
                  </a:txBody>
                  <a:tcPr marL="54864" marR="54864" marT="27432" marB="27432" anchor="ctr">
                    <a:solidFill>
                      <a:srgbClr val="F2F2F2"/>
                    </a:solidFill>
                  </a:tcPr>
                </a:tc>
                <a:tc>
                  <a:txBody>
                    <a:bodyPr wrap="square"/>
                    <a:lstStyle/>
                    <a:p>
                      <a:pPr algn="l"/>
                      <a:r>
                        <a:rPr sz="950" b="0" i="0">
                          <a:solidFill>
                            <a:srgbClr val="404040"/>
                          </a:solidFill>
                          <a:latin typeface="Arial"/>
                        </a:rPr>
                        <a:t>Not scored</a:t>
                      </a:r>
                    </a:p>
                  </a:txBody>
                  <a:tcPr marL="54864" marR="54864" marT="27432" marB="27432" anchor="ctr">
                    <a:solidFill>
                      <a:srgbClr val="F2F2F2"/>
                    </a:solidFill>
                  </a:tcPr>
                </a:tc>
              </a:tr>
              <a:tr h="566928">
                <a:tc>
                  <a:txBody>
                    <a:bodyPr wrap="square"/>
                    <a:lstStyle/>
                    <a:p>
                      <a:pPr algn="l"/>
                      <a:r>
                        <a:rPr sz="950" b="1" i="0">
                          <a:solidFill>
                            <a:srgbClr val="1F497D"/>
                          </a:solidFill>
                          <a:latin typeface="Arial"/>
                        </a:rPr>
                        <a:t>05 West Coast / Cederberg</a:t>
                      </a:r>
                    </a:p>
                  </a:txBody>
                  <a:tcPr marL="54864" marR="54864" marT="27432" marB="27432" anchor="ctr">
                    <a:solidFill>
                      <a:srgbClr val="FFFFFF"/>
                    </a:solidFill>
                  </a:tcPr>
                </a:tc>
                <a:tc>
                  <a:txBody>
                    <a:bodyPr wrap="square"/>
                    <a:lstStyle/>
                    <a:p>
                      <a:pPr algn="l"/>
                      <a:r>
                        <a:rPr sz="950" b="0" i="0">
                          <a:solidFill>
                            <a:srgbClr val="404040"/>
                          </a:solidFill>
                          <a:latin typeface="Arial"/>
                        </a:rPr>
                        <a:t>Nature, wildflower, food and slow travel</a:t>
                      </a:r>
                    </a:p>
                  </a:txBody>
                  <a:tcPr marL="54864" marR="54864" marT="27432" marB="27432" anchor="ctr">
                    <a:solidFill>
                      <a:srgbClr val="FFFFFF"/>
                    </a:solidFill>
                  </a:tcPr>
                </a:tc>
                <a:tc>
                  <a:txBody>
                    <a:bodyPr wrap="square"/>
                    <a:lstStyle/>
                    <a:p>
                      <a:pPr algn="l"/>
                      <a:r>
                        <a:rPr sz="950" b="0" i="0">
                          <a:solidFill>
                            <a:srgbClr val="404040"/>
                          </a:solidFill>
                          <a:latin typeface="Arial"/>
                        </a:rPr>
                        <a:t>Not scored</a:t>
                      </a:r>
                    </a:p>
                  </a:txBody>
                  <a:tcPr marL="54864" marR="54864" marT="27432" marB="27432" anchor="ctr">
                    <a:solidFill>
                      <a:srgbClr val="FFFFFF"/>
                    </a:solidFill>
                  </a:tcPr>
                </a:tc>
              </a:tr>
              <a:tr h="566928">
                <a:tc>
                  <a:txBody>
                    <a:bodyPr wrap="square"/>
                    <a:lstStyle/>
                    <a:p>
                      <a:pPr algn="l"/>
                      <a:r>
                        <a:rPr sz="950" b="1" i="0">
                          <a:solidFill>
                            <a:srgbClr val="1F497D"/>
                          </a:solidFill>
                          <a:latin typeface="Arial"/>
                        </a:rPr>
                        <a:t>06 Route 62 / Cape Karoo</a:t>
                      </a:r>
                    </a:p>
                  </a:txBody>
                  <a:tcPr marL="54864" marR="54864" marT="27432" marB="27432" anchor="ctr">
                    <a:solidFill>
                      <a:srgbClr val="F2F2F2"/>
                    </a:solidFill>
                  </a:tcPr>
                </a:tc>
                <a:tc>
                  <a:txBody>
                    <a:bodyPr wrap="square"/>
                    <a:lstStyle/>
                    <a:p>
                      <a:pPr algn="l"/>
                      <a:r>
                        <a:rPr sz="950" b="0" i="0">
                          <a:solidFill>
                            <a:srgbClr val="404040"/>
                          </a:solidFill>
                          <a:latin typeface="Arial"/>
                        </a:rPr>
                        <a:t>Inland alternative linking wine, small towns and Karoo landscapes</a:t>
                      </a:r>
                    </a:p>
                  </a:txBody>
                  <a:tcPr marL="54864" marR="54864" marT="27432" marB="27432" anchor="ctr">
                    <a:solidFill>
                      <a:srgbClr val="F2F2F2"/>
                    </a:solidFill>
                  </a:tcPr>
                </a:tc>
                <a:tc>
                  <a:txBody>
                    <a:bodyPr wrap="square"/>
                    <a:lstStyle/>
                    <a:p>
                      <a:pPr algn="l"/>
                      <a:r>
                        <a:rPr sz="950" b="0" i="0">
                          <a:solidFill>
                            <a:srgbClr val="404040"/>
                          </a:solidFill>
                          <a:latin typeface="Arial"/>
                        </a:rPr>
                        <a:t>Not scored</a:t>
                      </a:r>
                    </a:p>
                  </a:txBody>
                  <a:tcPr marL="54864" marR="54864" marT="27432" marB="27432" anchor="ctr">
                    <a:solidFill>
                      <a:srgbClr val="F2F2F2"/>
                    </a:solidFill>
                  </a:tcPr>
                </a:tc>
              </a:tr>
            </a:tbl>
          </a:graphicData>
        </a:graphic>
      </p:graphicFrame>
      <p:sp>
        <p:nvSpPr>
          <p:cNvPr id="9" name="Rectangle 8"/>
          <p:cNvSpPr/>
          <p:nvPr/>
        </p:nvSpPr>
        <p:spPr>
          <a:xfrm>
            <a:off x="8092440" y="1188720"/>
            <a:ext cx="3703320" cy="4206240"/>
          </a:xfrm>
          <a:prstGeom prst="rect">
            <a:avLst/>
          </a:prstGeom>
          <a:solidFill>
            <a:srgbClr val="F2F2F2"/>
          </a:solidFill>
          <a:ln>
            <a:noFill/>
          </a:ln>
        </p:spPr>
        <p:txBody>
          <a:bodyPr rtlCol="0" anchor="ctr"/>
          <a:lstStyle/>
          <a:p>
            <a:pPr algn="ctr"/>
          </a:p>
        </p:txBody>
      </p:sp>
      <p:sp>
        <p:nvSpPr>
          <p:cNvPr id="10" name="Rectangle 9"/>
          <p:cNvSpPr/>
          <p:nvPr/>
        </p:nvSpPr>
        <p:spPr>
          <a:xfrm>
            <a:off x="8092440" y="1188720"/>
            <a:ext cx="54864" cy="4206240"/>
          </a:xfrm>
          <a:prstGeom prst="rect">
            <a:avLst/>
          </a:prstGeom>
          <a:solidFill>
            <a:srgbClr val="00AEEF"/>
          </a:solidFill>
          <a:ln>
            <a:noFill/>
          </a:ln>
        </p:spPr>
        <p:txBody>
          <a:bodyPr rtlCol="0" anchor="ctr"/>
          <a:lstStyle/>
          <a:p>
            <a:pPr algn="ctr"/>
          </a:p>
        </p:txBody>
      </p:sp>
      <p:sp>
        <p:nvSpPr>
          <p:cNvPr id="11" name="TextBox 10"/>
          <p:cNvSpPr txBox="1"/>
          <p:nvPr/>
        </p:nvSpPr>
        <p:spPr>
          <a:xfrm>
            <a:off x="8257031"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Winelands: what the scorecard says to do</a:t>
            </a:r>
          </a:p>
        </p:txBody>
      </p:sp>
      <p:sp>
        <p:nvSpPr>
          <p:cNvPr id="12" name="TextBox 11"/>
          <p:cNvSpPr txBox="1"/>
          <p:nvPr/>
        </p:nvSpPr>
        <p:spPr>
          <a:xfrm>
            <a:off x="8257031" y="1600200"/>
            <a:ext cx="3429000" cy="3703320"/>
          </a:xfrm>
          <a:prstGeom prst="rect">
            <a:avLst/>
          </a:prstGeom>
          <a:noFill/>
        </p:spPr>
        <p:txBody>
          <a:bodyPr wrap="square" anchor="t" lIns="36576" rIns="36576" tIns="21945" bIns="21945">
            <a:spAutoFit/>
          </a:bodyPr>
          <a:lstStyle/>
          <a:p>
            <a:pPr algn="l" marL="146304" indent="-146304">
              <a:spcAft>
                <a:spcPts val="400"/>
              </a:spcAft>
              <a:buClr>
                <a:srgbClr val="00AEEF"/>
              </a:buClr>
              <a:buFont typeface="Arial"/>
              <a:buChar char="•"/>
            </a:pPr>
            <a:r>
              <a:rPr sz="1000" b="0" i="0">
                <a:solidFill>
                  <a:srgbClr val="404040"/>
                </a:solidFill>
                <a:latin typeface="Arial"/>
              </a:rPr>
              <a:t>Shift from destination marketing to ecosystem development.</a:t>
            </a:r>
          </a:p>
          <a:p>
            <a:pPr algn="l" marL="146304" indent="-146304">
              <a:spcAft>
                <a:spcPts val="400"/>
              </a:spcAft>
              <a:buClr>
                <a:srgbClr val="00AEEF"/>
              </a:buClr>
              <a:buFont typeface="Arial"/>
              <a:buChar char="•"/>
            </a:pPr>
            <a:r>
              <a:rPr sz="1000" b="0" i="0">
                <a:solidFill>
                  <a:srgbClr val="404040"/>
                </a:solidFill>
                <a:latin typeface="Arial"/>
              </a:rPr>
              <a:t>Integrated estate-to-estate and town-to-town mobility.</a:t>
            </a:r>
          </a:p>
          <a:p>
            <a:pPr algn="l" marL="146304" indent="-146304">
              <a:spcAft>
                <a:spcPts val="400"/>
              </a:spcAft>
              <a:buClr>
                <a:srgbClr val="00AEEF"/>
              </a:buClr>
              <a:buFont typeface="Arial"/>
              <a:buChar char="•"/>
            </a:pPr>
            <a:r>
              <a:rPr sz="1000" b="0" i="0">
                <a:solidFill>
                  <a:srgbClr val="404040"/>
                </a:solidFill>
                <a:latin typeface="Arial"/>
              </a:rPr>
              <a:t>Package wine, food, wellness and heritage into multi-day journeys.</a:t>
            </a:r>
          </a:p>
          <a:p>
            <a:pPr algn="l" marL="146304" indent="-146304">
              <a:spcAft>
                <a:spcPts val="400"/>
              </a:spcAft>
              <a:buClr>
                <a:srgbClr val="00AEEF"/>
              </a:buClr>
              <a:buFont typeface="Arial"/>
              <a:buChar char="•"/>
            </a:pPr>
            <a:r>
              <a:rPr sz="1000" b="0" i="0">
                <a:solidFill>
                  <a:srgbClr val="404040"/>
                </a:solidFill>
                <a:latin typeface="Arial"/>
              </a:rPr>
              <a:t>Position as year-round lifestyle, not only wine.</a:t>
            </a:r>
          </a:p>
          <a:p>
            <a:pPr algn="l" marL="146304" indent="-146304">
              <a:spcAft>
                <a:spcPts val="400"/>
              </a:spcAft>
              <a:buClr>
                <a:srgbClr val="00AEEF"/>
              </a:buClr>
              <a:buFont typeface="Arial"/>
              <a:buChar char="•"/>
            </a:pPr>
            <a:r>
              <a:rPr sz="1000" b="0" i="0">
                <a:solidFill>
                  <a:srgbClr val="404040"/>
                </a:solidFill>
                <a:latin typeface="Arial"/>
              </a:rPr>
              <a:t>Strengthen secondary nodes beyond Stellenbosch, Franschhoek and Paarl.</a:t>
            </a:r>
          </a:p>
        </p:txBody>
      </p:sp>
      <p:sp>
        <p:nvSpPr>
          <p:cNvPr id="13" name="Rectangle 12"/>
          <p:cNvSpPr/>
          <p:nvPr/>
        </p:nvSpPr>
        <p:spPr>
          <a:xfrm>
            <a:off x="384048" y="5577840"/>
            <a:ext cx="11420856" cy="457200"/>
          </a:xfrm>
          <a:prstGeom prst="rect">
            <a:avLst/>
          </a:prstGeom>
          <a:solidFill>
            <a:srgbClr val="1F497D"/>
          </a:solidFill>
          <a:ln>
            <a:noFill/>
          </a:ln>
        </p:spPr>
        <p:txBody>
          <a:bodyPr rtlCol="0" anchor="ctr"/>
          <a:lstStyle/>
          <a:p>
            <a:pPr algn="ctr"/>
          </a:p>
        </p:txBody>
      </p:sp>
      <p:sp>
        <p:nvSpPr>
          <p:cNvPr id="14" name="TextBox 13"/>
          <p:cNvSpPr txBox="1"/>
          <p:nvPr/>
        </p:nvSpPr>
        <p:spPr>
          <a:xfrm>
            <a:off x="548640" y="557784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Score all six routes and invest by route: it is how visitors travel and how the roadmap should read.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Supply hypotheses hold strongly; the open questions are sequencing and who pays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TRANSFORM SUPPLY | VERDICT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Infrastructure Report (Jun 2026); MIDAS Aviation Market Assessment (Mar 2026); Stakeholder Insights Report (Mar 2026); mobility factbase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097280"/>
            <a:ext cx="11420856" cy="274320"/>
          </a:xfrm>
          <a:prstGeom prst="rect">
            <a:avLst/>
          </a:prstGeom>
          <a:solidFill>
            <a:srgbClr val="1F497D"/>
          </a:solidFill>
          <a:ln>
            <a:noFill/>
          </a:ln>
        </p:spPr>
        <p:txBody>
          <a:bodyPr rtlCol="0" anchor="ctr"/>
          <a:lstStyle/>
          <a:p>
            <a:pPr algn="ctr"/>
          </a:p>
        </p:txBody>
      </p:sp>
      <p:sp>
        <p:nvSpPr>
          <p:cNvPr id="9" name="TextBox 8"/>
          <p:cNvSpPr txBox="1"/>
          <p:nvPr/>
        </p:nvSpPr>
        <p:spPr>
          <a:xfrm>
            <a:off x="420623" y="1097280"/>
            <a:ext cx="245973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Focus area (v4 tree)</a:t>
            </a:r>
          </a:p>
        </p:txBody>
      </p:sp>
      <p:sp>
        <p:nvSpPr>
          <p:cNvPr id="10" name="TextBox 9"/>
          <p:cNvSpPr txBox="1"/>
          <p:nvPr/>
        </p:nvSpPr>
        <p:spPr>
          <a:xfrm>
            <a:off x="2935224" y="1097280"/>
            <a:ext cx="7223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Team marker</a:t>
            </a:r>
          </a:p>
        </p:txBody>
      </p:sp>
      <p:sp>
        <p:nvSpPr>
          <p:cNvPr id="11" name="TextBox 10"/>
          <p:cNvSpPr txBox="1"/>
          <p:nvPr/>
        </p:nvSpPr>
        <p:spPr>
          <a:xfrm>
            <a:off x="3712463" y="1097280"/>
            <a:ext cx="124358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Our verdict</a:t>
            </a:r>
          </a:p>
        </p:txBody>
      </p:sp>
      <p:sp>
        <p:nvSpPr>
          <p:cNvPr id="12" name="TextBox 11"/>
          <p:cNvSpPr txBox="1"/>
          <p:nvPr/>
        </p:nvSpPr>
        <p:spPr>
          <a:xfrm>
            <a:off x="5010912" y="1097280"/>
            <a:ext cx="69494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Evidence</a:t>
            </a:r>
          </a:p>
        </p:txBody>
      </p:sp>
      <p:sp>
        <p:nvSpPr>
          <p:cNvPr id="13" name="TextBox 12"/>
          <p:cNvSpPr txBox="1"/>
          <p:nvPr/>
        </p:nvSpPr>
        <p:spPr>
          <a:xfrm>
            <a:off x="5760720" y="1097280"/>
            <a:ext cx="319125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What the evidence shows</a:t>
            </a:r>
          </a:p>
        </p:txBody>
      </p:sp>
      <p:sp>
        <p:nvSpPr>
          <p:cNvPr id="14" name="TextBox 13"/>
          <p:cNvSpPr txBox="1"/>
          <p:nvPr/>
        </p:nvSpPr>
        <p:spPr>
          <a:xfrm>
            <a:off x="9006839" y="1097280"/>
            <a:ext cx="27797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So what</a:t>
            </a:r>
          </a:p>
        </p:txBody>
      </p:sp>
      <p:sp>
        <p:nvSpPr>
          <p:cNvPr id="15" name="TextBox 14"/>
          <p:cNvSpPr txBox="1"/>
          <p:nvPr/>
        </p:nvSpPr>
        <p:spPr>
          <a:xfrm>
            <a:off x="384048" y="1408176"/>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ACCESSIBILITY, CONNECTIVITY AND INFRASTRUCTURE</a:t>
            </a:r>
          </a:p>
        </p:txBody>
      </p:sp>
      <p:sp>
        <p:nvSpPr>
          <p:cNvPr id="16" name="TextBox 15"/>
          <p:cNvSpPr txBox="1"/>
          <p:nvPr/>
        </p:nvSpPr>
        <p:spPr>
          <a:xfrm>
            <a:off x="402336" y="1636776"/>
            <a:ext cx="2459736" cy="676656"/>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2a  </a:t>
            </a:r>
            <a:r>
              <a:rPr sz="1000" b="1" i="0">
                <a:solidFill>
                  <a:srgbClr val="1F497D"/>
                </a:solidFill>
                <a:latin typeface="Arial"/>
              </a:rPr>
              <a:t>Close the air access and cruise capacity gaps</a:t>
            </a:r>
          </a:p>
        </p:txBody>
      </p:sp>
      <p:sp>
        <p:nvSpPr>
          <p:cNvPr id="17" name="Oval 16"/>
          <p:cNvSpPr/>
          <p:nvPr/>
        </p:nvSpPr>
        <p:spPr>
          <a:xfrm>
            <a:off x="2944368" y="1929384"/>
            <a:ext cx="91440" cy="91440"/>
          </a:xfrm>
          <a:prstGeom prst="ellipse">
            <a:avLst/>
          </a:prstGeom>
          <a:solidFill>
            <a:srgbClr val="156082"/>
          </a:solidFill>
          <a:ln>
            <a:noFill/>
          </a:ln>
        </p:spPr>
        <p:txBody>
          <a:bodyPr rtlCol="0" anchor="ctr"/>
          <a:lstStyle/>
          <a:p>
            <a:pPr algn="ctr"/>
          </a:p>
        </p:txBody>
      </p:sp>
      <p:sp>
        <p:nvSpPr>
          <p:cNvPr id="18" name="TextBox 17"/>
          <p:cNvSpPr txBox="1"/>
          <p:nvPr/>
        </p:nvSpPr>
        <p:spPr>
          <a:xfrm>
            <a:off x="3063240" y="1636776"/>
            <a:ext cx="594359" cy="676656"/>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19" name="Rounded Rectangle 18"/>
          <p:cNvSpPr/>
          <p:nvPr/>
        </p:nvSpPr>
        <p:spPr>
          <a:xfrm>
            <a:off x="3703320" y="1856232"/>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20" name="Oval 19"/>
          <p:cNvSpPr/>
          <p:nvPr/>
        </p:nvSpPr>
        <p:spPr>
          <a:xfrm>
            <a:off x="5047488" y="1924812"/>
            <a:ext cx="100584" cy="100584"/>
          </a:xfrm>
          <a:prstGeom prst="ellipse">
            <a:avLst/>
          </a:prstGeom>
          <a:solidFill>
            <a:srgbClr val="1F497D"/>
          </a:solidFill>
          <a:ln w="9525">
            <a:solidFill>
              <a:srgbClr val="1F497D"/>
            </a:solidFill>
          </a:ln>
        </p:spPr>
        <p:txBody>
          <a:bodyPr rtlCol="0" anchor="ctr"/>
          <a:lstStyle/>
          <a:p>
            <a:pPr algn="ctr"/>
          </a:p>
        </p:txBody>
      </p:sp>
      <p:sp>
        <p:nvSpPr>
          <p:cNvPr id="21" name="Oval 20"/>
          <p:cNvSpPr/>
          <p:nvPr/>
        </p:nvSpPr>
        <p:spPr>
          <a:xfrm>
            <a:off x="5184648" y="1924812"/>
            <a:ext cx="100584" cy="100584"/>
          </a:xfrm>
          <a:prstGeom prst="ellipse">
            <a:avLst/>
          </a:prstGeom>
          <a:solidFill>
            <a:srgbClr val="1F497D"/>
          </a:solidFill>
          <a:ln w="9525">
            <a:solidFill>
              <a:srgbClr val="1F497D"/>
            </a:solidFill>
          </a:ln>
        </p:spPr>
        <p:txBody>
          <a:bodyPr rtlCol="0" anchor="ctr"/>
          <a:lstStyle/>
          <a:p>
            <a:pPr algn="ctr"/>
          </a:p>
        </p:txBody>
      </p:sp>
      <p:sp>
        <p:nvSpPr>
          <p:cNvPr id="22" name="Oval 21"/>
          <p:cNvSpPr/>
          <p:nvPr/>
        </p:nvSpPr>
        <p:spPr>
          <a:xfrm>
            <a:off x="5321807" y="1924812"/>
            <a:ext cx="100584" cy="100584"/>
          </a:xfrm>
          <a:prstGeom prst="ellipse">
            <a:avLst/>
          </a:prstGeom>
          <a:solidFill>
            <a:srgbClr val="1F497D"/>
          </a:solidFill>
          <a:ln w="9525">
            <a:solidFill>
              <a:srgbClr val="1F497D"/>
            </a:solidFill>
          </a:ln>
        </p:spPr>
        <p:txBody>
          <a:bodyPr rtlCol="0" anchor="ctr"/>
          <a:lstStyle/>
          <a:p>
            <a:pPr algn="ctr"/>
          </a:p>
        </p:txBody>
      </p:sp>
      <p:sp>
        <p:nvSpPr>
          <p:cNvPr id="23" name="TextBox 22"/>
          <p:cNvSpPr txBox="1"/>
          <p:nvPr/>
        </p:nvSpPr>
        <p:spPr>
          <a:xfrm>
            <a:off x="5724144" y="1636776"/>
            <a:ext cx="3172968" cy="676656"/>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17 new mainline routes (2015-25) lead the peer group; cruise calls reached 79 in 2024/25; airlines now prefer fares to seats and bilaterals cap airlift.</a:t>
            </a:r>
          </a:p>
        </p:txBody>
      </p:sp>
      <p:sp>
        <p:nvSpPr>
          <p:cNvPr id="24" name="TextBox 23"/>
          <p:cNvSpPr txBox="1"/>
          <p:nvPr/>
        </p:nvSpPr>
        <p:spPr>
          <a:xfrm>
            <a:off x="8970263" y="1636776"/>
            <a:ext cx="2798064" cy="676656"/>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Shift from winning routes to underwriting frequency; extend the Air Access model to cruise.</a:t>
            </a:r>
          </a:p>
        </p:txBody>
      </p:sp>
      <p:cxnSp>
        <p:nvCxnSpPr>
          <p:cNvPr id="25" name="Connector 24"/>
          <p:cNvCxnSpPr/>
          <p:nvPr/>
        </p:nvCxnSpPr>
        <p:spPr>
          <a:xfrm>
            <a:off x="384048" y="231343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2336" y="2313432"/>
            <a:ext cx="2459736" cy="676656"/>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2b  </a:t>
            </a:r>
            <a:r>
              <a:rPr sz="1000" b="1" i="0">
                <a:solidFill>
                  <a:srgbClr val="1F497D"/>
                </a:solidFill>
                <a:latin typeface="Arial"/>
              </a:rPr>
              <a:t>Accelerate tourism-enabling internal mobility</a:t>
            </a:r>
          </a:p>
        </p:txBody>
      </p:sp>
      <p:sp>
        <p:nvSpPr>
          <p:cNvPr id="27" name="Oval 26"/>
          <p:cNvSpPr/>
          <p:nvPr/>
        </p:nvSpPr>
        <p:spPr>
          <a:xfrm>
            <a:off x="2944368" y="2606040"/>
            <a:ext cx="91440" cy="91440"/>
          </a:xfrm>
          <a:prstGeom prst="ellipse">
            <a:avLst/>
          </a:prstGeom>
          <a:solidFill>
            <a:srgbClr val="156082"/>
          </a:solidFill>
          <a:ln>
            <a:noFill/>
          </a:ln>
        </p:spPr>
        <p:txBody>
          <a:bodyPr rtlCol="0" anchor="ctr"/>
          <a:lstStyle/>
          <a:p>
            <a:pPr algn="ctr"/>
          </a:p>
        </p:txBody>
      </p:sp>
      <p:sp>
        <p:nvSpPr>
          <p:cNvPr id="28" name="TextBox 27"/>
          <p:cNvSpPr txBox="1"/>
          <p:nvPr/>
        </p:nvSpPr>
        <p:spPr>
          <a:xfrm>
            <a:off x="3063240" y="2313432"/>
            <a:ext cx="594359" cy="676656"/>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29" name="Rounded Rectangle 28"/>
          <p:cNvSpPr/>
          <p:nvPr/>
        </p:nvSpPr>
        <p:spPr>
          <a:xfrm>
            <a:off x="3703320" y="2532888"/>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30" name="Oval 29"/>
          <p:cNvSpPr/>
          <p:nvPr/>
        </p:nvSpPr>
        <p:spPr>
          <a:xfrm>
            <a:off x="5047488" y="2601468"/>
            <a:ext cx="100584" cy="100584"/>
          </a:xfrm>
          <a:prstGeom prst="ellipse">
            <a:avLst/>
          </a:prstGeom>
          <a:solidFill>
            <a:srgbClr val="1F497D"/>
          </a:solidFill>
          <a:ln w="9525">
            <a:solidFill>
              <a:srgbClr val="1F497D"/>
            </a:solidFill>
          </a:ln>
        </p:spPr>
        <p:txBody>
          <a:bodyPr rtlCol="0" anchor="ctr"/>
          <a:lstStyle/>
          <a:p>
            <a:pPr algn="ctr"/>
          </a:p>
        </p:txBody>
      </p:sp>
      <p:sp>
        <p:nvSpPr>
          <p:cNvPr id="31" name="Oval 30"/>
          <p:cNvSpPr/>
          <p:nvPr/>
        </p:nvSpPr>
        <p:spPr>
          <a:xfrm>
            <a:off x="5184648" y="2601468"/>
            <a:ext cx="100584" cy="100584"/>
          </a:xfrm>
          <a:prstGeom prst="ellipse">
            <a:avLst/>
          </a:prstGeom>
          <a:solidFill>
            <a:srgbClr val="1F497D"/>
          </a:solidFill>
          <a:ln w="9525">
            <a:solidFill>
              <a:srgbClr val="1F497D"/>
            </a:solidFill>
          </a:ln>
        </p:spPr>
        <p:txBody>
          <a:bodyPr rtlCol="0" anchor="ctr"/>
          <a:lstStyle/>
          <a:p>
            <a:pPr algn="ctr"/>
          </a:p>
        </p:txBody>
      </p:sp>
      <p:sp>
        <p:nvSpPr>
          <p:cNvPr id="32" name="Oval 31"/>
          <p:cNvSpPr/>
          <p:nvPr/>
        </p:nvSpPr>
        <p:spPr>
          <a:xfrm>
            <a:off x="5321807" y="2601468"/>
            <a:ext cx="100584" cy="100584"/>
          </a:xfrm>
          <a:prstGeom prst="ellipse">
            <a:avLst/>
          </a:prstGeom>
          <a:solidFill>
            <a:srgbClr val="1F497D"/>
          </a:solidFill>
          <a:ln w="9525">
            <a:solidFill>
              <a:srgbClr val="1F497D"/>
            </a:solidFill>
          </a:ln>
        </p:spPr>
        <p:txBody>
          <a:bodyPr rtlCol="0" anchor="ctr"/>
          <a:lstStyle/>
          <a:p>
            <a:pPr algn="ctr"/>
          </a:p>
        </p:txBody>
      </p:sp>
      <p:sp>
        <p:nvSpPr>
          <p:cNvPr id="33" name="TextBox 32"/>
          <p:cNvSpPr txBox="1"/>
          <p:nvPr/>
        </p:nvSpPr>
        <p:spPr>
          <a:xfrm>
            <a:off x="5724144" y="2313432"/>
            <a:ext cx="3172968" cy="676656"/>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Accessibility scores fall from 4.7 (Metro) to 1.0 (Central Karoo); tourists use public transport for 1.6% of trips.</a:t>
            </a:r>
          </a:p>
        </p:txBody>
      </p:sp>
      <p:sp>
        <p:nvSpPr>
          <p:cNvPr id="34" name="TextBox 33"/>
          <p:cNvSpPr txBox="1"/>
          <p:nvPr/>
        </p:nvSpPr>
        <p:spPr>
          <a:xfrm>
            <a:off x="8970263" y="2313432"/>
            <a:ext cx="2798064" cy="676656"/>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Back curated shuttles and self-drive readiness on priority corridors.</a:t>
            </a:r>
          </a:p>
        </p:txBody>
      </p:sp>
      <p:cxnSp>
        <p:nvCxnSpPr>
          <p:cNvPr id="35" name="Connector 34"/>
          <p:cNvCxnSpPr/>
          <p:nvPr/>
        </p:nvCxnSpPr>
        <p:spPr>
          <a:xfrm>
            <a:off x="384048" y="2990088"/>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02336" y="2990088"/>
            <a:ext cx="2459736" cy="676656"/>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2c  </a:t>
            </a:r>
            <a:r>
              <a:rPr sz="1000" b="1" i="0">
                <a:solidFill>
                  <a:srgbClr val="1F497D"/>
                </a:solidFill>
                <a:latin typeface="Arial"/>
              </a:rPr>
              <a:t>Lead removal of infrastructure, visa and safety deficits</a:t>
            </a:r>
          </a:p>
        </p:txBody>
      </p:sp>
      <p:sp>
        <p:nvSpPr>
          <p:cNvPr id="37" name="Oval 36"/>
          <p:cNvSpPr/>
          <p:nvPr/>
        </p:nvSpPr>
        <p:spPr>
          <a:xfrm>
            <a:off x="2944368" y="3282696"/>
            <a:ext cx="91440" cy="91440"/>
          </a:xfrm>
          <a:prstGeom prst="ellipse">
            <a:avLst/>
          </a:prstGeom>
          <a:solidFill>
            <a:srgbClr val="156082"/>
          </a:solidFill>
          <a:ln>
            <a:noFill/>
          </a:ln>
        </p:spPr>
        <p:txBody>
          <a:bodyPr rtlCol="0" anchor="ctr"/>
          <a:lstStyle/>
          <a:p>
            <a:pPr algn="ctr"/>
          </a:p>
        </p:txBody>
      </p:sp>
      <p:sp>
        <p:nvSpPr>
          <p:cNvPr id="38" name="TextBox 37"/>
          <p:cNvSpPr txBox="1"/>
          <p:nvPr/>
        </p:nvSpPr>
        <p:spPr>
          <a:xfrm>
            <a:off x="3063240" y="2990088"/>
            <a:ext cx="594359" cy="676656"/>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39" name="Rounded Rectangle 38"/>
          <p:cNvSpPr/>
          <p:nvPr/>
        </p:nvSpPr>
        <p:spPr>
          <a:xfrm>
            <a:off x="3703320" y="3209544"/>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40" name="Oval 39"/>
          <p:cNvSpPr/>
          <p:nvPr/>
        </p:nvSpPr>
        <p:spPr>
          <a:xfrm>
            <a:off x="5047488" y="3278124"/>
            <a:ext cx="100584" cy="100584"/>
          </a:xfrm>
          <a:prstGeom prst="ellipse">
            <a:avLst/>
          </a:prstGeom>
          <a:solidFill>
            <a:srgbClr val="1F497D"/>
          </a:solidFill>
          <a:ln w="9525">
            <a:solidFill>
              <a:srgbClr val="1F497D"/>
            </a:solidFill>
          </a:ln>
        </p:spPr>
        <p:txBody>
          <a:bodyPr rtlCol="0" anchor="ctr"/>
          <a:lstStyle/>
          <a:p>
            <a:pPr algn="ctr"/>
          </a:p>
        </p:txBody>
      </p:sp>
      <p:sp>
        <p:nvSpPr>
          <p:cNvPr id="41" name="Oval 40"/>
          <p:cNvSpPr/>
          <p:nvPr/>
        </p:nvSpPr>
        <p:spPr>
          <a:xfrm>
            <a:off x="5184648" y="3278124"/>
            <a:ext cx="100584" cy="100584"/>
          </a:xfrm>
          <a:prstGeom prst="ellipse">
            <a:avLst/>
          </a:prstGeom>
          <a:solidFill>
            <a:srgbClr val="1F497D"/>
          </a:solidFill>
          <a:ln w="9525">
            <a:solidFill>
              <a:srgbClr val="1F497D"/>
            </a:solidFill>
          </a:ln>
        </p:spPr>
        <p:txBody>
          <a:bodyPr rtlCol="0" anchor="ctr"/>
          <a:lstStyle/>
          <a:p>
            <a:pPr algn="ctr"/>
          </a:p>
        </p:txBody>
      </p:sp>
      <p:sp>
        <p:nvSpPr>
          <p:cNvPr id="42" name="Oval 41"/>
          <p:cNvSpPr/>
          <p:nvPr/>
        </p:nvSpPr>
        <p:spPr>
          <a:xfrm>
            <a:off x="5321807" y="3278124"/>
            <a:ext cx="100584" cy="100584"/>
          </a:xfrm>
          <a:prstGeom prst="ellipse">
            <a:avLst/>
          </a:prstGeom>
          <a:solidFill>
            <a:srgbClr val="1F497D"/>
          </a:solidFill>
          <a:ln w="9525">
            <a:solidFill>
              <a:srgbClr val="1F497D"/>
            </a:solidFill>
          </a:ln>
        </p:spPr>
        <p:txBody>
          <a:bodyPr rtlCol="0" anchor="ctr"/>
          <a:lstStyle/>
          <a:p>
            <a:pPr algn="ctr"/>
          </a:p>
        </p:txBody>
      </p:sp>
      <p:sp>
        <p:nvSpPr>
          <p:cNvPr id="43" name="TextBox 42"/>
          <p:cNvSpPr txBox="1"/>
          <p:nvPr/>
        </p:nvSpPr>
        <p:spPr>
          <a:xfrm>
            <a:off x="5724144" y="2990088"/>
            <a:ext cx="3172968" cy="676656"/>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Safety-perception gaps in 9 of 20 priority communities; the first-year eVisa approved 440 of 13,887 applications.</a:t>
            </a:r>
          </a:p>
        </p:txBody>
      </p:sp>
      <p:sp>
        <p:nvSpPr>
          <p:cNvPr id="44" name="TextBox 43"/>
          <p:cNvSpPr txBox="1"/>
          <p:nvPr/>
        </p:nvSpPr>
        <p:spPr>
          <a:xfrm>
            <a:off x="8970263" y="2990088"/>
            <a:ext cx="2798064" cy="676656"/>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Advocate with evidence; name national owners.</a:t>
            </a:r>
          </a:p>
        </p:txBody>
      </p:sp>
      <p:cxnSp>
        <p:nvCxnSpPr>
          <p:cNvPr id="45" name="Connector 44"/>
          <p:cNvCxnSpPr/>
          <p:nvPr/>
        </p:nvCxnSpPr>
        <p:spPr>
          <a:xfrm>
            <a:off x="384048" y="366674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84048" y="3666744"/>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PRODUCT AND DESTINATION CAPACITY</a:t>
            </a:r>
          </a:p>
        </p:txBody>
      </p:sp>
      <p:sp>
        <p:nvSpPr>
          <p:cNvPr id="47" name="TextBox 46"/>
          <p:cNvSpPr txBox="1"/>
          <p:nvPr/>
        </p:nvSpPr>
        <p:spPr>
          <a:xfrm>
            <a:off x="402336" y="3895344"/>
            <a:ext cx="2459736" cy="676656"/>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2d  </a:t>
            </a:r>
            <a:r>
              <a:rPr sz="1000" b="1" i="0">
                <a:solidFill>
                  <a:srgbClr val="1F497D"/>
                </a:solidFill>
                <a:latin typeface="Arial"/>
              </a:rPr>
              <a:t>Support diversified route and product development</a:t>
            </a:r>
          </a:p>
        </p:txBody>
      </p:sp>
      <p:sp>
        <p:nvSpPr>
          <p:cNvPr id="48" name="Oval 47"/>
          <p:cNvSpPr/>
          <p:nvPr/>
        </p:nvSpPr>
        <p:spPr>
          <a:xfrm>
            <a:off x="2944368" y="4187952"/>
            <a:ext cx="91440" cy="91440"/>
          </a:xfrm>
          <a:prstGeom prst="ellipse">
            <a:avLst/>
          </a:prstGeom>
          <a:solidFill>
            <a:srgbClr val="156082"/>
          </a:solidFill>
          <a:ln>
            <a:noFill/>
          </a:ln>
        </p:spPr>
        <p:txBody>
          <a:bodyPr rtlCol="0" anchor="ctr"/>
          <a:lstStyle/>
          <a:p>
            <a:pPr algn="ctr"/>
          </a:p>
        </p:txBody>
      </p:sp>
      <p:sp>
        <p:nvSpPr>
          <p:cNvPr id="49" name="TextBox 48"/>
          <p:cNvSpPr txBox="1"/>
          <p:nvPr/>
        </p:nvSpPr>
        <p:spPr>
          <a:xfrm>
            <a:off x="3063240" y="3895344"/>
            <a:ext cx="594359" cy="676656"/>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50" name="Rounded Rectangle 49"/>
          <p:cNvSpPr/>
          <p:nvPr/>
        </p:nvSpPr>
        <p:spPr>
          <a:xfrm>
            <a:off x="3703320" y="4114800"/>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51" name="Oval 50"/>
          <p:cNvSpPr/>
          <p:nvPr/>
        </p:nvSpPr>
        <p:spPr>
          <a:xfrm>
            <a:off x="5047488" y="4183380"/>
            <a:ext cx="100584" cy="100584"/>
          </a:xfrm>
          <a:prstGeom prst="ellipse">
            <a:avLst/>
          </a:prstGeom>
          <a:solidFill>
            <a:srgbClr val="1F497D"/>
          </a:solidFill>
          <a:ln w="9525">
            <a:solidFill>
              <a:srgbClr val="1F497D"/>
            </a:solidFill>
          </a:ln>
        </p:spPr>
        <p:txBody>
          <a:bodyPr rtlCol="0" anchor="ctr"/>
          <a:lstStyle/>
          <a:p>
            <a:pPr algn="ctr"/>
          </a:p>
        </p:txBody>
      </p:sp>
      <p:sp>
        <p:nvSpPr>
          <p:cNvPr id="52" name="Oval 51"/>
          <p:cNvSpPr/>
          <p:nvPr/>
        </p:nvSpPr>
        <p:spPr>
          <a:xfrm>
            <a:off x="5184648" y="4183380"/>
            <a:ext cx="100584" cy="100584"/>
          </a:xfrm>
          <a:prstGeom prst="ellipse">
            <a:avLst/>
          </a:prstGeom>
          <a:solidFill>
            <a:srgbClr val="1F497D"/>
          </a:solidFill>
          <a:ln w="9525">
            <a:solidFill>
              <a:srgbClr val="1F497D"/>
            </a:solidFill>
          </a:ln>
        </p:spPr>
        <p:txBody>
          <a:bodyPr rtlCol="0" anchor="ctr"/>
          <a:lstStyle/>
          <a:p>
            <a:pPr algn="ctr"/>
          </a:p>
        </p:txBody>
      </p:sp>
      <p:sp>
        <p:nvSpPr>
          <p:cNvPr id="53" name="Oval 52"/>
          <p:cNvSpPr/>
          <p:nvPr/>
        </p:nvSpPr>
        <p:spPr>
          <a:xfrm>
            <a:off x="5321807" y="4183380"/>
            <a:ext cx="100584" cy="100584"/>
          </a:xfrm>
          <a:prstGeom prst="ellipse">
            <a:avLst/>
          </a:prstGeom>
          <a:solidFill>
            <a:srgbClr val="1F497D"/>
          </a:solidFill>
          <a:ln w="9525">
            <a:solidFill>
              <a:srgbClr val="1F497D"/>
            </a:solidFill>
          </a:ln>
        </p:spPr>
        <p:txBody>
          <a:bodyPr rtlCol="0" anchor="ctr"/>
          <a:lstStyle/>
          <a:p>
            <a:pPr algn="ctr"/>
          </a:p>
        </p:txBody>
      </p:sp>
      <p:sp>
        <p:nvSpPr>
          <p:cNvPr id="54" name="TextBox 53"/>
          <p:cNvSpPr txBox="1"/>
          <p:nvPr/>
        </p:nvSpPr>
        <p:spPr>
          <a:xfrm>
            <a:off x="5724144" y="3895344"/>
            <a:ext cx="3172968" cy="676656"/>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Overberg and West Coast marine and wildflower assets have no guided tours, interpretation or bookable product.</a:t>
            </a:r>
          </a:p>
        </p:txBody>
      </p:sp>
      <p:sp>
        <p:nvSpPr>
          <p:cNvPr id="55" name="TextBox 54"/>
          <p:cNvSpPr txBox="1"/>
          <p:nvPr/>
        </p:nvSpPr>
        <p:spPr>
          <a:xfrm>
            <a:off x="8970263" y="3895344"/>
            <a:ext cx="2798064" cy="676656"/>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Activate existing assets before building new ones.</a:t>
            </a:r>
          </a:p>
        </p:txBody>
      </p:sp>
      <p:cxnSp>
        <p:nvCxnSpPr>
          <p:cNvPr id="56" name="Connector 55"/>
          <p:cNvCxnSpPr/>
          <p:nvPr/>
        </p:nvCxnSpPr>
        <p:spPr>
          <a:xfrm>
            <a:off x="384048" y="4572000"/>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02336" y="4572000"/>
            <a:ext cx="2459736" cy="676656"/>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2e  </a:t>
            </a:r>
            <a:r>
              <a:rPr sz="1000" b="1" i="0">
                <a:solidFill>
                  <a:srgbClr val="1F497D"/>
                </a:solidFill>
                <a:latin typeface="Arial"/>
              </a:rPr>
              <a:t>Align visitor experience in-destination</a:t>
            </a:r>
          </a:p>
        </p:txBody>
      </p:sp>
      <p:sp>
        <p:nvSpPr>
          <p:cNvPr id="58" name="Oval 57"/>
          <p:cNvSpPr/>
          <p:nvPr/>
        </p:nvSpPr>
        <p:spPr>
          <a:xfrm>
            <a:off x="2944368" y="4864608"/>
            <a:ext cx="91440" cy="91440"/>
          </a:xfrm>
          <a:prstGeom prst="ellipse">
            <a:avLst/>
          </a:prstGeom>
          <a:solidFill>
            <a:srgbClr val="156082"/>
          </a:solidFill>
          <a:ln>
            <a:noFill/>
          </a:ln>
        </p:spPr>
        <p:txBody>
          <a:bodyPr rtlCol="0" anchor="ctr"/>
          <a:lstStyle/>
          <a:p>
            <a:pPr algn="ctr"/>
          </a:p>
        </p:txBody>
      </p:sp>
      <p:sp>
        <p:nvSpPr>
          <p:cNvPr id="59" name="TextBox 58"/>
          <p:cNvSpPr txBox="1"/>
          <p:nvPr/>
        </p:nvSpPr>
        <p:spPr>
          <a:xfrm>
            <a:off x="3063240" y="4572000"/>
            <a:ext cx="594359" cy="676656"/>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60" name="Rounded Rectangle 59"/>
          <p:cNvSpPr/>
          <p:nvPr/>
        </p:nvSpPr>
        <p:spPr>
          <a:xfrm>
            <a:off x="3703320" y="4791456"/>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61" name="Oval 60"/>
          <p:cNvSpPr/>
          <p:nvPr/>
        </p:nvSpPr>
        <p:spPr>
          <a:xfrm>
            <a:off x="5047488" y="4860036"/>
            <a:ext cx="100584" cy="100584"/>
          </a:xfrm>
          <a:prstGeom prst="ellipse">
            <a:avLst/>
          </a:prstGeom>
          <a:solidFill>
            <a:srgbClr val="1F497D"/>
          </a:solidFill>
          <a:ln w="9525">
            <a:solidFill>
              <a:srgbClr val="1F497D"/>
            </a:solidFill>
          </a:ln>
        </p:spPr>
        <p:txBody>
          <a:bodyPr rtlCol="0" anchor="ctr"/>
          <a:lstStyle/>
          <a:p>
            <a:pPr algn="ctr"/>
          </a:p>
        </p:txBody>
      </p:sp>
      <p:sp>
        <p:nvSpPr>
          <p:cNvPr id="62" name="Oval 61"/>
          <p:cNvSpPr/>
          <p:nvPr/>
        </p:nvSpPr>
        <p:spPr>
          <a:xfrm>
            <a:off x="5184648" y="4860036"/>
            <a:ext cx="100584" cy="100584"/>
          </a:xfrm>
          <a:prstGeom prst="ellipse">
            <a:avLst/>
          </a:prstGeom>
          <a:solidFill>
            <a:srgbClr val="1F497D"/>
          </a:solidFill>
          <a:ln w="9525">
            <a:solidFill>
              <a:srgbClr val="1F497D"/>
            </a:solidFill>
          </a:ln>
        </p:spPr>
        <p:txBody>
          <a:bodyPr rtlCol="0" anchor="ctr"/>
          <a:lstStyle/>
          <a:p>
            <a:pPr algn="ctr"/>
          </a:p>
        </p:txBody>
      </p:sp>
      <p:sp>
        <p:nvSpPr>
          <p:cNvPr id="63" name="Oval 62"/>
          <p:cNvSpPr/>
          <p:nvPr/>
        </p:nvSpPr>
        <p:spPr>
          <a:xfrm>
            <a:off x="5321807" y="4860036"/>
            <a:ext cx="100584" cy="100584"/>
          </a:xfrm>
          <a:prstGeom prst="ellipse">
            <a:avLst/>
          </a:prstGeom>
          <a:solidFill>
            <a:srgbClr val="FFFFFF"/>
          </a:solidFill>
          <a:ln w="9525">
            <a:solidFill>
              <a:srgbClr val="1F497D"/>
            </a:solidFill>
          </a:ln>
        </p:spPr>
        <p:txBody>
          <a:bodyPr rtlCol="0" anchor="ctr"/>
          <a:lstStyle/>
          <a:p>
            <a:pPr algn="ctr"/>
          </a:p>
        </p:txBody>
      </p:sp>
      <p:sp>
        <p:nvSpPr>
          <p:cNvPr id="64" name="TextBox 63"/>
          <p:cNvSpPr txBox="1"/>
          <p:nvPr/>
        </p:nvSpPr>
        <p:spPr>
          <a:xfrm>
            <a:off x="5724144" y="4572000"/>
            <a:ext cx="3172968" cy="676656"/>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No mid-scale branded accommodation province-wide; peak Cableway queues reach three hours.</a:t>
            </a:r>
          </a:p>
        </p:txBody>
      </p:sp>
      <p:sp>
        <p:nvSpPr>
          <p:cNvPr id="65" name="TextBox 64"/>
          <p:cNvSpPr txBox="1"/>
          <p:nvPr/>
        </p:nvSpPr>
        <p:spPr>
          <a:xfrm>
            <a:off x="8970263" y="4572000"/>
            <a:ext cx="2798064" cy="676656"/>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Adopt a provincial quality standard; target the mid-market gap.</a:t>
            </a:r>
          </a:p>
        </p:txBody>
      </p:sp>
      <p:cxnSp>
        <p:nvCxnSpPr>
          <p:cNvPr id="66" name="Connector 65"/>
          <p:cNvCxnSpPr/>
          <p:nvPr/>
        </p:nvCxnSpPr>
        <p:spPr>
          <a:xfrm>
            <a:off x="384048" y="524865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02336" y="5248656"/>
            <a:ext cx="2459736" cy="676656"/>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2f  </a:t>
            </a:r>
            <a:r>
              <a:rPr sz="1000" b="1" i="0">
                <a:solidFill>
                  <a:srgbClr val="1F497D"/>
                </a:solidFill>
                <a:latin typeface="Arial"/>
              </a:rPr>
              <a:t>Sustainably maximise nature-based and cultural attractions</a:t>
            </a:r>
          </a:p>
        </p:txBody>
      </p:sp>
      <p:sp>
        <p:nvSpPr>
          <p:cNvPr id="68" name="Oval 67"/>
          <p:cNvSpPr/>
          <p:nvPr/>
        </p:nvSpPr>
        <p:spPr>
          <a:xfrm>
            <a:off x="2944368" y="5541264"/>
            <a:ext cx="91440" cy="91440"/>
          </a:xfrm>
          <a:prstGeom prst="ellipse">
            <a:avLst/>
          </a:prstGeom>
          <a:solidFill>
            <a:srgbClr val="156082"/>
          </a:solidFill>
          <a:ln>
            <a:noFill/>
          </a:ln>
        </p:spPr>
        <p:txBody>
          <a:bodyPr rtlCol="0" anchor="ctr"/>
          <a:lstStyle/>
          <a:p>
            <a:pPr algn="ctr"/>
          </a:p>
        </p:txBody>
      </p:sp>
      <p:sp>
        <p:nvSpPr>
          <p:cNvPr id="69" name="TextBox 68"/>
          <p:cNvSpPr txBox="1"/>
          <p:nvPr/>
        </p:nvSpPr>
        <p:spPr>
          <a:xfrm>
            <a:off x="3063240" y="5248656"/>
            <a:ext cx="594359" cy="676656"/>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70" name="Rounded Rectangle 69"/>
          <p:cNvSpPr/>
          <p:nvPr/>
        </p:nvSpPr>
        <p:spPr>
          <a:xfrm>
            <a:off x="3703320" y="5468112"/>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71" name="Oval 70"/>
          <p:cNvSpPr/>
          <p:nvPr/>
        </p:nvSpPr>
        <p:spPr>
          <a:xfrm>
            <a:off x="5047488" y="5536692"/>
            <a:ext cx="100584" cy="100584"/>
          </a:xfrm>
          <a:prstGeom prst="ellipse">
            <a:avLst/>
          </a:prstGeom>
          <a:solidFill>
            <a:srgbClr val="1F497D"/>
          </a:solidFill>
          <a:ln w="9525">
            <a:solidFill>
              <a:srgbClr val="1F497D"/>
            </a:solidFill>
          </a:ln>
        </p:spPr>
        <p:txBody>
          <a:bodyPr rtlCol="0" anchor="ctr"/>
          <a:lstStyle/>
          <a:p>
            <a:pPr algn="ctr"/>
          </a:p>
        </p:txBody>
      </p:sp>
      <p:sp>
        <p:nvSpPr>
          <p:cNvPr id="72" name="Oval 71"/>
          <p:cNvSpPr/>
          <p:nvPr/>
        </p:nvSpPr>
        <p:spPr>
          <a:xfrm>
            <a:off x="5184648" y="5536692"/>
            <a:ext cx="100584" cy="100584"/>
          </a:xfrm>
          <a:prstGeom prst="ellipse">
            <a:avLst/>
          </a:prstGeom>
          <a:solidFill>
            <a:srgbClr val="1F497D"/>
          </a:solidFill>
          <a:ln w="9525">
            <a:solidFill>
              <a:srgbClr val="1F497D"/>
            </a:solidFill>
          </a:ln>
        </p:spPr>
        <p:txBody>
          <a:bodyPr rtlCol="0" anchor="ctr"/>
          <a:lstStyle/>
          <a:p>
            <a:pPr algn="ctr"/>
          </a:p>
        </p:txBody>
      </p:sp>
      <p:sp>
        <p:nvSpPr>
          <p:cNvPr id="73" name="Oval 72"/>
          <p:cNvSpPr/>
          <p:nvPr/>
        </p:nvSpPr>
        <p:spPr>
          <a:xfrm>
            <a:off x="5321807" y="5536692"/>
            <a:ext cx="100584" cy="100584"/>
          </a:xfrm>
          <a:prstGeom prst="ellipse">
            <a:avLst/>
          </a:prstGeom>
          <a:solidFill>
            <a:srgbClr val="FFFFFF"/>
          </a:solidFill>
          <a:ln w="9525">
            <a:solidFill>
              <a:srgbClr val="1F497D"/>
            </a:solidFill>
          </a:ln>
        </p:spPr>
        <p:txBody>
          <a:bodyPr rtlCol="0" anchor="ctr"/>
          <a:lstStyle/>
          <a:p>
            <a:pPr algn="ctr"/>
          </a:p>
        </p:txBody>
      </p:sp>
      <p:sp>
        <p:nvSpPr>
          <p:cNvPr id="74" name="TextBox 73"/>
          <p:cNvSpPr txBox="1"/>
          <p:nvPr/>
        </p:nvSpPr>
        <p:spPr>
          <a:xfrm>
            <a:off x="5724144" y="5248656"/>
            <a:ext cx="3172968" cy="676656"/>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Boulders and the Table Mountain summit are at capacity; under-marketed reserves sit nearby.</a:t>
            </a:r>
          </a:p>
        </p:txBody>
      </p:sp>
      <p:sp>
        <p:nvSpPr>
          <p:cNvPr id="75" name="TextBox 74"/>
          <p:cNvSpPr txBox="1"/>
          <p:nvPr/>
        </p:nvSpPr>
        <p:spPr>
          <a:xfrm>
            <a:off x="8970263" y="5248656"/>
            <a:ext cx="2798064" cy="676656"/>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Route growth to under-used assets; cap flagship peaks.</a:t>
            </a:r>
          </a:p>
        </p:txBody>
      </p:sp>
      <p:cxnSp>
        <p:nvCxnSpPr>
          <p:cNvPr id="76" name="Connector 75"/>
          <p:cNvCxnSpPr/>
          <p:nvPr/>
        </p:nvCxnSpPr>
        <p:spPr>
          <a:xfrm>
            <a:off x="384048" y="592531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Communities sit beside the demand but outside the spend; the missing piece is a seller with a stake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INCLUSION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SME &amp; Community Inclusion Plan (Sep 2026) (Census 2011 sub-places; SA Tourism; benchmark cases)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2743200" cy="1188720"/>
          </a:xfrm>
          <a:prstGeom prst="rect">
            <a:avLst/>
          </a:prstGeom>
          <a:solidFill>
            <a:srgbClr val="DCEEF7"/>
          </a:solidFill>
          <a:ln>
            <a:noFill/>
          </a:ln>
        </p:spPr>
        <p:txBody>
          <a:bodyPr rtlCol="0" anchor="ctr"/>
          <a:lstStyle/>
          <a:p>
            <a:pPr algn="ctr"/>
          </a:p>
        </p:txBody>
      </p:sp>
      <p:sp>
        <p:nvSpPr>
          <p:cNvPr id="9" name="TextBox 8"/>
          <p:cNvSpPr txBox="1"/>
          <p:nvPr/>
        </p:nvSpPr>
        <p:spPr>
          <a:xfrm>
            <a:off x="493776" y="1307592"/>
            <a:ext cx="2523744" cy="594360"/>
          </a:xfrm>
          <a:prstGeom prst="rect">
            <a:avLst/>
          </a:prstGeom>
          <a:noFill/>
        </p:spPr>
        <p:txBody>
          <a:bodyPr wrap="square" anchor="b" lIns="36576" rIns="36576" tIns="21945" bIns="21945">
            <a:spAutoFit/>
          </a:bodyPr>
          <a:lstStyle/>
          <a:p>
            <a:pPr algn="l">
              <a:spcAft>
                <a:spcPts val="0"/>
              </a:spcAft>
            </a:pPr>
            <a:r>
              <a:rPr sz="2600" b="1" i="0">
                <a:solidFill>
                  <a:srgbClr val="1F497D"/>
                </a:solidFill>
                <a:latin typeface="Arial"/>
              </a:rPr>
              <a:t>18.4%</a:t>
            </a:r>
          </a:p>
        </p:txBody>
      </p:sp>
      <p:sp>
        <p:nvSpPr>
          <p:cNvPr id="10" name="TextBox 9"/>
          <p:cNvSpPr txBox="1"/>
          <p:nvPr/>
        </p:nvSpPr>
        <p:spPr>
          <a:xfrm>
            <a:off x="493776" y="1888236"/>
            <a:ext cx="252374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of residents live in the 20 priority communities</a:t>
            </a:r>
          </a:p>
        </p:txBody>
      </p:sp>
      <p:sp>
        <p:nvSpPr>
          <p:cNvPr id="11" name="Rectangle 10"/>
          <p:cNvSpPr/>
          <p:nvPr/>
        </p:nvSpPr>
        <p:spPr>
          <a:xfrm>
            <a:off x="3246120" y="1234440"/>
            <a:ext cx="2743200" cy="1188720"/>
          </a:xfrm>
          <a:prstGeom prst="rect">
            <a:avLst/>
          </a:prstGeom>
          <a:solidFill>
            <a:srgbClr val="DCEEF7"/>
          </a:solidFill>
          <a:ln>
            <a:noFill/>
          </a:ln>
        </p:spPr>
        <p:txBody>
          <a:bodyPr rtlCol="0" anchor="ctr"/>
          <a:lstStyle/>
          <a:p>
            <a:pPr algn="ctr"/>
          </a:p>
        </p:txBody>
      </p:sp>
      <p:sp>
        <p:nvSpPr>
          <p:cNvPr id="12" name="TextBox 11"/>
          <p:cNvSpPr txBox="1"/>
          <p:nvPr/>
        </p:nvSpPr>
        <p:spPr>
          <a:xfrm>
            <a:off x="3355848" y="1307592"/>
            <a:ext cx="2523744" cy="594360"/>
          </a:xfrm>
          <a:prstGeom prst="rect">
            <a:avLst/>
          </a:prstGeom>
          <a:noFill/>
        </p:spPr>
        <p:txBody>
          <a:bodyPr wrap="square" anchor="b" lIns="36576" rIns="36576" tIns="21945" bIns="21945">
            <a:spAutoFit/>
          </a:bodyPr>
          <a:lstStyle/>
          <a:p>
            <a:pPr algn="l">
              <a:spcAft>
                <a:spcPts val="0"/>
              </a:spcAft>
            </a:pPr>
            <a:r>
              <a:rPr sz="2200" b="1" i="0">
                <a:solidFill>
                  <a:srgbClr val="1F497D"/>
                </a:solidFill>
                <a:latin typeface="Arial"/>
              </a:rPr>
              <a:t>0.02-0.04%</a:t>
            </a:r>
          </a:p>
        </p:txBody>
      </p:sp>
      <p:sp>
        <p:nvSpPr>
          <p:cNvPr id="13" name="TextBox 12"/>
          <p:cNvSpPr txBox="1"/>
          <p:nvPr/>
        </p:nvSpPr>
        <p:spPr>
          <a:xfrm>
            <a:off x="3355848" y="1888236"/>
            <a:ext cx="252374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of foreign visitor spend reaches them (R4m-R10m)</a:t>
            </a:r>
          </a:p>
        </p:txBody>
      </p:sp>
      <p:sp>
        <p:nvSpPr>
          <p:cNvPr id="14" name="Rectangle 13"/>
          <p:cNvSpPr/>
          <p:nvPr/>
        </p:nvSpPr>
        <p:spPr>
          <a:xfrm>
            <a:off x="6108192" y="1234440"/>
            <a:ext cx="2743200" cy="1188720"/>
          </a:xfrm>
          <a:prstGeom prst="rect">
            <a:avLst/>
          </a:prstGeom>
          <a:solidFill>
            <a:srgbClr val="DCEEF7"/>
          </a:solidFill>
          <a:ln>
            <a:noFill/>
          </a:ln>
        </p:spPr>
        <p:txBody>
          <a:bodyPr rtlCol="0" anchor="ctr"/>
          <a:lstStyle/>
          <a:p>
            <a:pPr algn="ctr"/>
          </a:p>
        </p:txBody>
      </p:sp>
      <p:sp>
        <p:nvSpPr>
          <p:cNvPr id="15" name="TextBox 14"/>
          <p:cNvSpPr txBox="1"/>
          <p:nvPr/>
        </p:nvSpPr>
        <p:spPr>
          <a:xfrm>
            <a:off x="6217920" y="1307592"/>
            <a:ext cx="2523744" cy="594360"/>
          </a:xfrm>
          <a:prstGeom prst="rect">
            <a:avLst/>
          </a:prstGeom>
          <a:noFill/>
        </p:spPr>
        <p:txBody>
          <a:bodyPr wrap="square" anchor="b" lIns="36576" rIns="36576" tIns="21945" bIns="21945">
            <a:spAutoFit/>
          </a:bodyPr>
          <a:lstStyle/>
          <a:p>
            <a:pPr algn="l">
              <a:spcAft>
                <a:spcPts val="0"/>
              </a:spcAft>
            </a:pPr>
            <a:r>
              <a:rPr sz="2600" b="1" i="0">
                <a:solidFill>
                  <a:srgbClr val="1F497D"/>
                </a:solidFill>
                <a:latin typeface="Arial"/>
              </a:rPr>
              <a:t>R259m</a:t>
            </a:r>
          </a:p>
        </p:txBody>
      </p:sp>
      <p:sp>
        <p:nvSpPr>
          <p:cNvPr id="16" name="TextBox 15"/>
          <p:cNvSpPr txBox="1"/>
          <p:nvPr/>
        </p:nvSpPr>
        <p:spPr>
          <a:xfrm>
            <a:off x="6217920" y="1888236"/>
            <a:ext cx="252374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a year if they captured 1% of foreign spend</a:t>
            </a:r>
          </a:p>
        </p:txBody>
      </p:sp>
      <p:sp>
        <p:nvSpPr>
          <p:cNvPr id="17" name="Rectangle 16"/>
          <p:cNvSpPr/>
          <p:nvPr/>
        </p:nvSpPr>
        <p:spPr>
          <a:xfrm>
            <a:off x="8970264" y="1234440"/>
            <a:ext cx="2834640" cy="1188720"/>
          </a:xfrm>
          <a:prstGeom prst="rect">
            <a:avLst/>
          </a:prstGeom>
          <a:solidFill>
            <a:srgbClr val="DCEEF7"/>
          </a:solidFill>
          <a:ln>
            <a:noFill/>
          </a:ln>
        </p:spPr>
        <p:txBody>
          <a:bodyPr rtlCol="0" anchor="ctr"/>
          <a:lstStyle/>
          <a:p>
            <a:pPr algn="ctr"/>
          </a:p>
        </p:txBody>
      </p:sp>
      <p:sp>
        <p:nvSpPr>
          <p:cNvPr id="18" name="TextBox 17"/>
          <p:cNvSpPr txBox="1"/>
          <p:nvPr/>
        </p:nvSpPr>
        <p:spPr>
          <a:xfrm>
            <a:off x="9079992" y="1307592"/>
            <a:ext cx="2615184" cy="594360"/>
          </a:xfrm>
          <a:prstGeom prst="rect">
            <a:avLst/>
          </a:prstGeom>
          <a:noFill/>
        </p:spPr>
        <p:txBody>
          <a:bodyPr wrap="square" anchor="b" lIns="36576" rIns="36576" tIns="21945" bIns="21945">
            <a:spAutoFit/>
          </a:bodyPr>
          <a:lstStyle/>
          <a:p>
            <a:pPr algn="l">
              <a:spcAft>
                <a:spcPts val="0"/>
              </a:spcAft>
            </a:pPr>
            <a:r>
              <a:rPr sz="2600" b="1" i="0">
                <a:solidFill>
                  <a:srgbClr val="1F497D"/>
                </a:solidFill>
                <a:latin typeface="Arial"/>
              </a:rPr>
              <a:t>11 of 20</a:t>
            </a:r>
          </a:p>
        </p:txBody>
      </p:sp>
      <p:sp>
        <p:nvSpPr>
          <p:cNvPr id="19" name="TextBox 18"/>
          <p:cNvSpPr txBox="1"/>
          <p:nvPr/>
        </p:nvSpPr>
        <p:spPr>
          <a:xfrm>
            <a:off x="9079992" y="1888236"/>
            <a:ext cx="2615184" cy="511149"/>
          </a:xfrm>
          <a:prstGeom prst="rect">
            <a:avLst/>
          </a:prstGeom>
          <a:noFill/>
        </p:spPr>
        <p:txBody>
          <a:bodyPr wrap="square" anchor="t" lIns="36576" rIns="36576" tIns="21945" bIns="21945">
            <a:spAutoFit/>
          </a:bodyPr>
          <a:lstStyle/>
          <a:p>
            <a:pPr algn="l">
              <a:spcAft>
                <a:spcPts val="0"/>
              </a:spcAft>
            </a:pPr>
            <a:r>
              <a:rPr sz="950" b="0" i="0">
                <a:solidFill>
                  <a:srgbClr val="404040"/>
                </a:solidFill>
                <a:latin typeface="Arial"/>
              </a:rPr>
              <a:t>communities where organisation is the binding constraint</a:t>
            </a:r>
          </a:p>
        </p:txBody>
      </p:sp>
      <p:graphicFrame>
        <p:nvGraphicFramePr>
          <p:cNvPr id="20" name="Table 19"/>
          <p:cNvGraphicFramePr>
            <a:graphicFrameLocks noGrp="1"/>
          </p:cNvGraphicFramePr>
          <p:nvPr/>
        </p:nvGraphicFramePr>
        <p:xfrm>
          <a:off x="384048" y="2606040"/>
          <a:ext cx="11420855" cy="2286000"/>
        </p:xfrm>
        <a:graphic>
          <a:graphicData uri="http://schemas.openxmlformats.org/drawingml/2006/table">
            <a:tbl>
              <a:tblPr firstRow="1" bandRow="0">
                <a:tableStyleId>{5C22544A-7EE6-4342-B048-85BDC9FD1C3A}</a:tableStyleId>
              </a:tblPr>
              <a:tblGrid>
                <a:gridCol w="2011680"/>
                <a:gridCol w="5394960"/>
                <a:gridCol w="4014215"/>
              </a:tblGrid>
              <a:tr h="457200">
                <a:tc>
                  <a:txBody>
                    <a:bodyPr wrap="square"/>
                    <a:lstStyle/>
                    <a:p>
                      <a:pPr algn="l"/>
                      <a:r>
                        <a:rPr sz="950" b="1" i="0">
                          <a:solidFill>
                            <a:srgbClr val="FFFFFF"/>
                          </a:solidFill>
                          <a:latin typeface="Arial"/>
                        </a:rPr>
                        <a:t>Case</a:t>
                      </a:r>
                    </a:p>
                  </a:txBody>
                  <a:tcPr marL="54864" marR="54864" marT="27432" marB="27432" anchor="ctr">
                    <a:solidFill>
                      <a:srgbClr val="1F497D"/>
                    </a:solidFill>
                  </a:tcPr>
                </a:tc>
                <a:tc>
                  <a:txBody>
                    <a:bodyPr wrap="square"/>
                    <a:lstStyle/>
                    <a:p>
                      <a:pPr algn="l"/>
                      <a:r>
                        <a:rPr sz="950" b="1" i="0">
                          <a:solidFill>
                            <a:srgbClr val="FFFFFF"/>
                          </a:solidFill>
                          <a:latin typeface="Arial"/>
                        </a:rPr>
                        <a:t>What happened</a:t>
                      </a:r>
                    </a:p>
                  </a:txBody>
                  <a:tcPr marL="54864" marR="54864" marT="27432" marB="27432" anchor="ctr">
                    <a:solidFill>
                      <a:srgbClr val="1F497D"/>
                    </a:solidFill>
                  </a:tcPr>
                </a:tc>
                <a:tc>
                  <a:txBody>
                    <a:bodyPr wrap="square"/>
                    <a:lstStyle/>
                    <a:p>
                      <a:pPr algn="l"/>
                      <a:r>
                        <a:rPr sz="950" b="1" i="0">
                          <a:solidFill>
                            <a:srgbClr val="FFFFFF"/>
                          </a:solidFill>
                          <a:latin typeface="Arial"/>
                        </a:rPr>
                        <a:t>Lesson</a:t>
                      </a:r>
                    </a:p>
                  </a:txBody>
                  <a:tcPr marL="54864" marR="54864" marT="27432" marB="27432" anchor="ctr">
                    <a:solidFill>
                      <a:srgbClr val="1F497D"/>
                    </a:solidFill>
                  </a:tcPr>
                </a:tc>
              </a:tr>
              <a:tr h="457200">
                <a:tc>
                  <a:txBody>
                    <a:bodyPr wrap="square"/>
                    <a:lstStyle/>
                    <a:p>
                      <a:pPr algn="l"/>
                      <a:r>
                        <a:rPr sz="950" b="1" i="0">
                          <a:solidFill>
                            <a:srgbClr val="1F497D"/>
                          </a:solidFill>
                          <a:latin typeface="Arial"/>
                        </a:rPr>
                        <a:t>Kliptown, Soweto</a:t>
                      </a:r>
                    </a:p>
                  </a:txBody>
                  <a:tcPr marL="54864" marR="54864" marT="27432" marB="27432" anchor="ctr">
                    <a:solidFill>
                      <a:srgbClr val="FFFFFF"/>
                    </a:solidFill>
                  </a:tcPr>
                </a:tc>
                <a:tc>
                  <a:txBody>
                    <a:bodyPr wrap="square"/>
                    <a:lstStyle/>
                    <a:p>
                      <a:pPr algn="l"/>
                      <a:r>
                        <a:rPr sz="950" b="0" i="0">
                          <a:solidFill>
                            <a:srgbClr val="404040"/>
                          </a:solidFill>
                          <a:latin typeface="Arial"/>
                        </a:rPr>
                        <a:t>~R497m on assets before an operator; ~4,000 museum visitors a year by 2017</a:t>
                      </a:r>
                    </a:p>
                  </a:txBody>
                  <a:tcPr marL="54864" marR="54864" marT="27432" marB="27432" anchor="ctr">
                    <a:solidFill>
                      <a:srgbClr val="FFFFFF"/>
                    </a:solidFill>
                  </a:tcPr>
                </a:tc>
                <a:tc>
                  <a:txBody>
                    <a:bodyPr wrap="square"/>
                    <a:lstStyle/>
                    <a:p>
                      <a:pPr algn="l"/>
                      <a:r>
                        <a:rPr sz="950" b="0" i="0">
                          <a:solidFill>
                            <a:srgbClr val="404040"/>
                          </a:solidFill>
                          <a:latin typeface="Arial"/>
                        </a:rPr>
                        <a:t>Operator, product and security before the ribbon</a:t>
                      </a:r>
                    </a:p>
                  </a:txBody>
                  <a:tcPr marL="54864" marR="54864" marT="27432" marB="27432" anchor="ctr">
                    <a:solidFill>
                      <a:srgbClr val="FFFFFF"/>
                    </a:solidFill>
                  </a:tcPr>
                </a:tc>
              </a:tr>
              <a:tr h="457200">
                <a:tc>
                  <a:txBody>
                    <a:bodyPr wrap="square"/>
                    <a:lstStyle/>
                    <a:p>
                      <a:pPr algn="l"/>
                      <a:r>
                        <a:rPr sz="950" b="1" i="0">
                          <a:solidFill>
                            <a:srgbClr val="1F497D"/>
                          </a:solidFill>
                          <a:latin typeface="Arial"/>
                        </a:rPr>
                        <a:t>Comuna 13, Medellín</a:t>
                      </a:r>
                    </a:p>
                  </a:txBody>
                  <a:tcPr marL="54864" marR="54864" marT="27432" marB="27432" anchor="ctr">
                    <a:solidFill>
                      <a:srgbClr val="F2F2F2"/>
                    </a:solidFill>
                  </a:tcPr>
                </a:tc>
                <a:tc>
                  <a:txBody>
                    <a:bodyPr wrap="square"/>
                    <a:lstStyle/>
                    <a:p>
                      <a:pPr algn="l"/>
                      <a:r>
                        <a:rPr sz="950" b="0" i="0">
                          <a:solidFill>
                            <a:srgbClr val="404040"/>
                          </a:solidFill>
                          <a:latin typeface="Arial"/>
                        </a:rPr>
                        <a:t>Access first, then a resident-made product: 1.98m visitors in 2025, 52% international</a:t>
                      </a:r>
                    </a:p>
                  </a:txBody>
                  <a:tcPr marL="54864" marR="54864" marT="27432" marB="27432" anchor="ctr">
                    <a:solidFill>
                      <a:srgbClr val="F2F2F2"/>
                    </a:solidFill>
                  </a:tcPr>
                </a:tc>
                <a:tc>
                  <a:txBody>
                    <a:bodyPr wrap="square"/>
                    <a:lstStyle/>
                    <a:p>
                      <a:pPr algn="l"/>
                      <a:r>
                        <a:rPr sz="950" b="0" i="0">
                          <a:solidFill>
                            <a:srgbClr val="404040"/>
                          </a:solidFill>
                          <a:latin typeface="Arial"/>
                        </a:rPr>
                        <a:t>Fund a community body alongside infrastructure</a:t>
                      </a:r>
                    </a:p>
                  </a:txBody>
                  <a:tcPr marL="54864" marR="54864" marT="27432" marB="27432" anchor="ctr">
                    <a:solidFill>
                      <a:srgbClr val="F2F2F2"/>
                    </a:solidFill>
                  </a:tcPr>
                </a:tc>
              </a:tr>
              <a:tr h="457200">
                <a:tc>
                  <a:txBody>
                    <a:bodyPr wrap="square"/>
                    <a:lstStyle/>
                    <a:p>
                      <a:pPr algn="l"/>
                      <a:r>
                        <a:rPr sz="950" b="1" i="0">
                          <a:solidFill>
                            <a:srgbClr val="1F497D"/>
                          </a:solidFill>
                          <a:latin typeface="Arial"/>
                        </a:rPr>
                        <a:t>Santa Marta, Rio</a:t>
                      </a:r>
                    </a:p>
                  </a:txBody>
                  <a:tcPr marL="54864" marR="54864" marT="27432" marB="27432" anchor="ctr">
                    <a:solidFill>
                      <a:srgbClr val="FFFFFF"/>
                    </a:solidFill>
                  </a:tcPr>
                </a:tc>
                <a:tc>
                  <a:txBody>
                    <a:bodyPr wrap="square"/>
                    <a:lstStyle/>
                    <a:p>
                      <a:pPr algn="l"/>
                      <a:r>
                        <a:rPr sz="950" b="0" i="0">
                          <a:solidFill>
                            <a:srgbClr val="404040"/>
                          </a:solidFill>
                          <a:latin typeface="Arial"/>
                        </a:rPr>
                        <a:t>Resident guides outlasted the programme; jeep firms left</a:t>
                      </a:r>
                    </a:p>
                  </a:txBody>
                  <a:tcPr marL="54864" marR="54864" marT="27432" marB="27432" anchor="ctr">
                    <a:solidFill>
                      <a:srgbClr val="FFFFFF"/>
                    </a:solidFill>
                  </a:tcPr>
                </a:tc>
                <a:tc>
                  <a:txBody>
                    <a:bodyPr wrap="square"/>
                    <a:lstStyle/>
                    <a:p>
                      <a:pPr algn="l"/>
                      <a:r>
                        <a:rPr sz="950" b="0" i="0">
                          <a:solidFill>
                            <a:srgbClr val="404040"/>
                          </a:solidFill>
                          <a:latin typeface="Arial"/>
                        </a:rPr>
                        <a:t>Resident ownership keeps spend local</a:t>
                      </a:r>
                    </a:p>
                  </a:txBody>
                  <a:tcPr marL="54864" marR="54864" marT="27432" marB="27432" anchor="ctr">
                    <a:solidFill>
                      <a:srgbClr val="FFFFFF"/>
                    </a:solidFill>
                  </a:tcPr>
                </a:tc>
              </a:tr>
              <a:tr h="457200">
                <a:tc>
                  <a:txBody>
                    <a:bodyPr wrap="square"/>
                    <a:lstStyle/>
                    <a:p>
                      <a:pPr algn="l"/>
                      <a:r>
                        <a:rPr sz="950" b="1" i="0">
                          <a:solidFill>
                            <a:srgbClr val="1F497D"/>
                          </a:solidFill>
                          <a:latin typeface="Arial"/>
                        </a:rPr>
                        <a:t>Costa Rica</a:t>
                      </a:r>
                    </a:p>
                  </a:txBody>
                  <a:tcPr marL="54864" marR="54864" marT="27432" marB="27432" anchor="ctr">
                    <a:solidFill>
                      <a:srgbClr val="F2F2F2"/>
                    </a:solidFill>
                  </a:tcPr>
                </a:tc>
                <a:tc>
                  <a:txBody>
                    <a:bodyPr wrap="square"/>
                    <a:lstStyle/>
                    <a:p>
                      <a:pPr algn="l"/>
                      <a:r>
                        <a:rPr sz="950" b="0" i="0">
                          <a:solidFill>
                            <a:srgbClr val="404040"/>
                          </a:solidFill>
                          <a:latin typeface="Arial"/>
                        </a:rPr>
                        <a:t>ACTUAR sold for 30+ communities, &gt;US$800k turnover; dissolved 2018</a:t>
                      </a:r>
                    </a:p>
                  </a:txBody>
                  <a:tcPr marL="54864" marR="54864" marT="27432" marB="27432" anchor="ctr">
                    <a:solidFill>
                      <a:srgbClr val="F2F2F2"/>
                    </a:solidFill>
                  </a:tcPr>
                </a:tc>
                <a:tc>
                  <a:txBody>
                    <a:bodyPr wrap="square"/>
                    <a:lstStyle/>
                    <a:p>
                      <a:pPr algn="l"/>
                      <a:r>
                        <a:rPr sz="950" b="0" i="0">
                          <a:solidFill>
                            <a:srgbClr val="404040"/>
                          </a:solidFill>
                          <a:latin typeface="Arial"/>
                        </a:rPr>
                        <a:t>A selling channel needs a funded successor</a:t>
                      </a:r>
                    </a:p>
                  </a:txBody>
                  <a:tcPr marL="54864" marR="54864" marT="27432" marB="27432" anchor="ctr">
                    <a:solidFill>
                      <a:srgbClr val="F2F2F2"/>
                    </a:solidFill>
                  </a:tcPr>
                </a:tc>
              </a:tr>
            </a:tbl>
          </a:graphicData>
        </a:graphic>
      </p:graphicFrame>
      <p:sp>
        <p:nvSpPr>
          <p:cNvPr id="21" name="Rectangle 20"/>
          <p:cNvSpPr/>
          <p:nvPr/>
        </p:nvSpPr>
        <p:spPr>
          <a:xfrm>
            <a:off x="384048" y="5120640"/>
            <a:ext cx="11420856" cy="457200"/>
          </a:xfrm>
          <a:prstGeom prst="rect">
            <a:avLst/>
          </a:prstGeom>
          <a:solidFill>
            <a:srgbClr val="1F497D"/>
          </a:solidFill>
          <a:ln>
            <a:noFill/>
          </a:ln>
        </p:spPr>
        <p:txBody>
          <a:bodyPr rtlCol="0" anchor="ctr"/>
          <a:lstStyle/>
          <a:p>
            <a:pPr algn="ctr"/>
          </a:p>
        </p:txBody>
      </p:sp>
      <p:sp>
        <p:nvSpPr>
          <p:cNvPr id="22" name="TextBox 21"/>
          <p:cNvSpPr txBox="1"/>
          <p:nvPr/>
        </p:nvSpPr>
        <p:spPr>
          <a:xfrm>
            <a:off x="548640" y="512064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Sequence: seller with a stake, safe visit, product that keeps spend local, then exposure. Capital comes last.</a:t>
            </a:r>
          </a:p>
        </p:txBody>
      </p:sp>
      <p:sp>
        <p:nvSpPr>
          <p:cNvPr id="23" name="TextBox 22"/>
          <p:cNvSpPr txBox="1"/>
          <p:nvPr/>
        </p:nvSpPr>
        <p:spPr>
          <a:xfrm>
            <a:off x="384048" y="5650992"/>
            <a:ext cx="11338560" cy="457200"/>
          </a:xfrm>
          <a:prstGeom prst="rect">
            <a:avLst/>
          </a:prstGeom>
          <a:noFill/>
        </p:spPr>
        <p:txBody>
          <a:bodyPr wrap="square" anchor="t" lIns="36576" rIns="36576" tIns="21945" bIns="21945">
            <a:spAutoFit/>
          </a:bodyPr>
          <a:lstStyle/>
          <a:p>
            <a:pPr algn="l">
              <a:spcAft>
                <a:spcPts val="0"/>
              </a:spcAft>
            </a:pPr>
            <a:r>
              <a:rPr sz="1000" b="0" i="1">
                <a:solidFill>
                  <a:srgbClr val="7F7F7F"/>
                </a:solidFill>
                <a:latin typeface="Arial"/>
              </a:rPr>
              <a:t>Not yet covered: the 10,000 SMMEs goal, digital enablement at provincial scale and skills accreditation.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inclusion plan names concrete first moves next to existing demand nodes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INCLUSION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SME &amp; Community Inclusion Plan (Sep 2026) (community profiles and illustrative interventions; validation with stakeholders outstanding)</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279392"/>
        </p:xfrm>
        <a:graphic>
          <a:graphicData uri="http://schemas.openxmlformats.org/drawingml/2006/table">
            <a:tbl>
              <a:tblPr firstRow="1" bandRow="0">
                <a:tableStyleId>{5C22544A-7EE6-4342-B048-85BDC9FD1C3A}</a:tableStyleId>
              </a:tblPr>
              <a:tblGrid>
                <a:gridCol w="1600200"/>
                <a:gridCol w="3017520"/>
                <a:gridCol w="4206240"/>
                <a:gridCol w="2596896"/>
              </a:tblGrid>
              <a:tr h="475488">
                <a:tc>
                  <a:txBody>
                    <a:bodyPr wrap="square"/>
                    <a:lstStyle/>
                    <a:p>
                      <a:pPr algn="l"/>
                      <a:r>
                        <a:rPr sz="950" b="1" i="0">
                          <a:solidFill>
                            <a:srgbClr val="FFFFFF"/>
                          </a:solidFill>
                          <a:latin typeface="Arial"/>
                        </a:rPr>
                        <a:t>Community</a:t>
                      </a:r>
                    </a:p>
                  </a:txBody>
                  <a:tcPr marL="54864" marR="54864" marT="27432" marB="27432" anchor="ctr">
                    <a:solidFill>
                      <a:srgbClr val="1F497D"/>
                    </a:solidFill>
                  </a:tcPr>
                </a:tc>
                <a:tc>
                  <a:txBody>
                    <a:bodyPr wrap="square"/>
                    <a:lstStyle/>
                    <a:p>
                      <a:pPr algn="l"/>
                      <a:r>
                        <a:rPr sz="950" b="1" i="0">
                          <a:solidFill>
                            <a:srgbClr val="FFFFFF"/>
                          </a:solidFill>
                          <a:latin typeface="Arial"/>
                        </a:rPr>
                        <a:t>Demand next door</a:t>
                      </a:r>
                    </a:p>
                  </a:txBody>
                  <a:tcPr marL="54864" marR="54864" marT="27432" marB="27432" anchor="ctr">
                    <a:solidFill>
                      <a:srgbClr val="1F497D"/>
                    </a:solidFill>
                  </a:tcPr>
                </a:tc>
                <a:tc>
                  <a:txBody>
                    <a:bodyPr wrap="square"/>
                    <a:lstStyle/>
                    <a:p>
                      <a:pPr algn="l"/>
                      <a:r>
                        <a:rPr sz="950" b="1" i="0">
                          <a:solidFill>
                            <a:srgbClr val="FFFFFF"/>
                          </a:solidFill>
                          <a:latin typeface="Arial"/>
                        </a:rPr>
                        <a:t>First move</a:t>
                      </a:r>
                    </a:p>
                  </a:txBody>
                  <a:tcPr marL="54864" marR="54864" marT="27432" marB="27432" anchor="ctr">
                    <a:solidFill>
                      <a:srgbClr val="1F497D"/>
                    </a:solidFill>
                  </a:tcPr>
                </a:tc>
                <a:tc>
                  <a:txBody>
                    <a:bodyPr wrap="square"/>
                    <a:lstStyle/>
                    <a:p>
                      <a:pPr algn="l"/>
                      <a:r>
                        <a:rPr sz="950" b="1" i="0">
                          <a:solidFill>
                            <a:srgbClr val="FFFFFF"/>
                          </a:solidFill>
                          <a:latin typeface="Arial"/>
                        </a:rPr>
                        <a:t>Partners</a:t>
                      </a:r>
                    </a:p>
                  </a:txBody>
                  <a:tcPr marL="54864" marR="54864" marT="27432" marB="27432" anchor="ctr">
                    <a:solidFill>
                      <a:srgbClr val="1F497D"/>
                    </a:solidFill>
                  </a:tcPr>
                </a:tc>
              </a:tr>
              <a:tr h="475488">
                <a:tc>
                  <a:txBody>
                    <a:bodyPr wrap="square"/>
                    <a:lstStyle/>
                    <a:p>
                      <a:pPr algn="l"/>
                      <a:r>
                        <a:rPr sz="950" b="1" i="0">
                          <a:solidFill>
                            <a:srgbClr val="1F497D"/>
                          </a:solidFill>
                          <a:latin typeface="Arial"/>
                        </a:rPr>
                        <a:t>Langa</a:t>
                      </a:r>
                    </a:p>
                  </a:txBody>
                  <a:tcPr marL="54864" marR="54864" marT="27432" marB="27432" anchor="ctr">
                    <a:solidFill>
                      <a:srgbClr val="FFFFFF"/>
                    </a:solidFill>
                  </a:tcPr>
                </a:tc>
                <a:tc>
                  <a:txBody>
                    <a:bodyPr wrap="square"/>
                    <a:lstStyle/>
                    <a:p>
                      <a:pPr algn="l"/>
                      <a:r>
                        <a:rPr sz="950" b="0" i="0">
                          <a:solidFill>
                            <a:srgbClr val="404040"/>
                          </a:solidFill>
                          <a:latin typeface="Arial"/>
                        </a:rPr>
                        <a:t>CTIA 12 min; walks sold online at &gt;4.8 rating</a:t>
                      </a:r>
                    </a:p>
                  </a:txBody>
                  <a:tcPr marL="54864" marR="54864" marT="27432" marB="27432" anchor="ctr">
                    <a:solidFill>
                      <a:srgbClr val="FFFFFF"/>
                    </a:solidFill>
                  </a:tcPr>
                </a:tc>
                <a:tc>
                  <a:txBody>
                    <a:bodyPr wrap="square"/>
                    <a:lstStyle/>
                    <a:p>
                      <a:pPr algn="l"/>
                      <a:r>
                        <a:rPr sz="950" b="0" i="0">
                          <a:solidFill>
                            <a:srgbClr val="404040"/>
                          </a:solidFill>
                          <a:latin typeface="Arial"/>
                        </a:rPr>
                        <a:t>Durable local selling route; airport first-day walk via hotels and car hire</a:t>
                      </a:r>
                    </a:p>
                  </a:txBody>
                  <a:tcPr marL="54864" marR="54864" marT="27432" marB="27432" anchor="ctr">
                    <a:solidFill>
                      <a:srgbClr val="FFFFFF"/>
                    </a:solidFill>
                  </a:tcPr>
                </a:tc>
                <a:tc>
                  <a:txBody>
                    <a:bodyPr wrap="square"/>
                    <a:lstStyle/>
                    <a:p>
                      <a:pPr algn="l"/>
                      <a:r>
                        <a:rPr sz="950" b="0" i="0">
                          <a:solidFill>
                            <a:srgbClr val="404040"/>
                          </a:solidFill>
                          <a:latin typeface="Arial"/>
                        </a:rPr>
                        <a:t>Cape Town Tourism; ACSA; City</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Gugulethu</a:t>
                      </a:r>
                    </a:p>
                  </a:txBody>
                  <a:tcPr marL="54864" marR="54864" marT="27432" marB="27432" anchor="ctr">
                    <a:solidFill>
                      <a:srgbClr val="F2F2F2"/>
                    </a:solidFill>
                  </a:tcPr>
                </a:tc>
                <a:tc>
                  <a:txBody>
                    <a:bodyPr wrap="square"/>
                    <a:lstStyle/>
                    <a:p>
                      <a:pPr algn="l"/>
                      <a:r>
                        <a:rPr sz="950" b="0" i="0">
                          <a:solidFill>
                            <a:srgbClr val="404040"/>
                          </a:solidFill>
                          <a:latin typeface="Arial"/>
                        </a:rPr>
                        <a:t>CTIA 8 min</a:t>
                      </a:r>
                    </a:p>
                  </a:txBody>
                  <a:tcPr marL="54864" marR="54864" marT="27432" marB="27432" anchor="ctr">
                    <a:solidFill>
                      <a:srgbClr val="F2F2F2"/>
                    </a:solidFill>
                  </a:tcPr>
                </a:tc>
                <a:tc>
                  <a:txBody>
                    <a:bodyPr wrap="square"/>
                    <a:lstStyle/>
                    <a:p>
                      <a:pPr algn="l"/>
                      <a:r>
                        <a:rPr sz="950" b="0" i="0">
                          <a:solidFill>
                            <a:srgbClr val="404040"/>
                          </a:solidFill>
                          <a:latin typeface="Arial"/>
                        </a:rPr>
                        <a:t>Staffed trading stop at the Steve Biko Drive memorials; layover heritage experience</a:t>
                      </a:r>
                    </a:p>
                  </a:txBody>
                  <a:tcPr marL="54864" marR="54864" marT="27432" marB="27432" anchor="ctr">
                    <a:solidFill>
                      <a:srgbClr val="F2F2F2"/>
                    </a:solidFill>
                  </a:tcPr>
                </a:tc>
                <a:tc>
                  <a:txBody>
                    <a:bodyPr wrap="square"/>
                    <a:lstStyle/>
                    <a:p>
                      <a:pPr algn="l"/>
                      <a:r>
                        <a:rPr sz="950" b="0" i="0">
                          <a:solidFill>
                            <a:srgbClr val="404040"/>
                          </a:solidFill>
                          <a:latin typeface="Arial"/>
                        </a:rPr>
                        <a:t>City; Memorial committee</a:t>
                      </a:r>
                    </a:p>
                  </a:txBody>
                  <a:tcPr marL="54864" marR="54864" marT="27432" marB="27432" anchor="ctr">
                    <a:solidFill>
                      <a:srgbClr val="F2F2F2"/>
                    </a:solidFill>
                  </a:tcPr>
                </a:tc>
              </a:tr>
              <a:tr h="475488">
                <a:tc>
                  <a:txBody>
                    <a:bodyPr wrap="square"/>
                    <a:lstStyle/>
                    <a:p>
                      <a:pPr algn="l"/>
                      <a:r>
                        <a:rPr sz="950" b="1" i="0">
                          <a:solidFill>
                            <a:srgbClr val="1F497D"/>
                          </a:solidFill>
                          <a:latin typeface="Arial"/>
                        </a:rPr>
                        <a:t>Mitchells Plain</a:t>
                      </a:r>
                    </a:p>
                  </a:txBody>
                  <a:tcPr marL="54864" marR="54864" marT="27432" marB="27432" anchor="ctr">
                    <a:solidFill>
                      <a:srgbClr val="FFFFFF"/>
                    </a:solidFill>
                  </a:tcPr>
                </a:tc>
                <a:tc>
                  <a:txBody>
                    <a:bodyPr wrap="square"/>
                    <a:lstStyle/>
                    <a:p>
                      <a:pPr algn="l"/>
                      <a:r>
                        <a:rPr sz="950" b="0" i="0">
                          <a:solidFill>
                            <a:srgbClr val="404040"/>
                          </a:solidFill>
                          <a:latin typeface="Arial"/>
                        </a:rPr>
                        <a:t>Festival drew 27,800 visitors; one mapped bed for 273,204 people</a:t>
                      </a:r>
                    </a:p>
                  </a:txBody>
                  <a:tcPr marL="54864" marR="54864" marT="27432" marB="27432" anchor="ctr">
                    <a:solidFill>
                      <a:srgbClr val="FFFFFF"/>
                    </a:solidFill>
                  </a:tcPr>
                </a:tc>
                <a:tc>
                  <a:txBody>
                    <a:bodyPr wrap="square"/>
                    <a:lstStyle/>
                    <a:p>
                      <a:pPr algn="l"/>
                      <a:r>
                        <a:rPr sz="950" b="0" i="0">
                          <a:solidFill>
                            <a:srgbClr val="404040"/>
                          </a:solidFill>
                          <a:latin typeface="Arial"/>
                        </a:rPr>
                        <a:t>Festival-based selling route; December arrival packages</a:t>
                      </a:r>
                    </a:p>
                  </a:txBody>
                  <a:tcPr marL="54864" marR="54864" marT="27432" marB="27432" anchor="ctr">
                    <a:solidFill>
                      <a:srgbClr val="FFFFFF"/>
                    </a:solidFill>
                  </a:tcPr>
                </a:tc>
                <a:tc>
                  <a:txBody>
                    <a:bodyPr wrap="square"/>
                    <a:lstStyle/>
                    <a:p>
                      <a:pPr algn="l"/>
                      <a:r>
                        <a:rPr sz="950" b="0" i="0">
                          <a:solidFill>
                            <a:srgbClr val="404040"/>
                          </a:solidFill>
                          <a:latin typeface="Arial"/>
                        </a:rPr>
                        <a:t>Cycle of Life; City</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Kayamandi</a:t>
                      </a:r>
                    </a:p>
                  </a:txBody>
                  <a:tcPr marL="54864" marR="54864" marT="27432" marB="27432" anchor="ctr">
                    <a:solidFill>
                      <a:srgbClr val="F2F2F2"/>
                    </a:solidFill>
                  </a:tcPr>
                </a:tc>
                <a:tc>
                  <a:txBody>
                    <a:bodyPr wrap="square"/>
                    <a:lstStyle/>
                    <a:p>
                      <a:pPr algn="l"/>
                      <a:r>
                        <a:rPr sz="950" b="0" i="0">
                          <a:solidFill>
                            <a:srgbClr val="404040"/>
                          </a:solidFill>
                          <a:latin typeface="Arial"/>
                        </a:rPr>
                        <a:t>Stellenbosch: 1.35m overnight visitors, R13bn (2025)</a:t>
                      </a:r>
                    </a:p>
                  </a:txBody>
                  <a:tcPr marL="54864" marR="54864" marT="27432" marB="27432" anchor="ctr">
                    <a:solidFill>
                      <a:srgbClr val="F2F2F2"/>
                    </a:solidFill>
                  </a:tcPr>
                </a:tc>
                <a:tc>
                  <a:txBody>
                    <a:bodyPr wrap="square"/>
                    <a:lstStyle/>
                    <a:p>
                      <a:pPr algn="l"/>
                      <a:r>
                        <a:rPr sz="950" b="0" i="0">
                          <a:solidFill>
                            <a:srgbClr val="404040"/>
                          </a:solidFill>
                          <a:latin typeface="Arial"/>
                        </a:rPr>
                        <a:t>Safety compact and bookable evening at AmaZink</a:t>
                      </a:r>
                    </a:p>
                  </a:txBody>
                  <a:tcPr marL="54864" marR="54864" marT="27432" marB="27432" anchor="ctr">
                    <a:solidFill>
                      <a:srgbClr val="F2F2F2"/>
                    </a:solidFill>
                  </a:tcPr>
                </a:tc>
                <a:tc>
                  <a:txBody>
                    <a:bodyPr wrap="square"/>
                    <a:lstStyle/>
                    <a:p>
                      <a:pPr algn="l"/>
                      <a:r>
                        <a:rPr sz="950" b="0" i="0">
                          <a:solidFill>
                            <a:srgbClr val="404040"/>
                          </a:solidFill>
                          <a:latin typeface="Arial"/>
                        </a:rPr>
                        <a:t>Visit Stellenbosch; SAPS</a:t>
                      </a:r>
                    </a:p>
                  </a:txBody>
                  <a:tcPr marL="54864" marR="54864" marT="27432" marB="27432" anchor="ctr">
                    <a:solidFill>
                      <a:srgbClr val="F2F2F2"/>
                    </a:solidFill>
                  </a:tcPr>
                </a:tc>
              </a:tr>
              <a:tr h="475488">
                <a:tc>
                  <a:txBody>
                    <a:bodyPr wrap="square"/>
                    <a:lstStyle/>
                    <a:p>
                      <a:pPr algn="l"/>
                      <a:r>
                        <a:rPr sz="950" b="1" i="0">
                          <a:solidFill>
                            <a:srgbClr val="1F497D"/>
                          </a:solidFill>
                          <a:latin typeface="Arial"/>
                        </a:rPr>
                        <a:t>Zwelihle</a:t>
                      </a:r>
                    </a:p>
                  </a:txBody>
                  <a:tcPr marL="54864" marR="54864" marT="27432" marB="27432" anchor="ctr">
                    <a:solidFill>
                      <a:srgbClr val="FFFFFF"/>
                    </a:solidFill>
                  </a:tcPr>
                </a:tc>
                <a:tc>
                  <a:txBody>
                    <a:bodyPr wrap="square"/>
                    <a:lstStyle/>
                    <a:p>
                      <a:pPr algn="l"/>
                      <a:r>
                        <a:rPr sz="950" b="0" i="0">
                          <a:solidFill>
                            <a:srgbClr val="404040"/>
                          </a:solidFill>
                          <a:latin typeface="Arial"/>
                        </a:rPr>
                        <a:t>Hermanus whale season; four guides phone-only</a:t>
                      </a:r>
                    </a:p>
                  </a:txBody>
                  <a:tcPr marL="54864" marR="54864" marT="27432" marB="27432" anchor="ctr">
                    <a:solidFill>
                      <a:srgbClr val="FFFFFF"/>
                    </a:solidFill>
                  </a:tcPr>
                </a:tc>
                <a:tc>
                  <a:txBody>
                    <a:bodyPr wrap="square"/>
                    <a:lstStyle/>
                    <a:p>
                      <a:pPr algn="l"/>
                      <a:r>
                        <a:rPr sz="950" b="0" i="0">
                          <a:solidFill>
                            <a:srgbClr val="404040"/>
                          </a:solidFill>
                          <a:latin typeface="Arial"/>
                        </a:rPr>
                        <a:t>Insured bookable walk from the hall; Whale Festival fringe</a:t>
                      </a:r>
                    </a:p>
                  </a:txBody>
                  <a:tcPr marL="54864" marR="54864" marT="27432" marB="27432" anchor="ctr">
                    <a:solidFill>
                      <a:srgbClr val="FFFFFF"/>
                    </a:solidFill>
                  </a:tcPr>
                </a:tc>
                <a:tc>
                  <a:txBody>
                    <a:bodyPr wrap="square"/>
                    <a:lstStyle/>
                    <a:p>
                      <a:pPr algn="l"/>
                      <a:r>
                        <a:rPr sz="950" b="0" i="0">
                          <a:solidFill>
                            <a:srgbClr val="404040"/>
                          </a:solidFill>
                          <a:latin typeface="Arial"/>
                        </a:rPr>
                        <a:t>Hermanus Tourism; Overstrand</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Kassiesbaai</a:t>
                      </a:r>
                    </a:p>
                  </a:txBody>
                  <a:tcPr marL="54864" marR="54864" marT="27432" marB="27432" anchor="ctr">
                    <a:solidFill>
                      <a:srgbClr val="F2F2F2"/>
                    </a:solidFill>
                  </a:tcPr>
                </a:tc>
                <a:tc>
                  <a:txBody>
                    <a:bodyPr wrap="square"/>
                    <a:lstStyle/>
                    <a:p>
                      <a:pPr algn="l"/>
                      <a:r>
                        <a:rPr sz="950" b="0" i="0">
                          <a:solidFill>
                            <a:srgbClr val="404040"/>
                          </a:solidFill>
                          <a:latin typeface="Arial"/>
                        </a:rPr>
                        <a:t>Arniston hotel guests already walk through</a:t>
                      </a:r>
                    </a:p>
                  </a:txBody>
                  <a:tcPr marL="54864" marR="54864" marT="27432" marB="27432" anchor="ctr">
                    <a:solidFill>
                      <a:srgbClr val="F2F2F2"/>
                    </a:solidFill>
                  </a:tcPr>
                </a:tc>
                <a:tc>
                  <a:txBody>
                    <a:bodyPr wrap="square"/>
                    <a:lstStyle/>
                    <a:p>
                      <a:pPr algn="l"/>
                      <a:r>
                        <a:rPr sz="950" b="0" i="0">
                          <a:solidFill>
                            <a:srgbClr val="404040"/>
                          </a:solidFill>
                          <a:latin typeface="Arial"/>
                        </a:rPr>
                        <a:t>Single selling route; hotel-based slipway visit</a:t>
                      </a:r>
                    </a:p>
                  </a:txBody>
                  <a:tcPr marL="54864" marR="54864" marT="27432" marB="27432" anchor="ctr">
                    <a:solidFill>
                      <a:srgbClr val="F2F2F2"/>
                    </a:solidFill>
                  </a:tcPr>
                </a:tc>
                <a:tc>
                  <a:txBody>
                    <a:bodyPr wrap="square"/>
                    <a:lstStyle/>
                    <a:p>
                      <a:pPr algn="l"/>
                      <a:r>
                        <a:rPr sz="950" b="0" i="0">
                          <a:solidFill>
                            <a:srgbClr val="404040"/>
                          </a:solidFill>
                          <a:latin typeface="Arial"/>
                        </a:rPr>
                        <a:t>Cape Agulhas Tourism; Vissersunie</a:t>
                      </a:r>
                    </a:p>
                  </a:txBody>
                  <a:tcPr marL="54864" marR="54864" marT="27432" marB="27432" anchor="ctr">
                    <a:solidFill>
                      <a:srgbClr val="F2F2F2"/>
                    </a:solidFill>
                  </a:tcPr>
                </a:tc>
              </a:tr>
              <a:tr h="475488">
                <a:tc>
                  <a:txBody>
                    <a:bodyPr wrap="square"/>
                    <a:lstStyle/>
                    <a:p>
                      <a:pPr algn="l"/>
                      <a:r>
                        <a:rPr sz="950" b="1" i="0">
                          <a:solidFill>
                            <a:srgbClr val="1F497D"/>
                          </a:solidFill>
                          <a:latin typeface="Arial"/>
                        </a:rPr>
                        <a:t>Knysna north</a:t>
                      </a:r>
                    </a:p>
                  </a:txBody>
                  <a:tcPr marL="54864" marR="54864" marT="27432" marB="27432" anchor="ctr">
                    <a:solidFill>
                      <a:srgbClr val="FFFFFF"/>
                    </a:solidFill>
                  </a:tcPr>
                </a:tc>
                <a:tc>
                  <a:txBody>
                    <a:bodyPr wrap="square"/>
                    <a:lstStyle/>
                    <a:p>
                      <a:pPr algn="l"/>
                      <a:r>
                        <a:rPr sz="950" b="0" i="0">
                          <a:solidFill>
                            <a:srgbClr val="404040"/>
                          </a:solidFill>
                          <a:latin typeface="Arial"/>
                        </a:rPr>
                        <a:t>Estuary cruises and Oyster Festival</a:t>
                      </a:r>
                    </a:p>
                  </a:txBody>
                  <a:tcPr marL="54864" marR="54864" marT="27432" marB="27432" anchor="ctr">
                    <a:solidFill>
                      <a:srgbClr val="FFFFFF"/>
                    </a:solidFill>
                  </a:tcPr>
                </a:tc>
                <a:tc>
                  <a:txBody>
                    <a:bodyPr wrap="square"/>
                    <a:lstStyle/>
                    <a:p>
                      <a:pPr algn="l"/>
                      <a:r>
                        <a:rPr sz="950" b="0" i="0">
                          <a:solidFill>
                            <a:srgbClr val="404040"/>
                          </a:solidFill>
                          <a:latin typeface="Arial"/>
                        </a:rPr>
                        <a:t>Bookable Judah Square walk on cruise-operator channels</a:t>
                      </a:r>
                    </a:p>
                  </a:txBody>
                  <a:tcPr marL="54864" marR="54864" marT="27432" marB="27432" anchor="ctr">
                    <a:solidFill>
                      <a:srgbClr val="FFFFFF"/>
                    </a:solidFill>
                  </a:tcPr>
                </a:tc>
                <a:tc>
                  <a:txBody>
                    <a:bodyPr wrap="square"/>
                    <a:lstStyle/>
                    <a:p>
                      <a:pPr algn="l"/>
                      <a:r>
                        <a:rPr sz="950" b="0" i="0">
                          <a:solidFill>
                            <a:srgbClr val="404040"/>
                          </a:solidFill>
                          <a:latin typeface="Arial"/>
                        </a:rPr>
                        <a:t>Visit Knysna</a:t>
                      </a:r>
                    </a:p>
                  </a:txBody>
                  <a:tcPr marL="54864" marR="54864" marT="27432" marB="27432" anchor="ctr">
                    <a:solidFill>
                      <a:srgbClr val="FFFFFF"/>
                    </a:solidFill>
                  </a:tcPr>
                </a:tc>
              </a:tr>
              <a:tr h="475488">
                <a:tc>
                  <a:txBody>
                    <a:bodyPr wrap="square"/>
                    <a:lstStyle/>
                    <a:p>
                      <a:pPr algn="l"/>
                      <a:r>
                        <a:rPr sz="950" b="1" i="0">
                          <a:solidFill>
                            <a:srgbClr val="1F497D"/>
                          </a:solidFill>
                          <a:latin typeface="Arial"/>
                        </a:rPr>
                        <a:t>Prince Albert North</a:t>
                      </a:r>
                    </a:p>
                  </a:txBody>
                  <a:tcPr marL="54864" marR="54864" marT="27432" marB="27432" anchor="ctr">
                    <a:solidFill>
                      <a:srgbClr val="F2F2F2"/>
                    </a:solidFill>
                  </a:tcPr>
                </a:tc>
                <a:tc>
                  <a:txBody>
                    <a:bodyPr wrap="square"/>
                    <a:lstStyle/>
                    <a:p>
                      <a:pPr algn="l"/>
                      <a:r>
                        <a:rPr sz="950" b="0" i="0">
                          <a:solidFill>
                            <a:srgbClr val="404040"/>
                          </a:solidFill>
                          <a:latin typeface="Arial"/>
                        </a:rPr>
                        <a:t>2.2-day Thursday-to-Sunday visitors</a:t>
                      </a:r>
                    </a:p>
                  </a:txBody>
                  <a:tcPr marL="54864" marR="54864" marT="27432" marB="27432" anchor="ctr">
                    <a:solidFill>
                      <a:srgbClr val="F2F2F2"/>
                    </a:solidFill>
                  </a:tcPr>
                </a:tc>
                <a:tc>
                  <a:txBody>
                    <a:bodyPr wrap="square"/>
                    <a:lstStyle/>
                    <a:p>
                      <a:pPr algn="l"/>
                      <a:r>
                        <a:rPr sz="950" b="0" i="0">
                          <a:solidFill>
                            <a:srgbClr val="404040"/>
                          </a:solidFill>
                          <a:latin typeface="Arial"/>
                        </a:rPr>
                        <a:t>POP Centre trading Thu-Sun; paid northern leg of heritage walk</a:t>
                      </a:r>
                    </a:p>
                  </a:txBody>
                  <a:tcPr marL="54864" marR="54864" marT="27432" marB="27432" anchor="ctr">
                    <a:solidFill>
                      <a:srgbClr val="F2F2F2"/>
                    </a:solidFill>
                  </a:tcPr>
                </a:tc>
                <a:tc>
                  <a:txBody>
                    <a:bodyPr wrap="square"/>
                    <a:lstStyle/>
                    <a:p>
                      <a:pPr algn="l"/>
                      <a:r>
                        <a:rPr sz="950" b="0" i="0">
                          <a:solidFill>
                            <a:srgbClr val="404040"/>
                          </a:solidFill>
                          <a:latin typeface="Arial"/>
                        </a:rPr>
                        <a:t>Community Trust; Tourism Association</a:t>
                      </a:r>
                    </a:p>
                  </a:txBody>
                  <a:tcPr marL="54864" marR="54864" marT="27432" marB="27432" anchor="ctr">
                    <a:solidFill>
                      <a:srgbClr val="F2F2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Every benchmark destination solved coordination first; the Western Cape has the problem and one working model</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GOVERNANCE AND DATA</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Stakeholder Insights Report (Mar 2026) pp20-46 (16 organisations; counts are a Letsema tally); municipal and mobility factbases; Global Benchmarking Report (Mar 2026); MIDAS Aviation Market Assessment (Mar 2026) p13</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3703320" cy="2697480"/>
          </a:xfrm>
          <a:prstGeom prst="rect">
            <a:avLst/>
          </a:prstGeom>
          <a:solidFill>
            <a:srgbClr val="F2F2F2"/>
          </a:solidFill>
          <a:ln>
            <a:noFill/>
          </a:ln>
        </p:spPr>
        <p:txBody>
          <a:bodyPr rtlCol="0" anchor="ctr"/>
          <a:lstStyle/>
          <a:p>
            <a:pPr algn="ctr"/>
          </a:p>
        </p:txBody>
      </p:sp>
      <p:sp>
        <p:nvSpPr>
          <p:cNvPr id="9" name="Rectangle 8"/>
          <p:cNvSpPr/>
          <p:nvPr/>
        </p:nvSpPr>
        <p:spPr>
          <a:xfrm>
            <a:off x="384048" y="1234440"/>
            <a:ext cx="54864" cy="2697480"/>
          </a:xfrm>
          <a:prstGeom prst="rect">
            <a:avLst/>
          </a:prstGeom>
          <a:solidFill>
            <a:srgbClr val="00AEEF"/>
          </a:solidFill>
          <a:ln>
            <a:noFill/>
          </a:ln>
        </p:spPr>
        <p:txBody>
          <a:bodyPr rtlCol="0" anchor="ctr"/>
          <a:lstStyle/>
          <a:p>
            <a:pPr algn="ctr"/>
          </a:p>
        </p:txBody>
      </p:sp>
      <p:sp>
        <p:nvSpPr>
          <p:cNvPr id="10" name="TextBox 9"/>
          <p:cNvSpPr txBox="1"/>
          <p:nvPr/>
        </p:nvSpPr>
        <p:spPr>
          <a:xfrm>
            <a:off x="548640" y="132588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Mandates are fragmented</a:t>
            </a:r>
          </a:p>
        </p:txBody>
      </p:sp>
      <p:sp>
        <p:nvSpPr>
          <p:cNvPr id="11" name="TextBox 10"/>
          <p:cNvSpPr txBox="1"/>
          <p:nvPr/>
        </p:nvSpPr>
        <p:spPr>
          <a:xfrm>
            <a:off x="548640" y="1645920"/>
            <a:ext cx="3429000" cy="21945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950" b="0" i="0">
                <a:solidFill>
                  <a:srgbClr val="404040"/>
                </a:solidFill>
                <a:latin typeface="Arial"/>
              </a:rPr>
              <a:t>ACSA, TNPA and Home Affairs hold airport, port and visa levers.</a:t>
            </a:r>
          </a:p>
          <a:p>
            <a:pPr algn="l" marL="146304" indent="-146304">
              <a:spcAft>
                <a:spcPts val="500"/>
              </a:spcAft>
              <a:buClr>
                <a:srgbClr val="00AEEF"/>
              </a:buClr>
              <a:buFont typeface="Arial"/>
              <a:buChar char="•"/>
            </a:pPr>
            <a:r>
              <a:rPr sz="950" b="0" i="0">
                <a:solidFill>
                  <a:srgbClr val="404040"/>
                </a:solidFill>
                <a:latin typeface="Arial"/>
              </a:rPr>
              <a:t>Tourism funding is materially below peer destinations (DEDAT, High impact).</a:t>
            </a:r>
          </a:p>
          <a:p>
            <a:pPr algn="l" marL="146304" indent="-146304">
              <a:spcAft>
                <a:spcPts val="500"/>
              </a:spcAft>
              <a:buClr>
                <a:srgbClr val="00AEEF"/>
              </a:buClr>
              <a:buFont typeface="Arial"/>
              <a:buChar char="•"/>
            </a:pPr>
            <a:r>
              <a:rPr sz="950" b="0" i="0">
                <a:solidFill>
                  <a:srgbClr val="404040"/>
                </a:solidFill>
                <a:latin typeface="Arial"/>
              </a:rPr>
              <a:t>Circular 131 disrupted municipal funding for local tourism bodies.</a:t>
            </a:r>
          </a:p>
          <a:p>
            <a:pPr algn="l" marL="146304" indent="-146304">
              <a:spcAft>
                <a:spcPts val="500"/>
              </a:spcAft>
              <a:buClr>
                <a:srgbClr val="00AEEF"/>
              </a:buClr>
              <a:buFont typeface="Arial"/>
              <a:buChar char="•"/>
            </a:pPr>
            <a:r>
              <a:rPr sz="950" b="0" i="0">
                <a:solidFill>
                  <a:srgbClr val="404040"/>
                </a:solidFill>
                <a:latin typeface="Arial"/>
              </a:rPr>
              <a:t>The City coordination cluster is still only proposed.</a:t>
            </a:r>
          </a:p>
        </p:txBody>
      </p:sp>
      <p:sp>
        <p:nvSpPr>
          <p:cNvPr id="12" name="Rectangle 11"/>
          <p:cNvSpPr/>
          <p:nvPr/>
        </p:nvSpPr>
        <p:spPr>
          <a:xfrm>
            <a:off x="4242816" y="1234440"/>
            <a:ext cx="3703320" cy="2697480"/>
          </a:xfrm>
          <a:prstGeom prst="rect">
            <a:avLst/>
          </a:prstGeom>
          <a:solidFill>
            <a:srgbClr val="F2F2F2"/>
          </a:solidFill>
          <a:ln>
            <a:noFill/>
          </a:ln>
        </p:spPr>
        <p:txBody>
          <a:bodyPr rtlCol="0" anchor="ctr"/>
          <a:lstStyle/>
          <a:p>
            <a:pPr algn="ctr"/>
          </a:p>
        </p:txBody>
      </p:sp>
      <p:sp>
        <p:nvSpPr>
          <p:cNvPr id="13" name="Rectangle 12"/>
          <p:cNvSpPr/>
          <p:nvPr/>
        </p:nvSpPr>
        <p:spPr>
          <a:xfrm>
            <a:off x="4242816" y="1234440"/>
            <a:ext cx="54864" cy="2697480"/>
          </a:xfrm>
          <a:prstGeom prst="rect">
            <a:avLst/>
          </a:prstGeom>
          <a:solidFill>
            <a:srgbClr val="00AEEF"/>
          </a:solidFill>
          <a:ln>
            <a:noFill/>
          </a:ln>
        </p:spPr>
        <p:txBody>
          <a:bodyPr rtlCol="0" anchor="ctr"/>
          <a:lstStyle/>
          <a:p>
            <a:pPr algn="ctr"/>
          </a:p>
        </p:txBody>
      </p:sp>
      <p:sp>
        <p:nvSpPr>
          <p:cNvPr id="14" name="TextBox 13"/>
          <p:cNvSpPr txBox="1"/>
          <p:nvPr/>
        </p:nvSpPr>
        <p:spPr>
          <a:xfrm>
            <a:off x="4407407" y="132588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Data is lagged and proxy-based</a:t>
            </a:r>
          </a:p>
        </p:txBody>
      </p:sp>
      <p:sp>
        <p:nvSpPr>
          <p:cNvPr id="15" name="TextBox 14"/>
          <p:cNvSpPr txBox="1"/>
          <p:nvPr/>
        </p:nvSpPr>
        <p:spPr>
          <a:xfrm>
            <a:off x="4407407" y="1645920"/>
            <a:ext cx="3429000" cy="21945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950" b="0" i="0">
                <a:solidFill>
                  <a:srgbClr val="404040"/>
                </a:solidFill>
                <a:latin typeface="Arial"/>
              </a:rPr>
              <a:t>No approved method for provincial tourism GDP and jobs.</a:t>
            </a:r>
          </a:p>
          <a:p>
            <a:pPr algn="l" marL="146304" indent="-146304">
              <a:spcAft>
                <a:spcPts val="500"/>
              </a:spcAft>
              <a:buClr>
                <a:srgbClr val="00AEEF"/>
              </a:buClr>
              <a:buFont typeface="Arial"/>
              <a:buChar char="•"/>
            </a:pPr>
            <a:r>
              <a:rPr sz="950" b="0" i="0">
                <a:solidFill>
                  <a:srgbClr val="404040"/>
                </a:solidFill>
                <a:latin typeface="Arial"/>
              </a:rPr>
              <a:t>Stats SA cites 749 vacancies slowing the tourism satellite account.</a:t>
            </a:r>
          </a:p>
          <a:p>
            <a:pPr algn="l" marL="146304" indent="-146304">
              <a:spcAft>
                <a:spcPts val="500"/>
              </a:spcAft>
              <a:buClr>
                <a:srgbClr val="00AEEF"/>
              </a:buClr>
              <a:buFont typeface="Arial"/>
              <a:buChar char="•"/>
            </a:pPr>
            <a:r>
              <a:rPr sz="950" b="0" i="0">
                <a:solidFill>
                  <a:srgbClr val="404040"/>
                </a:solidFill>
                <a:latin typeface="Arial"/>
              </a:rPr>
              <a:t>Booking data lags 3-4 months; attractions do not share visitor data.</a:t>
            </a:r>
          </a:p>
          <a:p>
            <a:pPr algn="l" marL="146304" indent="-146304">
              <a:spcAft>
                <a:spcPts val="500"/>
              </a:spcAft>
              <a:buClr>
                <a:srgbClr val="00AEEF"/>
              </a:buClr>
              <a:buFont typeface="Arial"/>
              <a:buChar char="•"/>
            </a:pPr>
            <a:r>
              <a:rPr sz="950" b="0" i="0">
                <a:solidFill>
                  <a:srgbClr val="404040"/>
                </a:solidFill>
                <a:latin typeface="Arial"/>
              </a:rPr>
              <a:t>Robben Island cannot link marketing spend to acquisition.</a:t>
            </a:r>
          </a:p>
        </p:txBody>
      </p:sp>
      <p:sp>
        <p:nvSpPr>
          <p:cNvPr id="16" name="Rectangle 15"/>
          <p:cNvSpPr/>
          <p:nvPr/>
        </p:nvSpPr>
        <p:spPr>
          <a:xfrm>
            <a:off x="8101583" y="1234440"/>
            <a:ext cx="3703320" cy="2697480"/>
          </a:xfrm>
          <a:prstGeom prst="rect">
            <a:avLst/>
          </a:prstGeom>
          <a:solidFill>
            <a:srgbClr val="F2F2F2"/>
          </a:solidFill>
          <a:ln>
            <a:noFill/>
          </a:ln>
        </p:spPr>
        <p:txBody>
          <a:bodyPr rtlCol="0" anchor="ctr"/>
          <a:lstStyle/>
          <a:p>
            <a:pPr algn="ctr"/>
          </a:p>
        </p:txBody>
      </p:sp>
      <p:sp>
        <p:nvSpPr>
          <p:cNvPr id="17" name="Rectangle 16"/>
          <p:cNvSpPr/>
          <p:nvPr/>
        </p:nvSpPr>
        <p:spPr>
          <a:xfrm>
            <a:off x="8101583" y="1234440"/>
            <a:ext cx="54864" cy="2697480"/>
          </a:xfrm>
          <a:prstGeom prst="rect">
            <a:avLst/>
          </a:prstGeom>
          <a:solidFill>
            <a:srgbClr val="00AEEF"/>
          </a:solidFill>
          <a:ln>
            <a:noFill/>
          </a:ln>
        </p:spPr>
        <p:txBody>
          <a:bodyPr rtlCol="0" anchor="ctr"/>
          <a:lstStyle/>
          <a:p>
            <a:pPr algn="ctr"/>
          </a:p>
        </p:txBody>
      </p:sp>
      <p:sp>
        <p:nvSpPr>
          <p:cNvPr id="18" name="TextBox 17"/>
          <p:cNvSpPr txBox="1"/>
          <p:nvPr/>
        </p:nvSpPr>
        <p:spPr>
          <a:xfrm>
            <a:off x="8266175" y="132588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works here</a:t>
            </a:r>
          </a:p>
        </p:txBody>
      </p:sp>
      <p:sp>
        <p:nvSpPr>
          <p:cNvPr id="19" name="TextBox 18"/>
          <p:cNvSpPr txBox="1"/>
          <p:nvPr/>
        </p:nvSpPr>
        <p:spPr>
          <a:xfrm>
            <a:off x="8266175" y="1645920"/>
            <a:ext cx="3429000" cy="21945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950" b="0" i="0">
                <a:solidFill>
                  <a:srgbClr val="404040"/>
                </a:solidFill>
                <a:latin typeface="Arial"/>
              </a:rPr>
              <a:t>Cape Town Air Access: 17 mainline routes in a decade.</a:t>
            </a:r>
          </a:p>
          <a:p>
            <a:pPr algn="l" marL="146304" indent="-146304">
              <a:spcAft>
                <a:spcPts val="500"/>
              </a:spcAft>
              <a:buClr>
                <a:srgbClr val="00AEEF"/>
              </a:buClr>
              <a:buFont typeface="Arial"/>
              <a:buChar char="•"/>
            </a:pPr>
            <a:r>
              <a:rPr sz="950" b="0" i="0">
                <a:solidFill>
                  <a:srgbClr val="404040"/>
                </a:solidFill>
                <a:latin typeface="Arial"/>
              </a:rPr>
              <a:t>JAMS convenes associations, Wesgro, WCG and the City.</a:t>
            </a:r>
          </a:p>
          <a:p>
            <a:pPr algn="l" marL="146304" indent="-146304">
              <a:spcAft>
                <a:spcPts val="500"/>
              </a:spcAft>
              <a:buClr>
                <a:srgbClr val="00AEEF"/>
              </a:buClr>
              <a:buFont typeface="Arial"/>
              <a:buChar char="•"/>
            </a:pPr>
            <a:r>
              <a:rPr sz="950" b="0" i="0">
                <a:solidFill>
                  <a:srgbClr val="404040"/>
                </a:solidFill>
                <a:latin typeface="Arial"/>
              </a:rPr>
              <a:t>Mossel Bay cruise calls rose from 4 to 27 through coordination.</a:t>
            </a:r>
          </a:p>
        </p:txBody>
      </p:sp>
      <p:graphicFrame>
        <p:nvGraphicFramePr>
          <p:cNvPr id="20" name="Table 19"/>
          <p:cNvGraphicFramePr>
            <a:graphicFrameLocks noGrp="1"/>
          </p:cNvGraphicFramePr>
          <p:nvPr/>
        </p:nvGraphicFramePr>
        <p:xfrm>
          <a:off x="384048" y="4069080"/>
          <a:ext cx="11420856" cy="1316736"/>
        </p:xfrm>
        <a:graphic>
          <a:graphicData uri="http://schemas.openxmlformats.org/drawingml/2006/table">
            <a:tbl>
              <a:tblPr firstRow="1" bandRow="0">
                <a:tableStyleId>{5C22544A-7EE6-4342-B048-85BDC9FD1C3A}</a:tableStyleId>
              </a:tblPr>
              <a:tblGrid>
                <a:gridCol w="1645920"/>
                <a:gridCol w="5486400"/>
                <a:gridCol w="4288536"/>
              </a:tblGrid>
              <a:tr h="329184">
                <a:tc>
                  <a:txBody>
                    <a:bodyPr wrap="square"/>
                    <a:lstStyle/>
                    <a:p>
                      <a:pPr algn="l"/>
                      <a:r>
                        <a:rPr sz="950" b="1" i="0">
                          <a:solidFill>
                            <a:srgbClr val="FFFFFF"/>
                          </a:solidFill>
                          <a:latin typeface="Arial"/>
                        </a:rPr>
                        <a:t>Benchmark model</a:t>
                      </a:r>
                    </a:p>
                  </a:txBody>
                  <a:tcPr marL="54864" marR="54864" marT="27432" marB="27432" anchor="ctr">
                    <a:solidFill>
                      <a:srgbClr val="1F497D"/>
                    </a:solidFill>
                  </a:tcPr>
                </a:tc>
                <a:tc>
                  <a:txBody>
                    <a:bodyPr wrap="square"/>
                    <a:lstStyle/>
                    <a:p>
                      <a:pPr algn="l"/>
                      <a:r>
                        <a:rPr sz="950" b="1" i="0">
                          <a:solidFill>
                            <a:srgbClr val="FFFFFF"/>
                          </a:solidFill>
                          <a:latin typeface="Arial"/>
                        </a:rPr>
                        <a:t>How it is organised</a:t>
                      </a:r>
                    </a:p>
                  </a:txBody>
                  <a:tcPr marL="54864" marR="54864" marT="27432" marB="27432" anchor="ctr">
                    <a:solidFill>
                      <a:srgbClr val="1F497D"/>
                    </a:solidFill>
                  </a:tcPr>
                </a:tc>
                <a:tc>
                  <a:txBody>
                    <a:bodyPr wrap="square"/>
                    <a:lstStyle/>
                    <a:p>
                      <a:pPr algn="l"/>
                      <a:r>
                        <a:rPr sz="950" b="1" i="0">
                          <a:solidFill>
                            <a:srgbClr val="FFFFFF"/>
                          </a:solidFill>
                          <a:latin typeface="Arial"/>
                        </a:rPr>
                        <a:t>Transferable move</a:t>
                      </a:r>
                    </a:p>
                  </a:txBody>
                  <a:tcPr marL="54864" marR="54864" marT="27432" marB="27432" anchor="ctr">
                    <a:solidFill>
                      <a:srgbClr val="1F497D"/>
                    </a:solidFill>
                  </a:tcPr>
                </a:tc>
              </a:tr>
              <a:tr h="329184">
                <a:tc>
                  <a:txBody>
                    <a:bodyPr wrap="square"/>
                    <a:lstStyle/>
                    <a:p>
                      <a:pPr algn="l"/>
                      <a:r>
                        <a:rPr sz="950" b="0" i="0">
                          <a:solidFill>
                            <a:srgbClr val="404040"/>
                          </a:solidFill>
                          <a:latin typeface="Arial"/>
                        </a:rPr>
                        <a:t>Singapore</a:t>
                      </a:r>
                    </a:p>
                  </a:txBody>
                  <a:tcPr marL="54864" marR="54864" marT="27432" marB="27432" anchor="ctr">
                    <a:solidFill>
                      <a:srgbClr val="FFFFFF"/>
                    </a:solidFill>
                  </a:tcPr>
                </a:tc>
                <a:tc>
                  <a:txBody>
                    <a:bodyPr wrap="square"/>
                    <a:lstStyle/>
                    <a:p>
                      <a:pPr algn="l"/>
                      <a:r>
                        <a:rPr sz="950" b="0" i="0">
                          <a:solidFill>
                            <a:srgbClr val="404040"/>
                          </a:solidFill>
                          <a:latin typeface="Arial"/>
                        </a:rPr>
                        <a:t>STB runs marketing, product, events and data; SECB, Changi and EDB aligned</a:t>
                      </a:r>
                    </a:p>
                  </a:txBody>
                  <a:tcPr marL="54864" marR="54864" marT="27432" marB="27432" anchor="ctr">
                    <a:solidFill>
                      <a:srgbClr val="FFFFFF"/>
                    </a:solidFill>
                  </a:tcPr>
                </a:tc>
                <a:tc>
                  <a:txBody>
                    <a:bodyPr wrap="square"/>
                    <a:lstStyle/>
                    <a:p>
                      <a:pPr algn="l"/>
                      <a:r>
                        <a:rPr sz="950" b="0" i="0">
                          <a:solidFill>
                            <a:srgbClr val="404040"/>
                          </a:solidFill>
                          <a:latin typeface="Arial"/>
                        </a:rPr>
                        <a:t>One orchestrating body with shared KPIs</a:t>
                      </a:r>
                    </a:p>
                  </a:txBody>
                  <a:tcPr marL="54864" marR="54864" marT="27432" marB="27432" anchor="ctr">
                    <a:solidFill>
                      <a:srgbClr val="FFFFFF"/>
                    </a:solidFill>
                  </a:tcPr>
                </a:tc>
              </a:tr>
              <a:tr h="329184">
                <a:tc>
                  <a:txBody>
                    <a:bodyPr wrap="square"/>
                    <a:lstStyle/>
                    <a:p>
                      <a:pPr algn="l"/>
                      <a:r>
                        <a:rPr sz="950" b="0" i="0">
                          <a:solidFill>
                            <a:srgbClr val="404040"/>
                          </a:solidFill>
                          <a:latin typeface="Arial"/>
                        </a:rPr>
                        <a:t>Valencia</a:t>
                      </a:r>
                    </a:p>
                  </a:txBody>
                  <a:tcPr marL="54864" marR="54864" marT="27432" marB="27432" anchor="ctr">
                    <a:solidFill>
                      <a:srgbClr val="F2F2F2"/>
                    </a:solidFill>
                  </a:tcPr>
                </a:tc>
                <a:tc>
                  <a:txBody>
                    <a:bodyPr wrap="square"/>
                    <a:lstStyle/>
                    <a:p>
                      <a:pPr algn="l"/>
                      <a:r>
                        <a:rPr sz="950" b="0" i="0">
                          <a:solidFill>
                            <a:srgbClr val="404040"/>
                          </a:solidFill>
                          <a:latin typeface="Arial"/>
                        </a:rPr>
                        <a:t>Visit València public-private, City chairs; sector product councils</a:t>
                      </a:r>
                    </a:p>
                  </a:txBody>
                  <a:tcPr marL="54864" marR="54864" marT="27432" marB="27432" anchor="ctr">
                    <a:solidFill>
                      <a:srgbClr val="F2F2F2"/>
                    </a:solidFill>
                  </a:tcPr>
                </a:tc>
                <a:tc>
                  <a:txBody>
                    <a:bodyPr wrap="square"/>
                    <a:lstStyle/>
                    <a:p>
                      <a:pPr algn="l"/>
                      <a:r>
                        <a:rPr sz="950" b="0" i="0">
                          <a:solidFill>
                            <a:srgbClr val="404040"/>
                          </a:solidFill>
                          <a:latin typeface="Arial"/>
                        </a:rPr>
                        <a:t>Sector councils: wine, MICE, adventure, culture</a:t>
                      </a:r>
                    </a:p>
                  </a:txBody>
                  <a:tcPr marL="54864" marR="54864" marT="27432" marB="27432" anchor="ctr">
                    <a:solidFill>
                      <a:srgbClr val="F2F2F2"/>
                    </a:solidFill>
                  </a:tcPr>
                </a:tc>
              </a:tr>
              <a:tr h="329184">
                <a:tc>
                  <a:txBody>
                    <a:bodyPr wrap="square"/>
                    <a:lstStyle/>
                    <a:p>
                      <a:pPr algn="l"/>
                      <a:r>
                        <a:rPr sz="950" b="0" i="0">
                          <a:solidFill>
                            <a:srgbClr val="404040"/>
                          </a:solidFill>
                          <a:latin typeface="Arial"/>
                        </a:rPr>
                        <a:t>New Zealand</a:t>
                      </a:r>
                    </a:p>
                  </a:txBody>
                  <a:tcPr marL="54864" marR="54864" marT="27432" marB="27432" anchor="ctr">
                    <a:solidFill>
                      <a:srgbClr val="FFFFFF"/>
                    </a:solidFill>
                  </a:tcPr>
                </a:tc>
                <a:tc>
                  <a:txBody>
                    <a:bodyPr wrap="square"/>
                    <a:lstStyle/>
                    <a:p>
                      <a:pPr algn="l"/>
                      <a:r>
                        <a:rPr sz="950" b="0" i="0">
                          <a:solidFill>
                            <a:srgbClr val="404040"/>
                          </a:solidFill>
                          <a:latin typeface="Arial"/>
                        </a:rPr>
                        <a:t>Policy, marketing, conservation and regions separated but coordinated</a:t>
                      </a:r>
                    </a:p>
                  </a:txBody>
                  <a:tcPr marL="54864" marR="54864" marT="27432" marB="27432" anchor="ctr">
                    <a:solidFill>
                      <a:srgbClr val="FFFFFF"/>
                    </a:solidFill>
                  </a:tcPr>
                </a:tc>
                <a:tc>
                  <a:txBody>
                    <a:bodyPr wrap="square"/>
                    <a:lstStyle/>
                    <a:p>
                      <a:pPr algn="l"/>
                      <a:r>
                        <a:rPr sz="950" b="0" i="0">
                          <a:solidFill>
                            <a:srgbClr val="404040"/>
                          </a:solidFill>
                          <a:latin typeface="Arial"/>
                        </a:rPr>
                        <a:t>Route-accountable marketing; yield KPIs</a:t>
                      </a:r>
                    </a:p>
                  </a:txBody>
                  <a:tcPr marL="54864" marR="54864" marT="27432" marB="27432" anchor="ctr">
                    <a:solidFill>
                      <a:srgbClr val="FFFFFF"/>
                    </a:solidFill>
                  </a:tcPr>
                </a:tc>
              </a:tr>
            </a:tbl>
          </a:graphicData>
        </a:graphic>
      </p:graphicFrame>
      <p:sp>
        <p:nvSpPr>
          <p:cNvPr id="21" name="Rectangle 20"/>
          <p:cNvSpPr/>
          <p:nvPr/>
        </p:nvSpPr>
        <p:spPr>
          <a:xfrm>
            <a:off x="384048" y="5760720"/>
            <a:ext cx="11420856" cy="438912"/>
          </a:xfrm>
          <a:prstGeom prst="rect">
            <a:avLst/>
          </a:prstGeom>
          <a:solidFill>
            <a:srgbClr val="1F497D"/>
          </a:solidFill>
          <a:ln>
            <a:noFill/>
          </a:ln>
        </p:spPr>
        <p:txBody>
          <a:bodyPr rtlCol="0" anchor="ctr"/>
          <a:lstStyle/>
          <a:p>
            <a:pPr algn="ctr"/>
          </a:p>
        </p:txBody>
      </p:sp>
      <p:sp>
        <p:nvSpPr>
          <p:cNvPr id="22" name="TextBox 21"/>
          <p:cNvSpPr txBox="1"/>
          <p:nvPr/>
        </p:nvSpPr>
        <p:spPr>
          <a:xfrm>
            <a:off x="548640" y="5760720"/>
            <a:ext cx="11064240" cy="438912"/>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Replicate the Air Access model for events, quality and data, with shared KPIs.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Governance, collaboration and inclusion are proven; skills and capital remain untested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BUILD ENABLING CAPABILITY | VERDICT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SME &amp; Community Inclusion Plan (Sep 2026); Stakeholder Insights Report (Mar 2026); factbases; Infrastructure Report (Jun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097280"/>
            <a:ext cx="11420856" cy="274320"/>
          </a:xfrm>
          <a:prstGeom prst="rect">
            <a:avLst/>
          </a:prstGeom>
          <a:solidFill>
            <a:srgbClr val="1F497D"/>
          </a:solidFill>
          <a:ln>
            <a:noFill/>
          </a:ln>
        </p:spPr>
        <p:txBody>
          <a:bodyPr rtlCol="0" anchor="ctr"/>
          <a:lstStyle/>
          <a:p>
            <a:pPr algn="ctr"/>
          </a:p>
        </p:txBody>
      </p:sp>
      <p:sp>
        <p:nvSpPr>
          <p:cNvPr id="9" name="TextBox 8"/>
          <p:cNvSpPr txBox="1"/>
          <p:nvPr/>
        </p:nvSpPr>
        <p:spPr>
          <a:xfrm>
            <a:off x="420623" y="1097280"/>
            <a:ext cx="245973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Focus area (v4 tree)</a:t>
            </a:r>
          </a:p>
        </p:txBody>
      </p:sp>
      <p:sp>
        <p:nvSpPr>
          <p:cNvPr id="10" name="TextBox 9"/>
          <p:cNvSpPr txBox="1"/>
          <p:nvPr/>
        </p:nvSpPr>
        <p:spPr>
          <a:xfrm>
            <a:off x="2935224" y="1097280"/>
            <a:ext cx="7223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Team marker</a:t>
            </a:r>
          </a:p>
        </p:txBody>
      </p:sp>
      <p:sp>
        <p:nvSpPr>
          <p:cNvPr id="11" name="TextBox 10"/>
          <p:cNvSpPr txBox="1"/>
          <p:nvPr/>
        </p:nvSpPr>
        <p:spPr>
          <a:xfrm>
            <a:off x="3712463" y="1097280"/>
            <a:ext cx="124358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Our verdict</a:t>
            </a:r>
          </a:p>
        </p:txBody>
      </p:sp>
      <p:sp>
        <p:nvSpPr>
          <p:cNvPr id="12" name="TextBox 11"/>
          <p:cNvSpPr txBox="1"/>
          <p:nvPr/>
        </p:nvSpPr>
        <p:spPr>
          <a:xfrm>
            <a:off x="5010912" y="1097280"/>
            <a:ext cx="694944"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Evidence</a:t>
            </a:r>
          </a:p>
        </p:txBody>
      </p:sp>
      <p:sp>
        <p:nvSpPr>
          <p:cNvPr id="13" name="TextBox 12"/>
          <p:cNvSpPr txBox="1"/>
          <p:nvPr/>
        </p:nvSpPr>
        <p:spPr>
          <a:xfrm>
            <a:off x="5760720" y="1097280"/>
            <a:ext cx="319125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What the evidence shows</a:t>
            </a:r>
          </a:p>
        </p:txBody>
      </p:sp>
      <p:sp>
        <p:nvSpPr>
          <p:cNvPr id="14" name="TextBox 13"/>
          <p:cNvSpPr txBox="1"/>
          <p:nvPr/>
        </p:nvSpPr>
        <p:spPr>
          <a:xfrm>
            <a:off x="9006839" y="1097280"/>
            <a:ext cx="2779776" cy="274320"/>
          </a:xfrm>
          <a:prstGeom prst="rect">
            <a:avLst/>
          </a:prstGeom>
          <a:noFill/>
        </p:spPr>
        <p:txBody>
          <a:bodyPr wrap="square" anchor="ctr" lIns="36576" rIns="36576" tIns="21945" bIns="21945">
            <a:spAutoFit/>
          </a:bodyPr>
          <a:lstStyle/>
          <a:p>
            <a:pPr algn="l">
              <a:spcAft>
                <a:spcPts val="0"/>
              </a:spcAft>
            </a:pPr>
            <a:r>
              <a:rPr sz="900" b="1" i="0">
                <a:solidFill>
                  <a:srgbClr val="FFFFFF"/>
                </a:solidFill>
                <a:latin typeface="Arial"/>
              </a:rPr>
              <a:t>So what</a:t>
            </a:r>
          </a:p>
        </p:txBody>
      </p:sp>
      <p:sp>
        <p:nvSpPr>
          <p:cNvPr id="15" name="TextBox 14"/>
          <p:cNvSpPr txBox="1"/>
          <p:nvPr/>
        </p:nvSpPr>
        <p:spPr>
          <a:xfrm>
            <a:off x="384048" y="1408176"/>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INCLUSION AND SUSTAINABILITY</a:t>
            </a:r>
          </a:p>
        </p:txBody>
      </p:sp>
      <p:sp>
        <p:nvSpPr>
          <p:cNvPr id="16" name="TextBox 15"/>
          <p:cNvSpPr txBox="1"/>
          <p:nvPr/>
        </p:nvSpPr>
        <p:spPr>
          <a:xfrm>
            <a:off x="402336" y="1636776"/>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3a  </a:t>
            </a:r>
            <a:r>
              <a:rPr sz="1000" b="1" i="0">
                <a:solidFill>
                  <a:srgbClr val="1F497D"/>
                </a:solidFill>
                <a:latin typeface="Arial"/>
              </a:rPr>
              <a:t>Include MSMEs and communities in tourism value chains</a:t>
            </a:r>
          </a:p>
        </p:txBody>
      </p:sp>
      <p:sp>
        <p:nvSpPr>
          <p:cNvPr id="17" name="Oval 16"/>
          <p:cNvSpPr/>
          <p:nvPr/>
        </p:nvSpPr>
        <p:spPr>
          <a:xfrm>
            <a:off x="2944368" y="1874520"/>
            <a:ext cx="91440" cy="91440"/>
          </a:xfrm>
          <a:prstGeom prst="ellipse">
            <a:avLst/>
          </a:prstGeom>
          <a:solidFill>
            <a:srgbClr val="E97132"/>
          </a:solidFill>
          <a:ln>
            <a:noFill/>
          </a:ln>
        </p:spPr>
        <p:txBody>
          <a:bodyPr rtlCol="0" anchor="ctr"/>
          <a:lstStyle/>
          <a:p>
            <a:pPr algn="ctr"/>
          </a:p>
        </p:txBody>
      </p:sp>
      <p:sp>
        <p:nvSpPr>
          <p:cNvPr id="18" name="TextBox 17"/>
          <p:cNvSpPr txBox="1"/>
          <p:nvPr/>
        </p:nvSpPr>
        <p:spPr>
          <a:xfrm>
            <a:off x="3063240" y="1636776"/>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19" name="Rounded Rectangle 18"/>
          <p:cNvSpPr/>
          <p:nvPr/>
        </p:nvSpPr>
        <p:spPr>
          <a:xfrm>
            <a:off x="3703320" y="1801368"/>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20" name="Oval 19"/>
          <p:cNvSpPr/>
          <p:nvPr/>
        </p:nvSpPr>
        <p:spPr>
          <a:xfrm>
            <a:off x="5047488" y="1869948"/>
            <a:ext cx="100584" cy="100584"/>
          </a:xfrm>
          <a:prstGeom prst="ellipse">
            <a:avLst/>
          </a:prstGeom>
          <a:solidFill>
            <a:srgbClr val="1F497D"/>
          </a:solidFill>
          <a:ln w="9525">
            <a:solidFill>
              <a:srgbClr val="1F497D"/>
            </a:solidFill>
          </a:ln>
        </p:spPr>
        <p:txBody>
          <a:bodyPr rtlCol="0" anchor="ctr"/>
          <a:lstStyle/>
          <a:p>
            <a:pPr algn="ctr"/>
          </a:p>
        </p:txBody>
      </p:sp>
      <p:sp>
        <p:nvSpPr>
          <p:cNvPr id="21" name="Oval 20"/>
          <p:cNvSpPr/>
          <p:nvPr/>
        </p:nvSpPr>
        <p:spPr>
          <a:xfrm>
            <a:off x="5184648" y="1869948"/>
            <a:ext cx="100584" cy="100584"/>
          </a:xfrm>
          <a:prstGeom prst="ellipse">
            <a:avLst/>
          </a:prstGeom>
          <a:solidFill>
            <a:srgbClr val="1F497D"/>
          </a:solidFill>
          <a:ln w="9525">
            <a:solidFill>
              <a:srgbClr val="1F497D"/>
            </a:solidFill>
          </a:ln>
        </p:spPr>
        <p:txBody>
          <a:bodyPr rtlCol="0" anchor="ctr"/>
          <a:lstStyle/>
          <a:p>
            <a:pPr algn="ctr"/>
          </a:p>
        </p:txBody>
      </p:sp>
      <p:sp>
        <p:nvSpPr>
          <p:cNvPr id="22" name="Oval 21"/>
          <p:cNvSpPr/>
          <p:nvPr/>
        </p:nvSpPr>
        <p:spPr>
          <a:xfrm>
            <a:off x="5321807" y="1869948"/>
            <a:ext cx="100584" cy="100584"/>
          </a:xfrm>
          <a:prstGeom prst="ellipse">
            <a:avLst/>
          </a:prstGeom>
          <a:solidFill>
            <a:srgbClr val="1F497D"/>
          </a:solidFill>
          <a:ln w="9525">
            <a:solidFill>
              <a:srgbClr val="1F497D"/>
            </a:solidFill>
          </a:ln>
        </p:spPr>
        <p:txBody>
          <a:bodyPr rtlCol="0" anchor="ctr"/>
          <a:lstStyle/>
          <a:p>
            <a:pPr algn="ctr"/>
          </a:p>
        </p:txBody>
      </p:sp>
      <p:sp>
        <p:nvSpPr>
          <p:cNvPr id="23" name="TextBox 22"/>
          <p:cNvSpPr txBox="1"/>
          <p:nvPr/>
        </p:nvSpPr>
        <p:spPr>
          <a:xfrm>
            <a:off x="5724144" y="1636776"/>
            <a:ext cx="3172968" cy="566928"/>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20 communities hold 18.4% of residents and 0.02-0.04% of foreign spend; organisation binds in 11.</a:t>
            </a:r>
          </a:p>
        </p:txBody>
      </p:sp>
      <p:sp>
        <p:nvSpPr>
          <p:cNvPr id="24" name="TextBox 23"/>
          <p:cNvSpPr txBox="1"/>
          <p:nvPr/>
        </p:nvSpPr>
        <p:spPr>
          <a:xfrm>
            <a:off x="8970263" y="1636776"/>
            <a:ext cx="2798064" cy="566928"/>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Fund a seller with a stake and pilot 2-3 communities.</a:t>
            </a:r>
          </a:p>
        </p:txBody>
      </p:sp>
      <p:cxnSp>
        <p:nvCxnSpPr>
          <p:cNvPr id="25" name="Connector 24"/>
          <p:cNvCxnSpPr/>
          <p:nvPr/>
        </p:nvCxnSpPr>
        <p:spPr>
          <a:xfrm>
            <a:off x="384048" y="220370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2336" y="2203704"/>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3b  </a:t>
            </a:r>
            <a:r>
              <a:rPr sz="1000" b="1" i="0">
                <a:solidFill>
                  <a:srgbClr val="1F497D"/>
                </a:solidFill>
                <a:latin typeface="Arial"/>
              </a:rPr>
              <a:t>Develop the tourism workforce and service skills</a:t>
            </a:r>
          </a:p>
        </p:txBody>
      </p:sp>
      <p:sp>
        <p:nvSpPr>
          <p:cNvPr id="27" name="Oval 26"/>
          <p:cNvSpPr/>
          <p:nvPr/>
        </p:nvSpPr>
        <p:spPr>
          <a:xfrm>
            <a:off x="2944368" y="2441448"/>
            <a:ext cx="91440" cy="91440"/>
          </a:xfrm>
          <a:prstGeom prst="ellipse">
            <a:avLst/>
          </a:prstGeom>
          <a:solidFill>
            <a:srgbClr val="E97132"/>
          </a:solidFill>
          <a:ln>
            <a:noFill/>
          </a:ln>
        </p:spPr>
        <p:txBody>
          <a:bodyPr rtlCol="0" anchor="ctr"/>
          <a:lstStyle/>
          <a:p>
            <a:pPr algn="ctr"/>
          </a:p>
        </p:txBody>
      </p:sp>
      <p:sp>
        <p:nvSpPr>
          <p:cNvPr id="28" name="TextBox 27"/>
          <p:cNvSpPr txBox="1"/>
          <p:nvPr/>
        </p:nvSpPr>
        <p:spPr>
          <a:xfrm>
            <a:off x="3063240" y="2203704"/>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29" name="Rounded Rectangle 28"/>
          <p:cNvSpPr/>
          <p:nvPr/>
        </p:nvSpPr>
        <p:spPr>
          <a:xfrm>
            <a:off x="3703320" y="2368296"/>
            <a:ext cx="1207008" cy="237744"/>
          </a:xfrm>
          <a:prstGeom prst="roundRect">
            <a:avLst>
              <a:gd name="adj" fmla="val 50000"/>
            </a:avLst>
          </a:prstGeom>
          <a:solidFill>
            <a:srgbClr val="FFFFFF"/>
          </a:solidFill>
          <a:ln w="9525">
            <a:solidFill>
              <a:srgbClr val="7F7F7F"/>
            </a:solidFill>
          </a:ln>
        </p:spPr>
        <p:txBody>
          <a:bodyPr rtlCol="0" anchor="ctr" lIns="27432" rIns="27432" tIns="0" bIns="0"/>
          <a:lstStyle/>
          <a:p>
            <a:pPr algn="ctr"/>
            <a:r>
              <a:rPr sz="750" b="1" i="0">
                <a:solidFill>
                  <a:srgbClr val="7F7F7F"/>
                </a:solidFill>
                <a:latin typeface="Arial"/>
              </a:rPr>
              <a:t>NOT YET TESTED</a:t>
            </a:r>
          </a:p>
        </p:txBody>
      </p:sp>
      <p:sp>
        <p:nvSpPr>
          <p:cNvPr id="30" name="Oval 29"/>
          <p:cNvSpPr/>
          <p:nvPr/>
        </p:nvSpPr>
        <p:spPr>
          <a:xfrm>
            <a:off x="5047488" y="2436876"/>
            <a:ext cx="100584" cy="100584"/>
          </a:xfrm>
          <a:prstGeom prst="ellipse">
            <a:avLst/>
          </a:prstGeom>
          <a:solidFill>
            <a:srgbClr val="1F497D"/>
          </a:solidFill>
          <a:ln w="9525">
            <a:solidFill>
              <a:srgbClr val="1F497D"/>
            </a:solidFill>
          </a:ln>
        </p:spPr>
        <p:txBody>
          <a:bodyPr rtlCol="0" anchor="ctr"/>
          <a:lstStyle/>
          <a:p>
            <a:pPr algn="ctr"/>
          </a:p>
        </p:txBody>
      </p:sp>
      <p:sp>
        <p:nvSpPr>
          <p:cNvPr id="31" name="Oval 30"/>
          <p:cNvSpPr/>
          <p:nvPr/>
        </p:nvSpPr>
        <p:spPr>
          <a:xfrm>
            <a:off x="5184648" y="2436876"/>
            <a:ext cx="100584" cy="100584"/>
          </a:xfrm>
          <a:prstGeom prst="ellipse">
            <a:avLst/>
          </a:prstGeom>
          <a:solidFill>
            <a:srgbClr val="FFFFFF"/>
          </a:solidFill>
          <a:ln w="9525">
            <a:solidFill>
              <a:srgbClr val="1F497D"/>
            </a:solidFill>
          </a:ln>
        </p:spPr>
        <p:txBody>
          <a:bodyPr rtlCol="0" anchor="ctr"/>
          <a:lstStyle/>
          <a:p>
            <a:pPr algn="ctr"/>
          </a:p>
        </p:txBody>
      </p:sp>
      <p:sp>
        <p:nvSpPr>
          <p:cNvPr id="32" name="Oval 31"/>
          <p:cNvSpPr/>
          <p:nvPr/>
        </p:nvSpPr>
        <p:spPr>
          <a:xfrm>
            <a:off x="5321807" y="2436876"/>
            <a:ext cx="100584" cy="100584"/>
          </a:xfrm>
          <a:prstGeom prst="ellipse">
            <a:avLst/>
          </a:prstGeom>
          <a:solidFill>
            <a:srgbClr val="FFFFFF"/>
          </a:solidFill>
          <a:ln w="9525">
            <a:solidFill>
              <a:srgbClr val="1F497D"/>
            </a:solidFill>
          </a:ln>
        </p:spPr>
        <p:txBody>
          <a:bodyPr rtlCol="0" anchor="ctr"/>
          <a:lstStyle/>
          <a:p>
            <a:pPr algn="ctr"/>
          </a:p>
        </p:txBody>
      </p:sp>
      <p:sp>
        <p:nvSpPr>
          <p:cNvPr id="33" name="TextBox 32"/>
          <p:cNvSpPr txBox="1"/>
          <p:nvPr/>
        </p:nvSpPr>
        <p:spPr>
          <a:xfrm>
            <a:off x="5724144" y="2203704"/>
            <a:ext cx="3172968" cy="566928"/>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Skills gaps surface anecdotally; no labour supply or training analysis exists.</a:t>
            </a:r>
          </a:p>
        </p:txBody>
      </p:sp>
      <p:sp>
        <p:nvSpPr>
          <p:cNvPr id="34" name="TextBox 33"/>
          <p:cNvSpPr txBox="1"/>
          <p:nvPr/>
        </p:nvSpPr>
        <p:spPr>
          <a:xfrm>
            <a:off x="8970263" y="2203704"/>
            <a:ext cx="2798064" cy="566928"/>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The 300,000 jobs goal has no evidence base yet.</a:t>
            </a:r>
          </a:p>
        </p:txBody>
      </p:sp>
      <p:cxnSp>
        <p:nvCxnSpPr>
          <p:cNvPr id="35" name="Connector 34"/>
          <p:cNvCxnSpPr/>
          <p:nvPr/>
        </p:nvCxnSpPr>
        <p:spPr>
          <a:xfrm>
            <a:off x="384048" y="277063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02336" y="2770632"/>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3c  </a:t>
            </a:r>
            <a:r>
              <a:rPr sz="1000" b="1" i="0">
                <a:solidFill>
                  <a:srgbClr val="1F497D"/>
                </a:solidFill>
                <a:latin typeface="Arial"/>
              </a:rPr>
              <a:t>Ensure sustainable and resilient destination management</a:t>
            </a:r>
          </a:p>
        </p:txBody>
      </p:sp>
      <p:sp>
        <p:nvSpPr>
          <p:cNvPr id="37" name="Oval 36"/>
          <p:cNvSpPr/>
          <p:nvPr/>
        </p:nvSpPr>
        <p:spPr>
          <a:xfrm>
            <a:off x="2944368" y="3008376"/>
            <a:ext cx="91440" cy="91440"/>
          </a:xfrm>
          <a:prstGeom prst="ellipse">
            <a:avLst/>
          </a:prstGeom>
          <a:solidFill>
            <a:srgbClr val="196B24"/>
          </a:solidFill>
          <a:ln>
            <a:noFill/>
          </a:ln>
        </p:spPr>
        <p:txBody>
          <a:bodyPr rtlCol="0" anchor="ctr"/>
          <a:lstStyle/>
          <a:p>
            <a:pPr algn="ctr"/>
          </a:p>
        </p:txBody>
      </p:sp>
      <p:sp>
        <p:nvSpPr>
          <p:cNvPr id="38" name="TextBox 37"/>
          <p:cNvSpPr txBox="1"/>
          <p:nvPr/>
        </p:nvSpPr>
        <p:spPr>
          <a:xfrm>
            <a:off x="3063240" y="2770632"/>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New</a:t>
            </a:r>
          </a:p>
        </p:txBody>
      </p:sp>
      <p:sp>
        <p:nvSpPr>
          <p:cNvPr id="39" name="Rounded Rectangle 38"/>
          <p:cNvSpPr/>
          <p:nvPr/>
        </p:nvSpPr>
        <p:spPr>
          <a:xfrm>
            <a:off x="3703320" y="2935224"/>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40" name="Oval 39"/>
          <p:cNvSpPr/>
          <p:nvPr/>
        </p:nvSpPr>
        <p:spPr>
          <a:xfrm>
            <a:off x="5047488" y="3003804"/>
            <a:ext cx="100584" cy="100584"/>
          </a:xfrm>
          <a:prstGeom prst="ellipse">
            <a:avLst/>
          </a:prstGeom>
          <a:solidFill>
            <a:srgbClr val="1F497D"/>
          </a:solidFill>
          <a:ln w="9525">
            <a:solidFill>
              <a:srgbClr val="1F497D"/>
            </a:solidFill>
          </a:ln>
        </p:spPr>
        <p:txBody>
          <a:bodyPr rtlCol="0" anchor="ctr"/>
          <a:lstStyle/>
          <a:p>
            <a:pPr algn="ctr"/>
          </a:p>
        </p:txBody>
      </p:sp>
      <p:sp>
        <p:nvSpPr>
          <p:cNvPr id="41" name="Oval 40"/>
          <p:cNvSpPr/>
          <p:nvPr/>
        </p:nvSpPr>
        <p:spPr>
          <a:xfrm>
            <a:off x="5184648" y="3003804"/>
            <a:ext cx="100584" cy="100584"/>
          </a:xfrm>
          <a:prstGeom prst="ellipse">
            <a:avLst/>
          </a:prstGeom>
          <a:solidFill>
            <a:srgbClr val="FFFFFF"/>
          </a:solidFill>
          <a:ln w="9525">
            <a:solidFill>
              <a:srgbClr val="1F497D"/>
            </a:solidFill>
          </a:ln>
        </p:spPr>
        <p:txBody>
          <a:bodyPr rtlCol="0" anchor="ctr"/>
          <a:lstStyle/>
          <a:p>
            <a:pPr algn="ctr"/>
          </a:p>
        </p:txBody>
      </p:sp>
      <p:sp>
        <p:nvSpPr>
          <p:cNvPr id="42" name="Oval 41"/>
          <p:cNvSpPr/>
          <p:nvPr/>
        </p:nvSpPr>
        <p:spPr>
          <a:xfrm>
            <a:off x="5321807" y="3003804"/>
            <a:ext cx="100584" cy="100584"/>
          </a:xfrm>
          <a:prstGeom prst="ellipse">
            <a:avLst/>
          </a:prstGeom>
          <a:solidFill>
            <a:srgbClr val="FFFFFF"/>
          </a:solidFill>
          <a:ln w="9525">
            <a:solidFill>
              <a:srgbClr val="1F497D"/>
            </a:solidFill>
          </a:ln>
        </p:spPr>
        <p:txBody>
          <a:bodyPr rtlCol="0" anchor="ctr"/>
          <a:lstStyle/>
          <a:p>
            <a:pPr algn="ctr"/>
          </a:p>
        </p:txBody>
      </p:sp>
      <p:sp>
        <p:nvSpPr>
          <p:cNvPr id="43" name="TextBox 42"/>
          <p:cNvSpPr txBox="1"/>
          <p:nvPr/>
        </p:nvSpPr>
        <p:spPr>
          <a:xfrm>
            <a:off x="5724144" y="2770632"/>
            <a:ext cx="3172968" cy="566928"/>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Meiringspoort (N12) closed by flood: R421m and ~26 months to rebuild; climate closures rising.</a:t>
            </a:r>
          </a:p>
        </p:txBody>
      </p:sp>
      <p:sp>
        <p:nvSpPr>
          <p:cNvPr id="44" name="TextBox 43"/>
          <p:cNvSpPr txBox="1"/>
          <p:nvPr/>
        </p:nvSpPr>
        <p:spPr>
          <a:xfrm>
            <a:off x="8970263" y="2770632"/>
            <a:ext cx="2798064" cy="566928"/>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Frame resilience as a supply risk, not a new workstream.</a:t>
            </a:r>
          </a:p>
        </p:txBody>
      </p:sp>
      <p:cxnSp>
        <p:nvCxnSpPr>
          <p:cNvPr id="45" name="Connector 44"/>
          <p:cNvCxnSpPr/>
          <p:nvPr/>
        </p:nvCxnSpPr>
        <p:spPr>
          <a:xfrm>
            <a:off x="384048" y="3337560"/>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84048" y="3337560"/>
            <a:ext cx="11420856" cy="219456"/>
          </a:xfrm>
          <a:prstGeom prst="rect">
            <a:avLst/>
          </a:prstGeom>
          <a:noFill/>
        </p:spPr>
        <p:txBody>
          <a:bodyPr wrap="square" anchor="ctr" lIns="36576" rIns="36576" tIns="21945" bIns="21945">
            <a:spAutoFit/>
          </a:bodyPr>
          <a:lstStyle/>
          <a:p>
            <a:pPr algn="l">
              <a:spcAft>
                <a:spcPts val="0"/>
              </a:spcAft>
            </a:pPr>
            <a:r>
              <a:rPr sz="800" b="1" i="0">
                <a:solidFill>
                  <a:srgbClr val="00AEEF"/>
                </a:solidFill>
                <a:latin typeface="Arial"/>
              </a:rPr>
              <a:t>GOVERNANCE, LEADERSHIP AND INVESTMENT</a:t>
            </a:r>
          </a:p>
        </p:txBody>
      </p:sp>
      <p:sp>
        <p:nvSpPr>
          <p:cNvPr id="47" name="TextBox 46"/>
          <p:cNvSpPr txBox="1"/>
          <p:nvPr/>
        </p:nvSpPr>
        <p:spPr>
          <a:xfrm>
            <a:off x="402336" y="3566160"/>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3d  </a:t>
            </a:r>
            <a:r>
              <a:rPr sz="1000" b="1" i="0">
                <a:solidFill>
                  <a:srgbClr val="1F497D"/>
                </a:solidFill>
                <a:latin typeface="Arial"/>
              </a:rPr>
              <a:t>Review institutional arrangements (local, provincial and national)</a:t>
            </a:r>
          </a:p>
        </p:txBody>
      </p:sp>
      <p:sp>
        <p:nvSpPr>
          <p:cNvPr id="48" name="Oval 47"/>
          <p:cNvSpPr/>
          <p:nvPr/>
        </p:nvSpPr>
        <p:spPr>
          <a:xfrm>
            <a:off x="2944368" y="3803904"/>
            <a:ext cx="91440" cy="91440"/>
          </a:xfrm>
          <a:prstGeom prst="ellipse">
            <a:avLst/>
          </a:prstGeom>
          <a:solidFill>
            <a:srgbClr val="156082"/>
          </a:solidFill>
          <a:ln>
            <a:noFill/>
          </a:ln>
        </p:spPr>
        <p:txBody>
          <a:bodyPr rtlCol="0" anchor="ctr"/>
          <a:lstStyle/>
          <a:p>
            <a:pPr algn="ctr"/>
          </a:p>
        </p:txBody>
      </p:sp>
      <p:sp>
        <p:nvSpPr>
          <p:cNvPr id="49" name="TextBox 48"/>
          <p:cNvSpPr txBox="1"/>
          <p:nvPr/>
        </p:nvSpPr>
        <p:spPr>
          <a:xfrm>
            <a:off x="3063240" y="3566160"/>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50" name="Rounded Rectangle 49"/>
          <p:cNvSpPr/>
          <p:nvPr/>
        </p:nvSpPr>
        <p:spPr>
          <a:xfrm>
            <a:off x="3703320" y="3730752"/>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51" name="Oval 50"/>
          <p:cNvSpPr/>
          <p:nvPr/>
        </p:nvSpPr>
        <p:spPr>
          <a:xfrm>
            <a:off x="5047488" y="3799332"/>
            <a:ext cx="100584" cy="100584"/>
          </a:xfrm>
          <a:prstGeom prst="ellipse">
            <a:avLst/>
          </a:prstGeom>
          <a:solidFill>
            <a:srgbClr val="1F497D"/>
          </a:solidFill>
          <a:ln w="9525">
            <a:solidFill>
              <a:srgbClr val="1F497D"/>
            </a:solidFill>
          </a:ln>
        </p:spPr>
        <p:txBody>
          <a:bodyPr rtlCol="0" anchor="ctr"/>
          <a:lstStyle/>
          <a:p>
            <a:pPr algn="ctr"/>
          </a:p>
        </p:txBody>
      </p:sp>
      <p:sp>
        <p:nvSpPr>
          <p:cNvPr id="52" name="Oval 51"/>
          <p:cNvSpPr/>
          <p:nvPr/>
        </p:nvSpPr>
        <p:spPr>
          <a:xfrm>
            <a:off x="5184648" y="3799332"/>
            <a:ext cx="100584" cy="100584"/>
          </a:xfrm>
          <a:prstGeom prst="ellipse">
            <a:avLst/>
          </a:prstGeom>
          <a:solidFill>
            <a:srgbClr val="1F497D"/>
          </a:solidFill>
          <a:ln w="9525">
            <a:solidFill>
              <a:srgbClr val="1F497D"/>
            </a:solidFill>
          </a:ln>
        </p:spPr>
        <p:txBody>
          <a:bodyPr rtlCol="0" anchor="ctr"/>
          <a:lstStyle/>
          <a:p>
            <a:pPr algn="ctr"/>
          </a:p>
        </p:txBody>
      </p:sp>
      <p:sp>
        <p:nvSpPr>
          <p:cNvPr id="53" name="Oval 52"/>
          <p:cNvSpPr/>
          <p:nvPr/>
        </p:nvSpPr>
        <p:spPr>
          <a:xfrm>
            <a:off x="5321807" y="3799332"/>
            <a:ext cx="100584" cy="100584"/>
          </a:xfrm>
          <a:prstGeom prst="ellipse">
            <a:avLst/>
          </a:prstGeom>
          <a:solidFill>
            <a:srgbClr val="1F497D"/>
          </a:solidFill>
          <a:ln w="9525">
            <a:solidFill>
              <a:srgbClr val="1F497D"/>
            </a:solidFill>
          </a:ln>
        </p:spPr>
        <p:txBody>
          <a:bodyPr rtlCol="0" anchor="ctr"/>
          <a:lstStyle/>
          <a:p>
            <a:pPr algn="ctr"/>
          </a:p>
        </p:txBody>
      </p:sp>
      <p:sp>
        <p:nvSpPr>
          <p:cNvPr id="54" name="TextBox 53"/>
          <p:cNvSpPr txBox="1"/>
          <p:nvPr/>
        </p:nvSpPr>
        <p:spPr>
          <a:xfrm>
            <a:off x="5724144" y="3566160"/>
            <a:ext cx="3172968" cy="566928"/>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Air rights, visas and ports sit nationally; tourism funding is below peer destinations; Circular 131 cut LTO funding.</a:t>
            </a:r>
          </a:p>
        </p:txBody>
      </p:sp>
      <p:sp>
        <p:nvSpPr>
          <p:cNvPr id="55" name="TextBox 54"/>
          <p:cNvSpPr txBox="1"/>
          <p:nvPr/>
        </p:nvSpPr>
        <p:spPr>
          <a:xfrm>
            <a:off x="8970263" y="3566160"/>
            <a:ext cx="2798064" cy="566928"/>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Name owners by tier in every recommendation.</a:t>
            </a:r>
          </a:p>
        </p:txBody>
      </p:sp>
      <p:cxnSp>
        <p:nvCxnSpPr>
          <p:cNvPr id="56" name="Connector 55"/>
          <p:cNvCxnSpPr/>
          <p:nvPr/>
        </p:nvCxnSpPr>
        <p:spPr>
          <a:xfrm>
            <a:off x="384048" y="4133088"/>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02336" y="4133088"/>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3e  </a:t>
            </a:r>
            <a:r>
              <a:rPr sz="1000" b="1" i="0">
                <a:solidFill>
                  <a:srgbClr val="1F497D"/>
                </a:solidFill>
                <a:latin typeface="Arial"/>
              </a:rPr>
              <a:t>Strengthen industry and government collaboration</a:t>
            </a:r>
          </a:p>
        </p:txBody>
      </p:sp>
      <p:sp>
        <p:nvSpPr>
          <p:cNvPr id="58" name="Oval 57"/>
          <p:cNvSpPr/>
          <p:nvPr/>
        </p:nvSpPr>
        <p:spPr>
          <a:xfrm>
            <a:off x="2944368" y="4370832"/>
            <a:ext cx="91440" cy="91440"/>
          </a:xfrm>
          <a:prstGeom prst="ellipse">
            <a:avLst/>
          </a:prstGeom>
          <a:solidFill>
            <a:srgbClr val="156082"/>
          </a:solidFill>
          <a:ln>
            <a:noFill/>
          </a:ln>
        </p:spPr>
        <p:txBody>
          <a:bodyPr rtlCol="0" anchor="ctr"/>
          <a:lstStyle/>
          <a:p>
            <a:pPr algn="ctr"/>
          </a:p>
        </p:txBody>
      </p:sp>
      <p:sp>
        <p:nvSpPr>
          <p:cNvPr id="59" name="TextBox 58"/>
          <p:cNvSpPr txBox="1"/>
          <p:nvPr/>
        </p:nvSpPr>
        <p:spPr>
          <a:xfrm>
            <a:off x="3063240" y="4133088"/>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60" name="Rounded Rectangle 59"/>
          <p:cNvSpPr/>
          <p:nvPr/>
        </p:nvSpPr>
        <p:spPr>
          <a:xfrm>
            <a:off x="3703320" y="4297680"/>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61" name="Oval 60"/>
          <p:cNvSpPr/>
          <p:nvPr/>
        </p:nvSpPr>
        <p:spPr>
          <a:xfrm>
            <a:off x="5047488" y="4366260"/>
            <a:ext cx="100584" cy="100584"/>
          </a:xfrm>
          <a:prstGeom prst="ellipse">
            <a:avLst/>
          </a:prstGeom>
          <a:solidFill>
            <a:srgbClr val="1F497D"/>
          </a:solidFill>
          <a:ln w="9525">
            <a:solidFill>
              <a:srgbClr val="1F497D"/>
            </a:solidFill>
          </a:ln>
        </p:spPr>
        <p:txBody>
          <a:bodyPr rtlCol="0" anchor="ctr"/>
          <a:lstStyle/>
          <a:p>
            <a:pPr algn="ctr"/>
          </a:p>
        </p:txBody>
      </p:sp>
      <p:sp>
        <p:nvSpPr>
          <p:cNvPr id="62" name="Oval 61"/>
          <p:cNvSpPr/>
          <p:nvPr/>
        </p:nvSpPr>
        <p:spPr>
          <a:xfrm>
            <a:off x="5184648" y="4366260"/>
            <a:ext cx="100584" cy="100584"/>
          </a:xfrm>
          <a:prstGeom prst="ellipse">
            <a:avLst/>
          </a:prstGeom>
          <a:solidFill>
            <a:srgbClr val="1F497D"/>
          </a:solidFill>
          <a:ln w="9525">
            <a:solidFill>
              <a:srgbClr val="1F497D"/>
            </a:solidFill>
          </a:ln>
        </p:spPr>
        <p:txBody>
          <a:bodyPr rtlCol="0" anchor="ctr"/>
          <a:lstStyle/>
          <a:p>
            <a:pPr algn="ctr"/>
          </a:p>
        </p:txBody>
      </p:sp>
      <p:sp>
        <p:nvSpPr>
          <p:cNvPr id="63" name="Oval 62"/>
          <p:cNvSpPr/>
          <p:nvPr/>
        </p:nvSpPr>
        <p:spPr>
          <a:xfrm>
            <a:off x="5321807" y="4366260"/>
            <a:ext cx="100584" cy="100584"/>
          </a:xfrm>
          <a:prstGeom prst="ellipse">
            <a:avLst/>
          </a:prstGeom>
          <a:solidFill>
            <a:srgbClr val="1F497D"/>
          </a:solidFill>
          <a:ln w="9525">
            <a:solidFill>
              <a:srgbClr val="1F497D"/>
            </a:solidFill>
          </a:ln>
        </p:spPr>
        <p:txBody>
          <a:bodyPr rtlCol="0" anchor="ctr"/>
          <a:lstStyle/>
          <a:p>
            <a:pPr algn="ctr"/>
          </a:p>
        </p:txBody>
      </p:sp>
      <p:sp>
        <p:nvSpPr>
          <p:cNvPr id="64" name="TextBox 63"/>
          <p:cNvSpPr txBox="1"/>
          <p:nvPr/>
        </p:nvSpPr>
        <p:spPr>
          <a:xfrm>
            <a:off x="5724144" y="4133088"/>
            <a:ext cx="3172968" cy="566928"/>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Collaboration raised by 15 of 16 organisations (Letsema tally of the appendix); Air Access proves a joint model works.</a:t>
            </a:r>
          </a:p>
        </p:txBody>
      </p:sp>
      <p:sp>
        <p:nvSpPr>
          <p:cNvPr id="65" name="TextBox 64"/>
          <p:cNvSpPr txBox="1"/>
          <p:nvPr/>
        </p:nvSpPr>
        <p:spPr>
          <a:xfrm>
            <a:off x="8970263" y="4133088"/>
            <a:ext cx="2798064" cy="566928"/>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Replicate the Air Access model for events, quality and data.</a:t>
            </a:r>
          </a:p>
        </p:txBody>
      </p:sp>
      <p:cxnSp>
        <p:nvCxnSpPr>
          <p:cNvPr id="66" name="Connector 65"/>
          <p:cNvCxnSpPr/>
          <p:nvPr/>
        </p:nvCxnSpPr>
        <p:spPr>
          <a:xfrm>
            <a:off x="384048" y="4700016"/>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02336" y="4700016"/>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3f  </a:t>
            </a:r>
            <a:r>
              <a:rPr sz="1000" b="1" i="0">
                <a:solidFill>
                  <a:srgbClr val="1F497D"/>
                </a:solidFill>
                <a:latin typeface="Arial"/>
              </a:rPr>
              <a:t>Expedite enabling policy and build the data layer</a:t>
            </a:r>
          </a:p>
        </p:txBody>
      </p:sp>
      <p:sp>
        <p:nvSpPr>
          <p:cNvPr id="68" name="Oval 67"/>
          <p:cNvSpPr/>
          <p:nvPr/>
        </p:nvSpPr>
        <p:spPr>
          <a:xfrm>
            <a:off x="2944368" y="4937760"/>
            <a:ext cx="91440" cy="91440"/>
          </a:xfrm>
          <a:prstGeom prst="ellipse">
            <a:avLst/>
          </a:prstGeom>
          <a:solidFill>
            <a:srgbClr val="E97132"/>
          </a:solidFill>
          <a:ln>
            <a:noFill/>
          </a:ln>
        </p:spPr>
        <p:txBody>
          <a:bodyPr rtlCol="0" anchor="ctr"/>
          <a:lstStyle/>
          <a:p>
            <a:pPr algn="ctr"/>
          </a:p>
        </p:txBody>
      </p:sp>
      <p:sp>
        <p:nvSpPr>
          <p:cNvPr id="69" name="TextBox 68"/>
          <p:cNvSpPr txBox="1"/>
          <p:nvPr/>
        </p:nvSpPr>
        <p:spPr>
          <a:xfrm>
            <a:off x="3063240" y="4700016"/>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Refined</a:t>
            </a:r>
          </a:p>
        </p:txBody>
      </p:sp>
      <p:sp>
        <p:nvSpPr>
          <p:cNvPr id="70" name="Rounded Rectangle 69"/>
          <p:cNvSpPr/>
          <p:nvPr/>
        </p:nvSpPr>
        <p:spPr>
          <a:xfrm>
            <a:off x="3703320" y="4864608"/>
            <a:ext cx="1207008" cy="237744"/>
          </a:xfrm>
          <a:prstGeom prst="roundRect">
            <a:avLst>
              <a:gd name="adj" fmla="val 50000"/>
            </a:avLst>
          </a:prstGeom>
          <a:solidFill>
            <a:srgbClr val="2E9E44"/>
          </a:solidFill>
          <a:ln>
            <a:noFill/>
          </a:ln>
        </p:spPr>
        <p:txBody>
          <a:bodyPr rtlCol="0" anchor="ctr" lIns="27432" rIns="27432" tIns="0" bIns="0"/>
          <a:lstStyle/>
          <a:p>
            <a:pPr algn="ctr"/>
            <a:r>
              <a:rPr sz="750" b="1" i="0">
                <a:solidFill>
                  <a:srgbClr val="FFFFFF"/>
                </a:solidFill>
                <a:latin typeface="Arial"/>
              </a:rPr>
              <a:t>SUPPORTED</a:t>
            </a:r>
          </a:p>
        </p:txBody>
      </p:sp>
      <p:sp>
        <p:nvSpPr>
          <p:cNvPr id="71" name="Oval 70"/>
          <p:cNvSpPr/>
          <p:nvPr/>
        </p:nvSpPr>
        <p:spPr>
          <a:xfrm>
            <a:off x="5047488" y="4933188"/>
            <a:ext cx="100584" cy="100584"/>
          </a:xfrm>
          <a:prstGeom prst="ellipse">
            <a:avLst/>
          </a:prstGeom>
          <a:solidFill>
            <a:srgbClr val="1F497D"/>
          </a:solidFill>
          <a:ln w="9525">
            <a:solidFill>
              <a:srgbClr val="1F497D"/>
            </a:solidFill>
          </a:ln>
        </p:spPr>
        <p:txBody>
          <a:bodyPr rtlCol="0" anchor="ctr"/>
          <a:lstStyle/>
          <a:p>
            <a:pPr algn="ctr"/>
          </a:p>
        </p:txBody>
      </p:sp>
      <p:sp>
        <p:nvSpPr>
          <p:cNvPr id="72" name="Oval 71"/>
          <p:cNvSpPr/>
          <p:nvPr/>
        </p:nvSpPr>
        <p:spPr>
          <a:xfrm>
            <a:off x="5184648" y="4933188"/>
            <a:ext cx="100584" cy="100584"/>
          </a:xfrm>
          <a:prstGeom prst="ellipse">
            <a:avLst/>
          </a:prstGeom>
          <a:solidFill>
            <a:srgbClr val="1F497D"/>
          </a:solidFill>
          <a:ln w="9525">
            <a:solidFill>
              <a:srgbClr val="1F497D"/>
            </a:solidFill>
          </a:ln>
        </p:spPr>
        <p:txBody>
          <a:bodyPr rtlCol="0" anchor="ctr"/>
          <a:lstStyle/>
          <a:p>
            <a:pPr algn="ctr"/>
          </a:p>
        </p:txBody>
      </p:sp>
      <p:sp>
        <p:nvSpPr>
          <p:cNvPr id="73" name="Oval 72"/>
          <p:cNvSpPr/>
          <p:nvPr/>
        </p:nvSpPr>
        <p:spPr>
          <a:xfrm>
            <a:off x="5321807" y="4933188"/>
            <a:ext cx="100584" cy="100584"/>
          </a:xfrm>
          <a:prstGeom prst="ellipse">
            <a:avLst/>
          </a:prstGeom>
          <a:solidFill>
            <a:srgbClr val="1F497D"/>
          </a:solidFill>
          <a:ln w="9525">
            <a:solidFill>
              <a:srgbClr val="1F497D"/>
            </a:solidFill>
          </a:ln>
        </p:spPr>
        <p:txBody>
          <a:bodyPr rtlCol="0" anchor="ctr"/>
          <a:lstStyle/>
          <a:p>
            <a:pPr algn="ctr"/>
          </a:p>
        </p:txBody>
      </p:sp>
      <p:sp>
        <p:nvSpPr>
          <p:cNvPr id="74" name="TextBox 73"/>
          <p:cNvSpPr txBox="1"/>
          <p:nvPr/>
        </p:nvSpPr>
        <p:spPr>
          <a:xfrm>
            <a:off x="5724144" y="4700016"/>
            <a:ext cx="3172968" cy="566928"/>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No approved provincial tourism GDP or jobs method; data lagged and proxy-based.</a:t>
            </a:r>
          </a:p>
        </p:txBody>
      </p:sp>
      <p:sp>
        <p:nvSpPr>
          <p:cNvPr id="75" name="TextBox 74"/>
          <p:cNvSpPr txBox="1"/>
          <p:nvPr/>
        </p:nvSpPr>
        <p:spPr>
          <a:xfrm>
            <a:off x="8970263" y="4700016"/>
            <a:ext cx="2798064" cy="566928"/>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Build the data layer with the M&amp;E toolkit.</a:t>
            </a:r>
          </a:p>
        </p:txBody>
      </p:sp>
      <p:cxnSp>
        <p:nvCxnSpPr>
          <p:cNvPr id="76" name="Connector 75"/>
          <p:cNvCxnSpPr/>
          <p:nvPr/>
        </p:nvCxnSpPr>
        <p:spPr>
          <a:xfrm>
            <a:off x="384048" y="5266944"/>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02336" y="5266944"/>
            <a:ext cx="2459736" cy="566928"/>
          </a:xfrm>
          <a:prstGeom prst="rect">
            <a:avLst/>
          </a:prstGeom>
          <a:noFill/>
        </p:spPr>
        <p:txBody>
          <a:bodyPr wrap="square" anchor="ctr" lIns="36576" rIns="36576" tIns="21945" bIns="21945">
            <a:spAutoFit/>
          </a:bodyPr>
          <a:lstStyle/>
          <a:p>
            <a:pPr algn="l">
              <a:spcAft>
                <a:spcPts val="0"/>
              </a:spcAft>
            </a:pPr>
            <a:r>
              <a:rPr sz="800" b="0" i="0">
                <a:solidFill>
                  <a:srgbClr val="7F7F7F"/>
                </a:solidFill>
                <a:latin typeface="Arial"/>
              </a:rPr>
              <a:t>3g  </a:t>
            </a:r>
            <a:r>
              <a:rPr sz="1000" b="1" i="0">
                <a:solidFill>
                  <a:srgbClr val="1F497D"/>
                </a:solidFill>
                <a:latin typeface="Arial"/>
              </a:rPr>
              <a:t>Crowd-in capital with targeted investment strategies</a:t>
            </a:r>
          </a:p>
        </p:txBody>
      </p:sp>
      <p:sp>
        <p:nvSpPr>
          <p:cNvPr id="78" name="Oval 77"/>
          <p:cNvSpPr/>
          <p:nvPr/>
        </p:nvSpPr>
        <p:spPr>
          <a:xfrm>
            <a:off x="2944368" y="5504688"/>
            <a:ext cx="91440" cy="91440"/>
          </a:xfrm>
          <a:prstGeom prst="ellipse">
            <a:avLst/>
          </a:prstGeom>
          <a:solidFill>
            <a:srgbClr val="156082"/>
          </a:solidFill>
          <a:ln>
            <a:noFill/>
          </a:ln>
        </p:spPr>
        <p:txBody>
          <a:bodyPr rtlCol="0" anchor="ctr"/>
          <a:lstStyle/>
          <a:p>
            <a:pPr algn="ctr"/>
          </a:p>
        </p:txBody>
      </p:sp>
      <p:sp>
        <p:nvSpPr>
          <p:cNvPr id="79" name="TextBox 78"/>
          <p:cNvSpPr txBox="1"/>
          <p:nvPr/>
        </p:nvSpPr>
        <p:spPr>
          <a:xfrm>
            <a:off x="3063240" y="5266944"/>
            <a:ext cx="594359" cy="566928"/>
          </a:xfrm>
          <a:prstGeom prst="rect">
            <a:avLst/>
          </a:prstGeom>
          <a:noFill/>
        </p:spPr>
        <p:txBody>
          <a:bodyPr wrap="square" anchor="ctr" lIns="36576" rIns="36576" tIns="21945" bIns="21945">
            <a:spAutoFit/>
          </a:bodyPr>
          <a:lstStyle/>
          <a:p>
            <a:pPr algn="l">
              <a:spcAft>
                <a:spcPts val="0"/>
              </a:spcAft>
            </a:pPr>
            <a:r>
              <a:rPr sz="800" b="0" i="0">
                <a:solidFill>
                  <a:srgbClr val="404040"/>
                </a:solidFill>
                <a:latin typeface="Arial"/>
              </a:rPr>
              <a:t>Validated</a:t>
            </a:r>
          </a:p>
        </p:txBody>
      </p:sp>
      <p:sp>
        <p:nvSpPr>
          <p:cNvPr id="80" name="Rounded Rectangle 79"/>
          <p:cNvSpPr/>
          <p:nvPr/>
        </p:nvSpPr>
        <p:spPr>
          <a:xfrm>
            <a:off x="3703320" y="5431536"/>
            <a:ext cx="1207008" cy="237744"/>
          </a:xfrm>
          <a:prstGeom prst="roundRect">
            <a:avLst>
              <a:gd name="adj" fmla="val 50000"/>
            </a:avLst>
          </a:prstGeom>
          <a:solidFill>
            <a:srgbClr val="F2A900"/>
          </a:solidFill>
          <a:ln>
            <a:noFill/>
          </a:ln>
        </p:spPr>
        <p:txBody>
          <a:bodyPr rtlCol="0" anchor="ctr" lIns="27432" rIns="27432" tIns="0" bIns="0"/>
          <a:lstStyle/>
          <a:p>
            <a:pPr algn="ctr"/>
            <a:r>
              <a:rPr sz="750" b="1" i="0">
                <a:solidFill>
                  <a:srgbClr val="262626"/>
                </a:solidFill>
                <a:latin typeface="Arial"/>
              </a:rPr>
              <a:t>PARTLY SUPPORTED</a:t>
            </a:r>
          </a:p>
        </p:txBody>
      </p:sp>
      <p:sp>
        <p:nvSpPr>
          <p:cNvPr id="81" name="Oval 80"/>
          <p:cNvSpPr/>
          <p:nvPr/>
        </p:nvSpPr>
        <p:spPr>
          <a:xfrm>
            <a:off x="5047488" y="5500116"/>
            <a:ext cx="100584" cy="100584"/>
          </a:xfrm>
          <a:prstGeom prst="ellipse">
            <a:avLst/>
          </a:prstGeom>
          <a:solidFill>
            <a:srgbClr val="1F497D"/>
          </a:solidFill>
          <a:ln w="9525">
            <a:solidFill>
              <a:srgbClr val="1F497D"/>
            </a:solidFill>
          </a:ln>
        </p:spPr>
        <p:txBody>
          <a:bodyPr rtlCol="0" anchor="ctr"/>
          <a:lstStyle/>
          <a:p>
            <a:pPr algn="ctr"/>
          </a:p>
        </p:txBody>
      </p:sp>
      <p:sp>
        <p:nvSpPr>
          <p:cNvPr id="82" name="Oval 81"/>
          <p:cNvSpPr/>
          <p:nvPr/>
        </p:nvSpPr>
        <p:spPr>
          <a:xfrm>
            <a:off x="5184648" y="5500116"/>
            <a:ext cx="100584" cy="100584"/>
          </a:xfrm>
          <a:prstGeom prst="ellipse">
            <a:avLst/>
          </a:prstGeom>
          <a:solidFill>
            <a:srgbClr val="1F497D"/>
          </a:solidFill>
          <a:ln w="9525">
            <a:solidFill>
              <a:srgbClr val="1F497D"/>
            </a:solidFill>
          </a:ln>
        </p:spPr>
        <p:txBody>
          <a:bodyPr rtlCol="0" anchor="ctr"/>
          <a:lstStyle/>
          <a:p>
            <a:pPr algn="ctr"/>
          </a:p>
        </p:txBody>
      </p:sp>
      <p:sp>
        <p:nvSpPr>
          <p:cNvPr id="83" name="Oval 82"/>
          <p:cNvSpPr/>
          <p:nvPr/>
        </p:nvSpPr>
        <p:spPr>
          <a:xfrm>
            <a:off x="5321807" y="5500116"/>
            <a:ext cx="100584" cy="100584"/>
          </a:xfrm>
          <a:prstGeom prst="ellipse">
            <a:avLst/>
          </a:prstGeom>
          <a:solidFill>
            <a:srgbClr val="FFFFFF"/>
          </a:solidFill>
          <a:ln w="9525">
            <a:solidFill>
              <a:srgbClr val="1F497D"/>
            </a:solidFill>
          </a:ln>
        </p:spPr>
        <p:txBody>
          <a:bodyPr rtlCol="0" anchor="ctr"/>
          <a:lstStyle/>
          <a:p>
            <a:pPr algn="ctr"/>
          </a:p>
        </p:txBody>
      </p:sp>
      <p:sp>
        <p:nvSpPr>
          <p:cNvPr id="84" name="TextBox 83"/>
          <p:cNvSpPr txBox="1"/>
          <p:nvPr/>
        </p:nvSpPr>
        <p:spPr>
          <a:xfrm>
            <a:off x="5724144" y="5266944"/>
            <a:ext cx="3172968" cy="566928"/>
          </a:xfrm>
          <a:prstGeom prst="rect">
            <a:avLst/>
          </a:prstGeom>
          <a:noFill/>
        </p:spPr>
        <p:txBody>
          <a:bodyPr wrap="square" anchor="ctr" lIns="36576" rIns="36576" tIns="21945" bIns="21945">
            <a:spAutoFit/>
          </a:bodyPr>
          <a:lstStyle/>
          <a:p>
            <a:pPr algn="l">
              <a:spcAft>
                <a:spcPts val="0"/>
              </a:spcAft>
            </a:pPr>
            <a:r>
              <a:rPr sz="900" b="0" i="0">
                <a:solidFill>
                  <a:srgbClr val="404040"/>
                </a:solidFill>
                <a:latin typeface="Arial"/>
              </a:rPr>
              <a:t>Kliptown spent ~R497m on assets and draws ~4,000 visitors a year; no costed pipeline or ROI exists.</a:t>
            </a:r>
          </a:p>
        </p:txBody>
      </p:sp>
      <p:sp>
        <p:nvSpPr>
          <p:cNvPr id="85" name="TextBox 84"/>
          <p:cNvSpPr txBox="1"/>
          <p:nvPr/>
        </p:nvSpPr>
        <p:spPr>
          <a:xfrm>
            <a:off x="8970263" y="5266944"/>
            <a:ext cx="2798064" cy="566928"/>
          </a:xfrm>
          <a:prstGeom prst="rect">
            <a:avLst/>
          </a:prstGeom>
          <a:noFill/>
        </p:spPr>
        <p:txBody>
          <a:bodyPr wrap="square" anchor="ctr" lIns="36576" rIns="36576" tIns="21945" bIns="21945">
            <a:spAutoFit/>
          </a:bodyPr>
          <a:lstStyle/>
          <a:p>
            <a:pPr algn="l">
              <a:spcAft>
                <a:spcPts val="0"/>
              </a:spcAft>
            </a:pPr>
            <a:r>
              <a:rPr sz="900" b="0" i="0">
                <a:solidFill>
                  <a:srgbClr val="1F497D"/>
                </a:solidFill>
                <a:latin typeface="Arial"/>
              </a:rPr>
              <a:t>Gate capital behind proven demand; produce the ROI the SLA requires.</a:t>
            </a:r>
          </a:p>
        </p:txBody>
      </p:sp>
      <p:cxnSp>
        <p:nvCxnSpPr>
          <p:cNvPr id="86" name="Connector 85"/>
          <p:cNvCxnSpPr/>
          <p:nvPr/>
        </p:nvCxnSpPr>
        <p:spPr>
          <a:xfrm>
            <a:off x="384048" y="5833872"/>
            <a:ext cx="11420856"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Five of six comparators grew well above the 3-5% global norm by pulling a few deliberate levers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GLOBAL BENCHMARKING | RESULTS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Global Benchmarking Report (Mar 2026) pp9, 13-15, 22-27, 33-37, 46-54 (UN Tourism; Tourism Research Australia; Tourism NZ; Kenya TRI; STB); growth is 2023-24 as reported, except Melbourne (forecast AAGR); Kenya yield from Demand-Side Analysis (Jun 2026) p15</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096512"/>
        </p:xfrm>
        <a:graphic>
          <a:graphicData uri="http://schemas.openxmlformats.org/drawingml/2006/table">
            <a:tbl>
              <a:tblPr firstRow="1" bandRow="0">
                <a:tableStyleId>{5C22544A-7EE6-4342-B048-85BDC9FD1C3A}</a:tableStyleId>
              </a:tblPr>
              <a:tblGrid>
                <a:gridCol w="1463040"/>
                <a:gridCol w="1280160"/>
                <a:gridCol w="3017520"/>
                <a:gridCol w="5660136"/>
              </a:tblGrid>
              <a:tr h="585216">
                <a:tc>
                  <a:txBody>
                    <a:bodyPr wrap="square"/>
                    <a:lstStyle/>
                    <a:p>
                      <a:pPr algn="l"/>
                      <a:r>
                        <a:rPr sz="900" b="1" i="0">
                          <a:solidFill>
                            <a:srgbClr val="FFFFFF"/>
                          </a:solidFill>
                          <a:latin typeface="Arial"/>
                        </a:rPr>
                        <a:t>Comparator</a:t>
                      </a:r>
                    </a:p>
                  </a:txBody>
                  <a:tcPr marL="54864" marR="54864" marT="27432" marB="27432" anchor="ctr">
                    <a:solidFill>
                      <a:srgbClr val="1F497D"/>
                    </a:solidFill>
                  </a:tcPr>
                </a:tc>
                <a:tc>
                  <a:txBody>
                    <a:bodyPr wrap="square"/>
                    <a:lstStyle/>
                    <a:p>
                      <a:pPr algn="l"/>
                      <a:r>
                        <a:rPr sz="900" b="1" i="0">
                          <a:solidFill>
                            <a:srgbClr val="FFFFFF"/>
                          </a:solidFill>
                          <a:latin typeface="Arial"/>
                        </a:rPr>
                        <a:t>Growth</a:t>
                      </a:r>
                    </a:p>
                  </a:txBody>
                  <a:tcPr marL="54864" marR="54864" marT="27432" marB="27432" anchor="ctr">
                    <a:solidFill>
                      <a:srgbClr val="1F497D"/>
                    </a:solidFill>
                  </a:tcPr>
                </a:tc>
                <a:tc>
                  <a:txBody>
                    <a:bodyPr wrap="square"/>
                    <a:lstStyle/>
                    <a:p>
                      <a:pPr algn="l"/>
                      <a:r>
                        <a:rPr sz="900" b="1" i="0">
                          <a:solidFill>
                            <a:srgbClr val="FFFFFF"/>
                          </a:solidFill>
                          <a:latin typeface="Arial"/>
                        </a:rPr>
                        <a:t>Primary levers</a:t>
                      </a:r>
                    </a:p>
                  </a:txBody>
                  <a:tcPr marL="54864" marR="54864" marT="27432" marB="27432" anchor="ctr">
                    <a:solidFill>
                      <a:srgbClr val="1F497D"/>
                    </a:solidFill>
                  </a:tcPr>
                </a:tc>
                <a:tc>
                  <a:txBody>
                    <a:bodyPr wrap="square"/>
                    <a:lstStyle/>
                    <a:p>
                      <a:pPr algn="l"/>
                      <a:r>
                        <a:rPr sz="900" b="1" i="0">
                          <a:solidFill>
                            <a:srgbClr val="FFFFFF"/>
                          </a:solidFill>
                          <a:latin typeface="Arial"/>
                        </a:rPr>
                        <a:t>Proof points</a:t>
                      </a:r>
                    </a:p>
                  </a:txBody>
                  <a:tcPr marL="54864" marR="54864" marT="27432" marB="27432" anchor="ctr">
                    <a:solidFill>
                      <a:srgbClr val="1F497D"/>
                    </a:solidFill>
                  </a:tcPr>
                </a:tc>
              </a:tr>
              <a:tr h="585216">
                <a:tc>
                  <a:txBody>
                    <a:bodyPr wrap="square"/>
                    <a:lstStyle/>
                    <a:p>
                      <a:pPr algn="l"/>
                      <a:r>
                        <a:rPr sz="900" b="1" i="0">
                          <a:solidFill>
                            <a:srgbClr val="1F497D"/>
                          </a:solidFill>
                          <a:latin typeface="Arial"/>
                        </a:rPr>
                        <a:t>Chile</a:t>
                      </a:r>
                    </a:p>
                  </a:txBody>
                  <a:tcPr marL="54864" marR="54864" marT="27432" marB="27432" anchor="ctr">
                    <a:solidFill>
                      <a:srgbClr val="FFFFFF"/>
                    </a:solidFill>
                  </a:tcPr>
                </a:tc>
                <a:tc>
                  <a:txBody>
                    <a:bodyPr wrap="square"/>
                    <a:lstStyle/>
                    <a:p>
                      <a:pPr algn="l"/>
                      <a:r>
                        <a:rPr sz="900" b="0" i="0">
                          <a:solidFill>
                            <a:srgbClr val="404040"/>
                          </a:solidFill>
                          <a:latin typeface="Arial"/>
                        </a:rPr>
                        <a:t>~35%</a:t>
                      </a:r>
                    </a:p>
                  </a:txBody>
                  <a:tcPr marL="54864" marR="54864" marT="27432" marB="27432" anchor="ctr">
                    <a:solidFill>
                      <a:srgbClr val="FFFFFF"/>
                    </a:solidFill>
                  </a:tcPr>
                </a:tc>
                <a:tc>
                  <a:txBody>
                    <a:bodyPr wrap="square"/>
                    <a:lstStyle/>
                    <a:p>
                      <a:pPr algn="l"/>
                      <a:r>
                        <a:rPr sz="900" b="0" i="0">
                          <a:solidFill>
                            <a:srgbClr val="404040"/>
                          </a:solidFill>
                          <a:latin typeface="Arial"/>
                        </a:rPr>
                        <a:t>Gateway air capacity; diversified regional product</a:t>
                      </a:r>
                    </a:p>
                  </a:txBody>
                  <a:tcPr marL="54864" marR="54864" marT="27432" marB="27432" anchor="ctr">
                    <a:solidFill>
                      <a:srgbClr val="FFFFFF"/>
                    </a:solidFill>
                  </a:tcPr>
                </a:tc>
                <a:tc>
                  <a:txBody>
                    <a:bodyPr wrap="square"/>
                    <a:lstStyle/>
                    <a:p>
                      <a:pPr algn="l"/>
                      <a:r>
                        <a:rPr sz="900" b="0" i="0">
                          <a:solidFill>
                            <a:srgbClr val="404040"/>
                          </a:solidFill>
                          <a:latin typeface="Arial"/>
                        </a:rPr>
                        <a:t>~US$900m airport concession; Santiago 16m to 26m passengers (2010-19); seats +40-50%</a:t>
                      </a:r>
                    </a:p>
                  </a:txBody>
                  <a:tcPr marL="54864" marR="54864" marT="27432" marB="27432" anchor="ctr">
                    <a:solidFill>
                      <a:srgbClr val="FFFFFF"/>
                    </a:solidFill>
                  </a:tcPr>
                </a:tc>
              </a:tr>
              <a:tr h="585216">
                <a:tc>
                  <a:txBody>
                    <a:bodyPr wrap="square"/>
                    <a:lstStyle/>
                    <a:p>
                      <a:pPr algn="l"/>
                      <a:r>
                        <a:rPr sz="900" b="1" i="0">
                          <a:solidFill>
                            <a:srgbClr val="1F497D"/>
                          </a:solidFill>
                          <a:latin typeface="Arial"/>
                        </a:rPr>
                        <a:t>Singapore</a:t>
                      </a:r>
                    </a:p>
                  </a:txBody>
                  <a:tcPr marL="54864" marR="54864" marT="27432" marB="27432" anchor="ctr">
                    <a:solidFill>
                      <a:srgbClr val="F2F2F2"/>
                    </a:solidFill>
                  </a:tcPr>
                </a:tc>
                <a:tc>
                  <a:txBody>
                    <a:bodyPr wrap="square"/>
                    <a:lstStyle/>
                    <a:p>
                      <a:pPr algn="l"/>
                      <a:r>
                        <a:rPr sz="900" b="0" i="0">
                          <a:solidFill>
                            <a:srgbClr val="404040"/>
                          </a:solidFill>
                          <a:latin typeface="Arial"/>
                        </a:rPr>
                        <a:t>~19%</a:t>
                      </a:r>
                    </a:p>
                  </a:txBody>
                  <a:tcPr marL="54864" marR="54864" marT="27432" marB="27432" anchor="ctr">
                    <a:solidFill>
                      <a:srgbClr val="F2F2F2"/>
                    </a:solidFill>
                  </a:tcPr>
                </a:tc>
                <a:tc>
                  <a:txBody>
                    <a:bodyPr wrap="square"/>
                    <a:lstStyle/>
                    <a:p>
                      <a:pPr algn="l"/>
                      <a:r>
                        <a:rPr sz="900" b="0" i="0">
                          <a:solidFill>
                            <a:srgbClr val="404040"/>
                          </a:solidFill>
                          <a:latin typeface="Arial"/>
                        </a:rPr>
                        <a:t>Aviation hub and stopovers; quality uplift</a:t>
                      </a:r>
                    </a:p>
                  </a:txBody>
                  <a:tcPr marL="54864" marR="54864" marT="27432" marB="27432" anchor="ctr">
                    <a:solidFill>
                      <a:srgbClr val="F2F2F2"/>
                    </a:solidFill>
                  </a:tcPr>
                </a:tc>
                <a:tc>
                  <a:txBody>
                    <a:bodyPr wrap="square"/>
                    <a:lstStyle/>
                    <a:p>
                      <a:pPr algn="l"/>
                      <a:r>
                        <a:rPr sz="900" b="0" i="0">
                          <a:solidFill>
                            <a:srgbClr val="404040"/>
                          </a:solidFill>
                          <a:latin typeface="Arial"/>
                        </a:rPr>
                        <a:t>13m arrivals (+19%), US$31.3bn; OTA partnerships; hotel rejuvenation fund</a:t>
                      </a:r>
                    </a:p>
                  </a:txBody>
                  <a:tcPr marL="54864" marR="54864" marT="27432" marB="27432" anchor="ctr">
                    <a:solidFill>
                      <a:srgbClr val="F2F2F2"/>
                    </a:solidFill>
                  </a:tcPr>
                </a:tc>
              </a:tr>
              <a:tr h="585216">
                <a:tc>
                  <a:txBody>
                    <a:bodyPr wrap="square"/>
                    <a:lstStyle/>
                    <a:p>
                      <a:pPr algn="l"/>
                      <a:r>
                        <a:rPr sz="900" b="1" i="0">
                          <a:solidFill>
                            <a:srgbClr val="1F497D"/>
                          </a:solidFill>
                          <a:latin typeface="Arial"/>
                        </a:rPr>
                        <a:t>Kenya</a:t>
                      </a:r>
                    </a:p>
                  </a:txBody>
                  <a:tcPr marL="54864" marR="54864" marT="27432" marB="27432" anchor="ctr">
                    <a:solidFill>
                      <a:srgbClr val="FFFFFF"/>
                    </a:solidFill>
                  </a:tcPr>
                </a:tc>
                <a:tc>
                  <a:txBody>
                    <a:bodyPr wrap="square"/>
                    <a:lstStyle/>
                    <a:p>
                      <a:pPr algn="l"/>
                      <a:r>
                        <a:rPr sz="900" b="0" i="0">
                          <a:solidFill>
                            <a:srgbClr val="404040"/>
                          </a:solidFill>
                          <a:latin typeface="Arial"/>
                        </a:rPr>
                        <a:t>~13-15%</a:t>
                      </a:r>
                    </a:p>
                  </a:txBody>
                  <a:tcPr marL="54864" marR="54864" marT="27432" marB="27432" anchor="ctr">
                    <a:solidFill>
                      <a:srgbClr val="FFFFFF"/>
                    </a:solidFill>
                  </a:tcPr>
                </a:tc>
                <a:tc>
                  <a:txBody>
                    <a:bodyPr wrap="square"/>
                    <a:lstStyle/>
                    <a:p>
                      <a:pPr algn="l"/>
                      <a:r>
                        <a:rPr sz="900" b="0" i="0">
                          <a:solidFill>
                            <a:srgbClr val="404040"/>
                          </a:solidFill>
                          <a:latin typeface="Arial"/>
                        </a:rPr>
                        <a:t>Conservation-led product; Nairobi MICE hub</a:t>
                      </a:r>
                    </a:p>
                  </a:txBody>
                  <a:tcPr marL="54864" marR="54864" marT="27432" marB="27432" anchor="ctr">
                    <a:solidFill>
                      <a:srgbClr val="FFFFFF"/>
                    </a:solidFill>
                  </a:tcPr>
                </a:tc>
                <a:tc>
                  <a:txBody>
                    <a:bodyPr wrap="square"/>
                    <a:lstStyle/>
                    <a:p>
                      <a:pPr algn="l"/>
                      <a:r>
                        <a:rPr sz="900" b="0" i="0">
                          <a:solidFill>
                            <a:srgbClr val="404040"/>
                          </a:solidFill>
                          <a:latin typeface="Arial"/>
                        </a:rPr>
                        <a:t>2.4m arrivals 2024 and ~US$1,460 per visitor (Demand-Side); the benchmark quotes US$1,650 on a 2.1m base; 5m targeted by 2030</a:t>
                      </a:r>
                    </a:p>
                  </a:txBody>
                  <a:tcPr marL="54864" marR="54864" marT="27432" marB="27432" anchor="ctr">
                    <a:solidFill>
                      <a:srgbClr val="FFFFFF"/>
                    </a:solidFill>
                  </a:tcPr>
                </a:tc>
              </a:tr>
              <a:tr h="585216">
                <a:tc>
                  <a:txBody>
                    <a:bodyPr wrap="square"/>
                    <a:lstStyle/>
                    <a:p>
                      <a:pPr algn="l"/>
                      <a:r>
                        <a:rPr sz="900" b="1" i="0">
                          <a:solidFill>
                            <a:srgbClr val="1F497D"/>
                          </a:solidFill>
                          <a:latin typeface="Arial"/>
                        </a:rPr>
                        <a:t>Valencia</a:t>
                      </a:r>
                    </a:p>
                  </a:txBody>
                  <a:tcPr marL="54864" marR="54864" marT="27432" marB="27432" anchor="ctr">
                    <a:solidFill>
                      <a:srgbClr val="F2F2F2"/>
                    </a:solidFill>
                  </a:tcPr>
                </a:tc>
                <a:tc>
                  <a:txBody>
                    <a:bodyPr wrap="square"/>
                    <a:lstStyle/>
                    <a:p>
                      <a:pPr algn="l"/>
                      <a:r>
                        <a:rPr sz="900" b="0" i="0">
                          <a:solidFill>
                            <a:srgbClr val="404040"/>
                          </a:solidFill>
                          <a:latin typeface="Arial"/>
                        </a:rPr>
                        <a:t>~14%</a:t>
                      </a:r>
                    </a:p>
                  </a:txBody>
                  <a:tcPr marL="54864" marR="54864" marT="27432" marB="27432" anchor="ctr">
                    <a:solidFill>
                      <a:srgbClr val="F2F2F2"/>
                    </a:solidFill>
                  </a:tcPr>
                </a:tc>
                <a:tc>
                  <a:txBody>
                    <a:bodyPr wrap="square"/>
                    <a:lstStyle/>
                    <a:p>
                      <a:pPr algn="l"/>
                      <a:r>
                        <a:rPr sz="900" b="0" i="0">
                          <a:solidFill>
                            <a:srgbClr val="404040"/>
                          </a:solidFill>
                          <a:latin typeface="Arial"/>
                        </a:rPr>
                        <a:t>Quality certification; sector-led governance</a:t>
                      </a:r>
                    </a:p>
                  </a:txBody>
                  <a:tcPr marL="54864" marR="54864" marT="27432" marB="27432" anchor="ctr">
                    <a:solidFill>
                      <a:srgbClr val="F2F2F2"/>
                    </a:solidFill>
                  </a:tcPr>
                </a:tc>
                <a:tc>
                  <a:txBody>
                    <a:bodyPr wrap="square"/>
                    <a:lstStyle/>
                    <a:p>
                      <a:pPr algn="l"/>
                      <a:r>
                        <a:rPr sz="900" b="0" i="0">
                          <a:solidFill>
                            <a:srgbClr val="404040"/>
                          </a:solidFill>
                          <a:latin typeface="Arial"/>
                        </a:rPr>
                        <a:t>3.5m visitors (+24% on 2019); spend +21%, per trip +6.3%</a:t>
                      </a:r>
                    </a:p>
                  </a:txBody>
                  <a:tcPr marL="54864" marR="54864" marT="27432" marB="27432" anchor="ctr">
                    <a:solidFill>
                      <a:srgbClr val="F2F2F2"/>
                    </a:solidFill>
                  </a:tcPr>
                </a:tc>
              </a:tr>
              <a:tr h="585216">
                <a:tc>
                  <a:txBody>
                    <a:bodyPr wrap="square"/>
                    <a:lstStyle/>
                    <a:p>
                      <a:pPr algn="l"/>
                      <a:r>
                        <a:rPr sz="900" b="1" i="0">
                          <a:solidFill>
                            <a:srgbClr val="1F497D"/>
                          </a:solidFill>
                          <a:latin typeface="Arial"/>
                        </a:rPr>
                        <a:t>Auckland, NZ</a:t>
                      </a:r>
                    </a:p>
                  </a:txBody>
                  <a:tcPr marL="54864" marR="54864" marT="27432" marB="27432" anchor="ctr">
                    <a:solidFill>
                      <a:srgbClr val="FFFFFF"/>
                    </a:solidFill>
                  </a:tcPr>
                </a:tc>
                <a:tc>
                  <a:txBody>
                    <a:bodyPr wrap="square"/>
                    <a:lstStyle/>
                    <a:p>
                      <a:pPr algn="l"/>
                      <a:r>
                        <a:rPr sz="900" b="0" i="0">
                          <a:solidFill>
                            <a:srgbClr val="404040"/>
                          </a:solidFill>
                          <a:latin typeface="Arial"/>
                        </a:rPr>
                        <a:t>~12%</a:t>
                      </a:r>
                    </a:p>
                  </a:txBody>
                  <a:tcPr marL="54864" marR="54864" marT="27432" marB="27432" anchor="ctr">
                    <a:solidFill>
                      <a:srgbClr val="FFFFFF"/>
                    </a:solidFill>
                  </a:tcPr>
                </a:tc>
                <a:tc>
                  <a:txBody>
                    <a:bodyPr wrap="square"/>
                    <a:lstStyle/>
                    <a:p>
                      <a:pPr algn="l"/>
                      <a:r>
                        <a:rPr sz="900" b="0" i="0">
                          <a:solidFill>
                            <a:srgbClr val="404040"/>
                          </a:solidFill>
                          <a:latin typeface="Arial"/>
                        </a:rPr>
                        <a:t>Route-accountable marketing; regional value</a:t>
                      </a:r>
                    </a:p>
                  </a:txBody>
                  <a:tcPr marL="54864" marR="54864" marT="27432" marB="27432" anchor="ctr">
                    <a:solidFill>
                      <a:srgbClr val="FFFFFF"/>
                    </a:solidFill>
                  </a:tcPr>
                </a:tc>
                <a:tc>
                  <a:txBody>
                    <a:bodyPr wrap="square"/>
                    <a:lstStyle/>
                    <a:p>
                      <a:pPr algn="l"/>
                      <a:r>
                        <a:rPr sz="900" b="0" i="0">
                          <a:solidFill>
                            <a:srgbClr val="404040"/>
                          </a:solidFill>
                          <a:latin typeface="Arial"/>
                        </a:rPr>
                        <a:t>16,000+ incremental bookings, ~NZ$55m ROI as reported (2023/24; basis not stated)</a:t>
                      </a:r>
                    </a:p>
                  </a:txBody>
                  <a:tcPr marL="54864" marR="54864" marT="27432" marB="27432" anchor="ctr">
                    <a:solidFill>
                      <a:srgbClr val="FFFFFF"/>
                    </a:solidFill>
                  </a:tcPr>
                </a:tc>
              </a:tr>
              <a:tr h="585216">
                <a:tc>
                  <a:txBody>
                    <a:bodyPr wrap="square"/>
                    <a:lstStyle/>
                    <a:p>
                      <a:pPr algn="l"/>
                      <a:r>
                        <a:rPr sz="900" b="1" i="0">
                          <a:solidFill>
                            <a:srgbClr val="1F497D"/>
                          </a:solidFill>
                          <a:latin typeface="Arial"/>
                        </a:rPr>
                        <a:t>Melbourne</a:t>
                      </a:r>
                    </a:p>
                  </a:txBody>
                  <a:tcPr marL="54864" marR="54864" marT="27432" marB="27432" anchor="ctr">
                    <a:solidFill>
                      <a:srgbClr val="F2F2F2"/>
                    </a:solidFill>
                  </a:tcPr>
                </a:tc>
                <a:tc>
                  <a:txBody>
                    <a:bodyPr wrap="square"/>
                    <a:lstStyle/>
                    <a:p>
                      <a:pPr algn="l"/>
                      <a:r>
                        <a:rPr sz="900" b="0" i="0">
                          <a:solidFill>
                            <a:srgbClr val="404040"/>
                          </a:solidFill>
                          <a:latin typeface="Arial"/>
                        </a:rPr>
                        <a:t>~4.3% (forecast AAGR)</a:t>
                      </a:r>
                    </a:p>
                  </a:txBody>
                  <a:tcPr marL="54864" marR="54864" marT="27432" marB="27432" anchor="ctr">
                    <a:solidFill>
                      <a:srgbClr val="F2F2F2"/>
                    </a:solidFill>
                  </a:tcPr>
                </a:tc>
                <a:tc>
                  <a:txBody>
                    <a:bodyPr wrap="square"/>
                    <a:lstStyle/>
                    <a:p>
                      <a:pPr algn="l"/>
                      <a:r>
                        <a:rPr sz="900" b="0" i="0">
                          <a:solidFill>
                            <a:srgbClr val="404040"/>
                          </a:solidFill>
                          <a:latin typeface="Arial"/>
                        </a:rPr>
                        <a:t>Events engine; knowledge-led brand</a:t>
                      </a:r>
                    </a:p>
                  </a:txBody>
                  <a:tcPr marL="54864" marR="54864" marT="27432" marB="27432" anchor="ctr">
                    <a:solidFill>
                      <a:srgbClr val="F2F2F2"/>
                    </a:solidFill>
                  </a:tcPr>
                </a:tc>
                <a:tc>
                  <a:txBody>
                    <a:bodyPr wrap="square"/>
                    <a:lstStyle/>
                    <a:p>
                      <a:pPr algn="l"/>
                      <a:r>
                        <a:rPr sz="900" b="0" i="0">
                          <a:solidFill>
                            <a:srgbClr val="404040"/>
                          </a:solidFill>
                          <a:latin typeface="Arial"/>
                        </a:rPr>
                        <a:t>5,000 new hotel rooms (+21%); Amway China seminar 16,000 delegates, $100m (currency as reported)</a:t>
                      </a:r>
                    </a:p>
                  </a:txBody>
                  <a:tcPr marL="54864" marR="54864" marT="27432" marB="27432" anchor="ctr">
                    <a:solidFill>
                      <a:srgbClr val="F2F2F2"/>
                    </a:solidFill>
                  </a:tcPr>
                </a:tc>
              </a:tr>
            </a:tbl>
          </a:graphicData>
        </a:graphic>
      </p:graphicFrame>
      <p:sp>
        <p:nvSpPr>
          <p:cNvPr id="9" name="Rectangle 8"/>
          <p:cNvSpPr/>
          <p:nvPr/>
        </p:nvSpPr>
        <p:spPr>
          <a:xfrm>
            <a:off x="384048" y="5623560"/>
            <a:ext cx="11420856" cy="457200"/>
          </a:xfrm>
          <a:prstGeom prst="rect">
            <a:avLst/>
          </a:prstGeom>
          <a:solidFill>
            <a:srgbClr val="1F497D"/>
          </a:solidFill>
          <a:ln>
            <a:noFill/>
          </a:ln>
        </p:spPr>
        <p:txBody>
          <a:bodyPr rtlCol="0" anchor="ctr"/>
          <a:lstStyle/>
          <a:p>
            <a:pPr algn="ctr"/>
          </a:p>
        </p:txBody>
      </p:sp>
      <p:sp>
        <p:nvSpPr>
          <p:cNvPr id="10" name="TextBox 9"/>
          <p:cNvSpPr txBox="1"/>
          <p:nvPr/>
        </p:nvSpPr>
        <p:spPr>
          <a:xfrm>
            <a:off x="548640" y="5623560"/>
            <a:ext cx="11064240" cy="45720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None of the six grew through promotion alone: each aligned institutions, demand creation and access.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Ten moves from the benchmarks translate directly into actions for the Western Cape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GLOBAL BENCHMARKING | TRANSFERABLE MOVES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Global Benchmarking Report (Mar 2026) ("required change to achieve" for each lever)</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727448"/>
        </p:xfrm>
        <a:graphic>
          <a:graphicData uri="http://schemas.openxmlformats.org/drawingml/2006/table">
            <a:tbl>
              <a:tblPr firstRow="1" bandRow="0">
                <a:tableStyleId>{5C22544A-7EE6-4342-B048-85BDC9FD1C3A}</a:tableStyleId>
              </a:tblPr>
              <a:tblGrid>
                <a:gridCol w="1920240"/>
                <a:gridCol w="8769096"/>
                <a:gridCol w="731520"/>
              </a:tblGrid>
              <a:tr h="429768">
                <a:tc>
                  <a:txBody>
                    <a:bodyPr wrap="square"/>
                    <a:lstStyle/>
                    <a:p>
                      <a:pPr algn="l"/>
                      <a:r>
                        <a:rPr sz="1000" b="1" i="0">
                          <a:solidFill>
                            <a:srgbClr val="FFFFFF"/>
                          </a:solidFill>
                          <a:latin typeface="Arial"/>
                        </a:rPr>
                        <a:t>Source</a:t>
                      </a:r>
                    </a:p>
                  </a:txBody>
                  <a:tcPr marL="54864" marR="54864" marT="27432" marB="27432" anchor="ctr">
                    <a:solidFill>
                      <a:srgbClr val="1F497D"/>
                    </a:solidFill>
                  </a:tcPr>
                </a:tc>
                <a:tc>
                  <a:txBody>
                    <a:bodyPr wrap="square"/>
                    <a:lstStyle/>
                    <a:p>
                      <a:pPr algn="l"/>
                      <a:r>
                        <a:rPr sz="1000" b="1" i="0">
                          <a:solidFill>
                            <a:srgbClr val="FFFFFF"/>
                          </a:solidFill>
                          <a:latin typeface="Arial"/>
                        </a:rPr>
                        <a:t>Move</a:t>
                      </a:r>
                    </a:p>
                  </a:txBody>
                  <a:tcPr marL="54864" marR="54864" marT="27432" marB="27432" anchor="ctr">
                    <a:solidFill>
                      <a:srgbClr val="1F497D"/>
                    </a:solidFill>
                  </a:tcPr>
                </a:tc>
                <a:tc>
                  <a:txBody>
                    <a:bodyPr wrap="square"/>
                    <a:lstStyle/>
                    <a:p>
                      <a:pPr algn="l"/>
                      <a:r>
                        <a:rPr sz="1000" b="1" i="0">
                          <a:solidFill>
                            <a:srgbClr val="FFFFFF"/>
                          </a:solidFill>
                          <a:latin typeface="Arial"/>
                        </a:rPr>
                        <a:t>Tree</a:t>
                      </a:r>
                    </a:p>
                  </a:txBody>
                  <a:tcPr marL="54864" marR="54864" marT="27432" marB="27432" anchor="ctr">
                    <a:solidFill>
                      <a:srgbClr val="1F497D"/>
                    </a:solidFill>
                  </a:tcPr>
                </a:tc>
              </a:tr>
              <a:tr h="429768">
                <a:tc>
                  <a:txBody>
                    <a:bodyPr wrap="square"/>
                    <a:lstStyle/>
                    <a:p>
                      <a:pPr algn="l"/>
                      <a:r>
                        <a:rPr sz="1000" b="1" i="0">
                          <a:solidFill>
                            <a:srgbClr val="00AEEF"/>
                          </a:solidFill>
                          <a:latin typeface="Arial"/>
                        </a:rPr>
                        <a:t>Melbourne</a:t>
                      </a:r>
                    </a:p>
                  </a:txBody>
                  <a:tcPr marL="54864" marR="54864" marT="27432" marB="27432" anchor="ctr">
                    <a:solidFill>
                      <a:srgbClr val="FFFFFF"/>
                    </a:solidFill>
                  </a:tcPr>
                </a:tc>
                <a:tc>
                  <a:txBody>
                    <a:bodyPr wrap="square"/>
                    <a:lstStyle/>
                    <a:p>
                      <a:pPr algn="l"/>
                      <a:r>
                        <a:rPr sz="1000" b="0" i="0">
                          <a:solidFill>
                            <a:srgbClr val="404040"/>
                          </a:solidFill>
                          <a:latin typeface="Arial"/>
                        </a:rPr>
                        <a:t>A single event acquisition and calendar strategy across Wesgro, Convention Bureau, City and Province</a:t>
                      </a:r>
                    </a:p>
                  </a:txBody>
                  <a:tcPr marL="54864" marR="54864" marT="27432" marB="27432" anchor="ctr">
                    <a:solidFill>
                      <a:srgbClr val="FFFFFF"/>
                    </a:solidFill>
                  </a:tcPr>
                </a:tc>
                <a:tc>
                  <a:txBody>
                    <a:bodyPr wrap="square"/>
                    <a:lstStyle/>
                    <a:p>
                      <a:pPr algn="l"/>
                      <a:r>
                        <a:rPr sz="1000" b="0" i="0">
                          <a:solidFill>
                            <a:srgbClr val="7F7F7F"/>
                          </a:solidFill>
                          <a:latin typeface="Arial"/>
                        </a:rPr>
                        <a:t>1c</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Melbourne</a:t>
                      </a:r>
                    </a:p>
                  </a:txBody>
                  <a:tcPr marL="54864" marR="54864" marT="27432" marB="27432" anchor="ctr">
                    <a:solidFill>
                      <a:srgbClr val="F2F2F2"/>
                    </a:solidFill>
                  </a:tcPr>
                </a:tc>
                <a:tc>
                  <a:txBody>
                    <a:bodyPr wrap="square"/>
                    <a:lstStyle/>
                    <a:p>
                      <a:pPr algn="l"/>
                      <a:r>
                        <a:rPr sz="1000" b="0" i="0">
                          <a:solidFill>
                            <a:srgbClr val="404040"/>
                          </a:solidFill>
                          <a:latin typeface="Arial"/>
                        </a:rPr>
                        <a:t>Conference bidding aligned to provincial sector strengths: green energy, fintech, academia, ocean economy</a:t>
                      </a:r>
                    </a:p>
                  </a:txBody>
                  <a:tcPr marL="54864" marR="54864" marT="27432" marB="27432" anchor="ctr">
                    <a:solidFill>
                      <a:srgbClr val="F2F2F2"/>
                    </a:solidFill>
                  </a:tcPr>
                </a:tc>
                <a:tc>
                  <a:txBody>
                    <a:bodyPr wrap="square"/>
                    <a:lstStyle/>
                    <a:p>
                      <a:pPr algn="l"/>
                      <a:r>
                        <a:rPr sz="1000" b="0" i="0">
                          <a:solidFill>
                            <a:srgbClr val="7F7F7F"/>
                          </a:solidFill>
                          <a:latin typeface="Arial"/>
                        </a:rPr>
                        <a:t>1c</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Chile</a:t>
                      </a:r>
                    </a:p>
                  </a:txBody>
                  <a:tcPr marL="54864" marR="54864" marT="27432" marB="27432" anchor="ctr">
                    <a:solidFill>
                      <a:srgbClr val="FFFFFF"/>
                    </a:solidFill>
                  </a:tcPr>
                </a:tc>
                <a:tc>
                  <a:txBody>
                    <a:bodyPr wrap="square"/>
                    <a:lstStyle/>
                    <a:p>
                      <a:pPr algn="l"/>
                      <a:r>
                        <a:rPr sz="1000" b="0" i="0">
                          <a:solidFill>
                            <a:srgbClr val="404040"/>
                          </a:solidFill>
                          <a:latin typeface="Arial"/>
                        </a:rPr>
                        <a:t>A permanent, well-funded public-private air access fund</a:t>
                      </a:r>
                    </a:p>
                  </a:txBody>
                  <a:tcPr marL="54864" marR="54864" marT="27432" marB="27432" anchor="ctr">
                    <a:solidFill>
                      <a:srgbClr val="FFFFFF"/>
                    </a:solidFill>
                  </a:tcPr>
                </a:tc>
                <a:tc>
                  <a:txBody>
                    <a:bodyPr wrap="square"/>
                    <a:lstStyle/>
                    <a:p>
                      <a:pPr algn="l"/>
                      <a:r>
                        <a:rPr sz="1000" b="0" i="0">
                          <a:solidFill>
                            <a:srgbClr val="7F7F7F"/>
                          </a:solidFill>
                          <a:latin typeface="Arial"/>
                        </a:rPr>
                        <a:t>2a</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Chile</a:t>
                      </a:r>
                    </a:p>
                  </a:txBody>
                  <a:tcPr marL="54864" marR="54864" marT="27432" marB="27432" anchor="ctr">
                    <a:solidFill>
                      <a:srgbClr val="F2F2F2"/>
                    </a:solidFill>
                  </a:tcPr>
                </a:tc>
                <a:tc>
                  <a:txBody>
                    <a:bodyPr wrap="square"/>
                    <a:lstStyle/>
                    <a:p>
                      <a:pPr algn="l"/>
                      <a:r>
                        <a:rPr sz="1000" b="0" i="0">
                          <a:solidFill>
                            <a:srgbClr val="404040"/>
                          </a:solidFill>
                          <a:latin typeface="Arial"/>
                        </a:rPr>
                        <a:t>Lobby for air liberalisation and simpler visas as economic infrastructure</a:t>
                      </a:r>
                    </a:p>
                  </a:txBody>
                  <a:tcPr marL="54864" marR="54864" marT="27432" marB="27432" anchor="ctr">
                    <a:solidFill>
                      <a:srgbClr val="F2F2F2"/>
                    </a:solidFill>
                  </a:tcPr>
                </a:tc>
                <a:tc>
                  <a:txBody>
                    <a:bodyPr wrap="square"/>
                    <a:lstStyle/>
                    <a:p>
                      <a:pPr algn="l"/>
                      <a:r>
                        <a:rPr sz="1000" b="0" i="0">
                          <a:solidFill>
                            <a:srgbClr val="7F7F7F"/>
                          </a:solidFill>
                          <a:latin typeface="Arial"/>
                        </a:rPr>
                        <a:t>2c</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Chile</a:t>
                      </a:r>
                    </a:p>
                  </a:txBody>
                  <a:tcPr marL="54864" marR="54864" marT="27432" marB="27432" anchor="ctr">
                    <a:solidFill>
                      <a:srgbClr val="FFFFFF"/>
                    </a:solidFill>
                  </a:tcPr>
                </a:tc>
                <a:tc>
                  <a:txBody>
                    <a:bodyPr wrap="square"/>
                    <a:lstStyle/>
                    <a:p>
                      <a:pPr algn="l"/>
                      <a:r>
                        <a:rPr sz="1000" b="0" i="0">
                          <a:solidFill>
                            <a:srgbClr val="404040"/>
                          </a:solidFill>
                          <a:latin typeface="Arial"/>
                        </a:rPr>
                        <a:t>Sell curated multi-region journeys under one destination narrative</a:t>
                      </a:r>
                    </a:p>
                  </a:txBody>
                  <a:tcPr marL="54864" marR="54864" marT="27432" marB="27432" anchor="ctr">
                    <a:solidFill>
                      <a:srgbClr val="FFFFFF"/>
                    </a:solidFill>
                  </a:tcPr>
                </a:tc>
                <a:tc>
                  <a:txBody>
                    <a:bodyPr wrap="square"/>
                    <a:lstStyle/>
                    <a:p>
                      <a:pPr algn="l"/>
                      <a:r>
                        <a:rPr sz="1000" b="0" i="0">
                          <a:solidFill>
                            <a:srgbClr val="7F7F7F"/>
                          </a:solidFill>
                          <a:latin typeface="Arial"/>
                        </a:rPr>
                        <a:t>1b</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Kenya</a:t>
                      </a:r>
                    </a:p>
                  </a:txBody>
                  <a:tcPr marL="54864" marR="54864" marT="27432" marB="27432" anchor="ctr">
                    <a:solidFill>
                      <a:srgbClr val="F2F2F2"/>
                    </a:solidFill>
                  </a:tcPr>
                </a:tc>
                <a:tc>
                  <a:txBody>
                    <a:bodyPr wrap="square"/>
                    <a:lstStyle/>
                    <a:p>
                      <a:pPr algn="l"/>
                      <a:r>
                        <a:rPr sz="1000" b="0" i="0">
                          <a:solidFill>
                            <a:srgbClr val="404040"/>
                          </a:solidFill>
                          <a:latin typeface="Arial"/>
                        </a:rPr>
                        <a:t>Treat MICE and business travel as a year-round stabiliser</a:t>
                      </a:r>
                    </a:p>
                  </a:txBody>
                  <a:tcPr marL="54864" marR="54864" marT="27432" marB="27432" anchor="ctr">
                    <a:solidFill>
                      <a:srgbClr val="F2F2F2"/>
                    </a:solidFill>
                  </a:tcPr>
                </a:tc>
                <a:tc>
                  <a:txBody>
                    <a:bodyPr wrap="square"/>
                    <a:lstStyle/>
                    <a:p>
                      <a:pPr algn="l"/>
                      <a:r>
                        <a:rPr sz="1000" b="0" i="0">
                          <a:solidFill>
                            <a:srgbClr val="7F7F7F"/>
                          </a:solidFill>
                          <a:latin typeface="Arial"/>
                        </a:rPr>
                        <a:t>1c</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Singapore</a:t>
                      </a:r>
                    </a:p>
                  </a:txBody>
                  <a:tcPr marL="54864" marR="54864" marT="27432" marB="27432" anchor="ctr">
                    <a:solidFill>
                      <a:srgbClr val="FFFFFF"/>
                    </a:solidFill>
                  </a:tcPr>
                </a:tc>
                <a:tc>
                  <a:txBody>
                    <a:bodyPr wrap="square"/>
                    <a:lstStyle/>
                    <a:p>
                      <a:pPr algn="l"/>
                      <a:r>
                        <a:rPr sz="1000" b="0" i="0">
                          <a:solidFill>
                            <a:srgbClr val="404040"/>
                          </a:solidFill>
                          <a:latin typeface="Arial"/>
                        </a:rPr>
                        <a:t>Shared KPIs across government, aviation, events and industry</a:t>
                      </a:r>
                    </a:p>
                  </a:txBody>
                  <a:tcPr marL="54864" marR="54864" marT="27432" marB="27432" anchor="ctr">
                    <a:solidFill>
                      <a:srgbClr val="FFFFFF"/>
                    </a:solidFill>
                  </a:tcPr>
                </a:tc>
                <a:tc>
                  <a:txBody>
                    <a:bodyPr wrap="square"/>
                    <a:lstStyle/>
                    <a:p>
                      <a:pPr algn="l"/>
                      <a:r>
                        <a:rPr sz="1000" b="0" i="0">
                          <a:solidFill>
                            <a:srgbClr val="7F7F7F"/>
                          </a:solidFill>
                          <a:latin typeface="Arial"/>
                        </a:rPr>
                        <a:t>3e</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Valencia / Singapore</a:t>
                      </a:r>
                    </a:p>
                  </a:txBody>
                  <a:tcPr marL="54864" marR="54864" marT="27432" marB="27432" anchor="ctr">
                    <a:solidFill>
                      <a:srgbClr val="F2F2F2"/>
                    </a:solidFill>
                  </a:tcPr>
                </a:tc>
                <a:tc>
                  <a:txBody>
                    <a:bodyPr wrap="square"/>
                    <a:lstStyle/>
                    <a:p>
                      <a:pPr algn="l"/>
                      <a:r>
                        <a:rPr sz="1000" b="0" i="0">
                          <a:solidFill>
                            <a:srgbClr val="404040"/>
                          </a:solidFill>
                          <a:latin typeface="Arial"/>
                        </a:rPr>
                        <a:t>A provincial quality charter, with certification visible on booking platforms</a:t>
                      </a:r>
                    </a:p>
                  </a:txBody>
                  <a:tcPr marL="54864" marR="54864" marT="27432" marB="27432" anchor="ctr">
                    <a:solidFill>
                      <a:srgbClr val="F2F2F2"/>
                    </a:solidFill>
                  </a:tcPr>
                </a:tc>
                <a:tc>
                  <a:txBody>
                    <a:bodyPr wrap="square"/>
                    <a:lstStyle/>
                    <a:p>
                      <a:pPr algn="l"/>
                      <a:r>
                        <a:rPr sz="1000" b="0" i="0">
                          <a:solidFill>
                            <a:srgbClr val="7F7F7F"/>
                          </a:solidFill>
                          <a:latin typeface="Arial"/>
                        </a:rPr>
                        <a:t>2e</a:t>
                      </a:r>
                    </a:p>
                  </a:txBody>
                  <a:tcPr marL="54864" marR="54864" marT="27432" marB="27432" anchor="ctr">
                    <a:solidFill>
                      <a:srgbClr val="F2F2F2"/>
                    </a:solidFill>
                  </a:tcPr>
                </a:tc>
              </a:tr>
              <a:tr h="429768">
                <a:tc>
                  <a:txBody>
                    <a:bodyPr wrap="square"/>
                    <a:lstStyle/>
                    <a:p>
                      <a:pPr algn="l"/>
                      <a:r>
                        <a:rPr sz="1000" b="1" i="0">
                          <a:solidFill>
                            <a:srgbClr val="00AEEF"/>
                          </a:solidFill>
                          <a:latin typeface="Arial"/>
                        </a:rPr>
                        <a:t>Valencia</a:t>
                      </a:r>
                    </a:p>
                  </a:txBody>
                  <a:tcPr marL="54864" marR="54864" marT="27432" marB="27432" anchor="ctr">
                    <a:solidFill>
                      <a:srgbClr val="FFFFFF"/>
                    </a:solidFill>
                  </a:tcPr>
                </a:tc>
                <a:tc>
                  <a:txBody>
                    <a:bodyPr wrap="square"/>
                    <a:lstStyle/>
                    <a:p>
                      <a:pPr algn="l"/>
                      <a:r>
                        <a:rPr sz="1000" b="0" i="0">
                          <a:solidFill>
                            <a:srgbClr val="404040"/>
                          </a:solidFill>
                          <a:latin typeface="Arial"/>
                        </a:rPr>
                        <a:t>Formal sector councils (wine, MICE, adventure, culture) with executive authority</a:t>
                      </a:r>
                    </a:p>
                  </a:txBody>
                  <a:tcPr marL="54864" marR="54864" marT="27432" marB="27432" anchor="ctr">
                    <a:solidFill>
                      <a:srgbClr val="FFFFFF"/>
                    </a:solidFill>
                  </a:tcPr>
                </a:tc>
                <a:tc>
                  <a:txBody>
                    <a:bodyPr wrap="square"/>
                    <a:lstStyle/>
                    <a:p>
                      <a:pPr algn="l"/>
                      <a:r>
                        <a:rPr sz="1000" b="0" i="0">
                          <a:solidFill>
                            <a:srgbClr val="7F7F7F"/>
                          </a:solidFill>
                          <a:latin typeface="Arial"/>
                        </a:rPr>
                        <a:t>3d</a:t>
                      </a:r>
                    </a:p>
                  </a:txBody>
                  <a:tcPr marL="54864" marR="54864" marT="27432" marB="27432" anchor="ctr">
                    <a:solidFill>
                      <a:srgbClr val="FFFFFF"/>
                    </a:solidFill>
                  </a:tcPr>
                </a:tc>
              </a:tr>
              <a:tr h="429768">
                <a:tc>
                  <a:txBody>
                    <a:bodyPr wrap="square"/>
                    <a:lstStyle/>
                    <a:p>
                      <a:pPr algn="l"/>
                      <a:r>
                        <a:rPr sz="1000" b="1" i="0">
                          <a:solidFill>
                            <a:srgbClr val="00AEEF"/>
                          </a:solidFill>
                          <a:latin typeface="Arial"/>
                        </a:rPr>
                        <a:t>New Zealand</a:t>
                      </a:r>
                    </a:p>
                  </a:txBody>
                  <a:tcPr marL="54864" marR="54864" marT="27432" marB="27432" anchor="ctr">
                    <a:solidFill>
                      <a:srgbClr val="F2F2F2"/>
                    </a:solidFill>
                  </a:tcPr>
                </a:tc>
                <a:tc>
                  <a:txBody>
                    <a:bodyPr wrap="square"/>
                    <a:lstStyle/>
                    <a:p>
                      <a:pPr algn="l"/>
                      <a:r>
                        <a:rPr sz="1000" b="0" i="0">
                          <a:solidFill>
                            <a:srgbClr val="404040"/>
                          </a:solidFill>
                          <a:latin typeface="Arial"/>
                        </a:rPr>
                        <a:t>Ring-fence marketing to priority corridors; measure yield, not only arrivals</a:t>
                      </a:r>
                    </a:p>
                  </a:txBody>
                  <a:tcPr marL="54864" marR="54864" marT="27432" marB="27432" anchor="ctr">
                    <a:solidFill>
                      <a:srgbClr val="F2F2F2"/>
                    </a:solidFill>
                  </a:tcPr>
                </a:tc>
                <a:tc>
                  <a:txBody>
                    <a:bodyPr wrap="square"/>
                    <a:lstStyle/>
                    <a:p>
                      <a:pPr algn="l"/>
                      <a:r>
                        <a:rPr sz="1000" b="0" i="0">
                          <a:solidFill>
                            <a:srgbClr val="7F7F7F"/>
                          </a:solidFill>
                          <a:latin typeface="Arial"/>
                        </a:rPr>
                        <a:t>1d</a:t>
                      </a:r>
                    </a:p>
                  </a:txBody>
                  <a:tcPr marL="54864" marR="54864" marT="27432" marB="27432" anchor="ctr">
                    <a:solidFill>
                      <a:srgbClr val="F2F2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Stepping back</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Scorecard, themes, tensions and the "so what"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14 of 20 focus areas are supported; the gaps cluster in segments, skills and capital</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HYPOTHESIS SCORECARD</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synthesis of all inputs; verdicts per focus area are evidenced in the appendix. Supply and inclusion deliverables were themselves framed by this tree.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218688" y="1143000"/>
            <a:ext cx="5751576" cy="457200"/>
          </a:xfrm>
          <a:prstGeom prst="rect">
            <a:avLst/>
          </a:prstGeom>
          <a:solidFill>
            <a:srgbClr val="1F497D"/>
          </a:solidFill>
          <a:ln>
            <a:noFill/>
          </a:ln>
        </p:spPr>
        <p:txBody>
          <a:bodyPr rtlCol="0" anchor="ctr" wrap="square" lIns="36576" rIns="36576" tIns="21945" bIns="21945"/>
          <a:lstStyle/>
          <a:p>
            <a:pPr algn="ctr">
              <a:spcAft>
                <a:spcPts val="0"/>
              </a:spcAft>
            </a:pPr>
            <a:r>
              <a:rPr sz="1200" b="1" i="0">
                <a:solidFill>
                  <a:srgbClr val="FFFFFF"/>
                </a:solidFill>
                <a:latin typeface="Arial"/>
              </a:rPr>
              <a:t>Unlocking International Tourism Growth</a:t>
            </a:r>
          </a:p>
          <a:p>
            <a:pPr algn="ctr">
              <a:spcAft>
                <a:spcPts val="0"/>
              </a:spcAft>
            </a:pPr>
            <a:r>
              <a:rPr sz="900" b="0" i="0">
                <a:solidFill>
                  <a:srgbClr val="FFFFFF"/>
                </a:solidFill>
                <a:latin typeface="Arial"/>
              </a:rPr>
              <a:t>2.8m international visitors and 300,000 tourism jobs by 2035</a:t>
            </a:r>
          </a:p>
        </p:txBody>
      </p:sp>
      <p:cxnSp>
        <p:nvCxnSpPr>
          <p:cNvPr id="9" name="Connector 8"/>
          <p:cNvCxnSpPr/>
          <p:nvPr/>
        </p:nvCxnSpPr>
        <p:spPr>
          <a:xfrm>
            <a:off x="2231136"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84048"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RESHAPE DEMAND</a:t>
            </a:r>
          </a:p>
          <a:p>
            <a:pPr algn="ctr">
              <a:spcAft>
                <a:spcPts val="0"/>
              </a:spcAft>
            </a:pPr>
            <a:r>
              <a:rPr sz="800" b="0" i="0">
                <a:solidFill>
                  <a:srgbClr val="FFFFFF"/>
                </a:solidFill>
                <a:latin typeface="Arial"/>
              </a:rPr>
              <a:t>Convert proven demand: high-value segments in priority markets and a flatter seasonal curve</a:t>
            </a:r>
          </a:p>
        </p:txBody>
      </p:sp>
      <p:cxnSp>
        <p:nvCxnSpPr>
          <p:cNvPr id="11" name="Connector 10"/>
          <p:cNvCxnSpPr/>
          <p:nvPr/>
        </p:nvCxnSpPr>
        <p:spPr>
          <a:xfrm>
            <a:off x="6053327"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206240"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TRANSFORM SUPPLY</a:t>
            </a:r>
          </a:p>
          <a:p>
            <a:pPr algn="ctr">
              <a:spcAft>
                <a:spcPts val="0"/>
              </a:spcAft>
            </a:pPr>
            <a:r>
              <a:rPr sz="800" b="0" i="0">
                <a:solidFill>
                  <a:srgbClr val="FFFFFF"/>
                </a:solidFill>
                <a:latin typeface="Arial"/>
              </a:rPr>
              <a:t>Remove the mobility, infrastructure and product constraints that cap capacity to convert demand</a:t>
            </a:r>
          </a:p>
        </p:txBody>
      </p:sp>
      <p:cxnSp>
        <p:nvCxnSpPr>
          <p:cNvPr id="13" name="Connector 12"/>
          <p:cNvCxnSpPr/>
          <p:nvPr/>
        </p:nvCxnSpPr>
        <p:spPr>
          <a:xfrm>
            <a:off x="9875519" y="1600200"/>
            <a:ext cx="0" cy="164592"/>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028431" y="1764792"/>
            <a:ext cx="3694176" cy="566928"/>
          </a:xfrm>
          <a:prstGeom prst="rect">
            <a:avLst/>
          </a:prstGeom>
          <a:solidFill>
            <a:srgbClr val="29ABE2"/>
          </a:solidFill>
          <a:ln>
            <a:noFill/>
          </a:ln>
        </p:spPr>
        <p:txBody>
          <a:bodyPr rtlCol="0" anchor="ctr" wrap="square" lIns="36576" rIns="36576" tIns="21945" bIns="21945"/>
          <a:lstStyle/>
          <a:p>
            <a:pPr algn="ctr">
              <a:spcAft>
                <a:spcPts val="100"/>
              </a:spcAft>
            </a:pPr>
            <a:r>
              <a:rPr sz="1100" b="1" i="0">
                <a:solidFill>
                  <a:srgbClr val="FFFFFF"/>
                </a:solidFill>
                <a:latin typeface="Arial"/>
              </a:rPr>
              <a:t>BUILD ENABLING CAPABILITY</a:t>
            </a:r>
          </a:p>
          <a:p>
            <a:pPr algn="ctr">
              <a:spcAft>
                <a:spcPts val="0"/>
              </a:spcAft>
            </a:pPr>
            <a:r>
              <a:rPr sz="800" b="0" i="0">
                <a:solidFill>
                  <a:srgbClr val="FFFFFF"/>
                </a:solidFill>
                <a:latin typeface="Arial"/>
              </a:rPr>
              <a:t>Coordinate institutions, investment and communities so growth is governed, financed and shared</a:t>
            </a:r>
          </a:p>
        </p:txBody>
      </p:sp>
      <p:cxnSp>
        <p:nvCxnSpPr>
          <p:cNvPr id="15" name="Connector 14"/>
          <p:cNvCxnSpPr/>
          <p:nvPr/>
        </p:nvCxnSpPr>
        <p:spPr>
          <a:xfrm>
            <a:off x="2231136" y="1682495"/>
            <a:ext cx="7644383" cy="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8404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Traveller, Brand and Proposition</a:t>
            </a:r>
          </a:p>
        </p:txBody>
      </p:sp>
      <p:cxnSp>
        <p:nvCxnSpPr>
          <p:cNvPr id="17" name="Connector 16"/>
          <p:cNvCxnSpPr/>
          <p:nvPr/>
        </p:nvCxnSpPr>
        <p:spPr>
          <a:xfrm>
            <a:off x="1275588"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295144"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Source Market Growth and Diversification</a:t>
            </a:r>
          </a:p>
        </p:txBody>
      </p:sp>
      <p:cxnSp>
        <p:nvCxnSpPr>
          <p:cNvPr id="19" name="Connector 18"/>
          <p:cNvCxnSpPr/>
          <p:nvPr/>
        </p:nvCxnSpPr>
        <p:spPr>
          <a:xfrm>
            <a:off x="3186684"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206240"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Accessibility, Connectivity and Infrastructure</a:t>
            </a:r>
          </a:p>
        </p:txBody>
      </p:sp>
      <p:cxnSp>
        <p:nvCxnSpPr>
          <p:cNvPr id="21" name="Connector 20"/>
          <p:cNvCxnSpPr/>
          <p:nvPr/>
        </p:nvCxnSpPr>
        <p:spPr>
          <a:xfrm>
            <a:off x="5097779"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117336"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Product and Destination Capacity</a:t>
            </a:r>
          </a:p>
        </p:txBody>
      </p:sp>
      <p:cxnSp>
        <p:nvCxnSpPr>
          <p:cNvPr id="23" name="Connector 22"/>
          <p:cNvCxnSpPr/>
          <p:nvPr/>
        </p:nvCxnSpPr>
        <p:spPr>
          <a:xfrm>
            <a:off x="7008875"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028431"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Inclusion and Sustainability</a:t>
            </a:r>
          </a:p>
        </p:txBody>
      </p:sp>
      <p:cxnSp>
        <p:nvCxnSpPr>
          <p:cNvPr id="25" name="Connector 24"/>
          <p:cNvCxnSpPr/>
          <p:nvPr/>
        </p:nvCxnSpPr>
        <p:spPr>
          <a:xfrm>
            <a:off x="8919972"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939528" y="2423160"/>
            <a:ext cx="1783080" cy="41148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Governance, Leadership and Investment</a:t>
            </a:r>
          </a:p>
        </p:txBody>
      </p:sp>
      <p:cxnSp>
        <p:nvCxnSpPr>
          <p:cNvPr id="27" name="Connector 26"/>
          <p:cNvCxnSpPr/>
          <p:nvPr/>
        </p:nvCxnSpPr>
        <p:spPr>
          <a:xfrm>
            <a:off x="10831067" y="233172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84048" y="2926080"/>
            <a:ext cx="1783080" cy="603504"/>
          </a:xfrm>
          <a:prstGeom prst="rect">
            <a:avLst/>
          </a:prstGeom>
          <a:solidFill>
            <a:srgbClr val="FFFFFF"/>
          </a:solidFill>
          <a:ln w="9525">
            <a:solidFill>
              <a:srgbClr val="7F7F7F"/>
            </a:solidFill>
          </a:ln>
        </p:spPr>
        <p:txBody>
          <a:bodyPr rtlCol="0" anchor="ctr"/>
          <a:lstStyle/>
          <a:p>
            <a:pPr algn="ctr"/>
          </a:p>
        </p:txBody>
      </p:sp>
      <p:sp>
        <p:nvSpPr>
          <p:cNvPr id="29" name="Rectangle 28"/>
          <p:cNvSpPr/>
          <p:nvPr/>
        </p:nvSpPr>
        <p:spPr>
          <a:xfrm>
            <a:off x="384048" y="2926080"/>
            <a:ext cx="82296" cy="603504"/>
          </a:xfrm>
          <a:prstGeom prst="rect">
            <a:avLst/>
          </a:prstGeom>
          <a:solidFill>
            <a:srgbClr val="F2A900"/>
          </a:solidFill>
          <a:ln>
            <a:noFill/>
          </a:ln>
        </p:spPr>
        <p:txBody>
          <a:bodyPr rtlCol="0" anchor="ctr"/>
          <a:lstStyle/>
          <a:p>
            <a:pPr algn="ctr"/>
          </a:p>
        </p:txBody>
      </p:sp>
      <p:sp>
        <p:nvSpPr>
          <p:cNvPr id="30" name="TextBox 29"/>
          <p:cNvSpPr txBox="1"/>
          <p:nvPr/>
        </p:nvSpPr>
        <p:spPr>
          <a:xfrm>
            <a:off x="493776"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Target the four priority high-value traveller segments</a:t>
            </a:r>
          </a:p>
        </p:txBody>
      </p:sp>
      <p:sp>
        <p:nvSpPr>
          <p:cNvPr id="31" name="Oval 30"/>
          <p:cNvSpPr/>
          <p:nvPr/>
        </p:nvSpPr>
        <p:spPr>
          <a:xfrm>
            <a:off x="1709928" y="3383280"/>
            <a:ext cx="82296" cy="82296"/>
          </a:xfrm>
          <a:prstGeom prst="ellipse">
            <a:avLst/>
          </a:prstGeom>
          <a:solidFill>
            <a:srgbClr val="1F497D"/>
          </a:solidFill>
          <a:ln w="9525">
            <a:solidFill>
              <a:srgbClr val="1F497D"/>
            </a:solidFill>
          </a:ln>
        </p:spPr>
        <p:txBody>
          <a:bodyPr rtlCol="0" anchor="ctr"/>
          <a:lstStyle/>
          <a:p>
            <a:pPr algn="ctr"/>
          </a:p>
        </p:txBody>
      </p:sp>
      <p:sp>
        <p:nvSpPr>
          <p:cNvPr id="32" name="Oval 31"/>
          <p:cNvSpPr/>
          <p:nvPr/>
        </p:nvSpPr>
        <p:spPr>
          <a:xfrm>
            <a:off x="1824228" y="3383280"/>
            <a:ext cx="82296" cy="82296"/>
          </a:xfrm>
          <a:prstGeom prst="ellipse">
            <a:avLst/>
          </a:prstGeom>
          <a:solidFill>
            <a:srgbClr val="FFFFFF"/>
          </a:solidFill>
          <a:ln w="9525">
            <a:solidFill>
              <a:srgbClr val="1F497D"/>
            </a:solidFill>
          </a:ln>
        </p:spPr>
        <p:txBody>
          <a:bodyPr rtlCol="0" anchor="ctr"/>
          <a:lstStyle/>
          <a:p>
            <a:pPr algn="ctr"/>
          </a:p>
        </p:txBody>
      </p:sp>
      <p:sp>
        <p:nvSpPr>
          <p:cNvPr id="33" name="Oval 32"/>
          <p:cNvSpPr/>
          <p:nvPr/>
        </p:nvSpPr>
        <p:spPr>
          <a:xfrm>
            <a:off x="1938528" y="3383280"/>
            <a:ext cx="82296" cy="82296"/>
          </a:xfrm>
          <a:prstGeom prst="ellipse">
            <a:avLst/>
          </a:prstGeom>
          <a:solidFill>
            <a:srgbClr val="FFFFFF"/>
          </a:solidFill>
          <a:ln w="9525">
            <a:solidFill>
              <a:srgbClr val="1F497D"/>
            </a:solidFill>
          </a:ln>
        </p:spPr>
        <p:txBody>
          <a:bodyPr rtlCol="0" anchor="ctr"/>
          <a:lstStyle/>
          <a:p>
            <a:pPr algn="ctr"/>
          </a:p>
        </p:txBody>
      </p:sp>
      <p:sp>
        <p:nvSpPr>
          <p:cNvPr id="34" name="TextBox 33"/>
          <p:cNvSpPr txBox="1"/>
          <p:nvPr/>
        </p:nvSpPr>
        <p:spPr>
          <a:xfrm>
            <a:off x="493776" y="3337560"/>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1a</a:t>
            </a:r>
          </a:p>
        </p:txBody>
      </p:sp>
      <p:sp>
        <p:nvSpPr>
          <p:cNvPr id="35" name="Rectangle 34"/>
          <p:cNvSpPr/>
          <p:nvPr/>
        </p:nvSpPr>
        <p:spPr>
          <a:xfrm>
            <a:off x="384048" y="3602736"/>
            <a:ext cx="1783080" cy="603504"/>
          </a:xfrm>
          <a:prstGeom prst="rect">
            <a:avLst/>
          </a:prstGeom>
          <a:solidFill>
            <a:srgbClr val="FFFFFF"/>
          </a:solidFill>
          <a:ln w="9525">
            <a:solidFill>
              <a:srgbClr val="7F7F7F"/>
            </a:solidFill>
          </a:ln>
        </p:spPr>
        <p:txBody>
          <a:bodyPr rtlCol="0" anchor="ctr"/>
          <a:lstStyle/>
          <a:p>
            <a:pPr algn="ctr"/>
          </a:p>
        </p:txBody>
      </p:sp>
      <p:sp>
        <p:nvSpPr>
          <p:cNvPr id="36" name="Rectangle 35"/>
          <p:cNvSpPr/>
          <p:nvPr/>
        </p:nvSpPr>
        <p:spPr>
          <a:xfrm>
            <a:off x="384048" y="3602736"/>
            <a:ext cx="82296" cy="603504"/>
          </a:xfrm>
          <a:prstGeom prst="rect">
            <a:avLst/>
          </a:prstGeom>
          <a:solidFill>
            <a:srgbClr val="F2A900"/>
          </a:solidFill>
          <a:ln>
            <a:noFill/>
          </a:ln>
        </p:spPr>
        <p:txBody>
          <a:bodyPr rtlCol="0" anchor="ctr"/>
          <a:lstStyle/>
          <a:p>
            <a:pPr algn="ctr"/>
          </a:p>
        </p:txBody>
      </p:sp>
      <p:sp>
        <p:nvSpPr>
          <p:cNvPr id="37" name="TextBox 36"/>
          <p:cNvSpPr txBox="1"/>
          <p:nvPr/>
        </p:nvSpPr>
        <p:spPr>
          <a:xfrm>
            <a:off x="493776"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Extend Cape Town's brand equity to the province</a:t>
            </a:r>
          </a:p>
        </p:txBody>
      </p:sp>
      <p:sp>
        <p:nvSpPr>
          <p:cNvPr id="38" name="Oval 37"/>
          <p:cNvSpPr/>
          <p:nvPr/>
        </p:nvSpPr>
        <p:spPr>
          <a:xfrm>
            <a:off x="1709928" y="4059936"/>
            <a:ext cx="82296" cy="82296"/>
          </a:xfrm>
          <a:prstGeom prst="ellipse">
            <a:avLst/>
          </a:prstGeom>
          <a:solidFill>
            <a:srgbClr val="1F497D"/>
          </a:solidFill>
          <a:ln w="9525">
            <a:solidFill>
              <a:srgbClr val="1F497D"/>
            </a:solidFill>
          </a:ln>
        </p:spPr>
        <p:txBody>
          <a:bodyPr rtlCol="0" anchor="ctr"/>
          <a:lstStyle/>
          <a:p>
            <a:pPr algn="ctr"/>
          </a:p>
        </p:txBody>
      </p:sp>
      <p:sp>
        <p:nvSpPr>
          <p:cNvPr id="39" name="Oval 38"/>
          <p:cNvSpPr/>
          <p:nvPr/>
        </p:nvSpPr>
        <p:spPr>
          <a:xfrm>
            <a:off x="1824228" y="4059936"/>
            <a:ext cx="82296" cy="82296"/>
          </a:xfrm>
          <a:prstGeom prst="ellipse">
            <a:avLst/>
          </a:prstGeom>
          <a:solidFill>
            <a:srgbClr val="FFFFFF"/>
          </a:solidFill>
          <a:ln w="9525">
            <a:solidFill>
              <a:srgbClr val="1F497D"/>
            </a:solidFill>
          </a:ln>
        </p:spPr>
        <p:txBody>
          <a:bodyPr rtlCol="0" anchor="ctr"/>
          <a:lstStyle/>
          <a:p>
            <a:pPr algn="ctr"/>
          </a:p>
        </p:txBody>
      </p:sp>
      <p:sp>
        <p:nvSpPr>
          <p:cNvPr id="40" name="Oval 39"/>
          <p:cNvSpPr/>
          <p:nvPr/>
        </p:nvSpPr>
        <p:spPr>
          <a:xfrm>
            <a:off x="1938528" y="4059936"/>
            <a:ext cx="82296" cy="82296"/>
          </a:xfrm>
          <a:prstGeom prst="ellipse">
            <a:avLst/>
          </a:prstGeom>
          <a:solidFill>
            <a:srgbClr val="FFFFFF"/>
          </a:solidFill>
          <a:ln w="9525">
            <a:solidFill>
              <a:srgbClr val="1F497D"/>
            </a:solidFill>
          </a:ln>
        </p:spPr>
        <p:txBody>
          <a:bodyPr rtlCol="0" anchor="ctr"/>
          <a:lstStyle/>
          <a:p>
            <a:pPr algn="ctr"/>
          </a:p>
        </p:txBody>
      </p:sp>
      <p:sp>
        <p:nvSpPr>
          <p:cNvPr id="41" name="TextBox 40"/>
          <p:cNvSpPr txBox="1"/>
          <p:nvPr/>
        </p:nvSpPr>
        <p:spPr>
          <a:xfrm>
            <a:off x="493776" y="4014216"/>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1b</a:t>
            </a:r>
          </a:p>
        </p:txBody>
      </p:sp>
      <p:sp>
        <p:nvSpPr>
          <p:cNvPr id="42" name="Rectangle 41"/>
          <p:cNvSpPr/>
          <p:nvPr/>
        </p:nvSpPr>
        <p:spPr>
          <a:xfrm>
            <a:off x="384048" y="4279392"/>
            <a:ext cx="1783080" cy="603504"/>
          </a:xfrm>
          <a:prstGeom prst="rect">
            <a:avLst/>
          </a:prstGeom>
          <a:solidFill>
            <a:srgbClr val="FFFFFF"/>
          </a:solidFill>
          <a:ln w="9525">
            <a:solidFill>
              <a:srgbClr val="7F7F7F"/>
            </a:solidFill>
          </a:ln>
        </p:spPr>
        <p:txBody>
          <a:bodyPr rtlCol="0" anchor="ctr"/>
          <a:lstStyle/>
          <a:p>
            <a:pPr algn="ctr"/>
          </a:p>
        </p:txBody>
      </p:sp>
      <p:sp>
        <p:nvSpPr>
          <p:cNvPr id="43" name="Rectangle 42"/>
          <p:cNvSpPr/>
          <p:nvPr/>
        </p:nvSpPr>
        <p:spPr>
          <a:xfrm>
            <a:off x="384048" y="4279392"/>
            <a:ext cx="82296" cy="603504"/>
          </a:xfrm>
          <a:prstGeom prst="rect">
            <a:avLst/>
          </a:prstGeom>
          <a:solidFill>
            <a:srgbClr val="2E9E44"/>
          </a:solidFill>
          <a:ln>
            <a:noFill/>
          </a:ln>
        </p:spPr>
        <p:txBody>
          <a:bodyPr rtlCol="0" anchor="ctr"/>
          <a:lstStyle/>
          <a:p>
            <a:pPr algn="ctr"/>
          </a:p>
        </p:txBody>
      </p:sp>
      <p:sp>
        <p:nvSpPr>
          <p:cNvPr id="44" name="TextBox 43"/>
          <p:cNvSpPr txBox="1"/>
          <p:nvPr/>
        </p:nvSpPr>
        <p:spPr>
          <a:xfrm>
            <a:off x="493776"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Flatten seasonality with MICE and regional spread</a:t>
            </a:r>
          </a:p>
        </p:txBody>
      </p:sp>
      <p:sp>
        <p:nvSpPr>
          <p:cNvPr id="45" name="Oval 44"/>
          <p:cNvSpPr/>
          <p:nvPr/>
        </p:nvSpPr>
        <p:spPr>
          <a:xfrm>
            <a:off x="1709928" y="4736592"/>
            <a:ext cx="82296" cy="82296"/>
          </a:xfrm>
          <a:prstGeom prst="ellipse">
            <a:avLst/>
          </a:prstGeom>
          <a:solidFill>
            <a:srgbClr val="1F497D"/>
          </a:solidFill>
          <a:ln w="9525">
            <a:solidFill>
              <a:srgbClr val="1F497D"/>
            </a:solidFill>
          </a:ln>
        </p:spPr>
        <p:txBody>
          <a:bodyPr rtlCol="0" anchor="ctr"/>
          <a:lstStyle/>
          <a:p>
            <a:pPr algn="ctr"/>
          </a:p>
        </p:txBody>
      </p:sp>
      <p:sp>
        <p:nvSpPr>
          <p:cNvPr id="46" name="Oval 45"/>
          <p:cNvSpPr/>
          <p:nvPr/>
        </p:nvSpPr>
        <p:spPr>
          <a:xfrm>
            <a:off x="1824228" y="4736592"/>
            <a:ext cx="82296" cy="82296"/>
          </a:xfrm>
          <a:prstGeom prst="ellipse">
            <a:avLst/>
          </a:prstGeom>
          <a:solidFill>
            <a:srgbClr val="1F497D"/>
          </a:solidFill>
          <a:ln w="9525">
            <a:solidFill>
              <a:srgbClr val="1F497D"/>
            </a:solidFill>
          </a:ln>
        </p:spPr>
        <p:txBody>
          <a:bodyPr rtlCol="0" anchor="ctr"/>
          <a:lstStyle/>
          <a:p>
            <a:pPr algn="ctr"/>
          </a:p>
        </p:txBody>
      </p:sp>
      <p:sp>
        <p:nvSpPr>
          <p:cNvPr id="47" name="Oval 46"/>
          <p:cNvSpPr/>
          <p:nvPr/>
        </p:nvSpPr>
        <p:spPr>
          <a:xfrm>
            <a:off x="1938528" y="4736592"/>
            <a:ext cx="82296" cy="82296"/>
          </a:xfrm>
          <a:prstGeom prst="ellipse">
            <a:avLst/>
          </a:prstGeom>
          <a:solidFill>
            <a:srgbClr val="1F497D"/>
          </a:solidFill>
          <a:ln w="9525">
            <a:solidFill>
              <a:srgbClr val="1F497D"/>
            </a:solidFill>
          </a:ln>
        </p:spPr>
        <p:txBody>
          <a:bodyPr rtlCol="0" anchor="ctr"/>
          <a:lstStyle/>
          <a:p>
            <a:pPr algn="ctr"/>
          </a:p>
        </p:txBody>
      </p:sp>
      <p:sp>
        <p:nvSpPr>
          <p:cNvPr id="48" name="TextBox 47"/>
          <p:cNvSpPr txBox="1"/>
          <p:nvPr/>
        </p:nvSpPr>
        <p:spPr>
          <a:xfrm>
            <a:off x="493776" y="4690872"/>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1c</a:t>
            </a:r>
          </a:p>
        </p:txBody>
      </p:sp>
      <p:sp>
        <p:nvSpPr>
          <p:cNvPr id="49" name="Rectangle 48"/>
          <p:cNvSpPr/>
          <p:nvPr/>
        </p:nvSpPr>
        <p:spPr>
          <a:xfrm>
            <a:off x="384048" y="4956048"/>
            <a:ext cx="1783080" cy="603504"/>
          </a:xfrm>
          <a:prstGeom prst="rect">
            <a:avLst/>
          </a:prstGeom>
          <a:solidFill>
            <a:srgbClr val="FFFFFF"/>
          </a:solidFill>
          <a:ln w="9525">
            <a:solidFill>
              <a:srgbClr val="7F7F7F"/>
            </a:solidFill>
          </a:ln>
        </p:spPr>
        <p:txBody>
          <a:bodyPr rtlCol="0" anchor="ctr"/>
          <a:lstStyle/>
          <a:p>
            <a:pPr algn="ctr"/>
          </a:p>
        </p:txBody>
      </p:sp>
      <p:sp>
        <p:nvSpPr>
          <p:cNvPr id="50" name="Rectangle 49"/>
          <p:cNvSpPr/>
          <p:nvPr/>
        </p:nvSpPr>
        <p:spPr>
          <a:xfrm>
            <a:off x="384048" y="4956048"/>
            <a:ext cx="82296" cy="603504"/>
          </a:xfrm>
          <a:prstGeom prst="rect">
            <a:avLst/>
          </a:prstGeom>
          <a:solidFill>
            <a:srgbClr val="2E9E44"/>
          </a:solidFill>
          <a:ln>
            <a:noFill/>
          </a:ln>
        </p:spPr>
        <p:txBody>
          <a:bodyPr rtlCol="0" anchor="ctr"/>
          <a:lstStyle/>
          <a:p>
            <a:pPr algn="ctr"/>
          </a:p>
        </p:txBody>
      </p:sp>
      <p:sp>
        <p:nvSpPr>
          <p:cNvPr id="51" name="TextBox 50"/>
          <p:cNvSpPr txBox="1"/>
          <p:nvPr/>
        </p:nvSpPr>
        <p:spPr>
          <a:xfrm>
            <a:off x="493776" y="4974336"/>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Embed the destination in market-native booking platforms</a:t>
            </a:r>
          </a:p>
        </p:txBody>
      </p:sp>
      <p:sp>
        <p:nvSpPr>
          <p:cNvPr id="52" name="Oval 51"/>
          <p:cNvSpPr/>
          <p:nvPr/>
        </p:nvSpPr>
        <p:spPr>
          <a:xfrm>
            <a:off x="1709928" y="5413248"/>
            <a:ext cx="82296" cy="82296"/>
          </a:xfrm>
          <a:prstGeom prst="ellipse">
            <a:avLst/>
          </a:prstGeom>
          <a:solidFill>
            <a:srgbClr val="1F497D"/>
          </a:solidFill>
          <a:ln w="9525">
            <a:solidFill>
              <a:srgbClr val="1F497D"/>
            </a:solidFill>
          </a:ln>
        </p:spPr>
        <p:txBody>
          <a:bodyPr rtlCol="0" anchor="ctr"/>
          <a:lstStyle/>
          <a:p>
            <a:pPr algn="ctr"/>
          </a:p>
        </p:txBody>
      </p:sp>
      <p:sp>
        <p:nvSpPr>
          <p:cNvPr id="53" name="Oval 52"/>
          <p:cNvSpPr/>
          <p:nvPr/>
        </p:nvSpPr>
        <p:spPr>
          <a:xfrm>
            <a:off x="1824228" y="5413248"/>
            <a:ext cx="82296" cy="82296"/>
          </a:xfrm>
          <a:prstGeom prst="ellipse">
            <a:avLst/>
          </a:prstGeom>
          <a:solidFill>
            <a:srgbClr val="1F497D"/>
          </a:solidFill>
          <a:ln w="9525">
            <a:solidFill>
              <a:srgbClr val="1F497D"/>
            </a:solidFill>
          </a:ln>
        </p:spPr>
        <p:txBody>
          <a:bodyPr rtlCol="0" anchor="ctr"/>
          <a:lstStyle/>
          <a:p>
            <a:pPr algn="ctr"/>
          </a:p>
        </p:txBody>
      </p:sp>
      <p:sp>
        <p:nvSpPr>
          <p:cNvPr id="54" name="Oval 53"/>
          <p:cNvSpPr/>
          <p:nvPr/>
        </p:nvSpPr>
        <p:spPr>
          <a:xfrm>
            <a:off x="1938528" y="5413248"/>
            <a:ext cx="82296" cy="82296"/>
          </a:xfrm>
          <a:prstGeom prst="ellipse">
            <a:avLst/>
          </a:prstGeom>
          <a:solidFill>
            <a:srgbClr val="1F497D"/>
          </a:solidFill>
          <a:ln w="9525">
            <a:solidFill>
              <a:srgbClr val="1F497D"/>
            </a:solidFill>
          </a:ln>
        </p:spPr>
        <p:txBody>
          <a:bodyPr rtlCol="0" anchor="ctr"/>
          <a:lstStyle/>
          <a:p>
            <a:pPr algn="ctr"/>
          </a:p>
        </p:txBody>
      </p:sp>
      <p:sp>
        <p:nvSpPr>
          <p:cNvPr id="55" name="TextBox 54"/>
          <p:cNvSpPr txBox="1"/>
          <p:nvPr/>
        </p:nvSpPr>
        <p:spPr>
          <a:xfrm>
            <a:off x="493776" y="5367528"/>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1d</a:t>
            </a:r>
          </a:p>
        </p:txBody>
      </p:sp>
      <p:sp>
        <p:nvSpPr>
          <p:cNvPr id="56" name="Rectangle 55"/>
          <p:cNvSpPr/>
          <p:nvPr/>
        </p:nvSpPr>
        <p:spPr>
          <a:xfrm>
            <a:off x="2295144" y="2926080"/>
            <a:ext cx="1783080" cy="603504"/>
          </a:xfrm>
          <a:prstGeom prst="rect">
            <a:avLst/>
          </a:prstGeom>
          <a:solidFill>
            <a:srgbClr val="FFFFFF"/>
          </a:solidFill>
          <a:ln w="9525">
            <a:solidFill>
              <a:srgbClr val="7F7F7F"/>
            </a:solidFill>
          </a:ln>
        </p:spPr>
        <p:txBody>
          <a:bodyPr rtlCol="0" anchor="ctr"/>
          <a:lstStyle/>
          <a:p>
            <a:pPr algn="ctr"/>
          </a:p>
        </p:txBody>
      </p:sp>
      <p:sp>
        <p:nvSpPr>
          <p:cNvPr id="57" name="Rectangle 56"/>
          <p:cNvSpPr/>
          <p:nvPr/>
        </p:nvSpPr>
        <p:spPr>
          <a:xfrm>
            <a:off x="2295144" y="2926080"/>
            <a:ext cx="82296" cy="603504"/>
          </a:xfrm>
          <a:prstGeom prst="rect">
            <a:avLst/>
          </a:prstGeom>
          <a:solidFill>
            <a:srgbClr val="F2A900"/>
          </a:solidFill>
          <a:ln>
            <a:noFill/>
          </a:ln>
        </p:spPr>
        <p:txBody>
          <a:bodyPr rtlCol="0" anchor="ctr"/>
          <a:lstStyle/>
          <a:p>
            <a:pPr algn="ctr"/>
          </a:p>
        </p:txBody>
      </p:sp>
      <p:sp>
        <p:nvSpPr>
          <p:cNvPr id="58" name="TextBox 57"/>
          <p:cNvSpPr txBox="1"/>
          <p:nvPr/>
        </p:nvSpPr>
        <p:spPr>
          <a:xfrm>
            <a:off x="2404872"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Grow priority markets (India, China, Gulf, ASEAN)</a:t>
            </a:r>
          </a:p>
        </p:txBody>
      </p:sp>
      <p:sp>
        <p:nvSpPr>
          <p:cNvPr id="59" name="Oval 58"/>
          <p:cNvSpPr/>
          <p:nvPr/>
        </p:nvSpPr>
        <p:spPr>
          <a:xfrm>
            <a:off x="3621024" y="3383280"/>
            <a:ext cx="82296" cy="82296"/>
          </a:xfrm>
          <a:prstGeom prst="ellipse">
            <a:avLst/>
          </a:prstGeom>
          <a:solidFill>
            <a:srgbClr val="1F497D"/>
          </a:solidFill>
          <a:ln w="9525">
            <a:solidFill>
              <a:srgbClr val="1F497D"/>
            </a:solidFill>
          </a:ln>
        </p:spPr>
        <p:txBody>
          <a:bodyPr rtlCol="0" anchor="ctr"/>
          <a:lstStyle/>
          <a:p>
            <a:pPr algn="ctr"/>
          </a:p>
        </p:txBody>
      </p:sp>
      <p:sp>
        <p:nvSpPr>
          <p:cNvPr id="60" name="Oval 59"/>
          <p:cNvSpPr/>
          <p:nvPr/>
        </p:nvSpPr>
        <p:spPr>
          <a:xfrm>
            <a:off x="3735324" y="3383280"/>
            <a:ext cx="82296" cy="82296"/>
          </a:xfrm>
          <a:prstGeom prst="ellipse">
            <a:avLst/>
          </a:prstGeom>
          <a:solidFill>
            <a:srgbClr val="1F497D"/>
          </a:solidFill>
          <a:ln w="9525">
            <a:solidFill>
              <a:srgbClr val="1F497D"/>
            </a:solidFill>
          </a:ln>
        </p:spPr>
        <p:txBody>
          <a:bodyPr rtlCol="0" anchor="ctr"/>
          <a:lstStyle/>
          <a:p>
            <a:pPr algn="ctr"/>
          </a:p>
        </p:txBody>
      </p:sp>
      <p:sp>
        <p:nvSpPr>
          <p:cNvPr id="61" name="Oval 60"/>
          <p:cNvSpPr/>
          <p:nvPr/>
        </p:nvSpPr>
        <p:spPr>
          <a:xfrm>
            <a:off x="3849624" y="3383280"/>
            <a:ext cx="82296" cy="82296"/>
          </a:xfrm>
          <a:prstGeom prst="ellipse">
            <a:avLst/>
          </a:prstGeom>
          <a:solidFill>
            <a:srgbClr val="1F497D"/>
          </a:solidFill>
          <a:ln w="9525">
            <a:solidFill>
              <a:srgbClr val="1F497D"/>
            </a:solidFill>
          </a:ln>
        </p:spPr>
        <p:txBody>
          <a:bodyPr rtlCol="0" anchor="ctr"/>
          <a:lstStyle/>
          <a:p>
            <a:pPr algn="ctr"/>
          </a:p>
        </p:txBody>
      </p:sp>
      <p:sp>
        <p:nvSpPr>
          <p:cNvPr id="62" name="TextBox 61"/>
          <p:cNvSpPr txBox="1"/>
          <p:nvPr/>
        </p:nvSpPr>
        <p:spPr>
          <a:xfrm>
            <a:off x="2404872" y="3337560"/>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1e</a:t>
            </a:r>
          </a:p>
        </p:txBody>
      </p:sp>
      <p:sp>
        <p:nvSpPr>
          <p:cNvPr id="63" name="Rectangle 62"/>
          <p:cNvSpPr/>
          <p:nvPr/>
        </p:nvSpPr>
        <p:spPr>
          <a:xfrm>
            <a:off x="2295144" y="3602736"/>
            <a:ext cx="1783080" cy="603504"/>
          </a:xfrm>
          <a:prstGeom prst="rect">
            <a:avLst/>
          </a:prstGeom>
          <a:solidFill>
            <a:srgbClr val="FFFFFF"/>
          </a:solidFill>
          <a:ln w="9525">
            <a:solidFill>
              <a:srgbClr val="7F7F7F"/>
            </a:solidFill>
          </a:ln>
        </p:spPr>
        <p:txBody>
          <a:bodyPr rtlCol="0" anchor="ctr"/>
          <a:lstStyle/>
          <a:p>
            <a:pPr algn="ctr"/>
          </a:p>
        </p:txBody>
      </p:sp>
      <p:sp>
        <p:nvSpPr>
          <p:cNvPr id="64" name="Rectangle 63"/>
          <p:cNvSpPr/>
          <p:nvPr/>
        </p:nvSpPr>
        <p:spPr>
          <a:xfrm>
            <a:off x="2295144" y="3602736"/>
            <a:ext cx="82296" cy="603504"/>
          </a:xfrm>
          <a:prstGeom prst="rect">
            <a:avLst/>
          </a:prstGeom>
          <a:solidFill>
            <a:srgbClr val="2E9E44"/>
          </a:solidFill>
          <a:ln>
            <a:noFill/>
          </a:ln>
        </p:spPr>
        <p:txBody>
          <a:bodyPr rtlCol="0" anchor="ctr"/>
          <a:lstStyle/>
          <a:p>
            <a:pPr algn="ctr"/>
          </a:p>
        </p:txBody>
      </p:sp>
      <p:sp>
        <p:nvSpPr>
          <p:cNvPr id="65" name="TextBox 64"/>
          <p:cNvSpPr txBox="1"/>
          <p:nvPr/>
        </p:nvSpPr>
        <p:spPr>
          <a:xfrm>
            <a:off x="2404872"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Increase yield in mature markets (UK, Europe, N. America)</a:t>
            </a:r>
          </a:p>
        </p:txBody>
      </p:sp>
      <p:sp>
        <p:nvSpPr>
          <p:cNvPr id="66" name="Oval 65"/>
          <p:cNvSpPr/>
          <p:nvPr/>
        </p:nvSpPr>
        <p:spPr>
          <a:xfrm>
            <a:off x="3621024" y="4059936"/>
            <a:ext cx="82296" cy="82296"/>
          </a:xfrm>
          <a:prstGeom prst="ellipse">
            <a:avLst/>
          </a:prstGeom>
          <a:solidFill>
            <a:srgbClr val="1F497D"/>
          </a:solidFill>
          <a:ln w="9525">
            <a:solidFill>
              <a:srgbClr val="1F497D"/>
            </a:solidFill>
          </a:ln>
        </p:spPr>
        <p:txBody>
          <a:bodyPr rtlCol="0" anchor="ctr"/>
          <a:lstStyle/>
          <a:p>
            <a:pPr algn="ctr"/>
          </a:p>
        </p:txBody>
      </p:sp>
      <p:sp>
        <p:nvSpPr>
          <p:cNvPr id="67" name="Oval 66"/>
          <p:cNvSpPr/>
          <p:nvPr/>
        </p:nvSpPr>
        <p:spPr>
          <a:xfrm>
            <a:off x="3735324" y="4059936"/>
            <a:ext cx="82296" cy="82296"/>
          </a:xfrm>
          <a:prstGeom prst="ellipse">
            <a:avLst/>
          </a:prstGeom>
          <a:solidFill>
            <a:srgbClr val="1F497D"/>
          </a:solidFill>
          <a:ln w="9525">
            <a:solidFill>
              <a:srgbClr val="1F497D"/>
            </a:solidFill>
          </a:ln>
        </p:spPr>
        <p:txBody>
          <a:bodyPr rtlCol="0" anchor="ctr"/>
          <a:lstStyle/>
          <a:p>
            <a:pPr algn="ctr"/>
          </a:p>
        </p:txBody>
      </p:sp>
      <p:sp>
        <p:nvSpPr>
          <p:cNvPr id="68" name="Oval 67"/>
          <p:cNvSpPr/>
          <p:nvPr/>
        </p:nvSpPr>
        <p:spPr>
          <a:xfrm>
            <a:off x="3849624" y="4059936"/>
            <a:ext cx="82296" cy="82296"/>
          </a:xfrm>
          <a:prstGeom prst="ellipse">
            <a:avLst/>
          </a:prstGeom>
          <a:solidFill>
            <a:srgbClr val="1F497D"/>
          </a:solidFill>
          <a:ln w="9525">
            <a:solidFill>
              <a:srgbClr val="1F497D"/>
            </a:solidFill>
          </a:ln>
        </p:spPr>
        <p:txBody>
          <a:bodyPr rtlCol="0" anchor="ctr"/>
          <a:lstStyle/>
          <a:p>
            <a:pPr algn="ctr"/>
          </a:p>
        </p:txBody>
      </p:sp>
      <p:sp>
        <p:nvSpPr>
          <p:cNvPr id="69" name="TextBox 68"/>
          <p:cNvSpPr txBox="1"/>
          <p:nvPr/>
        </p:nvSpPr>
        <p:spPr>
          <a:xfrm>
            <a:off x="2404872" y="4014216"/>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1f</a:t>
            </a:r>
          </a:p>
        </p:txBody>
      </p:sp>
      <p:sp>
        <p:nvSpPr>
          <p:cNvPr id="70" name="Rectangle 69"/>
          <p:cNvSpPr/>
          <p:nvPr/>
        </p:nvSpPr>
        <p:spPr>
          <a:xfrm>
            <a:off x="2295144" y="4279392"/>
            <a:ext cx="1783080" cy="603504"/>
          </a:xfrm>
          <a:prstGeom prst="rect">
            <a:avLst/>
          </a:prstGeom>
          <a:solidFill>
            <a:srgbClr val="FFFFFF"/>
          </a:solidFill>
          <a:ln w="9525">
            <a:solidFill>
              <a:srgbClr val="7F7F7F"/>
            </a:solidFill>
          </a:ln>
        </p:spPr>
        <p:txBody>
          <a:bodyPr rtlCol="0" anchor="ctr"/>
          <a:lstStyle/>
          <a:p>
            <a:pPr algn="ctr"/>
          </a:p>
        </p:txBody>
      </p:sp>
      <p:sp>
        <p:nvSpPr>
          <p:cNvPr id="71" name="Rectangle 70"/>
          <p:cNvSpPr/>
          <p:nvPr/>
        </p:nvSpPr>
        <p:spPr>
          <a:xfrm>
            <a:off x="2295144" y="4279392"/>
            <a:ext cx="82296" cy="603504"/>
          </a:xfrm>
          <a:prstGeom prst="rect">
            <a:avLst/>
          </a:prstGeom>
          <a:solidFill>
            <a:srgbClr val="2E9E44"/>
          </a:solidFill>
          <a:ln>
            <a:noFill/>
          </a:ln>
        </p:spPr>
        <p:txBody>
          <a:bodyPr rtlCol="0" anchor="ctr"/>
          <a:lstStyle/>
          <a:p>
            <a:pPr algn="ctr"/>
          </a:p>
        </p:txBody>
      </p:sp>
      <p:sp>
        <p:nvSpPr>
          <p:cNvPr id="72" name="TextBox 71"/>
          <p:cNvSpPr txBox="1"/>
          <p:nvPr/>
        </p:nvSpPr>
        <p:spPr>
          <a:xfrm>
            <a:off x="2404872"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Grow regional top-up and counter-seasonal demand (Africa)</a:t>
            </a:r>
          </a:p>
        </p:txBody>
      </p:sp>
      <p:sp>
        <p:nvSpPr>
          <p:cNvPr id="73" name="Oval 72"/>
          <p:cNvSpPr/>
          <p:nvPr/>
        </p:nvSpPr>
        <p:spPr>
          <a:xfrm>
            <a:off x="3621024" y="4736592"/>
            <a:ext cx="82296" cy="82296"/>
          </a:xfrm>
          <a:prstGeom prst="ellipse">
            <a:avLst/>
          </a:prstGeom>
          <a:solidFill>
            <a:srgbClr val="1F497D"/>
          </a:solidFill>
          <a:ln w="9525">
            <a:solidFill>
              <a:srgbClr val="1F497D"/>
            </a:solidFill>
          </a:ln>
        </p:spPr>
        <p:txBody>
          <a:bodyPr rtlCol="0" anchor="ctr"/>
          <a:lstStyle/>
          <a:p>
            <a:pPr algn="ctr"/>
          </a:p>
        </p:txBody>
      </p:sp>
      <p:sp>
        <p:nvSpPr>
          <p:cNvPr id="74" name="Oval 73"/>
          <p:cNvSpPr/>
          <p:nvPr/>
        </p:nvSpPr>
        <p:spPr>
          <a:xfrm>
            <a:off x="3735324" y="4736592"/>
            <a:ext cx="82296" cy="82296"/>
          </a:xfrm>
          <a:prstGeom prst="ellipse">
            <a:avLst/>
          </a:prstGeom>
          <a:solidFill>
            <a:srgbClr val="1F497D"/>
          </a:solidFill>
          <a:ln w="9525">
            <a:solidFill>
              <a:srgbClr val="1F497D"/>
            </a:solidFill>
          </a:ln>
        </p:spPr>
        <p:txBody>
          <a:bodyPr rtlCol="0" anchor="ctr"/>
          <a:lstStyle/>
          <a:p>
            <a:pPr algn="ctr"/>
          </a:p>
        </p:txBody>
      </p:sp>
      <p:sp>
        <p:nvSpPr>
          <p:cNvPr id="75" name="Oval 74"/>
          <p:cNvSpPr/>
          <p:nvPr/>
        </p:nvSpPr>
        <p:spPr>
          <a:xfrm>
            <a:off x="3849624" y="4736592"/>
            <a:ext cx="82296" cy="82296"/>
          </a:xfrm>
          <a:prstGeom prst="ellipse">
            <a:avLst/>
          </a:prstGeom>
          <a:solidFill>
            <a:srgbClr val="FFFFFF"/>
          </a:solidFill>
          <a:ln w="9525">
            <a:solidFill>
              <a:srgbClr val="1F497D"/>
            </a:solidFill>
          </a:ln>
        </p:spPr>
        <p:txBody>
          <a:bodyPr rtlCol="0" anchor="ctr"/>
          <a:lstStyle/>
          <a:p>
            <a:pPr algn="ctr"/>
          </a:p>
        </p:txBody>
      </p:sp>
      <p:sp>
        <p:nvSpPr>
          <p:cNvPr id="76" name="TextBox 75"/>
          <p:cNvSpPr txBox="1"/>
          <p:nvPr/>
        </p:nvSpPr>
        <p:spPr>
          <a:xfrm>
            <a:off x="2404872" y="4690872"/>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1g</a:t>
            </a:r>
          </a:p>
        </p:txBody>
      </p:sp>
      <p:sp>
        <p:nvSpPr>
          <p:cNvPr id="77" name="Rectangle 76"/>
          <p:cNvSpPr/>
          <p:nvPr/>
        </p:nvSpPr>
        <p:spPr>
          <a:xfrm>
            <a:off x="4206240" y="2926080"/>
            <a:ext cx="1783080" cy="603504"/>
          </a:xfrm>
          <a:prstGeom prst="rect">
            <a:avLst/>
          </a:prstGeom>
          <a:solidFill>
            <a:srgbClr val="FFFFFF"/>
          </a:solidFill>
          <a:ln w="9525">
            <a:solidFill>
              <a:srgbClr val="7F7F7F"/>
            </a:solidFill>
          </a:ln>
        </p:spPr>
        <p:txBody>
          <a:bodyPr rtlCol="0" anchor="ctr"/>
          <a:lstStyle/>
          <a:p>
            <a:pPr algn="ctr"/>
          </a:p>
        </p:txBody>
      </p:sp>
      <p:sp>
        <p:nvSpPr>
          <p:cNvPr id="78" name="Rectangle 77"/>
          <p:cNvSpPr/>
          <p:nvPr/>
        </p:nvSpPr>
        <p:spPr>
          <a:xfrm>
            <a:off x="4206240" y="2926080"/>
            <a:ext cx="82296" cy="603504"/>
          </a:xfrm>
          <a:prstGeom prst="rect">
            <a:avLst/>
          </a:prstGeom>
          <a:solidFill>
            <a:srgbClr val="2E9E44"/>
          </a:solidFill>
          <a:ln>
            <a:noFill/>
          </a:ln>
        </p:spPr>
        <p:txBody>
          <a:bodyPr rtlCol="0" anchor="ctr"/>
          <a:lstStyle/>
          <a:p>
            <a:pPr algn="ctr"/>
          </a:p>
        </p:txBody>
      </p:sp>
      <p:sp>
        <p:nvSpPr>
          <p:cNvPr id="79" name="TextBox 78"/>
          <p:cNvSpPr txBox="1"/>
          <p:nvPr/>
        </p:nvSpPr>
        <p:spPr>
          <a:xfrm>
            <a:off x="4315968"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Close the air access and cruise capacity gaps</a:t>
            </a:r>
          </a:p>
        </p:txBody>
      </p:sp>
      <p:sp>
        <p:nvSpPr>
          <p:cNvPr id="80" name="Oval 79"/>
          <p:cNvSpPr/>
          <p:nvPr/>
        </p:nvSpPr>
        <p:spPr>
          <a:xfrm>
            <a:off x="5532120" y="3383280"/>
            <a:ext cx="82296" cy="82296"/>
          </a:xfrm>
          <a:prstGeom prst="ellipse">
            <a:avLst/>
          </a:prstGeom>
          <a:solidFill>
            <a:srgbClr val="1F497D"/>
          </a:solidFill>
          <a:ln w="9525">
            <a:solidFill>
              <a:srgbClr val="1F497D"/>
            </a:solidFill>
          </a:ln>
        </p:spPr>
        <p:txBody>
          <a:bodyPr rtlCol="0" anchor="ctr"/>
          <a:lstStyle/>
          <a:p>
            <a:pPr algn="ctr"/>
          </a:p>
        </p:txBody>
      </p:sp>
      <p:sp>
        <p:nvSpPr>
          <p:cNvPr id="81" name="Oval 80"/>
          <p:cNvSpPr/>
          <p:nvPr/>
        </p:nvSpPr>
        <p:spPr>
          <a:xfrm>
            <a:off x="5646420" y="3383280"/>
            <a:ext cx="82296" cy="82296"/>
          </a:xfrm>
          <a:prstGeom prst="ellipse">
            <a:avLst/>
          </a:prstGeom>
          <a:solidFill>
            <a:srgbClr val="1F497D"/>
          </a:solidFill>
          <a:ln w="9525">
            <a:solidFill>
              <a:srgbClr val="1F497D"/>
            </a:solidFill>
          </a:ln>
        </p:spPr>
        <p:txBody>
          <a:bodyPr rtlCol="0" anchor="ctr"/>
          <a:lstStyle/>
          <a:p>
            <a:pPr algn="ctr"/>
          </a:p>
        </p:txBody>
      </p:sp>
      <p:sp>
        <p:nvSpPr>
          <p:cNvPr id="82" name="Oval 81"/>
          <p:cNvSpPr/>
          <p:nvPr/>
        </p:nvSpPr>
        <p:spPr>
          <a:xfrm>
            <a:off x="5760720" y="3383280"/>
            <a:ext cx="82296" cy="82296"/>
          </a:xfrm>
          <a:prstGeom prst="ellipse">
            <a:avLst/>
          </a:prstGeom>
          <a:solidFill>
            <a:srgbClr val="1F497D"/>
          </a:solidFill>
          <a:ln w="9525">
            <a:solidFill>
              <a:srgbClr val="1F497D"/>
            </a:solidFill>
          </a:ln>
        </p:spPr>
        <p:txBody>
          <a:bodyPr rtlCol="0" anchor="ctr"/>
          <a:lstStyle/>
          <a:p>
            <a:pPr algn="ctr"/>
          </a:p>
        </p:txBody>
      </p:sp>
      <p:sp>
        <p:nvSpPr>
          <p:cNvPr id="83" name="TextBox 82"/>
          <p:cNvSpPr txBox="1"/>
          <p:nvPr/>
        </p:nvSpPr>
        <p:spPr>
          <a:xfrm>
            <a:off x="4315968" y="3337560"/>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2a</a:t>
            </a:r>
          </a:p>
        </p:txBody>
      </p:sp>
      <p:sp>
        <p:nvSpPr>
          <p:cNvPr id="84" name="Rectangle 83"/>
          <p:cNvSpPr/>
          <p:nvPr/>
        </p:nvSpPr>
        <p:spPr>
          <a:xfrm>
            <a:off x="4206240" y="3602736"/>
            <a:ext cx="1783080" cy="603504"/>
          </a:xfrm>
          <a:prstGeom prst="rect">
            <a:avLst/>
          </a:prstGeom>
          <a:solidFill>
            <a:srgbClr val="FFFFFF"/>
          </a:solidFill>
          <a:ln w="9525">
            <a:solidFill>
              <a:srgbClr val="7F7F7F"/>
            </a:solidFill>
          </a:ln>
        </p:spPr>
        <p:txBody>
          <a:bodyPr rtlCol="0" anchor="ctr"/>
          <a:lstStyle/>
          <a:p>
            <a:pPr algn="ctr"/>
          </a:p>
        </p:txBody>
      </p:sp>
      <p:sp>
        <p:nvSpPr>
          <p:cNvPr id="85" name="Rectangle 84"/>
          <p:cNvSpPr/>
          <p:nvPr/>
        </p:nvSpPr>
        <p:spPr>
          <a:xfrm>
            <a:off x="4206240" y="3602736"/>
            <a:ext cx="82296" cy="603504"/>
          </a:xfrm>
          <a:prstGeom prst="rect">
            <a:avLst/>
          </a:prstGeom>
          <a:solidFill>
            <a:srgbClr val="2E9E44"/>
          </a:solidFill>
          <a:ln>
            <a:noFill/>
          </a:ln>
        </p:spPr>
        <p:txBody>
          <a:bodyPr rtlCol="0" anchor="ctr"/>
          <a:lstStyle/>
          <a:p>
            <a:pPr algn="ctr"/>
          </a:p>
        </p:txBody>
      </p:sp>
      <p:sp>
        <p:nvSpPr>
          <p:cNvPr id="86" name="TextBox 85"/>
          <p:cNvSpPr txBox="1"/>
          <p:nvPr/>
        </p:nvSpPr>
        <p:spPr>
          <a:xfrm>
            <a:off x="4315968"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Accelerate tourism-enabling internal mobility</a:t>
            </a:r>
          </a:p>
        </p:txBody>
      </p:sp>
      <p:sp>
        <p:nvSpPr>
          <p:cNvPr id="87" name="Oval 86"/>
          <p:cNvSpPr/>
          <p:nvPr/>
        </p:nvSpPr>
        <p:spPr>
          <a:xfrm>
            <a:off x="5532120" y="4059936"/>
            <a:ext cx="82296" cy="82296"/>
          </a:xfrm>
          <a:prstGeom prst="ellipse">
            <a:avLst/>
          </a:prstGeom>
          <a:solidFill>
            <a:srgbClr val="1F497D"/>
          </a:solidFill>
          <a:ln w="9525">
            <a:solidFill>
              <a:srgbClr val="1F497D"/>
            </a:solidFill>
          </a:ln>
        </p:spPr>
        <p:txBody>
          <a:bodyPr rtlCol="0" anchor="ctr"/>
          <a:lstStyle/>
          <a:p>
            <a:pPr algn="ctr"/>
          </a:p>
        </p:txBody>
      </p:sp>
      <p:sp>
        <p:nvSpPr>
          <p:cNvPr id="88" name="Oval 87"/>
          <p:cNvSpPr/>
          <p:nvPr/>
        </p:nvSpPr>
        <p:spPr>
          <a:xfrm>
            <a:off x="5646420" y="4059936"/>
            <a:ext cx="82296" cy="82296"/>
          </a:xfrm>
          <a:prstGeom prst="ellipse">
            <a:avLst/>
          </a:prstGeom>
          <a:solidFill>
            <a:srgbClr val="1F497D"/>
          </a:solidFill>
          <a:ln w="9525">
            <a:solidFill>
              <a:srgbClr val="1F497D"/>
            </a:solidFill>
          </a:ln>
        </p:spPr>
        <p:txBody>
          <a:bodyPr rtlCol="0" anchor="ctr"/>
          <a:lstStyle/>
          <a:p>
            <a:pPr algn="ctr"/>
          </a:p>
        </p:txBody>
      </p:sp>
      <p:sp>
        <p:nvSpPr>
          <p:cNvPr id="89" name="Oval 88"/>
          <p:cNvSpPr/>
          <p:nvPr/>
        </p:nvSpPr>
        <p:spPr>
          <a:xfrm>
            <a:off x="5760720" y="4059936"/>
            <a:ext cx="82296" cy="82296"/>
          </a:xfrm>
          <a:prstGeom prst="ellipse">
            <a:avLst/>
          </a:prstGeom>
          <a:solidFill>
            <a:srgbClr val="1F497D"/>
          </a:solidFill>
          <a:ln w="9525">
            <a:solidFill>
              <a:srgbClr val="1F497D"/>
            </a:solidFill>
          </a:ln>
        </p:spPr>
        <p:txBody>
          <a:bodyPr rtlCol="0" anchor="ctr"/>
          <a:lstStyle/>
          <a:p>
            <a:pPr algn="ctr"/>
          </a:p>
        </p:txBody>
      </p:sp>
      <p:sp>
        <p:nvSpPr>
          <p:cNvPr id="90" name="TextBox 89"/>
          <p:cNvSpPr txBox="1"/>
          <p:nvPr/>
        </p:nvSpPr>
        <p:spPr>
          <a:xfrm>
            <a:off x="4315968" y="4014216"/>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2b</a:t>
            </a:r>
          </a:p>
        </p:txBody>
      </p:sp>
      <p:sp>
        <p:nvSpPr>
          <p:cNvPr id="91" name="Rectangle 90"/>
          <p:cNvSpPr/>
          <p:nvPr/>
        </p:nvSpPr>
        <p:spPr>
          <a:xfrm>
            <a:off x="4206240" y="4279392"/>
            <a:ext cx="1783080" cy="603504"/>
          </a:xfrm>
          <a:prstGeom prst="rect">
            <a:avLst/>
          </a:prstGeom>
          <a:solidFill>
            <a:srgbClr val="FFFFFF"/>
          </a:solidFill>
          <a:ln w="9525">
            <a:solidFill>
              <a:srgbClr val="7F7F7F"/>
            </a:solidFill>
          </a:ln>
        </p:spPr>
        <p:txBody>
          <a:bodyPr rtlCol="0" anchor="ctr"/>
          <a:lstStyle/>
          <a:p>
            <a:pPr algn="ctr"/>
          </a:p>
        </p:txBody>
      </p:sp>
      <p:sp>
        <p:nvSpPr>
          <p:cNvPr id="92" name="Rectangle 91"/>
          <p:cNvSpPr/>
          <p:nvPr/>
        </p:nvSpPr>
        <p:spPr>
          <a:xfrm>
            <a:off x="4206240" y="4279392"/>
            <a:ext cx="82296" cy="603504"/>
          </a:xfrm>
          <a:prstGeom prst="rect">
            <a:avLst/>
          </a:prstGeom>
          <a:solidFill>
            <a:srgbClr val="2E9E44"/>
          </a:solidFill>
          <a:ln>
            <a:noFill/>
          </a:ln>
        </p:spPr>
        <p:txBody>
          <a:bodyPr rtlCol="0" anchor="ctr"/>
          <a:lstStyle/>
          <a:p>
            <a:pPr algn="ctr"/>
          </a:p>
        </p:txBody>
      </p:sp>
      <p:sp>
        <p:nvSpPr>
          <p:cNvPr id="93" name="TextBox 92"/>
          <p:cNvSpPr txBox="1"/>
          <p:nvPr/>
        </p:nvSpPr>
        <p:spPr>
          <a:xfrm>
            <a:off x="4315968"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Lead removal of infrastructure, visa and safety deficits</a:t>
            </a:r>
          </a:p>
        </p:txBody>
      </p:sp>
      <p:sp>
        <p:nvSpPr>
          <p:cNvPr id="94" name="Oval 93"/>
          <p:cNvSpPr/>
          <p:nvPr/>
        </p:nvSpPr>
        <p:spPr>
          <a:xfrm>
            <a:off x="5532120" y="4736592"/>
            <a:ext cx="82296" cy="82296"/>
          </a:xfrm>
          <a:prstGeom prst="ellipse">
            <a:avLst/>
          </a:prstGeom>
          <a:solidFill>
            <a:srgbClr val="1F497D"/>
          </a:solidFill>
          <a:ln w="9525">
            <a:solidFill>
              <a:srgbClr val="1F497D"/>
            </a:solidFill>
          </a:ln>
        </p:spPr>
        <p:txBody>
          <a:bodyPr rtlCol="0" anchor="ctr"/>
          <a:lstStyle/>
          <a:p>
            <a:pPr algn="ctr"/>
          </a:p>
        </p:txBody>
      </p:sp>
      <p:sp>
        <p:nvSpPr>
          <p:cNvPr id="95" name="Oval 94"/>
          <p:cNvSpPr/>
          <p:nvPr/>
        </p:nvSpPr>
        <p:spPr>
          <a:xfrm>
            <a:off x="5646420" y="4736592"/>
            <a:ext cx="82296" cy="82296"/>
          </a:xfrm>
          <a:prstGeom prst="ellipse">
            <a:avLst/>
          </a:prstGeom>
          <a:solidFill>
            <a:srgbClr val="1F497D"/>
          </a:solidFill>
          <a:ln w="9525">
            <a:solidFill>
              <a:srgbClr val="1F497D"/>
            </a:solidFill>
          </a:ln>
        </p:spPr>
        <p:txBody>
          <a:bodyPr rtlCol="0" anchor="ctr"/>
          <a:lstStyle/>
          <a:p>
            <a:pPr algn="ctr"/>
          </a:p>
        </p:txBody>
      </p:sp>
      <p:sp>
        <p:nvSpPr>
          <p:cNvPr id="96" name="Oval 95"/>
          <p:cNvSpPr/>
          <p:nvPr/>
        </p:nvSpPr>
        <p:spPr>
          <a:xfrm>
            <a:off x="5760720" y="4736592"/>
            <a:ext cx="82296" cy="82296"/>
          </a:xfrm>
          <a:prstGeom prst="ellipse">
            <a:avLst/>
          </a:prstGeom>
          <a:solidFill>
            <a:srgbClr val="1F497D"/>
          </a:solidFill>
          <a:ln w="9525">
            <a:solidFill>
              <a:srgbClr val="1F497D"/>
            </a:solidFill>
          </a:ln>
        </p:spPr>
        <p:txBody>
          <a:bodyPr rtlCol="0" anchor="ctr"/>
          <a:lstStyle/>
          <a:p>
            <a:pPr algn="ctr"/>
          </a:p>
        </p:txBody>
      </p:sp>
      <p:sp>
        <p:nvSpPr>
          <p:cNvPr id="97" name="TextBox 96"/>
          <p:cNvSpPr txBox="1"/>
          <p:nvPr/>
        </p:nvSpPr>
        <p:spPr>
          <a:xfrm>
            <a:off x="4315968" y="4690872"/>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2c</a:t>
            </a:r>
          </a:p>
        </p:txBody>
      </p:sp>
      <p:sp>
        <p:nvSpPr>
          <p:cNvPr id="98" name="Rectangle 97"/>
          <p:cNvSpPr/>
          <p:nvPr/>
        </p:nvSpPr>
        <p:spPr>
          <a:xfrm>
            <a:off x="6117336" y="2926080"/>
            <a:ext cx="1783080" cy="603504"/>
          </a:xfrm>
          <a:prstGeom prst="rect">
            <a:avLst/>
          </a:prstGeom>
          <a:solidFill>
            <a:srgbClr val="FFFFFF"/>
          </a:solidFill>
          <a:ln w="9525">
            <a:solidFill>
              <a:srgbClr val="7F7F7F"/>
            </a:solidFill>
          </a:ln>
        </p:spPr>
        <p:txBody>
          <a:bodyPr rtlCol="0" anchor="ctr"/>
          <a:lstStyle/>
          <a:p>
            <a:pPr algn="ctr"/>
          </a:p>
        </p:txBody>
      </p:sp>
      <p:sp>
        <p:nvSpPr>
          <p:cNvPr id="99" name="Rectangle 98"/>
          <p:cNvSpPr/>
          <p:nvPr/>
        </p:nvSpPr>
        <p:spPr>
          <a:xfrm>
            <a:off x="6117336" y="2926080"/>
            <a:ext cx="82296" cy="603504"/>
          </a:xfrm>
          <a:prstGeom prst="rect">
            <a:avLst/>
          </a:prstGeom>
          <a:solidFill>
            <a:srgbClr val="2E9E44"/>
          </a:solidFill>
          <a:ln>
            <a:noFill/>
          </a:ln>
        </p:spPr>
        <p:txBody>
          <a:bodyPr rtlCol="0" anchor="ctr"/>
          <a:lstStyle/>
          <a:p>
            <a:pPr algn="ctr"/>
          </a:p>
        </p:txBody>
      </p:sp>
      <p:sp>
        <p:nvSpPr>
          <p:cNvPr id="100" name="TextBox 99"/>
          <p:cNvSpPr txBox="1"/>
          <p:nvPr/>
        </p:nvSpPr>
        <p:spPr>
          <a:xfrm>
            <a:off x="6227064"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Support diversified route and product development</a:t>
            </a:r>
          </a:p>
        </p:txBody>
      </p:sp>
      <p:sp>
        <p:nvSpPr>
          <p:cNvPr id="101" name="Oval 100"/>
          <p:cNvSpPr/>
          <p:nvPr/>
        </p:nvSpPr>
        <p:spPr>
          <a:xfrm>
            <a:off x="7443215" y="3383280"/>
            <a:ext cx="82296" cy="82296"/>
          </a:xfrm>
          <a:prstGeom prst="ellipse">
            <a:avLst/>
          </a:prstGeom>
          <a:solidFill>
            <a:srgbClr val="1F497D"/>
          </a:solidFill>
          <a:ln w="9525">
            <a:solidFill>
              <a:srgbClr val="1F497D"/>
            </a:solidFill>
          </a:ln>
        </p:spPr>
        <p:txBody>
          <a:bodyPr rtlCol="0" anchor="ctr"/>
          <a:lstStyle/>
          <a:p>
            <a:pPr algn="ctr"/>
          </a:p>
        </p:txBody>
      </p:sp>
      <p:sp>
        <p:nvSpPr>
          <p:cNvPr id="102" name="Oval 101"/>
          <p:cNvSpPr/>
          <p:nvPr/>
        </p:nvSpPr>
        <p:spPr>
          <a:xfrm>
            <a:off x="7557515" y="3383280"/>
            <a:ext cx="82296" cy="82296"/>
          </a:xfrm>
          <a:prstGeom prst="ellipse">
            <a:avLst/>
          </a:prstGeom>
          <a:solidFill>
            <a:srgbClr val="1F497D"/>
          </a:solidFill>
          <a:ln w="9525">
            <a:solidFill>
              <a:srgbClr val="1F497D"/>
            </a:solidFill>
          </a:ln>
        </p:spPr>
        <p:txBody>
          <a:bodyPr rtlCol="0" anchor="ctr"/>
          <a:lstStyle/>
          <a:p>
            <a:pPr algn="ctr"/>
          </a:p>
        </p:txBody>
      </p:sp>
      <p:sp>
        <p:nvSpPr>
          <p:cNvPr id="103" name="Oval 102"/>
          <p:cNvSpPr/>
          <p:nvPr/>
        </p:nvSpPr>
        <p:spPr>
          <a:xfrm>
            <a:off x="7671815" y="3383280"/>
            <a:ext cx="82296" cy="82296"/>
          </a:xfrm>
          <a:prstGeom prst="ellipse">
            <a:avLst/>
          </a:prstGeom>
          <a:solidFill>
            <a:srgbClr val="1F497D"/>
          </a:solidFill>
          <a:ln w="9525">
            <a:solidFill>
              <a:srgbClr val="1F497D"/>
            </a:solidFill>
          </a:ln>
        </p:spPr>
        <p:txBody>
          <a:bodyPr rtlCol="0" anchor="ctr"/>
          <a:lstStyle/>
          <a:p>
            <a:pPr algn="ctr"/>
          </a:p>
        </p:txBody>
      </p:sp>
      <p:sp>
        <p:nvSpPr>
          <p:cNvPr id="104" name="TextBox 103"/>
          <p:cNvSpPr txBox="1"/>
          <p:nvPr/>
        </p:nvSpPr>
        <p:spPr>
          <a:xfrm>
            <a:off x="6227064" y="3337560"/>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2d</a:t>
            </a:r>
          </a:p>
        </p:txBody>
      </p:sp>
      <p:sp>
        <p:nvSpPr>
          <p:cNvPr id="105" name="Rectangle 104"/>
          <p:cNvSpPr/>
          <p:nvPr/>
        </p:nvSpPr>
        <p:spPr>
          <a:xfrm>
            <a:off x="6117336" y="3602736"/>
            <a:ext cx="1783080" cy="603504"/>
          </a:xfrm>
          <a:prstGeom prst="rect">
            <a:avLst/>
          </a:prstGeom>
          <a:solidFill>
            <a:srgbClr val="FFFFFF"/>
          </a:solidFill>
          <a:ln w="9525">
            <a:solidFill>
              <a:srgbClr val="7F7F7F"/>
            </a:solidFill>
          </a:ln>
        </p:spPr>
        <p:txBody>
          <a:bodyPr rtlCol="0" anchor="ctr"/>
          <a:lstStyle/>
          <a:p>
            <a:pPr algn="ctr"/>
          </a:p>
        </p:txBody>
      </p:sp>
      <p:sp>
        <p:nvSpPr>
          <p:cNvPr id="106" name="Rectangle 105"/>
          <p:cNvSpPr/>
          <p:nvPr/>
        </p:nvSpPr>
        <p:spPr>
          <a:xfrm>
            <a:off x="6117336" y="3602736"/>
            <a:ext cx="82296" cy="603504"/>
          </a:xfrm>
          <a:prstGeom prst="rect">
            <a:avLst/>
          </a:prstGeom>
          <a:solidFill>
            <a:srgbClr val="2E9E44"/>
          </a:solidFill>
          <a:ln>
            <a:noFill/>
          </a:ln>
        </p:spPr>
        <p:txBody>
          <a:bodyPr rtlCol="0" anchor="ctr"/>
          <a:lstStyle/>
          <a:p>
            <a:pPr algn="ctr"/>
          </a:p>
        </p:txBody>
      </p:sp>
      <p:sp>
        <p:nvSpPr>
          <p:cNvPr id="107" name="TextBox 106"/>
          <p:cNvSpPr txBox="1"/>
          <p:nvPr/>
        </p:nvSpPr>
        <p:spPr>
          <a:xfrm>
            <a:off x="6227064"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Align visitor experience in-destination</a:t>
            </a:r>
          </a:p>
        </p:txBody>
      </p:sp>
      <p:sp>
        <p:nvSpPr>
          <p:cNvPr id="108" name="Oval 107"/>
          <p:cNvSpPr/>
          <p:nvPr/>
        </p:nvSpPr>
        <p:spPr>
          <a:xfrm>
            <a:off x="7443215" y="4059936"/>
            <a:ext cx="82296" cy="82296"/>
          </a:xfrm>
          <a:prstGeom prst="ellipse">
            <a:avLst/>
          </a:prstGeom>
          <a:solidFill>
            <a:srgbClr val="1F497D"/>
          </a:solidFill>
          <a:ln w="9525">
            <a:solidFill>
              <a:srgbClr val="1F497D"/>
            </a:solidFill>
          </a:ln>
        </p:spPr>
        <p:txBody>
          <a:bodyPr rtlCol="0" anchor="ctr"/>
          <a:lstStyle/>
          <a:p>
            <a:pPr algn="ctr"/>
          </a:p>
        </p:txBody>
      </p:sp>
      <p:sp>
        <p:nvSpPr>
          <p:cNvPr id="109" name="Oval 108"/>
          <p:cNvSpPr/>
          <p:nvPr/>
        </p:nvSpPr>
        <p:spPr>
          <a:xfrm>
            <a:off x="7557515" y="4059936"/>
            <a:ext cx="82296" cy="82296"/>
          </a:xfrm>
          <a:prstGeom prst="ellipse">
            <a:avLst/>
          </a:prstGeom>
          <a:solidFill>
            <a:srgbClr val="1F497D"/>
          </a:solidFill>
          <a:ln w="9525">
            <a:solidFill>
              <a:srgbClr val="1F497D"/>
            </a:solidFill>
          </a:ln>
        </p:spPr>
        <p:txBody>
          <a:bodyPr rtlCol="0" anchor="ctr"/>
          <a:lstStyle/>
          <a:p>
            <a:pPr algn="ctr"/>
          </a:p>
        </p:txBody>
      </p:sp>
      <p:sp>
        <p:nvSpPr>
          <p:cNvPr id="110" name="Oval 109"/>
          <p:cNvSpPr/>
          <p:nvPr/>
        </p:nvSpPr>
        <p:spPr>
          <a:xfrm>
            <a:off x="7671815" y="4059936"/>
            <a:ext cx="82296" cy="82296"/>
          </a:xfrm>
          <a:prstGeom prst="ellipse">
            <a:avLst/>
          </a:prstGeom>
          <a:solidFill>
            <a:srgbClr val="FFFFFF"/>
          </a:solidFill>
          <a:ln w="9525">
            <a:solidFill>
              <a:srgbClr val="1F497D"/>
            </a:solidFill>
          </a:ln>
        </p:spPr>
        <p:txBody>
          <a:bodyPr rtlCol="0" anchor="ctr"/>
          <a:lstStyle/>
          <a:p>
            <a:pPr algn="ctr"/>
          </a:p>
        </p:txBody>
      </p:sp>
      <p:sp>
        <p:nvSpPr>
          <p:cNvPr id="111" name="TextBox 110"/>
          <p:cNvSpPr txBox="1"/>
          <p:nvPr/>
        </p:nvSpPr>
        <p:spPr>
          <a:xfrm>
            <a:off x="6227064" y="4014216"/>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2e</a:t>
            </a:r>
          </a:p>
        </p:txBody>
      </p:sp>
      <p:sp>
        <p:nvSpPr>
          <p:cNvPr id="112" name="Rectangle 111"/>
          <p:cNvSpPr/>
          <p:nvPr/>
        </p:nvSpPr>
        <p:spPr>
          <a:xfrm>
            <a:off x="6117336" y="4279392"/>
            <a:ext cx="1783080" cy="603504"/>
          </a:xfrm>
          <a:prstGeom prst="rect">
            <a:avLst/>
          </a:prstGeom>
          <a:solidFill>
            <a:srgbClr val="FFFFFF"/>
          </a:solidFill>
          <a:ln w="9525">
            <a:solidFill>
              <a:srgbClr val="7F7F7F"/>
            </a:solidFill>
          </a:ln>
        </p:spPr>
        <p:txBody>
          <a:bodyPr rtlCol="0" anchor="ctr"/>
          <a:lstStyle/>
          <a:p>
            <a:pPr algn="ctr"/>
          </a:p>
        </p:txBody>
      </p:sp>
      <p:sp>
        <p:nvSpPr>
          <p:cNvPr id="113" name="Rectangle 112"/>
          <p:cNvSpPr/>
          <p:nvPr/>
        </p:nvSpPr>
        <p:spPr>
          <a:xfrm>
            <a:off x="6117336" y="4279392"/>
            <a:ext cx="82296" cy="603504"/>
          </a:xfrm>
          <a:prstGeom prst="rect">
            <a:avLst/>
          </a:prstGeom>
          <a:solidFill>
            <a:srgbClr val="2E9E44"/>
          </a:solidFill>
          <a:ln>
            <a:noFill/>
          </a:ln>
        </p:spPr>
        <p:txBody>
          <a:bodyPr rtlCol="0" anchor="ctr"/>
          <a:lstStyle/>
          <a:p>
            <a:pPr algn="ctr"/>
          </a:p>
        </p:txBody>
      </p:sp>
      <p:sp>
        <p:nvSpPr>
          <p:cNvPr id="114" name="TextBox 113"/>
          <p:cNvSpPr txBox="1"/>
          <p:nvPr/>
        </p:nvSpPr>
        <p:spPr>
          <a:xfrm>
            <a:off x="6227064"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Sustainably maximise nature-based and cultural attractions</a:t>
            </a:r>
          </a:p>
        </p:txBody>
      </p:sp>
      <p:sp>
        <p:nvSpPr>
          <p:cNvPr id="115" name="Oval 114"/>
          <p:cNvSpPr/>
          <p:nvPr/>
        </p:nvSpPr>
        <p:spPr>
          <a:xfrm>
            <a:off x="7443215" y="4736592"/>
            <a:ext cx="82296" cy="82296"/>
          </a:xfrm>
          <a:prstGeom prst="ellipse">
            <a:avLst/>
          </a:prstGeom>
          <a:solidFill>
            <a:srgbClr val="1F497D"/>
          </a:solidFill>
          <a:ln w="9525">
            <a:solidFill>
              <a:srgbClr val="1F497D"/>
            </a:solidFill>
          </a:ln>
        </p:spPr>
        <p:txBody>
          <a:bodyPr rtlCol="0" anchor="ctr"/>
          <a:lstStyle/>
          <a:p>
            <a:pPr algn="ctr"/>
          </a:p>
        </p:txBody>
      </p:sp>
      <p:sp>
        <p:nvSpPr>
          <p:cNvPr id="116" name="Oval 115"/>
          <p:cNvSpPr/>
          <p:nvPr/>
        </p:nvSpPr>
        <p:spPr>
          <a:xfrm>
            <a:off x="7557515" y="4736592"/>
            <a:ext cx="82296" cy="82296"/>
          </a:xfrm>
          <a:prstGeom prst="ellipse">
            <a:avLst/>
          </a:prstGeom>
          <a:solidFill>
            <a:srgbClr val="1F497D"/>
          </a:solidFill>
          <a:ln w="9525">
            <a:solidFill>
              <a:srgbClr val="1F497D"/>
            </a:solidFill>
          </a:ln>
        </p:spPr>
        <p:txBody>
          <a:bodyPr rtlCol="0" anchor="ctr"/>
          <a:lstStyle/>
          <a:p>
            <a:pPr algn="ctr"/>
          </a:p>
        </p:txBody>
      </p:sp>
      <p:sp>
        <p:nvSpPr>
          <p:cNvPr id="117" name="Oval 116"/>
          <p:cNvSpPr/>
          <p:nvPr/>
        </p:nvSpPr>
        <p:spPr>
          <a:xfrm>
            <a:off x="7671815" y="4736592"/>
            <a:ext cx="82296" cy="82296"/>
          </a:xfrm>
          <a:prstGeom prst="ellipse">
            <a:avLst/>
          </a:prstGeom>
          <a:solidFill>
            <a:srgbClr val="FFFFFF"/>
          </a:solidFill>
          <a:ln w="9525">
            <a:solidFill>
              <a:srgbClr val="1F497D"/>
            </a:solidFill>
          </a:ln>
        </p:spPr>
        <p:txBody>
          <a:bodyPr rtlCol="0" anchor="ctr"/>
          <a:lstStyle/>
          <a:p>
            <a:pPr algn="ctr"/>
          </a:p>
        </p:txBody>
      </p:sp>
      <p:sp>
        <p:nvSpPr>
          <p:cNvPr id="118" name="TextBox 117"/>
          <p:cNvSpPr txBox="1"/>
          <p:nvPr/>
        </p:nvSpPr>
        <p:spPr>
          <a:xfrm>
            <a:off x="6227064" y="4690872"/>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2f</a:t>
            </a:r>
          </a:p>
        </p:txBody>
      </p:sp>
      <p:sp>
        <p:nvSpPr>
          <p:cNvPr id="119" name="Rectangle 118"/>
          <p:cNvSpPr/>
          <p:nvPr/>
        </p:nvSpPr>
        <p:spPr>
          <a:xfrm>
            <a:off x="8028431" y="2926080"/>
            <a:ext cx="1783080" cy="603504"/>
          </a:xfrm>
          <a:prstGeom prst="rect">
            <a:avLst/>
          </a:prstGeom>
          <a:solidFill>
            <a:srgbClr val="FFFFFF"/>
          </a:solidFill>
          <a:ln w="9525">
            <a:solidFill>
              <a:srgbClr val="7F7F7F"/>
            </a:solidFill>
          </a:ln>
        </p:spPr>
        <p:txBody>
          <a:bodyPr rtlCol="0" anchor="ctr"/>
          <a:lstStyle/>
          <a:p>
            <a:pPr algn="ctr"/>
          </a:p>
        </p:txBody>
      </p:sp>
      <p:sp>
        <p:nvSpPr>
          <p:cNvPr id="120" name="Rectangle 119"/>
          <p:cNvSpPr/>
          <p:nvPr/>
        </p:nvSpPr>
        <p:spPr>
          <a:xfrm>
            <a:off x="8028431" y="2926080"/>
            <a:ext cx="82296" cy="603504"/>
          </a:xfrm>
          <a:prstGeom prst="rect">
            <a:avLst/>
          </a:prstGeom>
          <a:solidFill>
            <a:srgbClr val="2E9E44"/>
          </a:solidFill>
          <a:ln>
            <a:noFill/>
          </a:ln>
        </p:spPr>
        <p:txBody>
          <a:bodyPr rtlCol="0" anchor="ctr"/>
          <a:lstStyle/>
          <a:p>
            <a:pPr algn="ctr"/>
          </a:p>
        </p:txBody>
      </p:sp>
      <p:sp>
        <p:nvSpPr>
          <p:cNvPr id="121" name="TextBox 120"/>
          <p:cNvSpPr txBox="1"/>
          <p:nvPr/>
        </p:nvSpPr>
        <p:spPr>
          <a:xfrm>
            <a:off x="8138159"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Include MSMEs and communities in tourism value chains</a:t>
            </a:r>
          </a:p>
        </p:txBody>
      </p:sp>
      <p:sp>
        <p:nvSpPr>
          <p:cNvPr id="122" name="Oval 121"/>
          <p:cNvSpPr/>
          <p:nvPr/>
        </p:nvSpPr>
        <p:spPr>
          <a:xfrm>
            <a:off x="9354311" y="3383280"/>
            <a:ext cx="82296" cy="82296"/>
          </a:xfrm>
          <a:prstGeom prst="ellipse">
            <a:avLst/>
          </a:prstGeom>
          <a:solidFill>
            <a:srgbClr val="1F497D"/>
          </a:solidFill>
          <a:ln w="9525">
            <a:solidFill>
              <a:srgbClr val="1F497D"/>
            </a:solidFill>
          </a:ln>
        </p:spPr>
        <p:txBody>
          <a:bodyPr rtlCol="0" anchor="ctr"/>
          <a:lstStyle/>
          <a:p>
            <a:pPr algn="ctr"/>
          </a:p>
        </p:txBody>
      </p:sp>
      <p:sp>
        <p:nvSpPr>
          <p:cNvPr id="123" name="Oval 122"/>
          <p:cNvSpPr/>
          <p:nvPr/>
        </p:nvSpPr>
        <p:spPr>
          <a:xfrm>
            <a:off x="9468611" y="3383280"/>
            <a:ext cx="82296" cy="82296"/>
          </a:xfrm>
          <a:prstGeom prst="ellipse">
            <a:avLst/>
          </a:prstGeom>
          <a:solidFill>
            <a:srgbClr val="1F497D"/>
          </a:solidFill>
          <a:ln w="9525">
            <a:solidFill>
              <a:srgbClr val="1F497D"/>
            </a:solidFill>
          </a:ln>
        </p:spPr>
        <p:txBody>
          <a:bodyPr rtlCol="0" anchor="ctr"/>
          <a:lstStyle/>
          <a:p>
            <a:pPr algn="ctr"/>
          </a:p>
        </p:txBody>
      </p:sp>
      <p:sp>
        <p:nvSpPr>
          <p:cNvPr id="124" name="Oval 123"/>
          <p:cNvSpPr/>
          <p:nvPr/>
        </p:nvSpPr>
        <p:spPr>
          <a:xfrm>
            <a:off x="9582911" y="3383280"/>
            <a:ext cx="82296" cy="82296"/>
          </a:xfrm>
          <a:prstGeom prst="ellipse">
            <a:avLst/>
          </a:prstGeom>
          <a:solidFill>
            <a:srgbClr val="1F497D"/>
          </a:solidFill>
          <a:ln w="9525">
            <a:solidFill>
              <a:srgbClr val="1F497D"/>
            </a:solidFill>
          </a:ln>
        </p:spPr>
        <p:txBody>
          <a:bodyPr rtlCol="0" anchor="ctr"/>
          <a:lstStyle/>
          <a:p>
            <a:pPr algn="ctr"/>
          </a:p>
        </p:txBody>
      </p:sp>
      <p:sp>
        <p:nvSpPr>
          <p:cNvPr id="125" name="TextBox 124"/>
          <p:cNvSpPr txBox="1"/>
          <p:nvPr/>
        </p:nvSpPr>
        <p:spPr>
          <a:xfrm>
            <a:off x="8138159" y="3337560"/>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3a</a:t>
            </a:r>
          </a:p>
        </p:txBody>
      </p:sp>
      <p:sp>
        <p:nvSpPr>
          <p:cNvPr id="126" name="Rectangle 125"/>
          <p:cNvSpPr/>
          <p:nvPr/>
        </p:nvSpPr>
        <p:spPr>
          <a:xfrm>
            <a:off x="8028431" y="3602736"/>
            <a:ext cx="1783080" cy="603504"/>
          </a:xfrm>
          <a:prstGeom prst="rect">
            <a:avLst/>
          </a:prstGeom>
          <a:solidFill>
            <a:srgbClr val="FFFFFF"/>
          </a:solidFill>
          <a:ln w="9525">
            <a:solidFill>
              <a:srgbClr val="7F7F7F"/>
            </a:solidFill>
          </a:ln>
        </p:spPr>
        <p:txBody>
          <a:bodyPr rtlCol="0" anchor="ctr"/>
          <a:lstStyle/>
          <a:p>
            <a:pPr algn="ctr"/>
          </a:p>
        </p:txBody>
      </p:sp>
      <p:sp>
        <p:nvSpPr>
          <p:cNvPr id="127" name="Rectangle 126"/>
          <p:cNvSpPr/>
          <p:nvPr/>
        </p:nvSpPr>
        <p:spPr>
          <a:xfrm>
            <a:off x="8028431" y="3602736"/>
            <a:ext cx="82296" cy="603504"/>
          </a:xfrm>
          <a:prstGeom prst="rect">
            <a:avLst/>
          </a:prstGeom>
          <a:solidFill>
            <a:srgbClr val="FFFFFF"/>
          </a:solidFill>
          <a:ln w="9525">
            <a:solidFill>
              <a:srgbClr val="7F7F7F"/>
            </a:solidFill>
          </a:ln>
        </p:spPr>
        <p:txBody>
          <a:bodyPr rtlCol="0" anchor="ctr"/>
          <a:lstStyle/>
          <a:p>
            <a:pPr algn="ctr"/>
          </a:p>
        </p:txBody>
      </p:sp>
      <p:sp>
        <p:nvSpPr>
          <p:cNvPr id="128" name="TextBox 127"/>
          <p:cNvSpPr txBox="1"/>
          <p:nvPr/>
        </p:nvSpPr>
        <p:spPr>
          <a:xfrm>
            <a:off x="8138159"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Develop the tourism workforce and service skills</a:t>
            </a:r>
          </a:p>
        </p:txBody>
      </p:sp>
      <p:sp>
        <p:nvSpPr>
          <p:cNvPr id="129" name="Oval 128"/>
          <p:cNvSpPr/>
          <p:nvPr/>
        </p:nvSpPr>
        <p:spPr>
          <a:xfrm>
            <a:off x="9354311" y="4059936"/>
            <a:ext cx="82296" cy="82296"/>
          </a:xfrm>
          <a:prstGeom prst="ellipse">
            <a:avLst/>
          </a:prstGeom>
          <a:solidFill>
            <a:srgbClr val="1F497D"/>
          </a:solidFill>
          <a:ln w="9525">
            <a:solidFill>
              <a:srgbClr val="1F497D"/>
            </a:solidFill>
          </a:ln>
        </p:spPr>
        <p:txBody>
          <a:bodyPr rtlCol="0" anchor="ctr"/>
          <a:lstStyle/>
          <a:p>
            <a:pPr algn="ctr"/>
          </a:p>
        </p:txBody>
      </p:sp>
      <p:sp>
        <p:nvSpPr>
          <p:cNvPr id="130" name="Oval 129"/>
          <p:cNvSpPr/>
          <p:nvPr/>
        </p:nvSpPr>
        <p:spPr>
          <a:xfrm>
            <a:off x="9468611" y="4059936"/>
            <a:ext cx="82296" cy="82296"/>
          </a:xfrm>
          <a:prstGeom prst="ellipse">
            <a:avLst/>
          </a:prstGeom>
          <a:solidFill>
            <a:srgbClr val="FFFFFF"/>
          </a:solidFill>
          <a:ln w="9525">
            <a:solidFill>
              <a:srgbClr val="1F497D"/>
            </a:solidFill>
          </a:ln>
        </p:spPr>
        <p:txBody>
          <a:bodyPr rtlCol="0" anchor="ctr"/>
          <a:lstStyle/>
          <a:p>
            <a:pPr algn="ctr"/>
          </a:p>
        </p:txBody>
      </p:sp>
      <p:sp>
        <p:nvSpPr>
          <p:cNvPr id="131" name="Oval 130"/>
          <p:cNvSpPr/>
          <p:nvPr/>
        </p:nvSpPr>
        <p:spPr>
          <a:xfrm>
            <a:off x="9582911" y="4059936"/>
            <a:ext cx="82296" cy="82296"/>
          </a:xfrm>
          <a:prstGeom prst="ellipse">
            <a:avLst/>
          </a:prstGeom>
          <a:solidFill>
            <a:srgbClr val="FFFFFF"/>
          </a:solidFill>
          <a:ln w="9525">
            <a:solidFill>
              <a:srgbClr val="1F497D"/>
            </a:solidFill>
          </a:ln>
        </p:spPr>
        <p:txBody>
          <a:bodyPr rtlCol="0" anchor="ctr"/>
          <a:lstStyle/>
          <a:p>
            <a:pPr algn="ctr"/>
          </a:p>
        </p:txBody>
      </p:sp>
      <p:sp>
        <p:nvSpPr>
          <p:cNvPr id="132" name="TextBox 131"/>
          <p:cNvSpPr txBox="1"/>
          <p:nvPr/>
        </p:nvSpPr>
        <p:spPr>
          <a:xfrm>
            <a:off x="8138159" y="4014216"/>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3b</a:t>
            </a:r>
          </a:p>
        </p:txBody>
      </p:sp>
      <p:sp>
        <p:nvSpPr>
          <p:cNvPr id="133" name="Rectangle 132"/>
          <p:cNvSpPr/>
          <p:nvPr/>
        </p:nvSpPr>
        <p:spPr>
          <a:xfrm>
            <a:off x="8028431" y="4279392"/>
            <a:ext cx="1783080" cy="603504"/>
          </a:xfrm>
          <a:prstGeom prst="rect">
            <a:avLst/>
          </a:prstGeom>
          <a:solidFill>
            <a:srgbClr val="FFFFFF"/>
          </a:solidFill>
          <a:ln w="9525">
            <a:solidFill>
              <a:srgbClr val="7F7F7F"/>
            </a:solidFill>
          </a:ln>
        </p:spPr>
        <p:txBody>
          <a:bodyPr rtlCol="0" anchor="ctr"/>
          <a:lstStyle/>
          <a:p>
            <a:pPr algn="ctr"/>
          </a:p>
        </p:txBody>
      </p:sp>
      <p:sp>
        <p:nvSpPr>
          <p:cNvPr id="134" name="Rectangle 133"/>
          <p:cNvSpPr/>
          <p:nvPr/>
        </p:nvSpPr>
        <p:spPr>
          <a:xfrm>
            <a:off x="8028431" y="4279392"/>
            <a:ext cx="82296" cy="603504"/>
          </a:xfrm>
          <a:prstGeom prst="rect">
            <a:avLst/>
          </a:prstGeom>
          <a:solidFill>
            <a:srgbClr val="F2A900"/>
          </a:solidFill>
          <a:ln>
            <a:noFill/>
          </a:ln>
        </p:spPr>
        <p:txBody>
          <a:bodyPr rtlCol="0" anchor="ctr"/>
          <a:lstStyle/>
          <a:p>
            <a:pPr algn="ctr"/>
          </a:p>
        </p:txBody>
      </p:sp>
      <p:sp>
        <p:nvSpPr>
          <p:cNvPr id="135" name="TextBox 134"/>
          <p:cNvSpPr txBox="1"/>
          <p:nvPr/>
        </p:nvSpPr>
        <p:spPr>
          <a:xfrm>
            <a:off x="8138159"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Ensure sustainable and resilient destination management</a:t>
            </a:r>
          </a:p>
        </p:txBody>
      </p:sp>
      <p:sp>
        <p:nvSpPr>
          <p:cNvPr id="136" name="Oval 135"/>
          <p:cNvSpPr/>
          <p:nvPr/>
        </p:nvSpPr>
        <p:spPr>
          <a:xfrm>
            <a:off x="9354311" y="4736592"/>
            <a:ext cx="82296" cy="82296"/>
          </a:xfrm>
          <a:prstGeom prst="ellipse">
            <a:avLst/>
          </a:prstGeom>
          <a:solidFill>
            <a:srgbClr val="1F497D"/>
          </a:solidFill>
          <a:ln w="9525">
            <a:solidFill>
              <a:srgbClr val="1F497D"/>
            </a:solidFill>
          </a:ln>
        </p:spPr>
        <p:txBody>
          <a:bodyPr rtlCol="0" anchor="ctr"/>
          <a:lstStyle/>
          <a:p>
            <a:pPr algn="ctr"/>
          </a:p>
        </p:txBody>
      </p:sp>
      <p:sp>
        <p:nvSpPr>
          <p:cNvPr id="137" name="Oval 136"/>
          <p:cNvSpPr/>
          <p:nvPr/>
        </p:nvSpPr>
        <p:spPr>
          <a:xfrm>
            <a:off x="9468611" y="4736592"/>
            <a:ext cx="82296" cy="82296"/>
          </a:xfrm>
          <a:prstGeom prst="ellipse">
            <a:avLst/>
          </a:prstGeom>
          <a:solidFill>
            <a:srgbClr val="FFFFFF"/>
          </a:solidFill>
          <a:ln w="9525">
            <a:solidFill>
              <a:srgbClr val="1F497D"/>
            </a:solidFill>
          </a:ln>
        </p:spPr>
        <p:txBody>
          <a:bodyPr rtlCol="0" anchor="ctr"/>
          <a:lstStyle/>
          <a:p>
            <a:pPr algn="ctr"/>
          </a:p>
        </p:txBody>
      </p:sp>
      <p:sp>
        <p:nvSpPr>
          <p:cNvPr id="138" name="Oval 137"/>
          <p:cNvSpPr/>
          <p:nvPr/>
        </p:nvSpPr>
        <p:spPr>
          <a:xfrm>
            <a:off x="9582911" y="4736592"/>
            <a:ext cx="82296" cy="82296"/>
          </a:xfrm>
          <a:prstGeom prst="ellipse">
            <a:avLst/>
          </a:prstGeom>
          <a:solidFill>
            <a:srgbClr val="FFFFFF"/>
          </a:solidFill>
          <a:ln w="9525">
            <a:solidFill>
              <a:srgbClr val="1F497D"/>
            </a:solidFill>
          </a:ln>
        </p:spPr>
        <p:txBody>
          <a:bodyPr rtlCol="0" anchor="ctr"/>
          <a:lstStyle/>
          <a:p>
            <a:pPr algn="ctr"/>
          </a:p>
        </p:txBody>
      </p:sp>
      <p:sp>
        <p:nvSpPr>
          <p:cNvPr id="139" name="TextBox 138"/>
          <p:cNvSpPr txBox="1"/>
          <p:nvPr/>
        </p:nvSpPr>
        <p:spPr>
          <a:xfrm>
            <a:off x="8138159" y="4690872"/>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3c</a:t>
            </a:r>
          </a:p>
        </p:txBody>
      </p:sp>
      <p:sp>
        <p:nvSpPr>
          <p:cNvPr id="140" name="Rectangle 139"/>
          <p:cNvSpPr/>
          <p:nvPr/>
        </p:nvSpPr>
        <p:spPr>
          <a:xfrm>
            <a:off x="9939528" y="2926080"/>
            <a:ext cx="1783080" cy="603504"/>
          </a:xfrm>
          <a:prstGeom prst="rect">
            <a:avLst/>
          </a:prstGeom>
          <a:solidFill>
            <a:srgbClr val="FFFFFF"/>
          </a:solidFill>
          <a:ln w="9525">
            <a:solidFill>
              <a:srgbClr val="7F7F7F"/>
            </a:solidFill>
          </a:ln>
        </p:spPr>
        <p:txBody>
          <a:bodyPr rtlCol="0" anchor="ctr"/>
          <a:lstStyle/>
          <a:p>
            <a:pPr algn="ctr"/>
          </a:p>
        </p:txBody>
      </p:sp>
      <p:sp>
        <p:nvSpPr>
          <p:cNvPr id="141" name="Rectangle 140"/>
          <p:cNvSpPr/>
          <p:nvPr/>
        </p:nvSpPr>
        <p:spPr>
          <a:xfrm>
            <a:off x="9939528" y="2926080"/>
            <a:ext cx="82296" cy="603504"/>
          </a:xfrm>
          <a:prstGeom prst="rect">
            <a:avLst/>
          </a:prstGeom>
          <a:solidFill>
            <a:srgbClr val="2E9E44"/>
          </a:solidFill>
          <a:ln>
            <a:noFill/>
          </a:ln>
        </p:spPr>
        <p:txBody>
          <a:bodyPr rtlCol="0" anchor="ctr"/>
          <a:lstStyle/>
          <a:p>
            <a:pPr algn="ctr"/>
          </a:p>
        </p:txBody>
      </p:sp>
      <p:sp>
        <p:nvSpPr>
          <p:cNvPr id="142" name="TextBox 141"/>
          <p:cNvSpPr txBox="1"/>
          <p:nvPr/>
        </p:nvSpPr>
        <p:spPr>
          <a:xfrm>
            <a:off x="10049255" y="2944368"/>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Review institutional arrangements (local, provincial and national)</a:t>
            </a:r>
          </a:p>
        </p:txBody>
      </p:sp>
      <p:sp>
        <p:nvSpPr>
          <p:cNvPr id="143" name="Oval 142"/>
          <p:cNvSpPr/>
          <p:nvPr/>
        </p:nvSpPr>
        <p:spPr>
          <a:xfrm>
            <a:off x="11265407" y="3383280"/>
            <a:ext cx="82296" cy="82296"/>
          </a:xfrm>
          <a:prstGeom prst="ellipse">
            <a:avLst/>
          </a:prstGeom>
          <a:solidFill>
            <a:srgbClr val="1F497D"/>
          </a:solidFill>
          <a:ln w="9525">
            <a:solidFill>
              <a:srgbClr val="1F497D"/>
            </a:solidFill>
          </a:ln>
        </p:spPr>
        <p:txBody>
          <a:bodyPr rtlCol="0" anchor="ctr"/>
          <a:lstStyle/>
          <a:p>
            <a:pPr algn="ctr"/>
          </a:p>
        </p:txBody>
      </p:sp>
      <p:sp>
        <p:nvSpPr>
          <p:cNvPr id="144" name="Oval 143"/>
          <p:cNvSpPr/>
          <p:nvPr/>
        </p:nvSpPr>
        <p:spPr>
          <a:xfrm>
            <a:off x="11379707" y="3383280"/>
            <a:ext cx="82296" cy="82296"/>
          </a:xfrm>
          <a:prstGeom prst="ellipse">
            <a:avLst/>
          </a:prstGeom>
          <a:solidFill>
            <a:srgbClr val="1F497D"/>
          </a:solidFill>
          <a:ln w="9525">
            <a:solidFill>
              <a:srgbClr val="1F497D"/>
            </a:solidFill>
          </a:ln>
        </p:spPr>
        <p:txBody>
          <a:bodyPr rtlCol="0" anchor="ctr"/>
          <a:lstStyle/>
          <a:p>
            <a:pPr algn="ctr"/>
          </a:p>
        </p:txBody>
      </p:sp>
      <p:sp>
        <p:nvSpPr>
          <p:cNvPr id="145" name="Oval 144"/>
          <p:cNvSpPr/>
          <p:nvPr/>
        </p:nvSpPr>
        <p:spPr>
          <a:xfrm>
            <a:off x="11494007" y="3383280"/>
            <a:ext cx="82296" cy="82296"/>
          </a:xfrm>
          <a:prstGeom prst="ellipse">
            <a:avLst/>
          </a:prstGeom>
          <a:solidFill>
            <a:srgbClr val="1F497D"/>
          </a:solidFill>
          <a:ln w="9525">
            <a:solidFill>
              <a:srgbClr val="1F497D"/>
            </a:solidFill>
          </a:ln>
        </p:spPr>
        <p:txBody>
          <a:bodyPr rtlCol="0" anchor="ctr"/>
          <a:lstStyle/>
          <a:p>
            <a:pPr algn="ctr"/>
          </a:p>
        </p:txBody>
      </p:sp>
      <p:sp>
        <p:nvSpPr>
          <p:cNvPr id="146" name="TextBox 145"/>
          <p:cNvSpPr txBox="1"/>
          <p:nvPr/>
        </p:nvSpPr>
        <p:spPr>
          <a:xfrm>
            <a:off x="10049255" y="3337560"/>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3d</a:t>
            </a:r>
          </a:p>
        </p:txBody>
      </p:sp>
      <p:sp>
        <p:nvSpPr>
          <p:cNvPr id="147" name="Rectangle 146"/>
          <p:cNvSpPr/>
          <p:nvPr/>
        </p:nvSpPr>
        <p:spPr>
          <a:xfrm>
            <a:off x="9939528" y="3602736"/>
            <a:ext cx="1783080" cy="603504"/>
          </a:xfrm>
          <a:prstGeom prst="rect">
            <a:avLst/>
          </a:prstGeom>
          <a:solidFill>
            <a:srgbClr val="FFFFFF"/>
          </a:solidFill>
          <a:ln w="9525">
            <a:solidFill>
              <a:srgbClr val="7F7F7F"/>
            </a:solidFill>
          </a:ln>
        </p:spPr>
        <p:txBody>
          <a:bodyPr rtlCol="0" anchor="ctr"/>
          <a:lstStyle/>
          <a:p>
            <a:pPr algn="ctr"/>
          </a:p>
        </p:txBody>
      </p:sp>
      <p:sp>
        <p:nvSpPr>
          <p:cNvPr id="148" name="Rectangle 147"/>
          <p:cNvSpPr/>
          <p:nvPr/>
        </p:nvSpPr>
        <p:spPr>
          <a:xfrm>
            <a:off x="9939528" y="3602736"/>
            <a:ext cx="82296" cy="603504"/>
          </a:xfrm>
          <a:prstGeom prst="rect">
            <a:avLst/>
          </a:prstGeom>
          <a:solidFill>
            <a:srgbClr val="2E9E44"/>
          </a:solidFill>
          <a:ln>
            <a:noFill/>
          </a:ln>
        </p:spPr>
        <p:txBody>
          <a:bodyPr rtlCol="0" anchor="ctr"/>
          <a:lstStyle/>
          <a:p>
            <a:pPr algn="ctr"/>
          </a:p>
        </p:txBody>
      </p:sp>
      <p:sp>
        <p:nvSpPr>
          <p:cNvPr id="149" name="TextBox 148"/>
          <p:cNvSpPr txBox="1"/>
          <p:nvPr/>
        </p:nvSpPr>
        <p:spPr>
          <a:xfrm>
            <a:off x="10049255" y="3621024"/>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Strengthen industry and government collaboration</a:t>
            </a:r>
          </a:p>
        </p:txBody>
      </p:sp>
      <p:sp>
        <p:nvSpPr>
          <p:cNvPr id="150" name="Oval 149"/>
          <p:cNvSpPr/>
          <p:nvPr/>
        </p:nvSpPr>
        <p:spPr>
          <a:xfrm>
            <a:off x="11265407" y="4059936"/>
            <a:ext cx="82296" cy="82296"/>
          </a:xfrm>
          <a:prstGeom prst="ellipse">
            <a:avLst/>
          </a:prstGeom>
          <a:solidFill>
            <a:srgbClr val="1F497D"/>
          </a:solidFill>
          <a:ln w="9525">
            <a:solidFill>
              <a:srgbClr val="1F497D"/>
            </a:solidFill>
          </a:ln>
        </p:spPr>
        <p:txBody>
          <a:bodyPr rtlCol="0" anchor="ctr"/>
          <a:lstStyle/>
          <a:p>
            <a:pPr algn="ctr"/>
          </a:p>
        </p:txBody>
      </p:sp>
      <p:sp>
        <p:nvSpPr>
          <p:cNvPr id="151" name="Oval 150"/>
          <p:cNvSpPr/>
          <p:nvPr/>
        </p:nvSpPr>
        <p:spPr>
          <a:xfrm>
            <a:off x="11379707" y="4059936"/>
            <a:ext cx="82296" cy="82296"/>
          </a:xfrm>
          <a:prstGeom prst="ellipse">
            <a:avLst/>
          </a:prstGeom>
          <a:solidFill>
            <a:srgbClr val="1F497D"/>
          </a:solidFill>
          <a:ln w="9525">
            <a:solidFill>
              <a:srgbClr val="1F497D"/>
            </a:solidFill>
          </a:ln>
        </p:spPr>
        <p:txBody>
          <a:bodyPr rtlCol="0" anchor="ctr"/>
          <a:lstStyle/>
          <a:p>
            <a:pPr algn="ctr"/>
          </a:p>
        </p:txBody>
      </p:sp>
      <p:sp>
        <p:nvSpPr>
          <p:cNvPr id="152" name="Oval 151"/>
          <p:cNvSpPr/>
          <p:nvPr/>
        </p:nvSpPr>
        <p:spPr>
          <a:xfrm>
            <a:off x="11494007" y="4059936"/>
            <a:ext cx="82296" cy="82296"/>
          </a:xfrm>
          <a:prstGeom prst="ellipse">
            <a:avLst/>
          </a:prstGeom>
          <a:solidFill>
            <a:srgbClr val="1F497D"/>
          </a:solidFill>
          <a:ln w="9525">
            <a:solidFill>
              <a:srgbClr val="1F497D"/>
            </a:solidFill>
          </a:ln>
        </p:spPr>
        <p:txBody>
          <a:bodyPr rtlCol="0" anchor="ctr"/>
          <a:lstStyle/>
          <a:p>
            <a:pPr algn="ctr"/>
          </a:p>
        </p:txBody>
      </p:sp>
      <p:sp>
        <p:nvSpPr>
          <p:cNvPr id="153" name="TextBox 152"/>
          <p:cNvSpPr txBox="1"/>
          <p:nvPr/>
        </p:nvSpPr>
        <p:spPr>
          <a:xfrm>
            <a:off x="10049255" y="4014216"/>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3e</a:t>
            </a:r>
          </a:p>
        </p:txBody>
      </p:sp>
      <p:sp>
        <p:nvSpPr>
          <p:cNvPr id="154" name="Rectangle 153"/>
          <p:cNvSpPr/>
          <p:nvPr/>
        </p:nvSpPr>
        <p:spPr>
          <a:xfrm>
            <a:off x="9939528" y="4279392"/>
            <a:ext cx="1783080" cy="603504"/>
          </a:xfrm>
          <a:prstGeom prst="rect">
            <a:avLst/>
          </a:prstGeom>
          <a:solidFill>
            <a:srgbClr val="FFFFFF"/>
          </a:solidFill>
          <a:ln w="9525">
            <a:solidFill>
              <a:srgbClr val="7F7F7F"/>
            </a:solidFill>
          </a:ln>
        </p:spPr>
        <p:txBody>
          <a:bodyPr rtlCol="0" anchor="ctr"/>
          <a:lstStyle/>
          <a:p>
            <a:pPr algn="ctr"/>
          </a:p>
        </p:txBody>
      </p:sp>
      <p:sp>
        <p:nvSpPr>
          <p:cNvPr id="155" name="Rectangle 154"/>
          <p:cNvSpPr/>
          <p:nvPr/>
        </p:nvSpPr>
        <p:spPr>
          <a:xfrm>
            <a:off x="9939528" y="4279392"/>
            <a:ext cx="82296" cy="603504"/>
          </a:xfrm>
          <a:prstGeom prst="rect">
            <a:avLst/>
          </a:prstGeom>
          <a:solidFill>
            <a:srgbClr val="2E9E44"/>
          </a:solidFill>
          <a:ln>
            <a:noFill/>
          </a:ln>
        </p:spPr>
        <p:txBody>
          <a:bodyPr rtlCol="0" anchor="ctr"/>
          <a:lstStyle/>
          <a:p>
            <a:pPr algn="ctr"/>
          </a:p>
        </p:txBody>
      </p:sp>
      <p:sp>
        <p:nvSpPr>
          <p:cNvPr id="156" name="TextBox 155"/>
          <p:cNvSpPr txBox="1"/>
          <p:nvPr/>
        </p:nvSpPr>
        <p:spPr>
          <a:xfrm>
            <a:off x="10049255" y="4297679"/>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Expedite enabling policy and build the data layer</a:t>
            </a:r>
          </a:p>
        </p:txBody>
      </p:sp>
      <p:sp>
        <p:nvSpPr>
          <p:cNvPr id="157" name="Oval 156"/>
          <p:cNvSpPr/>
          <p:nvPr/>
        </p:nvSpPr>
        <p:spPr>
          <a:xfrm>
            <a:off x="11265407" y="4736592"/>
            <a:ext cx="82296" cy="82296"/>
          </a:xfrm>
          <a:prstGeom prst="ellipse">
            <a:avLst/>
          </a:prstGeom>
          <a:solidFill>
            <a:srgbClr val="1F497D"/>
          </a:solidFill>
          <a:ln w="9525">
            <a:solidFill>
              <a:srgbClr val="1F497D"/>
            </a:solidFill>
          </a:ln>
        </p:spPr>
        <p:txBody>
          <a:bodyPr rtlCol="0" anchor="ctr"/>
          <a:lstStyle/>
          <a:p>
            <a:pPr algn="ctr"/>
          </a:p>
        </p:txBody>
      </p:sp>
      <p:sp>
        <p:nvSpPr>
          <p:cNvPr id="158" name="Oval 157"/>
          <p:cNvSpPr/>
          <p:nvPr/>
        </p:nvSpPr>
        <p:spPr>
          <a:xfrm>
            <a:off x="11379707" y="4736592"/>
            <a:ext cx="82296" cy="82296"/>
          </a:xfrm>
          <a:prstGeom prst="ellipse">
            <a:avLst/>
          </a:prstGeom>
          <a:solidFill>
            <a:srgbClr val="1F497D"/>
          </a:solidFill>
          <a:ln w="9525">
            <a:solidFill>
              <a:srgbClr val="1F497D"/>
            </a:solidFill>
          </a:ln>
        </p:spPr>
        <p:txBody>
          <a:bodyPr rtlCol="0" anchor="ctr"/>
          <a:lstStyle/>
          <a:p>
            <a:pPr algn="ctr"/>
          </a:p>
        </p:txBody>
      </p:sp>
      <p:sp>
        <p:nvSpPr>
          <p:cNvPr id="159" name="Oval 158"/>
          <p:cNvSpPr/>
          <p:nvPr/>
        </p:nvSpPr>
        <p:spPr>
          <a:xfrm>
            <a:off x="11494007" y="4736592"/>
            <a:ext cx="82296" cy="82296"/>
          </a:xfrm>
          <a:prstGeom prst="ellipse">
            <a:avLst/>
          </a:prstGeom>
          <a:solidFill>
            <a:srgbClr val="1F497D"/>
          </a:solidFill>
          <a:ln w="9525">
            <a:solidFill>
              <a:srgbClr val="1F497D"/>
            </a:solidFill>
          </a:ln>
        </p:spPr>
        <p:txBody>
          <a:bodyPr rtlCol="0" anchor="ctr"/>
          <a:lstStyle/>
          <a:p>
            <a:pPr algn="ctr"/>
          </a:p>
        </p:txBody>
      </p:sp>
      <p:sp>
        <p:nvSpPr>
          <p:cNvPr id="160" name="TextBox 159"/>
          <p:cNvSpPr txBox="1"/>
          <p:nvPr/>
        </p:nvSpPr>
        <p:spPr>
          <a:xfrm>
            <a:off x="10049255" y="4690872"/>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3f</a:t>
            </a:r>
          </a:p>
        </p:txBody>
      </p:sp>
      <p:sp>
        <p:nvSpPr>
          <p:cNvPr id="161" name="Rectangle 160"/>
          <p:cNvSpPr/>
          <p:nvPr/>
        </p:nvSpPr>
        <p:spPr>
          <a:xfrm>
            <a:off x="9939528" y="4956048"/>
            <a:ext cx="1783080" cy="603504"/>
          </a:xfrm>
          <a:prstGeom prst="rect">
            <a:avLst/>
          </a:prstGeom>
          <a:solidFill>
            <a:srgbClr val="FFFFFF"/>
          </a:solidFill>
          <a:ln w="9525">
            <a:solidFill>
              <a:srgbClr val="7F7F7F"/>
            </a:solidFill>
          </a:ln>
        </p:spPr>
        <p:txBody>
          <a:bodyPr rtlCol="0" anchor="ctr"/>
          <a:lstStyle/>
          <a:p>
            <a:pPr algn="ctr"/>
          </a:p>
        </p:txBody>
      </p:sp>
      <p:sp>
        <p:nvSpPr>
          <p:cNvPr id="162" name="Rectangle 161"/>
          <p:cNvSpPr/>
          <p:nvPr/>
        </p:nvSpPr>
        <p:spPr>
          <a:xfrm>
            <a:off x="9939528" y="4956048"/>
            <a:ext cx="82296" cy="603504"/>
          </a:xfrm>
          <a:prstGeom prst="rect">
            <a:avLst/>
          </a:prstGeom>
          <a:solidFill>
            <a:srgbClr val="F2A900"/>
          </a:solidFill>
          <a:ln>
            <a:noFill/>
          </a:ln>
        </p:spPr>
        <p:txBody>
          <a:bodyPr rtlCol="0" anchor="ctr"/>
          <a:lstStyle/>
          <a:p>
            <a:pPr algn="ctr"/>
          </a:p>
        </p:txBody>
      </p:sp>
      <p:sp>
        <p:nvSpPr>
          <p:cNvPr id="163" name="TextBox 162"/>
          <p:cNvSpPr txBox="1"/>
          <p:nvPr/>
        </p:nvSpPr>
        <p:spPr>
          <a:xfrm>
            <a:off x="10049255" y="4974336"/>
            <a:ext cx="1636776" cy="420624"/>
          </a:xfrm>
          <a:prstGeom prst="rect">
            <a:avLst/>
          </a:prstGeom>
          <a:noFill/>
        </p:spPr>
        <p:txBody>
          <a:bodyPr wrap="square" anchor="t" lIns="18288" rIns="18288" tIns="10972" bIns="10972">
            <a:spAutoFit/>
          </a:bodyPr>
          <a:lstStyle/>
          <a:p>
            <a:pPr algn="l">
              <a:spcAft>
                <a:spcPts val="0"/>
              </a:spcAft>
            </a:pPr>
            <a:r>
              <a:rPr sz="800" b="0" i="0">
                <a:solidFill>
                  <a:srgbClr val="404040"/>
                </a:solidFill>
                <a:latin typeface="Arial"/>
              </a:rPr>
              <a:t>Crowd-in capital with targeted investment strategies</a:t>
            </a:r>
          </a:p>
        </p:txBody>
      </p:sp>
      <p:sp>
        <p:nvSpPr>
          <p:cNvPr id="164" name="Oval 163"/>
          <p:cNvSpPr/>
          <p:nvPr/>
        </p:nvSpPr>
        <p:spPr>
          <a:xfrm>
            <a:off x="11265407" y="5413248"/>
            <a:ext cx="82296" cy="82296"/>
          </a:xfrm>
          <a:prstGeom prst="ellipse">
            <a:avLst/>
          </a:prstGeom>
          <a:solidFill>
            <a:srgbClr val="1F497D"/>
          </a:solidFill>
          <a:ln w="9525">
            <a:solidFill>
              <a:srgbClr val="1F497D"/>
            </a:solidFill>
          </a:ln>
        </p:spPr>
        <p:txBody>
          <a:bodyPr rtlCol="0" anchor="ctr"/>
          <a:lstStyle/>
          <a:p>
            <a:pPr algn="ctr"/>
          </a:p>
        </p:txBody>
      </p:sp>
      <p:sp>
        <p:nvSpPr>
          <p:cNvPr id="165" name="Oval 164"/>
          <p:cNvSpPr/>
          <p:nvPr/>
        </p:nvSpPr>
        <p:spPr>
          <a:xfrm>
            <a:off x="11379707" y="5413248"/>
            <a:ext cx="82296" cy="82296"/>
          </a:xfrm>
          <a:prstGeom prst="ellipse">
            <a:avLst/>
          </a:prstGeom>
          <a:solidFill>
            <a:srgbClr val="1F497D"/>
          </a:solidFill>
          <a:ln w="9525">
            <a:solidFill>
              <a:srgbClr val="1F497D"/>
            </a:solidFill>
          </a:ln>
        </p:spPr>
        <p:txBody>
          <a:bodyPr rtlCol="0" anchor="ctr"/>
          <a:lstStyle/>
          <a:p>
            <a:pPr algn="ctr"/>
          </a:p>
        </p:txBody>
      </p:sp>
      <p:sp>
        <p:nvSpPr>
          <p:cNvPr id="166" name="Oval 165"/>
          <p:cNvSpPr/>
          <p:nvPr/>
        </p:nvSpPr>
        <p:spPr>
          <a:xfrm>
            <a:off x="11494007" y="5413248"/>
            <a:ext cx="82296" cy="82296"/>
          </a:xfrm>
          <a:prstGeom prst="ellipse">
            <a:avLst/>
          </a:prstGeom>
          <a:solidFill>
            <a:srgbClr val="FFFFFF"/>
          </a:solidFill>
          <a:ln w="9525">
            <a:solidFill>
              <a:srgbClr val="1F497D"/>
            </a:solidFill>
          </a:ln>
        </p:spPr>
        <p:txBody>
          <a:bodyPr rtlCol="0" anchor="ctr"/>
          <a:lstStyle/>
          <a:p>
            <a:pPr algn="ctr"/>
          </a:p>
        </p:txBody>
      </p:sp>
      <p:sp>
        <p:nvSpPr>
          <p:cNvPr id="167" name="TextBox 166"/>
          <p:cNvSpPr txBox="1"/>
          <p:nvPr/>
        </p:nvSpPr>
        <p:spPr>
          <a:xfrm>
            <a:off x="10049255" y="5367528"/>
            <a:ext cx="365760" cy="164592"/>
          </a:xfrm>
          <a:prstGeom prst="rect">
            <a:avLst/>
          </a:prstGeom>
          <a:noFill/>
        </p:spPr>
        <p:txBody>
          <a:bodyPr wrap="square" anchor="t" lIns="9144" rIns="9144" tIns="5486" bIns="5486">
            <a:spAutoFit/>
          </a:bodyPr>
          <a:lstStyle/>
          <a:p>
            <a:pPr algn="l">
              <a:spcAft>
                <a:spcPts val="0"/>
              </a:spcAft>
            </a:pPr>
            <a:r>
              <a:rPr sz="800" b="0" i="0">
                <a:solidFill>
                  <a:srgbClr val="7F7F7F"/>
                </a:solidFill>
                <a:latin typeface="Arial"/>
              </a:rPr>
              <a:t>3g</a:t>
            </a:r>
          </a:p>
        </p:txBody>
      </p:sp>
      <p:sp>
        <p:nvSpPr>
          <p:cNvPr id="168" name="TextBox 167"/>
          <p:cNvSpPr txBox="1"/>
          <p:nvPr/>
        </p:nvSpPr>
        <p:spPr>
          <a:xfrm>
            <a:off x="384048" y="5971032"/>
            <a:ext cx="868680" cy="228600"/>
          </a:xfrm>
          <a:prstGeom prst="rect">
            <a:avLst/>
          </a:prstGeom>
          <a:noFill/>
        </p:spPr>
        <p:txBody>
          <a:bodyPr wrap="square" anchor="t" lIns="36576" rIns="36576" tIns="21945" bIns="21945">
            <a:spAutoFit/>
          </a:bodyPr>
          <a:lstStyle/>
          <a:p>
            <a:pPr algn="l">
              <a:spcAft>
                <a:spcPts val="0"/>
              </a:spcAft>
            </a:pPr>
            <a:r>
              <a:rPr sz="800" b="1" i="0">
                <a:solidFill>
                  <a:srgbClr val="1F497D"/>
                </a:solidFill>
                <a:latin typeface="Arial"/>
              </a:rPr>
              <a:t>Our verdict:</a:t>
            </a:r>
          </a:p>
        </p:txBody>
      </p:sp>
      <p:sp>
        <p:nvSpPr>
          <p:cNvPr id="169" name="Rectangle 168"/>
          <p:cNvSpPr/>
          <p:nvPr/>
        </p:nvSpPr>
        <p:spPr>
          <a:xfrm>
            <a:off x="1252728" y="6016752"/>
            <a:ext cx="82296" cy="146304"/>
          </a:xfrm>
          <a:prstGeom prst="rect">
            <a:avLst/>
          </a:prstGeom>
          <a:solidFill>
            <a:srgbClr val="2E9E44"/>
          </a:solidFill>
          <a:ln>
            <a:noFill/>
          </a:ln>
        </p:spPr>
        <p:txBody>
          <a:bodyPr rtlCol="0" anchor="ctr"/>
          <a:lstStyle/>
          <a:p>
            <a:pPr algn="ctr"/>
          </a:p>
        </p:txBody>
      </p:sp>
      <p:sp>
        <p:nvSpPr>
          <p:cNvPr id="170" name="TextBox 169"/>
          <p:cNvSpPr txBox="1"/>
          <p:nvPr/>
        </p:nvSpPr>
        <p:spPr>
          <a:xfrm>
            <a:off x="1371600"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Supported</a:t>
            </a:r>
          </a:p>
        </p:txBody>
      </p:sp>
      <p:sp>
        <p:nvSpPr>
          <p:cNvPr id="171" name="Rectangle 170"/>
          <p:cNvSpPr/>
          <p:nvPr/>
        </p:nvSpPr>
        <p:spPr>
          <a:xfrm>
            <a:off x="2487168" y="6016752"/>
            <a:ext cx="82296" cy="146304"/>
          </a:xfrm>
          <a:prstGeom prst="rect">
            <a:avLst/>
          </a:prstGeom>
          <a:solidFill>
            <a:srgbClr val="F2A900"/>
          </a:solidFill>
          <a:ln>
            <a:noFill/>
          </a:ln>
        </p:spPr>
        <p:txBody>
          <a:bodyPr rtlCol="0" anchor="ctr"/>
          <a:lstStyle/>
          <a:p>
            <a:pPr algn="ctr"/>
          </a:p>
        </p:txBody>
      </p:sp>
      <p:sp>
        <p:nvSpPr>
          <p:cNvPr id="172" name="TextBox 171"/>
          <p:cNvSpPr txBox="1"/>
          <p:nvPr/>
        </p:nvSpPr>
        <p:spPr>
          <a:xfrm>
            <a:off x="2606039"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Partly supported</a:t>
            </a:r>
          </a:p>
        </p:txBody>
      </p:sp>
      <p:sp>
        <p:nvSpPr>
          <p:cNvPr id="173" name="Rectangle 172"/>
          <p:cNvSpPr/>
          <p:nvPr/>
        </p:nvSpPr>
        <p:spPr>
          <a:xfrm>
            <a:off x="3721608" y="6016752"/>
            <a:ext cx="82296" cy="146304"/>
          </a:xfrm>
          <a:prstGeom prst="rect">
            <a:avLst/>
          </a:prstGeom>
          <a:solidFill>
            <a:srgbClr val="D9262B"/>
          </a:solidFill>
          <a:ln>
            <a:noFill/>
          </a:ln>
        </p:spPr>
        <p:txBody>
          <a:bodyPr rtlCol="0" anchor="ctr"/>
          <a:lstStyle/>
          <a:p>
            <a:pPr algn="ctr"/>
          </a:p>
        </p:txBody>
      </p:sp>
      <p:sp>
        <p:nvSpPr>
          <p:cNvPr id="174" name="TextBox 173"/>
          <p:cNvSpPr txBox="1"/>
          <p:nvPr/>
        </p:nvSpPr>
        <p:spPr>
          <a:xfrm>
            <a:off x="3840480"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Contradicted</a:t>
            </a:r>
          </a:p>
        </p:txBody>
      </p:sp>
      <p:sp>
        <p:nvSpPr>
          <p:cNvPr id="175" name="Rectangle 174"/>
          <p:cNvSpPr/>
          <p:nvPr/>
        </p:nvSpPr>
        <p:spPr>
          <a:xfrm>
            <a:off x="4956048" y="6016752"/>
            <a:ext cx="82296" cy="146304"/>
          </a:xfrm>
          <a:prstGeom prst="rect">
            <a:avLst/>
          </a:prstGeom>
          <a:solidFill>
            <a:srgbClr val="FFFFFF"/>
          </a:solidFill>
          <a:ln w="9525">
            <a:solidFill>
              <a:srgbClr val="7F7F7F"/>
            </a:solidFill>
          </a:ln>
        </p:spPr>
        <p:txBody>
          <a:bodyPr rtlCol="0" anchor="ctr"/>
          <a:lstStyle/>
          <a:p>
            <a:pPr algn="ctr"/>
          </a:p>
        </p:txBody>
      </p:sp>
      <p:sp>
        <p:nvSpPr>
          <p:cNvPr id="176" name="TextBox 175"/>
          <p:cNvSpPr txBox="1"/>
          <p:nvPr/>
        </p:nvSpPr>
        <p:spPr>
          <a:xfrm>
            <a:off x="5074920" y="5971032"/>
            <a:ext cx="11887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Not yet tested</a:t>
            </a:r>
          </a:p>
        </p:txBody>
      </p:sp>
      <p:sp>
        <p:nvSpPr>
          <p:cNvPr id="177" name="TextBox 176"/>
          <p:cNvSpPr txBox="1"/>
          <p:nvPr/>
        </p:nvSpPr>
        <p:spPr>
          <a:xfrm>
            <a:off x="6373368" y="5971032"/>
            <a:ext cx="1280160" cy="228600"/>
          </a:xfrm>
          <a:prstGeom prst="rect">
            <a:avLst/>
          </a:prstGeom>
          <a:noFill/>
        </p:spPr>
        <p:txBody>
          <a:bodyPr wrap="square" anchor="t" lIns="36576" rIns="36576" tIns="21945" bIns="21945">
            <a:spAutoFit/>
          </a:bodyPr>
          <a:lstStyle/>
          <a:p>
            <a:pPr algn="l">
              <a:spcAft>
                <a:spcPts val="0"/>
              </a:spcAft>
            </a:pPr>
            <a:r>
              <a:rPr sz="800" b="1" i="0">
                <a:solidFill>
                  <a:srgbClr val="1F497D"/>
                </a:solidFill>
                <a:latin typeface="Arial"/>
              </a:rPr>
              <a:t>Evidence strength:</a:t>
            </a:r>
          </a:p>
        </p:txBody>
      </p:sp>
      <p:sp>
        <p:nvSpPr>
          <p:cNvPr id="178" name="Oval 177"/>
          <p:cNvSpPr/>
          <p:nvPr/>
        </p:nvSpPr>
        <p:spPr>
          <a:xfrm>
            <a:off x="7607808" y="6035040"/>
            <a:ext cx="82296" cy="82296"/>
          </a:xfrm>
          <a:prstGeom prst="ellipse">
            <a:avLst/>
          </a:prstGeom>
          <a:solidFill>
            <a:srgbClr val="1F497D"/>
          </a:solidFill>
          <a:ln w="9525">
            <a:solidFill>
              <a:srgbClr val="1F497D"/>
            </a:solidFill>
          </a:ln>
        </p:spPr>
        <p:txBody>
          <a:bodyPr rtlCol="0" anchor="ctr"/>
          <a:lstStyle/>
          <a:p>
            <a:pPr algn="ctr"/>
          </a:p>
        </p:txBody>
      </p:sp>
      <p:sp>
        <p:nvSpPr>
          <p:cNvPr id="179" name="Oval 178"/>
          <p:cNvSpPr/>
          <p:nvPr/>
        </p:nvSpPr>
        <p:spPr>
          <a:xfrm>
            <a:off x="7722108" y="6035040"/>
            <a:ext cx="82296" cy="82296"/>
          </a:xfrm>
          <a:prstGeom prst="ellipse">
            <a:avLst/>
          </a:prstGeom>
          <a:solidFill>
            <a:srgbClr val="1F497D"/>
          </a:solidFill>
          <a:ln w="9525">
            <a:solidFill>
              <a:srgbClr val="1F497D"/>
            </a:solidFill>
          </a:ln>
        </p:spPr>
        <p:txBody>
          <a:bodyPr rtlCol="0" anchor="ctr"/>
          <a:lstStyle/>
          <a:p>
            <a:pPr algn="ctr"/>
          </a:p>
        </p:txBody>
      </p:sp>
      <p:sp>
        <p:nvSpPr>
          <p:cNvPr id="180" name="Oval 179"/>
          <p:cNvSpPr/>
          <p:nvPr/>
        </p:nvSpPr>
        <p:spPr>
          <a:xfrm>
            <a:off x="7836408" y="6035040"/>
            <a:ext cx="82296" cy="82296"/>
          </a:xfrm>
          <a:prstGeom prst="ellipse">
            <a:avLst/>
          </a:prstGeom>
          <a:solidFill>
            <a:srgbClr val="1F497D"/>
          </a:solidFill>
          <a:ln w="9525">
            <a:solidFill>
              <a:srgbClr val="1F497D"/>
            </a:solidFill>
          </a:ln>
        </p:spPr>
        <p:txBody>
          <a:bodyPr rtlCol="0" anchor="ctr"/>
          <a:lstStyle/>
          <a:p>
            <a:pPr algn="ctr"/>
          </a:p>
        </p:txBody>
      </p:sp>
      <p:sp>
        <p:nvSpPr>
          <p:cNvPr id="181" name="TextBox 180"/>
          <p:cNvSpPr txBox="1"/>
          <p:nvPr/>
        </p:nvSpPr>
        <p:spPr>
          <a:xfrm>
            <a:off x="7936992" y="5971032"/>
            <a:ext cx="7315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Strong</a:t>
            </a:r>
          </a:p>
        </p:txBody>
      </p:sp>
      <p:sp>
        <p:nvSpPr>
          <p:cNvPr id="182" name="Oval 181"/>
          <p:cNvSpPr/>
          <p:nvPr/>
        </p:nvSpPr>
        <p:spPr>
          <a:xfrm>
            <a:off x="8613648" y="6035040"/>
            <a:ext cx="82296" cy="82296"/>
          </a:xfrm>
          <a:prstGeom prst="ellipse">
            <a:avLst/>
          </a:prstGeom>
          <a:solidFill>
            <a:srgbClr val="1F497D"/>
          </a:solidFill>
          <a:ln w="9525">
            <a:solidFill>
              <a:srgbClr val="1F497D"/>
            </a:solidFill>
          </a:ln>
        </p:spPr>
        <p:txBody>
          <a:bodyPr rtlCol="0" anchor="ctr"/>
          <a:lstStyle/>
          <a:p>
            <a:pPr algn="ctr"/>
          </a:p>
        </p:txBody>
      </p:sp>
      <p:sp>
        <p:nvSpPr>
          <p:cNvPr id="183" name="Oval 182"/>
          <p:cNvSpPr/>
          <p:nvPr/>
        </p:nvSpPr>
        <p:spPr>
          <a:xfrm>
            <a:off x="8727948" y="6035040"/>
            <a:ext cx="82296" cy="82296"/>
          </a:xfrm>
          <a:prstGeom prst="ellipse">
            <a:avLst/>
          </a:prstGeom>
          <a:solidFill>
            <a:srgbClr val="1F497D"/>
          </a:solidFill>
          <a:ln w="9525">
            <a:solidFill>
              <a:srgbClr val="1F497D"/>
            </a:solidFill>
          </a:ln>
        </p:spPr>
        <p:txBody>
          <a:bodyPr rtlCol="0" anchor="ctr"/>
          <a:lstStyle/>
          <a:p>
            <a:pPr algn="ctr"/>
          </a:p>
        </p:txBody>
      </p:sp>
      <p:sp>
        <p:nvSpPr>
          <p:cNvPr id="184" name="Oval 183"/>
          <p:cNvSpPr/>
          <p:nvPr/>
        </p:nvSpPr>
        <p:spPr>
          <a:xfrm>
            <a:off x="8842248" y="6035040"/>
            <a:ext cx="82296" cy="82296"/>
          </a:xfrm>
          <a:prstGeom prst="ellipse">
            <a:avLst/>
          </a:prstGeom>
          <a:solidFill>
            <a:srgbClr val="FFFFFF"/>
          </a:solidFill>
          <a:ln w="9525">
            <a:solidFill>
              <a:srgbClr val="1F497D"/>
            </a:solidFill>
          </a:ln>
        </p:spPr>
        <p:txBody>
          <a:bodyPr rtlCol="0" anchor="ctr"/>
          <a:lstStyle/>
          <a:p>
            <a:pPr algn="ctr"/>
          </a:p>
        </p:txBody>
      </p:sp>
      <p:sp>
        <p:nvSpPr>
          <p:cNvPr id="185" name="TextBox 184"/>
          <p:cNvSpPr txBox="1"/>
          <p:nvPr/>
        </p:nvSpPr>
        <p:spPr>
          <a:xfrm>
            <a:off x="8942832" y="5971032"/>
            <a:ext cx="7315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Moderate</a:t>
            </a:r>
          </a:p>
        </p:txBody>
      </p:sp>
      <p:sp>
        <p:nvSpPr>
          <p:cNvPr id="186" name="Oval 185"/>
          <p:cNvSpPr/>
          <p:nvPr/>
        </p:nvSpPr>
        <p:spPr>
          <a:xfrm>
            <a:off x="9619488" y="6035040"/>
            <a:ext cx="82296" cy="82296"/>
          </a:xfrm>
          <a:prstGeom prst="ellipse">
            <a:avLst/>
          </a:prstGeom>
          <a:solidFill>
            <a:srgbClr val="1F497D"/>
          </a:solidFill>
          <a:ln w="9525">
            <a:solidFill>
              <a:srgbClr val="1F497D"/>
            </a:solidFill>
          </a:ln>
        </p:spPr>
        <p:txBody>
          <a:bodyPr rtlCol="0" anchor="ctr"/>
          <a:lstStyle/>
          <a:p>
            <a:pPr algn="ctr"/>
          </a:p>
        </p:txBody>
      </p:sp>
      <p:sp>
        <p:nvSpPr>
          <p:cNvPr id="187" name="Oval 186"/>
          <p:cNvSpPr/>
          <p:nvPr/>
        </p:nvSpPr>
        <p:spPr>
          <a:xfrm>
            <a:off x="9733788" y="6035040"/>
            <a:ext cx="82296" cy="82296"/>
          </a:xfrm>
          <a:prstGeom prst="ellipse">
            <a:avLst/>
          </a:prstGeom>
          <a:solidFill>
            <a:srgbClr val="FFFFFF"/>
          </a:solidFill>
          <a:ln w="9525">
            <a:solidFill>
              <a:srgbClr val="1F497D"/>
            </a:solidFill>
          </a:ln>
        </p:spPr>
        <p:txBody>
          <a:bodyPr rtlCol="0" anchor="ctr"/>
          <a:lstStyle/>
          <a:p>
            <a:pPr algn="ctr"/>
          </a:p>
        </p:txBody>
      </p:sp>
      <p:sp>
        <p:nvSpPr>
          <p:cNvPr id="188" name="Oval 187"/>
          <p:cNvSpPr/>
          <p:nvPr/>
        </p:nvSpPr>
        <p:spPr>
          <a:xfrm>
            <a:off x="9848088" y="6035040"/>
            <a:ext cx="82296" cy="82296"/>
          </a:xfrm>
          <a:prstGeom prst="ellipse">
            <a:avLst/>
          </a:prstGeom>
          <a:solidFill>
            <a:srgbClr val="FFFFFF"/>
          </a:solidFill>
          <a:ln w="9525">
            <a:solidFill>
              <a:srgbClr val="1F497D"/>
            </a:solidFill>
          </a:ln>
        </p:spPr>
        <p:txBody>
          <a:bodyPr rtlCol="0" anchor="ctr"/>
          <a:lstStyle/>
          <a:p>
            <a:pPr algn="ctr"/>
          </a:p>
        </p:txBody>
      </p:sp>
      <p:sp>
        <p:nvSpPr>
          <p:cNvPr id="189" name="TextBox 188"/>
          <p:cNvSpPr txBox="1"/>
          <p:nvPr/>
        </p:nvSpPr>
        <p:spPr>
          <a:xfrm>
            <a:off x="9948672" y="5971032"/>
            <a:ext cx="731520" cy="228600"/>
          </a:xfrm>
          <a:prstGeom prst="rect">
            <a:avLst/>
          </a:prstGeom>
          <a:noFill/>
        </p:spPr>
        <p:txBody>
          <a:bodyPr wrap="square" anchor="t" lIns="36576" rIns="36576" tIns="21945" bIns="21945">
            <a:spAutoFit/>
          </a:bodyPr>
          <a:lstStyle/>
          <a:p>
            <a:pPr algn="l">
              <a:spcAft>
                <a:spcPts val="0"/>
              </a:spcAft>
            </a:pPr>
            <a:r>
              <a:rPr sz="800" b="0" i="0">
                <a:solidFill>
                  <a:srgbClr val="404040"/>
                </a:solidFill>
                <a:latin typeface="Arial"/>
              </a:rPr>
              <a:t>Thin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Five patterns recur across independent workstreams; they are the tests any recommendation must pass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CROSS-CUTTING THEMES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Infrastructure Report (Jun 2026); SME &amp; Community Inclusion Plan (Sep 2026); Stakeholder Insights Report (Mar 2026); Global Benchmarking Report (Mar 2026); Demand-Side Analysis (Jun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11420856" cy="841248"/>
          </a:xfrm>
          <a:prstGeom prst="rect">
            <a:avLst/>
          </a:prstGeom>
          <a:solidFill>
            <a:srgbClr val="F2F2F2"/>
          </a:solidFill>
          <a:ln>
            <a:noFill/>
          </a:ln>
        </p:spPr>
        <p:txBody>
          <a:bodyPr rtlCol="0" anchor="ctr"/>
          <a:lstStyle/>
          <a:p>
            <a:pPr algn="ctr"/>
          </a:p>
        </p:txBody>
      </p:sp>
      <p:sp>
        <p:nvSpPr>
          <p:cNvPr id="9" name="TextBox 8"/>
          <p:cNvSpPr txBox="1"/>
          <p:nvPr/>
        </p:nvSpPr>
        <p:spPr>
          <a:xfrm>
            <a:off x="502920" y="12344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01</a:t>
            </a:r>
          </a:p>
        </p:txBody>
      </p:sp>
      <p:sp>
        <p:nvSpPr>
          <p:cNvPr id="10" name="TextBox 9"/>
          <p:cNvSpPr txBox="1"/>
          <p:nvPr/>
        </p:nvSpPr>
        <p:spPr>
          <a:xfrm>
            <a:off x="1280160" y="13075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Conversion, not awareness, is the constraint</a:t>
            </a:r>
          </a:p>
        </p:txBody>
      </p:sp>
      <p:sp>
        <p:nvSpPr>
          <p:cNvPr id="11" name="TextBox 10"/>
          <p:cNvSpPr txBox="1"/>
          <p:nvPr/>
        </p:nvSpPr>
        <p:spPr>
          <a:xfrm>
            <a:off x="4937760" y="13075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Indian and Chinese travellers already reach Cape Town via hubs; rural product cannot be booked; communities sit beside demand with no seller.</a:t>
            </a:r>
          </a:p>
        </p:txBody>
      </p:sp>
      <p:sp>
        <p:nvSpPr>
          <p:cNvPr id="12" name="TextBox 11"/>
          <p:cNvSpPr txBox="1"/>
          <p:nvPr/>
        </p:nvSpPr>
        <p:spPr>
          <a:xfrm>
            <a:off x="9601200" y="13075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MIDAS; Infrastructure; SME plan</a:t>
            </a:r>
          </a:p>
        </p:txBody>
      </p:sp>
      <p:sp>
        <p:nvSpPr>
          <p:cNvPr id="13" name="Rectangle 12"/>
          <p:cNvSpPr/>
          <p:nvPr/>
        </p:nvSpPr>
        <p:spPr>
          <a:xfrm>
            <a:off x="384048" y="2148840"/>
            <a:ext cx="11420856" cy="841248"/>
          </a:xfrm>
          <a:prstGeom prst="rect">
            <a:avLst/>
          </a:prstGeom>
          <a:solidFill>
            <a:srgbClr val="F2F2F2"/>
          </a:solidFill>
          <a:ln>
            <a:noFill/>
          </a:ln>
        </p:spPr>
        <p:txBody>
          <a:bodyPr rtlCol="0" anchor="ctr"/>
          <a:lstStyle/>
          <a:p>
            <a:pPr algn="ctr"/>
          </a:p>
        </p:txBody>
      </p:sp>
      <p:sp>
        <p:nvSpPr>
          <p:cNvPr id="14" name="TextBox 13"/>
          <p:cNvSpPr txBox="1"/>
          <p:nvPr/>
        </p:nvSpPr>
        <p:spPr>
          <a:xfrm>
            <a:off x="502920" y="21488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02</a:t>
            </a:r>
          </a:p>
        </p:txBody>
      </p:sp>
      <p:sp>
        <p:nvSpPr>
          <p:cNvPr id="15" name="TextBox 14"/>
          <p:cNvSpPr txBox="1"/>
          <p:nvPr/>
        </p:nvSpPr>
        <p:spPr>
          <a:xfrm>
            <a:off x="1280160" y="22219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Idle venues, not idle seats, are the winter opportunity</a:t>
            </a:r>
          </a:p>
        </p:txBody>
      </p:sp>
      <p:sp>
        <p:nvSpPr>
          <p:cNvPr id="16" name="TextBox 15"/>
          <p:cNvSpPr txBox="1"/>
          <p:nvPr/>
        </p:nvSpPr>
        <p:spPr>
          <a:xfrm>
            <a:off x="4937760" y="22219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Airlines withdraw winter seats; venues and beds sit idle; conferences already peak in September to November.</a:t>
            </a:r>
          </a:p>
        </p:txBody>
      </p:sp>
      <p:sp>
        <p:nvSpPr>
          <p:cNvPr id="17" name="TextBox 16"/>
          <p:cNvSpPr txBox="1"/>
          <p:nvPr/>
        </p:nvSpPr>
        <p:spPr>
          <a:xfrm>
            <a:off x="9601200" y="22219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MIDAS; Demand-Side; Stakeholders</a:t>
            </a:r>
          </a:p>
        </p:txBody>
      </p:sp>
      <p:sp>
        <p:nvSpPr>
          <p:cNvPr id="18" name="Rectangle 17"/>
          <p:cNvSpPr/>
          <p:nvPr/>
        </p:nvSpPr>
        <p:spPr>
          <a:xfrm>
            <a:off x="384048" y="3063240"/>
            <a:ext cx="11420856" cy="841248"/>
          </a:xfrm>
          <a:prstGeom prst="rect">
            <a:avLst/>
          </a:prstGeom>
          <a:solidFill>
            <a:srgbClr val="F2F2F2"/>
          </a:solidFill>
          <a:ln>
            <a:noFill/>
          </a:ln>
        </p:spPr>
        <p:txBody>
          <a:bodyPr rtlCol="0" anchor="ctr"/>
          <a:lstStyle/>
          <a:p>
            <a:pPr algn="ctr"/>
          </a:p>
        </p:txBody>
      </p:sp>
      <p:sp>
        <p:nvSpPr>
          <p:cNvPr id="19" name="TextBox 18"/>
          <p:cNvSpPr txBox="1"/>
          <p:nvPr/>
        </p:nvSpPr>
        <p:spPr>
          <a:xfrm>
            <a:off x="502920" y="30632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03</a:t>
            </a:r>
          </a:p>
        </p:txBody>
      </p:sp>
      <p:sp>
        <p:nvSpPr>
          <p:cNvPr id="20" name="TextBox 19"/>
          <p:cNvSpPr txBox="1"/>
          <p:nvPr/>
        </p:nvSpPr>
        <p:spPr>
          <a:xfrm>
            <a:off x="1280160" y="31363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Growth stays in Cape Town unless pulled out</a:t>
            </a:r>
          </a:p>
        </p:txBody>
      </p:sp>
      <p:sp>
        <p:nvSpPr>
          <p:cNvPr id="21" name="TextBox 20"/>
          <p:cNvSpPr txBox="1"/>
          <p:nvPr/>
        </p:nvSpPr>
        <p:spPr>
          <a:xfrm>
            <a:off x="4937760" y="31363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Attractiveness holds outside the Metro but accessibility collapses; the N2 is a single spine.</a:t>
            </a:r>
          </a:p>
        </p:txBody>
      </p:sp>
      <p:sp>
        <p:nvSpPr>
          <p:cNvPr id="22" name="TextBox 21"/>
          <p:cNvSpPr txBox="1"/>
          <p:nvPr/>
        </p:nvSpPr>
        <p:spPr>
          <a:xfrm>
            <a:off x="9601200" y="31363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Infrastructure; factbases</a:t>
            </a:r>
          </a:p>
        </p:txBody>
      </p:sp>
      <p:sp>
        <p:nvSpPr>
          <p:cNvPr id="23" name="Rectangle 22"/>
          <p:cNvSpPr/>
          <p:nvPr/>
        </p:nvSpPr>
        <p:spPr>
          <a:xfrm>
            <a:off x="384048" y="3977639"/>
            <a:ext cx="11420856" cy="841248"/>
          </a:xfrm>
          <a:prstGeom prst="rect">
            <a:avLst/>
          </a:prstGeom>
          <a:solidFill>
            <a:srgbClr val="F2F2F2"/>
          </a:solidFill>
          <a:ln>
            <a:noFill/>
          </a:ln>
        </p:spPr>
        <p:txBody>
          <a:bodyPr rtlCol="0" anchor="ctr"/>
          <a:lstStyle/>
          <a:p>
            <a:pPr algn="ctr"/>
          </a:p>
        </p:txBody>
      </p:sp>
      <p:sp>
        <p:nvSpPr>
          <p:cNvPr id="24" name="TextBox 23"/>
          <p:cNvSpPr txBox="1"/>
          <p:nvPr/>
        </p:nvSpPr>
        <p:spPr>
          <a:xfrm>
            <a:off x="502920" y="3977639"/>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04</a:t>
            </a:r>
          </a:p>
        </p:txBody>
      </p:sp>
      <p:sp>
        <p:nvSpPr>
          <p:cNvPr id="25" name="TextBox 24"/>
          <p:cNvSpPr txBox="1"/>
          <p:nvPr/>
        </p:nvSpPr>
        <p:spPr>
          <a:xfrm>
            <a:off x="1280160" y="4050791"/>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Air growth now has to be bought</a:t>
            </a:r>
          </a:p>
        </p:txBody>
      </p:sp>
      <p:sp>
        <p:nvSpPr>
          <p:cNvPr id="26" name="TextBox 25"/>
          <p:cNvSpPr txBox="1"/>
          <p:nvPr/>
        </p:nvSpPr>
        <p:spPr>
          <a:xfrm>
            <a:off x="4937760" y="4050791"/>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Cape Town wins routes, but airlines on mature routes will raise fares before seats; benchmarks fund route risk.</a:t>
            </a:r>
          </a:p>
        </p:txBody>
      </p:sp>
      <p:sp>
        <p:nvSpPr>
          <p:cNvPr id="27" name="TextBox 26"/>
          <p:cNvSpPr txBox="1"/>
          <p:nvPr/>
        </p:nvSpPr>
        <p:spPr>
          <a:xfrm>
            <a:off x="9601200" y="4050791"/>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MIDAS; Benchmarks</a:t>
            </a:r>
          </a:p>
        </p:txBody>
      </p:sp>
      <p:sp>
        <p:nvSpPr>
          <p:cNvPr id="28" name="Rectangle 27"/>
          <p:cNvSpPr/>
          <p:nvPr/>
        </p:nvSpPr>
        <p:spPr>
          <a:xfrm>
            <a:off x="384048" y="4892040"/>
            <a:ext cx="11420856" cy="841248"/>
          </a:xfrm>
          <a:prstGeom prst="rect">
            <a:avLst/>
          </a:prstGeom>
          <a:solidFill>
            <a:srgbClr val="F2F2F2"/>
          </a:solidFill>
          <a:ln>
            <a:noFill/>
          </a:ln>
        </p:spPr>
        <p:txBody>
          <a:bodyPr rtlCol="0" anchor="ctr"/>
          <a:lstStyle/>
          <a:p>
            <a:pPr algn="ctr"/>
          </a:p>
        </p:txBody>
      </p:sp>
      <p:sp>
        <p:nvSpPr>
          <p:cNvPr id="29" name="TextBox 28"/>
          <p:cNvSpPr txBox="1"/>
          <p:nvPr/>
        </p:nvSpPr>
        <p:spPr>
          <a:xfrm>
            <a:off x="502920" y="4892040"/>
            <a:ext cx="731520" cy="841248"/>
          </a:xfrm>
          <a:prstGeom prst="rect">
            <a:avLst/>
          </a:prstGeom>
          <a:noFill/>
        </p:spPr>
        <p:txBody>
          <a:bodyPr wrap="square" anchor="ctr" lIns="36576" rIns="36576" tIns="21945" bIns="21945">
            <a:spAutoFit/>
          </a:bodyPr>
          <a:lstStyle/>
          <a:p>
            <a:pPr algn="l">
              <a:spcAft>
                <a:spcPts val="0"/>
              </a:spcAft>
            </a:pPr>
            <a:r>
              <a:rPr sz="2600" b="1" i="0">
                <a:solidFill>
                  <a:srgbClr val="00AEEF"/>
                </a:solidFill>
                <a:latin typeface="Arial"/>
              </a:rPr>
              <a:t>05</a:t>
            </a:r>
          </a:p>
        </p:txBody>
      </p:sp>
      <p:sp>
        <p:nvSpPr>
          <p:cNvPr id="30" name="TextBox 29"/>
          <p:cNvSpPr txBox="1"/>
          <p:nvPr/>
        </p:nvSpPr>
        <p:spPr>
          <a:xfrm>
            <a:off x="1280160" y="4965192"/>
            <a:ext cx="3566160" cy="731520"/>
          </a:xfrm>
          <a:prstGeom prst="rect">
            <a:avLst/>
          </a:prstGeom>
          <a:noFill/>
        </p:spPr>
        <p:txBody>
          <a:bodyPr wrap="square" anchor="ctr" lIns="36576" rIns="36576" tIns="21945" bIns="21945">
            <a:spAutoFit/>
          </a:bodyPr>
          <a:lstStyle/>
          <a:p>
            <a:pPr algn="l">
              <a:spcAft>
                <a:spcPts val="0"/>
              </a:spcAft>
            </a:pPr>
            <a:r>
              <a:rPr sz="1250" b="1" i="0">
                <a:solidFill>
                  <a:srgbClr val="1F497D"/>
                </a:solidFill>
                <a:latin typeface="Arial"/>
              </a:rPr>
              <a:t>The decisive levers sit outside Wesgro</a:t>
            </a:r>
          </a:p>
        </p:txBody>
      </p:sp>
      <p:sp>
        <p:nvSpPr>
          <p:cNvPr id="31" name="TextBox 30"/>
          <p:cNvSpPr txBox="1"/>
          <p:nvPr/>
        </p:nvSpPr>
        <p:spPr>
          <a:xfrm>
            <a:off x="4937760" y="4965192"/>
            <a:ext cx="4572000" cy="731520"/>
          </a:xfrm>
          <a:prstGeom prst="rect">
            <a:avLst/>
          </a:prstGeom>
          <a:noFill/>
        </p:spPr>
        <p:txBody>
          <a:bodyPr wrap="square" anchor="ctr" lIns="36576" rIns="36576" tIns="21945" bIns="21945">
            <a:spAutoFit/>
          </a:bodyPr>
          <a:lstStyle/>
          <a:p>
            <a:pPr algn="l">
              <a:spcAft>
                <a:spcPts val="0"/>
              </a:spcAft>
            </a:pPr>
            <a:r>
              <a:rPr sz="1050" b="0" i="0">
                <a:solidFill>
                  <a:srgbClr val="404040"/>
                </a:solidFill>
                <a:latin typeface="Arial"/>
              </a:rPr>
              <a:t>Air rights, visas, policing, rail and municipal funding are national or municipal; coordination is proposed, not operating.</a:t>
            </a:r>
          </a:p>
        </p:txBody>
      </p:sp>
      <p:sp>
        <p:nvSpPr>
          <p:cNvPr id="32" name="TextBox 31"/>
          <p:cNvSpPr txBox="1"/>
          <p:nvPr/>
        </p:nvSpPr>
        <p:spPr>
          <a:xfrm>
            <a:off x="9601200" y="4965192"/>
            <a:ext cx="2148840" cy="731520"/>
          </a:xfrm>
          <a:prstGeom prst="rect">
            <a:avLst/>
          </a:prstGeom>
          <a:noFill/>
        </p:spPr>
        <p:txBody>
          <a:bodyPr wrap="square" anchor="ctr" lIns="36576" rIns="36576" tIns="21945" bIns="21945">
            <a:spAutoFit/>
          </a:bodyPr>
          <a:lstStyle/>
          <a:p>
            <a:pPr algn="l">
              <a:spcAft>
                <a:spcPts val="0"/>
              </a:spcAft>
            </a:pPr>
            <a:r>
              <a:rPr sz="850" b="0" i="1">
                <a:solidFill>
                  <a:srgbClr val="7F7F7F"/>
                </a:solidFill>
                <a:latin typeface="Arial"/>
              </a:rPr>
              <a:t>Evidence: Factbases; Stakeholders; Benchmarks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Seven tensions need a team position before we draft; two of them are conflicts between our own moves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TENSIONS AND TRADE-OFFS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Stakeholder Insights Report (Mar 2026) pp24, 36, 39; Demand-Side Analysis (Jun 2026); MIDAS Aviation Market Assessment (Mar 2026); Global Benchmarking Report (Mar 2026)</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535424"/>
        </p:xfrm>
        <a:graphic>
          <a:graphicData uri="http://schemas.openxmlformats.org/drawingml/2006/table">
            <a:tbl>
              <a:tblPr firstRow="1" bandRow="0">
                <a:tableStyleId>{5C22544A-7EE6-4342-B048-85BDC9FD1C3A}</a:tableStyleId>
              </a:tblPr>
              <a:tblGrid>
                <a:gridCol w="2194560"/>
                <a:gridCol w="4937760"/>
                <a:gridCol w="4288536"/>
              </a:tblGrid>
              <a:tr h="566928">
                <a:tc>
                  <a:txBody>
                    <a:bodyPr wrap="square"/>
                    <a:lstStyle/>
                    <a:p>
                      <a:pPr algn="l"/>
                      <a:r>
                        <a:rPr sz="1000" b="1" i="0">
                          <a:solidFill>
                            <a:srgbClr val="FFFFFF"/>
                          </a:solidFill>
                          <a:latin typeface="Arial"/>
                        </a:rPr>
                        <a:t>Tension</a:t>
                      </a:r>
                    </a:p>
                  </a:txBody>
                  <a:tcPr marL="54864" marR="54864" marT="27432" marB="27432" anchor="ctr">
                    <a:solidFill>
                      <a:srgbClr val="1F497D"/>
                    </a:solidFill>
                  </a:tcPr>
                </a:tc>
                <a:tc>
                  <a:txBody>
                    <a:bodyPr wrap="square"/>
                    <a:lstStyle/>
                    <a:p>
                      <a:pPr algn="l"/>
                      <a:r>
                        <a:rPr sz="1000" b="1" i="0">
                          <a:solidFill>
                            <a:srgbClr val="FFFFFF"/>
                          </a:solidFill>
                          <a:latin typeface="Arial"/>
                        </a:rPr>
                        <a:t>What pulls each way</a:t>
                      </a:r>
                    </a:p>
                  </a:txBody>
                  <a:tcPr marL="54864" marR="54864" marT="27432" marB="27432" anchor="ctr">
                    <a:solidFill>
                      <a:srgbClr val="1F497D"/>
                    </a:solidFill>
                  </a:tcPr>
                </a:tc>
                <a:tc>
                  <a:txBody>
                    <a:bodyPr wrap="square"/>
                    <a:lstStyle/>
                    <a:p>
                      <a:pPr algn="l"/>
                      <a:r>
                        <a:rPr sz="1000" b="1" i="0">
                          <a:solidFill>
                            <a:srgbClr val="FFFFFF"/>
                          </a:solidFill>
                          <a:latin typeface="Arial"/>
                        </a:rPr>
                        <a:t>Proposed default for discussion</a:t>
                      </a:r>
                    </a:p>
                  </a:txBody>
                  <a:tcPr marL="54864" marR="54864" marT="27432" marB="27432" anchor="ctr">
                    <a:solidFill>
                      <a:srgbClr val="1F497D"/>
                    </a:solidFill>
                  </a:tcPr>
                </a:tc>
              </a:tr>
              <a:tr h="566928">
                <a:tc>
                  <a:txBody>
                    <a:bodyPr wrap="square"/>
                    <a:lstStyle/>
                    <a:p>
                      <a:pPr algn="l"/>
                      <a:r>
                        <a:rPr sz="1000" b="1" i="0">
                          <a:solidFill>
                            <a:srgbClr val="1F497D"/>
                          </a:solidFill>
                          <a:latin typeface="Arial"/>
                        </a:rPr>
                        <a:t>Volume or value?</a:t>
                      </a:r>
                    </a:p>
                  </a:txBody>
                  <a:tcPr marL="54864" marR="54864" marT="27432" marB="27432" anchor="ctr">
                    <a:solidFill>
                      <a:srgbClr val="FFFFFF"/>
                    </a:solidFill>
                  </a:tcPr>
                </a:tc>
                <a:tc>
                  <a:txBody>
                    <a:bodyPr wrap="square"/>
                    <a:lstStyle/>
                    <a:p>
                      <a:pPr algn="l"/>
                      <a:r>
                        <a:rPr sz="1000" b="0" i="0">
                          <a:solidFill>
                            <a:srgbClr val="404040"/>
                          </a:solidFill>
                          <a:latin typeface="Arial"/>
                        </a:rPr>
                        <a:t>An arrivals target drives volume; DEDAT and the NZ and Valencia benchmarks argue for spend and yield.</a:t>
                      </a:r>
                    </a:p>
                  </a:txBody>
                  <a:tcPr marL="54864" marR="54864" marT="27432" marB="27432" anchor="ctr">
                    <a:solidFill>
                      <a:srgbClr val="FFFFFF"/>
                    </a:solidFill>
                  </a:tcPr>
                </a:tc>
                <a:tc>
                  <a:txBody>
                    <a:bodyPr wrap="square"/>
                    <a:lstStyle/>
                    <a:p>
                      <a:pPr algn="l"/>
                      <a:r>
                        <a:rPr sz="1000" b="0" i="0">
                          <a:solidFill>
                            <a:srgbClr val="1F497D"/>
                          </a:solidFill>
                          <a:latin typeface="Arial"/>
                        </a:rPr>
                        <a:t>Keep arrivals as the headline; add spend per visitor and length of stay as co-equal KPIs.</a:t>
                      </a:r>
                    </a:p>
                  </a:txBody>
                  <a:tcPr marL="54864" marR="54864" marT="27432" marB="27432" anchor="ctr">
                    <a:solidFill>
                      <a:srgbClr val="FFFFFF"/>
                    </a:solidFill>
                  </a:tcPr>
                </a:tc>
              </a:tr>
              <a:tr h="566928">
                <a:tc>
                  <a:txBody>
                    <a:bodyPr wrap="square"/>
                    <a:lstStyle/>
                    <a:p>
                      <a:pPr algn="l"/>
                      <a:r>
                        <a:rPr sz="1000" b="1" i="0">
                          <a:solidFill>
                            <a:srgbClr val="1F497D"/>
                          </a:solidFill>
                          <a:latin typeface="Arial"/>
                        </a:rPr>
                        <a:t>New markets or mature markets?</a:t>
                      </a:r>
                    </a:p>
                  </a:txBody>
                  <a:tcPr marL="54864" marR="54864" marT="27432" marB="27432" anchor="ctr">
                    <a:solidFill>
                      <a:srgbClr val="F2F2F2"/>
                    </a:solidFill>
                  </a:tcPr>
                </a:tc>
                <a:tc>
                  <a:txBody>
                    <a:bodyPr wrap="square"/>
                    <a:lstStyle/>
                    <a:p>
                      <a:pPr algn="l"/>
                      <a:r>
                        <a:rPr sz="1000" b="0" i="0">
                          <a:solidFill>
                            <a:srgbClr val="404040"/>
                          </a:solidFill>
                          <a:latin typeface="Arial"/>
                        </a:rPr>
                        <a:t>India and China are post-2030 for direct air; mature routes run above 80% load.</a:t>
                      </a:r>
                    </a:p>
                  </a:txBody>
                  <a:tcPr marL="54864" marR="54864" marT="27432" marB="27432" anchor="ctr">
                    <a:solidFill>
                      <a:srgbClr val="F2F2F2"/>
                    </a:solidFill>
                  </a:tcPr>
                </a:tc>
                <a:tc>
                  <a:txBody>
                    <a:bodyPr wrap="square"/>
                    <a:lstStyle/>
                    <a:p>
                      <a:pPr algn="l"/>
                      <a:r>
                        <a:rPr sz="1000" b="0" i="0">
                          <a:solidFill>
                            <a:srgbClr val="1F497D"/>
                          </a:solidFill>
                          <a:latin typeface="Arial"/>
                        </a:rPr>
                        <a:t>Deepen mature and regional routes now; build India and China through hubs.</a:t>
                      </a:r>
                    </a:p>
                  </a:txBody>
                  <a:tcPr marL="54864" marR="54864" marT="27432" marB="27432" anchor="ctr">
                    <a:solidFill>
                      <a:srgbClr val="F2F2F2"/>
                    </a:solidFill>
                  </a:tcPr>
                </a:tc>
              </a:tr>
              <a:tr h="566928">
                <a:tc>
                  <a:txBody>
                    <a:bodyPr wrap="square"/>
                    <a:lstStyle/>
                    <a:p>
                      <a:pPr algn="l"/>
                      <a:r>
                        <a:rPr sz="1000" b="1" i="0">
                          <a:solidFill>
                            <a:srgbClr val="1F497D"/>
                          </a:solidFill>
                          <a:latin typeface="Arial"/>
                        </a:rPr>
                        <a:t>Growth or carrying capacity?</a:t>
                      </a:r>
                    </a:p>
                  </a:txBody>
                  <a:tcPr marL="54864" marR="54864" marT="27432" marB="27432" anchor="ctr">
                    <a:solidFill>
                      <a:srgbClr val="FFFFFF"/>
                    </a:solidFill>
                  </a:tcPr>
                </a:tc>
                <a:tc>
                  <a:txBody>
                    <a:bodyPr wrap="square"/>
                    <a:lstStyle/>
                    <a:p>
                      <a:pPr algn="l"/>
                      <a:r>
                        <a:rPr sz="1000" b="0" i="0">
                          <a:solidFill>
                            <a:srgbClr val="404040"/>
                          </a:solidFill>
                          <a:latin typeface="Arial"/>
                        </a:rPr>
                        <a:t>Flagship nature sites are at capacity; more volume there is "neither feasible nor desirable".</a:t>
                      </a:r>
                    </a:p>
                  </a:txBody>
                  <a:tcPr marL="54864" marR="54864" marT="27432" marB="27432" anchor="ctr">
                    <a:solidFill>
                      <a:srgbClr val="FFFFFF"/>
                    </a:solidFill>
                  </a:tcPr>
                </a:tc>
                <a:tc>
                  <a:txBody>
                    <a:bodyPr wrap="square"/>
                    <a:lstStyle/>
                    <a:p>
                      <a:pPr algn="l"/>
                      <a:r>
                        <a:rPr sz="1000" b="0" i="0">
                          <a:solidFill>
                            <a:srgbClr val="1F497D"/>
                          </a:solidFill>
                          <a:latin typeface="Arial"/>
                        </a:rPr>
                        <a:t>Route growth to under-used assets and corridors; cap flagship peaks.</a:t>
                      </a:r>
                    </a:p>
                  </a:txBody>
                  <a:tcPr marL="54864" marR="54864" marT="27432" marB="27432" anchor="ctr">
                    <a:solidFill>
                      <a:srgbClr val="FFFFFF"/>
                    </a:solidFill>
                  </a:tcPr>
                </a:tc>
              </a:tr>
              <a:tr h="566928">
                <a:tc>
                  <a:txBody>
                    <a:bodyPr wrap="square"/>
                    <a:lstStyle/>
                    <a:p>
                      <a:pPr algn="l"/>
                      <a:r>
                        <a:rPr sz="1000" b="1" i="0">
                          <a:solidFill>
                            <a:srgbClr val="1F497D"/>
                          </a:solidFill>
                          <a:latin typeface="Arial"/>
                        </a:rPr>
                        <a:t>Build or activate?</a:t>
                      </a:r>
                    </a:p>
                  </a:txBody>
                  <a:tcPr marL="54864" marR="54864" marT="27432" marB="27432" anchor="ctr">
                    <a:solidFill>
                      <a:srgbClr val="F2F2F2"/>
                    </a:solidFill>
                  </a:tcPr>
                </a:tc>
                <a:tc>
                  <a:txBody>
                    <a:bodyPr wrap="square"/>
                    <a:lstStyle/>
                    <a:p>
                      <a:pPr algn="l"/>
                      <a:r>
                        <a:rPr sz="1000" b="0" i="0">
                          <a:solidFill>
                            <a:srgbClr val="404040"/>
                          </a:solidFill>
                          <a:latin typeface="Arial"/>
                        </a:rPr>
                        <a:t>Kliptown spent ~R497m before an operator; inactivated assets need operators, not buildings.</a:t>
                      </a:r>
                    </a:p>
                  </a:txBody>
                  <a:tcPr marL="54864" marR="54864" marT="27432" marB="27432" anchor="ctr">
                    <a:solidFill>
                      <a:srgbClr val="F2F2F2"/>
                    </a:solidFill>
                  </a:tcPr>
                </a:tc>
                <a:tc>
                  <a:txBody>
                    <a:bodyPr wrap="square"/>
                    <a:lstStyle/>
                    <a:p>
                      <a:pPr algn="l"/>
                      <a:r>
                        <a:rPr sz="1000" b="0" i="0">
                          <a:solidFill>
                            <a:srgbClr val="1F497D"/>
                          </a:solidFill>
                          <a:latin typeface="Arial"/>
                        </a:rPr>
                        <a:t>Activate and list first; capital follows proven demand.</a:t>
                      </a:r>
                    </a:p>
                  </a:txBody>
                  <a:tcPr marL="54864" marR="54864" marT="27432" marB="27432" anchor="ctr">
                    <a:solidFill>
                      <a:srgbClr val="F2F2F2"/>
                    </a:solidFill>
                  </a:tcPr>
                </a:tc>
              </a:tr>
              <a:tr h="566928">
                <a:tc>
                  <a:txBody>
                    <a:bodyPr wrap="square"/>
                    <a:lstStyle/>
                    <a:p>
                      <a:pPr algn="l"/>
                      <a:r>
                        <a:rPr sz="1000" b="1" i="0">
                          <a:solidFill>
                            <a:srgbClr val="1F497D"/>
                          </a:solidFill>
                          <a:latin typeface="Arial"/>
                        </a:rPr>
                        <a:t>Lead or enable?</a:t>
                      </a:r>
                    </a:p>
                  </a:txBody>
                  <a:tcPr marL="54864" marR="54864" marT="27432" marB="27432" anchor="ctr">
                    <a:solidFill>
                      <a:srgbClr val="FFFFFF"/>
                    </a:solidFill>
                  </a:tcPr>
                </a:tc>
                <a:tc>
                  <a:txBody>
                    <a:bodyPr wrap="square"/>
                    <a:lstStyle/>
                    <a:p>
                      <a:pPr algn="l"/>
                      <a:r>
                        <a:rPr sz="1000" b="0" i="0">
                          <a:solidFill>
                            <a:srgbClr val="404040"/>
                          </a:solidFill>
                          <a:latin typeface="Arial"/>
                        </a:rPr>
                        <a:t>Wesgro owns few of the decisive levers but carries the target.</a:t>
                      </a:r>
                    </a:p>
                  </a:txBody>
                  <a:tcPr marL="54864" marR="54864" marT="27432" marB="27432" anchor="ctr">
                    <a:solidFill>
                      <a:srgbClr val="FFFFFF"/>
                    </a:solidFill>
                  </a:tcPr>
                </a:tc>
                <a:tc>
                  <a:txBody>
                    <a:bodyPr wrap="square"/>
                    <a:lstStyle/>
                    <a:p>
                      <a:pPr algn="l"/>
                      <a:r>
                        <a:rPr sz="1000" b="0" i="0">
                          <a:solidFill>
                            <a:srgbClr val="1F497D"/>
                          </a:solidFill>
                          <a:latin typeface="Arial"/>
                        </a:rPr>
                        <a:t>Wesgro orchestrates and advocates; owners are named by tier.</a:t>
                      </a:r>
                    </a:p>
                  </a:txBody>
                  <a:tcPr marL="54864" marR="54864" marT="27432" marB="27432" anchor="ctr">
                    <a:solidFill>
                      <a:srgbClr val="FFFFFF"/>
                    </a:solidFill>
                  </a:tcPr>
                </a:tc>
              </a:tr>
              <a:tr h="566928">
                <a:tc>
                  <a:txBody>
                    <a:bodyPr wrap="square"/>
                    <a:lstStyle/>
                    <a:p>
                      <a:pPr algn="l"/>
                      <a:r>
                        <a:rPr sz="1000" b="1" i="0">
                          <a:solidFill>
                            <a:srgbClr val="1F497D"/>
                          </a:solidFill>
                          <a:latin typeface="Arial"/>
                        </a:rPr>
                        <a:t>Winter volume or flagship limits?</a:t>
                      </a:r>
                    </a:p>
                  </a:txBody>
                  <a:tcPr marL="54864" marR="54864" marT="27432" marB="27432" anchor="ctr">
                    <a:solidFill>
                      <a:srgbClr val="F2F2F2"/>
                    </a:solidFill>
                  </a:tcPr>
                </a:tc>
                <a:tc>
                  <a:txBody>
                    <a:bodyPr wrap="square"/>
                    <a:lstStyle/>
                    <a:p>
                      <a:pPr algn="l"/>
                      <a:r>
                        <a:rPr sz="1000" b="0" i="0">
                          <a:solidFill>
                            <a:srgbClr val="404040"/>
                          </a:solidFill>
                          <a:latin typeface="Arial"/>
                        </a:rPr>
                        <a:t>A green-season engine adds volume; Boulders and the summit are at capacity even now.</a:t>
                      </a:r>
                    </a:p>
                  </a:txBody>
                  <a:tcPr marL="54864" marR="54864" marT="27432" marB="27432" anchor="ctr">
                    <a:solidFill>
                      <a:srgbClr val="F2F2F2"/>
                    </a:solidFill>
                  </a:tcPr>
                </a:tc>
                <a:tc>
                  <a:txBody>
                    <a:bodyPr wrap="square"/>
                    <a:lstStyle/>
                    <a:p>
                      <a:pPr algn="l"/>
                      <a:r>
                        <a:rPr sz="1000" b="0" i="0">
                          <a:solidFill>
                            <a:srgbClr val="1F497D"/>
                          </a:solidFill>
                          <a:latin typeface="Arial"/>
                        </a:rPr>
                        <a:t>Programme winter demand into venues, regions and under-used reserves, not flagship sites.</a:t>
                      </a:r>
                    </a:p>
                  </a:txBody>
                  <a:tcPr marL="54864" marR="54864" marT="27432" marB="27432" anchor="ctr">
                    <a:solidFill>
                      <a:srgbClr val="F2F2F2"/>
                    </a:solidFill>
                  </a:tcPr>
                </a:tc>
              </a:tr>
              <a:tr h="566928">
                <a:tc>
                  <a:txBody>
                    <a:bodyPr wrap="square"/>
                    <a:lstStyle/>
                    <a:p>
                      <a:pPr algn="l"/>
                      <a:r>
                        <a:rPr sz="1000" b="1" i="0">
                          <a:solidFill>
                            <a:srgbClr val="1F497D"/>
                          </a:solidFill>
                          <a:latin typeface="Arial"/>
                        </a:rPr>
                        <a:t>Marketing to routes or to regions?</a:t>
                      </a:r>
                    </a:p>
                  </a:txBody>
                  <a:tcPr marL="54864" marR="54864" marT="27432" marB="27432" anchor="ctr">
                    <a:solidFill>
                      <a:srgbClr val="FFFFFF"/>
                    </a:solidFill>
                  </a:tcPr>
                </a:tc>
                <a:tc>
                  <a:txBody>
                    <a:bodyPr wrap="square"/>
                    <a:lstStyle/>
                    <a:p>
                      <a:pPr algn="l"/>
                      <a:r>
                        <a:rPr sz="1000" b="0" i="0">
                          <a:solidFill>
                            <a:srgbClr val="404040"/>
                          </a:solidFill>
                          <a:latin typeface="Arial"/>
                        </a:rPr>
                        <a:t>Route-accountable marketing favours Cape Town gateways; dispersal needs regional sell.</a:t>
                      </a:r>
                    </a:p>
                  </a:txBody>
                  <a:tcPr marL="54864" marR="54864" marT="27432" marB="27432" anchor="ctr">
                    <a:solidFill>
                      <a:srgbClr val="FFFFFF"/>
                    </a:solidFill>
                  </a:tcPr>
                </a:tc>
                <a:tc>
                  <a:txBody>
                    <a:bodyPr wrap="square"/>
                    <a:lstStyle/>
                    <a:p>
                      <a:pPr algn="l"/>
                      <a:r>
                        <a:rPr sz="1000" b="0" i="0">
                          <a:solidFill>
                            <a:srgbClr val="1F497D"/>
                          </a:solidFill>
                          <a:latin typeface="Arial"/>
                        </a:rPr>
                        <a:t>Tie corridor campaigns to the routes that serve each region, measured by regional bookings.</a:t>
                      </a:r>
                    </a:p>
                  </a:txBody>
                  <a:tcPr marL="54864" marR="54864" marT="27432" marB="27432"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Working position: growth comes from converting, spreading and coordinating demand the province already reaches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THE "SO WHAT"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synthesis for discussion; not yet agreed by the team. The phrase "capture-poor, not demand-poor" is from the DSE client factbase (Jul 2026), s1.1.</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188720"/>
            <a:ext cx="11420856" cy="1143000"/>
          </a:xfrm>
          <a:prstGeom prst="rect">
            <a:avLst/>
          </a:prstGeom>
          <a:solidFill>
            <a:srgbClr val="1F497D"/>
          </a:solidFill>
          <a:ln>
            <a:noFill/>
          </a:ln>
        </p:spPr>
        <p:txBody>
          <a:bodyPr rtlCol="0" anchor="ctr"/>
          <a:lstStyle/>
          <a:p>
            <a:pPr algn="ctr"/>
          </a:p>
        </p:txBody>
      </p:sp>
      <p:sp>
        <p:nvSpPr>
          <p:cNvPr id="9" name="TextBox 8"/>
          <p:cNvSpPr txBox="1"/>
          <p:nvPr/>
        </p:nvSpPr>
        <p:spPr>
          <a:xfrm>
            <a:off x="640080" y="1188720"/>
            <a:ext cx="10972800" cy="1143000"/>
          </a:xfrm>
          <a:prstGeom prst="rect">
            <a:avLst/>
          </a:prstGeom>
          <a:noFill/>
        </p:spPr>
        <p:txBody>
          <a:bodyPr wrap="square" anchor="ctr" lIns="36576" rIns="36576" tIns="21945" bIns="21945">
            <a:spAutoFit/>
          </a:bodyPr>
          <a:lstStyle/>
          <a:p>
            <a:pPr algn="l">
              <a:spcAft>
                <a:spcPts val="0"/>
              </a:spcAft>
            </a:pPr>
            <a:r>
              <a:rPr sz="1300" b="1" i="0">
                <a:solidFill>
                  <a:srgbClr val="FFFFFF"/>
                </a:solidFill>
                <a:latin typeface="Arial"/>
              </a:rPr>
              <a:t>The Western Cape is capture-poor, not demand-poor. Doubling depends on filling idle green-season capacity, making the province bookable beyond Cape Town, underwriting air frequency and coordinating the actors who hold the levers.</a:t>
            </a:r>
          </a:p>
        </p:txBody>
      </p:sp>
      <p:sp>
        <p:nvSpPr>
          <p:cNvPr id="10" name="TextBox 9"/>
          <p:cNvSpPr txBox="1"/>
          <p:nvPr/>
        </p:nvSpPr>
        <p:spPr>
          <a:xfrm>
            <a:off x="384048" y="2468880"/>
            <a:ext cx="113385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WHAT MUST BE TRUE</a:t>
            </a:r>
          </a:p>
        </p:txBody>
      </p:sp>
      <p:sp>
        <p:nvSpPr>
          <p:cNvPr id="11" name="Rectangle 10"/>
          <p:cNvSpPr/>
          <p:nvPr/>
        </p:nvSpPr>
        <p:spPr>
          <a:xfrm>
            <a:off x="384048" y="2788920"/>
            <a:ext cx="3703320" cy="384048"/>
          </a:xfrm>
          <a:prstGeom prst="rect">
            <a:avLst/>
          </a:prstGeom>
          <a:solidFill>
            <a:srgbClr val="00AEEF"/>
          </a:solidFill>
          <a:ln>
            <a:noFill/>
          </a:ln>
        </p:spPr>
        <p:txBody>
          <a:bodyPr rtlCol="0" anchor="ctr"/>
          <a:lstStyle/>
          <a:p>
            <a:pPr algn="ctr"/>
          </a:p>
        </p:txBody>
      </p:sp>
      <p:sp>
        <p:nvSpPr>
          <p:cNvPr id="12" name="TextBox 11"/>
          <p:cNvSpPr txBox="1"/>
          <p:nvPr/>
        </p:nvSpPr>
        <p:spPr>
          <a:xfrm>
            <a:off x="521207" y="2788920"/>
            <a:ext cx="3474720" cy="384048"/>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By 2028</a:t>
            </a:r>
          </a:p>
        </p:txBody>
      </p:sp>
      <p:sp>
        <p:nvSpPr>
          <p:cNvPr id="13" name="Rectangle 12"/>
          <p:cNvSpPr/>
          <p:nvPr/>
        </p:nvSpPr>
        <p:spPr>
          <a:xfrm>
            <a:off x="384048" y="3172968"/>
            <a:ext cx="3703320" cy="2514600"/>
          </a:xfrm>
          <a:prstGeom prst="rect">
            <a:avLst/>
          </a:prstGeom>
          <a:solidFill>
            <a:srgbClr val="F2F2F2"/>
          </a:solidFill>
          <a:ln>
            <a:noFill/>
          </a:ln>
        </p:spPr>
        <p:txBody>
          <a:bodyPr rtlCol="0" anchor="ctr"/>
          <a:lstStyle/>
          <a:p>
            <a:pPr algn="ctr"/>
          </a:p>
        </p:txBody>
      </p:sp>
      <p:sp>
        <p:nvSpPr>
          <p:cNvPr id="14" name="TextBox 13"/>
          <p:cNvSpPr txBox="1"/>
          <p:nvPr/>
        </p:nvSpPr>
        <p:spPr>
          <a:xfrm>
            <a:off x="493776" y="3291840"/>
            <a:ext cx="3520440" cy="2377440"/>
          </a:xfrm>
          <a:prstGeom prst="rect">
            <a:avLst/>
          </a:prstGeom>
          <a:noFill/>
        </p:spPr>
        <p:txBody>
          <a:bodyPr wrap="square" anchor="t" lIns="36576" rIns="36576" tIns="21945" bIns="21945">
            <a:spAutoFit/>
          </a:bodyPr>
          <a:lstStyle/>
          <a:p>
            <a:pPr algn="l" marL="146304" indent="-146304">
              <a:spcAft>
                <a:spcPts val="700"/>
              </a:spcAft>
              <a:buClr>
                <a:srgbClr val="00AEEF"/>
              </a:buClr>
              <a:buFont typeface="Arial"/>
              <a:buChar char="•"/>
            </a:pPr>
            <a:r>
              <a:rPr sz="1050" b="0" i="0">
                <a:solidFill>
                  <a:srgbClr val="404040"/>
                </a:solidFill>
                <a:latin typeface="Arial"/>
              </a:rPr>
              <a:t>One events and MICE pipeline filling May to September</a:t>
            </a:r>
          </a:p>
          <a:p>
            <a:pPr algn="l" marL="146304" indent="-146304">
              <a:spcAft>
                <a:spcPts val="700"/>
              </a:spcAft>
              <a:buClr>
                <a:srgbClr val="00AEEF"/>
              </a:buClr>
              <a:buFont typeface="Arial"/>
              <a:buChar char="•"/>
            </a:pPr>
            <a:r>
              <a:rPr sz="1050" b="0" i="0">
                <a:solidFill>
                  <a:srgbClr val="404040"/>
                </a:solidFill>
                <a:latin typeface="Arial"/>
              </a:rPr>
              <a:t>Rural and community product bookable on OTAs and native platforms</a:t>
            </a:r>
          </a:p>
          <a:p>
            <a:pPr algn="l" marL="146304" indent="-146304">
              <a:spcAft>
                <a:spcPts val="700"/>
              </a:spcAft>
              <a:buClr>
                <a:srgbClr val="00AEEF"/>
              </a:buClr>
              <a:buFont typeface="Arial"/>
              <a:buChar char="•"/>
            </a:pPr>
            <a:r>
              <a:rPr sz="1050" b="0" i="0">
                <a:solidFill>
                  <a:srgbClr val="404040"/>
                </a:solidFill>
                <a:latin typeface="Arial"/>
              </a:rPr>
              <a:t>Air access fund underwriting frequency on full routes</a:t>
            </a:r>
          </a:p>
          <a:p>
            <a:pPr algn="l" marL="146304" indent="-146304">
              <a:spcAft>
                <a:spcPts val="700"/>
              </a:spcAft>
              <a:buClr>
                <a:srgbClr val="00AEEF"/>
              </a:buClr>
              <a:buFont typeface="Arial"/>
              <a:buChar char="•"/>
            </a:pPr>
            <a:r>
              <a:rPr sz="1050" b="0" i="0">
                <a:solidFill>
                  <a:srgbClr val="404040"/>
                </a:solidFill>
                <a:latin typeface="Arial"/>
              </a:rPr>
              <a:t>Coordinating body with shared KPIs and a data layer</a:t>
            </a:r>
          </a:p>
        </p:txBody>
      </p:sp>
      <p:sp>
        <p:nvSpPr>
          <p:cNvPr id="15" name="Rectangle 14"/>
          <p:cNvSpPr/>
          <p:nvPr/>
        </p:nvSpPr>
        <p:spPr>
          <a:xfrm>
            <a:off x="4242816" y="2788920"/>
            <a:ext cx="3703320" cy="384048"/>
          </a:xfrm>
          <a:prstGeom prst="rect">
            <a:avLst/>
          </a:prstGeom>
          <a:solidFill>
            <a:srgbClr val="00AEEF"/>
          </a:solidFill>
          <a:ln>
            <a:noFill/>
          </a:ln>
        </p:spPr>
        <p:txBody>
          <a:bodyPr rtlCol="0" anchor="ctr"/>
          <a:lstStyle/>
          <a:p>
            <a:pPr algn="ctr"/>
          </a:p>
        </p:txBody>
      </p:sp>
      <p:sp>
        <p:nvSpPr>
          <p:cNvPr id="16" name="TextBox 15"/>
          <p:cNvSpPr txBox="1"/>
          <p:nvPr/>
        </p:nvSpPr>
        <p:spPr>
          <a:xfrm>
            <a:off x="4379976" y="2788920"/>
            <a:ext cx="3474720" cy="384048"/>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By 2030</a:t>
            </a:r>
          </a:p>
        </p:txBody>
      </p:sp>
      <p:sp>
        <p:nvSpPr>
          <p:cNvPr id="17" name="Rectangle 16"/>
          <p:cNvSpPr/>
          <p:nvPr/>
        </p:nvSpPr>
        <p:spPr>
          <a:xfrm>
            <a:off x="4242816" y="3172968"/>
            <a:ext cx="3703320" cy="2514600"/>
          </a:xfrm>
          <a:prstGeom prst="rect">
            <a:avLst/>
          </a:prstGeom>
          <a:solidFill>
            <a:srgbClr val="F2F2F2"/>
          </a:solidFill>
          <a:ln>
            <a:noFill/>
          </a:ln>
        </p:spPr>
        <p:txBody>
          <a:bodyPr rtlCol="0" anchor="ctr"/>
          <a:lstStyle/>
          <a:p>
            <a:pPr algn="ctr"/>
          </a:p>
        </p:txBody>
      </p:sp>
      <p:sp>
        <p:nvSpPr>
          <p:cNvPr id="18" name="TextBox 17"/>
          <p:cNvSpPr txBox="1"/>
          <p:nvPr/>
        </p:nvSpPr>
        <p:spPr>
          <a:xfrm>
            <a:off x="4352544" y="3291840"/>
            <a:ext cx="3520440" cy="2377440"/>
          </a:xfrm>
          <a:prstGeom prst="rect">
            <a:avLst/>
          </a:prstGeom>
          <a:noFill/>
        </p:spPr>
        <p:txBody>
          <a:bodyPr wrap="square" anchor="t" lIns="36576" rIns="36576" tIns="21945" bIns="21945">
            <a:spAutoFit/>
          </a:bodyPr>
          <a:lstStyle/>
          <a:p>
            <a:pPr algn="l" marL="146304" indent="-146304">
              <a:spcAft>
                <a:spcPts val="700"/>
              </a:spcAft>
              <a:buClr>
                <a:srgbClr val="00AEEF"/>
              </a:buClr>
              <a:buFont typeface="Arial"/>
              <a:buChar char="•"/>
            </a:pPr>
            <a:r>
              <a:rPr sz="1050" b="0" i="0">
                <a:solidFill>
                  <a:srgbClr val="404040"/>
                </a:solidFill>
                <a:latin typeface="Arial"/>
              </a:rPr>
              <a:t>Two or three corridors investment-ready, with shuttles and signage</a:t>
            </a:r>
          </a:p>
          <a:p>
            <a:pPr algn="l" marL="146304" indent="-146304">
              <a:spcAft>
                <a:spcPts val="700"/>
              </a:spcAft>
              <a:buClr>
                <a:srgbClr val="00AEEF"/>
              </a:buClr>
              <a:buFont typeface="Arial"/>
              <a:buChar char="•"/>
            </a:pPr>
            <a:r>
              <a:rPr sz="1050" b="0" i="0">
                <a:solidFill>
                  <a:srgbClr val="404040"/>
                </a:solidFill>
                <a:latin typeface="Arial"/>
              </a:rPr>
              <a:t>Community selling routes proven in pilots, then scaled</a:t>
            </a:r>
          </a:p>
          <a:p>
            <a:pPr algn="l" marL="146304" indent="-146304">
              <a:spcAft>
                <a:spcPts val="700"/>
              </a:spcAft>
              <a:buClr>
                <a:srgbClr val="00AEEF"/>
              </a:buClr>
              <a:buFont typeface="Arial"/>
              <a:buChar char="•"/>
            </a:pPr>
            <a:r>
              <a:rPr sz="1050" b="0" i="0">
                <a:solidFill>
                  <a:srgbClr val="404040"/>
                </a:solidFill>
                <a:latin typeface="Arial"/>
              </a:rPr>
              <a:t>Visa and safety interventions delivered by national owners</a:t>
            </a:r>
          </a:p>
          <a:p>
            <a:pPr algn="l" marL="146304" indent="-146304">
              <a:spcAft>
                <a:spcPts val="700"/>
              </a:spcAft>
              <a:buClr>
                <a:srgbClr val="00AEEF"/>
              </a:buClr>
              <a:buFont typeface="Arial"/>
              <a:buChar char="•"/>
            </a:pPr>
            <a:r>
              <a:rPr sz="1050" b="0" i="0">
                <a:solidFill>
                  <a:srgbClr val="404040"/>
                </a:solidFill>
                <a:latin typeface="Arial"/>
              </a:rPr>
              <a:t>Mid-scale accommodation in secondary nodes</a:t>
            </a:r>
          </a:p>
        </p:txBody>
      </p:sp>
      <p:sp>
        <p:nvSpPr>
          <p:cNvPr id="19" name="Rectangle 18"/>
          <p:cNvSpPr/>
          <p:nvPr/>
        </p:nvSpPr>
        <p:spPr>
          <a:xfrm>
            <a:off x="8101583" y="2788920"/>
            <a:ext cx="3703320" cy="384048"/>
          </a:xfrm>
          <a:prstGeom prst="rect">
            <a:avLst/>
          </a:prstGeom>
          <a:solidFill>
            <a:srgbClr val="00AEEF"/>
          </a:solidFill>
          <a:ln>
            <a:noFill/>
          </a:ln>
        </p:spPr>
        <p:txBody>
          <a:bodyPr rtlCol="0" anchor="ctr"/>
          <a:lstStyle/>
          <a:p>
            <a:pPr algn="ctr"/>
          </a:p>
        </p:txBody>
      </p:sp>
      <p:sp>
        <p:nvSpPr>
          <p:cNvPr id="20" name="TextBox 19"/>
          <p:cNvSpPr txBox="1"/>
          <p:nvPr/>
        </p:nvSpPr>
        <p:spPr>
          <a:xfrm>
            <a:off x="8238744" y="2788920"/>
            <a:ext cx="3474720" cy="384048"/>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By 2035</a:t>
            </a:r>
          </a:p>
        </p:txBody>
      </p:sp>
      <p:sp>
        <p:nvSpPr>
          <p:cNvPr id="21" name="Rectangle 20"/>
          <p:cNvSpPr/>
          <p:nvPr/>
        </p:nvSpPr>
        <p:spPr>
          <a:xfrm>
            <a:off x="8101583" y="3172968"/>
            <a:ext cx="3703320" cy="2514600"/>
          </a:xfrm>
          <a:prstGeom prst="rect">
            <a:avLst/>
          </a:prstGeom>
          <a:solidFill>
            <a:srgbClr val="F2F2F2"/>
          </a:solidFill>
          <a:ln>
            <a:noFill/>
          </a:ln>
        </p:spPr>
        <p:txBody>
          <a:bodyPr rtlCol="0" anchor="ctr"/>
          <a:lstStyle/>
          <a:p>
            <a:pPr algn="ctr"/>
          </a:p>
        </p:txBody>
      </p:sp>
      <p:sp>
        <p:nvSpPr>
          <p:cNvPr id="22" name="TextBox 21"/>
          <p:cNvSpPr txBox="1"/>
          <p:nvPr/>
        </p:nvSpPr>
        <p:spPr>
          <a:xfrm>
            <a:off x="8211311" y="3291840"/>
            <a:ext cx="3520440" cy="2377440"/>
          </a:xfrm>
          <a:prstGeom prst="rect">
            <a:avLst/>
          </a:prstGeom>
          <a:noFill/>
        </p:spPr>
        <p:txBody>
          <a:bodyPr wrap="square" anchor="t" lIns="36576" rIns="36576" tIns="21945" bIns="21945">
            <a:spAutoFit/>
          </a:bodyPr>
          <a:lstStyle/>
          <a:p>
            <a:pPr algn="l" marL="146304" indent="-146304">
              <a:spcAft>
                <a:spcPts val="700"/>
              </a:spcAft>
              <a:buClr>
                <a:srgbClr val="00AEEF"/>
              </a:buClr>
              <a:buFont typeface="Arial"/>
              <a:buChar char="•"/>
            </a:pPr>
            <a:r>
              <a:rPr sz="1050" b="0" i="0">
                <a:solidFill>
                  <a:srgbClr val="404040"/>
                </a:solidFill>
                <a:latin typeface="Arial"/>
              </a:rPr>
              <a:t>Direct India and China services in operation</a:t>
            </a:r>
          </a:p>
          <a:p>
            <a:pPr algn="l" marL="146304" indent="-146304">
              <a:spcAft>
                <a:spcPts val="700"/>
              </a:spcAft>
              <a:buClr>
                <a:srgbClr val="00AEEF"/>
              </a:buClr>
              <a:buFont typeface="Arial"/>
              <a:buChar char="•"/>
            </a:pPr>
            <a:r>
              <a:rPr sz="1050" b="0" i="0">
                <a:solidFill>
                  <a:srgbClr val="404040"/>
                </a:solidFill>
                <a:latin typeface="Arial"/>
              </a:rPr>
              <a:t>Spend per visitor and length of stay rising faster than arrivals</a:t>
            </a:r>
          </a:p>
          <a:p>
            <a:pPr algn="l" marL="146304" indent="-146304">
              <a:spcAft>
                <a:spcPts val="700"/>
              </a:spcAft>
              <a:buClr>
                <a:srgbClr val="00AEEF"/>
              </a:buClr>
              <a:buFont typeface="Arial"/>
              <a:buChar char="•"/>
            </a:pPr>
            <a:r>
              <a:rPr sz="1050" b="0" i="0">
                <a:solidFill>
                  <a:srgbClr val="404040"/>
                </a:solidFill>
                <a:latin typeface="Arial"/>
              </a:rPr>
              <a:t>Growth outside the Metro rising as a share of the total</a:t>
            </a:r>
          </a:p>
          <a:p>
            <a:pPr algn="l" marL="146304" indent="-146304">
              <a:spcAft>
                <a:spcPts val="700"/>
              </a:spcAft>
              <a:buClr>
                <a:srgbClr val="00AEEF"/>
              </a:buClr>
              <a:buFont typeface="Arial"/>
              <a:buChar char="•"/>
            </a:pPr>
            <a:r>
              <a:rPr sz="1050" b="0" i="0">
                <a:solidFill>
                  <a:srgbClr val="404040"/>
                </a:solidFill>
                <a:latin typeface="Arial"/>
              </a:rPr>
              <a:t>All six touring routes ready for international visitors</a:t>
            </a:r>
          </a:p>
        </p:txBody>
      </p:sp>
      <p:sp>
        <p:nvSpPr>
          <p:cNvPr id="23" name="TextBox 22"/>
          <p:cNvSpPr txBox="1"/>
          <p:nvPr/>
        </p:nvSpPr>
        <p:spPr>
          <a:xfrm>
            <a:off x="384048" y="5779008"/>
            <a:ext cx="11338560" cy="411480"/>
          </a:xfrm>
          <a:prstGeom prst="rect">
            <a:avLst/>
          </a:prstGeom>
          <a:noFill/>
        </p:spPr>
        <p:txBody>
          <a:bodyPr wrap="square" anchor="t" lIns="36576" rIns="36576" tIns="21945" bIns="21945">
            <a:spAutoFit/>
          </a:bodyPr>
          <a:lstStyle/>
          <a:p>
            <a:pPr algn="l">
              <a:spcAft>
                <a:spcPts val="0"/>
              </a:spcAft>
            </a:pPr>
            <a:r>
              <a:rPr sz="1050" b="0" i="1">
                <a:solidFill>
                  <a:srgbClr val="7F7F7F"/>
                </a:solidFill>
                <a:latin typeface="Arial"/>
              </a:rPr>
              <a:t>On current levers the model reaches ~2.2m arrivals by 2035; these moves are how the gap closes.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The strongest evidence against the thesis says price, airline economics, safety and funding bind too</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THE COUNTER-CASE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MIDAS Aviation Market Assessment (Mar 2026) p22; Current State Diagnostic v2 (Dec 2025) p55; Stakeholder Insights Report (Mar 2026) pp24-25, 46; PERO 2025 via municipal factbase; Demand-Side Analysis (Jun 2026) p51</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114800"/>
        </p:xfrm>
        <a:graphic>
          <a:graphicData uri="http://schemas.openxmlformats.org/drawingml/2006/table">
            <a:tbl>
              <a:tblPr firstRow="1" bandRow="0">
                <a:tableStyleId>{5C22544A-7EE6-4342-B048-85BDC9FD1C3A}</a:tableStyleId>
              </a:tblPr>
              <a:tblGrid>
                <a:gridCol w="4754880"/>
                <a:gridCol w="2377440"/>
                <a:gridCol w="4288536"/>
              </a:tblGrid>
              <a:tr h="822960">
                <a:tc>
                  <a:txBody>
                    <a:bodyPr wrap="square"/>
                    <a:lstStyle/>
                    <a:p>
                      <a:pPr algn="l"/>
                      <a:r>
                        <a:rPr sz="1000" b="1" i="0">
                          <a:solidFill>
                            <a:srgbClr val="FFFFFF"/>
                          </a:solidFill>
                          <a:latin typeface="Arial"/>
                        </a:rPr>
                        <a:t>Evidence against "capture-poor"</a:t>
                      </a:r>
                    </a:p>
                  </a:txBody>
                  <a:tcPr marL="54864" marR="54864" marT="27432" marB="27432" anchor="ctr">
                    <a:solidFill>
                      <a:srgbClr val="1F497D"/>
                    </a:solidFill>
                  </a:tcPr>
                </a:tc>
                <a:tc>
                  <a:txBody>
                    <a:bodyPr wrap="square"/>
                    <a:lstStyle/>
                    <a:p>
                      <a:pPr algn="l"/>
                      <a:r>
                        <a:rPr sz="1000" b="1" i="0">
                          <a:solidFill>
                            <a:srgbClr val="FFFFFF"/>
                          </a:solidFill>
                          <a:latin typeface="Arial"/>
                        </a:rPr>
                        <a:t>Source</a:t>
                      </a:r>
                    </a:p>
                  </a:txBody>
                  <a:tcPr marL="54864" marR="54864" marT="27432" marB="27432" anchor="ctr">
                    <a:solidFill>
                      <a:srgbClr val="1F497D"/>
                    </a:solidFill>
                  </a:tcPr>
                </a:tc>
                <a:tc>
                  <a:txBody>
                    <a:bodyPr wrap="square"/>
                    <a:lstStyle/>
                    <a:p>
                      <a:pPr algn="l"/>
                      <a:r>
                        <a:rPr sz="1000" b="1" i="0">
                          <a:solidFill>
                            <a:srgbClr val="FFFFFF"/>
                          </a:solidFill>
                          <a:latin typeface="Arial"/>
                        </a:rPr>
                        <a:t>What it means for the moves</a:t>
                      </a:r>
                    </a:p>
                  </a:txBody>
                  <a:tcPr marL="54864" marR="54864" marT="27432" marB="27432" anchor="ctr">
                    <a:solidFill>
                      <a:srgbClr val="1F497D"/>
                    </a:solidFill>
                  </a:tcPr>
                </a:tc>
              </a:tr>
              <a:tr h="822960">
                <a:tc>
                  <a:txBody>
                    <a:bodyPr wrap="square"/>
                    <a:lstStyle/>
                    <a:p>
                      <a:pPr algn="l"/>
                      <a:r>
                        <a:rPr sz="1000" b="0" i="0">
                          <a:solidFill>
                            <a:srgbClr val="404040"/>
                          </a:solidFill>
                          <a:latin typeface="Arial"/>
                        </a:rPr>
                        <a:t>Airlines treat Cape Town's long-haul markets as mature and will raise fares before adding seats.</a:t>
                      </a:r>
                    </a:p>
                  </a:txBody>
                  <a:tcPr marL="54864" marR="54864" marT="27432" marB="27432" anchor="ctr">
                    <a:solidFill>
                      <a:srgbClr val="FFFFFF"/>
                    </a:solidFill>
                  </a:tcPr>
                </a:tc>
                <a:tc>
                  <a:txBody>
                    <a:bodyPr wrap="square"/>
                    <a:lstStyle/>
                    <a:p>
                      <a:pPr algn="l"/>
                      <a:r>
                        <a:rPr sz="1000" b="0" i="0">
                          <a:solidFill>
                            <a:srgbClr val="404040"/>
                          </a:solidFill>
                          <a:latin typeface="Arial"/>
                        </a:rPr>
                        <a:t>MIDAS p22</a:t>
                      </a:r>
                    </a:p>
                  </a:txBody>
                  <a:tcPr marL="54864" marR="54864" marT="27432" marB="27432" anchor="ctr">
                    <a:solidFill>
                      <a:srgbClr val="FFFFFF"/>
                    </a:solidFill>
                  </a:tcPr>
                </a:tc>
                <a:tc>
                  <a:txBody>
                    <a:bodyPr wrap="square"/>
                    <a:lstStyle/>
                    <a:p>
                      <a:pPr algn="l"/>
                      <a:r>
                        <a:rPr sz="1000" b="0" i="0">
                          <a:solidFill>
                            <a:srgbClr val="404040"/>
                          </a:solidFill>
                          <a:latin typeface="Arial"/>
                        </a:rPr>
                        <a:t>An air access fund buys frequency only where a route case clears airline hurdle rates; expect fewer, costlier wins than the 2015-25 record.</a:t>
                      </a:r>
                    </a:p>
                  </a:txBody>
                  <a:tcPr marL="54864" marR="54864" marT="27432" marB="27432" anchor="ctr">
                    <a:solidFill>
                      <a:srgbClr val="FFFFFF"/>
                    </a:solidFill>
                  </a:tcPr>
                </a:tc>
              </a:tr>
              <a:tr h="822960">
                <a:tc>
                  <a:txBody>
                    <a:bodyPr wrap="square"/>
                    <a:lstStyle/>
                    <a:p>
                      <a:pPr algn="l"/>
                      <a:r>
                        <a:rPr sz="1000" b="0" i="0">
                          <a:solidFill>
                            <a:srgbClr val="404040"/>
                          </a:solidFill>
                          <a:latin typeface="Arial"/>
                        </a:rPr>
                        <a:t>Safety is the number one demand dampener; crime and corruption feature in overseas MICE sales; China conversion is held back by safety perception.</a:t>
                      </a:r>
                    </a:p>
                  </a:txBody>
                  <a:tcPr marL="54864" marR="54864" marT="27432" marB="27432" anchor="ctr">
                    <a:solidFill>
                      <a:srgbClr val="F2F2F2"/>
                    </a:solidFill>
                  </a:tcPr>
                </a:tc>
                <a:tc>
                  <a:txBody>
                    <a:bodyPr wrap="square"/>
                    <a:lstStyle/>
                    <a:p>
                      <a:pPr algn="l"/>
                      <a:r>
                        <a:rPr sz="1000" b="0" i="0">
                          <a:solidFill>
                            <a:srgbClr val="404040"/>
                          </a:solidFill>
                          <a:latin typeface="Arial"/>
                        </a:rPr>
                        <a:t>Diagnostic p55; Stakeholders pp24, 46; Demand-Side p51</a:t>
                      </a:r>
                    </a:p>
                  </a:txBody>
                  <a:tcPr marL="54864" marR="54864" marT="27432" marB="27432" anchor="ctr">
                    <a:solidFill>
                      <a:srgbClr val="F2F2F2"/>
                    </a:solidFill>
                  </a:tcPr>
                </a:tc>
                <a:tc>
                  <a:txBody>
                    <a:bodyPr wrap="square"/>
                    <a:lstStyle/>
                    <a:p>
                      <a:pPr algn="l"/>
                      <a:r>
                        <a:rPr sz="1000" b="0" i="0">
                          <a:solidFill>
                            <a:srgbClr val="404040"/>
                          </a:solidFill>
                          <a:latin typeface="Arial"/>
                        </a:rPr>
                        <a:t>Conversion marketing cannot outrun perception; safety sits with national owners and must be in the roadmap with a named lead.</a:t>
                      </a:r>
                    </a:p>
                  </a:txBody>
                  <a:tcPr marL="54864" marR="54864" marT="27432" marB="27432" anchor="ctr">
                    <a:solidFill>
                      <a:srgbClr val="F2F2F2"/>
                    </a:solidFill>
                  </a:tcPr>
                </a:tc>
              </a:tr>
              <a:tr h="822960">
                <a:tc>
                  <a:txBody>
                    <a:bodyPr wrap="square"/>
                    <a:lstStyle/>
                    <a:p>
                      <a:pPr algn="l"/>
                      <a:r>
                        <a:rPr sz="1000" b="0" i="0">
                          <a:solidFill>
                            <a:srgbClr val="404040"/>
                          </a:solidFill>
                          <a:latin typeface="Arial"/>
                        </a:rPr>
                        <a:t>The Western Cape is a high-cost destination: domestic trips fell 6.1% on 2020 and peak pricing weakens December-January MICE.</a:t>
                      </a:r>
                    </a:p>
                  </a:txBody>
                  <a:tcPr marL="54864" marR="54864" marT="27432" marB="27432" anchor="ctr">
                    <a:solidFill>
                      <a:srgbClr val="FFFFFF"/>
                    </a:solidFill>
                  </a:tcPr>
                </a:tc>
                <a:tc>
                  <a:txBody>
                    <a:bodyPr wrap="square"/>
                    <a:lstStyle/>
                    <a:p>
                      <a:pPr algn="l"/>
                      <a:r>
                        <a:rPr sz="1000" b="0" i="0">
                          <a:solidFill>
                            <a:srgbClr val="404040"/>
                          </a:solidFill>
                          <a:latin typeface="Arial"/>
                        </a:rPr>
                        <a:t>PERO 2025 via municipal factbase; Stakeholders p46</a:t>
                      </a:r>
                    </a:p>
                  </a:txBody>
                  <a:tcPr marL="54864" marR="54864" marT="27432" marB="27432" anchor="ctr">
                    <a:solidFill>
                      <a:srgbClr val="FFFFFF"/>
                    </a:solidFill>
                  </a:tcPr>
                </a:tc>
                <a:tc>
                  <a:txBody>
                    <a:bodyPr wrap="square"/>
                    <a:lstStyle/>
                    <a:p>
                      <a:pPr algn="l"/>
                      <a:r>
                        <a:rPr sz="1000" b="0" i="0">
                          <a:solidFill>
                            <a:srgbClr val="404040"/>
                          </a:solidFill>
                          <a:latin typeface="Arial"/>
                        </a:rPr>
                        <a:t>A value lens cuts both ways: yield growth and price-driven demand loss. The report needs a price position.</a:t>
                      </a:r>
                    </a:p>
                  </a:txBody>
                  <a:tcPr marL="54864" marR="54864" marT="27432" marB="27432" anchor="ctr">
                    <a:solidFill>
                      <a:srgbClr val="FFFFFF"/>
                    </a:solidFill>
                  </a:tcPr>
                </a:tc>
              </a:tr>
              <a:tr h="822960">
                <a:tc>
                  <a:txBody>
                    <a:bodyPr wrap="square"/>
                    <a:lstStyle/>
                    <a:p>
                      <a:pPr algn="l"/>
                      <a:r>
                        <a:rPr sz="1000" b="0" i="0">
                          <a:solidFill>
                            <a:srgbClr val="404040"/>
                          </a:solidFill>
                          <a:latin typeface="Arial"/>
                        </a:rPr>
                        <a:t>Tourism funding is materially below peer destinations, and SA Tourism's weakness constrains international marketing.</a:t>
                      </a:r>
                    </a:p>
                  </a:txBody>
                  <a:tcPr marL="54864" marR="54864" marT="27432" marB="27432" anchor="ctr">
                    <a:solidFill>
                      <a:srgbClr val="F2F2F2"/>
                    </a:solidFill>
                  </a:tcPr>
                </a:tc>
                <a:tc>
                  <a:txBody>
                    <a:bodyPr wrap="square"/>
                    <a:lstStyle/>
                    <a:p>
                      <a:pPr algn="l"/>
                      <a:r>
                        <a:rPr sz="1000" b="0" i="0">
                          <a:solidFill>
                            <a:srgbClr val="404040"/>
                          </a:solidFill>
                          <a:latin typeface="Arial"/>
                        </a:rPr>
                        <a:t>Stakeholders p25 (DEDAT, High)</a:t>
                      </a:r>
                    </a:p>
                  </a:txBody>
                  <a:tcPr marL="54864" marR="54864" marT="27432" marB="27432" anchor="ctr">
                    <a:solidFill>
                      <a:srgbClr val="F2F2F2"/>
                    </a:solidFill>
                  </a:tcPr>
                </a:tc>
                <a:tc>
                  <a:txBody>
                    <a:bodyPr wrap="square"/>
                    <a:lstStyle/>
                    <a:p>
                      <a:pPr algn="l"/>
                      <a:r>
                        <a:rPr sz="1000" b="0" i="0">
                          <a:solidFill>
                            <a:srgbClr val="404040"/>
                          </a:solidFill>
                          <a:latin typeface="Arial"/>
                        </a:rPr>
                        <a:t>Every move competes for a shrinking pool; sequencing and co-funding are not optional.</a:t>
                      </a:r>
                    </a:p>
                  </a:txBody>
                  <a:tcPr marL="54864" marR="54864" marT="27432" marB="27432" anchor="ctr">
                    <a:solidFill>
                      <a:srgbClr val="F2F2F2"/>
                    </a:solidFill>
                  </a:tcPr>
                </a:tc>
              </a:tr>
            </a:tbl>
          </a:graphicData>
        </a:graphic>
      </p:graphicFrame>
      <p:sp>
        <p:nvSpPr>
          <p:cNvPr id="9" name="Rectangle 8"/>
          <p:cNvSpPr/>
          <p:nvPr/>
        </p:nvSpPr>
        <p:spPr>
          <a:xfrm>
            <a:off x="384048" y="5120640"/>
            <a:ext cx="11420856" cy="594360"/>
          </a:xfrm>
          <a:prstGeom prst="rect">
            <a:avLst/>
          </a:prstGeom>
          <a:solidFill>
            <a:srgbClr val="1F497D"/>
          </a:solidFill>
          <a:ln>
            <a:noFill/>
          </a:ln>
        </p:spPr>
        <p:txBody>
          <a:bodyPr rtlCol="0" anchor="ctr"/>
          <a:lstStyle/>
          <a:p>
            <a:pPr algn="ctr"/>
          </a:p>
        </p:txBody>
      </p:sp>
      <p:sp>
        <p:nvSpPr>
          <p:cNvPr id="10" name="TextBox 9"/>
          <p:cNvSpPr txBox="1"/>
          <p:nvPr/>
        </p:nvSpPr>
        <p:spPr>
          <a:xfrm>
            <a:off x="548640" y="5120640"/>
            <a:ext cx="11064240" cy="594360"/>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Revised position: the province is capture-poor on distribution and coordination, and demand-constrained on price, safety and airline economics. Both halves need owners.</a:t>
            </a:r>
          </a:p>
        </p:txBody>
      </p:sp>
      <p:sp>
        <p:nvSpPr>
          <p:cNvPr id="11" name="TextBox 10"/>
          <p:cNvSpPr txBox="1"/>
          <p:nvPr/>
        </p:nvSpPr>
        <p:spPr>
          <a:xfrm>
            <a:off x="384048" y="5806440"/>
            <a:ext cx="11338560" cy="365760"/>
          </a:xfrm>
          <a:prstGeom prst="rect">
            <a:avLst/>
          </a:prstGeom>
          <a:noFill/>
        </p:spPr>
        <p:txBody>
          <a:bodyPr wrap="square" anchor="t" lIns="36576" rIns="36576" tIns="21945" bIns="21945">
            <a:spAutoFit/>
          </a:bodyPr>
          <a:lstStyle/>
          <a:p>
            <a:pPr algn="l">
              <a:spcAft>
                <a:spcPts val="0"/>
              </a:spcAft>
            </a:pPr>
            <a:r>
              <a:rPr sz="950" b="0" i="1">
                <a:solidFill>
                  <a:srgbClr val="7F7F7F"/>
                </a:solidFill>
                <a:latin typeface="Arial"/>
              </a:rPr>
              <a:t>Falsification test: if listing, packaging and hub co-marketing lift bookings by 2028 without moving arrivals, the demand constraints dominate and the target must move.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Gaps</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Where the evidence is thin, and how we close it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Marketing, investment returns and the spend and jobs evidence are the gaps that weaken the report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GAP MAP</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SLA Annexure B clauses 1.1.1 to 1.1.15 and RFP SCM002-2025 s2 to s4, tested against all inputs received</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992624"/>
        </p:xfrm>
        <a:graphic>
          <a:graphicData uri="http://schemas.openxmlformats.org/drawingml/2006/table">
            <a:tbl>
              <a:tblPr firstRow="1" bandRow="0">
                <a:tableStyleId>{5C22544A-7EE6-4342-B048-85BDC9FD1C3A}</a:tableStyleId>
              </a:tblPr>
              <a:tblGrid>
                <a:gridCol w="2651760"/>
                <a:gridCol w="914400"/>
                <a:gridCol w="4846320"/>
                <a:gridCol w="3008376"/>
              </a:tblGrid>
              <a:tr h="356616">
                <a:tc>
                  <a:txBody>
                    <a:bodyPr wrap="square"/>
                    <a:lstStyle/>
                    <a:p>
                      <a:pPr algn="l"/>
                      <a:r>
                        <a:rPr sz="950" b="1" i="0">
                          <a:solidFill>
                            <a:srgbClr val="FFFFFF"/>
                          </a:solidFill>
                          <a:latin typeface="Arial"/>
                        </a:rPr>
                        <a:t>Gap</a:t>
                      </a:r>
                    </a:p>
                  </a:txBody>
                  <a:tcPr marL="54864" marR="54864" marT="27432" marB="27432" anchor="ctr">
                    <a:solidFill>
                      <a:srgbClr val="1F497D"/>
                    </a:solidFill>
                  </a:tcPr>
                </a:tc>
                <a:tc>
                  <a:txBody>
                    <a:bodyPr wrap="square"/>
                    <a:lstStyle/>
                    <a:p>
                      <a:pPr algn="l"/>
                      <a:r>
                        <a:rPr sz="950" b="1" i="0">
                          <a:solidFill>
                            <a:srgbClr val="FFFFFF"/>
                          </a:solidFill>
                          <a:latin typeface="Arial"/>
                        </a:rPr>
                        <a:t>Rating</a:t>
                      </a:r>
                    </a:p>
                  </a:txBody>
                  <a:tcPr marL="54864" marR="54864" marT="27432" marB="27432" anchor="ctr">
                    <a:solidFill>
                      <a:srgbClr val="1F497D"/>
                    </a:solidFill>
                  </a:tcPr>
                </a:tc>
                <a:tc>
                  <a:txBody>
                    <a:bodyPr wrap="square"/>
                    <a:lstStyle/>
                    <a:p>
                      <a:pPr algn="l"/>
                      <a:r>
                        <a:rPr sz="950" b="1" i="0">
                          <a:solidFill>
                            <a:srgbClr val="FFFFFF"/>
                          </a:solidFill>
                          <a:latin typeface="Arial"/>
                        </a:rPr>
                        <a:t>What is missing</a:t>
                      </a:r>
                    </a:p>
                  </a:txBody>
                  <a:tcPr marL="54864" marR="54864" marT="27432" marB="27432" anchor="ctr">
                    <a:solidFill>
                      <a:srgbClr val="1F497D"/>
                    </a:solidFill>
                  </a:tcPr>
                </a:tc>
                <a:tc>
                  <a:txBody>
                    <a:bodyPr wrap="square"/>
                    <a:lstStyle/>
                    <a:p>
                      <a:pPr algn="l"/>
                      <a:r>
                        <a:rPr sz="950" b="1" i="0">
                          <a:solidFill>
                            <a:srgbClr val="FFFFFF"/>
                          </a:solidFill>
                          <a:latin typeface="Arial"/>
                        </a:rPr>
                        <a:t>Requirement at risk</a:t>
                      </a:r>
                    </a:p>
                  </a:txBody>
                  <a:tcPr marL="54864" marR="54864" marT="27432" marB="27432" anchor="ctr">
                    <a:solidFill>
                      <a:srgbClr val="1F497D"/>
                    </a:solidFill>
                  </a:tcPr>
                </a:tc>
              </a:tr>
              <a:tr h="356616">
                <a:tc>
                  <a:txBody>
                    <a:bodyPr wrap="square"/>
                    <a:lstStyle/>
                    <a:p>
                      <a:pPr algn="l"/>
                      <a:r>
                        <a:rPr sz="950" b="1" i="0">
                          <a:solidFill>
                            <a:srgbClr val="1F497D"/>
                          </a:solidFill>
                          <a:latin typeface="Arial"/>
                        </a:rPr>
                        <a:t>Marketing and brand</a:t>
                      </a:r>
                    </a:p>
                  </a:txBody>
                  <a:tcPr marL="54864" marR="54864" marT="27432" marB="27432" anchor="ctr">
                    <a:solidFill>
                      <a:srgbClr val="FFFFFF"/>
                    </a:solidFill>
                  </a:tcPr>
                </a:tc>
                <a:tc>
                  <a:txBody>
                    <a:bodyPr wrap="square"/>
                    <a:lstStyle/>
                    <a:p>
                      <a:pPr algn="l"/>
                      <a:r>
                        <a:rPr sz="950" b="1" i="0">
                          <a:solidFill>
                            <a:srgbClr val="FFFFFF"/>
                          </a:solidFill>
                          <a:latin typeface="Arial"/>
                        </a:rPr>
                        <a:t>Critical</a:t>
                      </a:r>
                    </a:p>
                  </a:txBody>
                  <a:tcPr marL="54864" marR="54864" marT="27432" marB="27432" anchor="ctr">
                    <a:solidFill>
                      <a:srgbClr val="D9262B"/>
                    </a:solidFill>
                  </a:tcPr>
                </a:tc>
                <a:tc>
                  <a:txBody>
                    <a:bodyPr wrap="square"/>
                    <a:lstStyle/>
                    <a:p>
                      <a:pPr algn="l"/>
                      <a:r>
                        <a:rPr sz="950" b="0" i="0">
                          <a:solidFill>
                            <a:srgbClr val="404040"/>
                          </a:solidFill>
                          <a:latin typeface="Arial"/>
                        </a:rPr>
                        <a:t>No audit of spend, channels, campaign return or brand health; segments not sized</a:t>
                      </a:r>
                    </a:p>
                  </a:txBody>
                  <a:tcPr marL="54864" marR="54864" marT="27432" marB="27432" anchor="ctr">
                    <a:solidFill>
                      <a:srgbClr val="FFFFFF"/>
                    </a:solidFill>
                  </a:tcPr>
                </a:tc>
                <a:tc>
                  <a:txBody>
                    <a:bodyPr wrap="square"/>
                    <a:lstStyle/>
                    <a:p>
                      <a:pPr algn="l"/>
                      <a:r>
                        <a:rPr sz="950" b="0" i="0">
                          <a:solidFill>
                            <a:srgbClr val="7F7F7F"/>
                          </a:solidFill>
                          <a:latin typeface="Arial"/>
                        </a:rPr>
                        <a:t>SLA Annexure B 1.1.7 (RFP 4.1)</a:t>
                      </a:r>
                    </a:p>
                  </a:txBody>
                  <a:tcPr marL="54864" marR="54864" marT="27432" marB="27432" anchor="ctr">
                    <a:solidFill>
                      <a:srgbClr val="FFFFFF"/>
                    </a:solidFill>
                  </a:tcPr>
                </a:tc>
              </a:tr>
              <a:tr h="356616">
                <a:tc>
                  <a:txBody>
                    <a:bodyPr wrap="square"/>
                    <a:lstStyle/>
                    <a:p>
                      <a:pPr algn="l"/>
                      <a:r>
                        <a:rPr sz="950" b="1" i="0">
                          <a:solidFill>
                            <a:srgbClr val="1F497D"/>
                          </a:solidFill>
                          <a:latin typeface="Arial"/>
                        </a:rPr>
                        <a:t>Investment pipeline and ROI</a:t>
                      </a:r>
                    </a:p>
                  </a:txBody>
                  <a:tcPr marL="54864" marR="54864" marT="27432" marB="27432" anchor="ctr">
                    <a:solidFill>
                      <a:srgbClr val="F2F2F2"/>
                    </a:solidFill>
                  </a:tcPr>
                </a:tc>
                <a:tc>
                  <a:txBody>
                    <a:bodyPr wrap="square"/>
                    <a:lstStyle/>
                    <a:p>
                      <a:pPr algn="l"/>
                      <a:r>
                        <a:rPr sz="950" b="1" i="0">
                          <a:solidFill>
                            <a:srgbClr val="FFFFFF"/>
                          </a:solidFill>
                          <a:latin typeface="Arial"/>
                        </a:rPr>
                        <a:t>Critical</a:t>
                      </a:r>
                    </a:p>
                  </a:txBody>
                  <a:tcPr marL="54864" marR="54864" marT="27432" marB="27432" anchor="ctr">
                    <a:solidFill>
                      <a:srgbClr val="D9262B"/>
                    </a:solidFill>
                  </a:tcPr>
                </a:tc>
                <a:tc>
                  <a:txBody>
                    <a:bodyPr wrap="square"/>
                    <a:lstStyle/>
                    <a:p>
                      <a:pPr algn="l"/>
                      <a:r>
                        <a:rPr sz="950" b="0" i="0">
                          <a:solidFill>
                            <a:srgbClr val="404040"/>
                          </a:solidFill>
                          <a:latin typeface="Arial"/>
                        </a:rPr>
                        <a:t>Assets scored; no ranked upgrades, costs or returns</a:t>
                      </a:r>
                    </a:p>
                  </a:txBody>
                  <a:tcPr marL="54864" marR="54864" marT="27432" marB="27432" anchor="ctr">
                    <a:solidFill>
                      <a:srgbClr val="F2F2F2"/>
                    </a:solidFill>
                  </a:tcPr>
                </a:tc>
                <a:tc>
                  <a:txBody>
                    <a:bodyPr wrap="square"/>
                    <a:lstStyle/>
                    <a:p>
                      <a:pPr algn="l"/>
                      <a:r>
                        <a:rPr sz="950" b="0" i="0">
                          <a:solidFill>
                            <a:srgbClr val="7F7F7F"/>
                          </a:solidFill>
                          <a:latin typeface="Arial"/>
                        </a:rPr>
                        <a:t>SLA Annexure B 1.1.2.3, 1.1.8 (RFP 4.2)</a:t>
                      </a:r>
                    </a:p>
                  </a:txBody>
                  <a:tcPr marL="54864" marR="54864" marT="27432" marB="27432" anchor="ctr">
                    <a:solidFill>
                      <a:srgbClr val="F2F2F2"/>
                    </a:solidFill>
                  </a:tcPr>
                </a:tc>
              </a:tr>
              <a:tr h="356616">
                <a:tc>
                  <a:txBody>
                    <a:bodyPr wrap="square"/>
                    <a:lstStyle/>
                    <a:p>
                      <a:pPr algn="l"/>
                      <a:r>
                        <a:rPr sz="950" b="1" i="0">
                          <a:solidFill>
                            <a:srgbClr val="1F497D"/>
                          </a:solidFill>
                          <a:latin typeface="Arial"/>
                        </a:rPr>
                        <a:t>Spend, yield and jobs</a:t>
                      </a:r>
                    </a:p>
                  </a:txBody>
                  <a:tcPr marL="54864" marR="54864" marT="27432" marB="27432" anchor="ctr">
                    <a:solidFill>
                      <a:srgbClr val="FFFFFF"/>
                    </a:solidFill>
                  </a:tcPr>
                </a:tc>
                <a:tc>
                  <a:txBody>
                    <a:bodyPr wrap="square"/>
                    <a:lstStyle/>
                    <a:p>
                      <a:pPr algn="l"/>
                      <a:r>
                        <a:rPr sz="950" b="1" i="0">
                          <a:solidFill>
                            <a:srgbClr val="FFFFFF"/>
                          </a:solidFill>
                          <a:latin typeface="Arial"/>
                        </a:rPr>
                        <a:t>Critical</a:t>
                      </a:r>
                    </a:p>
                  </a:txBody>
                  <a:tcPr marL="54864" marR="54864" marT="27432" marB="27432" anchor="ctr">
                    <a:solidFill>
                      <a:srgbClr val="D9262B"/>
                    </a:solidFill>
                  </a:tcPr>
                </a:tc>
                <a:tc>
                  <a:txBody>
                    <a:bodyPr wrap="square"/>
                    <a:lstStyle/>
                    <a:p>
                      <a:pPr algn="l"/>
                      <a:r>
                        <a:rPr sz="950" b="0" i="0">
                          <a:solidFill>
                            <a:srgbClr val="404040"/>
                          </a:solidFill>
                          <a:latin typeface="Arial"/>
                        </a:rPr>
                        <a:t>Model projects arrivals only; 300,000 jobs goal untested</a:t>
                      </a:r>
                    </a:p>
                  </a:txBody>
                  <a:tcPr marL="54864" marR="54864" marT="27432" marB="27432" anchor="ctr">
                    <a:solidFill>
                      <a:srgbClr val="FFFFFF"/>
                    </a:solidFill>
                  </a:tcPr>
                </a:tc>
                <a:tc>
                  <a:txBody>
                    <a:bodyPr wrap="square"/>
                    <a:lstStyle/>
                    <a:p>
                      <a:pPr algn="l"/>
                      <a:r>
                        <a:rPr sz="950" b="0" i="0">
                          <a:solidFill>
                            <a:srgbClr val="7F7F7F"/>
                          </a:solidFill>
                          <a:latin typeface="Arial"/>
                        </a:rPr>
                        <a:t>SLA 1.1.4.2; G4J alignment</a:t>
                      </a:r>
                    </a:p>
                  </a:txBody>
                  <a:tcPr marL="54864" marR="54864" marT="27432" marB="27432" anchor="ctr">
                    <a:solidFill>
                      <a:srgbClr val="FFFFFF"/>
                    </a:solidFill>
                  </a:tcPr>
                </a:tc>
              </a:tr>
              <a:tr h="356616">
                <a:tc>
                  <a:txBody>
                    <a:bodyPr wrap="square"/>
                    <a:lstStyle/>
                    <a:p>
                      <a:pPr algn="l"/>
                      <a:r>
                        <a:rPr sz="950" b="1" i="0">
                          <a:solidFill>
                            <a:srgbClr val="1F497D"/>
                          </a:solidFill>
                          <a:latin typeface="Arial"/>
                        </a:rPr>
                        <a:t>M&amp;E toolkit</a:t>
                      </a:r>
                    </a:p>
                  </a:txBody>
                  <a:tcPr marL="54864" marR="54864" marT="27432" marB="27432" anchor="ctr">
                    <a:solidFill>
                      <a:srgbClr val="F2F2F2"/>
                    </a:solidFill>
                  </a:tcPr>
                </a:tc>
                <a:tc>
                  <a:txBody>
                    <a:bodyPr wrap="square"/>
                    <a:lstStyle/>
                    <a:p>
                      <a:pPr algn="l"/>
                      <a:r>
                        <a:rPr sz="950" b="1" i="0">
                          <a:solidFill>
                            <a:srgbClr val="FFFFFF"/>
                          </a:solidFill>
                          <a:latin typeface="Arial"/>
                        </a:rPr>
                        <a:t>Critical</a:t>
                      </a:r>
                    </a:p>
                  </a:txBody>
                  <a:tcPr marL="54864" marR="54864" marT="27432" marB="27432" anchor="ctr">
                    <a:solidFill>
                      <a:srgbClr val="D9262B"/>
                    </a:solidFill>
                  </a:tcPr>
                </a:tc>
                <a:tc>
                  <a:txBody>
                    <a:bodyPr wrap="square"/>
                    <a:lstStyle/>
                    <a:p>
                      <a:pPr algn="l"/>
                      <a:r>
                        <a:rPr sz="950" b="0" i="0">
                          <a:solidFill>
                            <a:srgbClr val="404040"/>
                          </a:solidFill>
                          <a:latin typeface="Arial"/>
                        </a:rPr>
                        <a:t>Not tabled</a:t>
                      </a:r>
                    </a:p>
                  </a:txBody>
                  <a:tcPr marL="54864" marR="54864" marT="27432" marB="27432" anchor="ctr">
                    <a:solidFill>
                      <a:srgbClr val="F2F2F2"/>
                    </a:solidFill>
                  </a:tcPr>
                </a:tc>
                <a:tc>
                  <a:txBody>
                    <a:bodyPr wrap="square"/>
                    <a:lstStyle/>
                    <a:p>
                      <a:pPr algn="l"/>
                      <a:r>
                        <a:rPr sz="950" b="0" i="0">
                          <a:solidFill>
                            <a:srgbClr val="7F7F7F"/>
                          </a:solidFill>
                          <a:latin typeface="Arial"/>
                        </a:rPr>
                        <a:t>SLA Annexure B 1.1.10 (RFP 4.4)</a:t>
                      </a:r>
                    </a:p>
                  </a:txBody>
                  <a:tcPr marL="54864" marR="54864" marT="27432" marB="27432" anchor="ctr">
                    <a:solidFill>
                      <a:srgbClr val="F2F2F2"/>
                    </a:solidFill>
                  </a:tcPr>
                </a:tc>
              </a:tr>
              <a:tr h="356616">
                <a:tc>
                  <a:txBody>
                    <a:bodyPr wrap="square"/>
                    <a:lstStyle/>
                    <a:p>
                      <a:pPr algn="l"/>
                      <a:r>
                        <a:rPr sz="950" b="1" i="0">
                          <a:solidFill>
                            <a:srgbClr val="1F497D"/>
                          </a:solidFill>
                          <a:latin typeface="Arial"/>
                        </a:rPr>
                        <a:t>Route readiness</a:t>
                      </a:r>
                    </a:p>
                  </a:txBody>
                  <a:tcPr marL="54864" marR="54864" marT="27432" marB="27432" anchor="ctr">
                    <a:solidFill>
                      <a:srgbClr val="FFFFFF"/>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Five of six touring routes and five of six districts not yet profiled</a:t>
                      </a:r>
                    </a:p>
                  </a:txBody>
                  <a:tcPr marL="54864" marR="54864" marT="27432" marB="27432" anchor="ctr">
                    <a:solidFill>
                      <a:srgbClr val="FFFFFF"/>
                    </a:solidFill>
                  </a:tcPr>
                </a:tc>
                <a:tc>
                  <a:txBody>
                    <a:bodyPr wrap="square"/>
                    <a:lstStyle/>
                    <a:p>
                      <a:pPr algn="l"/>
                      <a:r>
                        <a:rPr sz="950" b="0" i="0">
                          <a:solidFill>
                            <a:srgbClr val="7F7F7F"/>
                          </a:solidFill>
                          <a:latin typeface="Arial"/>
                        </a:rPr>
                        <a:t>Tree 2b, 2d</a:t>
                      </a:r>
                    </a:p>
                  </a:txBody>
                  <a:tcPr marL="54864" marR="54864" marT="27432" marB="27432" anchor="ctr">
                    <a:solidFill>
                      <a:srgbClr val="FFFFFF"/>
                    </a:solidFill>
                  </a:tcPr>
                </a:tc>
              </a:tr>
              <a:tr h="356616">
                <a:tc>
                  <a:txBody>
                    <a:bodyPr wrap="square"/>
                    <a:lstStyle/>
                    <a:p>
                      <a:pPr algn="l"/>
                      <a:r>
                        <a:rPr sz="950" b="1" i="0">
                          <a:solidFill>
                            <a:srgbClr val="1F497D"/>
                          </a:solidFill>
                          <a:latin typeface="Arial"/>
                        </a:rPr>
                        <a:t>Cruise</a:t>
                      </a:r>
                    </a:p>
                  </a:txBody>
                  <a:tcPr marL="54864" marR="54864" marT="27432" marB="27432" anchor="ctr">
                    <a:solidFill>
                      <a:srgbClr val="F2F2F2"/>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Evidence exists (79 calls, ~100,000 passengers) but no analysis against the doubling target</a:t>
                      </a:r>
                    </a:p>
                  </a:txBody>
                  <a:tcPr marL="54864" marR="54864" marT="27432" marB="27432" anchor="ctr">
                    <a:solidFill>
                      <a:srgbClr val="F2F2F2"/>
                    </a:solidFill>
                  </a:tcPr>
                </a:tc>
                <a:tc>
                  <a:txBody>
                    <a:bodyPr wrap="square"/>
                    <a:lstStyle/>
                    <a:p>
                      <a:pPr algn="l"/>
                      <a:r>
                        <a:rPr sz="950" b="0" i="0">
                          <a:solidFill>
                            <a:srgbClr val="7F7F7F"/>
                          </a:solidFill>
                          <a:latin typeface="Arial"/>
                        </a:rPr>
                        <a:t>RFP s2; SLA 1.1.4.2</a:t>
                      </a:r>
                    </a:p>
                  </a:txBody>
                  <a:tcPr marL="54864" marR="54864" marT="27432" marB="27432" anchor="ctr">
                    <a:solidFill>
                      <a:srgbClr val="F2F2F2"/>
                    </a:solidFill>
                  </a:tcPr>
                </a:tc>
              </a:tr>
              <a:tr h="356616">
                <a:tc>
                  <a:txBody>
                    <a:bodyPr wrap="square"/>
                    <a:lstStyle/>
                    <a:p>
                      <a:pPr algn="l"/>
                      <a:r>
                        <a:rPr sz="950" b="1" i="0">
                          <a:solidFill>
                            <a:srgbClr val="1F497D"/>
                          </a:solidFill>
                          <a:latin typeface="Arial"/>
                        </a:rPr>
                        <a:t>ASEAN and Brazil</a:t>
                      </a:r>
                    </a:p>
                  </a:txBody>
                  <a:tcPr marL="54864" marR="54864" marT="27432" marB="27432" anchor="ctr">
                    <a:solidFill>
                      <a:srgbClr val="FFFFFF"/>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Named priority markets; analysed in no deliverable</a:t>
                      </a:r>
                    </a:p>
                  </a:txBody>
                  <a:tcPr marL="54864" marR="54864" marT="27432" marB="27432" anchor="ctr">
                    <a:solidFill>
                      <a:srgbClr val="FFFFFF"/>
                    </a:solidFill>
                  </a:tcPr>
                </a:tc>
                <a:tc>
                  <a:txBody>
                    <a:bodyPr wrap="square"/>
                    <a:lstStyle/>
                    <a:p>
                      <a:pPr algn="l"/>
                      <a:r>
                        <a:rPr sz="950" b="0" i="0">
                          <a:solidFill>
                            <a:srgbClr val="7F7F7F"/>
                          </a:solidFill>
                          <a:latin typeface="Arial"/>
                        </a:rPr>
                        <a:t>Tree 1e; RFP s2</a:t>
                      </a:r>
                    </a:p>
                  </a:txBody>
                  <a:tcPr marL="54864" marR="54864" marT="27432" marB="27432" anchor="ctr">
                    <a:solidFill>
                      <a:srgbClr val="FFFFFF"/>
                    </a:solidFill>
                  </a:tcPr>
                </a:tc>
              </a:tr>
              <a:tr h="356616">
                <a:tc>
                  <a:txBody>
                    <a:bodyPr wrap="square"/>
                    <a:lstStyle/>
                    <a:p>
                      <a:pPr algn="l"/>
                      <a:r>
                        <a:rPr sz="950" b="1" i="0">
                          <a:solidFill>
                            <a:srgbClr val="1F497D"/>
                          </a:solidFill>
                          <a:latin typeface="Arial"/>
                        </a:rPr>
                        <a:t>Mega events</a:t>
                      </a:r>
                    </a:p>
                  </a:txBody>
                  <a:tcPr marL="54864" marR="54864" marT="27432" marB="27432" anchor="ctr">
                    <a:solidFill>
                      <a:srgbClr val="F2F2F2"/>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MICE covered; mega-event pipeline and bidding strategy absent</a:t>
                      </a:r>
                    </a:p>
                  </a:txBody>
                  <a:tcPr marL="54864" marR="54864" marT="27432" marB="27432" anchor="ctr">
                    <a:solidFill>
                      <a:srgbClr val="F2F2F2"/>
                    </a:solidFill>
                  </a:tcPr>
                </a:tc>
                <a:tc>
                  <a:txBody>
                    <a:bodyPr wrap="square"/>
                    <a:lstStyle/>
                    <a:p>
                      <a:pPr algn="l"/>
                      <a:r>
                        <a:rPr sz="950" b="0" i="0">
                          <a:solidFill>
                            <a:srgbClr val="7F7F7F"/>
                          </a:solidFill>
                          <a:latin typeface="Arial"/>
                        </a:rPr>
                        <a:t>Tree 1c</a:t>
                      </a:r>
                    </a:p>
                  </a:txBody>
                  <a:tcPr marL="54864" marR="54864" marT="27432" marB="27432" anchor="ctr">
                    <a:solidFill>
                      <a:srgbClr val="F2F2F2"/>
                    </a:solidFill>
                  </a:tcPr>
                </a:tc>
              </a:tr>
              <a:tr h="356616">
                <a:tc>
                  <a:txBody>
                    <a:bodyPr wrap="square"/>
                    <a:lstStyle/>
                    <a:p>
                      <a:pPr algn="l"/>
                      <a:r>
                        <a:rPr sz="950" b="1" i="0">
                          <a:solidFill>
                            <a:srgbClr val="1F497D"/>
                          </a:solidFill>
                          <a:latin typeface="Arial"/>
                        </a:rPr>
                        <a:t>Safety and visas</a:t>
                      </a:r>
                    </a:p>
                  </a:txBody>
                  <a:tcPr marL="54864" marR="54864" marT="27432" marB="27432" anchor="ctr">
                    <a:solidFill>
                      <a:srgbClr val="FFFFFF"/>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Perception and modelled evidence only; DHA and SAPS not engaged</a:t>
                      </a:r>
                    </a:p>
                  </a:txBody>
                  <a:tcPr marL="54864" marR="54864" marT="27432" marB="27432" anchor="ctr">
                    <a:solidFill>
                      <a:srgbClr val="FFFFFF"/>
                    </a:solidFill>
                  </a:tcPr>
                </a:tc>
                <a:tc>
                  <a:txBody>
                    <a:bodyPr wrap="square"/>
                    <a:lstStyle/>
                    <a:p>
                      <a:pPr algn="l"/>
                      <a:r>
                        <a:rPr sz="950" b="0" i="0">
                          <a:solidFill>
                            <a:srgbClr val="7F7F7F"/>
                          </a:solidFill>
                          <a:latin typeface="Arial"/>
                        </a:rPr>
                        <a:t>Tree 2c</a:t>
                      </a:r>
                    </a:p>
                  </a:txBody>
                  <a:tcPr marL="54864" marR="54864" marT="27432" marB="27432" anchor="ctr">
                    <a:solidFill>
                      <a:srgbClr val="FFFFFF"/>
                    </a:solidFill>
                  </a:tcPr>
                </a:tc>
              </a:tr>
              <a:tr h="356616">
                <a:tc>
                  <a:txBody>
                    <a:bodyPr wrap="square"/>
                    <a:lstStyle/>
                    <a:p>
                      <a:pPr algn="l"/>
                      <a:r>
                        <a:rPr sz="950" b="1" i="0">
                          <a:solidFill>
                            <a:srgbClr val="1F497D"/>
                          </a:solidFill>
                          <a:latin typeface="Arial"/>
                        </a:rPr>
                        <a:t>Skills, technology, sustainability</a:t>
                      </a:r>
                    </a:p>
                  </a:txBody>
                  <a:tcPr marL="54864" marR="54864" marT="27432" marB="27432" anchor="ctr">
                    <a:solidFill>
                      <a:srgbClr val="F2F2F2"/>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No labour, digital-maturity or carbon-smart analysis</a:t>
                      </a:r>
                    </a:p>
                  </a:txBody>
                  <a:tcPr marL="54864" marR="54864" marT="27432" marB="27432" anchor="ctr">
                    <a:solidFill>
                      <a:srgbClr val="F2F2F2"/>
                    </a:solidFill>
                  </a:tcPr>
                </a:tc>
                <a:tc>
                  <a:txBody>
                    <a:bodyPr wrap="square"/>
                    <a:lstStyle/>
                    <a:p>
                      <a:pPr algn="l"/>
                      <a:r>
                        <a:rPr sz="950" b="0" i="0">
                          <a:solidFill>
                            <a:srgbClr val="7F7F7F"/>
                          </a:solidFill>
                          <a:latin typeface="Arial"/>
                        </a:rPr>
                        <a:t>Tree 3b, 3c; RFP s2, s3.3</a:t>
                      </a:r>
                    </a:p>
                  </a:txBody>
                  <a:tcPr marL="54864" marR="54864" marT="27432" marB="27432" anchor="ctr">
                    <a:solidFill>
                      <a:srgbClr val="F2F2F2"/>
                    </a:solidFill>
                  </a:tcPr>
                </a:tc>
              </a:tr>
              <a:tr h="356616">
                <a:tc>
                  <a:txBody>
                    <a:bodyPr wrap="square"/>
                    <a:lstStyle/>
                    <a:p>
                      <a:pPr algn="l"/>
                      <a:r>
                        <a:rPr sz="950" b="1" i="0">
                          <a:solidFill>
                            <a:srgbClr val="1F497D"/>
                          </a:solidFill>
                          <a:latin typeface="Arial"/>
                        </a:rPr>
                        <a:t>Roles across government tiers</a:t>
                      </a:r>
                    </a:p>
                  </a:txBody>
                  <a:tcPr marL="54864" marR="54864" marT="27432" marB="27432" anchor="ctr">
                    <a:solidFill>
                      <a:srgbClr val="FFFFFF"/>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Mandates described; no responsibility map</a:t>
                      </a:r>
                    </a:p>
                  </a:txBody>
                  <a:tcPr marL="54864" marR="54864" marT="27432" marB="27432" anchor="ctr">
                    <a:solidFill>
                      <a:srgbClr val="FFFFFF"/>
                    </a:solidFill>
                  </a:tcPr>
                </a:tc>
                <a:tc>
                  <a:txBody>
                    <a:bodyPr wrap="square"/>
                    <a:lstStyle/>
                    <a:p>
                      <a:pPr algn="l"/>
                      <a:r>
                        <a:rPr sz="950" b="0" i="0">
                          <a:solidFill>
                            <a:srgbClr val="7F7F7F"/>
                          </a:solidFill>
                          <a:latin typeface="Arial"/>
                        </a:rPr>
                        <a:t>SLA Annexure B 1.1.14.3</a:t>
                      </a:r>
                    </a:p>
                  </a:txBody>
                  <a:tcPr marL="54864" marR="54864" marT="27432" marB="27432" anchor="ctr">
                    <a:solidFill>
                      <a:srgbClr val="FFFFFF"/>
                    </a:solidFill>
                  </a:tcPr>
                </a:tc>
              </a:tr>
              <a:tr h="356616">
                <a:tc>
                  <a:txBody>
                    <a:bodyPr wrap="square"/>
                    <a:lstStyle/>
                    <a:p>
                      <a:pPr algn="l"/>
                      <a:r>
                        <a:rPr sz="950" b="1" i="0">
                          <a:solidFill>
                            <a:srgbClr val="1F497D"/>
                          </a:solidFill>
                          <a:latin typeface="Arial"/>
                        </a:rPr>
                        <a:t>Stakeholder coverage</a:t>
                      </a:r>
                    </a:p>
                  </a:txBody>
                  <a:tcPr marL="54864" marR="54864" marT="27432" marB="27432" anchor="ctr">
                    <a:solidFill>
                      <a:srgbClr val="F2F2F2"/>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Airlines, trade, SA Tourism, City, DHA and Wesgro not yet heard</a:t>
                      </a:r>
                    </a:p>
                  </a:txBody>
                  <a:tcPr marL="54864" marR="54864" marT="27432" marB="27432" anchor="ctr">
                    <a:solidFill>
                      <a:srgbClr val="F2F2F2"/>
                    </a:solidFill>
                  </a:tcPr>
                </a:tc>
                <a:tc>
                  <a:txBody>
                    <a:bodyPr wrap="square"/>
                    <a:lstStyle/>
                    <a:p>
                      <a:pPr algn="l"/>
                      <a:r>
                        <a:rPr sz="950" b="0" i="0">
                          <a:solidFill>
                            <a:srgbClr val="7F7F7F"/>
                          </a:solidFill>
                          <a:latin typeface="Arial"/>
                        </a:rPr>
                        <a:t>SLA Annexure B 1.1.6</a:t>
                      </a:r>
                    </a:p>
                  </a:txBody>
                  <a:tcPr marL="54864" marR="54864" marT="27432" marB="27432" anchor="ctr">
                    <a:solidFill>
                      <a:srgbClr val="F2F2F2"/>
                    </a:solidFill>
                  </a:tcPr>
                </a:tc>
              </a:tr>
              <a:tr h="356616">
                <a:tc>
                  <a:txBody>
                    <a:bodyPr wrap="square"/>
                    <a:lstStyle/>
                    <a:p>
                      <a:pPr algn="l"/>
                      <a:r>
                        <a:rPr sz="950" b="1" i="0">
                          <a:solidFill>
                            <a:srgbClr val="1F497D"/>
                          </a:solidFill>
                          <a:latin typeface="Arial"/>
                        </a:rPr>
                        <a:t>Target metric and baseline</a:t>
                      </a:r>
                    </a:p>
                  </a:txBody>
                  <a:tcPr marL="54864" marR="54864" marT="27432" marB="27432" anchor="ctr">
                    <a:solidFill>
                      <a:srgbClr val="FFFFFF"/>
                    </a:solidFill>
                  </a:tcPr>
                </a:tc>
                <a:tc>
                  <a:txBody>
                    <a:bodyPr wrap="square"/>
                    <a:lstStyle/>
                    <a:p>
                      <a:pPr algn="l"/>
                      <a:r>
                        <a:rPr sz="950" b="1" i="0">
                          <a:solidFill>
                            <a:srgbClr val="262626"/>
                          </a:solidFill>
                          <a:latin typeface="Arial"/>
                        </a:rPr>
                        <a:t>Material</a:t>
                      </a:r>
                    </a:p>
                  </a:txBody>
                  <a:tcPr marL="54864" marR="54864" marT="27432" marB="27432" anchor="ctr">
                    <a:solidFill>
                      <a:srgbClr val="F2A900"/>
                    </a:solidFill>
                  </a:tcPr>
                </a:tc>
                <a:tc>
                  <a:txBody>
                    <a:bodyPr wrap="square"/>
                    <a:lstStyle/>
                    <a:p>
                      <a:pPr algn="l"/>
                      <a:r>
                        <a:rPr sz="950" b="0" i="0">
                          <a:solidFill>
                            <a:srgbClr val="404040"/>
                          </a:solidFill>
                          <a:latin typeface="Arial"/>
                        </a:rPr>
                        <a:t>Several baselines in circulation (appendix)</a:t>
                      </a:r>
                    </a:p>
                  </a:txBody>
                  <a:tcPr marL="54864" marR="54864" marT="27432" marB="27432" anchor="ctr">
                    <a:solidFill>
                      <a:srgbClr val="FFFFFF"/>
                    </a:solidFill>
                  </a:tcPr>
                </a:tc>
                <a:tc>
                  <a:txBody>
                    <a:bodyPr wrap="square"/>
                    <a:lstStyle/>
                    <a:p>
                      <a:pPr algn="l"/>
                      <a:r>
                        <a:rPr sz="950" b="0" i="0">
                          <a:solidFill>
                            <a:srgbClr val="7F7F7F"/>
                          </a:solidFill>
                          <a:latin typeface="Arial"/>
                        </a:rPr>
                        <a:t>SLA 1.1.4.2</a:t>
                      </a:r>
                    </a:p>
                  </a:txBody>
                  <a:tcPr marL="54864" marR="54864" marT="27432" marB="27432"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Marketing is the largest gap: the tree leans on it, yet no workstream has analysed it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MARKETING AND BRAND</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Demand-Side Analysis (Jun 2026) pp43-55; Stakeholder Insights Report (Mar 2026); Global Benchmarking Report (Mar 2026); Infrastructure Report (Jun 2026); Cape brand identity concept (2026); DSE factbase (Wesgro 2026-30 plan)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188720"/>
            <a:ext cx="3703320" cy="2926080"/>
          </a:xfrm>
          <a:prstGeom prst="rect">
            <a:avLst/>
          </a:prstGeom>
          <a:solidFill>
            <a:srgbClr val="F2F2F2"/>
          </a:solidFill>
          <a:ln>
            <a:noFill/>
          </a:ln>
        </p:spPr>
        <p:txBody>
          <a:bodyPr rtlCol="0" anchor="ctr"/>
          <a:lstStyle/>
          <a:p>
            <a:pPr algn="ctr"/>
          </a:p>
        </p:txBody>
      </p:sp>
      <p:sp>
        <p:nvSpPr>
          <p:cNvPr id="9" name="Rectangle 8"/>
          <p:cNvSpPr/>
          <p:nvPr/>
        </p:nvSpPr>
        <p:spPr>
          <a:xfrm>
            <a:off x="384048" y="1188720"/>
            <a:ext cx="54864" cy="2926080"/>
          </a:xfrm>
          <a:prstGeom prst="rect">
            <a:avLst/>
          </a:prstGeom>
          <a:solidFill>
            <a:srgbClr val="00AEEF"/>
          </a:solidFill>
          <a:ln>
            <a:noFill/>
          </a:ln>
        </p:spPr>
        <p:txBody>
          <a:bodyPr rtlCol="0" anchor="ctr"/>
          <a:lstStyle/>
          <a:p>
            <a:pPr algn="ctr"/>
          </a:p>
        </p:txBody>
      </p:sp>
      <p:sp>
        <p:nvSpPr>
          <p:cNvPr id="10" name="TextBox 9"/>
          <p:cNvSpPr txBox="1"/>
          <p:nvPr/>
        </p:nvSpPr>
        <p:spPr>
          <a:xfrm>
            <a:off x="548640"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we already know</a:t>
            </a:r>
          </a:p>
        </p:txBody>
      </p:sp>
      <p:sp>
        <p:nvSpPr>
          <p:cNvPr id="11" name="TextBox 10"/>
          <p:cNvSpPr txBox="1"/>
          <p:nvPr/>
        </p:nvSpPr>
        <p:spPr>
          <a:xfrm>
            <a:off x="548640" y="1600200"/>
            <a:ext cx="3429000" cy="24231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1000" b="0" i="0">
                <a:solidFill>
                  <a:srgbClr val="404040"/>
                </a:solidFill>
                <a:latin typeface="Arial"/>
              </a:rPr>
              <a:t>Platform maps for China, India and the Gulf</a:t>
            </a:r>
          </a:p>
          <a:p>
            <a:pPr algn="l" marL="146304" indent="-146304">
              <a:spcAft>
                <a:spcPts val="500"/>
              </a:spcAft>
              <a:buClr>
                <a:srgbClr val="00AEEF"/>
              </a:buClr>
              <a:buFont typeface="Arial"/>
              <a:buChar char="•"/>
            </a:pPr>
            <a:r>
              <a:rPr sz="1000" b="0" i="0">
                <a:solidFill>
                  <a:srgbClr val="404040"/>
                </a:solidFill>
                <a:latin typeface="Arial"/>
              </a:rPr>
              <a:t>Rural product is largely unbookable</a:t>
            </a:r>
          </a:p>
          <a:p>
            <a:pPr algn="l" marL="146304" indent="-146304">
              <a:spcAft>
                <a:spcPts val="500"/>
              </a:spcAft>
              <a:buClr>
                <a:srgbClr val="00AEEF"/>
              </a:buClr>
              <a:buFont typeface="Arial"/>
              <a:buChar char="•"/>
            </a:pPr>
            <a:r>
              <a:rPr sz="1000" b="0" i="0">
                <a:solidFill>
                  <a:srgbClr val="404040"/>
                </a:solidFill>
                <a:latin typeface="Arial"/>
              </a:rPr>
              <a:t>NZ route-tied marketing: 16,000+ bookings, ~NZ$55m</a:t>
            </a:r>
          </a:p>
          <a:p>
            <a:pPr algn="l" marL="146304" indent="-146304">
              <a:spcAft>
                <a:spcPts val="500"/>
              </a:spcAft>
              <a:buClr>
                <a:srgbClr val="00AEEF"/>
              </a:buClr>
              <a:buFont typeface="Arial"/>
              <a:buChar char="•"/>
            </a:pPr>
            <a:r>
              <a:rPr sz="1000" b="0" i="0">
                <a:solidFill>
                  <a:srgbClr val="404040"/>
                </a:solidFill>
                <a:latin typeface="Arial"/>
              </a:rPr>
              <a:t>Melbourne aligns brand, events and routes</a:t>
            </a:r>
          </a:p>
          <a:p>
            <a:pPr algn="l" marL="146304" indent="-146304">
              <a:spcAft>
                <a:spcPts val="500"/>
              </a:spcAft>
              <a:buClr>
                <a:srgbClr val="00AEEF"/>
              </a:buClr>
              <a:buFont typeface="Arial"/>
              <a:buChar char="•"/>
            </a:pPr>
            <a:r>
              <a:rPr sz="1000" b="0" i="0">
                <a:solidFill>
                  <a:srgbClr val="404040"/>
                </a:solidFill>
                <a:latin typeface="Arial"/>
              </a:rPr>
              <a:t>Wesgro plans 3 campaigns and 12,500 trade engagements (Strategic Plan 2026-30 p20)</a:t>
            </a:r>
          </a:p>
        </p:txBody>
      </p:sp>
      <p:sp>
        <p:nvSpPr>
          <p:cNvPr id="12" name="Rectangle 11"/>
          <p:cNvSpPr/>
          <p:nvPr/>
        </p:nvSpPr>
        <p:spPr>
          <a:xfrm>
            <a:off x="4242816" y="1188720"/>
            <a:ext cx="3703320" cy="2926080"/>
          </a:xfrm>
          <a:prstGeom prst="rect">
            <a:avLst/>
          </a:prstGeom>
          <a:solidFill>
            <a:srgbClr val="F2F2F2"/>
          </a:solidFill>
          <a:ln>
            <a:noFill/>
          </a:ln>
        </p:spPr>
        <p:txBody>
          <a:bodyPr rtlCol="0" anchor="ctr"/>
          <a:lstStyle/>
          <a:p>
            <a:pPr algn="ctr"/>
          </a:p>
        </p:txBody>
      </p:sp>
      <p:sp>
        <p:nvSpPr>
          <p:cNvPr id="13" name="Rectangle 12"/>
          <p:cNvSpPr/>
          <p:nvPr/>
        </p:nvSpPr>
        <p:spPr>
          <a:xfrm>
            <a:off x="4242816" y="1188720"/>
            <a:ext cx="54864" cy="2926080"/>
          </a:xfrm>
          <a:prstGeom prst="rect">
            <a:avLst/>
          </a:prstGeom>
          <a:solidFill>
            <a:srgbClr val="00AEEF"/>
          </a:solidFill>
          <a:ln>
            <a:noFill/>
          </a:ln>
        </p:spPr>
        <p:txBody>
          <a:bodyPr rtlCol="0" anchor="ctr"/>
          <a:lstStyle/>
          <a:p>
            <a:pPr algn="ctr"/>
          </a:p>
        </p:txBody>
      </p:sp>
      <p:sp>
        <p:nvSpPr>
          <p:cNvPr id="14" name="TextBox 13"/>
          <p:cNvSpPr txBox="1"/>
          <p:nvPr/>
        </p:nvSpPr>
        <p:spPr>
          <a:xfrm>
            <a:off x="4407407"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What is missing</a:t>
            </a:r>
          </a:p>
        </p:txBody>
      </p:sp>
      <p:sp>
        <p:nvSpPr>
          <p:cNvPr id="15" name="TextBox 14"/>
          <p:cNvSpPr txBox="1"/>
          <p:nvPr/>
        </p:nvSpPr>
        <p:spPr>
          <a:xfrm>
            <a:off x="4407407" y="1600200"/>
            <a:ext cx="3429000" cy="24231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1000" b="0" i="0">
                <a:solidFill>
                  <a:srgbClr val="404040"/>
                </a:solidFill>
                <a:latin typeface="Arial"/>
              </a:rPr>
              <a:t>Spend, mix and return of current marketing</a:t>
            </a:r>
          </a:p>
          <a:p>
            <a:pPr algn="l" marL="146304" indent="-146304">
              <a:spcAft>
                <a:spcPts val="500"/>
              </a:spcAft>
              <a:buClr>
                <a:srgbClr val="00AEEF"/>
              </a:buClr>
              <a:buFont typeface="Arial"/>
              <a:buChar char="•"/>
            </a:pPr>
            <a:r>
              <a:rPr sz="1000" b="0" i="0">
                <a:solidFill>
                  <a:srgbClr val="404040"/>
                </a:solidFill>
                <a:latin typeface="Arial"/>
              </a:rPr>
              <a:t>Brand health and perception by market</a:t>
            </a:r>
          </a:p>
          <a:p>
            <a:pPr algn="l" marL="146304" indent="-146304">
              <a:spcAft>
                <a:spcPts val="500"/>
              </a:spcAft>
              <a:buClr>
                <a:srgbClr val="00AEEF"/>
              </a:buClr>
              <a:buFont typeface="Arial"/>
              <a:buChar char="•"/>
            </a:pPr>
            <a:r>
              <a:rPr sz="1000" b="0" i="0">
                <a:solidFill>
                  <a:srgbClr val="404040"/>
                </a:solidFill>
                <a:latin typeface="Arial"/>
              </a:rPr>
              <a:t>Segment sizing and fit</a:t>
            </a:r>
          </a:p>
          <a:p>
            <a:pPr algn="l" marL="146304" indent="-146304">
              <a:spcAft>
                <a:spcPts val="500"/>
              </a:spcAft>
              <a:buClr>
                <a:srgbClr val="00AEEF"/>
              </a:buClr>
              <a:buFont typeface="Arial"/>
              <a:buChar char="•"/>
            </a:pPr>
            <a:r>
              <a:rPr sz="1000" b="0" i="0">
                <a:solidFill>
                  <a:srgbClr val="404040"/>
                </a:solidFill>
                <a:latin typeface="Arial"/>
              </a:rPr>
              <a:t>Roles of Wesgro, SA Tourism (whose weakness DEDAT rates High) and Cape Town Tourism</a:t>
            </a:r>
          </a:p>
          <a:p>
            <a:pPr algn="l" marL="146304" indent="-146304">
              <a:spcAft>
                <a:spcPts val="500"/>
              </a:spcAft>
              <a:buClr>
                <a:srgbClr val="00AEEF"/>
              </a:buClr>
              <a:buFont typeface="Arial"/>
              <a:buChar char="•"/>
            </a:pPr>
            <a:r>
              <a:rPr sz="1000" b="0" i="0">
                <a:solidFill>
                  <a:srgbClr val="404040"/>
                </a:solidFill>
                <a:latin typeface="Arial"/>
              </a:rPr>
              <a:t>Peer budget benchmarks; test of "The Cape" concept</a:t>
            </a:r>
          </a:p>
        </p:txBody>
      </p:sp>
      <p:sp>
        <p:nvSpPr>
          <p:cNvPr id="16" name="Rectangle 15"/>
          <p:cNvSpPr/>
          <p:nvPr/>
        </p:nvSpPr>
        <p:spPr>
          <a:xfrm>
            <a:off x="8101583" y="1188720"/>
            <a:ext cx="3703320" cy="2926080"/>
          </a:xfrm>
          <a:prstGeom prst="rect">
            <a:avLst/>
          </a:prstGeom>
          <a:solidFill>
            <a:srgbClr val="F2F2F2"/>
          </a:solidFill>
          <a:ln>
            <a:noFill/>
          </a:ln>
        </p:spPr>
        <p:txBody>
          <a:bodyPr rtlCol="0" anchor="ctr"/>
          <a:lstStyle/>
          <a:p>
            <a:pPr algn="ctr"/>
          </a:p>
        </p:txBody>
      </p:sp>
      <p:sp>
        <p:nvSpPr>
          <p:cNvPr id="17" name="Rectangle 16"/>
          <p:cNvSpPr/>
          <p:nvPr/>
        </p:nvSpPr>
        <p:spPr>
          <a:xfrm>
            <a:off x="8101583" y="1188720"/>
            <a:ext cx="54864" cy="2926080"/>
          </a:xfrm>
          <a:prstGeom prst="rect">
            <a:avLst/>
          </a:prstGeom>
          <a:solidFill>
            <a:srgbClr val="00AEEF"/>
          </a:solidFill>
          <a:ln>
            <a:noFill/>
          </a:ln>
        </p:spPr>
        <p:txBody>
          <a:bodyPr rtlCol="0" anchor="ctr"/>
          <a:lstStyle/>
          <a:p>
            <a:pPr algn="ctr"/>
          </a:p>
        </p:txBody>
      </p:sp>
      <p:sp>
        <p:nvSpPr>
          <p:cNvPr id="18" name="TextBox 17"/>
          <p:cNvSpPr txBox="1"/>
          <p:nvPr/>
        </p:nvSpPr>
        <p:spPr>
          <a:xfrm>
            <a:off x="8266175" y="1280160"/>
            <a:ext cx="3429000" cy="292608"/>
          </a:xfrm>
          <a:prstGeom prst="rect">
            <a:avLst/>
          </a:prstGeom>
          <a:noFill/>
        </p:spPr>
        <p:txBody>
          <a:bodyPr wrap="square" anchor="t" lIns="36576" rIns="36576" tIns="21945" bIns="21945">
            <a:spAutoFit/>
          </a:bodyPr>
          <a:lstStyle/>
          <a:p>
            <a:pPr algn="l">
              <a:spcAft>
                <a:spcPts val="0"/>
              </a:spcAft>
            </a:pPr>
            <a:r>
              <a:rPr sz="1100" b="1" i="0">
                <a:solidFill>
                  <a:srgbClr val="1F497D"/>
                </a:solidFill>
                <a:latin typeface="Arial"/>
              </a:rPr>
              <a:t>Questions to answer</a:t>
            </a:r>
          </a:p>
        </p:txBody>
      </p:sp>
      <p:sp>
        <p:nvSpPr>
          <p:cNvPr id="19" name="TextBox 18"/>
          <p:cNvSpPr txBox="1"/>
          <p:nvPr/>
        </p:nvSpPr>
        <p:spPr>
          <a:xfrm>
            <a:off x="8266175" y="1600200"/>
            <a:ext cx="3429000" cy="2423160"/>
          </a:xfrm>
          <a:prstGeom prst="rect">
            <a:avLst/>
          </a:prstGeom>
          <a:noFill/>
        </p:spPr>
        <p:txBody>
          <a:bodyPr wrap="square" anchor="t" lIns="36576" rIns="36576" tIns="21945" bIns="21945">
            <a:spAutoFit/>
          </a:bodyPr>
          <a:lstStyle/>
          <a:p>
            <a:pPr algn="l" marL="146304" indent="-146304">
              <a:spcAft>
                <a:spcPts val="500"/>
              </a:spcAft>
              <a:buClr>
                <a:srgbClr val="00AEEF"/>
              </a:buClr>
              <a:buFont typeface="Arial"/>
              <a:buChar char="•"/>
            </a:pPr>
            <a:r>
              <a:rPr sz="1000" b="0" i="0">
                <a:solidFill>
                  <a:srgbClr val="404040"/>
                </a:solidFill>
                <a:latin typeface="Arial"/>
              </a:rPr>
              <a:t>Which markets and segments earn the next rand?</a:t>
            </a:r>
          </a:p>
          <a:p>
            <a:pPr algn="l" marL="146304" indent="-146304">
              <a:spcAft>
                <a:spcPts val="500"/>
              </a:spcAft>
              <a:buClr>
                <a:srgbClr val="00AEEF"/>
              </a:buClr>
              <a:buFont typeface="Arial"/>
              <a:buChar char="•"/>
            </a:pPr>
            <a:r>
              <a:rPr sz="1000" b="0" i="0">
                <a:solidFill>
                  <a:srgbClr val="404040"/>
                </a:solidFill>
                <a:latin typeface="Arial"/>
              </a:rPr>
              <a:t>What brand architecture serves the province?</a:t>
            </a:r>
          </a:p>
          <a:p>
            <a:pPr algn="l" marL="146304" indent="-146304">
              <a:spcAft>
                <a:spcPts val="500"/>
              </a:spcAft>
              <a:buClr>
                <a:srgbClr val="00AEEF"/>
              </a:buClr>
              <a:buFont typeface="Arial"/>
              <a:buChar char="•"/>
            </a:pPr>
            <a:r>
              <a:rPr sz="1000" b="0" i="0">
                <a:solidFill>
                  <a:srgbClr val="404040"/>
                </a:solidFill>
                <a:latin typeface="Arial"/>
              </a:rPr>
              <a:t>How should marketing link to route deals?</a:t>
            </a:r>
          </a:p>
          <a:p>
            <a:pPr algn="l" marL="146304" indent="-146304">
              <a:spcAft>
                <a:spcPts val="500"/>
              </a:spcAft>
              <a:buClr>
                <a:srgbClr val="00AEEF"/>
              </a:buClr>
              <a:buFont typeface="Arial"/>
              <a:buChar char="•"/>
            </a:pPr>
            <a:r>
              <a:rPr sz="1000" b="0" i="0">
                <a:solidFill>
                  <a:srgbClr val="404040"/>
                </a:solidFill>
                <a:latin typeface="Arial"/>
              </a:rPr>
              <a:t>What KPIs prove bookings, not reach?</a:t>
            </a:r>
          </a:p>
        </p:txBody>
      </p:sp>
      <p:graphicFrame>
        <p:nvGraphicFramePr>
          <p:cNvPr id="20" name="Table 19"/>
          <p:cNvGraphicFramePr>
            <a:graphicFrameLocks noGrp="1"/>
          </p:cNvGraphicFramePr>
          <p:nvPr/>
        </p:nvGraphicFramePr>
        <p:xfrm>
          <a:off x="384048" y="4251960"/>
          <a:ext cx="11420856" cy="1389888"/>
        </p:xfrm>
        <a:graphic>
          <a:graphicData uri="http://schemas.openxmlformats.org/drawingml/2006/table">
            <a:tbl>
              <a:tblPr firstRow="1" bandRow="0">
                <a:tableStyleId>{5C22544A-7EE6-4342-B048-85BDC9FD1C3A}</a:tableStyleId>
              </a:tblPr>
              <a:tblGrid>
                <a:gridCol w="3291840"/>
                <a:gridCol w="5751576"/>
                <a:gridCol w="1097280"/>
                <a:gridCol w="1280160"/>
              </a:tblGrid>
              <a:tr h="347472">
                <a:tc>
                  <a:txBody>
                    <a:bodyPr wrap="square"/>
                    <a:lstStyle/>
                    <a:p>
                      <a:pPr algn="l"/>
                      <a:r>
                        <a:rPr sz="1000" b="1" i="0">
                          <a:solidFill>
                            <a:srgbClr val="FFFFFF"/>
                          </a:solidFill>
                          <a:latin typeface="Arial"/>
                        </a:rPr>
                        <a:t>Option to close the gap</a:t>
                      </a:r>
                    </a:p>
                  </a:txBody>
                  <a:tcPr marL="54864" marR="54864" marT="27432" marB="27432" anchor="ctr">
                    <a:solidFill>
                      <a:srgbClr val="1F497D"/>
                    </a:solidFill>
                  </a:tcPr>
                </a:tc>
                <a:tc>
                  <a:txBody>
                    <a:bodyPr wrap="square"/>
                    <a:lstStyle/>
                    <a:p>
                      <a:pPr algn="l"/>
                      <a:r>
                        <a:rPr sz="1000" b="1" i="0">
                          <a:solidFill>
                            <a:srgbClr val="FFFFFF"/>
                          </a:solidFill>
                          <a:latin typeface="Arial"/>
                        </a:rPr>
                        <a:t>What it delivers</a:t>
                      </a:r>
                    </a:p>
                  </a:txBody>
                  <a:tcPr marL="54864" marR="54864" marT="27432" marB="27432" anchor="ctr">
                    <a:solidFill>
                      <a:srgbClr val="1F497D"/>
                    </a:solidFill>
                  </a:tcPr>
                </a:tc>
                <a:tc>
                  <a:txBody>
                    <a:bodyPr wrap="square"/>
                    <a:lstStyle/>
                    <a:p>
                      <a:pPr algn="l"/>
                      <a:r>
                        <a:rPr sz="1000" b="1" i="0">
                          <a:solidFill>
                            <a:srgbClr val="FFFFFF"/>
                          </a:solidFill>
                          <a:latin typeface="Arial"/>
                        </a:rPr>
                        <a:t>Effort</a:t>
                      </a:r>
                    </a:p>
                  </a:txBody>
                  <a:tcPr marL="54864" marR="54864" marT="27432" marB="27432" anchor="ctr">
                    <a:solidFill>
                      <a:srgbClr val="1F497D"/>
                    </a:solidFill>
                  </a:tcPr>
                </a:tc>
                <a:tc>
                  <a:txBody>
                    <a:bodyPr wrap="square"/>
                    <a:lstStyle/>
                    <a:p>
                      <a:pPr algn="l"/>
                      <a:r>
                        <a:rPr sz="1000" b="1" i="0">
                          <a:solidFill>
                            <a:srgbClr val="FFFFFF"/>
                          </a:solidFill>
                          <a:latin typeface="Arial"/>
                        </a:rPr>
                        <a:t>Ready by</a:t>
                      </a:r>
                    </a:p>
                  </a:txBody>
                  <a:tcPr marL="54864" marR="54864" marT="27432" marB="27432" anchor="ctr">
                    <a:solidFill>
                      <a:srgbClr val="1F497D"/>
                    </a:solidFill>
                  </a:tcPr>
                </a:tc>
              </a:tr>
              <a:tr h="347472">
                <a:tc>
                  <a:txBody>
                    <a:bodyPr wrap="square"/>
                    <a:lstStyle/>
                    <a:p>
                      <a:pPr algn="l"/>
                      <a:r>
                        <a:rPr sz="1000" b="1" i="0">
                          <a:solidFill>
                            <a:srgbClr val="1F497D"/>
                          </a:solidFill>
                          <a:latin typeface="Arial"/>
                        </a:rPr>
                        <a:t>A. Rapid marketing and brand audit</a:t>
                      </a:r>
                    </a:p>
                  </a:txBody>
                  <a:tcPr marL="54864" marR="54864" marT="27432" marB="27432" anchor="ctr">
                    <a:solidFill>
                      <a:srgbClr val="FFFFFF"/>
                    </a:solidFill>
                  </a:tcPr>
                </a:tc>
                <a:tc>
                  <a:txBody>
                    <a:bodyPr wrap="square"/>
                    <a:lstStyle/>
                    <a:p>
                      <a:pPr algn="l"/>
                      <a:r>
                        <a:rPr sz="1000" b="0" i="0">
                          <a:solidFill>
                            <a:srgbClr val="404040"/>
                          </a:solidFill>
                          <a:latin typeface="Arial"/>
                        </a:rPr>
                        <a:t>Spend, channel and KPI baseline from Wesgro data; 4-5 interviews</a:t>
                      </a:r>
                    </a:p>
                  </a:txBody>
                  <a:tcPr marL="54864" marR="54864" marT="27432" marB="27432" anchor="ctr">
                    <a:solidFill>
                      <a:srgbClr val="FFFFFF"/>
                    </a:solidFill>
                  </a:tcPr>
                </a:tc>
                <a:tc>
                  <a:txBody>
                    <a:bodyPr wrap="square"/>
                    <a:lstStyle/>
                    <a:p>
                      <a:pPr algn="l"/>
                      <a:r>
                        <a:rPr sz="1000" b="0" i="0">
                          <a:solidFill>
                            <a:srgbClr val="404040"/>
                          </a:solidFill>
                          <a:latin typeface="Arial"/>
                        </a:rPr>
                        <a:t>Medium</a:t>
                      </a:r>
                    </a:p>
                  </a:txBody>
                  <a:tcPr marL="54864" marR="54864" marT="27432" marB="27432" anchor="ctr">
                    <a:solidFill>
                      <a:srgbClr val="FFFFFF"/>
                    </a:solidFill>
                  </a:tcPr>
                </a:tc>
                <a:tc>
                  <a:txBody>
                    <a:bodyPr wrap="square"/>
                    <a:lstStyle/>
                    <a:p>
                      <a:pPr algn="l"/>
                      <a:r>
                        <a:rPr sz="1000" b="0" i="0">
                          <a:solidFill>
                            <a:srgbClr val="404040"/>
                          </a:solidFill>
                          <a:latin typeface="Arial"/>
                        </a:rPr>
                        <a:t>Week 3</a:t>
                      </a:r>
                    </a:p>
                  </a:txBody>
                  <a:tcPr marL="54864" marR="54864" marT="27432" marB="27432" anchor="ctr">
                    <a:solidFill>
                      <a:srgbClr val="FFFFFF"/>
                    </a:solidFill>
                  </a:tcPr>
                </a:tc>
              </a:tr>
              <a:tr h="347472">
                <a:tc>
                  <a:txBody>
                    <a:bodyPr wrap="square"/>
                    <a:lstStyle/>
                    <a:p>
                      <a:pPr algn="l"/>
                      <a:r>
                        <a:rPr sz="1000" b="1" i="0">
                          <a:solidFill>
                            <a:srgbClr val="1F497D"/>
                          </a:solidFill>
                          <a:latin typeface="Arial"/>
                        </a:rPr>
                        <a:t>B. Peer benchmark of DMO marketing</a:t>
                      </a:r>
                    </a:p>
                  </a:txBody>
                  <a:tcPr marL="54864" marR="54864" marT="27432" marB="27432" anchor="ctr">
                    <a:solidFill>
                      <a:srgbClr val="F2F2F2"/>
                    </a:solidFill>
                  </a:tcPr>
                </a:tc>
                <a:tc>
                  <a:txBody>
                    <a:bodyPr wrap="square"/>
                    <a:lstStyle/>
                    <a:p>
                      <a:pPr algn="l"/>
                      <a:r>
                        <a:rPr sz="1000" b="0" i="0">
                          <a:solidFill>
                            <a:srgbClr val="404040"/>
                          </a:solidFill>
                          <a:latin typeface="Arial"/>
                        </a:rPr>
                        <a:t>Budgets, models and route-linked marketing from the six comparators</a:t>
                      </a:r>
                    </a:p>
                  </a:txBody>
                  <a:tcPr marL="54864" marR="54864" marT="27432" marB="27432" anchor="ctr">
                    <a:solidFill>
                      <a:srgbClr val="F2F2F2"/>
                    </a:solidFill>
                  </a:tcPr>
                </a:tc>
                <a:tc>
                  <a:txBody>
                    <a:bodyPr wrap="square"/>
                    <a:lstStyle/>
                    <a:p>
                      <a:pPr algn="l"/>
                      <a:r>
                        <a:rPr sz="1000" b="0" i="0">
                          <a:solidFill>
                            <a:srgbClr val="404040"/>
                          </a:solidFill>
                          <a:latin typeface="Arial"/>
                        </a:rPr>
                        <a:t>Low</a:t>
                      </a:r>
                    </a:p>
                  </a:txBody>
                  <a:tcPr marL="54864" marR="54864" marT="27432" marB="27432" anchor="ctr">
                    <a:solidFill>
                      <a:srgbClr val="F2F2F2"/>
                    </a:solidFill>
                  </a:tcPr>
                </a:tc>
                <a:tc>
                  <a:txBody>
                    <a:bodyPr wrap="square"/>
                    <a:lstStyle/>
                    <a:p>
                      <a:pPr algn="l"/>
                      <a:r>
                        <a:rPr sz="1000" b="0" i="0">
                          <a:solidFill>
                            <a:srgbClr val="404040"/>
                          </a:solidFill>
                          <a:latin typeface="Arial"/>
                        </a:rPr>
                        <a:t>Week 3</a:t>
                      </a:r>
                    </a:p>
                  </a:txBody>
                  <a:tcPr marL="54864" marR="54864" marT="27432" marB="27432" anchor="ctr">
                    <a:solidFill>
                      <a:srgbClr val="F2F2F2"/>
                    </a:solidFill>
                  </a:tcPr>
                </a:tc>
              </a:tr>
              <a:tr h="347472">
                <a:tc>
                  <a:txBody>
                    <a:bodyPr wrap="square"/>
                    <a:lstStyle/>
                    <a:p>
                      <a:pPr algn="l"/>
                      <a:r>
                        <a:rPr sz="1000" b="1" i="0">
                          <a:solidFill>
                            <a:srgbClr val="1F497D"/>
                          </a:solidFill>
                          <a:latin typeface="Arial"/>
                        </a:rPr>
                        <a:t>C. Brand and trade workshop</a:t>
                      </a:r>
                    </a:p>
                  </a:txBody>
                  <a:tcPr marL="54864" marR="54864" marT="27432" marB="27432" anchor="ctr">
                    <a:solidFill>
                      <a:srgbClr val="FFFFFF"/>
                    </a:solidFill>
                  </a:tcPr>
                </a:tc>
                <a:tc>
                  <a:txBody>
                    <a:bodyPr wrap="square"/>
                    <a:lstStyle/>
                    <a:p>
                      <a:pPr algn="l"/>
                      <a:r>
                        <a:rPr sz="1000" b="0" i="0">
                          <a:solidFill>
                            <a:srgbClr val="404040"/>
                          </a:solidFill>
                          <a:latin typeface="Arial"/>
                        </a:rPr>
                        <a:t>Tests "The Cape" and conversion levers with trade and Skift</a:t>
                      </a:r>
                    </a:p>
                  </a:txBody>
                  <a:tcPr marL="54864" marR="54864" marT="27432" marB="27432" anchor="ctr">
                    <a:solidFill>
                      <a:srgbClr val="FFFFFF"/>
                    </a:solidFill>
                  </a:tcPr>
                </a:tc>
                <a:tc>
                  <a:txBody>
                    <a:bodyPr wrap="square"/>
                    <a:lstStyle/>
                    <a:p>
                      <a:pPr algn="l"/>
                      <a:r>
                        <a:rPr sz="1000" b="0" i="0">
                          <a:solidFill>
                            <a:srgbClr val="404040"/>
                          </a:solidFill>
                          <a:latin typeface="Arial"/>
                        </a:rPr>
                        <a:t>Low</a:t>
                      </a:r>
                    </a:p>
                  </a:txBody>
                  <a:tcPr marL="54864" marR="54864" marT="27432" marB="27432" anchor="ctr">
                    <a:solidFill>
                      <a:srgbClr val="FFFFFF"/>
                    </a:solidFill>
                  </a:tcPr>
                </a:tc>
                <a:tc>
                  <a:txBody>
                    <a:bodyPr wrap="square"/>
                    <a:lstStyle/>
                    <a:p>
                      <a:pPr algn="l"/>
                      <a:r>
                        <a:rPr sz="1000" b="0" i="0">
                          <a:solidFill>
                            <a:srgbClr val="404040"/>
                          </a:solidFill>
                          <a:latin typeface="Arial"/>
                        </a:rPr>
                        <a:t>Week 4</a:t>
                      </a:r>
                    </a:p>
                  </a:txBody>
                  <a:tcPr marL="54864" marR="54864" marT="27432" marB="27432" anchor="ctr">
                    <a:solidFill>
                      <a:srgbClr val="FFFFFF"/>
                    </a:solidFill>
                  </a:tcPr>
                </a:tc>
              </a:tr>
            </a:tbl>
          </a:graphicData>
        </a:graphic>
      </p:graphicFrame>
      <p:sp>
        <p:nvSpPr>
          <p:cNvPr id="21" name="Rectangle 20"/>
          <p:cNvSpPr/>
          <p:nvPr/>
        </p:nvSpPr>
        <p:spPr>
          <a:xfrm>
            <a:off x="384048" y="5788152"/>
            <a:ext cx="11420856" cy="420624"/>
          </a:xfrm>
          <a:prstGeom prst="rect">
            <a:avLst/>
          </a:prstGeom>
          <a:solidFill>
            <a:srgbClr val="1F497D"/>
          </a:solidFill>
          <a:ln>
            <a:noFill/>
          </a:ln>
        </p:spPr>
        <p:txBody>
          <a:bodyPr rtlCol="0" anchor="ctr"/>
          <a:lstStyle/>
          <a:p>
            <a:pPr algn="ctr"/>
          </a:p>
        </p:txBody>
      </p:sp>
      <p:sp>
        <p:nvSpPr>
          <p:cNvPr id="22" name="TextBox 21"/>
          <p:cNvSpPr txBox="1"/>
          <p:nvPr/>
        </p:nvSpPr>
        <p:spPr>
          <a:xfrm>
            <a:off x="548640" y="5788152"/>
            <a:ext cx="11064240" cy="420624"/>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Recommendation: run A and B together and use C to validate. Skift leads, given its brand and marketing specialists.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Most gaps can close within four weeks if we scope tightly and bound the rest as limitations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CLOSING THE GAPS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proposal for discussion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5" cy="4608576"/>
        </p:xfrm>
        <a:graphic>
          <a:graphicData uri="http://schemas.openxmlformats.org/drawingml/2006/table">
            <a:tbl>
              <a:tblPr firstRow="1" bandRow="0">
                <a:tableStyleId>{5C22544A-7EE6-4342-B048-85BDC9FD1C3A}</a:tableStyleId>
              </a:tblPr>
              <a:tblGrid>
                <a:gridCol w="2560320"/>
                <a:gridCol w="1005840"/>
                <a:gridCol w="4846320"/>
                <a:gridCol w="1911095"/>
                <a:gridCol w="1097280"/>
              </a:tblGrid>
              <a:tr h="384048">
                <a:tc>
                  <a:txBody>
                    <a:bodyPr wrap="square"/>
                    <a:lstStyle/>
                    <a:p>
                      <a:pPr algn="l"/>
                      <a:r>
                        <a:rPr sz="950" b="1" i="0">
                          <a:solidFill>
                            <a:srgbClr val="FFFFFF"/>
                          </a:solidFill>
                          <a:latin typeface="Arial"/>
                        </a:rPr>
                        <a:t>Gap</a:t>
                      </a:r>
                    </a:p>
                  </a:txBody>
                  <a:tcPr marL="54864" marR="54864" marT="27432" marB="27432" anchor="ctr">
                    <a:solidFill>
                      <a:srgbClr val="1F497D"/>
                    </a:solidFill>
                  </a:tcPr>
                </a:tc>
                <a:tc>
                  <a:txBody>
                    <a:bodyPr wrap="square"/>
                    <a:lstStyle/>
                    <a:p>
                      <a:pPr algn="l"/>
                      <a:r>
                        <a:rPr sz="950" b="1" i="0">
                          <a:solidFill>
                            <a:srgbClr val="FFFFFF"/>
                          </a:solidFill>
                          <a:latin typeface="Arial"/>
                        </a:rPr>
                        <a:t>Response</a:t>
                      </a:r>
                    </a:p>
                  </a:txBody>
                  <a:tcPr marL="54864" marR="54864" marT="27432" marB="27432" anchor="ctr">
                    <a:solidFill>
                      <a:srgbClr val="1F497D"/>
                    </a:solidFill>
                  </a:tcPr>
                </a:tc>
                <a:tc>
                  <a:txBody>
                    <a:bodyPr wrap="square"/>
                    <a:lstStyle/>
                    <a:p>
                      <a:pPr algn="l"/>
                      <a:r>
                        <a:rPr sz="950" b="1" i="0">
                          <a:solidFill>
                            <a:srgbClr val="FFFFFF"/>
                          </a:solidFill>
                          <a:latin typeface="Arial"/>
                        </a:rPr>
                        <a:t>Scope</a:t>
                      </a:r>
                    </a:p>
                  </a:txBody>
                  <a:tcPr marL="54864" marR="54864" marT="27432" marB="27432" anchor="ctr">
                    <a:solidFill>
                      <a:srgbClr val="1F497D"/>
                    </a:solidFill>
                  </a:tcPr>
                </a:tc>
                <a:tc>
                  <a:txBody>
                    <a:bodyPr wrap="square"/>
                    <a:lstStyle/>
                    <a:p>
                      <a:pPr algn="l"/>
                      <a:r>
                        <a:rPr sz="950" b="1" i="0">
                          <a:solidFill>
                            <a:srgbClr val="FFFFFF"/>
                          </a:solidFill>
                          <a:latin typeface="Arial"/>
                        </a:rPr>
                        <a:t>Owner (role)</a:t>
                      </a:r>
                    </a:p>
                  </a:txBody>
                  <a:tcPr marL="54864" marR="54864" marT="27432" marB="27432" anchor="ctr">
                    <a:solidFill>
                      <a:srgbClr val="1F497D"/>
                    </a:solidFill>
                  </a:tcPr>
                </a:tc>
                <a:tc>
                  <a:txBody>
                    <a:bodyPr wrap="square"/>
                    <a:lstStyle/>
                    <a:p>
                      <a:pPr algn="l"/>
                      <a:r>
                        <a:rPr sz="950" b="1" i="0">
                          <a:solidFill>
                            <a:srgbClr val="FFFFFF"/>
                          </a:solidFill>
                          <a:latin typeface="Arial"/>
                        </a:rPr>
                        <a:t>Done by</a:t>
                      </a:r>
                    </a:p>
                  </a:txBody>
                  <a:tcPr marL="54864" marR="54864" marT="27432" marB="27432" anchor="ctr">
                    <a:solidFill>
                      <a:srgbClr val="1F497D"/>
                    </a:solidFill>
                  </a:tcPr>
                </a:tc>
              </a:tr>
              <a:tr h="384048">
                <a:tc>
                  <a:txBody>
                    <a:bodyPr wrap="square"/>
                    <a:lstStyle/>
                    <a:p>
                      <a:pPr algn="l"/>
                      <a:r>
                        <a:rPr sz="950" b="1" i="0">
                          <a:solidFill>
                            <a:srgbClr val="1F497D"/>
                          </a:solidFill>
                          <a:latin typeface="Arial"/>
                        </a:rPr>
                        <a:t>Marketing and brand</a:t>
                      </a:r>
                    </a:p>
                  </a:txBody>
                  <a:tcPr marL="54864" marR="54864" marT="27432" marB="27432" anchor="ctr">
                    <a:solidFill>
                      <a:srgbClr val="FFFFFF"/>
                    </a:solidFill>
                  </a:tcPr>
                </a:tc>
                <a:tc>
                  <a:txBody>
                    <a:bodyPr wrap="square"/>
                    <a:lstStyle/>
                    <a:p>
                      <a:pPr algn="l"/>
                      <a:r>
                        <a:rPr sz="950" b="1" i="0">
                          <a:solidFill>
                            <a:srgbClr val="FFFFFF"/>
                          </a:solidFill>
                          <a:latin typeface="Arial"/>
                        </a:rPr>
                        <a:t>Analyse</a:t>
                      </a:r>
                    </a:p>
                  </a:txBody>
                  <a:tcPr marL="54864" marR="54864" marT="27432" marB="27432" anchor="ctr">
                    <a:solidFill>
                      <a:srgbClr val="00AEEF"/>
                    </a:solidFill>
                  </a:tcPr>
                </a:tc>
                <a:tc>
                  <a:txBody>
                    <a:bodyPr wrap="square"/>
                    <a:lstStyle/>
                    <a:p>
                      <a:pPr algn="l"/>
                      <a:r>
                        <a:rPr sz="950" b="0" i="0">
                          <a:solidFill>
                            <a:srgbClr val="404040"/>
                          </a:solidFill>
                          <a:latin typeface="Arial"/>
                        </a:rPr>
                        <a:t>Options A and B, validated through C</a:t>
                      </a:r>
                    </a:p>
                  </a:txBody>
                  <a:tcPr marL="54864" marR="54864" marT="27432" marB="27432" anchor="ctr">
                    <a:solidFill>
                      <a:srgbClr val="FFFFFF"/>
                    </a:solidFill>
                  </a:tcPr>
                </a:tc>
                <a:tc>
                  <a:txBody>
                    <a:bodyPr wrap="square"/>
                    <a:lstStyle/>
                    <a:p>
                      <a:pPr algn="l"/>
                      <a:r>
                        <a:rPr sz="950" b="0" i="0">
                          <a:solidFill>
                            <a:srgbClr val="404040"/>
                          </a:solidFill>
                          <a:latin typeface="Arial"/>
                        </a:rPr>
                        <a:t>Skift lead</a:t>
                      </a:r>
                    </a:p>
                  </a:txBody>
                  <a:tcPr marL="54864" marR="54864" marT="27432" marB="27432" anchor="ctr">
                    <a:solidFill>
                      <a:srgbClr val="FFFFFF"/>
                    </a:solidFill>
                  </a:tcPr>
                </a:tc>
                <a:tc>
                  <a:txBody>
                    <a:bodyPr wrap="square"/>
                    <a:lstStyle/>
                    <a:p>
                      <a:pPr algn="l"/>
                      <a:r>
                        <a:rPr sz="950" b="0" i="0">
                          <a:solidFill>
                            <a:srgbClr val="404040"/>
                          </a:solidFill>
                          <a:latin typeface="Arial"/>
                        </a:rPr>
                        <a:t>Week 4</a:t>
                      </a:r>
                    </a:p>
                  </a:txBody>
                  <a:tcPr marL="54864" marR="54864" marT="27432" marB="27432" anchor="ctr">
                    <a:solidFill>
                      <a:srgbClr val="FFFFFF"/>
                    </a:solidFill>
                  </a:tcPr>
                </a:tc>
              </a:tr>
              <a:tr h="384048">
                <a:tc>
                  <a:txBody>
                    <a:bodyPr wrap="square"/>
                    <a:lstStyle/>
                    <a:p>
                      <a:pPr algn="l"/>
                      <a:r>
                        <a:rPr sz="950" b="1" i="0">
                          <a:solidFill>
                            <a:srgbClr val="1F497D"/>
                          </a:solidFill>
                          <a:latin typeface="Arial"/>
                        </a:rPr>
                        <a:t>Investment pipeline and ROI</a:t>
                      </a:r>
                    </a:p>
                  </a:txBody>
                  <a:tcPr marL="54864" marR="54864" marT="27432" marB="27432" anchor="ctr">
                    <a:solidFill>
                      <a:srgbClr val="F2F2F2"/>
                    </a:solidFill>
                  </a:tcPr>
                </a:tc>
                <a:tc>
                  <a:txBody>
                    <a:bodyPr wrap="square"/>
                    <a:lstStyle/>
                    <a:p>
                      <a:pPr algn="l"/>
                      <a:r>
                        <a:rPr sz="950" b="1" i="0">
                          <a:solidFill>
                            <a:srgbClr val="FFFFFF"/>
                          </a:solidFill>
                          <a:latin typeface="Arial"/>
                        </a:rPr>
                        <a:t>Analyse</a:t>
                      </a:r>
                    </a:p>
                  </a:txBody>
                  <a:tcPr marL="54864" marR="54864" marT="27432" marB="27432" anchor="ctr">
                    <a:solidFill>
                      <a:srgbClr val="00AEEF"/>
                    </a:solidFill>
                  </a:tcPr>
                </a:tc>
                <a:tc>
                  <a:txBody>
                    <a:bodyPr wrap="square"/>
                    <a:lstStyle/>
                    <a:p>
                      <a:pPr algn="l"/>
                      <a:r>
                        <a:rPr sz="950" b="0" i="0">
                          <a:solidFill>
                            <a:srgbClr val="404040"/>
                          </a:solidFill>
                          <a:latin typeface="Arial"/>
                        </a:rPr>
                        <a:t>Rank corridor and mid-market investments; indicative ROI for the top five</a:t>
                      </a:r>
                    </a:p>
                  </a:txBody>
                  <a:tcPr marL="54864" marR="54864" marT="27432" marB="27432" anchor="ctr">
                    <a:solidFill>
                      <a:srgbClr val="F2F2F2"/>
                    </a:solidFill>
                  </a:tcPr>
                </a:tc>
                <a:tc>
                  <a:txBody>
                    <a:bodyPr wrap="square"/>
                    <a:lstStyle/>
                    <a:p>
                      <a:pPr algn="l"/>
                      <a:r>
                        <a:rPr sz="950" b="0" i="0">
                          <a:solidFill>
                            <a:srgbClr val="404040"/>
                          </a:solidFill>
                          <a:latin typeface="Arial"/>
                        </a:rPr>
                        <a:t>Supply lead</a:t>
                      </a:r>
                    </a:p>
                  </a:txBody>
                  <a:tcPr marL="54864" marR="54864" marT="27432" marB="27432" anchor="ctr">
                    <a:solidFill>
                      <a:srgbClr val="F2F2F2"/>
                    </a:solidFill>
                  </a:tcPr>
                </a:tc>
                <a:tc>
                  <a:txBody>
                    <a:bodyPr wrap="square"/>
                    <a:lstStyle/>
                    <a:p>
                      <a:pPr algn="l"/>
                      <a:r>
                        <a:rPr sz="950" b="0" i="0">
                          <a:solidFill>
                            <a:srgbClr val="404040"/>
                          </a:solidFill>
                          <a:latin typeface="Arial"/>
                        </a:rPr>
                        <a:t>Week 4</a:t>
                      </a:r>
                    </a:p>
                  </a:txBody>
                  <a:tcPr marL="54864" marR="54864" marT="27432" marB="27432" anchor="ctr">
                    <a:solidFill>
                      <a:srgbClr val="F2F2F2"/>
                    </a:solidFill>
                  </a:tcPr>
                </a:tc>
              </a:tr>
              <a:tr h="384048">
                <a:tc>
                  <a:txBody>
                    <a:bodyPr wrap="square"/>
                    <a:lstStyle/>
                    <a:p>
                      <a:pPr algn="l"/>
                      <a:r>
                        <a:rPr sz="950" b="1" i="0">
                          <a:solidFill>
                            <a:srgbClr val="1F497D"/>
                          </a:solidFill>
                          <a:latin typeface="Arial"/>
                        </a:rPr>
                        <a:t>Route readiness</a:t>
                      </a:r>
                    </a:p>
                  </a:txBody>
                  <a:tcPr marL="54864" marR="54864" marT="27432" marB="27432" anchor="ctr">
                    <a:solidFill>
                      <a:srgbClr val="FFFFFF"/>
                    </a:solidFill>
                  </a:tcPr>
                </a:tc>
                <a:tc>
                  <a:txBody>
                    <a:bodyPr wrap="square"/>
                    <a:lstStyle/>
                    <a:p>
                      <a:pPr algn="l"/>
                      <a:r>
                        <a:rPr sz="950" b="1" i="0">
                          <a:solidFill>
                            <a:srgbClr val="FFFFFF"/>
                          </a:solidFill>
                          <a:latin typeface="Arial"/>
                        </a:rPr>
                        <a:t>Analyse</a:t>
                      </a:r>
                    </a:p>
                  </a:txBody>
                  <a:tcPr marL="54864" marR="54864" marT="27432" marB="27432" anchor="ctr">
                    <a:solidFill>
                      <a:srgbClr val="00AEEF"/>
                    </a:solidFill>
                  </a:tcPr>
                </a:tc>
                <a:tc>
                  <a:txBody>
                    <a:bodyPr wrap="square"/>
                    <a:lstStyle/>
                    <a:p>
                      <a:pPr algn="l"/>
                      <a:r>
                        <a:rPr sz="950" b="0" i="0">
                          <a:solidFill>
                            <a:srgbClr val="404040"/>
                          </a:solidFill>
                          <a:latin typeface="Arial"/>
                        </a:rPr>
                        <a:t>Score the five remaining touring routes on the Winelands template</a:t>
                      </a:r>
                    </a:p>
                  </a:txBody>
                  <a:tcPr marL="54864" marR="54864" marT="27432" marB="27432" anchor="ctr">
                    <a:solidFill>
                      <a:srgbClr val="FFFFFF"/>
                    </a:solidFill>
                  </a:tcPr>
                </a:tc>
                <a:tc>
                  <a:txBody>
                    <a:bodyPr wrap="square"/>
                    <a:lstStyle/>
                    <a:p>
                      <a:pPr algn="l"/>
                      <a:r>
                        <a:rPr sz="950" b="0" i="0">
                          <a:solidFill>
                            <a:srgbClr val="404040"/>
                          </a:solidFill>
                          <a:latin typeface="Arial"/>
                        </a:rPr>
                        <a:t>Supply lead</a:t>
                      </a:r>
                    </a:p>
                  </a:txBody>
                  <a:tcPr marL="54864" marR="54864" marT="27432" marB="27432" anchor="ctr">
                    <a:solidFill>
                      <a:srgbClr val="FFFFFF"/>
                    </a:solidFill>
                  </a:tcPr>
                </a:tc>
                <a:tc>
                  <a:txBody>
                    <a:bodyPr wrap="square"/>
                    <a:lstStyle/>
                    <a:p>
                      <a:pPr algn="l"/>
                      <a:r>
                        <a:rPr sz="950" b="0" i="0">
                          <a:solidFill>
                            <a:srgbClr val="404040"/>
                          </a:solidFill>
                          <a:latin typeface="Arial"/>
                        </a:rPr>
                        <a:t>Week 3</a:t>
                      </a:r>
                    </a:p>
                  </a:txBody>
                  <a:tcPr marL="54864" marR="54864" marT="27432" marB="27432" anchor="ctr">
                    <a:solidFill>
                      <a:srgbClr val="FFFFFF"/>
                    </a:solidFill>
                  </a:tcPr>
                </a:tc>
              </a:tr>
              <a:tr h="384048">
                <a:tc>
                  <a:txBody>
                    <a:bodyPr wrap="square"/>
                    <a:lstStyle/>
                    <a:p>
                      <a:pPr algn="l"/>
                      <a:r>
                        <a:rPr sz="950" b="1" i="0">
                          <a:solidFill>
                            <a:srgbClr val="1F497D"/>
                          </a:solidFill>
                          <a:latin typeface="Arial"/>
                        </a:rPr>
                        <a:t>Spend, yield and jobs</a:t>
                      </a:r>
                    </a:p>
                  </a:txBody>
                  <a:tcPr marL="54864" marR="54864" marT="27432" marB="27432" anchor="ctr">
                    <a:solidFill>
                      <a:srgbClr val="F2F2F2"/>
                    </a:solidFill>
                  </a:tcPr>
                </a:tc>
                <a:tc>
                  <a:txBody>
                    <a:bodyPr wrap="square"/>
                    <a:lstStyle/>
                    <a:p>
                      <a:pPr algn="l"/>
                      <a:r>
                        <a:rPr sz="950" b="1" i="0">
                          <a:solidFill>
                            <a:srgbClr val="FFFFFF"/>
                          </a:solidFill>
                          <a:latin typeface="Arial"/>
                        </a:rPr>
                        <a:t>Analyse</a:t>
                      </a:r>
                    </a:p>
                  </a:txBody>
                  <a:tcPr marL="54864" marR="54864" marT="27432" marB="27432" anchor="ctr">
                    <a:solidFill>
                      <a:srgbClr val="00AEEF"/>
                    </a:solidFill>
                  </a:tcPr>
                </a:tc>
                <a:tc>
                  <a:txBody>
                    <a:bodyPr wrap="square"/>
                    <a:lstStyle/>
                    <a:p>
                      <a:pPr algn="l"/>
                      <a:r>
                        <a:rPr sz="950" b="0" i="0">
                          <a:solidFill>
                            <a:srgbClr val="404040"/>
                          </a:solidFill>
                          <a:latin typeface="Arial"/>
                        </a:rPr>
                        <a:t>Extend the scenario model with spend per visitor, green-season fill and job multipliers</a:t>
                      </a:r>
                    </a:p>
                  </a:txBody>
                  <a:tcPr marL="54864" marR="54864" marT="27432" marB="27432" anchor="ctr">
                    <a:solidFill>
                      <a:srgbClr val="F2F2F2"/>
                    </a:solidFill>
                  </a:tcPr>
                </a:tc>
                <a:tc>
                  <a:txBody>
                    <a:bodyPr wrap="square"/>
                    <a:lstStyle/>
                    <a:p>
                      <a:pPr algn="l"/>
                      <a:r>
                        <a:rPr sz="950" b="0" i="0">
                          <a:solidFill>
                            <a:srgbClr val="404040"/>
                          </a:solidFill>
                          <a:latin typeface="Arial"/>
                        </a:rPr>
                        <a:t>Demand analyst</a:t>
                      </a:r>
                    </a:p>
                  </a:txBody>
                  <a:tcPr marL="54864" marR="54864" marT="27432" marB="27432" anchor="ctr">
                    <a:solidFill>
                      <a:srgbClr val="F2F2F2"/>
                    </a:solidFill>
                  </a:tcPr>
                </a:tc>
                <a:tc>
                  <a:txBody>
                    <a:bodyPr wrap="square"/>
                    <a:lstStyle/>
                    <a:p>
                      <a:pPr algn="l"/>
                      <a:r>
                        <a:rPr sz="950" b="0" i="0">
                          <a:solidFill>
                            <a:srgbClr val="404040"/>
                          </a:solidFill>
                          <a:latin typeface="Arial"/>
                        </a:rPr>
                        <a:t>Week 4</a:t>
                      </a:r>
                    </a:p>
                  </a:txBody>
                  <a:tcPr marL="54864" marR="54864" marT="27432" marB="27432" anchor="ctr">
                    <a:solidFill>
                      <a:srgbClr val="F2F2F2"/>
                    </a:solidFill>
                  </a:tcPr>
                </a:tc>
              </a:tr>
              <a:tr h="384048">
                <a:tc>
                  <a:txBody>
                    <a:bodyPr wrap="square"/>
                    <a:lstStyle/>
                    <a:p>
                      <a:pPr algn="l"/>
                      <a:r>
                        <a:rPr sz="950" b="1" i="0">
                          <a:solidFill>
                            <a:srgbClr val="1F497D"/>
                          </a:solidFill>
                          <a:latin typeface="Arial"/>
                        </a:rPr>
                        <a:t>M&amp;E toolkit</a:t>
                      </a:r>
                    </a:p>
                  </a:txBody>
                  <a:tcPr marL="54864" marR="54864" marT="27432" marB="27432" anchor="ctr">
                    <a:solidFill>
                      <a:srgbClr val="FFFFFF"/>
                    </a:solidFill>
                  </a:tcPr>
                </a:tc>
                <a:tc>
                  <a:txBody>
                    <a:bodyPr wrap="square"/>
                    <a:lstStyle/>
                    <a:p>
                      <a:pPr algn="l"/>
                      <a:r>
                        <a:rPr sz="950" b="1" i="0">
                          <a:solidFill>
                            <a:srgbClr val="FFFFFF"/>
                          </a:solidFill>
                          <a:latin typeface="Arial"/>
                        </a:rPr>
                        <a:t>Deliver</a:t>
                      </a:r>
                    </a:p>
                  </a:txBody>
                  <a:tcPr marL="54864" marR="54864" marT="27432" marB="27432" anchor="ctr">
                    <a:solidFill>
                      <a:srgbClr val="1F497D"/>
                    </a:solidFill>
                  </a:tcPr>
                </a:tc>
                <a:tc>
                  <a:txBody>
                    <a:bodyPr wrap="square"/>
                    <a:lstStyle/>
                    <a:p>
                      <a:pPr algn="l"/>
                      <a:r>
                        <a:rPr sz="950" b="0" i="0">
                          <a:solidFill>
                            <a:srgbClr val="404040"/>
                          </a:solidFill>
                          <a:latin typeface="Arial"/>
                        </a:rPr>
                        <a:t>Indicators, baselines and templates on one agreed metric</a:t>
                      </a:r>
                    </a:p>
                  </a:txBody>
                  <a:tcPr marL="54864" marR="54864" marT="27432" marB="27432" anchor="ctr">
                    <a:solidFill>
                      <a:srgbClr val="FFFFFF"/>
                    </a:solidFill>
                  </a:tcPr>
                </a:tc>
                <a:tc>
                  <a:txBody>
                    <a:bodyPr wrap="square"/>
                    <a:lstStyle/>
                    <a:p>
                      <a:pPr algn="l"/>
                      <a:r>
                        <a:rPr sz="950" b="0" i="0">
                          <a:solidFill>
                            <a:srgbClr val="404040"/>
                          </a:solidFill>
                          <a:latin typeface="Arial"/>
                        </a:rPr>
                        <a:t>M&amp;E lead</a:t>
                      </a:r>
                    </a:p>
                  </a:txBody>
                  <a:tcPr marL="54864" marR="54864" marT="27432" marB="27432" anchor="ctr">
                    <a:solidFill>
                      <a:srgbClr val="FFFFFF"/>
                    </a:solidFill>
                  </a:tcPr>
                </a:tc>
                <a:tc>
                  <a:txBody>
                    <a:bodyPr wrap="square"/>
                    <a:lstStyle/>
                    <a:p>
                      <a:pPr algn="l"/>
                      <a:r>
                        <a:rPr sz="950" b="0" i="0">
                          <a:solidFill>
                            <a:srgbClr val="404040"/>
                          </a:solidFill>
                          <a:latin typeface="Arial"/>
                        </a:rPr>
                        <a:t>Week 4</a:t>
                      </a:r>
                    </a:p>
                  </a:txBody>
                  <a:tcPr marL="54864" marR="54864" marT="27432" marB="27432" anchor="ctr">
                    <a:solidFill>
                      <a:srgbClr val="FFFFFF"/>
                    </a:solidFill>
                  </a:tcPr>
                </a:tc>
              </a:tr>
              <a:tr h="384048">
                <a:tc>
                  <a:txBody>
                    <a:bodyPr wrap="square"/>
                    <a:lstStyle/>
                    <a:p>
                      <a:pPr algn="l"/>
                      <a:r>
                        <a:rPr sz="950" b="1" i="0">
                          <a:solidFill>
                            <a:srgbClr val="1F497D"/>
                          </a:solidFill>
                          <a:latin typeface="Arial"/>
                        </a:rPr>
                        <a:t>Stakeholder coverage</a:t>
                      </a:r>
                    </a:p>
                  </a:txBody>
                  <a:tcPr marL="54864" marR="54864" marT="27432" marB="27432" anchor="ctr">
                    <a:solidFill>
                      <a:srgbClr val="F2F2F2"/>
                    </a:solidFill>
                  </a:tcPr>
                </a:tc>
                <a:tc>
                  <a:txBody>
                    <a:bodyPr wrap="square"/>
                    <a:lstStyle/>
                    <a:p>
                      <a:pPr algn="l"/>
                      <a:r>
                        <a:rPr sz="950" b="1" i="0">
                          <a:solidFill>
                            <a:srgbClr val="FFFFFF"/>
                          </a:solidFill>
                          <a:latin typeface="Arial"/>
                        </a:rPr>
                        <a:t>Interview</a:t>
                      </a:r>
                    </a:p>
                  </a:txBody>
                  <a:tcPr marL="54864" marR="54864" marT="27432" marB="27432" anchor="ctr">
                    <a:solidFill>
                      <a:srgbClr val="4F81BD"/>
                    </a:solidFill>
                  </a:tcPr>
                </a:tc>
                <a:tc>
                  <a:txBody>
                    <a:bodyPr wrap="square"/>
                    <a:lstStyle/>
                    <a:p>
                      <a:pPr algn="l"/>
                      <a:r>
                        <a:rPr sz="950" b="0" i="0">
                          <a:solidFill>
                            <a:srgbClr val="404040"/>
                          </a:solidFill>
                          <a:latin typeface="Arial"/>
                        </a:rPr>
                        <a:t>Airlines, trade, SA Tourism, City, DHA and Wesgro executives</a:t>
                      </a:r>
                    </a:p>
                  </a:txBody>
                  <a:tcPr marL="54864" marR="54864" marT="27432" marB="27432" anchor="ctr">
                    <a:solidFill>
                      <a:srgbClr val="F2F2F2"/>
                    </a:solidFill>
                  </a:tcPr>
                </a:tc>
                <a:tc>
                  <a:txBody>
                    <a:bodyPr wrap="square"/>
                    <a:lstStyle/>
                    <a:p>
                      <a:pPr algn="l"/>
                      <a:r>
                        <a:rPr sz="950" b="0" i="0">
                          <a:solidFill>
                            <a:srgbClr val="404040"/>
                          </a:solidFill>
                          <a:latin typeface="Arial"/>
                        </a:rPr>
                        <a:t>Partner</a:t>
                      </a:r>
                    </a:p>
                  </a:txBody>
                  <a:tcPr marL="54864" marR="54864" marT="27432" marB="27432" anchor="ctr">
                    <a:solidFill>
                      <a:srgbClr val="F2F2F2"/>
                    </a:solidFill>
                  </a:tcPr>
                </a:tc>
                <a:tc>
                  <a:txBody>
                    <a:bodyPr wrap="square"/>
                    <a:lstStyle/>
                    <a:p>
                      <a:pPr algn="l"/>
                      <a:r>
                        <a:rPr sz="950" b="0" i="0">
                          <a:solidFill>
                            <a:srgbClr val="404040"/>
                          </a:solidFill>
                          <a:latin typeface="Arial"/>
                        </a:rPr>
                        <a:t>Week 4</a:t>
                      </a:r>
                    </a:p>
                  </a:txBody>
                  <a:tcPr marL="54864" marR="54864" marT="27432" marB="27432" anchor="ctr">
                    <a:solidFill>
                      <a:srgbClr val="F2F2F2"/>
                    </a:solidFill>
                  </a:tcPr>
                </a:tc>
              </a:tr>
              <a:tr h="384048">
                <a:tc>
                  <a:txBody>
                    <a:bodyPr wrap="square"/>
                    <a:lstStyle/>
                    <a:p>
                      <a:pPr algn="l"/>
                      <a:r>
                        <a:rPr sz="950" b="1" i="0">
                          <a:solidFill>
                            <a:srgbClr val="1F497D"/>
                          </a:solidFill>
                          <a:latin typeface="Arial"/>
                        </a:rPr>
                        <a:t>Mega events</a:t>
                      </a:r>
                    </a:p>
                  </a:txBody>
                  <a:tcPr marL="54864" marR="54864" marT="27432" marB="27432" anchor="ctr">
                    <a:solidFill>
                      <a:srgbClr val="FFFFFF"/>
                    </a:solidFill>
                  </a:tcPr>
                </a:tc>
                <a:tc>
                  <a:txBody>
                    <a:bodyPr wrap="square"/>
                    <a:lstStyle/>
                    <a:p>
                      <a:pPr algn="l"/>
                      <a:r>
                        <a:rPr sz="950" b="1" i="0">
                          <a:solidFill>
                            <a:srgbClr val="FFFFFF"/>
                          </a:solidFill>
                          <a:latin typeface="Arial"/>
                        </a:rPr>
                        <a:t>Benchmark</a:t>
                      </a:r>
                    </a:p>
                  </a:txBody>
                  <a:tcPr marL="54864" marR="54864" marT="27432" marB="27432" anchor="ctr">
                    <a:solidFill>
                      <a:srgbClr val="4F81BD"/>
                    </a:solidFill>
                  </a:tcPr>
                </a:tc>
                <a:tc>
                  <a:txBody>
                    <a:bodyPr wrap="square"/>
                    <a:lstStyle/>
                    <a:p>
                      <a:pPr algn="l"/>
                      <a:r>
                        <a:rPr sz="950" b="0" i="0">
                          <a:solidFill>
                            <a:srgbClr val="404040"/>
                          </a:solidFill>
                          <a:latin typeface="Arial"/>
                        </a:rPr>
                        <a:t>Melbourne model against the Wesgro events pipeline</a:t>
                      </a:r>
                    </a:p>
                  </a:txBody>
                  <a:tcPr marL="54864" marR="54864" marT="27432" marB="27432" anchor="ctr">
                    <a:solidFill>
                      <a:srgbClr val="FFFFFF"/>
                    </a:solidFill>
                  </a:tcPr>
                </a:tc>
                <a:tc>
                  <a:txBody>
                    <a:bodyPr wrap="square"/>
                    <a:lstStyle/>
                    <a:p>
                      <a:pPr algn="l"/>
                      <a:r>
                        <a:rPr sz="950" b="0" i="0">
                          <a:solidFill>
                            <a:srgbClr val="404040"/>
                          </a:solidFill>
                          <a:latin typeface="Arial"/>
                        </a:rPr>
                        <a:t>Demand analyst</a:t>
                      </a:r>
                    </a:p>
                  </a:txBody>
                  <a:tcPr marL="54864" marR="54864" marT="27432" marB="27432" anchor="ctr">
                    <a:solidFill>
                      <a:srgbClr val="FFFFFF"/>
                    </a:solidFill>
                  </a:tcPr>
                </a:tc>
                <a:tc>
                  <a:txBody>
                    <a:bodyPr wrap="square"/>
                    <a:lstStyle/>
                    <a:p>
                      <a:pPr algn="l"/>
                      <a:r>
                        <a:rPr sz="950" b="0" i="0">
                          <a:solidFill>
                            <a:srgbClr val="404040"/>
                          </a:solidFill>
                          <a:latin typeface="Arial"/>
                        </a:rPr>
                        <a:t>Week 3</a:t>
                      </a:r>
                    </a:p>
                  </a:txBody>
                  <a:tcPr marL="54864" marR="54864" marT="27432" marB="27432" anchor="ctr">
                    <a:solidFill>
                      <a:srgbClr val="FFFFFF"/>
                    </a:solidFill>
                  </a:tcPr>
                </a:tc>
              </a:tr>
              <a:tr h="384048">
                <a:tc>
                  <a:txBody>
                    <a:bodyPr wrap="square"/>
                    <a:lstStyle/>
                    <a:p>
                      <a:pPr algn="l"/>
                      <a:r>
                        <a:rPr sz="950" b="1" i="0">
                          <a:solidFill>
                            <a:srgbClr val="1F497D"/>
                          </a:solidFill>
                          <a:latin typeface="Arial"/>
                        </a:rPr>
                        <a:t>Cruise</a:t>
                      </a:r>
                    </a:p>
                  </a:txBody>
                  <a:tcPr marL="54864" marR="54864" marT="27432" marB="27432" anchor="ctr">
                    <a:solidFill>
                      <a:srgbClr val="F2F2F2"/>
                    </a:solidFill>
                  </a:tcPr>
                </a:tc>
                <a:tc>
                  <a:txBody>
                    <a:bodyPr wrap="square"/>
                    <a:lstStyle/>
                    <a:p>
                      <a:pPr algn="l"/>
                      <a:r>
                        <a:rPr sz="950" b="1" i="0">
                          <a:solidFill>
                            <a:srgbClr val="FFFFFF"/>
                          </a:solidFill>
                          <a:latin typeface="Arial"/>
                        </a:rPr>
                        <a:t>Analyse</a:t>
                      </a:r>
                    </a:p>
                  </a:txBody>
                  <a:tcPr marL="54864" marR="54864" marT="27432" marB="27432" anchor="ctr">
                    <a:solidFill>
                      <a:srgbClr val="00AEEF"/>
                    </a:solidFill>
                  </a:tcPr>
                </a:tc>
                <a:tc>
                  <a:txBody>
                    <a:bodyPr wrap="square"/>
                    <a:lstStyle/>
                    <a:p>
                      <a:pPr algn="l"/>
                      <a:r>
                        <a:rPr sz="950" b="0" i="0">
                          <a:solidFill>
                            <a:srgbClr val="404040"/>
                          </a:solidFill>
                          <a:latin typeface="Arial"/>
                        </a:rPr>
                        <a:t>Read the Wesgro/StratEcon 2024/25 report against the 250-call target; one slide</a:t>
                      </a:r>
                    </a:p>
                  </a:txBody>
                  <a:tcPr marL="54864" marR="54864" marT="27432" marB="27432" anchor="ctr">
                    <a:solidFill>
                      <a:srgbClr val="F2F2F2"/>
                    </a:solidFill>
                  </a:tcPr>
                </a:tc>
                <a:tc>
                  <a:txBody>
                    <a:bodyPr wrap="square"/>
                    <a:lstStyle/>
                    <a:p>
                      <a:pPr algn="l"/>
                      <a:r>
                        <a:rPr sz="950" b="0" i="0">
                          <a:solidFill>
                            <a:srgbClr val="404040"/>
                          </a:solidFill>
                          <a:latin typeface="Arial"/>
                        </a:rPr>
                        <a:t>Supply lead</a:t>
                      </a:r>
                    </a:p>
                  </a:txBody>
                  <a:tcPr marL="54864" marR="54864" marT="27432" marB="27432" anchor="ctr">
                    <a:solidFill>
                      <a:srgbClr val="F2F2F2"/>
                    </a:solidFill>
                  </a:tcPr>
                </a:tc>
                <a:tc>
                  <a:txBody>
                    <a:bodyPr wrap="square"/>
                    <a:lstStyle/>
                    <a:p>
                      <a:pPr algn="l"/>
                      <a:r>
                        <a:rPr sz="950" b="0" i="0">
                          <a:solidFill>
                            <a:srgbClr val="404040"/>
                          </a:solidFill>
                          <a:latin typeface="Arial"/>
                        </a:rPr>
                        <a:t>Week 3</a:t>
                      </a:r>
                    </a:p>
                  </a:txBody>
                  <a:tcPr marL="54864" marR="54864" marT="27432" marB="27432" anchor="ctr">
                    <a:solidFill>
                      <a:srgbClr val="F2F2F2"/>
                    </a:solidFill>
                  </a:tcPr>
                </a:tc>
              </a:tr>
              <a:tr h="384048">
                <a:tc>
                  <a:txBody>
                    <a:bodyPr wrap="square"/>
                    <a:lstStyle/>
                    <a:p>
                      <a:pPr algn="l"/>
                      <a:r>
                        <a:rPr sz="950" b="1" i="0">
                          <a:solidFill>
                            <a:srgbClr val="1F497D"/>
                          </a:solidFill>
                          <a:latin typeface="Arial"/>
                        </a:rPr>
                        <a:t>ASEAN and Brazil</a:t>
                      </a:r>
                    </a:p>
                  </a:txBody>
                  <a:tcPr marL="54864" marR="54864" marT="27432" marB="27432" anchor="ctr">
                    <a:solidFill>
                      <a:srgbClr val="FFFFFF"/>
                    </a:solidFill>
                  </a:tcPr>
                </a:tc>
                <a:tc>
                  <a:txBody>
                    <a:bodyPr wrap="square"/>
                    <a:lstStyle/>
                    <a:p>
                      <a:pPr algn="l"/>
                      <a:r>
                        <a:rPr sz="950" b="1" i="0">
                          <a:solidFill>
                            <a:srgbClr val="FFFFFF"/>
                          </a:solidFill>
                          <a:latin typeface="Arial"/>
                        </a:rPr>
                        <a:t>Bound</a:t>
                      </a:r>
                    </a:p>
                  </a:txBody>
                  <a:tcPr marL="54864" marR="54864" marT="27432" marB="27432" anchor="ctr">
                    <a:solidFill>
                      <a:srgbClr val="7F7F7F"/>
                    </a:solidFill>
                  </a:tcPr>
                </a:tc>
                <a:tc>
                  <a:txBody>
                    <a:bodyPr wrap="square"/>
                    <a:lstStyle/>
                    <a:p>
                      <a:pPr algn="l"/>
                      <a:r>
                        <a:rPr sz="950" b="0" i="0">
                          <a:solidFill>
                            <a:srgbClr val="404040"/>
                          </a:solidFill>
                          <a:latin typeface="Arial"/>
                        </a:rPr>
                        <a:t>State as not analysed; carry Demand-Side outbound trends only</a:t>
                      </a:r>
                    </a:p>
                  </a:txBody>
                  <a:tcPr marL="54864" marR="54864" marT="27432" marB="27432" anchor="ctr">
                    <a:solidFill>
                      <a:srgbClr val="FFFFFF"/>
                    </a:solidFill>
                  </a:tcPr>
                </a:tc>
                <a:tc>
                  <a:txBody>
                    <a:bodyPr wrap="square"/>
                    <a:lstStyle/>
                    <a:p>
                      <a:pPr algn="l"/>
                      <a:r>
                        <a:rPr sz="950" b="0" i="0">
                          <a:solidFill>
                            <a:srgbClr val="404040"/>
                          </a:solidFill>
                          <a:latin typeface="Arial"/>
                        </a:rPr>
                        <a:t>Demand analyst</a:t>
                      </a:r>
                    </a:p>
                  </a:txBody>
                  <a:tcPr marL="54864" marR="54864" marT="27432" marB="27432" anchor="ctr">
                    <a:solidFill>
                      <a:srgbClr val="FFFFFF"/>
                    </a:solidFill>
                  </a:tcPr>
                </a:tc>
                <a:tc>
                  <a:txBody>
                    <a:bodyPr wrap="square"/>
                    <a:lstStyle/>
                    <a:p>
                      <a:pPr algn="l"/>
                      <a:r>
                        <a:rPr sz="950" b="0" i="0">
                          <a:solidFill>
                            <a:srgbClr val="404040"/>
                          </a:solidFill>
                          <a:latin typeface="Arial"/>
                        </a:rPr>
                        <a:t>Week 3</a:t>
                      </a:r>
                    </a:p>
                  </a:txBody>
                  <a:tcPr marL="54864" marR="54864" marT="27432" marB="27432" anchor="ctr">
                    <a:solidFill>
                      <a:srgbClr val="FFFFFF"/>
                    </a:solidFill>
                  </a:tcPr>
                </a:tc>
              </a:tr>
              <a:tr h="384048">
                <a:tc>
                  <a:txBody>
                    <a:bodyPr wrap="square"/>
                    <a:lstStyle/>
                    <a:p>
                      <a:pPr algn="l"/>
                      <a:r>
                        <a:rPr sz="950" b="1" i="0">
                          <a:solidFill>
                            <a:srgbClr val="1F497D"/>
                          </a:solidFill>
                          <a:latin typeface="Arial"/>
                        </a:rPr>
                        <a:t>Safety and visas</a:t>
                      </a:r>
                    </a:p>
                  </a:txBody>
                  <a:tcPr marL="54864" marR="54864" marT="27432" marB="27432" anchor="ctr">
                    <a:solidFill>
                      <a:srgbClr val="F2F2F2"/>
                    </a:solidFill>
                  </a:tcPr>
                </a:tc>
                <a:tc>
                  <a:txBody>
                    <a:bodyPr wrap="square"/>
                    <a:lstStyle/>
                    <a:p>
                      <a:pPr algn="l"/>
                      <a:r>
                        <a:rPr sz="950" b="1" i="0">
                          <a:solidFill>
                            <a:srgbClr val="FFFFFF"/>
                          </a:solidFill>
                          <a:latin typeface="Arial"/>
                        </a:rPr>
                        <a:t>Bound</a:t>
                      </a:r>
                    </a:p>
                  </a:txBody>
                  <a:tcPr marL="54864" marR="54864" marT="27432" marB="27432" anchor="ctr">
                    <a:solidFill>
                      <a:srgbClr val="7F7F7F"/>
                    </a:solidFill>
                  </a:tcPr>
                </a:tc>
                <a:tc>
                  <a:txBody>
                    <a:bodyPr wrap="square"/>
                    <a:lstStyle/>
                    <a:p>
                      <a:pPr algn="l"/>
                      <a:r>
                        <a:rPr sz="950" b="0" i="0">
                          <a:solidFill>
                            <a:srgbClr val="404040"/>
                          </a:solidFill>
                          <a:latin typeface="Arial"/>
                        </a:rPr>
                        <a:t>Use existing modelled evidence; name national owners</a:t>
                      </a:r>
                    </a:p>
                  </a:txBody>
                  <a:tcPr marL="54864" marR="54864" marT="27432" marB="27432" anchor="ctr">
                    <a:solidFill>
                      <a:srgbClr val="F2F2F2"/>
                    </a:solidFill>
                  </a:tcPr>
                </a:tc>
                <a:tc>
                  <a:txBody>
                    <a:bodyPr wrap="square"/>
                    <a:lstStyle/>
                    <a:p>
                      <a:pPr algn="l"/>
                      <a:r>
                        <a:rPr sz="950" b="0" i="0">
                          <a:solidFill>
                            <a:srgbClr val="404040"/>
                          </a:solidFill>
                          <a:latin typeface="Arial"/>
                        </a:rPr>
                        <a:t>Engagement manager</a:t>
                      </a:r>
                    </a:p>
                  </a:txBody>
                  <a:tcPr marL="54864" marR="54864" marT="27432" marB="27432" anchor="ctr">
                    <a:solidFill>
                      <a:srgbClr val="F2F2F2"/>
                    </a:solidFill>
                  </a:tcPr>
                </a:tc>
                <a:tc>
                  <a:txBody>
                    <a:bodyPr wrap="square"/>
                    <a:lstStyle/>
                    <a:p>
                      <a:pPr algn="l"/>
                      <a:r>
                        <a:rPr sz="950" b="0" i="0">
                          <a:solidFill>
                            <a:srgbClr val="404040"/>
                          </a:solidFill>
                          <a:latin typeface="Arial"/>
                        </a:rPr>
                        <a:t>Week 3</a:t>
                      </a:r>
                    </a:p>
                  </a:txBody>
                  <a:tcPr marL="54864" marR="54864" marT="27432" marB="27432" anchor="ctr">
                    <a:solidFill>
                      <a:srgbClr val="F2F2F2"/>
                    </a:solidFill>
                  </a:tcPr>
                </a:tc>
              </a:tr>
              <a:tr h="384048">
                <a:tc>
                  <a:txBody>
                    <a:bodyPr wrap="square"/>
                    <a:lstStyle/>
                    <a:p>
                      <a:pPr algn="l"/>
                      <a:r>
                        <a:rPr sz="950" b="1" i="0">
                          <a:solidFill>
                            <a:srgbClr val="1F497D"/>
                          </a:solidFill>
                          <a:latin typeface="Arial"/>
                        </a:rPr>
                        <a:t>Skills, sustainability, technology</a:t>
                      </a:r>
                    </a:p>
                  </a:txBody>
                  <a:tcPr marL="54864" marR="54864" marT="27432" marB="27432" anchor="ctr">
                    <a:solidFill>
                      <a:srgbClr val="FFFFFF"/>
                    </a:solidFill>
                  </a:tcPr>
                </a:tc>
                <a:tc>
                  <a:txBody>
                    <a:bodyPr wrap="square"/>
                    <a:lstStyle/>
                    <a:p>
                      <a:pPr algn="l"/>
                      <a:r>
                        <a:rPr sz="950" b="1" i="0">
                          <a:solidFill>
                            <a:srgbClr val="FFFFFF"/>
                          </a:solidFill>
                          <a:latin typeface="Arial"/>
                        </a:rPr>
                        <a:t>Bound</a:t>
                      </a:r>
                    </a:p>
                  </a:txBody>
                  <a:tcPr marL="54864" marR="54864" marT="27432" marB="27432" anchor="ctr">
                    <a:solidFill>
                      <a:srgbClr val="7F7F7F"/>
                    </a:solidFill>
                  </a:tcPr>
                </a:tc>
                <a:tc>
                  <a:txBody>
                    <a:bodyPr wrap="square"/>
                    <a:lstStyle/>
                    <a:p>
                      <a:pPr algn="l"/>
                      <a:r>
                        <a:rPr sz="950" b="0" i="0">
                          <a:solidFill>
                            <a:srgbClr val="404040"/>
                          </a:solidFill>
                          <a:latin typeface="Arial"/>
                        </a:rPr>
                        <a:t>State as limitations with next steps</a:t>
                      </a:r>
                    </a:p>
                  </a:txBody>
                  <a:tcPr marL="54864" marR="54864" marT="27432" marB="27432" anchor="ctr">
                    <a:solidFill>
                      <a:srgbClr val="FFFFFF"/>
                    </a:solidFill>
                  </a:tcPr>
                </a:tc>
                <a:tc>
                  <a:txBody>
                    <a:bodyPr wrap="square"/>
                    <a:lstStyle/>
                    <a:p>
                      <a:pPr algn="l"/>
                      <a:r>
                        <a:rPr sz="950" b="0" i="0">
                          <a:solidFill>
                            <a:srgbClr val="404040"/>
                          </a:solidFill>
                          <a:latin typeface="Arial"/>
                        </a:rPr>
                        <a:t>Engagement manager</a:t>
                      </a:r>
                    </a:p>
                  </a:txBody>
                  <a:tcPr marL="54864" marR="54864" marT="27432" marB="27432" anchor="ctr">
                    <a:solidFill>
                      <a:srgbClr val="FFFFFF"/>
                    </a:solidFill>
                  </a:tcPr>
                </a:tc>
                <a:tc>
                  <a:txBody>
                    <a:bodyPr wrap="square"/>
                    <a:lstStyle/>
                    <a:p>
                      <a:pPr algn="l"/>
                      <a:r>
                        <a:rPr sz="950" b="0" i="0">
                          <a:solidFill>
                            <a:srgbClr val="404040"/>
                          </a:solidFill>
                          <a:latin typeface="Arial"/>
                        </a:rPr>
                        <a:t>Week 5</a:t>
                      </a:r>
                    </a:p>
                  </a:txBody>
                  <a:tcPr marL="54864" marR="54864" marT="27432" marB="27432" anchor="ctr">
                    <a:solidFill>
                      <a:srgbClr val="FFFFFF"/>
                    </a:solidFill>
                  </a:tcPr>
                </a:tc>
              </a:tr>
            </a:tbl>
          </a:graphicData>
        </a:graphic>
      </p:graphicFrame>
      <p:sp>
        <p:nvSpPr>
          <p:cNvPr id="9" name="TextBox 8"/>
          <p:cNvSpPr txBox="1"/>
          <p:nvPr/>
        </p:nvSpPr>
        <p:spPr>
          <a:xfrm>
            <a:off x="384048" y="5760720"/>
            <a:ext cx="11338560" cy="365760"/>
          </a:xfrm>
          <a:prstGeom prst="rect">
            <a:avLst/>
          </a:prstGeom>
          <a:noFill/>
        </p:spPr>
        <p:txBody>
          <a:bodyPr wrap="square" anchor="t" lIns="36576" rIns="36576" tIns="21945" bIns="21945">
            <a:spAutoFit/>
          </a:bodyPr>
          <a:lstStyle/>
          <a:p>
            <a:pPr algn="l">
              <a:spcAft>
                <a:spcPts val="0"/>
              </a:spcAft>
            </a:pPr>
            <a:r>
              <a:rPr sz="950" b="0" i="1">
                <a:solidFill>
                  <a:srgbClr val="7F7F7F"/>
                </a:solidFill>
                <a:latin typeface="Arial"/>
              </a:rPr>
              <a:t>Weeks run from the week of 12 October 2026. Work after 31 October depends on the contract extension.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Toward the final recommendations</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Priority moves, structure and the decisions we need today</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Eight priority moves are emerging with owners and indicators; none is costed yet</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EMERGING PRIORITY MOVES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synthesis; evidence as cited on the branch slides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5" cy="4526280"/>
        </p:xfrm>
        <a:graphic>
          <a:graphicData uri="http://schemas.openxmlformats.org/drawingml/2006/table">
            <a:tbl>
              <a:tblPr firstRow="1" bandRow="0">
                <a:tableStyleId>{5C22544A-7EE6-4342-B048-85BDC9FD1C3A}</a:tableStyleId>
              </a:tblPr>
              <a:tblGrid>
                <a:gridCol w="1600200"/>
                <a:gridCol w="2834640"/>
                <a:gridCol w="2103120"/>
                <a:gridCol w="2148840"/>
                <a:gridCol w="1911095"/>
                <a:gridCol w="822960"/>
              </a:tblGrid>
              <a:tr h="502920">
                <a:tc>
                  <a:txBody>
                    <a:bodyPr wrap="square"/>
                    <a:lstStyle/>
                    <a:p>
                      <a:pPr algn="l"/>
                      <a:r>
                        <a:rPr sz="900" b="1" i="0">
                          <a:solidFill>
                            <a:srgbClr val="FFFFFF"/>
                          </a:solidFill>
                          <a:latin typeface="Arial"/>
                        </a:rPr>
                        <a:t>Move</a:t>
                      </a:r>
                    </a:p>
                  </a:txBody>
                  <a:tcPr marL="54864" marR="54864" marT="27432" marB="27432" anchor="ctr">
                    <a:solidFill>
                      <a:srgbClr val="1F497D"/>
                    </a:solidFill>
                  </a:tcPr>
                </a:tc>
                <a:tc>
                  <a:txBody>
                    <a:bodyPr wrap="square"/>
                    <a:lstStyle/>
                    <a:p>
                      <a:pPr algn="l"/>
                      <a:r>
                        <a:rPr sz="900" b="1" i="0">
                          <a:solidFill>
                            <a:srgbClr val="FFFFFF"/>
                          </a:solidFill>
                          <a:latin typeface="Arial"/>
                        </a:rPr>
                        <a:t>What it means</a:t>
                      </a:r>
                    </a:p>
                  </a:txBody>
                  <a:tcPr marL="54864" marR="54864" marT="27432" marB="27432" anchor="ctr">
                    <a:solidFill>
                      <a:srgbClr val="1F497D"/>
                    </a:solidFill>
                  </a:tcPr>
                </a:tc>
                <a:tc>
                  <a:txBody>
                    <a:bodyPr wrap="square"/>
                    <a:lstStyle/>
                    <a:p>
                      <a:pPr algn="l"/>
                      <a:r>
                        <a:rPr sz="900" b="1" i="0">
                          <a:solidFill>
                            <a:srgbClr val="FFFFFF"/>
                          </a:solidFill>
                          <a:latin typeface="Arial"/>
                        </a:rPr>
                        <a:t>Anchoring fact</a:t>
                      </a:r>
                    </a:p>
                  </a:txBody>
                  <a:tcPr marL="54864" marR="54864" marT="27432" marB="27432" anchor="ctr">
                    <a:solidFill>
                      <a:srgbClr val="1F497D"/>
                    </a:solidFill>
                  </a:tcPr>
                </a:tc>
                <a:tc>
                  <a:txBody>
                    <a:bodyPr wrap="square"/>
                    <a:lstStyle/>
                    <a:p>
                      <a:pPr algn="l"/>
                      <a:r>
                        <a:rPr sz="900" b="1" i="0">
                          <a:solidFill>
                            <a:srgbClr val="FFFFFF"/>
                          </a:solidFill>
                          <a:latin typeface="Arial"/>
                        </a:rPr>
                        <a:t>Lead (tier)</a:t>
                      </a:r>
                    </a:p>
                  </a:txBody>
                  <a:tcPr marL="54864" marR="54864" marT="27432" marB="27432" anchor="ctr">
                    <a:solidFill>
                      <a:srgbClr val="1F497D"/>
                    </a:solidFill>
                  </a:tcPr>
                </a:tc>
                <a:tc>
                  <a:txBody>
                    <a:bodyPr wrap="square"/>
                    <a:lstStyle/>
                    <a:p>
                      <a:pPr algn="l"/>
                      <a:r>
                        <a:rPr sz="900" b="1" i="0">
                          <a:solidFill>
                            <a:srgbClr val="FFFFFF"/>
                          </a:solidFill>
                          <a:latin typeface="Arial"/>
                        </a:rPr>
                        <a:t>Indicator</a:t>
                      </a:r>
                    </a:p>
                  </a:txBody>
                  <a:tcPr marL="54864" marR="54864" marT="27432" marB="27432" anchor="ctr">
                    <a:solidFill>
                      <a:srgbClr val="1F497D"/>
                    </a:solidFill>
                  </a:tcPr>
                </a:tc>
                <a:tc>
                  <a:txBody>
                    <a:bodyPr wrap="square"/>
                    <a:lstStyle/>
                    <a:p>
                      <a:pPr algn="l"/>
                      <a:r>
                        <a:rPr sz="900" b="1" i="0">
                          <a:solidFill>
                            <a:srgbClr val="FFFFFF"/>
                          </a:solidFill>
                          <a:latin typeface="Arial"/>
                        </a:rPr>
                        <a:t>Status</a:t>
                      </a:r>
                    </a:p>
                  </a:txBody>
                  <a:tcPr marL="54864" marR="54864" marT="27432" marB="27432" anchor="ctr">
                    <a:solidFill>
                      <a:srgbClr val="1F497D"/>
                    </a:solidFill>
                  </a:tcPr>
                </a:tc>
              </a:tr>
              <a:tr h="502920">
                <a:tc>
                  <a:txBody>
                    <a:bodyPr wrap="square"/>
                    <a:lstStyle/>
                    <a:p>
                      <a:pPr algn="l"/>
                      <a:r>
                        <a:rPr sz="900" b="1" i="0">
                          <a:solidFill>
                            <a:srgbClr val="1F497D"/>
                          </a:solidFill>
                          <a:latin typeface="Arial"/>
                        </a:rPr>
                        <a:t>Green-season engine</a:t>
                      </a:r>
                    </a:p>
                  </a:txBody>
                  <a:tcPr marL="54864" marR="54864" marT="27432" marB="27432" anchor="ctr">
                    <a:solidFill>
                      <a:srgbClr val="FFFFFF"/>
                    </a:solidFill>
                  </a:tcPr>
                </a:tc>
                <a:tc>
                  <a:txBody>
                    <a:bodyPr wrap="square"/>
                    <a:lstStyle/>
                    <a:p>
                      <a:pPr algn="l"/>
                      <a:r>
                        <a:rPr sz="900" b="0" i="0">
                          <a:solidFill>
                            <a:srgbClr val="404040"/>
                          </a:solidFill>
                          <a:latin typeface="Arial"/>
                        </a:rPr>
                        <a:t>One events, MICE and bidding pipeline for May-Sep, with hub-carrier packages</a:t>
                      </a:r>
                    </a:p>
                  </a:txBody>
                  <a:tcPr marL="54864" marR="54864" marT="27432" marB="27432" anchor="ctr">
                    <a:solidFill>
                      <a:srgbClr val="FFFFFF"/>
                    </a:solidFill>
                  </a:tcPr>
                </a:tc>
                <a:tc>
                  <a:txBody>
                    <a:bodyPr wrap="square"/>
                    <a:lstStyle/>
                    <a:p>
                      <a:pPr algn="l"/>
                      <a:r>
                        <a:rPr sz="900" b="0" i="0">
                          <a:solidFill>
                            <a:srgbClr val="7F7F7F"/>
                          </a:solidFill>
                          <a:latin typeface="Arial"/>
                        </a:rPr>
                        <a:t>Airlines cut June seats to 6.4% of the year</a:t>
                      </a:r>
                    </a:p>
                  </a:txBody>
                  <a:tcPr marL="54864" marR="54864" marT="27432" marB="27432" anchor="ctr">
                    <a:solidFill>
                      <a:srgbClr val="FFFFFF"/>
                    </a:solidFill>
                  </a:tcPr>
                </a:tc>
                <a:tc>
                  <a:txBody>
                    <a:bodyPr wrap="square"/>
                    <a:lstStyle/>
                    <a:p>
                      <a:pPr algn="l"/>
                      <a:r>
                        <a:rPr sz="900" b="0" i="0">
                          <a:solidFill>
                            <a:srgbClr val="404040"/>
                          </a:solidFill>
                          <a:latin typeface="Arial"/>
                        </a:rPr>
                        <a:t>Wesgro and Convention Bureau (provincial); City</a:t>
                      </a:r>
                    </a:p>
                  </a:txBody>
                  <a:tcPr marL="54864" marR="54864" marT="27432" marB="27432" anchor="ctr">
                    <a:solidFill>
                      <a:srgbClr val="FFFFFF"/>
                    </a:solidFill>
                  </a:tcPr>
                </a:tc>
                <a:tc>
                  <a:txBody>
                    <a:bodyPr wrap="square"/>
                    <a:lstStyle/>
                    <a:p>
                      <a:pPr algn="l"/>
                      <a:r>
                        <a:rPr sz="900" b="0" i="0">
                          <a:solidFill>
                            <a:srgbClr val="404040"/>
                          </a:solidFill>
                          <a:latin typeface="Arial"/>
                        </a:rPr>
                        <a:t>May-Sep share of seats and ICCA meetings</a:t>
                      </a:r>
                    </a:p>
                  </a:txBody>
                  <a:tcPr marL="54864" marR="54864" marT="27432" marB="27432" anchor="ctr">
                    <a:solidFill>
                      <a:srgbClr val="FFFFFF"/>
                    </a:solidFill>
                  </a:tcPr>
                </a:tc>
                <a:tc>
                  <a:txBody>
                    <a:bodyPr wrap="square"/>
                    <a:lstStyle/>
                    <a:p>
                      <a:pPr algn="l"/>
                      <a:r>
                        <a:rPr sz="900" b="1" i="0">
                          <a:solidFill>
                            <a:srgbClr val="FFFFFF"/>
                          </a:solidFill>
                          <a:latin typeface="Arial"/>
                        </a:rPr>
                        <a:t>Firm</a:t>
                      </a:r>
                    </a:p>
                  </a:txBody>
                  <a:tcPr marL="54864" marR="54864" marT="27432" marB="27432" anchor="ctr">
                    <a:solidFill>
                      <a:srgbClr val="2E9E44"/>
                    </a:solidFill>
                  </a:tcPr>
                </a:tc>
              </a:tr>
              <a:tr h="502920">
                <a:tc>
                  <a:txBody>
                    <a:bodyPr wrap="square"/>
                    <a:lstStyle/>
                    <a:p>
                      <a:pPr algn="l"/>
                      <a:r>
                        <a:rPr sz="900" b="1" i="0">
                          <a:solidFill>
                            <a:srgbClr val="1F497D"/>
                          </a:solidFill>
                          <a:latin typeface="Arial"/>
                        </a:rPr>
                        <a:t>Air access fund</a:t>
                      </a:r>
                    </a:p>
                  </a:txBody>
                  <a:tcPr marL="54864" marR="54864" marT="27432" marB="27432" anchor="ctr">
                    <a:solidFill>
                      <a:srgbClr val="F2F2F2"/>
                    </a:solidFill>
                  </a:tcPr>
                </a:tc>
                <a:tc>
                  <a:txBody>
                    <a:bodyPr wrap="square"/>
                    <a:lstStyle/>
                    <a:p>
                      <a:pPr algn="l"/>
                      <a:r>
                        <a:rPr sz="900" b="0" i="0">
                          <a:solidFill>
                            <a:srgbClr val="404040"/>
                          </a:solidFill>
                          <a:latin typeface="Arial"/>
                        </a:rPr>
                        <a:t>Public-private fund underwriting frequency and upgauging on full routes</a:t>
                      </a:r>
                    </a:p>
                  </a:txBody>
                  <a:tcPr marL="54864" marR="54864" marT="27432" marB="27432" anchor="ctr">
                    <a:solidFill>
                      <a:srgbClr val="F2F2F2"/>
                    </a:solidFill>
                  </a:tcPr>
                </a:tc>
                <a:tc>
                  <a:txBody>
                    <a:bodyPr wrap="square"/>
                    <a:lstStyle/>
                    <a:p>
                      <a:pPr algn="l"/>
                      <a:r>
                        <a:rPr sz="900" b="0" i="0">
                          <a:solidFill>
                            <a:srgbClr val="7F7F7F"/>
                          </a:solidFill>
                          <a:latin typeface="Arial"/>
                        </a:rPr>
                        <a:t>11 routes above 80% estimated load; fares over seats</a:t>
                      </a:r>
                    </a:p>
                  </a:txBody>
                  <a:tcPr marL="54864" marR="54864" marT="27432" marB="27432" anchor="ctr">
                    <a:solidFill>
                      <a:srgbClr val="F2F2F2"/>
                    </a:solidFill>
                  </a:tcPr>
                </a:tc>
                <a:tc>
                  <a:txBody>
                    <a:bodyPr wrap="square"/>
                    <a:lstStyle/>
                    <a:p>
                      <a:pPr algn="l"/>
                      <a:r>
                        <a:rPr sz="900" b="0" i="0">
                          <a:solidFill>
                            <a:srgbClr val="404040"/>
                          </a:solidFill>
                          <a:latin typeface="Arial"/>
                        </a:rPr>
                        <a:t>Wesgro Air Access (provincial); ACSA (national); WCG</a:t>
                      </a:r>
                    </a:p>
                  </a:txBody>
                  <a:tcPr marL="54864" marR="54864" marT="27432" marB="27432" anchor="ctr">
                    <a:solidFill>
                      <a:srgbClr val="F2F2F2"/>
                    </a:solidFill>
                  </a:tcPr>
                </a:tc>
                <a:tc>
                  <a:txBody>
                    <a:bodyPr wrap="square"/>
                    <a:lstStyle/>
                    <a:p>
                      <a:pPr algn="l"/>
                      <a:r>
                        <a:rPr sz="900" b="0" i="0">
                          <a:solidFill>
                            <a:srgbClr val="404040"/>
                          </a:solidFill>
                          <a:latin typeface="Arial"/>
                        </a:rPr>
                        <a:t>Weekly frequencies on routes above 80%</a:t>
                      </a:r>
                    </a:p>
                  </a:txBody>
                  <a:tcPr marL="54864" marR="54864" marT="27432" marB="27432" anchor="ctr">
                    <a:solidFill>
                      <a:srgbClr val="F2F2F2"/>
                    </a:solidFill>
                  </a:tcPr>
                </a:tc>
                <a:tc>
                  <a:txBody>
                    <a:bodyPr wrap="square"/>
                    <a:lstStyle/>
                    <a:p>
                      <a:pPr algn="l"/>
                      <a:r>
                        <a:rPr sz="900" b="1" i="0">
                          <a:solidFill>
                            <a:srgbClr val="FFFFFF"/>
                          </a:solidFill>
                          <a:latin typeface="Arial"/>
                        </a:rPr>
                        <a:t>Firm</a:t>
                      </a:r>
                    </a:p>
                  </a:txBody>
                  <a:tcPr marL="54864" marR="54864" marT="27432" marB="27432" anchor="ctr">
                    <a:solidFill>
                      <a:srgbClr val="2E9E44"/>
                    </a:solidFill>
                  </a:tcPr>
                </a:tc>
              </a:tr>
              <a:tr h="502920">
                <a:tc>
                  <a:txBody>
                    <a:bodyPr wrap="square"/>
                    <a:lstStyle/>
                    <a:p>
                      <a:pPr algn="l"/>
                      <a:r>
                        <a:rPr sz="900" b="1" i="0">
                          <a:solidFill>
                            <a:srgbClr val="1F497D"/>
                          </a:solidFill>
                          <a:latin typeface="Arial"/>
                        </a:rPr>
                        <a:t>Bookable province</a:t>
                      </a:r>
                    </a:p>
                  </a:txBody>
                  <a:tcPr marL="54864" marR="54864" marT="27432" marB="27432" anchor="ctr">
                    <a:solidFill>
                      <a:srgbClr val="FFFFFF"/>
                    </a:solidFill>
                  </a:tcPr>
                </a:tc>
                <a:tc>
                  <a:txBody>
                    <a:bodyPr wrap="square"/>
                    <a:lstStyle/>
                    <a:p>
                      <a:pPr algn="l"/>
                      <a:r>
                        <a:rPr sz="900" b="0" i="0">
                          <a:solidFill>
                            <a:srgbClr val="404040"/>
                          </a:solidFill>
                          <a:latin typeface="Arial"/>
                        </a:rPr>
                        <a:t>List rural, nature and community product on OTAs and native platforms</a:t>
                      </a:r>
                    </a:p>
                  </a:txBody>
                  <a:tcPr marL="54864" marR="54864" marT="27432" marB="27432" anchor="ctr">
                    <a:solidFill>
                      <a:srgbClr val="FFFFFF"/>
                    </a:solidFill>
                  </a:tcPr>
                </a:tc>
                <a:tc>
                  <a:txBody>
                    <a:bodyPr wrap="square"/>
                    <a:lstStyle/>
                    <a:p>
                      <a:pPr algn="l"/>
                      <a:r>
                        <a:rPr sz="900" b="0" i="0">
                          <a:solidFill>
                            <a:srgbClr val="7F7F7F"/>
                          </a:solidFill>
                          <a:latin typeface="Arial"/>
                        </a:rPr>
                        <a:t>Most rural property has no OTA presence</a:t>
                      </a:r>
                    </a:p>
                  </a:txBody>
                  <a:tcPr marL="54864" marR="54864" marT="27432" marB="27432" anchor="ctr">
                    <a:solidFill>
                      <a:srgbClr val="FFFFFF"/>
                    </a:solidFill>
                  </a:tcPr>
                </a:tc>
                <a:tc>
                  <a:txBody>
                    <a:bodyPr wrap="square"/>
                    <a:lstStyle/>
                    <a:p>
                      <a:pPr algn="l"/>
                      <a:r>
                        <a:rPr sz="900" b="0" i="0">
                          <a:solidFill>
                            <a:srgbClr val="404040"/>
                          </a:solidFill>
                          <a:latin typeface="Arial"/>
                        </a:rPr>
                        <a:t>Wesgro (provincial); LTOs (local); CapeNature</a:t>
                      </a:r>
                    </a:p>
                  </a:txBody>
                  <a:tcPr marL="54864" marR="54864" marT="27432" marB="27432" anchor="ctr">
                    <a:solidFill>
                      <a:srgbClr val="FFFFFF"/>
                    </a:solidFill>
                  </a:tcPr>
                </a:tc>
                <a:tc>
                  <a:txBody>
                    <a:bodyPr wrap="square"/>
                    <a:lstStyle/>
                    <a:p>
                      <a:pPr algn="l"/>
                      <a:r>
                        <a:rPr sz="900" b="0" i="0">
                          <a:solidFill>
                            <a:srgbClr val="404040"/>
                          </a:solidFill>
                          <a:latin typeface="Arial"/>
                        </a:rPr>
                        <a:t>Share of mapped properties bookable online</a:t>
                      </a:r>
                    </a:p>
                  </a:txBody>
                  <a:tcPr marL="54864" marR="54864" marT="27432" marB="27432" anchor="ctr">
                    <a:solidFill>
                      <a:srgbClr val="FFFFFF"/>
                    </a:solidFill>
                  </a:tcPr>
                </a:tc>
                <a:tc>
                  <a:txBody>
                    <a:bodyPr wrap="square"/>
                    <a:lstStyle/>
                    <a:p>
                      <a:pPr algn="l"/>
                      <a:r>
                        <a:rPr sz="900" b="1" i="0">
                          <a:solidFill>
                            <a:srgbClr val="FFFFFF"/>
                          </a:solidFill>
                          <a:latin typeface="Arial"/>
                        </a:rPr>
                        <a:t>Firm</a:t>
                      </a:r>
                    </a:p>
                  </a:txBody>
                  <a:tcPr marL="54864" marR="54864" marT="27432" marB="27432" anchor="ctr">
                    <a:solidFill>
                      <a:srgbClr val="2E9E44"/>
                    </a:solidFill>
                  </a:tcPr>
                </a:tc>
              </a:tr>
              <a:tr h="502920">
                <a:tc>
                  <a:txBody>
                    <a:bodyPr wrap="square"/>
                    <a:lstStyle/>
                    <a:p>
                      <a:pPr algn="l"/>
                      <a:r>
                        <a:rPr sz="900" b="1" i="0">
                          <a:solidFill>
                            <a:srgbClr val="1F497D"/>
                          </a:solidFill>
                          <a:latin typeface="Arial"/>
                        </a:rPr>
                        <a:t>Hub conversion for India and China</a:t>
                      </a:r>
                    </a:p>
                  </a:txBody>
                  <a:tcPr marL="54864" marR="54864" marT="27432" marB="27432" anchor="ctr">
                    <a:solidFill>
                      <a:srgbClr val="F2F2F2"/>
                    </a:solidFill>
                  </a:tcPr>
                </a:tc>
                <a:tc>
                  <a:txBody>
                    <a:bodyPr wrap="square"/>
                    <a:lstStyle/>
                    <a:p>
                      <a:pPr algn="l"/>
                      <a:r>
                        <a:rPr sz="900" b="0" i="0">
                          <a:solidFill>
                            <a:srgbClr val="404040"/>
                          </a:solidFill>
                          <a:latin typeface="Arial"/>
                        </a:rPr>
                        <a:t>Co-market with Ethiopian and Emirates; build Indian and Chinese carrier ties</a:t>
                      </a:r>
                    </a:p>
                  </a:txBody>
                  <a:tcPr marL="54864" marR="54864" marT="27432" marB="27432" anchor="ctr">
                    <a:solidFill>
                      <a:srgbClr val="F2F2F2"/>
                    </a:solidFill>
                  </a:tcPr>
                </a:tc>
                <a:tc>
                  <a:txBody>
                    <a:bodyPr wrap="square"/>
                    <a:lstStyle/>
                    <a:p>
                      <a:pPr algn="l"/>
                      <a:r>
                        <a:rPr sz="900" b="0" i="0">
                          <a:solidFill>
                            <a:srgbClr val="7F7F7F"/>
                          </a:solidFill>
                          <a:latin typeface="Arial"/>
                        </a:rPr>
                        <a:t>~101,000 journeys via hubs a year (GDS)</a:t>
                      </a:r>
                    </a:p>
                  </a:txBody>
                  <a:tcPr marL="54864" marR="54864" marT="27432" marB="27432" anchor="ctr">
                    <a:solidFill>
                      <a:srgbClr val="F2F2F2"/>
                    </a:solidFill>
                  </a:tcPr>
                </a:tc>
                <a:tc>
                  <a:txBody>
                    <a:bodyPr wrap="square"/>
                    <a:lstStyle/>
                    <a:p>
                      <a:pPr algn="l"/>
                      <a:r>
                        <a:rPr sz="900" b="0" i="0">
                          <a:solidFill>
                            <a:srgbClr val="404040"/>
                          </a:solidFill>
                          <a:latin typeface="Arial"/>
                        </a:rPr>
                        <a:t>Wesgro; SA Tourism and national government (diplomatic channel)</a:t>
                      </a:r>
                    </a:p>
                  </a:txBody>
                  <a:tcPr marL="54864" marR="54864" marT="27432" marB="27432" anchor="ctr">
                    <a:solidFill>
                      <a:srgbClr val="F2F2F2"/>
                    </a:solidFill>
                  </a:tcPr>
                </a:tc>
                <a:tc>
                  <a:txBody>
                    <a:bodyPr wrap="square"/>
                    <a:lstStyle/>
                    <a:p>
                      <a:pPr algn="l"/>
                      <a:r>
                        <a:rPr sz="900" b="0" i="0">
                          <a:solidFill>
                            <a:srgbClr val="404040"/>
                          </a:solidFill>
                          <a:latin typeface="Arial"/>
                        </a:rPr>
                        <a:t>Indirect journeys via ADD, DXB, DOH</a:t>
                      </a:r>
                    </a:p>
                  </a:txBody>
                  <a:tcPr marL="54864" marR="54864" marT="27432" marB="27432" anchor="ctr">
                    <a:solidFill>
                      <a:srgbClr val="F2F2F2"/>
                    </a:solidFill>
                  </a:tcPr>
                </a:tc>
                <a:tc>
                  <a:txBody>
                    <a:bodyPr wrap="square"/>
                    <a:lstStyle/>
                    <a:p>
                      <a:pPr algn="l"/>
                      <a:r>
                        <a:rPr sz="900" b="1" i="0">
                          <a:solidFill>
                            <a:srgbClr val="FFFFFF"/>
                          </a:solidFill>
                          <a:latin typeface="Arial"/>
                        </a:rPr>
                        <a:t>Firm</a:t>
                      </a:r>
                    </a:p>
                  </a:txBody>
                  <a:tcPr marL="54864" marR="54864" marT="27432" marB="27432" anchor="ctr">
                    <a:solidFill>
                      <a:srgbClr val="2E9E44"/>
                    </a:solidFill>
                  </a:tcPr>
                </a:tc>
              </a:tr>
              <a:tr h="502920">
                <a:tc>
                  <a:txBody>
                    <a:bodyPr wrap="square"/>
                    <a:lstStyle/>
                    <a:p>
                      <a:pPr algn="l"/>
                      <a:r>
                        <a:rPr sz="900" b="1" i="0">
                          <a:solidFill>
                            <a:srgbClr val="1F497D"/>
                          </a:solidFill>
                          <a:latin typeface="Arial"/>
                        </a:rPr>
                        <a:t>Seller with a stake</a:t>
                      </a:r>
                    </a:p>
                  </a:txBody>
                  <a:tcPr marL="54864" marR="54864" marT="27432" marB="27432" anchor="ctr">
                    <a:solidFill>
                      <a:srgbClr val="FFFFFF"/>
                    </a:solidFill>
                  </a:tcPr>
                </a:tc>
                <a:tc>
                  <a:txBody>
                    <a:bodyPr wrap="square"/>
                    <a:lstStyle/>
                    <a:p>
                      <a:pPr algn="l"/>
                      <a:r>
                        <a:rPr sz="900" b="0" i="0">
                          <a:solidFill>
                            <a:srgbClr val="404040"/>
                          </a:solidFill>
                          <a:latin typeface="Arial"/>
                        </a:rPr>
                        <a:t>Pilot 2-3 community selling routes with safety gates before capital</a:t>
                      </a:r>
                    </a:p>
                  </a:txBody>
                  <a:tcPr marL="54864" marR="54864" marT="27432" marB="27432" anchor="ctr">
                    <a:solidFill>
                      <a:srgbClr val="FFFFFF"/>
                    </a:solidFill>
                  </a:tcPr>
                </a:tc>
                <a:tc>
                  <a:txBody>
                    <a:bodyPr wrap="square"/>
                    <a:lstStyle/>
                    <a:p>
                      <a:pPr algn="l"/>
                      <a:r>
                        <a:rPr sz="900" b="0" i="0">
                          <a:solidFill>
                            <a:srgbClr val="7F7F7F"/>
                          </a:solidFill>
                          <a:latin typeface="Arial"/>
                        </a:rPr>
                        <a:t>0.02-0.04% of spend reaches 18.4% of residents</a:t>
                      </a:r>
                    </a:p>
                  </a:txBody>
                  <a:tcPr marL="54864" marR="54864" marT="27432" marB="27432" anchor="ctr">
                    <a:solidFill>
                      <a:srgbClr val="FFFFFF"/>
                    </a:solidFill>
                  </a:tcPr>
                </a:tc>
                <a:tc>
                  <a:txBody>
                    <a:bodyPr wrap="square"/>
                    <a:lstStyle/>
                    <a:p>
                      <a:pPr algn="l"/>
                      <a:r>
                        <a:rPr sz="900" b="0" i="0">
                          <a:solidFill>
                            <a:srgbClr val="404040"/>
                          </a:solidFill>
                          <a:latin typeface="Arial"/>
                        </a:rPr>
                        <a:t>Municipalities and LTOs (local); Wesgro</a:t>
                      </a:r>
                    </a:p>
                  </a:txBody>
                  <a:tcPr marL="54864" marR="54864" marT="27432" marB="27432" anchor="ctr">
                    <a:solidFill>
                      <a:srgbClr val="FFFFFF"/>
                    </a:solidFill>
                  </a:tcPr>
                </a:tc>
                <a:tc>
                  <a:txBody>
                    <a:bodyPr wrap="square"/>
                    <a:lstStyle/>
                    <a:p>
                      <a:pPr algn="l"/>
                      <a:r>
                        <a:rPr sz="900" b="0" i="0">
                          <a:solidFill>
                            <a:srgbClr val="404040"/>
                          </a:solidFill>
                          <a:latin typeface="Arial"/>
                        </a:rPr>
                        <a:t>Bookings and local revenue per pilot (SME plan thresholds)</a:t>
                      </a:r>
                    </a:p>
                  </a:txBody>
                  <a:tcPr marL="54864" marR="54864" marT="27432" marB="27432" anchor="ctr">
                    <a:solidFill>
                      <a:srgbClr val="FFFFFF"/>
                    </a:solidFill>
                  </a:tcPr>
                </a:tc>
                <a:tc>
                  <a:txBody>
                    <a:bodyPr wrap="square"/>
                    <a:lstStyle/>
                    <a:p>
                      <a:pPr algn="l"/>
                      <a:r>
                        <a:rPr sz="900" b="1" i="0">
                          <a:solidFill>
                            <a:srgbClr val="FFFFFF"/>
                          </a:solidFill>
                          <a:latin typeface="Arial"/>
                        </a:rPr>
                        <a:t>Firm</a:t>
                      </a:r>
                    </a:p>
                  </a:txBody>
                  <a:tcPr marL="54864" marR="54864" marT="27432" marB="27432" anchor="ctr">
                    <a:solidFill>
                      <a:srgbClr val="2E9E44"/>
                    </a:solidFill>
                  </a:tcPr>
                </a:tc>
              </a:tr>
              <a:tr h="502920">
                <a:tc>
                  <a:txBody>
                    <a:bodyPr wrap="square"/>
                    <a:lstStyle/>
                    <a:p>
                      <a:pPr algn="l"/>
                      <a:r>
                        <a:rPr sz="900" b="1" i="0">
                          <a:solidFill>
                            <a:srgbClr val="1F497D"/>
                          </a:solidFill>
                          <a:latin typeface="Arial"/>
                        </a:rPr>
                        <a:t>Corridor programme</a:t>
                      </a:r>
                    </a:p>
                  </a:txBody>
                  <a:tcPr marL="54864" marR="54864" marT="27432" marB="27432" anchor="ctr">
                    <a:solidFill>
                      <a:srgbClr val="F2F2F2"/>
                    </a:solidFill>
                  </a:tcPr>
                </a:tc>
                <a:tc>
                  <a:txBody>
                    <a:bodyPr wrap="square"/>
                    <a:lstStyle/>
                    <a:p>
                      <a:pPr algn="l"/>
                      <a:r>
                        <a:rPr sz="900" b="0" i="0">
                          <a:solidFill>
                            <a:srgbClr val="404040"/>
                          </a:solidFill>
                          <a:latin typeface="Arial"/>
                        </a:rPr>
                        <a:t>Back two or three touring routes with shuttles, signage and mid-scale beds</a:t>
                      </a:r>
                    </a:p>
                  </a:txBody>
                  <a:tcPr marL="54864" marR="54864" marT="27432" marB="27432" anchor="ctr">
                    <a:solidFill>
                      <a:srgbClr val="F2F2F2"/>
                    </a:solidFill>
                  </a:tcPr>
                </a:tc>
                <a:tc>
                  <a:txBody>
                    <a:bodyPr wrap="square"/>
                    <a:lstStyle/>
                    <a:p>
                      <a:pPr algn="l"/>
                      <a:r>
                        <a:rPr sz="900" b="0" i="0">
                          <a:solidFill>
                            <a:srgbClr val="7F7F7F"/>
                          </a:solidFill>
                          <a:latin typeface="Arial"/>
                        </a:rPr>
                        <a:t>Access 4.7 (Metro) to 1.0 (Karoo)</a:t>
                      </a:r>
                    </a:p>
                  </a:txBody>
                  <a:tcPr marL="54864" marR="54864" marT="27432" marB="27432" anchor="ctr">
                    <a:solidFill>
                      <a:srgbClr val="F2F2F2"/>
                    </a:solidFill>
                  </a:tcPr>
                </a:tc>
                <a:tc>
                  <a:txBody>
                    <a:bodyPr wrap="square"/>
                    <a:lstStyle/>
                    <a:p>
                      <a:pPr algn="l"/>
                      <a:r>
                        <a:rPr sz="900" b="0" i="0">
                          <a:solidFill>
                            <a:srgbClr val="404040"/>
                          </a:solidFill>
                          <a:latin typeface="Arial"/>
                        </a:rPr>
                        <a:t>WCG Mobility (provincial); districts; private sector</a:t>
                      </a:r>
                    </a:p>
                  </a:txBody>
                  <a:tcPr marL="54864" marR="54864" marT="27432" marB="27432" anchor="ctr">
                    <a:solidFill>
                      <a:srgbClr val="F2F2F2"/>
                    </a:solidFill>
                  </a:tcPr>
                </a:tc>
                <a:tc>
                  <a:txBody>
                    <a:bodyPr wrap="square"/>
                    <a:lstStyle/>
                    <a:p>
                      <a:pPr algn="l"/>
                      <a:r>
                        <a:rPr sz="900" b="0" i="0">
                          <a:solidFill>
                            <a:srgbClr val="404040"/>
                          </a:solidFill>
                          <a:latin typeface="Arial"/>
                        </a:rPr>
                        <a:t>Route readiness scores; regional bed-nights</a:t>
                      </a:r>
                    </a:p>
                  </a:txBody>
                  <a:tcPr marL="54864" marR="54864" marT="27432" marB="27432" anchor="ctr">
                    <a:solidFill>
                      <a:srgbClr val="F2F2F2"/>
                    </a:solidFill>
                  </a:tcPr>
                </a:tc>
                <a:tc>
                  <a:txBody>
                    <a:bodyPr wrap="square"/>
                    <a:lstStyle/>
                    <a:p>
                      <a:pPr algn="l"/>
                      <a:r>
                        <a:rPr sz="900" b="1" i="0">
                          <a:solidFill>
                            <a:srgbClr val="262626"/>
                          </a:solidFill>
                          <a:latin typeface="Arial"/>
                        </a:rPr>
                        <a:t>Conditional</a:t>
                      </a:r>
                    </a:p>
                  </a:txBody>
                  <a:tcPr marL="54864" marR="54864" marT="27432" marB="27432" anchor="ctr">
                    <a:solidFill>
                      <a:srgbClr val="F2A900"/>
                    </a:solidFill>
                  </a:tcPr>
                </a:tc>
              </a:tr>
              <a:tr h="502920">
                <a:tc>
                  <a:txBody>
                    <a:bodyPr wrap="square"/>
                    <a:lstStyle/>
                    <a:p>
                      <a:pPr algn="l"/>
                      <a:r>
                        <a:rPr sz="900" b="1" i="0">
                          <a:solidFill>
                            <a:srgbClr val="1F497D"/>
                          </a:solidFill>
                          <a:latin typeface="Arial"/>
                        </a:rPr>
                        <a:t>Route-accountable marketing</a:t>
                      </a:r>
                    </a:p>
                  </a:txBody>
                  <a:tcPr marL="54864" marR="54864" marT="27432" marB="27432" anchor="ctr">
                    <a:solidFill>
                      <a:srgbClr val="FFFFFF"/>
                    </a:solidFill>
                  </a:tcPr>
                </a:tc>
                <a:tc>
                  <a:txBody>
                    <a:bodyPr wrap="square"/>
                    <a:lstStyle/>
                    <a:p>
                      <a:pPr algn="l"/>
                      <a:r>
                        <a:rPr sz="900" b="0" i="0">
                          <a:solidFill>
                            <a:srgbClr val="404040"/>
                          </a:solidFill>
                          <a:latin typeface="Arial"/>
                        </a:rPr>
                        <a:t>Tie campaign budgets to corridors and bookings, not reach</a:t>
                      </a:r>
                    </a:p>
                  </a:txBody>
                  <a:tcPr marL="54864" marR="54864" marT="27432" marB="27432" anchor="ctr">
                    <a:solidFill>
                      <a:srgbClr val="FFFFFF"/>
                    </a:solidFill>
                  </a:tcPr>
                </a:tc>
                <a:tc>
                  <a:txBody>
                    <a:bodyPr wrap="square"/>
                    <a:lstStyle/>
                    <a:p>
                      <a:pPr algn="l"/>
                      <a:r>
                        <a:rPr sz="900" b="0" i="0">
                          <a:solidFill>
                            <a:srgbClr val="7F7F7F"/>
                          </a:solidFill>
                          <a:latin typeface="Arial"/>
                        </a:rPr>
                        <a:t>NZ: 16,000+ bookings, ~NZ$55m ROI as reported</a:t>
                      </a:r>
                    </a:p>
                  </a:txBody>
                  <a:tcPr marL="54864" marR="54864" marT="27432" marB="27432" anchor="ctr">
                    <a:solidFill>
                      <a:srgbClr val="FFFFFF"/>
                    </a:solidFill>
                  </a:tcPr>
                </a:tc>
                <a:tc>
                  <a:txBody>
                    <a:bodyPr wrap="square"/>
                    <a:lstStyle/>
                    <a:p>
                      <a:pPr algn="l"/>
                      <a:r>
                        <a:rPr sz="900" b="0" i="0">
                          <a:solidFill>
                            <a:srgbClr val="404040"/>
                          </a:solidFill>
                          <a:latin typeface="Arial"/>
                        </a:rPr>
                        <a:t>Wesgro (provincial); SA Tourism (national)</a:t>
                      </a:r>
                    </a:p>
                  </a:txBody>
                  <a:tcPr marL="54864" marR="54864" marT="27432" marB="27432" anchor="ctr">
                    <a:solidFill>
                      <a:srgbClr val="FFFFFF"/>
                    </a:solidFill>
                  </a:tcPr>
                </a:tc>
                <a:tc>
                  <a:txBody>
                    <a:bodyPr wrap="square"/>
                    <a:lstStyle/>
                    <a:p>
                      <a:pPr algn="l"/>
                      <a:r>
                        <a:rPr sz="900" b="0" i="0">
                          <a:solidFill>
                            <a:srgbClr val="404040"/>
                          </a:solidFill>
                          <a:latin typeface="Arial"/>
                        </a:rPr>
                        <a:t>Bookings per campaign by route</a:t>
                      </a:r>
                    </a:p>
                  </a:txBody>
                  <a:tcPr marL="54864" marR="54864" marT="27432" marB="27432" anchor="ctr">
                    <a:solidFill>
                      <a:srgbClr val="FFFFFF"/>
                    </a:solidFill>
                  </a:tcPr>
                </a:tc>
                <a:tc>
                  <a:txBody>
                    <a:bodyPr wrap="square"/>
                    <a:lstStyle/>
                    <a:p>
                      <a:pPr algn="l"/>
                      <a:r>
                        <a:rPr sz="900" b="1" i="0">
                          <a:solidFill>
                            <a:srgbClr val="262626"/>
                          </a:solidFill>
                          <a:latin typeface="Arial"/>
                        </a:rPr>
                        <a:t>Conditional</a:t>
                      </a:r>
                    </a:p>
                  </a:txBody>
                  <a:tcPr marL="54864" marR="54864" marT="27432" marB="27432" anchor="ctr">
                    <a:solidFill>
                      <a:srgbClr val="F2A900"/>
                    </a:solidFill>
                  </a:tcPr>
                </a:tc>
              </a:tr>
              <a:tr h="502920">
                <a:tc>
                  <a:txBody>
                    <a:bodyPr wrap="square"/>
                    <a:lstStyle/>
                    <a:p>
                      <a:pPr algn="l"/>
                      <a:r>
                        <a:rPr sz="900" b="1" i="0">
                          <a:solidFill>
                            <a:srgbClr val="1F497D"/>
                          </a:solidFill>
                          <a:latin typeface="Arial"/>
                        </a:rPr>
                        <a:t>Orchestrate the system</a:t>
                      </a:r>
                    </a:p>
                  </a:txBody>
                  <a:tcPr marL="54864" marR="54864" marT="27432" marB="27432" anchor="ctr">
                    <a:solidFill>
                      <a:srgbClr val="F2F2F2"/>
                    </a:solidFill>
                  </a:tcPr>
                </a:tc>
                <a:tc>
                  <a:txBody>
                    <a:bodyPr wrap="square"/>
                    <a:lstStyle/>
                    <a:p>
                      <a:pPr algn="l"/>
                      <a:r>
                        <a:rPr sz="900" b="0" i="0">
                          <a:solidFill>
                            <a:srgbClr val="404040"/>
                          </a:solidFill>
                          <a:latin typeface="Arial"/>
                        </a:rPr>
                        <a:t>A standing coordination body on the Air Access model: WCG convenes, shared KPIs, a data layer</a:t>
                      </a:r>
                    </a:p>
                  </a:txBody>
                  <a:tcPr marL="54864" marR="54864" marT="27432" marB="27432" anchor="ctr">
                    <a:solidFill>
                      <a:srgbClr val="F2F2F2"/>
                    </a:solidFill>
                  </a:tcPr>
                </a:tc>
                <a:tc>
                  <a:txBody>
                    <a:bodyPr wrap="square"/>
                    <a:lstStyle/>
                    <a:p>
                      <a:pPr algn="l"/>
                      <a:r>
                        <a:rPr sz="900" b="0" i="0">
                          <a:solidFill>
                            <a:srgbClr val="7F7F7F"/>
                          </a:solidFill>
                          <a:latin typeface="Arial"/>
                        </a:rPr>
                        <a:t>15 of 16 organisations raised it (tally)</a:t>
                      </a:r>
                    </a:p>
                  </a:txBody>
                  <a:tcPr marL="54864" marR="54864" marT="27432" marB="27432" anchor="ctr">
                    <a:solidFill>
                      <a:srgbClr val="F2F2F2"/>
                    </a:solidFill>
                  </a:tcPr>
                </a:tc>
                <a:tc>
                  <a:txBody>
                    <a:bodyPr wrap="square"/>
                    <a:lstStyle/>
                    <a:p>
                      <a:pPr algn="l"/>
                      <a:r>
                        <a:rPr sz="900" b="0" i="0">
                          <a:solidFill>
                            <a:srgbClr val="404040"/>
                          </a:solidFill>
                          <a:latin typeface="Arial"/>
                        </a:rPr>
                        <a:t>WCG DEDAT convenes; Wesgro, City, industry</a:t>
                      </a:r>
                    </a:p>
                  </a:txBody>
                  <a:tcPr marL="54864" marR="54864" marT="27432" marB="27432" anchor="ctr">
                    <a:solidFill>
                      <a:srgbClr val="F2F2F2"/>
                    </a:solidFill>
                  </a:tcPr>
                </a:tc>
                <a:tc>
                  <a:txBody>
                    <a:bodyPr wrap="square"/>
                    <a:lstStyle/>
                    <a:p>
                      <a:pPr algn="l"/>
                      <a:r>
                        <a:rPr sz="900" b="0" i="0">
                          <a:solidFill>
                            <a:srgbClr val="404040"/>
                          </a:solidFill>
                          <a:latin typeface="Arial"/>
                        </a:rPr>
                        <a:t>KPI set agreed; quarterly reporting live</a:t>
                      </a:r>
                    </a:p>
                  </a:txBody>
                  <a:tcPr marL="54864" marR="54864" marT="27432" marB="27432" anchor="ctr">
                    <a:solidFill>
                      <a:srgbClr val="F2F2F2"/>
                    </a:solidFill>
                  </a:tcPr>
                </a:tc>
                <a:tc>
                  <a:txBody>
                    <a:bodyPr wrap="square"/>
                    <a:lstStyle/>
                    <a:p>
                      <a:pPr algn="l"/>
                      <a:r>
                        <a:rPr sz="900" b="1" i="0">
                          <a:solidFill>
                            <a:srgbClr val="262626"/>
                          </a:solidFill>
                          <a:latin typeface="Arial"/>
                        </a:rPr>
                        <a:t>Conditional</a:t>
                      </a:r>
                    </a:p>
                  </a:txBody>
                  <a:tcPr marL="54864" marR="54864" marT="27432" marB="27432" anchor="ctr">
                    <a:solidFill>
                      <a:srgbClr val="F2A900"/>
                    </a:solidFill>
                  </a:tcPr>
                </a:tc>
              </a:tr>
            </a:tbl>
          </a:graphicData>
        </a:graphic>
      </p:graphicFrame>
      <p:sp>
        <p:nvSpPr>
          <p:cNvPr id="9" name="TextBox 8"/>
          <p:cNvSpPr txBox="1"/>
          <p:nvPr/>
        </p:nvSpPr>
        <p:spPr>
          <a:xfrm>
            <a:off x="384048" y="5760720"/>
            <a:ext cx="11338560" cy="365760"/>
          </a:xfrm>
          <a:prstGeom prst="rect">
            <a:avLst/>
          </a:prstGeom>
          <a:noFill/>
        </p:spPr>
        <p:txBody>
          <a:bodyPr wrap="square" anchor="t" lIns="36576" rIns="36576" tIns="21945" bIns="21945">
            <a:spAutoFit/>
          </a:bodyPr>
          <a:lstStyle/>
          <a:p>
            <a:pPr algn="l">
              <a:spcAft>
                <a:spcPts val="0"/>
              </a:spcAft>
            </a:pPr>
            <a:r>
              <a:rPr sz="950" b="0" i="1">
                <a:solidFill>
                  <a:srgbClr val="7F7F7F"/>
                </a:solidFill>
                <a:latin typeface="Arial"/>
              </a:rPr>
              <a:t>Cost: no input sizes any move. Costing is in the gap-closing plan (investment ROI, marketing audit). Timing per the "so what" slide: firm moves by 2028.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We propose organising recommendations by pillar and horizon, with an owner for every action</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STRUCTURE OF THE FINAL REPORT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SLA Annexure B 1.1.14 (roadmap with roles across national, provincial, district and local government and the private sector, timelines and risks)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188720"/>
            <a:ext cx="3703320" cy="2880360"/>
          </a:xfrm>
          <a:prstGeom prst="rect">
            <a:avLst/>
          </a:prstGeom>
          <a:solidFill>
            <a:srgbClr val="DCEEF7"/>
          </a:solidFill>
          <a:ln w="19050">
            <a:solidFill>
              <a:srgbClr val="00AEEF"/>
            </a:solidFill>
          </a:ln>
        </p:spPr>
        <p:txBody>
          <a:bodyPr rtlCol="0" anchor="ctr"/>
          <a:lstStyle/>
          <a:p>
            <a:pPr algn="ctr"/>
          </a:p>
        </p:txBody>
      </p:sp>
      <p:sp>
        <p:nvSpPr>
          <p:cNvPr id="9" name="TextBox 8"/>
          <p:cNvSpPr txBox="1"/>
          <p:nvPr/>
        </p:nvSpPr>
        <p:spPr>
          <a:xfrm>
            <a:off x="521207" y="1280160"/>
            <a:ext cx="3474720" cy="274320"/>
          </a:xfrm>
          <a:prstGeom prst="rect">
            <a:avLst/>
          </a:prstGeom>
          <a:noFill/>
        </p:spPr>
        <p:txBody>
          <a:bodyPr wrap="square" anchor="t" lIns="36576" rIns="36576" tIns="21945" bIns="21945">
            <a:spAutoFit/>
          </a:bodyPr>
          <a:lstStyle/>
          <a:p>
            <a:pPr algn="l">
              <a:spcAft>
                <a:spcPts val="0"/>
              </a:spcAft>
            </a:pPr>
            <a:r>
              <a:rPr sz="900" b="1" i="0">
                <a:solidFill>
                  <a:srgbClr val="00AEEF"/>
                </a:solidFill>
                <a:latin typeface="Arial"/>
              </a:rPr>
              <a:t>OPTION 1 (PREFERRED)</a:t>
            </a:r>
          </a:p>
        </p:txBody>
      </p:sp>
      <p:sp>
        <p:nvSpPr>
          <p:cNvPr id="10" name="TextBox 9"/>
          <p:cNvSpPr txBox="1"/>
          <p:nvPr/>
        </p:nvSpPr>
        <p:spPr>
          <a:xfrm>
            <a:off x="521207" y="1554480"/>
            <a:ext cx="3474720" cy="36576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By pillar and horizon</a:t>
            </a:r>
          </a:p>
        </p:txBody>
      </p:sp>
      <p:sp>
        <p:nvSpPr>
          <p:cNvPr id="11" name="TextBox 10"/>
          <p:cNvSpPr txBox="1"/>
          <p:nvPr/>
        </p:nvSpPr>
        <p:spPr>
          <a:xfrm>
            <a:off x="521207" y="2011680"/>
            <a:ext cx="3474720" cy="2011680"/>
          </a:xfrm>
          <a:prstGeom prst="rect">
            <a:avLst/>
          </a:prstGeom>
          <a:noFill/>
        </p:spPr>
        <p:txBody>
          <a:bodyPr wrap="square" anchor="t" lIns="36576" rIns="36576" tIns="21945" bIns="21945">
            <a:spAutoFit/>
          </a:bodyPr>
          <a:lstStyle/>
          <a:p>
            <a:pPr algn="l" marL="146304" indent="-146304">
              <a:spcAft>
                <a:spcPts val="600"/>
              </a:spcAft>
              <a:buClr>
                <a:srgbClr val="00AEEF"/>
              </a:buClr>
              <a:buFont typeface="Arial"/>
              <a:buChar char="•"/>
            </a:pPr>
            <a:r>
              <a:rPr sz="1050" b="0" i="0">
                <a:solidFill>
                  <a:srgbClr val="404040"/>
                </a:solidFill>
                <a:latin typeface="Arial"/>
              </a:rPr>
              <a:t>Three pillars, each with 2028, 2030 and 2035 actions</a:t>
            </a:r>
          </a:p>
          <a:p>
            <a:pPr algn="l" marL="146304" indent="-146304">
              <a:spcAft>
                <a:spcPts val="600"/>
              </a:spcAft>
              <a:buClr>
                <a:srgbClr val="00AEEF"/>
              </a:buClr>
              <a:buFont typeface="Arial"/>
              <a:buChar char="•"/>
            </a:pPr>
            <a:r>
              <a:rPr sz="1050" b="0" i="0">
                <a:solidFill>
                  <a:srgbClr val="404040"/>
                </a:solidFill>
                <a:latin typeface="Arial"/>
              </a:rPr>
              <a:t>Traceable from tree to evidence to action</a:t>
            </a:r>
          </a:p>
          <a:p>
            <a:pPr algn="l" marL="146304" indent="-146304">
              <a:spcAft>
                <a:spcPts val="600"/>
              </a:spcAft>
              <a:buClr>
                <a:srgbClr val="00AEEF"/>
              </a:buClr>
              <a:buFont typeface="Arial"/>
              <a:buChar char="•"/>
            </a:pPr>
            <a:r>
              <a:rPr sz="1050" b="0" i="0">
                <a:solidFill>
                  <a:srgbClr val="404040"/>
                </a:solidFill>
                <a:latin typeface="Arial"/>
              </a:rPr>
              <a:t>Owner by tier on every action</a:t>
            </a:r>
          </a:p>
          <a:p>
            <a:pPr algn="l" marL="146304" indent="-146304">
              <a:spcAft>
                <a:spcPts val="600"/>
              </a:spcAft>
              <a:buClr>
                <a:srgbClr val="00AEEF"/>
              </a:buClr>
              <a:buFont typeface="Arial"/>
              <a:buChar char="•"/>
            </a:pPr>
            <a:r>
              <a:rPr sz="1050" b="0" i="0">
                <a:solidFill>
                  <a:srgbClr val="404040"/>
                </a:solidFill>
                <a:latin typeface="Arial"/>
              </a:rPr>
              <a:t>Risk: longer document</a:t>
            </a:r>
          </a:p>
        </p:txBody>
      </p:sp>
      <p:sp>
        <p:nvSpPr>
          <p:cNvPr id="12" name="Rectangle 11"/>
          <p:cNvSpPr/>
          <p:nvPr/>
        </p:nvSpPr>
        <p:spPr>
          <a:xfrm>
            <a:off x="4242816" y="1188720"/>
            <a:ext cx="3703320" cy="2880360"/>
          </a:xfrm>
          <a:prstGeom prst="rect">
            <a:avLst/>
          </a:prstGeom>
          <a:solidFill>
            <a:srgbClr val="F2F2F2"/>
          </a:solidFill>
          <a:ln>
            <a:noFill/>
          </a:ln>
        </p:spPr>
        <p:txBody>
          <a:bodyPr rtlCol="0" anchor="ctr"/>
          <a:lstStyle/>
          <a:p>
            <a:pPr algn="ctr"/>
          </a:p>
        </p:txBody>
      </p:sp>
      <p:sp>
        <p:nvSpPr>
          <p:cNvPr id="13" name="TextBox 12"/>
          <p:cNvSpPr txBox="1"/>
          <p:nvPr/>
        </p:nvSpPr>
        <p:spPr>
          <a:xfrm>
            <a:off x="4379976" y="1280160"/>
            <a:ext cx="3474720" cy="274320"/>
          </a:xfrm>
          <a:prstGeom prst="rect">
            <a:avLst/>
          </a:prstGeom>
          <a:noFill/>
        </p:spPr>
        <p:txBody>
          <a:bodyPr wrap="square" anchor="t" lIns="36576" rIns="36576" tIns="21945" bIns="21945">
            <a:spAutoFit/>
          </a:bodyPr>
          <a:lstStyle/>
          <a:p>
            <a:pPr algn="l">
              <a:spcAft>
                <a:spcPts val="0"/>
              </a:spcAft>
            </a:pPr>
            <a:r>
              <a:rPr sz="900" b="1" i="0">
                <a:solidFill>
                  <a:srgbClr val="7F7F7F"/>
                </a:solidFill>
                <a:latin typeface="Arial"/>
              </a:rPr>
              <a:t>OPTION 2</a:t>
            </a:r>
          </a:p>
        </p:txBody>
      </p:sp>
      <p:sp>
        <p:nvSpPr>
          <p:cNvPr id="14" name="TextBox 13"/>
          <p:cNvSpPr txBox="1"/>
          <p:nvPr/>
        </p:nvSpPr>
        <p:spPr>
          <a:xfrm>
            <a:off x="4379976" y="1554480"/>
            <a:ext cx="3474720" cy="36576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By actor</a:t>
            </a:r>
          </a:p>
        </p:txBody>
      </p:sp>
      <p:sp>
        <p:nvSpPr>
          <p:cNvPr id="15" name="TextBox 14"/>
          <p:cNvSpPr txBox="1"/>
          <p:nvPr/>
        </p:nvSpPr>
        <p:spPr>
          <a:xfrm>
            <a:off x="4379976" y="2011680"/>
            <a:ext cx="3474720" cy="2011680"/>
          </a:xfrm>
          <a:prstGeom prst="rect">
            <a:avLst/>
          </a:prstGeom>
          <a:noFill/>
        </p:spPr>
        <p:txBody>
          <a:bodyPr wrap="square" anchor="t" lIns="36576" rIns="36576" tIns="21945" bIns="21945">
            <a:spAutoFit/>
          </a:bodyPr>
          <a:lstStyle/>
          <a:p>
            <a:pPr algn="l" marL="146304" indent="-146304">
              <a:spcAft>
                <a:spcPts val="600"/>
              </a:spcAft>
              <a:buClr>
                <a:srgbClr val="00AEEF"/>
              </a:buClr>
              <a:buFont typeface="Arial"/>
              <a:buChar char="•"/>
            </a:pPr>
            <a:r>
              <a:rPr sz="1050" b="0" i="0">
                <a:solidFill>
                  <a:srgbClr val="404040"/>
                </a:solidFill>
                <a:latin typeface="Arial"/>
              </a:rPr>
              <a:t>Chapters for Wesgro, WCG, municipalities, national and industry</a:t>
            </a:r>
          </a:p>
          <a:p>
            <a:pPr algn="l" marL="146304" indent="-146304">
              <a:spcAft>
                <a:spcPts val="600"/>
              </a:spcAft>
              <a:buClr>
                <a:srgbClr val="00AEEF"/>
              </a:buClr>
              <a:buFont typeface="Arial"/>
              <a:buChar char="•"/>
            </a:pPr>
            <a:r>
              <a:rPr sz="1050" b="0" i="0">
                <a:solidFill>
                  <a:srgbClr val="404040"/>
                </a:solidFill>
                <a:latin typeface="Arial"/>
              </a:rPr>
              <a:t>Easy to hand over</a:t>
            </a:r>
          </a:p>
          <a:p>
            <a:pPr algn="l" marL="146304" indent="-146304">
              <a:spcAft>
                <a:spcPts val="600"/>
              </a:spcAft>
              <a:buClr>
                <a:srgbClr val="00AEEF"/>
              </a:buClr>
              <a:buFont typeface="Arial"/>
              <a:buChar char="•"/>
            </a:pPr>
            <a:r>
              <a:rPr sz="1050" b="0" i="0">
                <a:solidFill>
                  <a:srgbClr val="404040"/>
                </a:solidFill>
                <a:latin typeface="Arial"/>
              </a:rPr>
              <a:t>Risk: loses the causal logic and the system view</a:t>
            </a:r>
          </a:p>
        </p:txBody>
      </p:sp>
      <p:sp>
        <p:nvSpPr>
          <p:cNvPr id="16" name="Rectangle 15"/>
          <p:cNvSpPr/>
          <p:nvPr/>
        </p:nvSpPr>
        <p:spPr>
          <a:xfrm>
            <a:off x="8101583" y="1188720"/>
            <a:ext cx="3703320" cy="2880360"/>
          </a:xfrm>
          <a:prstGeom prst="rect">
            <a:avLst/>
          </a:prstGeom>
          <a:solidFill>
            <a:srgbClr val="F2F2F2"/>
          </a:solidFill>
          <a:ln>
            <a:noFill/>
          </a:ln>
        </p:spPr>
        <p:txBody>
          <a:bodyPr rtlCol="0" anchor="ctr"/>
          <a:lstStyle/>
          <a:p>
            <a:pPr algn="ctr"/>
          </a:p>
        </p:txBody>
      </p:sp>
      <p:sp>
        <p:nvSpPr>
          <p:cNvPr id="17" name="TextBox 16"/>
          <p:cNvSpPr txBox="1"/>
          <p:nvPr/>
        </p:nvSpPr>
        <p:spPr>
          <a:xfrm>
            <a:off x="8238744" y="1280160"/>
            <a:ext cx="3474720" cy="274320"/>
          </a:xfrm>
          <a:prstGeom prst="rect">
            <a:avLst/>
          </a:prstGeom>
          <a:noFill/>
        </p:spPr>
        <p:txBody>
          <a:bodyPr wrap="square" anchor="t" lIns="36576" rIns="36576" tIns="21945" bIns="21945">
            <a:spAutoFit/>
          </a:bodyPr>
          <a:lstStyle/>
          <a:p>
            <a:pPr algn="l">
              <a:spcAft>
                <a:spcPts val="0"/>
              </a:spcAft>
            </a:pPr>
            <a:r>
              <a:rPr sz="900" b="1" i="0">
                <a:solidFill>
                  <a:srgbClr val="7F7F7F"/>
                </a:solidFill>
                <a:latin typeface="Arial"/>
              </a:rPr>
              <a:t>OPTION 3</a:t>
            </a:r>
          </a:p>
        </p:txBody>
      </p:sp>
      <p:sp>
        <p:nvSpPr>
          <p:cNvPr id="18" name="TextBox 17"/>
          <p:cNvSpPr txBox="1"/>
          <p:nvPr/>
        </p:nvSpPr>
        <p:spPr>
          <a:xfrm>
            <a:off x="8238744" y="1554480"/>
            <a:ext cx="3474720" cy="365760"/>
          </a:xfrm>
          <a:prstGeom prst="rect">
            <a:avLst/>
          </a:prstGeom>
          <a:noFill/>
        </p:spPr>
        <p:txBody>
          <a:bodyPr wrap="square" anchor="t" lIns="36576" rIns="36576" tIns="21945" bIns="21945">
            <a:spAutoFit/>
          </a:bodyPr>
          <a:lstStyle/>
          <a:p>
            <a:pPr algn="l">
              <a:spcAft>
                <a:spcPts val="0"/>
              </a:spcAft>
            </a:pPr>
            <a:r>
              <a:rPr sz="1400" b="1" i="0">
                <a:solidFill>
                  <a:srgbClr val="1F497D"/>
                </a:solidFill>
                <a:latin typeface="Arial"/>
              </a:rPr>
              <a:t>By route and market</a:t>
            </a:r>
          </a:p>
        </p:txBody>
      </p:sp>
      <p:sp>
        <p:nvSpPr>
          <p:cNvPr id="19" name="TextBox 18"/>
          <p:cNvSpPr txBox="1"/>
          <p:nvPr/>
        </p:nvSpPr>
        <p:spPr>
          <a:xfrm>
            <a:off x="8238744" y="2011680"/>
            <a:ext cx="3474720" cy="2011680"/>
          </a:xfrm>
          <a:prstGeom prst="rect">
            <a:avLst/>
          </a:prstGeom>
          <a:noFill/>
        </p:spPr>
        <p:txBody>
          <a:bodyPr wrap="square" anchor="t" lIns="36576" rIns="36576" tIns="21945" bIns="21945">
            <a:spAutoFit/>
          </a:bodyPr>
          <a:lstStyle/>
          <a:p>
            <a:pPr algn="l" marL="146304" indent="-146304">
              <a:spcAft>
                <a:spcPts val="600"/>
              </a:spcAft>
              <a:buClr>
                <a:srgbClr val="00AEEF"/>
              </a:buClr>
              <a:buFont typeface="Arial"/>
              <a:buChar char="•"/>
            </a:pPr>
            <a:r>
              <a:rPr sz="1050" b="0" i="0">
                <a:solidFill>
                  <a:srgbClr val="404040"/>
                </a:solidFill>
                <a:latin typeface="Arial"/>
              </a:rPr>
              <a:t>Chapters for touring routes and source markets</a:t>
            </a:r>
          </a:p>
          <a:p>
            <a:pPr algn="l" marL="146304" indent="-146304">
              <a:spcAft>
                <a:spcPts val="600"/>
              </a:spcAft>
              <a:buClr>
                <a:srgbClr val="00AEEF"/>
              </a:buClr>
              <a:buFont typeface="Arial"/>
              <a:buChar char="•"/>
            </a:pPr>
            <a:r>
              <a:rPr sz="1050" b="0" i="0">
                <a:solidFill>
                  <a:srgbClr val="404040"/>
                </a:solidFill>
                <a:latin typeface="Arial"/>
              </a:rPr>
              <a:t>Matches how visitors travel and Wesgro sells</a:t>
            </a:r>
          </a:p>
          <a:p>
            <a:pPr algn="l" marL="146304" indent="-146304">
              <a:spcAft>
                <a:spcPts val="600"/>
              </a:spcAft>
              <a:buClr>
                <a:srgbClr val="00AEEF"/>
              </a:buClr>
              <a:buFont typeface="Arial"/>
              <a:buChar char="•"/>
            </a:pPr>
            <a:r>
              <a:rPr sz="1050" b="0" i="0">
                <a:solidFill>
                  <a:srgbClr val="404040"/>
                </a:solidFill>
                <a:latin typeface="Arial"/>
              </a:rPr>
              <a:t>Risk: under-weights enabling levers</a:t>
            </a:r>
          </a:p>
        </p:txBody>
      </p:sp>
      <p:sp>
        <p:nvSpPr>
          <p:cNvPr id="20" name="TextBox 19"/>
          <p:cNvSpPr txBox="1"/>
          <p:nvPr/>
        </p:nvSpPr>
        <p:spPr>
          <a:xfrm>
            <a:off x="384048" y="4206240"/>
            <a:ext cx="1133856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PROPOSED REPORT SPINE</a:t>
            </a:r>
          </a:p>
        </p:txBody>
      </p:sp>
      <p:sp>
        <p:nvSpPr>
          <p:cNvPr id="21" name="Pentagon 20"/>
          <p:cNvSpPr/>
          <p:nvPr/>
        </p:nvSpPr>
        <p:spPr>
          <a:xfrm>
            <a:off x="384048" y="4526280"/>
            <a:ext cx="1568849" cy="822960"/>
          </a:xfrm>
          <a:prstGeom prst="homePlate">
            <a:avLst/>
          </a:prstGeom>
          <a:solidFill>
            <a:srgbClr val="1F497D"/>
          </a:solidFill>
          <a:ln>
            <a:noFill/>
          </a:ln>
        </p:spPr>
        <p:txBody>
          <a:bodyPr rtlCol="0" anchor="ctr" wrap="square" lIns="64008" rIns="64008" tIns="38404" bIns="38404"/>
          <a:lstStyle/>
          <a:p>
            <a:pPr algn="l">
              <a:spcAft>
                <a:spcPts val="0"/>
              </a:spcAft>
            </a:pPr>
            <a:r>
              <a:rPr sz="950" b="1" i="0">
                <a:solidFill>
                  <a:srgbClr val="FFFFFF"/>
                </a:solidFill>
                <a:latin typeface="Arial"/>
              </a:rPr>
              <a:t>1. The answer</a:t>
            </a:r>
          </a:p>
        </p:txBody>
      </p:sp>
      <p:sp>
        <p:nvSpPr>
          <p:cNvPr id="22" name="Pentagon 21"/>
          <p:cNvSpPr/>
          <p:nvPr/>
        </p:nvSpPr>
        <p:spPr>
          <a:xfrm>
            <a:off x="2026049"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2. What we found</a:t>
            </a:r>
          </a:p>
        </p:txBody>
      </p:sp>
      <p:sp>
        <p:nvSpPr>
          <p:cNvPr id="23" name="Pentagon 22"/>
          <p:cNvSpPr/>
          <p:nvPr/>
        </p:nvSpPr>
        <p:spPr>
          <a:xfrm>
            <a:off x="3668050"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3. Reshape demand</a:t>
            </a:r>
          </a:p>
        </p:txBody>
      </p:sp>
      <p:sp>
        <p:nvSpPr>
          <p:cNvPr id="24" name="Pentagon 23"/>
          <p:cNvSpPr/>
          <p:nvPr/>
        </p:nvSpPr>
        <p:spPr>
          <a:xfrm>
            <a:off x="5310051"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4. Transform supply</a:t>
            </a:r>
          </a:p>
        </p:txBody>
      </p:sp>
      <p:sp>
        <p:nvSpPr>
          <p:cNvPr id="25" name="Pentagon 24"/>
          <p:cNvSpPr/>
          <p:nvPr/>
        </p:nvSpPr>
        <p:spPr>
          <a:xfrm>
            <a:off x="6952052"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5. Enabling capability</a:t>
            </a:r>
          </a:p>
        </p:txBody>
      </p:sp>
      <p:sp>
        <p:nvSpPr>
          <p:cNvPr id="26" name="Pentagon 25"/>
          <p:cNvSpPr/>
          <p:nvPr/>
        </p:nvSpPr>
        <p:spPr>
          <a:xfrm>
            <a:off x="8594053" y="4526280"/>
            <a:ext cx="1568849" cy="822960"/>
          </a:xfrm>
          <a:prstGeom prst="homePlate">
            <a:avLst/>
          </a:prstGeom>
          <a:solidFill>
            <a:srgbClr val="1F497D"/>
          </a:solidFill>
          <a:ln>
            <a:noFill/>
          </a:ln>
        </p:spPr>
        <p:txBody>
          <a:bodyPr rtlCol="0" anchor="ctr" wrap="square" lIns="64008" rIns="64008" tIns="38404" bIns="38404"/>
          <a:lstStyle/>
          <a:p>
            <a:pPr algn="l">
              <a:spcAft>
                <a:spcPts val="0"/>
              </a:spcAft>
            </a:pPr>
            <a:r>
              <a:rPr sz="950" b="1" i="0">
                <a:solidFill>
                  <a:srgbClr val="FFFFFF"/>
                </a:solidFill>
                <a:latin typeface="Arial"/>
              </a:rPr>
              <a:t>6. Roadmap and owners</a:t>
            </a:r>
          </a:p>
        </p:txBody>
      </p:sp>
      <p:sp>
        <p:nvSpPr>
          <p:cNvPr id="27" name="Pentagon 26"/>
          <p:cNvSpPr/>
          <p:nvPr/>
        </p:nvSpPr>
        <p:spPr>
          <a:xfrm>
            <a:off x="10236054" y="4526280"/>
            <a:ext cx="1568849" cy="822960"/>
          </a:xfrm>
          <a:prstGeom prst="homePlate">
            <a:avLst/>
          </a:prstGeom>
          <a:solidFill>
            <a:srgbClr val="00AEEF"/>
          </a:solidFill>
          <a:ln>
            <a:noFill/>
          </a:ln>
        </p:spPr>
        <p:txBody>
          <a:bodyPr rtlCol="0" anchor="ctr" wrap="square" lIns="64008" rIns="64008" tIns="38404" bIns="38404"/>
          <a:lstStyle/>
          <a:p>
            <a:pPr algn="l">
              <a:spcAft>
                <a:spcPts val="0"/>
              </a:spcAft>
            </a:pPr>
            <a:r>
              <a:rPr sz="950" b="1" i="0">
                <a:solidFill>
                  <a:srgbClr val="FFFFFF"/>
                </a:solidFill>
                <a:latin typeface="Arial"/>
              </a:rPr>
              <a:t>7. M&amp;E and next steps</a:t>
            </a:r>
          </a:p>
        </p:txBody>
      </p:sp>
      <p:sp>
        <p:nvSpPr>
          <p:cNvPr id="28" name="TextBox 27"/>
          <p:cNvSpPr txBox="1"/>
          <p:nvPr/>
        </p:nvSpPr>
        <p:spPr>
          <a:xfrm>
            <a:off x="384048" y="5486400"/>
            <a:ext cx="11338560" cy="548640"/>
          </a:xfrm>
          <a:prstGeom prst="rect">
            <a:avLst/>
          </a:prstGeom>
          <a:noFill/>
        </p:spPr>
        <p:txBody>
          <a:bodyPr wrap="square" anchor="t" lIns="36576" rIns="36576" tIns="21945" bIns="21945">
            <a:spAutoFit/>
          </a:bodyPr>
          <a:lstStyle/>
          <a:p>
            <a:pPr algn="l">
              <a:spcAft>
                <a:spcPts val="0"/>
              </a:spcAft>
            </a:pPr>
            <a:r>
              <a:rPr sz="1000" b="0" i="1">
                <a:solidFill>
                  <a:srgbClr val="7F7F7F"/>
                </a:solidFill>
                <a:latin typeface="Arial"/>
              </a:rPr>
              <a:t>Appendices: data sets, methodology, stakeholder inputs and growth projections, as the SLA requires.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Eight questions to settle today, grouped by what we need to decide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DISCUSSION GUIDE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5641848" cy="2148840"/>
          </a:xfrm>
          <a:prstGeom prst="rect">
            <a:avLst/>
          </a:prstGeom>
          <a:solidFill>
            <a:srgbClr val="F2F2F2"/>
          </a:solidFill>
          <a:ln>
            <a:noFill/>
          </a:ln>
        </p:spPr>
        <p:txBody>
          <a:bodyPr rtlCol="0" anchor="ctr"/>
          <a:lstStyle/>
          <a:p>
            <a:pPr algn="ctr"/>
          </a:p>
        </p:txBody>
      </p:sp>
      <p:sp>
        <p:nvSpPr>
          <p:cNvPr id="9" name="Rectangle 8"/>
          <p:cNvSpPr/>
          <p:nvPr/>
        </p:nvSpPr>
        <p:spPr>
          <a:xfrm>
            <a:off x="384048" y="1234440"/>
            <a:ext cx="5641848" cy="457200"/>
          </a:xfrm>
          <a:prstGeom prst="rect">
            <a:avLst/>
          </a:prstGeom>
          <a:solidFill>
            <a:srgbClr val="1F497D"/>
          </a:solidFill>
          <a:ln>
            <a:noFill/>
          </a:ln>
        </p:spPr>
        <p:txBody>
          <a:bodyPr rtlCol="0" anchor="ctr"/>
          <a:lstStyle/>
          <a:p>
            <a:pPr algn="ctr"/>
          </a:p>
        </p:txBody>
      </p:sp>
      <p:sp>
        <p:nvSpPr>
          <p:cNvPr id="10" name="TextBox 9"/>
          <p:cNvSpPr txBox="1"/>
          <p:nvPr/>
        </p:nvSpPr>
        <p:spPr>
          <a:xfrm>
            <a:off x="521207" y="123444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Are we answering the right question?</a:t>
            </a:r>
          </a:p>
        </p:txBody>
      </p:sp>
      <p:sp>
        <p:nvSpPr>
          <p:cNvPr id="11" name="TextBox 10"/>
          <p:cNvSpPr txBox="1"/>
          <p:nvPr/>
        </p:nvSpPr>
        <p:spPr>
          <a:xfrm>
            <a:off x="521207" y="182880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Q1  </a:t>
            </a:r>
            <a:r>
              <a:rPr sz="1150" b="0" i="0">
                <a:solidFill>
                  <a:srgbClr val="404040"/>
                </a:solidFill>
                <a:latin typeface="Arial"/>
              </a:rPr>
              <a:t>Do the twelve facts capture what matters most?</a:t>
            </a:r>
          </a:p>
          <a:p>
            <a:pPr algn="l">
              <a:spcAft>
                <a:spcPts val="1000"/>
              </a:spcAft>
            </a:pPr>
            <a:r>
              <a:rPr sz="1150" b="1" i="0">
                <a:solidFill>
                  <a:srgbClr val="00AEEF"/>
                </a:solidFill>
                <a:latin typeface="Arial"/>
              </a:rPr>
              <a:t>Q2  </a:t>
            </a:r>
            <a:r>
              <a:rPr sz="1150" b="0" i="0">
                <a:solidFill>
                  <a:srgbClr val="404040"/>
                </a:solidFill>
                <a:latin typeface="Arial"/>
              </a:rPr>
              <a:t>Should spend and length of stay sit beside arrivals as targets?</a:t>
            </a:r>
          </a:p>
        </p:txBody>
      </p:sp>
      <p:sp>
        <p:nvSpPr>
          <p:cNvPr id="12" name="Rectangle 11"/>
          <p:cNvSpPr/>
          <p:nvPr/>
        </p:nvSpPr>
        <p:spPr>
          <a:xfrm>
            <a:off x="6163056" y="1234440"/>
            <a:ext cx="5641848" cy="2148840"/>
          </a:xfrm>
          <a:prstGeom prst="rect">
            <a:avLst/>
          </a:prstGeom>
          <a:solidFill>
            <a:srgbClr val="F2F2F2"/>
          </a:solidFill>
          <a:ln>
            <a:noFill/>
          </a:ln>
        </p:spPr>
        <p:txBody>
          <a:bodyPr rtlCol="0" anchor="ctr"/>
          <a:lstStyle/>
          <a:p>
            <a:pPr algn="ctr"/>
          </a:p>
        </p:txBody>
      </p:sp>
      <p:sp>
        <p:nvSpPr>
          <p:cNvPr id="13" name="Rectangle 12"/>
          <p:cNvSpPr/>
          <p:nvPr/>
        </p:nvSpPr>
        <p:spPr>
          <a:xfrm>
            <a:off x="6163056" y="1234440"/>
            <a:ext cx="5641848" cy="457200"/>
          </a:xfrm>
          <a:prstGeom prst="rect">
            <a:avLst/>
          </a:prstGeom>
          <a:solidFill>
            <a:srgbClr val="1F497D"/>
          </a:solidFill>
          <a:ln>
            <a:noFill/>
          </a:ln>
        </p:spPr>
        <p:txBody>
          <a:bodyPr rtlCol="0" anchor="ctr"/>
          <a:lstStyle/>
          <a:p>
            <a:pPr algn="ctr"/>
          </a:p>
        </p:txBody>
      </p:sp>
      <p:sp>
        <p:nvSpPr>
          <p:cNvPr id="14" name="TextBox 13"/>
          <p:cNvSpPr txBox="1"/>
          <p:nvPr/>
        </p:nvSpPr>
        <p:spPr>
          <a:xfrm>
            <a:off x="6300216" y="123444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Do the findings hold up?</a:t>
            </a:r>
          </a:p>
        </p:txBody>
      </p:sp>
      <p:sp>
        <p:nvSpPr>
          <p:cNvPr id="15" name="TextBox 14"/>
          <p:cNvSpPr txBox="1"/>
          <p:nvPr/>
        </p:nvSpPr>
        <p:spPr>
          <a:xfrm>
            <a:off x="6300216" y="182880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Q3  </a:t>
            </a:r>
            <a:r>
              <a:rPr sz="1150" b="0" i="0">
                <a:solidFill>
                  <a:srgbClr val="404040"/>
                </a:solidFill>
                <a:latin typeface="Arial"/>
              </a:rPr>
              <a:t>Which binds first: air capacity, conversion or ground access?</a:t>
            </a:r>
          </a:p>
          <a:p>
            <a:pPr algn="l">
              <a:spcAft>
                <a:spcPts val="1000"/>
              </a:spcAft>
            </a:pPr>
            <a:r>
              <a:rPr sz="1150" b="1" i="0">
                <a:solidFill>
                  <a:srgbClr val="00AEEF"/>
                </a:solidFill>
                <a:latin typeface="Arial"/>
              </a:rPr>
              <a:t>Q4  </a:t>
            </a:r>
            <a:r>
              <a:rPr sz="1150" b="0" i="0">
                <a:solidFill>
                  <a:srgbClr val="404040"/>
                </a:solidFill>
                <a:latin typeface="Arial"/>
              </a:rPr>
              <a:t>Is "capture-poor, not demand-poor" defensible?</a:t>
            </a:r>
          </a:p>
        </p:txBody>
      </p:sp>
      <p:sp>
        <p:nvSpPr>
          <p:cNvPr id="16" name="Rectangle 15"/>
          <p:cNvSpPr/>
          <p:nvPr/>
        </p:nvSpPr>
        <p:spPr>
          <a:xfrm>
            <a:off x="384048" y="3566160"/>
            <a:ext cx="5641848" cy="2148840"/>
          </a:xfrm>
          <a:prstGeom prst="rect">
            <a:avLst/>
          </a:prstGeom>
          <a:solidFill>
            <a:srgbClr val="F2F2F2"/>
          </a:solidFill>
          <a:ln>
            <a:noFill/>
          </a:ln>
        </p:spPr>
        <p:txBody>
          <a:bodyPr rtlCol="0" anchor="ctr"/>
          <a:lstStyle/>
          <a:p>
            <a:pPr algn="ctr"/>
          </a:p>
        </p:txBody>
      </p:sp>
      <p:sp>
        <p:nvSpPr>
          <p:cNvPr id="17" name="Rectangle 16"/>
          <p:cNvSpPr/>
          <p:nvPr/>
        </p:nvSpPr>
        <p:spPr>
          <a:xfrm>
            <a:off x="384048" y="3566160"/>
            <a:ext cx="5641848" cy="457200"/>
          </a:xfrm>
          <a:prstGeom prst="rect">
            <a:avLst/>
          </a:prstGeom>
          <a:solidFill>
            <a:srgbClr val="1F497D"/>
          </a:solidFill>
          <a:ln>
            <a:noFill/>
          </a:ln>
        </p:spPr>
        <p:txBody>
          <a:bodyPr rtlCol="0" anchor="ctr"/>
          <a:lstStyle/>
          <a:p>
            <a:pPr algn="ctr"/>
          </a:p>
        </p:txBody>
      </p:sp>
      <p:sp>
        <p:nvSpPr>
          <p:cNvPr id="18" name="TextBox 17"/>
          <p:cNvSpPr txBox="1"/>
          <p:nvPr/>
        </p:nvSpPr>
        <p:spPr>
          <a:xfrm>
            <a:off x="521207" y="356616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What are we missing?</a:t>
            </a:r>
          </a:p>
        </p:txBody>
      </p:sp>
      <p:sp>
        <p:nvSpPr>
          <p:cNvPr id="19" name="TextBox 18"/>
          <p:cNvSpPr txBox="1"/>
          <p:nvPr/>
        </p:nvSpPr>
        <p:spPr>
          <a:xfrm>
            <a:off x="521207" y="416052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Q5  </a:t>
            </a:r>
            <a:r>
              <a:rPr sz="1150" b="0" i="0">
                <a:solidFill>
                  <a:srgbClr val="404040"/>
                </a:solidFill>
                <a:latin typeface="Arial"/>
              </a:rPr>
              <a:t>Do we commit to the marketing and brand work, and who leads it?</a:t>
            </a:r>
          </a:p>
          <a:p>
            <a:pPr algn="l">
              <a:spcAft>
                <a:spcPts val="1000"/>
              </a:spcAft>
            </a:pPr>
            <a:r>
              <a:rPr sz="1150" b="1" i="0">
                <a:solidFill>
                  <a:srgbClr val="00AEEF"/>
                </a:solidFill>
                <a:latin typeface="Arial"/>
              </a:rPr>
              <a:t>Q6  </a:t>
            </a:r>
            <a:r>
              <a:rPr sz="1150" b="0" i="0">
                <a:solidFill>
                  <a:srgbClr val="404040"/>
                </a:solidFill>
                <a:latin typeface="Arial"/>
              </a:rPr>
              <a:t>Which gaps do we bound as limitations?</a:t>
            </a:r>
          </a:p>
        </p:txBody>
      </p:sp>
      <p:sp>
        <p:nvSpPr>
          <p:cNvPr id="20" name="Rectangle 19"/>
          <p:cNvSpPr/>
          <p:nvPr/>
        </p:nvSpPr>
        <p:spPr>
          <a:xfrm>
            <a:off x="6163056" y="3566160"/>
            <a:ext cx="5641848" cy="2148840"/>
          </a:xfrm>
          <a:prstGeom prst="rect">
            <a:avLst/>
          </a:prstGeom>
          <a:solidFill>
            <a:srgbClr val="F2F2F2"/>
          </a:solidFill>
          <a:ln>
            <a:noFill/>
          </a:ln>
        </p:spPr>
        <p:txBody>
          <a:bodyPr rtlCol="0" anchor="ctr"/>
          <a:lstStyle/>
          <a:p>
            <a:pPr algn="ctr"/>
          </a:p>
        </p:txBody>
      </p:sp>
      <p:sp>
        <p:nvSpPr>
          <p:cNvPr id="21" name="Rectangle 20"/>
          <p:cNvSpPr/>
          <p:nvPr/>
        </p:nvSpPr>
        <p:spPr>
          <a:xfrm>
            <a:off x="6163056" y="3566160"/>
            <a:ext cx="5641848" cy="457200"/>
          </a:xfrm>
          <a:prstGeom prst="rect">
            <a:avLst/>
          </a:prstGeom>
          <a:solidFill>
            <a:srgbClr val="1F497D"/>
          </a:solidFill>
          <a:ln>
            <a:noFill/>
          </a:ln>
        </p:spPr>
        <p:txBody>
          <a:bodyPr rtlCol="0" anchor="ctr"/>
          <a:lstStyle/>
          <a:p>
            <a:pPr algn="ctr"/>
          </a:p>
        </p:txBody>
      </p:sp>
      <p:sp>
        <p:nvSpPr>
          <p:cNvPr id="22" name="TextBox 21"/>
          <p:cNvSpPr txBox="1"/>
          <p:nvPr/>
        </p:nvSpPr>
        <p:spPr>
          <a:xfrm>
            <a:off x="6300216" y="3566160"/>
            <a:ext cx="5394960" cy="457200"/>
          </a:xfrm>
          <a:prstGeom prst="rect">
            <a:avLst/>
          </a:prstGeom>
          <a:noFill/>
        </p:spPr>
        <p:txBody>
          <a:bodyPr wrap="square" anchor="ctr" lIns="36576" rIns="36576" tIns="21945" bIns="21945">
            <a:spAutoFit/>
          </a:bodyPr>
          <a:lstStyle/>
          <a:p>
            <a:pPr algn="l">
              <a:spcAft>
                <a:spcPts val="0"/>
              </a:spcAft>
            </a:pPr>
            <a:r>
              <a:rPr sz="1200" b="1" i="0">
                <a:solidFill>
                  <a:srgbClr val="FFFFFF"/>
                </a:solidFill>
                <a:latin typeface="Arial"/>
              </a:rPr>
              <a:t>What would we recommend, and to whom?</a:t>
            </a:r>
          </a:p>
        </p:txBody>
      </p:sp>
      <p:sp>
        <p:nvSpPr>
          <p:cNvPr id="23" name="TextBox 22"/>
          <p:cNvSpPr txBox="1"/>
          <p:nvPr/>
        </p:nvSpPr>
        <p:spPr>
          <a:xfrm>
            <a:off x="6300216" y="4160520"/>
            <a:ext cx="5394960" cy="1463040"/>
          </a:xfrm>
          <a:prstGeom prst="rect">
            <a:avLst/>
          </a:prstGeom>
          <a:noFill/>
        </p:spPr>
        <p:txBody>
          <a:bodyPr wrap="square" anchor="t" lIns="36576" rIns="36576" tIns="21945" bIns="21945">
            <a:spAutoFit/>
          </a:bodyPr>
          <a:lstStyle/>
          <a:p>
            <a:pPr algn="l">
              <a:spcAft>
                <a:spcPts val="1000"/>
              </a:spcAft>
            </a:pPr>
            <a:r>
              <a:rPr sz="1150" b="1" i="0">
                <a:solidFill>
                  <a:srgbClr val="00AEEF"/>
                </a:solidFill>
                <a:latin typeface="Arial"/>
              </a:rPr>
              <a:t>Q7  </a:t>
            </a:r>
            <a:r>
              <a:rPr sz="1150" b="0" i="0">
                <a:solidFill>
                  <a:srgbClr val="404040"/>
                </a:solidFill>
                <a:latin typeface="Arial"/>
              </a:rPr>
              <a:t>Which three priority moves lead the report?</a:t>
            </a:r>
          </a:p>
          <a:p>
            <a:pPr algn="l">
              <a:spcAft>
                <a:spcPts val="1000"/>
              </a:spcAft>
            </a:pPr>
            <a:r>
              <a:rPr sz="1150" b="1" i="0">
                <a:solidFill>
                  <a:srgbClr val="00AEEF"/>
                </a:solidFill>
                <a:latin typeface="Arial"/>
              </a:rPr>
              <a:t>Q8  </a:t>
            </a:r>
            <a:r>
              <a:rPr sz="1150" b="0" i="0">
                <a:solidFill>
                  <a:srgbClr val="404040"/>
                </a:solidFill>
                <a:latin typeface="Arial"/>
              </a:rPr>
              <a:t>What is Wesgro's role where it does not own the lever?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We need six decisions today to start drafting with confidence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DECISIONS REQUESTED TODAY</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84048" y="1234440"/>
            <a:ext cx="3703320" cy="2057400"/>
          </a:xfrm>
          <a:prstGeom prst="rect">
            <a:avLst/>
          </a:prstGeom>
          <a:solidFill>
            <a:srgbClr val="DCEEF7"/>
          </a:solidFill>
          <a:ln>
            <a:noFill/>
          </a:ln>
        </p:spPr>
        <p:txBody>
          <a:bodyPr rtlCol="0" anchor="ctr"/>
          <a:lstStyle/>
          <a:p>
            <a:pPr algn="ctr"/>
          </a:p>
        </p:txBody>
      </p:sp>
      <p:sp>
        <p:nvSpPr>
          <p:cNvPr id="9" name="TextBox 8"/>
          <p:cNvSpPr txBox="1"/>
          <p:nvPr/>
        </p:nvSpPr>
        <p:spPr>
          <a:xfrm>
            <a:off x="566928" y="137160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1</a:t>
            </a:r>
          </a:p>
        </p:txBody>
      </p:sp>
      <p:sp>
        <p:nvSpPr>
          <p:cNvPr id="10" name="TextBox 9"/>
          <p:cNvSpPr txBox="1"/>
          <p:nvPr/>
        </p:nvSpPr>
        <p:spPr>
          <a:xfrm>
            <a:off x="566928" y="196596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Priority moves</a:t>
            </a:r>
          </a:p>
        </p:txBody>
      </p:sp>
      <p:sp>
        <p:nvSpPr>
          <p:cNvPr id="11" name="TextBox 10"/>
          <p:cNvSpPr txBox="1"/>
          <p:nvPr/>
        </p:nvSpPr>
        <p:spPr>
          <a:xfrm>
            <a:off x="566928" y="233172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Agree which of the eight moves lead the final report.</a:t>
            </a:r>
          </a:p>
        </p:txBody>
      </p:sp>
      <p:sp>
        <p:nvSpPr>
          <p:cNvPr id="12" name="Rectangle 11"/>
          <p:cNvSpPr/>
          <p:nvPr/>
        </p:nvSpPr>
        <p:spPr>
          <a:xfrm>
            <a:off x="3630168" y="1463040"/>
            <a:ext cx="256032" cy="256032"/>
          </a:xfrm>
          <a:prstGeom prst="rect">
            <a:avLst/>
          </a:prstGeom>
          <a:solidFill>
            <a:srgbClr val="FFFFFF"/>
          </a:solidFill>
          <a:ln w="15875">
            <a:solidFill>
              <a:srgbClr val="1F497D"/>
            </a:solidFill>
          </a:ln>
        </p:spPr>
        <p:txBody>
          <a:bodyPr rtlCol="0" anchor="ctr"/>
          <a:lstStyle/>
          <a:p>
            <a:pPr algn="ctr"/>
          </a:p>
        </p:txBody>
      </p:sp>
      <p:sp>
        <p:nvSpPr>
          <p:cNvPr id="13" name="Rectangle 12"/>
          <p:cNvSpPr/>
          <p:nvPr/>
        </p:nvSpPr>
        <p:spPr>
          <a:xfrm>
            <a:off x="4242816" y="1234440"/>
            <a:ext cx="3703320" cy="2057400"/>
          </a:xfrm>
          <a:prstGeom prst="rect">
            <a:avLst/>
          </a:prstGeom>
          <a:solidFill>
            <a:srgbClr val="DCEEF7"/>
          </a:solidFill>
          <a:ln>
            <a:noFill/>
          </a:ln>
        </p:spPr>
        <p:txBody>
          <a:bodyPr rtlCol="0" anchor="ctr"/>
          <a:lstStyle/>
          <a:p>
            <a:pPr algn="ctr"/>
          </a:p>
        </p:txBody>
      </p:sp>
      <p:sp>
        <p:nvSpPr>
          <p:cNvPr id="14" name="TextBox 13"/>
          <p:cNvSpPr txBox="1"/>
          <p:nvPr/>
        </p:nvSpPr>
        <p:spPr>
          <a:xfrm>
            <a:off x="4425696" y="137160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2</a:t>
            </a:r>
          </a:p>
        </p:txBody>
      </p:sp>
      <p:sp>
        <p:nvSpPr>
          <p:cNvPr id="15" name="TextBox 14"/>
          <p:cNvSpPr txBox="1"/>
          <p:nvPr/>
        </p:nvSpPr>
        <p:spPr>
          <a:xfrm>
            <a:off x="4425696" y="196596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Marketing gap</a:t>
            </a:r>
          </a:p>
        </p:txBody>
      </p:sp>
      <p:sp>
        <p:nvSpPr>
          <p:cNvPr id="16" name="TextBox 15"/>
          <p:cNvSpPr txBox="1"/>
          <p:nvPr/>
        </p:nvSpPr>
        <p:spPr>
          <a:xfrm>
            <a:off x="4425696" y="233172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Approve the marketing and brand work (options A to C) and its lead.</a:t>
            </a:r>
          </a:p>
        </p:txBody>
      </p:sp>
      <p:sp>
        <p:nvSpPr>
          <p:cNvPr id="17" name="Rectangle 16"/>
          <p:cNvSpPr/>
          <p:nvPr/>
        </p:nvSpPr>
        <p:spPr>
          <a:xfrm>
            <a:off x="7488936" y="1463040"/>
            <a:ext cx="256032" cy="256032"/>
          </a:xfrm>
          <a:prstGeom prst="rect">
            <a:avLst/>
          </a:prstGeom>
          <a:solidFill>
            <a:srgbClr val="FFFFFF"/>
          </a:solidFill>
          <a:ln w="15875">
            <a:solidFill>
              <a:srgbClr val="1F497D"/>
            </a:solidFill>
          </a:ln>
        </p:spPr>
        <p:txBody>
          <a:bodyPr rtlCol="0" anchor="ctr"/>
          <a:lstStyle/>
          <a:p>
            <a:pPr algn="ctr"/>
          </a:p>
        </p:txBody>
      </p:sp>
      <p:sp>
        <p:nvSpPr>
          <p:cNvPr id="18" name="Rectangle 17"/>
          <p:cNvSpPr/>
          <p:nvPr/>
        </p:nvSpPr>
        <p:spPr>
          <a:xfrm>
            <a:off x="8101583" y="1234440"/>
            <a:ext cx="3703320" cy="2057400"/>
          </a:xfrm>
          <a:prstGeom prst="rect">
            <a:avLst/>
          </a:prstGeom>
          <a:solidFill>
            <a:srgbClr val="DCEEF7"/>
          </a:solidFill>
          <a:ln>
            <a:noFill/>
          </a:ln>
        </p:spPr>
        <p:txBody>
          <a:bodyPr rtlCol="0" anchor="ctr"/>
          <a:lstStyle/>
          <a:p>
            <a:pPr algn="ctr"/>
          </a:p>
        </p:txBody>
      </p:sp>
      <p:sp>
        <p:nvSpPr>
          <p:cNvPr id="19" name="TextBox 18"/>
          <p:cNvSpPr txBox="1"/>
          <p:nvPr/>
        </p:nvSpPr>
        <p:spPr>
          <a:xfrm>
            <a:off x="8284463" y="137160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3</a:t>
            </a:r>
          </a:p>
        </p:txBody>
      </p:sp>
      <p:sp>
        <p:nvSpPr>
          <p:cNvPr id="20" name="TextBox 19"/>
          <p:cNvSpPr txBox="1"/>
          <p:nvPr/>
        </p:nvSpPr>
        <p:spPr>
          <a:xfrm>
            <a:off x="8284463" y="196596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Investment and routes</a:t>
            </a:r>
          </a:p>
        </p:txBody>
      </p:sp>
      <p:sp>
        <p:nvSpPr>
          <p:cNvPr id="21" name="TextBox 20"/>
          <p:cNvSpPr txBox="1"/>
          <p:nvPr/>
        </p:nvSpPr>
        <p:spPr>
          <a:xfrm>
            <a:off x="8284463" y="233172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Commission route scoring and ROI for the top corridors.</a:t>
            </a:r>
          </a:p>
        </p:txBody>
      </p:sp>
      <p:sp>
        <p:nvSpPr>
          <p:cNvPr id="22" name="Rectangle 21"/>
          <p:cNvSpPr/>
          <p:nvPr/>
        </p:nvSpPr>
        <p:spPr>
          <a:xfrm>
            <a:off x="11347704" y="1463040"/>
            <a:ext cx="256032" cy="256032"/>
          </a:xfrm>
          <a:prstGeom prst="rect">
            <a:avLst/>
          </a:prstGeom>
          <a:solidFill>
            <a:srgbClr val="FFFFFF"/>
          </a:solidFill>
          <a:ln w="15875">
            <a:solidFill>
              <a:srgbClr val="1F497D"/>
            </a:solidFill>
          </a:ln>
        </p:spPr>
        <p:txBody>
          <a:bodyPr rtlCol="0" anchor="ctr"/>
          <a:lstStyle/>
          <a:p>
            <a:pPr algn="ctr"/>
          </a:p>
        </p:txBody>
      </p:sp>
      <p:sp>
        <p:nvSpPr>
          <p:cNvPr id="23" name="Rectangle 22"/>
          <p:cNvSpPr/>
          <p:nvPr/>
        </p:nvSpPr>
        <p:spPr>
          <a:xfrm>
            <a:off x="384048" y="3474720"/>
            <a:ext cx="3703320" cy="2057400"/>
          </a:xfrm>
          <a:prstGeom prst="rect">
            <a:avLst/>
          </a:prstGeom>
          <a:solidFill>
            <a:srgbClr val="DCEEF7"/>
          </a:solidFill>
          <a:ln>
            <a:noFill/>
          </a:ln>
        </p:spPr>
        <p:txBody>
          <a:bodyPr rtlCol="0" anchor="ctr"/>
          <a:lstStyle/>
          <a:p>
            <a:pPr algn="ctr"/>
          </a:p>
        </p:txBody>
      </p:sp>
      <p:sp>
        <p:nvSpPr>
          <p:cNvPr id="24" name="TextBox 23"/>
          <p:cNvSpPr txBox="1"/>
          <p:nvPr/>
        </p:nvSpPr>
        <p:spPr>
          <a:xfrm>
            <a:off x="566928" y="361188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4</a:t>
            </a:r>
          </a:p>
        </p:txBody>
      </p:sp>
      <p:sp>
        <p:nvSpPr>
          <p:cNvPr id="25" name="TextBox 24"/>
          <p:cNvSpPr txBox="1"/>
          <p:nvPr/>
        </p:nvSpPr>
        <p:spPr>
          <a:xfrm>
            <a:off x="566928" y="420624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Bounded gaps</a:t>
            </a:r>
          </a:p>
        </p:txBody>
      </p:sp>
      <p:sp>
        <p:nvSpPr>
          <p:cNvPr id="26" name="TextBox 25"/>
          <p:cNvSpPr txBox="1"/>
          <p:nvPr/>
        </p:nvSpPr>
        <p:spPr>
          <a:xfrm>
            <a:off x="566928" y="457200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Accept which gaps are stated as limitations rather than analysed.</a:t>
            </a:r>
          </a:p>
        </p:txBody>
      </p:sp>
      <p:sp>
        <p:nvSpPr>
          <p:cNvPr id="27" name="Rectangle 26"/>
          <p:cNvSpPr/>
          <p:nvPr/>
        </p:nvSpPr>
        <p:spPr>
          <a:xfrm>
            <a:off x="3630168" y="3703320"/>
            <a:ext cx="256032" cy="256032"/>
          </a:xfrm>
          <a:prstGeom prst="rect">
            <a:avLst/>
          </a:prstGeom>
          <a:solidFill>
            <a:srgbClr val="FFFFFF"/>
          </a:solidFill>
          <a:ln w="15875">
            <a:solidFill>
              <a:srgbClr val="1F497D"/>
            </a:solidFill>
          </a:ln>
        </p:spPr>
        <p:txBody>
          <a:bodyPr rtlCol="0" anchor="ctr"/>
          <a:lstStyle/>
          <a:p>
            <a:pPr algn="ctr"/>
          </a:p>
        </p:txBody>
      </p:sp>
      <p:sp>
        <p:nvSpPr>
          <p:cNvPr id="28" name="Rectangle 27"/>
          <p:cNvSpPr/>
          <p:nvPr/>
        </p:nvSpPr>
        <p:spPr>
          <a:xfrm>
            <a:off x="4242816" y="3474720"/>
            <a:ext cx="3703320" cy="2057400"/>
          </a:xfrm>
          <a:prstGeom prst="rect">
            <a:avLst/>
          </a:prstGeom>
          <a:solidFill>
            <a:srgbClr val="DCEEF7"/>
          </a:solidFill>
          <a:ln>
            <a:noFill/>
          </a:ln>
        </p:spPr>
        <p:txBody>
          <a:bodyPr rtlCol="0" anchor="ctr"/>
          <a:lstStyle/>
          <a:p>
            <a:pPr algn="ctr"/>
          </a:p>
        </p:txBody>
      </p:sp>
      <p:sp>
        <p:nvSpPr>
          <p:cNvPr id="29" name="TextBox 28"/>
          <p:cNvSpPr txBox="1"/>
          <p:nvPr/>
        </p:nvSpPr>
        <p:spPr>
          <a:xfrm>
            <a:off x="4425696" y="361188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5</a:t>
            </a:r>
          </a:p>
        </p:txBody>
      </p:sp>
      <p:sp>
        <p:nvSpPr>
          <p:cNvPr id="30" name="TextBox 29"/>
          <p:cNvSpPr txBox="1"/>
          <p:nvPr/>
        </p:nvSpPr>
        <p:spPr>
          <a:xfrm>
            <a:off x="4425696" y="420624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Report structure</a:t>
            </a:r>
          </a:p>
        </p:txBody>
      </p:sp>
      <p:sp>
        <p:nvSpPr>
          <p:cNvPr id="31" name="TextBox 30"/>
          <p:cNvSpPr txBox="1"/>
          <p:nvPr/>
        </p:nvSpPr>
        <p:spPr>
          <a:xfrm>
            <a:off x="4425696" y="457200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Confirm the pillar and horizon structure, with owners by tier.</a:t>
            </a:r>
          </a:p>
        </p:txBody>
      </p:sp>
      <p:sp>
        <p:nvSpPr>
          <p:cNvPr id="32" name="Rectangle 31"/>
          <p:cNvSpPr/>
          <p:nvPr/>
        </p:nvSpPr>
        <p:spPr>
          <a:xfrm>
            <a:off x="7488936" y="3703320"/>
            <a:ext cx="256032" cy="256032"/>
          </a:xfrm>
          <a:prstGeom prst="rect">
            <a:avLst/>
          </a:prstGeom>
          <a:solidFill>
            <a:srgbClr val="FFFFFF"/>
          </a:solidFill>
          <a:ln w="15875">
            <a:solidFill>
              <a:srgbClr val="1F497D"/>
            </a:solidFill>
          </a:ln>
        </p:spPr>
        <p:txBody>
          <a:bodyPr rtlCol="0" anchor="ctr"/>
          <a:lstStyle/>
          <a:p>
            <a:pPr algn="ctr"/>
          </a:p>
        </p:txBody>
      </p:sp>
      <p:sp>
        <p:nvSpPr>
          <p:cNvPr id="33" name="Rectangle 32"/>
          <p:cNvSpPr/>
          <p:nvPr/>
        </p:nvSpPr>
        <p:spPr>
          <a:xfrm>
            <a:off x="8101583" y="3474720"/>
            <a:ext cx="3703320" cy="2057400"/>
          </a:xfrm>
          <a:prstGeom prst="rect">
            <a:avLst/>
          </a:prstGeom>
          <a:solidFill>
            <a:srgbClr val="DCEEF7"/>
          </a:solidFill>
          <a:ln>
            <a:noFill/>
          </a:ln>
        </p:spPr>
        <p:txBody>
          <a:bodyPr rtlCol="0" anchor="ctr"/>
          <a:lstStyle/>
          <a:p>
            <a:pPr algn="ctr"/>
          </a:p>
        </p:txBody>
      </p:sp>
      <p:sp>
        <p:nvSpPr>
          <p:cNvPr id="34" name="TextBox 33"/>
          <p:cNvSpPr txBox="1"/>
          <p:nvPr/>
        </p:nvSpPr>
        <p:spPr>
          <a:xfrm>
            <a:off x="8284463" y="3611880"/>
            <a:ext cx="640080" cy="548640"/>
          </a:xfrm>
          <a:prstGeom prst="rect">
            <a:avLst/>
          </a:prstGeom>
          <a:noFill/>
        </p:spPr>
        <p:txBody>
          <a:bodyPr wrap="square" anchor="t" lIns="36576" rIns="36576" tIns="21945" bIns="21945">
            <a:spAutoFit/>
          </a:bodyPr>
          <a:lstStyle/>
          <a:p>
            <a:pPr algn="l">
              <a:spcAft>
                <a:spcPts val="0"/>
              </a:spcAft>
            </a:pPr>
            <a:r>
              <a:rPr sz="2800" b="1" i="0">
                <a:solidFill>
                  <a:srgbClr val="00AEEF"/>
                </a:solidFill>
                <a:latin typeface="Arial"/>
              </a:rPr>
              <a:t>6</a:t>
            </a:r>
          </a:p>
        </p:txBody>
      </p:sp>
      <p:sp>
        <p:nvSpPr>
          <p:cNvPr id="35" name="TextBox 34"/>
          <p:cNvSpPr txBox="1"/>
          <p:nvPr/>
        </p:nvSpPr>
        <p:spPr>
          <a:xfrm>
            <a:off x="8284463" y="4206240"/>
            <a:ext cx="3383280" cy="365760"/>
          </a:xfrm>
          <a:prstGeom prst="rect">
            <a:avLst/>
          </a:prstGeom>
          <a:noFill/>
        </p:spPr>
        <p:txBody>
          <a:bodyPr wrap="square" anchor="t" lIns="36576" rIns="36576" tIns="21945" bIns="21945">
            <a:spAutoFit/>
          </a:bodyPr>
          <a:lstStyle/>
          <a:p>
            <a:pPr algn="l">
              <a:spcAft>
                <a:spcPts val="0"/>
              </a:spcAft>
            </a:pPr>
            <a:r>
              <a:rPr sz="1300" b="1" i="0">
                <a:solidFill>
                  <a:srgbClr val="1F497D"/>
                </a:solidFill>
                <a:latin typeface="Arial"/>
              </a:rPr>
              <a:t>Contract and timeline</a:t>
            </a:r>
          </a:p>
        </p:txBody>
      </p:sp>
      <p:sp>
        <p:nvSpPr>
          <p:cNvPr id="36" name="TextBox 35"/>
          <p:cNvSpPr txBox="1"/>
          <p:nvPr/>
        </p:nvSpPr>
        <p:spPr>
          <a:xfrm>
            <a:off x="8284463" y="4572000"/>
            <a:ext cx="3383280" cy="868680"/>
          </a:xfrm>
          <a:prstGeom prst="rect">
            <a:avLst/>
          </a:prstGeom>
          <a:noFill/>
        </p:spPr>
        <p:txBody>
          <a:bodyPr wrap="square" anchor="t" lIns="36576" rIns="36576" tIns="21945" bIns="21945">
            <a:spAutoFit/>
          </a:bodyPr>
          <a:lstStyle/>
          <a:p>
            <a:pPr algn="l">
              <a:spcAft>
                <a:spcPts val="0"/>
              </a:spcAft>
            </a:pPr>
            <a:r>
              <a:rPr sz="1100" b="0" i="0">
                <a:solidFill>
                  <a:srgbClr val="404040"/>
                </a:solidFill>
                <a:latin typeface="Arial"/>
              </a:rPr>
              <a:t>Confirm the extension route and the six-week plan.</a:t>
            </a:r>
          </a:p>
        </p:txBody>
      </p:sp>
      <p:sp>
        <p:nvSpPr>
          <p:cNvPr id="37" name="Rectangle 36"/>
          <p:cNvSpPr/>
          <p:nvPr/>
        </p:nvSpPr>
        <p:spPr>
          <a:xfrm>
            <a:off x="11347704" y="3703320"/>
            <a:ext cx="256032" cy="256032"/>
          </a:xfrm>
          <a:prstGeom prst="rect">
            <a:avLst/>
          </a:prstGeom>
          <a:solidFill>
            <a:srgbClr val="FFFFFF"/>
          </a:solidFill>
          <a:ln w="15875">
            <a:solidFill>
              <a:srgbClr val="1F497D"/>
            </a:solidFill>
          </a:ln>
        </p:spPr>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The next six weeks</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From aligned findings to the final report</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Six weeks take us from aligned findings to a final report at Steercom, subject to the extension</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NEXT SIX WEEKS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proposal. Weeks assume this session in the week of 12 October 2026; dates shift with the session date.</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3218688"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W1</a:t>
            </a:r>
          </a:p>
          <a:p>
            <a:pPr algn="ctr">
              <a:spcAft>
                <a:spcPts val="0"/>
              </a:spcAft>
            </a:pPr>
            <a:r>
              <a:rPr sz="850" b="0" i="0">
                <a:solidFill>
                  <a:srgbClr val="FFFFFF"/>
                </a:solidFill>
                <a:latin typeface="Arial"/>
              </a:rPr>
              <a:t>12 Oct</a:t>
            </a:r>
          </a:p>
        </p:txBody>
      </p:sp>
      <p:sp>
        <p:nvSpPr>
          <p:cNvPr id="9" name="Rectangle 8"/>
          <p:cNvSpPr/>
          <p:nvPr/>
        </p:nvSpPr>
        <p:spPr>
          <a:xfrm>
            <a:off x="4649724"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W2</a:t>
            </a:r>
          </a:p>
          <a:p>
            <a:pPr algn="ctr">
              <a:spcAft>
                <a:spcPts val="0"/>
              </a:spcAft>
            </a:pPr>
            <a:r>
              <a:rPr sz="850" b="0" i="0">
                <a:solidFill>
                  <a:srgbClr val="FFFFFF"/>
                </a:solidFill>
                <a:latin typeface="Arial"/>
              </a:rPr>
              <a:t>19 Oct</a:t>
            </a:r>
          </a:p>
        </p:txBody>
      </p:sp>
      <p:sp>
        <p:nvSpPr>
          <p:cNvPr id="10" name="Rectangle 9"/>
          <p:cNvSpPr/>
          <p:nvPr/>
        </p:nvSpPr>
        <p:spPr>
          <a:xfrm>
            <a:off x="6080760"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W3</a:t>
            </a:r>
          </a:p>
          <a:p>
            <a:pPr algn="ctr">
              <a:spcAft>
                <a:spcPts val="0"/>
              </a:spcAft>
            </a:pPr>
            <a:r>
              <a:rPr sz="850" b="0" i="0">
                <a:solidFill>
                  <a:srgbClr val="FFFFFF"/>
                </a:solidFill>
                <a:latin typeface="Arial"/>
              </a:rPr>
              <a:t>26 Oct</a:t>
            </a:r>
          </a:p>
        </p:txBody>
      </p:sp>
      <p:sp>
        <p:nvSpPr>
          <p:cNvPr id="11" name="Rectangle 10"/>
          <p:cNvSpPr/>
          <p:nvPr/>
        </p:nvSpPr>
        <p:spPr>
          <a:xfrm>
            <a:off x="7511796"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W4</a:t>
            </a:r>
          </a:p>
          <a:p>
            <a:pPr algn="ctr">
              <a:spcAft>
                <a:spcPts val="0"/>
              </a:spcAft>
            </a:pPr>
            <a:r>
              <a:rPr sz="850" b="0" i="0">
                <a:solidFill>
                  <a:srgbClr val="FFFFFF"/>
                </a:solidFill>
                <a:latin typeface="Arial"/>
              </a:rPr>
              <a:t>2 Nov</a:t>
            </a:r>
          </a:p>
        </p:txBody>
      </p:sp>
      <p:sp>
        <p:nvSpPr>
          <p:cNvPr id="12" name="Rectangle 11"/>
          <p:cNvSpPr/>
          <p:nvPr/>
        </p:nvSpPr>
        <p:spPr>
          <a:xfrm>
            <a:off x="8942832"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W5</a:t>
            </a:r>
          </a:p>
          <a:p>
            <a:pPr algn="ctr">
              <a:spcAft>
                <a:spcPts val="0"/>
              </a:spcAft>
            </a:pPr>
            <a:r>
              <a:rPr sz="850" b="0" i="0">
                <a:solidFill>
                  <a:srgbClr val="FFFFFF"/>
                </a:solidFill>
                <a:latin typeface="Arial"/>
              </a:rPr>
              <a:t>9 Nov</a:t>
            </a:r>
          </a:p>
        </p:txBody>
      </p:sp>
      <p:sp>
        <p:nvSpPr>
          <p:cNvPr id="13" name="Rectangle 12"/>
          <p:cNvSpPr/>
          <p:nvPr/>
        </p:nvSpPr>
        <p:spPr>
          <a:xfrm>
            <a:off x="10373868" y="1188720"/>
            <a:ext cx="1403604" cy="438912"/>
          </a:xfrm>
          <a:prstGeom prst="rect">
            <a:avLst/>
          </a:prstGeom>
          <a:solidFill>
            <a:srgbClr val="1F497D"/>
          </a:solidFill>
          <a:ln>
            <a:noFill/>
          </a:ln>
        </p:spPr>
        <p:txBody>
          <a:bodyPr rtlCol="0" anchor="ctr" wrap="square" lIns="36576" rIns="36576" tIns="21945" bIns="21945"/>
          <a:lstStyle/>
          <a:p>
            <a:pPr algn="ctr">
              <a:spcAft>
                <a:spcPts val="0"/>
              </a:spcAft>
            </a:pPr>
            <a:r>
              <a:rPr sz="950" b="1" i="0">
                <a:solidFill>
                  <a:srgbClr val="FFFFFF"/>
                </a:solidFill>
                <a:latin typeface="Arial"/>
              </a:rPr>
              <a:t>W6</a:t>
            </a:r>
          </a:p>
          <a:p>
            <a:pPr algn="ctr">
              <a:spcAft>
                <a:spcPts val="0"/>
              </a:spcAft>
            </a:pPr>
            <a:r>
              <a:rPr sz="850" b="0" i="0">
                <a:solidFill>
                  <a:srgbClr val="FFFFFF"/>
                </a:solidFill>
                <a:latin typeface="Arial"/>
              </a:rPr>
              <a:t>16 Nov</a:t>
            </a:r>
          </a:p>
        </p:txBody>
      </p:sp>
      <p:sp>
        <p:nvSpPr>
          <p:cNvPr id="14" name="Rectangle 13"/>
          <p:cNvSpPr/>
          <p:nvPr/>
        </p:nvSpPr>
        <p:spPr>
          <a:xfrm>
            <a:off x="384048" y="1188720"/>
            <a:ext cx="2788920" cy="438912"/>
          </a:xfrm>
          <a:prstGeom prst="rect">
            <a:avLst/>
          </a:prstGeom>
          <a:solidFill>
            <a:srgbClr val="1F497D"/>
          </a:solidFill>
          <a:ln>
            <a:noFill/>
          </a:ln>
        </p:spPr>
        <p:txBody>
          <a:bodyPr rtlCol="0" anchor="ctr" wrap="square" lIns="36576" rIns="36576" tIns="21945" bIns="21945"/>
          <a:lstStyle/>
          <a:p>
            <a:pPr algn="l">
              <a:spcAft>
                <a:spcPts val="400"/>
              </a:spcAft>
            </a:pPr>
            <a:r>
              <a:rPr sz="1000" b="1" i="0">
                <a:solidFill>
                  <a:srgbClr val="FFFFFF"/>
                </a:solidFill>
                <a:latin typeface="Arial"/>
              </a:rPr>
              <a:t>Workstream</a:t>
            </a:r>
          </a:p>
        </p:txBody>
      </p:sp>
      <p:sp>
        <p:nvSpPr>
          <p:cNvPr id="15" name="Rectangle 14"/>
          <p:cNvSpPr/>
          <p:nvPr/>
        </p:nvSpPr>
        <p:spPr>
          <a:xfrm>
            <a:off x="384048" y="1700784"/>
            <a:ext cx="11420856" cy="347472"/>
          </a:xfrm>
          <a:prstGeom prst="rect">
            <a:avLst/>
          </a:prstGeom>
          <a:solidFill>
            <a:srgbClr val="F2F2F2"/>
          </a:solidFill>
          <a:ln>
            <a:noFill/>
          </a:ln>
        </p:spPr>
        <p:txBody>
          <a:bodyPr rtlCol="0" anchor="ctr"/>
          <a:lstStyle/>
          <a:p>
            <a:pPr algn="ctr"/>
          </a:p>
        </p:txBody>
      </p:sp>
      <p:sp>
        <p:nvSpPr>
          <p:cNvPr id="16" name="TextBox 15"/>
          <p:cNvSpPr txBox="1"/>
          <p:nvPr/>
        </p:nvSpPr>
        <p:spPr>
          <a:xfrm>
            <a:off x="457200" y="1700784"/>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Alignment and governance</a:t>
            </a:r>
          </a:p>
        </p:txBody>
      </p:sp>
      <p:sp>
        <p:nvSpPr>
          <p:cNvPr id="17" name="Rectangle 16"/>
          <p:cNvSpPr/>
          <p:nvPr/>
        </p:nvSpPr>
        <p:spPr>
          <a:xfrm>
            <a:off x="3255264" y="1755648"/>
            <a:ext cx="1357884"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This session</a:t>
            </a:r>
          </a:p>
        </p:txBody>
      </p:sp>
      <p:sp>
        <p:nvSpPr>
          <p:cNvPr id="18" name="Diamond 17"/>
          <p:cNvSpPr/>
          <p:nvPr/>
        </p:nvSpPr>
        <p:spPr>
          <a:xfrm>
            <a:off x="6857085" y="1801368"/>
            <a:ext cx="164592" cy="164592"/>
          </a:xfrm>
          <a:prstGeom prst="diamond">
            <a:avLst/>
          </a:prstGeom>
          <a:solidFill>
            <a:srgbClr val="F2A900"/>
          </a:solidFill>
          <a:ln>
            <a:noFill/>
          </a:ln>
        </p:spPr>
        <p:txBody>
          <a:bodyPr rtlCol="0" anchor="ctr"/>
          <a:lstStyle/>
          <a:p>
            <a:pPr algn="ctr"/>
          </a:p>
        </p:txBody>
      </p:sp>
      <p:sp>
        <p:nvSpPr>
          <p:cNvPr id="19" name="Rectangle 18"/>
          <p:cNvSpPr/>
          <p:nvPr/>
        </p:nvSpPr>
        <p:spPr>
          <a:xfrm>
            <a:off x="384048" y="2084832"/>
            <a:ext cx="11420856" cy="347472"/>
          </a:xfrm>
          <a:prstGeom prst="rect">
            <a:avLst/>
          </a:prstGeom>
          <a:solidFill>
            <a:srgbClr val="F2F2F2"/>
          </a:solidFill>
          <a:ln>
            <a:noFill/>
          </a:ln>
        </p:spPr>
        <p:txBody>
          <a:bodyPr rtlCol="0" anchor="ctr"/>
          <a:lstStyle/>
          <a:p>
            <a:pPr algn="ctr"/>
          </a:p>
        </p:txBody>
      </p:sp>
      <p:sp>
        <p:nvSpPr>
          <p:cNvPr id="20" name="TextBox 19"/>
          <p:cNvSpPr txBox="1"/>
          <p:nvPr/>
        </p:nvSpPr>
        <p:spPr>
          <a:xfrm>
            <a:off x="457200" y="2084832"/>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Route scoring (five routes)</a:t>
            </a:r>
          </a:p>
        </p:txBody>
      </p:sp>
      <p:sp>
        <p:nvSpPr>
          <p:cNvPr id="21" name="Rectangle 20"/>
          <p:cNvSpPr/>
          <p:nvPr/>
        </p:nvSpPr>
        <p:spPr>
          <a:xfrm>
            <a:off x="3255264" y="2139696"/>
            <a:ext cx="2788920"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Score routes on the Winelands template</a:t>
            </a:r>
          </a:p>
        </p:txBody>
      </p:sp>
      <p:sp>
        <p:nvSpPr>
          <p:cNvPr id="22" name="Diamond 21"/>
          <p:cNvSpPr/>
          <p:nvPr/>
        </p:nvSpPr>
        <p:spPr>
          <a:xfrm>
            <a:off x="5855360" y="2185416"/>
            <a:ext cx="164592" cy="164592"/>
          </a:xfrm>
          <a:prstGeom prst="diamond">
            <a:avLst/>
          </a:prstGeom>
          <a:solidFill>
            <a:srgbClr val="F2A900"/>
          </a:solidFill>
          <a:ln>
            <a:noFill/>
          </a:ln>
        </p:spPr>
        <p:txBody>
          <a:bodyPr rtlCol="0" anchor="ctr"/>
          <a:lstStyle/>
          <a:p>
            <a:pPr algn="ctr"/>
          </a:p>
        </p:txBody>
      </p:sp>
      <p:sp>
        <p:nvSpPr>
          <p:cNvPr id="23" name="Rectangle 22"/>
          <p:cNvSpPr/>
          <p:nvPr/>
        </p:nvSpPr>
        <p:spPr>
          <a:xfrm>
            <a:off x="384048" y="2468880"/>
            <a:ext cx="11420856" cy="347472"/>
          </a:xfrm>
          <a:prstGeom prst="rect">
            <a:avLst/>
          </a:prstGeom>
          <a:solidFill>
            <a:srgbClr val="F2F2F2"/>
          </a:solidFill>
          <a:ln>
            <a:noFill/>
          </a:ln>
        </p:spPr>
        <p:txBody>
          <a:bodyPr rtlCol="0" anchor="ctr"/>
          <a:lstStyle/>
          <a:p>
            <a:pPr algn="ctr"/>
          </a:p>
        </p:txBody>
      </p:sp>
      <p:sp>
        <p:nvSpPr>
          <p:cNvPr id="24" name="TextBox 23"/>
          <p:cNvSpPr txBox="1"/>
          <p:nvPr/>
        </p:nvSpPr>
        <p:spPr>
          <a:xfrm>
            <a:off x="457200" y="2468880"/>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Marketing and brand (A to C)</a:t>
            </a:r>
          </a:p>
        </p:txBody>
      </p:sp>
      <p:sp>
        <p:nvSpPr>
          <p:cNvPr id="25" name="Rectangle 24"/>
          <p:cNvSpPr/>
          <p:nvPr/>
        </p:nvSpPr>
        <p:spPr>
          <a:xfrm>
            <a:off x="3255264" y="2523744"/>
            <a:ext cx="4219956"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Audit and peer benchmark</a:t>
            </a:r>
          </a:p>
        </p:txBody>
      </p:sp>
      <p:sp>
        <p:nvSpPr>
          <p:cNvPr id="26" name="Rectangle 25"/>
          <p:cNvSpPr/>
          <p:nvPr/>
        </p:nvSpPr>
        <p:spPr>
          <a:xfrm>
            <a:off x="7548371" y="2523744"/>
            <a:ext cx="1357884" cy="237744"/>
          </a:xfrm>
          <a:prstGeom prst="rect">
            <a:avLst/>
          </a:prstGeom>
          <a:solidFill>
            <a:srgbClr val="4F81BD"/>
          </a:solidFill>
          <a:ln>
            <a:noFill/>
          </a:ln>
        </p:spPr>
        <p:txBody>
          <a:bodyPr rtlCol="0" anchor="ctr" wrap="square" lIns="54864" rIns="54864" tIns="32918" bIns="32918"/>
          <a:lstStyle/>
          <a:p>
            <a:pPr algn="l">
              <a:spcAft>
                <a:spcPts val="0"/>
              </a:spcAft>
            </a:pPr>
            <a:r>
              <a:rPr sz="850" b="1" i="0">
                <a:solidFill>
                  <a:srgbClr val="FFFFFF"/>
                </a:solidFill>
                <a:latin typeface="Arial"/>
              </a:rPr>
              <a:t>Workshop</a:t>
            </a:r>
          </a:p>
        </p:txBody>
      </p:sp>
      <p:sp>
        <p:nvSpPr>
          <p:cNvPr id="27" name="Rectangle 26"/>
          <p:cNvSpPr/>
          <p:nvPr/>
        </p:nvSpPr>
        <p:spPr>
          <a:xfrm>
            <a:off x="384048" y="2852928"/>
            <a:ext cx="11420856" cy="347472"/>
          </a:xfrm>
          <a:prstGeom prst="rect">
            <a:avLst/>
          </a:prstGeom>
          <a:solidFill>
            <a:srgbClr val="F2F2F2"/>
          </a:solidFill>
          <a:ln>
            <a:noFill/>
          </a:ln>
        </p:spPr>
        <p:txBody>
          <a:bodyPr rtlCol="0" anchor="ctr"/>
          <a:lstStyle/>
          <a:p>
            <a:pPr algn="ctr"/>
          </a:p>
        </p:txBody>
      </p:sp>
      <p:sp>
        <p:nvSpPr>
          <p:cNvPr id="28" name="TextBox 27"/>
          <p:cNvSpPr txBox="1"/>
          <p:nvPr/>
        </p:nvSpPr>
        <p:spPr>
          <a:xfrm>
            <a:off x="457200" y="2852928"/>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Investment ROI; spend and jobs</a:t>
            </a:r>
          </a:p>
        </p:txBody>
      </p:sp>
      <p:sp>
        <p:nvSpPr>
          <p:cNvPr id="29" name="Rectangle 28"/>
          <p:cNvSpPr/>
          <p:nvPr/>
        </p:nvSpPr>
        <p:spPr>
          <a:xfrm>
            <a:off x="4686300" y="2907792"/>
            <a:ext cx="4219956"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Corridor and mid-market ROI; model extension</a:t>
            </a:r>
          </a:p>
        </p:txBody>
      </p:sp>
      <p:sp>
        <p:nvSpPr>
          <p:cNvPr id="30" name="Rectangle 29"/>
          <p:cNvSpPr/>
          <p:nvPr/>
        </p:nvSpPr>
        <p:spPr>
          <a:xfrm>
            <a:off x="384048" y="3236976"/>
            <a:ext cx="11420856" cy="347472"/>
          </a:xfrm>
          <a:prstGeom prst="rect">
            <a:avLst/>
          </a:prstGeom>
          <a:solidFill>
            <a:srgbClr val="F2F2F2"/>
          </a:solidFill>
          <a:ln>
            <a:noFill/>
          </a:ln>
        </p:spPr>
        <p:txBody>
          <a:bodyPr rtlCol="0" anchor="ctr"/>
          <a:lstStyle/>
          <a:p>
            <a:pPr algn="ctr"/>
          </a:p>
        </p:txBody>
      </p:sp>
      <p:sp>
        <p:nvSpPr>
          <p:cNvPr id="31" name="TextBox 30"/>
          <p:cNvSpPr txBox="1"/>
          <p:nvPr/>
        </p:nvSpPr>
        <p:spPr>
          <a:xfrm>
            <a:off x="457200" y="3236976"/>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M&amp;E toolkit</a:t>
            </a:r>
          </a:p>
        </p:txBody>
      </p:sp>
      <p:sp>
        <p:nvSpPr>
          <p:cNvPr id="32" name="Rectangle 31"/>
          <p:cNvSpPr/>
          <p:nvPr/>
        </p:nvSpPr>
        <p:spPr>
          <a:xfrm>
            <a:off x="4686300" y="3291840"/>
            <a:ext cx="4219956" cy="237744"/>
          </a:xfrm>
          <a:prstGeom prst="rect">
            <a:avLst/>
          </a:prstGeom>
          <a:solidFill>
            <a:srgbClr val="00AEEF"/>
          </a:solidFill>
          <a:ln>
            <a:noFill/>
          </a:ln>
        </p:spPr>
        <p:txBody>
          <a:bodyPr rtlCol="0" anchor="ctr" wrap="square" lIns="54864" rIns="54864" tIns="32918" bIns="32918"/>
          <a:lstStyle/>
          <a:p>
            <a:pPr algn="l">
              <a:spcAft>
                <a:spcPts val="0"/>
              </a:spcAft>
            </a:pPr>
            <a:r>
              <a:rPr sz="850" b="1" i="0">
                <a:solidFill>
                  <a:srgbClr val="FFFFFF"/>
                </a:solidFill>
                <a:latin typeface="Arial"/>
              </a:rPr>
              <a:t>Indicators, baselines, templates</a:t>
            </a:r>
          </a:p>
        </p:txBody>
      </p:sp>
      <p:sp>
        <p:nvSpPr>
          <p:cNvPr id="33" name="Diamond 32"/>
          <p:cNvSpPr/>
          <p:nvPr/>
        </p:nvSpPr>
        <p:spPr>
          <a:xfrm>
            <a:off x="8717432" y="3337560"/>
            <a:ext cx="164592" cy="164592"/>
          </a:xfrm>
          <a:prstGeom prst="diamond">
            <a:avLst/>
          </a:prstGeom>
          <a:solidFill>
            <a:srgbClr val="F2A900"/>
          </a:solidFill>
          <a:ln>
            <a:noFill/>
          </a:ln>
        </p:spPr>
        <p:txBody>
          <a:bodyPr rtlCol="0" anchor="ctr"/>
          <a:lstStyle/>
          <a:p>
            <a:pPr algn="ctr"/>
          </a:p>
        </p:txBody>
      </p:sp>
      <p:sp>
        <p:nvSpPr>
          <p:cNvPr id="34" name="Rectangle 33"/>
          <p:cNvSpPr/>
          <p:nvPr/>
        </p:nvSpPr>
        <p:spPr>
          <a:xfrm>
            <a:off x="384048" y="3621024"/>
            <a:ext cx="11420856" cy="347472"/>
          </a:xfrm>
          <a:prstGeom prst="rect">
            <a:avLst/>
          </a:prstGeom>
          <a:solidFill>
            <a:srgbClr val="F2F2F2"/>
          </a:solidFill>
          <a:ln>
            <a:noFill/>
          </a:ln>
        </p:spPr>
        <p:txBody>
          <a:bodyPr rtlCol="0" anchor="ctr"/>
          <a:lstStyle/>
          <a:p>
            <a:pPr algn="ctr"/>
          </a:p>
        </p:txBody>
      </p:sp>
      <p:sp>
        <p:nvSpPr>
          <p:cNvPr id="35" name="TextBox 34"/>
          <p:cNvSpPr txBox="1"/>
          <p:nvPr/>
        </p:nvSpPr>
        <p:spPr>
          <a:xfrm>
            <a:off x="457200" y="3621024"/>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Stakeholder validation</a:t>
            </a:r>
          </a:p>
        </p:txBody>
      </p:sp>
      <p:sp>
        <p:nvSpPr>
          <p:cNvPr id="36" name="Rectangle 35"/>
          <p:cNvSpPr/>
          <p:nvPr/>
        </p:nvSpPr>
        <p:spPr>
          <a:xfrm>
            <a:off x="4686300" y="3675887"/>
            <a:ext cx="4219956" cy="237744"/>
          </a:xfrm>
          <a:prstGeom prst="rect">
            <a:avLst/>
          </a:prstGeom>
          <a:solidFill>
            <a:srgbClr val="4F81BD"/>
          </a:solidFill>
          <a:ln>
            <a:noFill/>
          </a:ln>
        </p:spPr>
        <p:txBody>
          <a:bodyPr rtlCol="0" anchor="ctr" wrap="square" lIns="54864" rIns="54864" tIns="32918" bIns="32918"/>
          <a:lstStyle/>
          <a:p>
            <a:pPr algn="l">
              <a:spcAft>
                <a:spcPts val="0"/>
              </a:spcAft>
            </a:pPr>
            <a:r>
              <a:rPr sz="850" b="1" i="0">
                <a:solidFill>
                  <a:srgbClr val="FFFFFF"/>
                </a:solidFill>
                <a:latin typeface="Arial"/>
              </a:rPr>
              <a:t>Airlines, trade, SA Tourism, City, DHA</a:t>
            </a:r>
          </a:p>
        </p:txBody>
      </p:sp>
      <p:sp>
        <p:nvSpPr>
          <p:cNvPr id="37" name="Rectangle 36"/>
          <p:cNvSpPr/>
          <p:nvPr/>
        </p:nvSpPr>
        <p:spPr>
          <a:xfrm>
            <a:off x="384048" y="4005072"/>
            <a:ext cx="11420856" cy="347472"/>
          </a:xfrm>
          <a:prstGeom prst="rect">
            <a:avLst/>
          </a:prstGeom>
          <a:solidFill>
            <a:srgbClr val="F2F2F2"/>
          </a:solidFill>
          <a:ln>
            <a:noFill/>
          </a:ln>
        </p:spPr>
        <p:txBody>
          <a:bodyPr rtlCol="0" anchor="ctr"/>
          <a:lstStyle/>
          <a:p>
            <a:pPr algn="ctr"/>
          </a:p>
        </p:txBody>
      </p:sp>
      <p:sp>
        <p:nvSpPr>
          <p:cNvPr id="38" name="TextBox 37"/>
          <p:cNvSpPr txBox="1"/>
          <p:nvPr/>
        </p:nvSpPr>
        <p:spPr>
          <a:xfrm>
            <a:off x="457200" y="4005072"/>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Final recommendations and roadmap</a:t>
            </a:r>
          </a:p>
        </p:txBody>
      </p:sp>
      <p:sp>
        <p:nvSpPr>
          <p:cNvPr id="39" name="Rectangle 38"/>
          <p:cNvSpPr/>
          <p:nvPr/>
        </p:nvSpPr>
        <p:spPr>
          <a:xfrm>
            <a:off x="6117336" y="4059935"/>
            <a:ext cx="4219956"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Draft, test, refine with owners</a:t>
            </a:r>
          </a:p>
        </p:txBody>
      </p:sp>
      <p:sp>
        <p:nvSpPr>
          <p:cNvPr id="40" name="Rectangle 39"/>
          <p:cNvSpPr/>
          <p:nvPr/>
        </p:nvSpPr>
        <p:spPr>
          <a:xfrm>
            <a:off x="384048" y="4389120"/>
            <a:ext cx="11420856" cy="347472"/>
          </a:xfrm>
          <a:prstGeom prst="rect">
            <a:avLst/>
          </a:prstGeom>
          <a:solidFill>
            <a:srgbClr val="F2F2F2"/>
          </a:solidFill>
          <a:ln>
            <a:noFill/>
          </a:ln>
        </p:spPr>
        <p:txBody>
          <a:bodyPr rtlCol="0" anchor="ctr"/>
          <a:lstStyle/>
          <a:p>
            <a:pPr algn="ctr"/>
          </a:p>
        </p:txBody>
      </p:sp>
      <p:sp>
        <p:nvSpPr>
          <p:cNvPr id="41" name="TextBox 40"/>
          <p:cNvSpPr txBox="1"/>
          <p:nvPr/>
        </p:nvSpPr>
        <p:spPr>
          <a:xfrm>
            <a:off x="457200" y="4389120"/>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Final report and approvals</a:t>
            </a:r>
          </a:p>
        </p:txBody>
      </p:sp>
      <p:sp>
        <p:nvSpPr>
          <p:cNvPr id="42" name="Rectangle 41"/>
          <p:cNvSpPr/>
          <p:nvPr/>
        </p:nvSpPr>
        <p:spPr>
          <a:xfrm>
            <a:off x="7548371" y="4443983"/>
            <a:ext cx="2788920"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Draft report</a:t>
            </a:r>
          </a:p>
        </p:txBody>
      </p:sp>
      <p:sp>
        <p:nvSpPr>
          <p:cNvPr id="43" name="Rectangle 42"/>
          <p:cNvSpPr/>
          <p:nvPr/>
        </p:nvSpPr>
        <p:spPr>
          <a:xfrm>
            <a:off x="10410444" y="4443983"/>
            <a:ext cx="1357884" cy="237744"/>
          </a:xfrm>
          <a:prstGeom prst="rect">
            <a:avLst/>
          </a:prstGeom>
          <a:solidFill>
            <a:srgbClr val="1F497D"/>
          </a:solidFill>
          <a:ln>
            <a:noFill/>
          </a:ln>
        </p:spPr>
        <p:txBody>
          <a:bodyPr rtlCol="0" anchor="ctr" wrap="square" lIns="54864" rIns="54864" tIns="32918" bIns="32918"/>
          <a:lstStyle/>
          <a:p>
            <a:pPr algn="l">
              <a:spcAft>
                <a:spcPts val="0"/>
              </a:spcAft>
            </a:pPr>
            <a:r>
              <a:rPr sz="850" b="1" i="0">
                <a:solidFill>
                  <a:srgbClr val="FFFFFF"/>
                </a:solidFill>
                <a:latin typeface="Arial"/>
              </a:rPr>
              <a:t>Exco, Board</a:t>
            </a:r>
          </a:p>
        </p:txBody>
      </p:sp>
      <p:sp>
        <p:nvSpPr>
          <p:cNvPr id="44" name="Diamond 43"/>
          <p:cNvSpPr/>
          <p:nvPr/>
        </p:nvSpPr>
        <p:spPr>
          <a:xfrm>
            <a:off x="10148468" y="4489704"/>
            <a:ext cx="164592" cy="164592"/>
          </a:xfrm>
          <a:prstGeom prst="diamond">
            <a:avLst/>
          </a:prstGeom>
          <a:solidFill>
            <a:srgbClr val="F2A900"/>
          </a:solidFill>
          <a:ln>
            <a:noFill/>
          </a:ln>
        </p:spPr>
        <p:txBody>
          <a:bodyPr rtlCol="0" anchor="ctr"/>
          <a:lstStyle/>
          <a:p>
            <a:pPr algn="ctr"/>
          </a:p>
        </p:txBody>
      </p:sp>
      <p:sp>
        <p:nvSpPr>
          <p:cNvPr id="45" name="Diamond 44"/>
          <p:cNvSpPr/>
          <p:nvPr/>
        </p:nvSpPr>
        <p:spPr>
          <a:xfrm>
            <a:off x="11579504" y="4489704"/>
            <a:ext cx="164592" cy="164592"/>
          </a:xfrm>
          <a:prstGeom prst="diamond">
            <a:avLst/>
          </a:prstGeom>
          <a:solidFill>
            <a:srgbClr val="F2A900"/>
          </a:solidFill>
          <a:ln>
            <a:noFill/>
          </a:ln>
        </p:spPr>
        <p:txBody>
          <a:bodyPr rtlCol="0" anchor="ctr"/>
          <a:lstStyle/>
          <a:p>
            <a:pPr algn="ctr"/>
          </a:p>
        </p:txBody>
      </p:sp>
      <p:sp>
        <p:nvSpPr>
          <p:cNvPr id="46" name="Rectangle 45"/>
          <p:cNvSpPr/>
          <p:nvPr/>
        </p:nvSpPr>
        <p:spPr>
          <a:xfrm>
            <a:off x="384048" y="4773168"/>
            <a:ext cx="11420856" cy="347472"/>
          </a:xfrm>
          <a:prstGeom prst="rect">
            <a:avLst/>
          </a:prstGeom>
          <a:solidFill>
            <a:srgbClr val="F2F2F2"/>
          </a:solidFill>
          <a:ln>
            <a:noFill/>
          </a:ln>
        </p:spPr>
        <p:txBody>
          <a:bodyPr rtlCol="0" anchor="ctr"/>
          <a:lstStyle/>
          <a:p>
            <a:pPr algn="ctr"/>
          </a:p>
        </p:txBody>
      </p:sp>
      <p:sp>
        <p:nvSpPr>
          <p:cNvPr id="47" name="TextBox 46"/>
          <p:cNvSpPr txBox="1"/>
          <p:nvPr/>
        </p:nvSpPr>
        <p:spPr>
          <a:xfrm>
            <a:off x="457200" y="4773168"/>
            <a:ext cx="2743200" cy="347472"/>
          </a:xfrm>
          <a:prstGeom prst="rect">
            <a:avLst/>
          </a:prstGeom>
          <a:noFill/>
        </p:spPr>
        <p:txBody>
          <a:bodyPr wrap="square" anchor="ctr" lIns="36576" rIns="36576" tIns="21945" bIns="21945">
            <a:spAutoFit/>
          </a:bodyPr>
          <a:lstStyle/>
          <a:p>
            <a:pPr algn="l">
              <a:spcAft>
                <a:spcPts val="0"/>
              </a:spcAft>
            </a:pPr>
            <a:r>
              <a:rPr sz="950" b="1" i="0">
                <a:solidFill>
                  <a:srgbClr val="1F497D"/>
                </a:solidFill>
                <a:latin typeface="Arial"/>
              </a:rPr>
              <a:t>Knowledge transfer and launch</a:t>
            </a:r>
          </a:p>
        </p:txBody>
      </p:sp>
      <p:sp>
        <p:nvSpPr>
          <p:cNvPr id="48" name="Rectangle 47"/>
          <p:cNvSpPr/>
          <p:nvPr/>
        </p:nvSpPr>
        <p:spPr>
          <a:xfrm>
            <a:off x="8979408" y="4828031"/>
            <a:ext cx="2788920" cy="237744"/>
          </a:xfrm>
          <a:prstGeom prst="rect">
            <a:avLst/>
          </a:prstGeom>
          <a:solidFill>
            <a:srgbClr val="7F7F7F"/>
          </a:solidFill>
          <a:ln>
            <a:noFill/>
          </a:ln>
        </p:spPr>
        <p:txBody>
          <a:bodyPr rtlCol="0" anchor="ctr" wrap="square" lIns="54864" rIns="54864" tIns="32918" bIns="32918"/>
          <a:lstStyle/>
          <a:p>
            <a:pPr algn="l">
              <a:spcAft>
                <a:spcPts val="0"/>
              </a:spcAft>
            </a:pPr>
            <a:r>
              <a:rPr sz="850" b="1" i="0">
                <a:solidFill>
                  <a:srgbClr val="FFFFFF"/>
                </a:solidFill>
                <a:latin typeface="Arial"/>
              </a:rPr>
              <a:t>Plan sessions; set launch date</a:t>
            </a:r>
          </a:p>
        </p:txBody>
      </p:sp>
      <p:cxnSp>
        <p:nvCxnSpPr>
          <p:cNvPr id="49" name="Connector 48"/>
          <p:cNvCxnSpPr/>
          <p:nvPr/>
        </p:nvCxnSpPr>
        <p:spPr>
          <a:xfrm>
            <a:off x="7297140" y="1645920"/>
            <a:ext cx="0" cy="3557016"/>
          </a:xfrm>
          <a:prstGeom prst="line">
            <a:avLst/>
          </a:prstGeom>
          <a:ln w="25400">
            <a:solidFill>
              <a:srgbClr val="D9262B"/>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82740" y="5202936"/>
            <a:ext cx="1828800" cy="274320"/>
          </a:xfrm>
          <a:prstGeom prst="rect">
            <a:avLst/>
          </a:prstGeom>
          <a:noFill/>
        </p:spPr>
        <p:txBody>
          <a:bodyPr wrap="square" anchor="t" lIns="36576" rIns="36576" tIns="21945" bIns="21945">
            <a:spAutoFit/>
          </a:bodyPr>
          <a:lstStyle/>
          <a:p>
            <a:pPr algn="ctr">
              <a:spcAft>
                <a:spcPts val="0"/>
              </a:spcAft>
            </a:pPr>
            <a:r>
              <a:rPr sz="850" b="1" i="0">
                <a:solidFill>
                  <a:srgbClr val="D9262B"/>
                </a:solidFill>
                <a:latin typeface="Arial"/>
              </a:rPr>
              <a:t>Contract end 31 Oct</a:t>
            </a:r>
          </a:p>
        </p:txBody>
      </p:sp>
      <p:sp>
        <p:nvSpPr>
          <p:cNvPr id="51" name="Diamond 50"/>
          <p:cNvSpPr/>
          <p:nvPr/>
        </p:nvSpPr>
        <p:spPr>
          <a:xfrm>
            <a:off x="429768" y="5266944"/>
            <a:ext cx="146304" cy="146304"/>
          </a:xfrm>
          <a:prstGeom prst="diamond">
            <a:avLst/>
          </a:prstGeom>
          <a:solidFill>
            <a:srgbClr val="F2A900"/>
          </a:solidFill>
          <a:ln>
            <a:noFill/>
          </a:ln>
        </p:spPr>
        <p:txBody>
          <a:bodyPr rtlCol="0" anchor="ctr"/>
          <a:lstStyle/>
          <a:p>
            <a:pPr algn="ctr"/>
          </a:p>
        </p:txBody>
      </p:sp>
      <p:sp>
        <p:nvSpPr>
          <p:cNvPr id="52" name="TextBox 51"/>
          <p:cNvSpPr txBox="1"/>
          <p:nvPr/>
        </p:nvSpPr>
        <p:spPr>
          <a:xfrm>
            <a:off x="612647" y="5202936"/>
            <a:ext cx="2286000" cy="274320"/>
          </a:xfrm>
          <a:prstGeom prst="rect">
            <a:avLst/>
          </a:prstGeom>
          <a:noFill/>
        </p:spPr>
        <p:txBody>
          <a:bodyPr wrap="square" anchor="t" lIns="36576" rIns="36576" tIns="21945" bIns="21945">
            <a:spAutoFit/>
          </a:bodyPr>
          <a:lstStyle/>
          <a:p>
            <a:pPr algn="l">
              <a:spcAft>
                <a:spcPts val="0"/>
              </a:spcAft>
            </a:pPr>
            <a:r>
              <a:rPr sz="850" b="0" i="0">
                <a:solidFill>
                  <a:srgbClr val="404040"/>
                </a:solidFill>
                <a:latin typeface="Arial"/>
              </a:rPr>
              <a:t>Milestone or decision point</a:t>
            </a:r>
          </a:p>
        </p:txBody>
      </p:sp>
      <p:sp>
        <p:nvSpPr>
          <p:cNvPr id="53" name="TextBox 52"/>
          <p:cNvSpPr txBox="1"/>
          <p:nvPr/>
        </p:nvSpPr>
        <p:spPr>
          <a:xfrm>
            <a:off x="384048" y="5541264"/>
            <a:ext cx="1828800" cy="274320"/>
          </a:xfrm>
          <a:prstGeom prst="rect">
            <a:avLst/>
          </a:prstGeom>
          <a:noFill/>
        </p:spPr>
        <p:txBody>
          <a:bodyPr wrap="square" anchor="t" lIns="36576" rIns="36576" tIns="21945" bIns="21945">
            <a:spAutoFit/>
          </a:bodyPr>
          <a:lstStyle/>
          <a:p>
            <a:pPr algn="l">
              <a:spcAft>
                <a:spcPts val="0"/>
              </a:spcAft>
            </a:pPr>
            <a:r>
              <a:rPr sz="950" b="1" i="0">
                <a:solidFill>
                  <a:srgbClr val="1F497D"/>
                </a:solidFill>
                <a:latin typeface="Arial"/>
              </a:rPr>
              <a:t>RISKS TO THE PLAN</a:t>
            </a:r>
          </a:p>
        </p:txBody>
      </p:sp>
      <p:sp>
        <p:nvSpPr>
          <p:cNvPr id="54" name="TextBox 53"/>
          <p:cNvSpPr txBox="1"/>
          <p:nvPr/>
        </p:nvSpPr>
        <p:spPr>
          <a:xfrm>
            <a:off x="384048" y="5815583"/>
            <a:ext cx="3749039" cy="502920"/>
          </a:xfrm>
          <a:prstGeom prst="rect">
            <a:avLst/>
          </a:prstGeom>
          <a:noFill/>
        </p:spPr>
        <p:txBody>
          <a:bodyPr wrap="square" anchor="t" lIns="36576" rIns="36576" tIns="21945" bIns="21945">
            <a:spAutoFit/>
          </a:bodyPr>
          <a:lstStyle/>
          <a:p>
            <a:pPr algn="l">
              <a:spcAft>
                <a:spcPts val="0"/>
              </a:spcAft>
            </a:pPr>
            <a:r>
              <a:rPr sz="900" b="1" i="0">
                <a:solidFill>
                  <a:srgbClr val="D9262B"/>
                </a:solidFill>
                <a:latin typeface="Arial"/>
              </a:rPr>
              <a:t>Contract term: </a:t>
            </a:r>
            <a:r>
              <a:rPr sz="900" b="0" i="0">
                <a:solidFill>
                  <a:srgbClr val="404040"/>
                </a:solidFill>
                <a:latin typeface="Arial"/>
              </a:rPr>
              <a:t>No extension by 31 Oct stops work; raise with Wesgro this week.</a:t>
            </a:r>
          </a:p>
        </p:txBody>
      </p:sp>
      <p:sp>
        <p:nvSpPr>
          <p:cNvPr id="55" name="TextBox 54"/>
          <p:cNvSpPr txBox="1"/>
          <p:nvPr/>
        </p:nvSpPr>
        <p:spPr>
          <a:xfrm>
            <a:off x="4197096" y="5815583"/>
            <a:ext cx="3749039" cy="502920"/>
          </a:xfrm>
          <a:prstGeom prst="rect">
            <a:avLst/>
          </a:prstGeom>
          <a:noFill/>
        </p:spPr>
        <p:txBody>
          <a:bodyPr wrap="square" anchor="t" lIns="36576" rIns="36576" tIns="21945" bIns="21945">
            <a:spAutoFit/>
          </a:bodyPr>
          <a:lstStyle/>
          <a:p>
            <a:pPr algn="l">
              <a:spcAft>
                <a:spcPts val="0"/>
              </a:spcAft>
            </a:pPr>
            <a:r>
              <a:rPr sz="900" b="1" i="0">
                <a:solidFill>
                  <a:srgbClr val="D9262B"/>
                </a:solidFill>
                <a:latin typeface="Arial"/>
              </a:rPr>
              <a:t>Access to stakeholders: </a:t>
            </a:r>
            <a:r>
              <a:rPr sz="900" b="0" i="0">
                <a:solidFill>
                  <a:srgbClr val="404040"/>
                </a:solidFill>
                <a:latin typeface="Arial"/>
              </a:rPr>
              <a:t>Airlines, DHA and SA Tourism may not engage in time; use written inputs.</a:t>
            </a:r>
          </a:p>
        </p:txBody>
      </p:sp>
      <p:sp>
        <p:nvSpPr>
          <p:cNvPr id="56" name="TextBox 55"/>
          <p:cNvSpPr txBox="1"/>
          <p:nvPr/>
        </p:nvSpPr>
        <p:spPr>
          <a:xfrm>
            <a:off x="8010144" y="5815583"/>
            <a:ext cx="3749039" cy="502920"/>
          </a:xfrm>
          <a:prstGeom prst="rect">
            <a:avLst/>
          </a:prstGeom>
          <a:noFill/>
        </p:spPr>
        <p:txBody>
          <a:bodyPr wrap="square" anchor="t" lIns="36576" rIns="36576" tIns="21945" bIns="21945">
            <a:spAutoFit/>
          </a:bodyPr>
          <a:lstStyle/>
          <a:p>
            <a:pPr algn="l">
              <a:spcAft>
                <a:spcPts val="0"/>
              </a:spcAft>
            </a:pPr>
            <a:r>
              <a:rPr sz="900" b="1" i="0">
                <a:solidFill>
                  <a:srgbClr val="D9262B"/>
                </a:solidFill>
                <a:latin typeface="Arial"/>
              </a:rPr>
              <a:t>Data access: </a:t>
            </a:r>
            <a:r>
              <a:rPr sz="900" b="0" i="0">
                <a:solidFill>
                  <a:srgbClr val="404040"/>
                </a:solidFill>
                <a:latin typeface="Arial"/>
              </a:rPr>
              <a:t>Wesgro marketing and booking data may arrive late; lodge requests this week.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divider_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697480"/>
            <a:ext cx="12191695" cy="1463040"/>
          </a:xfrm>
          <a:prstGeom prst="rect">
            <a:avLst/>
          </a:prstGeom>
          <a:solidFill>
            <a:srgbClr val="009FDF">
              <a:alpha val="78000"/>
            </a:srgbClr>
          </a:solidFill>
          <a:ln>
            <a:noFill/>
          </a:ln>
        </p:spPr>
        <p:txBody>
          <a:bodyPr rtlCol="0" anchor="ctr"/>
          <a:lstStyle/>
          <a:p>
            <a:pPr algn="ctr"/>
          </a:p>
        </p:txBody>
      </p:sp>
      <p:sp>
        <p:nvSpPr>
          <p:cNvPr id="2" name="Title 1"/>
          <p:cNvSpPr>
            <a:spLocks noGrp="1"/>
          </p:cNvSpPr>
          <p:nvPr>
            <p:ph type="title"/>
          </p:nvPr>
        </p:nvSpPr>
        <p:spPr>
          <a:xfrm>
            <a:off x="1097280" y="2788920"/>
            <a:ext cx="10058400" cy="731520"/>
          </a:xfrm>
        </p:spPr>
        <p:txBody>
          <a:bodyPr anchor="ctr"/>
          <a:lstStyle/>
          <a:p>
            <a:pPr algn="l"/>
            <a:r>
              <a:rPr sz="3200" b="1" i="0">
                <a:solidFill>
                  <a:srgbClr val="FFFFFF"/>
                </a:solidFill>
                <a:latin typeface="Arial"/>
              </a:rPr>
              <a:t>Appendix</a:t>
            </a:r>
          </a:p>
        </p:txBody>
      </p:sp>
      <p:sp>
        <p:nvSpPr>
          <p:cNvPr id="5" name="TextBox 4"/>
          <p:cNvSpPr txBox="1"/>
          <p:nvPr/>
        </p:nvSpPr>
        <p:spPr>
          <a:xfrm>
            <a:off x="1097280" y="3520440"/>
            <a:ext cx="10058400" cy="457200"/>
          </a:xfrm>
          <a:prstGeom prst="rect">
            <a:avLst/>
          </a:prstGeom>
          <a:noFill/>
        </p:spPr>
        <p:txBody>
          <a:bodyPr wrap="square" anchor="t" lIns="36576" rIns="36576" tIns="21945" bIns="21945">
            <a:spAutoFit/>
          </a:bodyPr>
          <a:lstStyle/>
          <a:p>
            <a:pPr algn="l">
              <a:spcAft>
                <a:spcPts val="0"/>
              </a:spcAft>
            </a:pPr>
            <a:r>
              <a:rPr sz="1400" b="0" i="0">
                <a:solidFill>
                  <a:srgbClr val="FFFFFF"/>
                </a:solidFill>
                <a:latin typeface="Arial"/>
              </a:rPr>
              <a:t>Evidence tables, baselines, input register and data issues</a:t>
            </a:r>
          </a:p>
        </p:txBody>
      </p:sp>
      <p:sp>
        <p:nvSpPr>
          <p:cNvPr id="6" name="TextBox 5"/>
          <p:cNvSpPr txBox="1"/>
          <p:nvPr/>
        </p:nvSpPr>
        <p:spPr>
          <a:xfrm>
            <a:off x="411480" y="2788920"/>
            <a:ext cx="731520" cy="731520"/>
          </a:xfrm>
          <a:prstGeom prst="rect">
            <a:avLst/>
          </a:prstGeom>
          <a:noFill/>
        </p:spPr>
        <p:txBody>
          <a:bodyPr wrap="square" anchor="ctr" lIns="36576" rIns="36576" tIns="21945" bIns="21945">
            <a:spAutoFit/>
          </a:bodyPr>
          <a:lstStyle/>
          <a:p>
            <a:pPr algn="l">
              <a:spcAft>
                <a:spcPts val="400"/>
              </a:spcAft>
            </a:pPr>
            <a:r>
              <a:rPr sz="3200" b="0" i="0">
                <a:solidFill>
                  <a:srgbClr val="FFFFFF"/>
                </a:solidFill>
                <a:latin typeface="Arial"/>
              </a:rPr>
              <a:t>07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Evidence behind each verdict, with sources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EVIDENCE BY FOCUS AREA (1 OF 2)</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As cited per row</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727448"/>
        </p:xfrm>
        <a:graphic>
          <a:graphicData uri="http://schemas.openxmlformats.org/drawingml/2006/table">
            <a:tbl>
              <a:tblPr firstRow="1" bandRow="0">
                <a:tableStyleId>{5C22544A-7EE6-4342-B048-85BDC9FD1C3A}</a:tableStyleId>
              </a:tblPr>
              <a:tblGrid>
                <a:gridCol w="411480"/>
                <a:gridCol w="2286000"/>
                <a:gridCol w="1188720"/>
                <a:gridCol w="731520"/>
                <a:gridCol w="4572000"/>
                <a:gridCol w="2231136"/>
              </a:tblGrid>
              <a:tr h="429768">
                <a:tc>
                  <a:txBody>
                    <a:bodyPr wrap="square"/>
                    <a:lstStyle/>
                    <a:p>
                      <a:pPr algn="l"/>
                      <a:r>
                        <a:rPr sz="900" b="1" i="0">
                          <a:solidFill>
                            <a:srgbClr val="FFFFFF"/>
                          </a:solidFill>
                          <a:latin typeface="Arial"/>
                        </a:rPr>
                        <a:t>Ref</a:t>
                      </a:r>
                    </a:p>
                  </a:txBody>
                  <a:tcPr marL="54864" marR="54864" marT="27432" marB="27432" anchor="ctr">
                    <a:solidFill>
                      <a:srgbClr val="1F497D"/>
                    </a:solidFill>
                  </a:tcPr>
                </a:tc>
                <a:tc>
                  <a:txBody>
                    <a:bodyPr wrap="square"/>
                    <a:lstStyle/>
                    <a:p>
                      <a:pPr algn="l"/>
                      <a:r>
                        <a:rPr sz="900" b="1" i="0">
                          <a:solidFill>
                            <a:srgbClr val="FFFFFF"/>
                          </a:solidFill>
                          <a:latin typeface="Arial"/>
                        </a:rPr>
                        <a:t>Focus area</a:t>
                      </a:r>
                    </a:p>
                  </a:txBody>
                  <a:tcPr marL="54864" marR="54864" marT="27432" marB="27432" anchor="ctr">
                    <a:solidFill>
                      <a:srgbClr val="1F497D"/>
                    </a:solidFill>
                  </a:tcPr>
                </a:tc>
                <a:tc>
                  <a:txBody>
                    <a:bodyPr wrap="square"/>
                    <a:lstStyle/>
                    <a:p>
                      <a:pPr algn="l"/>
                      <a:r>
                        <a:rPr sz="900" b="1" i="0">
                          <a:solidFill>
                            <a:srgbClr val="FFFFFF"/>
                          </a:solidFill>
                          <a:latin typeface="Arial"/>
                        </a:rPr>
                        <a:t>Verdict</a:t>
                      </a:r>
                    </a:p>
                  </a:txBody>
                  <a:tcPr marL="54864" marR="54864" marT="27432" marB="27432" anchor="ctr">
                    <a:solidFill>
                      <a:srgbClr val="1F497D"/>
                    </a:solidFill>
                  </a:tcPr>
                </a:tc>
                <a:tc>
                  <a:txBody>
                    <a:bodyPr wrap="square"/>
                    <a:lstStyle/>
                    <a:p>
                      <a:pPr algn="l"/>
                      <a:r>
                        <a:rPr sz="900" b="1" i="0">
                          <a:solidFill>
                            <a:srgbClr val="FFFFFF"/>
                          </a:solidFill>
                          <a:latin typeface="Arial"/>
                        </a:rPr>
                        <a:t>Evidence</a:t>
                      </a:r>
                    </a:p>
                  </a:txBody>
                  <a:tcPr marL="54864" marR="54864" marT="27432" marB="27432" anchor="ctr">
                    <a:solidFill>
                      <a:srgbClr val="1F497D"/>
                    </a:solidFill>
                  </a:tcPr>
                </a:tc>
                <a:tc>
                  <a:txBody>
                    <a:bodyPr wrap="square"/>
                    <a:lstStyle/>
                    <a:p>
                      <a:pPr algn="l"/>
                      <a:r>
                        <a:rPr sz="900" b="1" i="0">
                          <a:solidFill>
                            <a:srgbClr val="FFFFFF"/>
                          </a:solidFill>
                          <a:latin typeface="Arial"/>
                        </a:rPr>
                        <a:t>Key evidence</a:t>
                      </a:r>
                    </a:p>
                  </a:txBody>
                  <a:tcPr marL="54864" marR="54864" marT="27432" marB="27432" anchor="ctr">
                    <a:solidFill>
                      <a:srgbClr val="1F497D"/>
                    </a:solidFill>
                  </a:tcPr>
                </a:tc>
                <a:tc>
                  <a:txBody>
                    <a:bodyPr wrap="square"/>
                    <a:lstStyle/>
                    <a:p>
                      <a:pPr algn="l"/>
                      <a:r>
                        <a:rPr sz="900" b="1" i="0">
                          <a:solidFill>
                            <a:srgbClr val="FFFFFF"/>
                          </a:solidFill>
                          <a:latin typeface="Arial"/>
                        </a:rPr>
                        <a:t>Source</a:t>
                      </a:r>
                    </a:p>
                  </a:txBody>
                  <a:tcPr marL="54864" marR="54864" marT="27432" marB="27432" anchor="ctr">
                    <a:solidFill>
                      <a:srgbClr val="1F497D"/>
                    </a:solidFill>
                  </a:tcPr>
                </a:tc>
              </a:tr>
              <a:tr h="429768">
                <a:tc>
                  <a:txBody>
                    <a:bodyPr wrap="square"/>
                    <a:lstStyle/>
                    <a:p>
                      <a:pPr algn="l"/>
                      <a:r>
                        <a:rPr sz="900" b="0" i="0">
                          <a:solidFill>
                            <a:srgbClr val="7F7F7F"/>
                          </a:solidFill>
                          <a:latin typeface="Arial"/>
                        </a:rPr>
                        <a:t>1a</a:t>
                      </a:r>
                    </a:p>
                  </a:txBody>
                  <a:tcPr marL="54864" marR="54864" marT="27432" marB="27432" anchor="ctr">
                    <a:solidFill>
                      <a:srgbClr val="FFFFFF"/>
                    </a:solidFill>
                  </a:tcPr>
                </a:tc>
                <a:tc>
                  <a:txBody>
                    <a:bodyPr wrap="square"/>
                    <a:lstStyle/>
                    <a:p>
                      <a:pPr algn="l"/>
                      <a:r>
                        <a:rPr sz="900" b="1" i="0">
                          <a:solidFill>
                            <a:srgbClr val="1F497D"/>
                          </a:solidFill>
                          <a:latin typeface="Arial"/>
                        </a:rPr>
                        <a:t>Target the four priority high-value traveller segments</a:t>
                      </a:r>
                    </a:p>
                  </a:txBody>
                  <a:tcPr marL="54864" marR="54864" marT="27432" marB="27432" anchor="ctr">
                    <a:solidFill>
                      <a:srgbClr val="FFFFFF"/>
                    </a:solidFill>
                  </a:tcPr>
                </a:tc>
                <a:tc>
                  <a:txBody>
                    <a:bodyPr wrap="square"/>
                    <a:lstStyle/>
                    <a:p>
                      <a:pPr algn="l"/>
                      <a:r>
                        <a:rPr sz="90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900" b="0" i="0">
                          <a:solidFill>
                            <a:srgbClr val="404040"/>
                          </a:solidFill>
                          <a:latin typeface="Arial"/>
                        </a:rPr>
                        <a:t>Thin</a:t>
                      </a:r>
                    </a:p>
                  </a:txBody>
                  <a:tcPr marL="54864" marR="54864" marT="27432" marB="27432" anchor="ctr">
                    <a:solidFill>
                      <a:srgbClr val="FFFFFF"/>
                    </a:solidFill>
                  </a:tcPr>
                </a:tc>
                <a:tc>
                  <a:txBody>
                    <a:bodyPr wrap="square"/>
                    <a:lstStyle/>
                    <a:p>
                      <a:pPr algn="l"/>
                      <a:r>
                        <a:rPr sz="900" b="0" i="0">
                          <a:solidFill>
                            <a:srgbClr val="404040"/>
                          </a:solidFill>
                          <a:latin typeface="Arial"/>
                        </a:rPr>
                        <a:t>Four Skift segments are defined qualitatively; no sizing or market mapping has been delivered.</a:t>
                      </a:r>
                    </a:p>
                  </a:txBody>
                  <a:tcPr marL="54864" marR="54864" marT="27432" marB="27432" anchor="ctr">
                    <a:solidFill>
                      <a:srgbClr val="FFFFFF"/>
                    </a:solidFill>
                  </a:tcPr>
                </a:tc>
                <a:tc>
                  <a:txBody>
                    <a:bodyPr wrap="square"/>
                    <a:lstStyle/>
                    <a:p>
                      <a:pPr algn="l"/>
                      <a:r>
                        <a:rPr sz="800" b="0" i="0">
                          <a:solidFill>
                            <a:srgbClr val="7F7F7F"/>
                          </a:solidFill>
                          <a:latin typeface="Arial"/>
                        </a:rPr>
                        <a:t>Diagnostic pp16-20; Demand-Side p6-7</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1b</a:t>
                      </a:r>
                    </a:p>
                  </a:txBody>
                  <a:tcPr marL="54864" marR="54864" marT="27432" marB="27432" anchor="ctr">
                    <a:solidFill>
                      <a:srgbClr val="F2F2F2"/>
                    </a:solidFill>
                  </a:tcPr>
                </a:tc>
                <a:tc>
                  <a:txBody>
                    <a:bodyPr wrap="square"/>
                    <a:lstStyle/>
                    <a:p>
                      <a:pPr algn="l"/>
                      <a:r>
                        <a:rPr sz="900" b="1" i="0">
                          <a:solidFill>
                            <a:srgbClr val="1F497D"/>
                          </a:solidFill>
                          <a:latin typeface="Arial"/>
                        </a:rPr>
                        <a:t>Extend Cape Town's brand equity to the province</a:t>
                      </a:r>
                    </a:p>
                  </a:txBody>
                  <a:tcPr marL="54864" marR="54864" marT="27432" marB="27432" anchor="ctr">
                    <a:solidFill>
                      <a:srgbClr val="F2F2F2"/>
                    </a:solidFill>
                  </a:tcPr>
                </a:tc>
                <a:tc>
                  <a:txBody>
                    <a:bodyPr wrap="square"/>
                    <a:lstStyle/>
                    <a:p>
                      <a:pPr algn="l"/>
                      <a:r>
                        <a:rPr sz="90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900" b="0" i="0">
                          <a:solidFill>
                            <a:srgbClr val="404040"/>
                          </a:solidFill>
                          <a:latin typeface="Arial"/>
                        </a:rPr>
                        <a:t>Thin</a:t>
                      </a:r>
                    </a:p>
                  </a:txBody>
                  <a:tcPr marL="54864" marR="54864" marT="27432" marB="27432" anchor="ctr">
                    <a:solidFill>
                      <a:srgbClr val="F2F2F2"/>
                    </a:solidFill>
                  </a:tcPr>
                </a:tc>
                <a:tc>
                  <a:txBody>
                    <a:bodyPr wrap="square"/>
                    <a:lstStyle/>
                    <a:p>
                      <a:pPr algn="l"/>
                      <a:r>
                        <a:rPr sz="900" b="0" i="0">
                          <a:solidFill>
                            <a:srgbClr val="404040"/>
                          </a:solidFill>
                          <a:latin typeface="Arial"/>
                        </a:rPr>
                        <a:t>Rural assets are unknown and unbookable; no brand health or campaign data exists.</a:t>
                      </a:r>
                    </a:p>
                  </a:txBody>
                  <a:tcPr marL="54864" marR="54864" marT="27432" marB="27432" anchor="ctr">
                    <a:solidFill>
                      <a:srgbClr val="F2F2F2"/>
                    </a:solidFill>
                  </a:tcPr>
                </a:tc>
                <a:tc>
                  <a:txBody>
                    <a:bodyPr wrap="square"/>
                    <a:lstStyle/>
                    <a:p>
                      <a:pPr algn="l"/>
                      <a:r>
                        <a:rPr sz="800" b="0" i="0">
                          <a:solidFill>
                            <a:srgbClr val="7F7F7F"/>
                          </a:solidFill>
                          <a:latin typeface="Arial"/>
                        </a:rPr>
                        <a:t>Infrastructure Report pp31-34; Stakeholder Insights p26</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1c</a:t>
                      </a:r>
                    </a:p>
                  </a:txBody>
                  <a:tcPr marL="54864" marR="54864" marT="27432" marB="27432" anchor="ctr">
                    <a:solidFill>
                      <a:srgbClr val="FFFFFF"/>
                    </a:solidFill>
                  </a:tcPr>
                </a:tc>
                <a:tc>
                  <a:txBody>
                    <a:bodyPr wrap="square"/>
                    <a:lstStyle/>
                    <a:p>
                      <a:pPr algn="l"/>
                      <a:r>
                        <a:rPr sz="900" b="1" i="0">
                          <a:solidFill>
                            <a:srgbClr val="1F497D"/>
                          </a:solidFill>
                          <a:latin typeface="Arial"/>
                        </a:rPr>
                        <a:t>Flatten seasonality with MICE and regional spread</a:t>
                      </a:r>
                    </a:p>
                  </a:txBody>
                  <a:tcPr marL="54864" marR="54864" marT="27432" marB="27432" anchor="ctr">
                    <a:solidFill>
                      <a:srgbClr val="FFFFFF"/>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Airlines cut international seats to 6.4% of the year in June against 10.8% in December; ICCA meetings peak Sep-Nov.</a:t>
                      </a:r>
                    </a:p>
                  </a:txBody>
                  <a:tcPr marL="54864" marR="54864" marT="27432" marB="27432" anchor="ctr">
                    <a:solidFill>
                      <a:srgbClr val="FFFFFF"/>
                    </a:solidFill>
                  </a:tcPr>
                </a:tc>
                <a:tc>
                  <a:txBody>
                    <a:bodyPr wrap="square"/>
                    <a:lstStyle/>
                    <a:p>
                      <a:pPr algn="l"/>
                      <a:r>
                        <a:rPr sz="800" b="0" i="0">
                          <a:solidFill>
                            <a:srgbClr val="7F7F7F"/>
                          </a:solidFill>
                          <a:latin typeface="Arial"/>
                        </a:rPr>
                        <a:t>MIDAS p15; Demand-Side p37; Stakeholder Insights p45; Benchmark pp13-15 (Melbourne)</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1d</a:t>
                      </a:r>
                    </a:p>
                  </a:txBody>
                  <a:tcPr marL="54864" marR="54864" marT="27432" marB="27432" anchor="ctr">
                    <a:solidFill>
                      <a:srgbClr val="F2F2F2"/>
                    </a:solidFill>
                  </a:tcPr>
                </a:tc>
                <a:tc>
                  <a:txBody>
                    <a:bodyPr wrap="square"/>
                    <a:lstStyle/>
                    <a:p>
                      <a:pPr algn="l"/>
                      <a:r>
                        <a:rPr sz="900" b="1" i="0">
                          <a:solidFill>
                            <a:srgbClr val="1F497D"/>
                          </a:solidFill>
                          <a:latin typeface="Arial"/>
                        </a:rPr>
                        <a:t>Embed the destination in market-native booking platforms</a:t>
                      </a:r>
                    </a:p>
                  </a:txBody>
                  <a:tcPr marL="54864" marR="54864" marT="27432" marB="27432" anchor="ctr">
                    <a:solidFill>
                      <a:srgbClr val="F2F2F2"/>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Most rural properties have no OTA presence; 70% of CapeNature bookings come by phone.</a:t>
                      </a:r>
                    </a:p>
                  </a:txBody>
                  <a:tcPr marL="54864" marR="54864" marT="27432" marB="27432" anchor="ctr">
                    <a:solidFill>
                      <a:srgbClr val="F2F2F2"/>
                    </a:solidFill>
                  </a:tcPr>
                </a:tc>
                <a:tc>
                  <a:txBody>
                    <a:bodyPr wrap="square"/>
                    <a:lstStyle/>
                    <a:p>
                      <a:pPr algn="l"/>
                      <a:r>
                        <a:rPr sz="800" b="0" i="0">
                          <a:solidFill>
                            <a:srgbClr val="7F7F7F"/>
                          </a:solidFill>
                          <a:latin typeface="Arial"/>
                        </a:rPr>
                        <a:t>Infrastructure Report p33; Stakeholder Insights p42; Demand-Side pp45-50</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1e</a:t>
                      </a:r>
                    </a:p>
                  </a:txBody>
                  <a:tcPr marL="54864" marR="54864" marT="27432" marB="27432" anchor="ctr">
                    <a:solidFill>
                      <a:srgbClr val="FFFFFF"/>
                    </a:solidFill>
                  </a:tcPr>
                </a:tc>
                <a:tc>
                  <a:txBody>
                    <a:bodyPr wrap="square"/>
                    <a:lstStyle/>
                    <a:p>
                      <a:pPr algn="l"/>
                      <a:r>
                        <a:rPr sz="900" b="1" i="0">
                          <a:solidFill>
                            <a:srgbClr val="1F497D"/>
                          </a:solidFill>
                          <a:latin typeface="Arial"/>
                        </a:rPr>
                        <a:t>Grow priority markets (India, China, Gulf, ASEAN)</a:t>
                      </a:r>
                    </a:p>
                  </a:txBody>
                  <a:tcPr marL="54864" marR="54864" marT="27432" marB="27432" anchor="ctr">
                    <a:solidFill>
                      <a:srgbClr val="FFFFFF"/>
                    </a:solidFill>
                  </a:tcPr>
                </a:tc>
                <a:tc>
                  <a:txBody>
                    <a:bodyPr wrap="square"/>
                    <a:lstStyle/>
                    <a:p>
                      <a:pPr algn="l"/>
                      <a:r>
                        <a:rPr sz="90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An estimated 71,000 India and 30,000 China passenger journeys route to and from Cape Town via hubs (GDS, 2025); no direct route before ~2030.</a:t>
                      </a:r>
                    </a:p>
                  </a:txBody>
                  <a:tcPr marL="54864" marR="54864" marT="27432" marB="27432" anchor="ctr">
                    <a:solidFill>
                      <a:srgbClr val="FFFFFF"/>
                    </a:solidFill>
                  </a:tcPr>
                </a:tc>
                <a:tc>
                  <a:txBody>
                    <a:bodyPr wrap="square"/>
                    <a:lstStyle/>
                    <a:p>
                      <a:pPr algn="l"/>
                      <a:r>
                        <a:rPr sz="800" b="0" i="0">
                          <a:solidFill>
                            <a:srgbClr val="7F7F7F"/>
                          </a:solidFill>
                          <a:latin typeface="Arial"/>
                        </a:rPr>
                        <a:t>MIDAS pp3, 18-19; Demand-Side pp45-50</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1f</a:t>
                      </a:r>
                    </a:p>
                  </a:txBody>
                  <a:tcPr marL="54864" marR="54864" marT="27432" marB="27432" anchor="ctr">
                    <a:solidFill>
                      <a:srgbClr val="F2F2F2"/>
                    </a:solidFill>
                  </a:tcPr>
                </a:tc>
                <a:tc>
                  <a:txBody>
                    <a:bodyPr wrap="square"/>
                    <a:lstStyle/>
                    <a:p>
                      <a:pPr algn="l"/>
                      <a:r>
                        <a:rPr sz="900" b="1" i="0">
                          <a:solidFill>
                            <a:srgbClr val="1F497D"/>
                          </a:solidFill>
                          <a:latin typeface="Arial"/>
                        </a:rPr>
                        <a:t>Increase yield in mature markets (UK, Europe, N. America)</a:t>
                      </a:r>
                    </a:p>
                  </a:txBody>
                  <a:tcPr marL="54864" marR="54864" marT="27432" marB="27432" anchor="ctr">
                    <a:solidFill>
                      <a:srgbClr val="F2F2F2"/>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Newark, Atlanta, Heathrow and Frankfurt run at 83-89% estimated load; German seats are up 51% on 2019.</a:t>
                      </a:r>
                    </a:p>
                  </a:txBody>
                  <a:tcPr marL="54864" marR="54864" marT="27432" marB="27432" anchor="ctr">
                    <a:solidFill>
                      <a:srgbClr val="F2F2F2"/>
                    </a:solidFill>
                  </a:tcPr>
                </a:tc>
                <a:tc>
                  <a:txBody>
                    <a:bodyPr wrap="square"/>
                    <a:lstStyle/>
                    <a:p>
                      <a:pPr algn="l"/>
                      <a:r>
                        <a:rPr sz="800" b="0" i="0">
                          <a:solidFill>
                            <a:srgbClr val="7F7F7F"/>
                          </a:solidFill>
                          <a:latin typeface="Arial"/>
                        </a:rPr>
                        <a:t>MIDAS pp9, 17 (GDS-estimated load factors)</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1g</a:t>
                      </a:r>
                    </a:p>
                  </a:txBody>
                  <a:tcPr marL="54864" marR="54864" marT="27432" marB="27432" anchor="ctr">
                    <a:solidFill>
                      <a:srgbClr val="FFFFFF"/>
                    </a:solidFill>
                  </a:tcPr>
                </a:tc>
                <a:tc>
                  <a:txBody>
                    <a:bodyPr wrap="square"/>
                    <a:lstStyle/>
                    <a:p>
                      <a:pPr algn="l"/>
                      <a:r>
                        <a:rPr sz="900" b="1" i="0">
                          <a:solidFill>
                            <a:srgbClr val="1F497D"/>
                          </a:solidFill>
                          <a:latin typeface="Arial"/>
                        </a:rPr>
                        <a:t>Grow regional top-up and counter-seasonal demand (Africa)</a:t>
                      </a:r>
                    </a:p>
                  </a:txBody>
                  <a:tcPr marL="54864" marR="54864" marT="27432" marB="27432" anchor="ctr">
                    <a:solidFill>
                      <a:srgbClr val="FFFFFF"/>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Moderate</a:t>
                      </a:r>
                    </a:p>
                  </a:txBody>
                  <a:tcPr marL="54864" marR="54864" marT="27432" marB="27432" anchor="ctr">
                    <a:solidFill>
                      <a:srgbClr val="FFFFFF"/>
                    </a:solidFill>
                  </a:tcPr>
                </a:tc>
                <a:tc>
                  <a:txBody>
                    <a:bodyPr wrap="square"/>
                    <a:lstStyle/>
                    <a:p>
                      <a:pPr algn="l"/>
                      <a:r>
                        <a:rPr sz="900" b="0" i="0">
                          <a:solidFill>
                            <a:srgbClr val="404040"/>
                          </a:solidFill>
                          <a:latin typeface="Arial"/>
                        </a:rPr>
                        <a:t>Luanda, Maputo, Gaborone, Harare and Mauritius run above 81% estimated load; Nigeria, Kenya, Ghana lead addressable demand.</a:t>
                      </a:r>
                    </a:p>
                  </a:txBody>
                  <a:tcPr marL="54864" marR="54864" marT="27432" marB="27432" anchor="ctr">
                    <a:solidFill>
                      <a:srgbClr val="FFFFFF"/>
                    </a:solidFill>
                  </a:tcPr>
                </a:tc>
                <a:tc>
                  <a:txBody>
                    <a:bodyPr wrap="square"/>
                    <a:lstStyle/>
                    <a:p>
                      <a:pPr algn="l"/>
                      <a:r>
                        <a:rPr sz="800" b="0" i="0">
                          <a:solidFill>
                            <a:srgbClr val="7F7F7F"/>
                          </a:solidFill>
                          <a:latin typeface="Arial"/>
                        </a:rPr>
                        <a:t>MIDAS p17; Demand-Side pp27-30</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2a</a:t>
                      </a:r>
                    </a:p>
                  </a:txBody>
                  <a:tcPr marL="54864" marR="54864" marT="27432" marB="27432" anchor="ctr">
                    <a:solidFill>
                      <a:srgbClr val="F2F2F2"/>
                    </a:solidFill>
                  </a:tcPr>
                </a:tc>
                <a:tc>
                  <a:txBody>
                    <a:bodyPr wrap="square"/>
                    <a:lstStyle/>
                    <a:p>
                      <a:pPr algn="l"/>
                      <a:r>
                        <a:rPr sz="900" b="1" i="0">
                          <a:solidFill>
                            <a:srgbClr val="1F497D"/>
                          </a:solidFill>
                          <a:latin typeface="Arial"/>
                        </a:rPr>
                        <a:t>Close the air access and cruise capacity gaps</a:t>
                      </a:r>
                    </a:p>
                  </a:txBody>
                  <a:tcPr marL="54864" marR="54864" marT="27432" marB="27432" anchor="ctr">
                    <a:solidFill>
                      <a:srgbClr val="F2F2F2"/>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17 new mainline routes (2015-25) lead the peer group; cruise calls reached 79 in 2024/25; airlines now prefer fares to seats and bilaterals cap airlift.</a:t>
                      </a:r>
                    </a:p>
                  </a:txBody>
                  <a:tcPr marL="54864" marR="54864" marT="27432" marB="27432" anchor="ctr">
                    <a:solidFill>
                      <a:srgbClr val="F2F2F2"/>
                    </a:solidFill>
                  </a:tcPr>
                </a:tc>
                <a:tc>
                  <a:txBody>
                    <a:bodyPr wrap="square"/>
                    <a:lstStyle/>
                    <a:p>
                      <a:pPr algn="l"/>
                      <a:r>
                        <a:rPr sz="800" b="0" i="0">
                          <a:solidFill>
                            <a:srgbClr val="7F7F7F"/>
                          </a:solidFill>
                          <a:latin typeface="Arial"/>
                        </a:rPr>
                        <a:t>MIDAS pp13, 22; Wesgro/StratEcon cruise report 2024/25 via mobility factbase; Stakeholder Insights p24</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2b</a:t>
                      </a:r>
                    </a:p>
                  </a:txBody>
                  <a:tcPr marL="54864" marR="54864" marT="27432" marB="27432" anchor="ctr">
                    <a:solidFill>
                      <a:srgbClr val="FFFFFF"/>
                    </a:solidFill>
                  </a:tcPr>
                </a:tc>
                <a:tc>
                  <a:txBody>
                    <a:bodyPr wrap="square"/>
                    <a:lstStyle/>
                    <a:p>
                      <a:pPr algn="l"/>
                      <a:r>
                        <a:rPr sz="900" b="1" i="0">
                          <a:solidFill>
                            <a:srgbClr val="1F497D"/>
                          </a:solidFill>
                          <a:latin typeface="Arial"/>
                        </a:rPr>
                        <a:t>Accelerate tourism-enabling internal mobility</a:t>
                      </a:r>
                    </a:p>
                  </a:txBody>
                  <a:tcPr marL="54864" marR="54864" marT="27432" marB="27432" anchor="ctr">
                    <a:solidFill>
                      <a:srgbClr val="FFFFFF"/>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Accessibility scores fall from 4.7 (Metro) to 1.0 (Central Karoo); tourists use public transport for 1.6% of trips.</a:t>
                      </a:r>
                    </a:p>
                  </a:txBody>
                  <a:tcPr marL="54864" marR="54864" marT="27432" marB="27432" anchor="ctr">
                    <a:solidFill>
                      <a:srgbClr val="FFFFFF"/>
                    </a:solidFill>
                  </a:tcPr>
                </a:tc>
                <a:tc>
                  <a:txBody>
                    <a:bodyPr wrap="square"/>
                    <a:lstStyle/>
                    <a:p>
                      <a:pPr algn="l"/>
                      <a:r>
                        <a:rPr sz="800" b="0" i="0">
                          <a:solidFill>
                            <a:srgbClr val="7F7F7F"/>
                          </a:solidFill>
                          <a:latin typeface="Arial"/>
                        </a:rPr>
                        <a:t>Infrastructure Report p29; WCG draft PLTF 2024/25 p12-1 via mobility factbase</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2c</a:t>
                      </a:r>
                    </a:p>
                  </a:txBody>
                  <a:tcPr marL="54864" marR="54864" marT="27432" marB="27432" anchor="ctr">
                    <a:solidFill>
                      <a:srgbClr val="F2F2F2"/>
                    </a:solidFill>
                  </a:tcPr>
                </a:tc>
                <a:tc>
                  <a:txBody>
                    <a:bodyPr wrap="square"/>
                    <a:lstStyle/>
                    <a:p>
                      <a:pPr algn="l"/>
                      <a:r>
                        <a:rPr sz="900" b="1" i="0">
                          <a:solidFill>
                            <a:srgbClr val="1F497D"/>
                          </a:solidFill>
                          <a:latin typeface="Arial"/>
                        </a:rPr>
                        <a:t>Lead removal of infrastructure, visa and safety deficits</a:t>
                      </a:r>
                    </a:p>
                  </a:txBody>
                  <a:tcPr marL="54864" marR="54864" marT="27432" marB="27432" anchor="ctr">
                    <a:solidFill>
                      <a:srgbClr val="F2F2F2"/>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Safety-perception gaps in 9 of 20 priority communities; the first-year eVisa approved 440 of 13,887 applications.</a:t>
                      </a:r>
                    </a:p>
                  </a:txBody>
                  <a:tcPr marL="54864" marR="54864" marT="27432" marB="27432" anchor="ctr">
                    <a:solidFill>
                      <a:srgbClr val="F2F2F2"/>
                    </a:solidFill>
                  </a:tcPr>
                </a:tc>
                <a:tc>
                  <a:txBody>
                    <a:bodyPr wrap="square"/>
                    <a:lstStyle/>
                    <a:p>
                      <a:pPr algn="l"/>
                      <a:r>
                        <a:rPr sz="800" b="0" i="0">
                          <a:solidFill>
                            <a:srgbClr val="7F7F7F"/>
                          </a:solidFill>
                          <a:latin typeface="Arial"/>
                        </a:rPr>
                        <a:t>SME plan p27; BDO visa study via mobility factbase</a:t>
                      </a:r>
                    </a:p>
                  </a:txBody>
                  <a:tcPr marL="54864" marR="54864" marT="27432" marB="27432" anchor="ctr">
                    <a:solidFill>
                      <a:srgbClr val="F2F2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Evidence behind each verdict, with sources (continued)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EVIDENCE BY FOCUS AREA (2 OF 2)</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As cited per row</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727448"/>
        </p:xfrm>
        <a:graphic>
          <a:graphicData uri="http://schemas.openxmlformats.org/drawingml/2006/table">
            <a:tbl>
              <a:tblPr firstRow="1" bandRow="0">
                <a:tableStyleId>{5C22544A-7EE6-4342-B048-85BDC9FD1C3A}</a:tableStyleId>
              </a:tblPr>
              <a:tblGrid>
                <a:gridCol w="411480"/>
                <a:gridCol w="2286000"/>
                <a:gridCol w="1188720"/>
                <a:gridCol w="731520"/>
                <a:gridCol w="4572000"/>
                <a:gridCol w="2231136"/>
              </a:tblGrid>
              <a:tr h="429768">
                <a:tc>
                  <a:txBody>
                    <a:bodyPr wrap="square"/>
                    <a:lstStyle/>
                    <a:p>
                      <a:pPr algn="l"/>
                      <a:r>
                        <a:rPr sz="900" b="1" i="0">
                          <a:solidFill>
                            <a:srgbClr val="FFFFFF"/>
                          </a:solidFill>
                          <a:latin typeface="Arial"/>
                        </a:rPr>
                        <a:t>Ref</a:t>
                      </a:r>
                    </a:p>
                  </a:txBody>
                  <a:tcPr marL="54864" marR="54864" marT="27432" marB="27432" anchor="ctr">
                    <a:solidFill>
                      <a:srgbClr val="1F497D"/>
                    </a:solidFill>
                  </a:tcPr>
                </a:tc>
                <a:tc>
                  <a:txBody>
                    <a:bodyPr wrap="square"/>
                    <a:lstStyle/>
                    <a:p>
                      <a:pPr algn="l"/>
                      <a:r>
                        <a:rPr sz="900" b="1" i="0">
                          <a:solidFill>
                            <a:srgbClr val="FFFFFF"/>
                          </a:solidFill>
                          <a:latin typeface="Arial"/>
                        </a:rPr>
                        <a:t>Focus area</a:t>
                      </a:r>
                    </a:p>
                  </a:txBody>
                  <a:tcPr marL="54864" marR="54864" marT="27432" marB="27432" anchor="ctr">
                    <a:solidFill>
                      <a:srgbClr val="1F497D"/>
                    </a:solidFill>
                  </a:tcPr>
                </a:tc>
                <a:tc>
                  <a:txBody>
                    <a:bodyPr wrap="square"/>
                    <a:lstStyle/>
                    <a:p>
                      <a:pPr algn="l"/>
                      <a:r>
                        <a:rPr sz="900" b="1" i="0">
                          <a:solidFill>
                            <a:srgbClr val="FFFFFF"/>
                          </a:solidFill>
                          <a:latin typeface="Arial"/>
                        </a:rPr>
                        <a:t>Verdict</a:t>
                      </a:r>
                    </a:p>
                  </a:txBody>
                  <a:tcPr marL="54864" marR="54864" marT="27432" marB="27432" anchor="ctr">
                    <a:solidFill>
                      <a:srgbClr val="1F497D"/>
                    </a:solidFill>
                  </a:tcPr>
                </a:tc>
                <a:tc>
                  <a:txBody>
                    <a:bodyPr wrap="square"/>
                    <a:lstStyle/>
                    <a:p>
                      <a:pPr algn="l"/>
                      <a:r>
                        <a:rPr sz="900" b="1" i="0">
                          <a:solidFill>
                            <a:srgbClr val="FFFFFF"/>
                          </a:solidFill>
                          <a:latin typeface="Arial"/>
                        </a:rPr>
                        <a:t>Evidence</a:t>
                      </a:r>
                    </a:p>
                  </a:txBody>
                  <a:tcPr marL="54864" marR="54864" marT="27432" marB="27432" anchor="ctr">
                    <a:solidFill>
                      <a:srgbClr val="1F497D"/>
                    </a:solidFill>
                  </a:tcPr>
                </a:tc>
                <a:tc>
                  <a:txBody>
                    <a:bodyPr wrap="square"/>
                    <a:lstStyle/>
                    <a:p>
                      <a:pPr algn="l"/>
                      <a:r>
                        <a:rPr sz="900" b="1" i="0">
                          <a:solidFill>
                            <a:srgbClr val="FFFFFF"/>
                          </a:solidFill>
                          <a:latin typeface="Arial"/>
                        </a:rPr>
                        <a:t>Key evidence</a:t>
                      </a:r>
                    </a:p>
                  </a:txBody>
                  <a:tcPr marL="54864" marR="54864" marT="27432" marB="27432" anchor="ctr">
                    <a:solidFill>
                      <a:srgbClr val="1F497D"/>
                    </a:solidFill>
                  </a:tcPr>
                </a:tc>
                <a:tc>
                  <a:txBody>
                    <a:bodyPr wrap="square"/>
                    <a:lstStyle/>
                    <a:p>
                      <a:pPr algn="l"/>
                      <a:r>
                        <a:rPr sz="900" b="1" i="0">
                          <a:solidFill>
                            <a:srgbClr val="FFFFFF"/>
                          </a:solidFill>
                          <a:latin typeface="Arial"/>
                        </a:rPr>
                        <a:t>Source</a:t>
                      </a:r>
                    </a:p>
                  </a:txBody>
                  <a:tcPr marL="54864" marR="54864" marT="27432" marB="27432" anchor="ctr">
                    <a:solidFill>
                      <a:srgbClr val="1F497D"/>
                    </a:solidFill>
                  </a:tcPr>
                </a:tc>
              </a:tr>
              <a:tr h="429768">
                <a:tc>
                  <a:txBody>
                    <a:bodyPr wrap="square"/>
                    <a:lstStyle/>
                    <a:p>
                      <a:pPr algn="l"/>
                      <a:r>
                        <a:rPr sz="900" b="0" i="0">
                          <a:solidFill>
                            <a:srgbClr val="7F7F7F"/>
                          </a:solidFill>
                          <a:latin typeface="Arial"/>
                        </a:rPr>
                        <a:t>2d</a:t>
                      </a:r>
                    </a:p>
                  </a:txBody>
                  <a:tcPr marL="54864" marR="54864" marT="27432" marB="27432" anchor="ctr">
                    <a:solidFill>
                      <a:srgbClr val="FFFFFF"/>
                    </a:solidFill>
                  </a:tcPr>
                </a:tc>
                <a:tc>
                  <a:txBody>
                    <a:bodyPr wrap="square"/>
                    <a:lstStyle/>
                    <a:p>
                      <a:pPr algn="l"/>
                      <a:r>
                        <a:rPr sz="900" b="1" i="0">
                          <a:solidFill>
                            <a:srgbClr val="1F497D"/>
                          </a:solidFill>
                          <a:latin typeface="Arial"/>
                        </a:rPr>
                        <a:t>Support diversified route and product development</a:t>
                      </a:r>
                    </a:p>
                  </a:txBody>
                  <a:tcPr marL="54864" marR="54864" marT="27432" marB="27432" anchor="ctr">
                    <a:solidFill>
                      <a:srgbClr val="FFFFFF"/>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Overberg and West Coast marine and wildflower assets have no guided tours, interpretation or bookable product.</a:t>
                      </a:r>
                    </a:p>
                  </a:txBody>
                  <a:tcPr marL="54864" marR="54864" marT="27432" marB="27432" anchor="ctr">
                    <a:solidFill>
                      <a:srgbClr val="FFFFFF"/>
                    </a:solidFill>
                  </a:tcPr>
                </a:tc>
                <a:tc>
                  <a:txBody>
                    <a:bodyPr wrap="square"/>
                    <a:lstStyle/>
                    <a:p>
                      <a:pPr algn="l"/>
                      <a:r>
                        <a:rPr sz="800" b="0" i="0">
                          <a:solidFill>
                            <a:srgbClr val="7F7F7F"/>
                          </a:solidFill>
                          <a:latin typeface="Arial"/>
                        </a:rPr>
                        <a:t>Infrastructure Report pp31-34</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2e</a:t>
                      </a:r>
                    </a:p>
                  </a:txBody>
                  <a:tcPr marL="54864" marR="54864" marT="27432" marB="27432" anchor="ctr">
                    <a:solidFill>
                      <a:srgbClr val="F2F2F2"/>
                    </a:solidFill>
                  </a:tcPr>
                </a:tc>
                <a:tc>
                  <a:txBody>
                    <a:bodyPr wrap="square"/>
                    <a:lstStyle/>
                    <a:p>
                      <a:pPr algn="l"/>
                      <a:r>
                        <a:rPr sz="900" b="1" i="0">
                          <a:solidFill>
                            <a:srgbClr val="1F497D"/>
                          </a:solidFill>
                          <a:latin typeface="Arial"/>
                        </a:rPr>
                        <a:t>Align visitor experience in-destination</a:t>
                      </a:r>
                    </a:p>
                  </a:txBody>
                  <a:tcPr marL="54864" marR="54864" marT="27432" marB="27432" anchor="ctr">
                    <a:solidFill>
                      <a:srgbClr val="F2F2F2"/>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Moderate</a:t>
                      </a:r>
                    </a:p>
                  </a:txBody>
                  <a:tcPr marL="54864" marR="54864" marT="27432" marB="27432" anchor="ctr">
                    <a:solidFill>
                      <a:srgbClr val="F2F2F2"/>
                    </a:solidFill>
                  </a:tcPr>
                </a:tc>
                <a:tc>
                  <a:txBody>
                    <a:bodyPr wrap="square"/>
                    <a:lstStyle/>
                    <a:p>
                      <a:pPr algn="l"/>
                      <a:r>
                        <a:rPr sz="900" b="0" i="0">
                          <a:solidFill>
                            <a:srgbClr val="404040"/>
                          </a:solidFill>
                          <a:latin typeface="Arial"/>
                        </a:rPr>
                        <a:t>No mid-scale branded accommodation province-wide; peak Cableway queues reach three hours.</a:t>
                      </a:r>
                    </a:p>
                  </a:txBody>
                  <a:tcPr marL="54864" marR="54864" marT="27432" marB="27432" anchor="ctr">
                    <a:solidFill>
                      <a:srgbClr val="F2F2F2"/>
                    </a:solidFill>
                  </a:tcPr>
                </a:tc>
                <a:tc>
                  <a:txBody>
                    <a:bodyPr wrap="square"/>
                    <a:lstStyle/>
                    <a:p>
                      <a:pPr algn="l"/>
                      <a:r>
                        <a:rPr sz="800" b="0" i="0">
                          <a:solidFill>
                            <a:srgbClr val="7F7F7F"/>
                          </a:solidFill>
                          <a:latin typeface="Arial"/>
                        </a:rPr>
                        <a:t>Infrastructure Report p32; Stakeholder Insights p36</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2f</a:t>
                      </a:r>
                    </a:p>
                  </a:txBody>
                  <a:tcPr marL="54864" marR="54864" marT="27432" marB="27432" anchor="ctr">
                    <a:solidFill>
                      <a:srgbClr val="FFFFFF"/>
                    </a:solidFill>
                  </a:tcPr>
                </a:tc>
                <a:tc>
                  <a:txBody>
                    <a:bodyPr wrap="square"/>
                    <a:lstStyle/>
                    <a:p>
                      <a:pPr algn="l"/>
                      <a:r>
                        <a:rPr sz="900" b="1" i="0">
                          <a:solidFill>
                            <a:srgbClr val="1F497D"/>
                          </a:solidFill>
                          <a:latin typeface="Arial"/>
                        </a:rPr>
                        <a:t>Sustainably maximise nature-based and cultural attractions</a:t>
                      </a:r>
                    </a:p>
                  </a:txBody>
                  <a:tcPr marL="54864" marR="54864" marT="27432" marB="27432" anchor="ctr">
                    <a:solidFill>
                      <a:srgbClr val="FFFFFF"/>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Moderate</a:t>
                      </a:r>
                    </a:p>
                  </a:txBody>
                  <a:tcPr marL="54864" marR="54864" marT="27432" marB="27432" anchor="ctr">
                    <a:solidFill>
                      <a:srgbClr val="FFFFFF"/>
                    </a:solidFill>
                  </a:tcPr>
                </a:tc>
                <a:tc>
                  <a:txBody>
                    <a:bodyPr wrap="square"/>
                    <a:lstStyle/>
                    <a:p>
                      <a:pPr algn="l"/>
                      <a:r>
                        <a:rPr sz="900" b="0" i="0">
                          <a:solidFill>
                            <a:srgbClr val="404040"/>
                          </a:solidFill>
                          <a:latin typeface="Arial"/>
                        </a:rPr>
                        <a:t>Boulders and the Table Mountain summit are at capacity; under-marketed reserves sit nearby.</a:t>
                      </a:r>
                    </a:p>
                  </a:txBody>
                  <a:tcPr marL="54864" marR="54864" marT="27432" marB="27432" anchor="ctr">
                    <a:solidFill>
                      <a:srgbClr val="FFFFFF"/>
                    </a:solidFill>
                  </a:tcPr>
                </a:tc>
                <a:tc>
                  <a:txBody>
                    <a:bodyPr wrap="square"/>
                    <a:lstStyle/>
                    <a:p>
                      <a:pPr algn="l"/>
                      <a:r>
                        <a:rPr sz="800" b="0" i="0">
                          <a:solidFill>
                            <a:srgbClr val="7F7F7F"/>
                          </a:solidFill>
                          <a:latin typeface="Arial"/>
                        </a:rPr>
                        <a:t>Stakeholder Insights pp24, 36; Infrastructure Report p27</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3a</a:t>
                      </a:r>
                    </a:p>
                  </a:txBody>
                  <a:tcPr marL="54864" marR="54864" marT="27432" marB="27432" anchor="ctr">
                    <a:solidFill>
                      <a:srgbClr val="F2F2F2"/>
                    </a:solidFill>
                  </a:tcPr>
                </a:tc>
                <a:tc>
                  <a:txBody>
                    <a:bodyPr wrap="square"/>
                    <a:lstStyle/>
                    <a:p>
                      <a:pPr algn="l"/>
                      <a:r>
                        <a:rPr sz="900" b="1" i="0">
                          <a:solidFill>
                            <a:srgbClr val="1F497D"/>
                          </a:solidFill>
                          <a:latin typeface="Arial"/>
                        </a:rPr>
                        <a:t>Include MSMEs and communities in tourism value chains</a:t>
                      </a:r>
                    </a:p>
                  </a:txBody>
                  <a:tcPr marL="54864" marR="54864" marT="27432" marB="27432" anchor="ctr">
                    <a:solidFill>
                      <a:srgbClr val="F2F2F2"/>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20 communities hold 18.4% of residents and 0.02-0.04% of foreign spend; organisation binds in 11.</a:t>
                      </a:r>
                    </a:p>
                  </a:txBody>
                  <a:tcPr marL="54864" marR="54864" marT="27432" marB="27432" anchor="ctr">
                    <a:solidFill>
                      <a:srgbClr val="F2F2F2"/>
                    </a:solidFill>
                  </a:tcPr>
                </a:tc>
                <a:tc>
                  <a:txBody>
                    <a:bodyPr wrap="square"/>
                    <a:lstStyle/>
                    <a:p>
                      <a:pPr algn="l"/>
                      <a:r>
                        <a:rPr sz="800" b="0" i="0">
                          <a:solidFill>
                            <a:srgbClr val="7F7F7F"/>
                          </a:solidFill>
                          <a:latin typeface="Arial"/>
                        </a:rPr>
                        <a:t>SME &amp; Community Inclusion Plan</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3b</a:t>
                      </a:r>
                    </a:p>
                  </a:txBody>
                  <a:tcPr marL="54864" marR="54864" marT="27432" marB="27432" anchor="ctr">
                    <a:solidFill>
                      <a:srgbClr val="FFFFFF"/>
                    </a:solidFill>
                  </a:tcPr>
                </a:tc>
                <a:tc>
                  <a:txBody>
                    <a:bodyPr wrap="square"/>
                    <a:lstStyle/>
                    <a:p>
                      <a:pPr algn="l"/>
                      <a:r>
                        <a:rPr sz="900" b="1" i="0">
                          <a:solidFill>
                            <a:srgbClr val="1F497D"/>
                          </a:solidFill>
                          <a:latin typeface="Arial"/>
                        </a:rPr>
                        <a:t>Develop the tourism workforce and service skills</a:t>
                      </a:r>
                    </a:p>
                  </a:txBody>
                  <a:tcPr marL="54864" marR="54864" marT="27432" marB="27432" anchor="ctr">
                    <a:solidFill>
                      <a:srgbClr val="FFFFFF"/>
                    </a:solidFill>
                  </a:tcPr>
                </a:tc>
                <a:tc>
                  <a:txBody>
                    <a:bodyPr wrap="square"/>
                    <a:lstStyle/>
                    <a:p>
                      <a:pPr algn="l"/>
                      <a:r>
                        <a:rPr sz="900" b="1" i="0">
                          <a:solidFill>
                            <a:srgbClr val="7F7F7F"/>
                          </a:solidFill>
                          <a:latin typeface="Arial"/>
                        </a:rPr>
                        <a:t>Not yet tested</a:t>
                      </a:r>
                    </a:p>
                  </a:txBody>
                  <a:tcPr marL="54864" marR="54864" marT="27432" marB="27432" anchor="ctr">
                    <a:solidFill>
                      <a:srgbClr val="FFFFFF"/>
                    </a:solidFill>
                  </a:tcPr>
                </a:tc>
                <a:tc>
                  <a:txBody>
                    <a:bodyPr wrap="square"/>
                    <a:lstStyle/>
                    <a:p>
                      <a:pPr algn="l"/>
                      <a:r>
                        <a:rPr sz="900" b="0" i="0">
                          <a:solidFill>
                            <a:srgbClr val="404040"/>
                          </a:solidFill>
                          <a:latin typeface="Arial"/>
                        </a:rPr>
                        <a:t>Thin</a:t>
                      </a:r>
                    </a:p>
                  </a:txBody>
                  <a:tcPr marL="54864" marR="54864" marT="27432" marB="27432" anchor="ctr">
                    <a:solidFill>
                      <a:srgbClr val="FFFFFF"/>
                    </a:solidFill>
                  </a:tcPr>
                </a:tc>
                <a:tc>
                  <a:txBody>
                    <a:bodyPr wrap="square"/>
                    <a:lstStyle/>
                    <a:p>
                      <a:pPr algn="l"/>
                      <a:r>
                        <a:rPr sz="900" b="0" i="0">
                          <a:solidFill>
                            <a:srgbClr val="404040"/>
                          </a:solidFill>
                          <a:latin typeface="Arial"/>
                        </a:rPr>
                        <a:t>Skills gaps surface anecdotally; no labour supply or training analysis exists.</a:t>
                      </a:r>
                    </a:p>
                  </a:txBody>
                  <a:tcPr marL="54864" marR="54864" marT="27432" marB="27432" anchor="ctr">
                    <a:solidFill>
                      <a:srgbClr val="FFFFFF"/>
                    </a:solidFill>
                  </a:tcPr>
                </a:tc>
                <a:tc>
                  <a:txBody>
                    <a:bodyPr wrap="square"/>
                    <a:lstStyle/>
                    <a:p>
                      <a:pPr algn="l"/>
                      <a:r>
                        <a:rPr sz="800" b="0" i="0">
                          <a:solidFill>
                            <a:srgbClr val="7F7F7F"/>
                          </a:solidFill>
                          <a:latin typeface="Arial"/>
                        </a:rPr>
                        <a:t>Stakeholder Insights pp27, 43-44</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3c</a:t>
                      </a:r>
                    </a:p>
                  </a:txBody>
                  <a:tcPr marL="54864" marR="54864" marT="27432" marB="27432" anchor="ctr">
                    <a:solidFill>
                      <a:srgbClr val="F2F2F2"/>
                    </a:solidFill>
                  </a:tcPr>
                </a:tc>
                <a:tc>
                  <a:txBody>
                    <a:bodyPr wrap="square"/>
                    <a:lstStyle/>
                    <a:p>
                      <a:pPr algn="l"/>
                      <a:r>
                        <a:rPr sz="900" b="1" i="0">
                          <a:solidFill>
                            <a:srgbClr val="1F497D"/>
                          </a:solidFill>
                          <a:latin typeface="Arial"/>
                        </a:rPr>
                        <a:t>Ensure sustainable and resilient destination management</a:t>
                      </a:r>
                    </a:p>
                  </a:txBody>
                  <a:tcPr marL="54864" marR="54864" marT="27432" marB="27432" anchor="ctr">
                    <a:solidFill>
                      <a:srgbClr val="F2F2F2"/>
                    </a:solidFill>
                  </a:tcPr>
                </a:tc>
                <a:tc>
                  <a:txBody>
                    <a:bodyPr wrap="square"/>
                    <a:lstStyle/>
                    <a:p>
                      <a:pPr algn="l"/>
                      <a:r>
                        <a:rPr sz="90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900" b="0" i="0">
                          <a:solidFill>
                            <a:srgbClr val="404040"/>
                          </a:solidFill>
                          <a:latin typeface="Arial"/>
                        </a:rPr>
                        <a:t>Thin</a:t>
                      </a:r>
                    </a:p>
                  </a:txBody>
                  <a:tcPr marL="54864" marR="54864" marT="27432" marB="27432" anchor="ctr">
                    <a:solidFill>
                      <a:srgbClr val="F2F2F2"/>
                    </a:solidFill>
                  </a:tcPr>
                </a:tc>
                <a:tc>
                  <a:txBody>
                    <a:bodyPr wrap="square"/>
                    <a:lstStyle/>
                    <a:p>
                      <a:pPr algn="l"/>
                      <a:r>
                        <a:rPr sz="900" b="0" i="0">
                          <a:solidFill>
                            <a:srgbClr val="404040"/>
                          </a:solidFill>
                          <a:latin typeface="Arial"/>
                        </a:rPr>
                        <a:t>Meiringspoort (N12) closed by flood: R421m and ~26 months to rebuild; climate closures rising.</a:t>
                      </a:r>
                    </a:p>
                  </a:txBody>
                  <a:tcPr marL="54864" marR="54864" marT="27432" marB="27432" anchor="ctr">
                    <a:solidFill>
                      <a:srgbClr val="F2F2F2"/>
                    </a:solidFill>
                  </a:tcPr>
                </a:tc>
                <a:tc>
                  <a:txBody>
                    <a:bodyPr wrap="square"/>
                    <a:lstStyle/>
                    <a:p>
                      <a:pPr algn="l"/>
                      <a:r>
                        <a:rPr sz="800" b="0" i="0">
                          <a:solidFill>
                            <a:srgbClr val="7F7F7F"/>
                          </a:solidFill>
                          <a:latin typeface="Arial"/>
                        </a:rPr>
                        <a:t>SME plan (De Rust); Stakeholder Insights p12</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3d</a:t>
                      </a:r>
                    </a:p>
                  </a:txBody>
                  <a:tcPr marL="54864" marR="54864" marT="27432" marB="27432" anchor="ctr">
                    <a:solidFill>
                      <a:srgbClr val="FFFFFF"/>
                    </a:solidFill>
                  </a:tcPr>
                </a:tc>
                <a:tc>
                  <a:txBody>
                    <a:bodyPr wrap="square"/>
                    <a:lstStyle/>
                    <a:p>
                      <a:pPr algn="l"/>
                      <a:r>
                        <a:rPr sz="900" b="1" i="0">
                          <a:solidFill>
                            <a:srgbClr val="1F497D"/>
                          </a:solidFill>
                          <a:latin typeface="Arial"/>
                        </a:rPr>
                        <a:t>Review institutional arrangements (local, provincial and national)</a:t>
                      </a:r>
                    </a:p>
                  </a:txBody>
                  <a:tcPr marL="54864" marR="54864" marT="27432" marB="27432" anchor="ctr">
                    <a:solidFill>
                      <a:srgbClr val="FFFFFF"/>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Air rights, visas and ports sit nationally; tourism funding is below peer destinations; Circular 131 cut LTO funding.</a:t>
                      </a:r>
                    </a:p>
                  </a:txBody>
                  <a:tcPr marL="54864" marR="54864" marT="27432" marB="27432" anchor="ctr">
                    <a:solidFill>
                      <a:srgbClr val="FFFFFF"/>
                    </a:solidFill>
                  </a:tcPr>
                </a:tc>
                <a:tc>
                  <a:txBody>
                    <a:bodyPr wrap="square"/>
                    <a:lstStyle/>
                    <a:p>
                      <a:pPr algn="l"/>
                      <a:r>
                        <a:rPr sz="800" b="0" i="0">
                          <a:solidFill>
                            <a:srgbClr val="7F7F7F"/>
                          </a:solidFill>
                          <a:latin typeface="Arial"/>
                        </a:rPr>
                        <a:t>Municipal factbase; Stakeholder Insights pp13, 25 (DEDAT, High)</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3e</a:t>
                      </a:r>
                    </a:p>
                  </a:txBody>
                  <a:tcPr marL="54864" marR="54864" marT="27432" marB="27432" anchor="ctr">
                    <a:solidFill>
                      <a:srgbClr val="F2F2F2"/>
                    </a:solidFill>
                  </a:tcPr>
                </a:tc>
                <a:tc>
                  <a:txBody>
                    <a:bodyPr wrap="square"/>
                    <a:lstStyle/>
                    <a:p>
                      <a:pPr algn="l"/>
                      <a:r>
                        <a:rPr sz="900" b="1" i="0">
                          <a:solidFill>
                            <a:srgbClr val="1F497D"/>
                          </a:solidFill>
                          <a:latin typeface="Arial"/>
                        </a:rPr>
                        <a:t>Strengthen industry and government collaboration</a:t>
                      </a:r>
                    </a:p>
                  </a:txBody>
                  <a:tcPr marL="54864" marR="54864" marT="27432" marB="27432" anchor="ctr">
                    <a:solidFill>
                      <a:srgbClr val="F2F2F2"/>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Collaboration raised by 15 of 16 organisations (Letsema tally of the appendix); Air Access proves a joint model works.</a:t>
                      </a:r>
                    </a:p>
                  </a:txBody>
                  <a:tcPr marL="54864" marR="54864" marT="27432" marB="27432" anchor="ctr">
                    <a:solidFill>
                      <a:srgbClr val="F2F2F2"/>
                    </a:solidFill>
                  </a:tcPr>
                </a:tc>
                <a:tc>
                  <a:txBody>
                    <a:bodyPr wrap="square"/>
                    <a:lstStyle/>
                    <a:p>
                      <a:pPr algn="l"/>
                      <a:r>
                        <a:rPr sz="800" b="0" i="0">
                          <a:solidFill>
                            <a:srgbClr val="7F7F7F"/>
                          </a:solidFill>
                          <a:latin typeface="Arial"/>
                        </a:rPr>
                        <a:t>Stakeholder Insights pp20-46 (tally); MIDAS p13</a:t>
                      </a:r>
                    </a:p>
                  </a:txBody>
                  <a:tcPr marL="54864" marR="54864" marT="27432" marB="27432" anchor="ctr">
                    <a:solidFill>
                      <a:srgbClr val="F2F2F2"/>
                    </a:solidFill>
                  </a:tcPr>
                </a:tc>
              </a:tr>
              <a:tr h="429768">
                <a:tc>
                  <a:txBody>
                    <a:bodyPr wrap="square"/>
                    <a:lstStyle/>
                    <a:p>
                      <a:pPr algn="l"/>
                      <a:r>
                        <a:rPr sz="900" b="0" i="0">
                          <a:solidFill>
                            <a:srgbClr val="7F7F7F"/>
                          </a:solidFill>
                          <a:latin typeface="Arial"/>
                        </a:rPr>
                        <a:t>3f</a:t>
                      </a:r>
                    </a:p>
                  </a:txBody>
                  <a:tcPr marL="54864" marR="54864" marT="27432" marB="27432" anchor="ctr">
                    <a:solidFill>
                      <a:srgbClr val="FFFFFF"/>
                    </a:solidFill>
                  </a:tcPr>
                </a:tc>
                <a:tc>
                  <a:txBody>
                    <a:bodyPr wrap="square"/>
                    <a:lstStyle/>
                    <a:p>
                      <a:pPr algn="l"/>
                      <a:r>
                        <a:rPr sz="900" b="1" i="0">
                          <a:solidFill>
                            <a:srgbClr val="1F497D"/>
                          </a:solidFill>
                          <a:latin typeface="Arial"/>
                        </a:rPr>
                        <a:t>Expedite enabling policy and build the data layer</a:t>
                      </a:r>
                    </a:p>
                  </a:txBody>
                  <a:tcPr marL="54864" marR="54864" marT="27432" marB="27432" anchor="ctr">
                    <a:solidFill>
                      <a:srgbClr val="FFFFFF"/>
                    </a:solidFill>
                  </a:tcPr>
                </a:tc>
                <a:tc>
                  <a:txBody>
                    <a:bodyPr wrap="square"/>
                    <a:lstStyle/>
                    <a:p>
                      <a:pPr algn="l"/>
                      <a:r>
                        <a:rPr sz="900" b="1" i="0">
                          <a:solidFill>
                            <a:srgbClr val="FFFFFF"/>
                          </a:solidFill>
                          <a:latin typeface="Arial"/>
                        </a:rPr>
                        <a:t>Supported</a:t>
                      </a:r>
                    </a:p>
                  </a:txBody>
                  <a:tcPr marL="54864" marR="54864" marT="27432" marB="27432" anchor="ctr">
                    <a:solidFill>
                      <a:srgbClr val="2E9E44"/>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No approved provincial tourism GDP or jobs method; data lagged and proxy-based.</a:t>
                      </a:r>
                    </a:p>
                  </a:txBody>
                  <a:tcPr marL="54864" marR="54864" marT="27432" marB="27432" anchor="ctr">
                    <a:solidFill>
                      <a:srgbClr val="FFFFFF"/>
                    </a:solidFill>
                  </a:tcPr>
                </a:tc>
                <a:tc>
                  <a:txBody>
                    <a:bodyPr wrap="square"/>
                    <a:lstStyle/>
                    <a:p>
                      <a:pPr algn="l"/>
                      <a:r>
                        <a:rPr sz="800" b="0" i="0">
                          <a:solidFill>
                            <a:srgbClr val="7F7F7F"/>
                          </a:solidFill>
                          <a:latin typeface="Arial"/>
                        </a:rPr>
                        <a:t>Stakeholder Insights p37; factbases</a:t>
                      </a:r>
                    </a:p>
                  </a:txBody>
                  <a:tcPr marL="54864" marR="54864" marT="27432" marB="27432" anchor="ctr">
                    <a:solidFill>
                      <a:srgbClr val="FFFFFF"/>
                    </a:solidFill>
                  </a:tcPr>
                </a:tc>
              </a:tr>
              <a:tr h="429768">
                <a:tc>
                  <a:txBody>
                    <a:bodyPr wrap="square"/>
                    <a:lstStyle/>
                    <a:p>
                      <a:pPr algn="l"/>
                      <a:r>
                        <a:rPr sz="900" b="0" i="0">
                          <a:solidFill>
                            <a:srgbClr val="7F7F7F"/>
                          </a:solidFill>
                          <a:latin typeface="Arial"/>
                        </a:rPr>
                        <a:t>3g</a:t>
                      </a:r>
                    </a:p>
                  </a:txBody>
                  <a:tcPr marL="54864" marR="54864" marT="27432" marB="27432" anchor="ctr">
                    <a:solidFill>
                      <a:srgbClr val="F2F2F2"/>
                    </a:solidFill>
                  </a:tcPr>
                </a:tc>
                <a:tc>
                  <a:txBody>
                    <a:bodyPr wrap="square"/>
                    <a:lstStyle/>
                    <a:p>
                      <a:pPr algn="l"/>
                      <a:r>
                        <a:rPr sz="900" b="1" i="0">
                          <a:solidFill>
                            <a:srgbClr val="1F497D"/>
                          </a:solidFill>
                          <a:latin typeface="Arial"/>
                        </a:rPr>
                        <a:t>Crowd-in capital with targeted investment strategies</a:t>
                      </a:r>
                    </a:p>
                  </a:txBody>
                  <a:tcPr marL="54864" marR="54864" marT="27432" marB="27432" anchor="ctr">
                    <a:solidFill>
                      <a:srgbClr val="F2F2F2"/>
                    </a:solidFill>
                  </a:tcPr>
                </a:tc>
                <a:tc>
                  <a:txBody>
                    <a:bodyPr wrap="square"/>
                    <a:lstStyle/>
                    <a:p>
                      <a:pPr algn="l"/>
                      <a:r>
                        <a:rPr sz="900" b="1" i="0">
                          <a:solidFill>
                            <a:srgbClr val="262626"/>
                          </a:solidFill>
                          <a:latin typeface="Arial"/>
                        </a:rPr>
                        <a:t>Partly supported</a:t>
                      </a:r>
                    </a:p>
                  </a:txBody>
                  <a:tcPr marL="54864" marR="54864" marT="27432" marB="27432" anchor="ctr">
                    <a:solidFill>
                      <a:srgbClr val="F2A900"/>
                    </a:solidFill>
                  </a:tcPr>
                </a:tc>
                <a:tc>
                  <a:txBody>
                    <a:bodyPr wrap="square"/>
                    <a:lstStyle/>
                    <a:p>
                      <a:pPr algn="l"/>
                      <a:r>
                        <a:rPr sz="900" b="0" i="0">
                          <a:solidFill>
                            <a:srgbClr val="404040"/>
                          </a:solidFill>
                          <a:latin typeface="Arial"/>
                        </a:rPr>
                        <a:t>Moderate</a:t>
                      </a:r>
                    </a:p>
                  </a:txBody>
                  <a:tcPr marL="54864" marR="54864" marT="27432" marB="27432" anchor="ctr">
                    <a:solidFill>
                      <a:srgbClr val="F2F2F2"/>
                    </a:solidFill>
                  </a:tcPr>
                </a:tc>
                <a:tc>
                  <a:txBody>
                    <a:bodyPr wrap="square"/>
                    <a:lstStyle/>
                    <a:p>
                      <a:pPr algn="l"/>
                      <a:r>
                        <a:rPr sz="900" b="0" i="0">
                          <a:solidFill>
                            <a:srgbClr val="404040"/>
                          </a:solidFill>
                          <a:latin typeface="Arial"/>
                        </a:rPr>
                        <a:t>Kliptown spent ~R497m on assets and draws ~4,000 visitors a year; no costed pipeline or ROI exists.</a:t>
                      </a:r>
                    </a:p>
                  </a:txBody>
                  <a:tcPr marL="54864" marR="54864" marT="27432" marB="27432" anchor="ctr">
                    <a:solidFill>
                      <a:srgbClr val="F2F2F2"/>
                    </a:solidFill>
                  </a:tcPr>
                </a:tc>
                <a:tc>
                  <a:txBody>
                    <a:bodyPr wrap="square"/>
                    <a:lstStyle/>
                    <a:p>
                      <a:pPr algn="l"/>
                      <a:r>
                        <a:rPr sz="800" b="0" i="0">
                          <a:solidFill>
                            <a:srgbClr val="7F7F7F"/>
                          </a:solidFill>
                          <a:latin typeface="Arial"/>
                        </a:rPr>
                        <a:t>SME plan benchmarks; Infrastructure Report</a:t>
                      </a:r>
                    </a:p>
                  </a:txBody>
                  <a:tcPr marL="54864" marR="54864" marT="27432" marB="27432" anchor="ctr">
                    <a:solidFill>
                      <a:srgbClr val="F2F2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Several arrival figures are in use; the M&amp;E toolkit needs one metric, one base year and one source</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ARRIVAL BASELINES IN CIRCULATION</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Brief and SLA; Demand-Side Analysis (Jun 2026); City TDF 2024 and PERO 2025 via municipal factbase; CTAA update Nov 2025; Wesgro 2026-30 Strategic Plan; Tourism Blueprint 2030</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114800"/>
        </p:xfrm>
        <a:graphic>
          <a:graphicData uri="http://schemas.openxmlformats.org/drawingml/2006/table">
            <a:tbl>
              <a:tblPr firstRow="1" bandRow="0">
                <a:tableStyleId>{5C22544A-7EE6-4342-B048-85BDC9FD1C3A}</a:tableStyleId>
              </a:tblPr>
              <a:tblGrid>
                <a:gridCol w="1645920"/>
                <a:gridCol w="5943600"/>
                <a:gridCol w="3831336"/>
              </a:tblGrid>
              <a:tr h="457200">
                <a:tc>
                  <a:txBody>
                    <a:bodyPr wrap="square"/>
                    <a:lstStyle/>
                    <a:p>
                      <a:pPr algn="l"/>
                      <a:r>
                        <a:rPr sz="1050" b="1" i="0">
                          <a:solidFill>
                            <a:srgbClr val="FFFFFF"/>
                          </a:solidFill>
                          <a:latin typeface="Arial"/>
                        </a:rPr>
                        <a:t>Figure</a:t>
                      </a:r>
                    </a:p>
                  </a:txBody>
                  <a:tcPr marL="54864" marR="54864" marT="27432" marB="27432" anchor="ctr">
                    <a:solidFill>
                      <a:srgbClr val="1F497D"/>
                    </a:solidFill>
                  </a:tcPr>
                </a:tc>
                <a:tc>
                  <a:txBody>
                    <a:bodyPr wrap="square"/>
                    <a:lstStyle/>
                    <a:p>
                      <a:pPr algn="l"/>
                      <a:r>
                        <a:rPr sz="1050" b="1" i="0">
                          <a:solidFill>
                            <a:srgbClr val="FFFFFF"/>
                          </a:solidFill>
                          <a:latin typeface="Arial"/>
                        </a:rPr>
                        <a:t>What it measures</a:t>
                      </a:r>
                    </a:p>
                  </a:txBody>
                  <a:tcPr marL="54864" marR="54864" marT="27432" marB="27432" anchor="ctr">
                    <a:solidFill>
                      <a:srgbClr val="1F497D"/>
                    </a:solidFill>
                  </a:tcPr>
                </a:tc>
                <a:tc>
                  <a:txBody>
                    <a:bodyPr wrap="square"/>
                    <a:lstStyle/>
                    <a:p>
                      <a:pPr algn="l"/>
                      <a:r>
                        <a:rPr sz="1050" b="1" i="0">
                          <a:solidFill>
                            <a:srgbClr val="FFFFFF"/>
                          </a:solidFill>
                          <a:latin typeface="Arial"/>
                        </a:rPr>
                        <a:t>Source</a:t>
                      </a:r>
                    </a:p>
                  </a:txBody>
                  <a:tcPr marL="54864" marR="54864" marT="27432" marB="27432" anchor="ctr">
                    <a:solidFill>
                      <a:srgbClr val="1F497D"/>
                    </a:solidFill>
                  </a:tcPr>
                </a:tc>
              </a:tr>
              <a:tr h="457200">
                <a:tc>
                  <a:txBody>
                    <a:bodyPr wrap="square"/>
                    <a:lstStyle/>
                    <a:p>
                      <a:pPr algn="l"/>
                      <a:r>
                        <a:rPr sz="1050" b="1" i="0">
                          <a:solidFill>
                            <a:srgbClr val="1F497D"/>
                          </a:solidFill>
                          <a:latin typeface="Arial"/>
                        </a:rPr>
                        <a:t>1.4m</a:t>
                      </a:r>
                    </a:p>
                  </a:txBody>
                  <a:tcPr marL="54864" marR="54864" marT="27432" marB="27432" anchor="ctr">
                    <a:solidFill>
                      <a:srgbClr val="FFFFFF"/>
                    </a:solidFill>
                  </a:tcPr>
                </a:tc>
                <a:tc>
                  <a:txBody>
                    <a:bodyPr wrap="square"/>
                    <a:lstStyle/>
                    <a:p>
                      <a:pPr algn="l"/>
                      <a:r>
                        <a:rPr sz="1050" b="0" i="0">
                          <a:solidFill>
                            <a:srgbClr val="404040"/>
                          </a:solidFill>
                          <a:latin typeface="Arial"/>
                        </a:rPr>
                        <a:t>International tourist arrivals (base of the 2.8m goal)</a:t>
                      </a:r>
                    </a:p>
                  </a:txBody>
                  <a:tcPr marL="54864" marR="54864" marT="27432" marB="27432" anchor="ctr">
                    <a:solidFill>
                      <a:srgbClr val="FFFFFF"/>
                    </a:solidFill>
                  </a:tcPr>
                </a:tc>
                <a:tc>
                  <a:txBody>
                    <a:bodyPr wrap="square"/>
                    <a:lstStyle/>
                    <a:p>
                      <a:pPr algn="l"/>
                      <a:r>
                        <a:rPr sz="1050" b="0" i="0">
                          <a:solidFill>
                            <a:srgbClr val="404040"/>
                          </a:solidFill>
                          <a:latin typeface="Arial"/>
                        </a:rPr>
                        <a:t>RFP s2; MIDAS p4 (implied by doubling)</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1.445m</a:t>
                      </a:r>
                    </a:p>
                  </a:txBody>
                  <a:tcPr marL="54864" marR="54864" marT="27432" marB="27432" anchor="ctr">
                    <a:solidFill>
                      <a:srgbClr val="F2F2F2"/>
                    </a:solidFill>
                  </a:tcPr>
                </a:tc>
                <a:tc>
                  <a:txBody>
                    <a:bodyPr wrap="square"/>
                    <a:lstStyle/>
                    <a:p>
                      <a:pPr algn="l"/>
                      <a:r>
                        <a:rPr sz="1050" b="0" i="0">
                          <a:solidFill>
                            <a:srgbClr val="404040"/>
                          </a:solidFill>
                          <a:latin typeface="Arial"/>
                        </a:rPr>
                        <a:t>Modelled international arrivals, 2024</a:t>
                      </a:r>
                    </a:p>
                  </a:txBody>
                  <a:tcPr marL="54864" marR="54864" marT="27432" marB="27432" anchor="ctr">
                    <a:solidFill>
                      <a:srgbClr val="F2F2F2"/>
                    </a:solidFill>
                  </a:tcPr>
                </a:tc>
                <a:tc>
                  <a:txBody>
                    <a:bodyPr wrap="square"/>
                    <a:lstStyle/>
                    <a:p>
                      <a:pPr algn="l"/>
                      <a:r>
                        <a:rPr sz="1050" b="0" i="0">
                          <a:solidFill>
                            <a:srgbClr val="404040"/>
                          </a:solidFill>
                          <a:latin typeface="Arial"/>
                        </a:rPr>
                        <a:t>Demand-Side model</a:t>
                      </a:r>
                    </a:p>
                  </a:txBody>
                  <a:tcPr marL="54864" marR="54864" marT="27432" marB="27432" anchor="ctr">
                    <a:solidFill>
                      <a:srgbClr val="F2F2F2"/>
                    </a:solidFill>
                  </a:tcPr>
                </a:tc>
              </a:tr>
              <a:tr h="457200">
                <a:tc>
                  <a:txBody>
                    <a:bodyPr wrap="square"/>
                    <a:lstStyle/>
                    <a:p>
                      <a:pPr algn="l"/>
                      <a:r>
                        <a:rPr sz="1050" b="1" i="0">
                          <a:solidFill>
                            <a:srgbClr val="1F497D"/>
                          </a:solidFill>
                          <a:latin typeface="Arial"/>
                        </a:rPr>
                        <a:t>1.57m</a:t>
                      </a:r>
                    </a:p>
                  </a:txBody>
                  <a:tcPr marL="54864" marR="54864" marT="27432" marB="27432" anchor="ctr">
                    <a:solidFill>
                      <a:srgbClr val="FFFFFF"/>
                    </a:solidFill>
                  </a:tcPr>
                </a:tc>
                <a:tc>
                  <a:txBody>
                    <a:bodyPr wrap="square"/>
                    <a:lstStyle/>
                    <a:p>
                      <a:pPr algn="l"/>
                      <a:r>
                        <a:rPr sz="1050" b="0" i="0">
                          <a:solidFill>
                            <a:srgbClr val="404040"/>
                          </a:solidFill>
                          <a:latin typeface="Arial"/>
                        </a:rPr>
                        <a:t>CTIA international passenger arrivals, FY25/26</a:t>
                      </a:r>
                    </a:p>
                  </a:txBody>
                  <a:tcPr marL="54864" marR="54864" marT="27432" marB="27432" anchor="ctr">
                    <a:solidFill>
                      <a:srgbClr val="FFFFFF"/>
                    </a:solidFill>
                  </a:tcPr>
                </a:tc>
                <a:tc>
                  <a:txBody>
                    <a:bodyPr wrap="square"/>
                    <a:lstStyle/>
                    <a:p>
                      <a:pPr algn="l"/>
                      <a:r>
                        <a:rPr sz="1050" b="0" i="0">
                          <a:solidFill>
                            <a:srgbClr val="404040"/>
                          </a:solidFill>
                          <a:latin typeface="Arial"/>
                        </a:rPr>
                        <a:t>Demand-Side (CTIA/ACSA)</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1.62m</a:t>
                      </a:r>
                    </a:p>
                  </a:txBody>
                  <a:tcPr marL="54864" marR="54864" marT="27432" marB="27432" anchor="ctr">
                    <a:solidFill>
                      <a:srgbClr val="F2F2F2"/>
                    </a:solidFill>
                  </a:tcPr>
                </a:tc>
                <a:tc>
                  <a:txBody>
                    <a:bodyPr wrap="square"/>
                    <a:lstStyle/>
                    <a:p>
                      <a:pPr algn="l"/>
                      <a:r>
                        <a:rPr sz="1050" b="0" i="0">
                          <a:solidFill>
                            <a:srgbClr val="404040"/>
                          </a:solidFill>
                          <a:latin typeface="Arial"/>
                        </a:rPr>
                        <a:t>Cape Town international arrivals baseline</a:t>
                      </a:r>
                    </a:p>
                  </a:txBody>
                  <a:tcPr marL="54864" marR="54864" marT="27432" marB="27432" anchor="ctr">
                    <a:solidFill>
                      <a:srgbClr val="F2F2F2"/>
                    </a:solidFill>
                  </a:tcPr>
                </a:tc>
                <a:tc>
                  <a:txBody>
                    <a:bodyPr wrap="square"/>
                    <a:lstStyle/>
                    <a:p>
                      <a:pPr algn="l"/>
                      <a:r>
                        <a:rPr sz="1050" b="0" i="0">
                          <a:solidFill>
                            <a:srgbClr val="404040"/>
                          </a:solidFill>
                          <a:latin typeface="Arial"/>
                        </a:rPr>
                        <a:t>City TDF 2024</a:t>
                      </a:r>
                    </a:p>
                  </a:txBody>
                  <a:tcPr marL="54864" marR="54864" marT="27432" marB="27432" anchor="ctr">
                    <a:solidFill>
                      <a:srgbClr val="F2F2F2"/>
                    </a:solidFill>
                  </a:tcPr>
                </a:tc>
              </a:tr>
              <a:tr h="457200">
                <a:tc>
                  <a:txBody>
                    <a:bodyPr wrap="square"/>
                    <a:lstStyle/>
                    <a:p>
                      <a:pPr algn="l"/>
                      <a:r>
                        <a:rPr sz="1050" b="1" i="0">
                          <a:solidFill>
                            <a:srgbClr val="1F497D"/>
                          </a:solidFill>
                          <a:latin typeface="Arial"/>
                        </a:rPr>
                        <a:t>932,831</a:t>
                      </a:r>
                    </a:p>
                  </a:txBody>
                  <a:tcPr marL="54864" marR="54864" marT="27432" marB="27432" anchor="ctr">
                    <a:solidFill>
                      <a:srgbClr val="FFFFFF"/>
                    </a:solidFill>
                  </a:tcPr>
                </a:tc>
                <a:tc>
                  <a:txBody>
                    <a:bodyPr wrap="square"/>
                    <a:lstStyle/>
                    <a:p>
                      <a:pPr algn="l"/>
                      <a:r>
                        <a:rPr sz="1050" b="0" i="0">
                          <a:solidFill>
                            <a:srgbClr val="404040"/>
                          </a:solidFill>
                          <a:latin typeface="Arial"/>
                        </a:rPr>
                        <a:t>CTIA overnight international visitors, 2024</a:t>
                      </a:r>
                    </a:p>
                  </a:txBody>
                  <a:tcPr marL="54864" marR="54864" marT="27432" marB="27432" anchor="ctr">
                    <a:solidFill>
                      <a:srgbClr val="FFFFFF"/>
                    </a:solidFill>
                  </a:tcPr>
                </a:tc>
                <a:tc>
                  <a:txBody>
                    <a:bodyPr wrap="square"/>
                    <a:lstStyle/>
                    <a:p>
                      <a:pPr algn="l"/>
                      <a:r>
                        <a:rPr sz="1050" b="0" i="0">
                          <a:solidFill>
                            <a:srgbClr val="404040"/>
                          </a:solidFill>
                          <a:latin typeface="Arial"/>
                        </a:rPr>
                        <a:t>PERO 2025</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3.1m</a:t>
                      </a:r>
                    </a:p>
                  </a:txBody>
                  <a:tcPr marL="54864" marR="54864" marT="27432" marB="27432" anchor="ctr">
                    <a:solidFill>
                      <a:srgbClr val="F2F2F2"/>
                    </a:solidFill>
                  </a:tcPr>
                </a:tc>
                <a:tc>
                  <a:txBody>
                    <a:bodyPr wrap="square"/>
                    <a:lstStyle/>
                    <a:p>
                      <a:pPr algn="l"/>
                      <a:r>
                        <a:rPr sz="1050" b="0" i="0">
                          <a:solidFill>
                            <a:srgbClr val="404040"/>
                          </a:solidFill>
                          <a:latin typeface="Arial"/>
                        </a:rPr>
                        <a:t>CTIA two-way international passengers, 2024</a:t>
                      </a:r>
                    </a:p>
                  </a:txBody>
                  <a:tcPr marL="54864" marR="54864" marT="27432" marB="27432" anchor="ctr">
                    <a:solidFill>
                      <a:srgbClr val="F2F2F2"/>
                    </a:solidFill>
                  </a:tcPr>
                </a:tc>
                <a:tc>
                  <a:txBody>
                    <a:bodyPr wrap="square"/>
                    <a:lstStyle/>
                    <a:p>
                      <a:pPr algn="l"/>
                      <a:r>
                        <a:rPr sz="1050" b="0" i="0">
                          <a:solidFill>
                            <a:srgbClr val="404040"/>
                          </a:solidFill>
                          <a:latin typeface="Arial"/>
                        </a:rPr>
                        <a:t>CTAA update</a:t>
                      </a:r>
                    </a:p>
                  </a:txBody>
                  <a:tcPr marL="54864" marR="54864" marT="27432" marB="27432" anchor="ctr">
                    <a:solidFill>
                      <a:srgbClr val="F2F2F2"/>
                    </a:solidFill>
                  </a:tcPr>
                </a:tc>
              </a:tr>
              <a:tr h="457200">
                <a:tc>
                  <a:txBody>
                    <a:bodyPr wrap="square"/>
                    <a:lstStyle/>
                    <a:p>
                      <a:pPr algn="l"/>
                      <a:r>
                        <a:rPr sz="1050" b="1" i="0">
                          <a:solidFill>
                            <a:srgbClr val="1F497D"/>
                          </a:solidFill>
                          <a:latin typeface="Arial"/>
                        </a:rPr>
                        <a:t>3m by 2030</a:t>
                      </a:r>
                    </a:p>
                  </a:txBody>
                  <a:tcPr marL="54864" marR="54864" marT="27432" marB="27432" anchor="ctr">
                    <a:solidFill>
                      <a:srgbClr val="FFFFFF"/>
                    </a:solidFill>
                  </a:tcPr>
                </a:tc>
                <a:tc>
                  <a:txBody>
                    <a:bodyPr wrap="square"/>
                    <a:lstStyle/>
                    <a:p>
                      <a:pPr algn="l"/>
                      <a:r>
                        <a:rPr sz="1050" b="0" i="0">
                          <a:solidFill>
                            <a:srgbClr val="404040"/>
                          </a:solidFill>
                          <a:latin typeface="Arial"/>
                        </a:rPr>
                        <a:t>Target from a 2m (2019) base</a:t>
                      </a:r>
                    </a:p>
                  </a:txBody>
                  <a:tcPr marL="54864" marR="54864" marT="27432" marB="27432" anchor="ctr">
                    <a:solidFill>
                      <a:srgbClr val="FFFFFF"/>
                    </a:solidFill>
                  </a:tcPr>
                </a:tc>
                <a:tc>
                  <a:txBody>
                    <a:bodyPr wrap="square"/>
                    <a:lstStyle/>
                    <a:p>
                      <a:pPr algn="l"/>
                      <a:r>
                        <a:rPr sz="1050" b="0" i="0">
                          <a:solidFill>
                            <a:srgbClr val="404040"/>
                          </a:solidFill>
                          <a:latin typeface="Arial"/>
                        </a:rPr>
                        <a:t>G4J; Wesgro plan</a:t>
                      </a:r>
                    </a:p>
                  </a:txBody>
                  <a:tcPr marL="54864" marR="54864" marT="27432" marB="27432" anchor="ctr">
                    <a:solidFill>
                      <a:srgbClr val="FFFFFF"/>
                    </a:solidFill>
                  </a:tcPr>
                </a:tc>
              </a:tr>
              <a:tr h="457200">
                <a:tc>
                  <a:txBody>
                    <a:bodyPr wrap="square"/>
                    <a:lstStyle/>
                    <a:p>
                      <a:pPr algn="l"/>
                      <a:r>
                        <a:rPr sz="1050" b="1" i="0">
                          <a:solidFill>
                            <a:srgbClr val="1F497D"/>
                          </a:solidFill>
                          <a:latin typeface="Arial"/>
                        </a:rPr>
                        <a:t>5.7m</a:t>
                      </a:r>
                    </a:p>
                  </a:txBody>
                  <a:tcPr marL="54864" marR="54864" marT="27432" marB="27432" anchor="ctr">
                    <a:solidFill>
                      <a:srgbClr val="F2F2F2"/>
                    </a:solidFill>
                  </a:tcPr>
                </a:tc>
                <a:tc>
                  <a:txBody>
                    <a:bodyPr wrap="square"/>
                    <a:lstStyle/>
                    <a:p>
                      <a:pPr algn="l"/>
                      <a:r>
                        <a:rPr sz="1050" b="0" i="0">
                          <a:solidFill>
                            <a:srgbClr val="404040"/>
                          </a:solidFill>
                          <a:latin typeface="Arial"/>
                        </a:rPr>
                        <a:t>Pre-COVID long-term arrivals target</a:t>
                      </a:r>
                    </a:p>
                  </a:txBody>
                  <a:tcPr marL="54864" marR="54864" marT="27432" marB="27432" anchor="ctr">
                    <a:solidFill>
                      <a:srgbClr val="F2F2F2"/>
                    </a:solidFill>
                  </a:tcPr>
                </a:tc>
                <a:tc>
                  <a:txBody>
                    <a:bodyPr wrap="square"/>
                    <a:lstStyle/>
                    <a:p>
                      <a:pPr algn="l"/>
                      <a:r>
                        <a:rPr sz="1050" b="0" i="0">
                          <a:solidFill>
                            <a:srgbClr val="404040"/>
                          </a:solidFill>
                          <a:latin typeface="Arial"/>
                        </a:rPr>
                        <a:t>Tourism Blueprint 2030</a:t>
                      </a:r>
                    </a:p>
                  </a:txBody>
                  <a:tcPr marL="54864" marR="54864" marT="27432" marB="27432" anchor="ctr">
                    <a:solidFill>
                      <a:srgbClr val="F2F2F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Twelve inputs inform this pack; all were read in full, and three AI-assisted syntheses need primary-source checks</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INPUT REGISTER</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Documents as supplied for this session</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754880"/>
        </p:xfrm>
        <a:graphic>
          <a:graphicData uri="http://schemas.openxmlformats.org/drawingml/2006/table">
            <a:tbl>
              <a:tblPr firstRow="1" bandRow="0">
                <a:tableStyleId>{5C22544A-7EE6-4342-B048-85BDC9FD1C3A}</a:tableStyleId>
              </a:tblPr>
              <a:tblGrid>
                <a:gridCol w="3291840"/>
                <a:gridCol w="1737360"/>
                <a:gridCol w="2194560"/>
                <a:gridCol w="4197096"/>
              </a:tblGrid>
              <a:tr h="365760">
                <a:tc>
                  <a:txBody>
                    <a:bodyPr wrap="square"/>
                    <a:lstStyle/>
                    <a:p>
                      <a:pPr algn="l"/>
                      <a:r>
                        <a:rPr sz="1000" b="1" i="0">
                          <a:solidFill>
                            <a:srgbClr val="FFFFFF"/>
                          </a:solidFill>
                          <a:latin typeface="Arial"/>
                        </a:rPr>
                        <a:t>Input</a:t>
                      </a:r>
                    </a:p>
                  </a:txBody>
                  <a:tcPr marL="54864" marR="54864" marT="27432" marB="27432" anchor="ctr">
                    <a:solidFill>
                      <a:srgbClr val="1F497D"/>
                    </a:solidFill>
                  </a:tcPr>
                </a:tc>
                <a:tc>
                  <a:txBody>
                    <a:bodyPr wrap="square"/>
                    <a:lstStyle/>
                    <a:p>
                      <a:pPr algn="l"/>
                      <a:r>
                        <a:rPr sz="1000" b="1" i="0">
                          <a:solidFill>
                            <a:srgbClr val="FFFFFF"/>
                          </a:solidFill>
                          <a:latin typeface="Arial"/>
                        </a:rPr>
                        <a:t>Dated</a:t>
                      </a:r>
                    </a:p>
                  </a:txBody>
                  <a:tcPr marL="54864" marR="54864" marT="27432" marB="27432" anchor="ctr">
                    <a:solidFill>
                      <a:srgbClr val="1F497D"/>
                    </a:solidFill>
                  </a:tcPr>
                </a:tc>
                <a:tc>
                  <a:txBody>
                    <a:bodyPr wrap="square"/>
                    <a:lstStyle/>
                    <a:p>
                      <a:pPr algn="l"/>
                      <a:r>
                        <a:rPr sz="1000" b="1" i="0">
                          <a:solidFill>
                            <a:srgbClr val="FFFFFF"/>
                          </a:solidFill>
                          <a:latin typeface="Arial"/>
                        </a:rPr>
                        <a:t>Status</a:t>
                      </a:r>
                    </a:p>
                  </a:txBody>
                  <a:tcPr marL="54864" marR="54864" marT="27432" marB="27432" anchor="ctr">
                    <a:solidFill>
                      <a:srgbClr val="1F497D"/>
                    </a:solidFill>
                  </a:tcPr>
                </a:tc>
                <a:tc>
                  <a:txBody>
                    <a:bodyPr wrap="square"/>
                    <a:lstStyle/>
                    <a:p>
                      <a:pPr algn="l"/>
                      <a:r>
                        <a:rPr sz="1000" b="1" i="0">
                          <a:solidFill>
                            <a:srgbClr val="FFFFFF"/>
                          </a:solidFill>
                          <a:latin typeface="Arial"/>
                        </a:rPr>
                        <a:t>Used for</a:t>
                      </a:r>
                    </a:p>
                  </a:txBody>
                  <a:tcPr marL="54864" marR="54864" marT="27432" marB="27432" anchor="ctr">
                    <a:solidFill>
                      <a:srgbClr val="1F497D"/>
                    </a:solidFill>
                  </a:tcPr>
                </a:tc>
              </a:tr>
              <a:tr h="365760">
                <a:tc>
                  <a:txBody>
                    <a:bodyPr wrap="square"/>
                    <a:lstStyle/>
                    <a:p>
                      <a:pPr algn="l"/>
                      <a:r>
                        <a:rPr sz="1000" b="1" i="0">
                          <a:solidFill>
                            <a:srgbClr val="1F497D"/>
                          </a:solidFill>
                          <a:latin typeface="Arial"/>
                        </a:rPr>
                        <a:t>Inception Report</a:t>
                      </a:r>
                    </a:p>
                  </a:txBody>
                  <a:tcPr marL="54864" marR="54864" marT="27432" marB="27432" anchor="ctr">
                    <a:solidFill>
                      <a:srgbClr val="FFFFFF"/>
                    </a:solidFill>
                  </a:tcPr>
                </a:tc>
                <a:tc>
                  <a:txBody>
                    <a:bodyPr wrap="square"/>
                    <a:lstStyle/>
                    <a:p>
                      <a:pPr algn="l"/>
                      <a:r>
                        <a:rPr sz="1000" b="0" i="0">
                          <a:solidFill>
                            <a:srgbClr val="404040"/>
                          </a:solidFill>
                          <a:latin typeface="Arial"/>
                        </a:rPr>
                        <a:t>Nov 2025</a:t>
                      </a:r>
                    </a:p>
                  </a:txBody>
                  <a:tcPr marL="54864" marR="54864" marT="27432" marB="27432" anchor="ctr">
                    <a:solidFill>
                      <a:srgbClr val="FFFFFF"/>
                    </a:solidFill>
                  </a:tcPr>
                </a:tc>
                <a:tc>
                  <a:txBody>
                    <a:bodyPr wrap="square"/>
                    <a:lstStyle/>
                    <a:p>
                      <a:pPr algn="l"/>
                      <a:r>
                        <a:rPr sz="1000" b="0" i="0">
                          <a:solidFill>
                            <a:srgbClr val="404040"/>
                          </a:solidFill>
                          <a:latin typeface="Arial"/>
                        </a:rPr>
                        <a:t>Final</a:t>
                      </a:r>
                    </a:p>
                  </a:txBody>
                  <a:tcPr marL="54864" marR="54864" marT="27432" marB="27432" anchor="ctr">
                    <a:solidFill>
                      <a:srgbClr val="FFFFFF"/>
                    </a:solidFill>
                  </a:tcPr>
                </a:tc>
                <a:tc>
                  <a:txBody>
                    <a:bodyPr wrap="square"/>
                    <a:lstStyle/>
                    <a:p>
                      <a:pPr algn="l"/>
                      <a:r>
                        <a:rPr sz="1000" b="0" i="0">
                          <a:solidFill>
                            <a:srgbClr val="404040"/>
                          </a:solidFill>
                          <a:latin typeface="Arial"/>
                        </a:rPr>
                        <a:t>Plan, team, benchmark shortlist</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Current State Diagnostic v2</a:t>
                      </a:r>
                    </a:p>
                  </a:txBody>
                  <a:tcPr marL="54864" marR="54864" marT="27432" marB="27432" anchor="ctr">
                    <a:solidFill>
                      <a:srgbClr val="F2F2F2"/>
                    </a:solidFill>
                  </a:tcPr>
                </a:tc>
                <a:tc>
                  <a:txBody>
                    <a:bodyPr wrap="square"/>
                    <a:lstStyle/>
                    <a:p>
                      <a:pPr algn="l"/>
                      <a:r>
                        <a:rPr sz="1000" b="0" i="0">
                          <a:solidFill>
                            <a:srgbClr val="404040"/>
                          </a:solidFill>
                          <a:latin typeface="Arial"/>
                        </a:rPr>
                        <a:t>Dec 2025</a:t>
                      </a:r>
                    </a:p>
                  </a:txBody>
                  <a:tcPr marL="54864" marR="54864" marT="27432" marB="27432" anchor="ctr">
                    <a:solidFill>
                      <a:srgbClr val="F2F2F2"/>
                    </a:solidFill>
                  </a:tcPr>
                </a:tc>
                <a:tc>
                  <a:txBody>
                    <a:bodyPr wrap="square"/>
                    <a:lstStyle/>
                    <a:p>
                      <a:pPr algn="l"/>
                      <a:r>
                        <a:rPr sz="1000" b="0" i="0">
                          <a:solidFill>
                            <a:srgbClr val="404040"/>
                          </a:solidFill>
                          <a:latin typeface="Arial"/>
                        </a:rPr>
                        <a:t>Final</a:t>
                      </a:r>
                    </a:p>
                  </a:txBody>
                  <a:tcPr marL="54864" marR="54864" marT="27432" marB="27432" anchor="ctr">
                    <a:solidFill>
                      <a:srgbClr val="F2F2F2"/>
                    </a:solidFill>
                  </a:tcPr>
                </a:tc>
                <a:tc>
                  <a:txBody>
                    <a:bodyPr wrap="square"/>
                    <a:lstStyle/>
                    <a:p>
                      <a:pPr algn="l"/>
                      <a:r>
                        <a:rPr sz="1000" b="0" i="0">
                          <a:solidFill>
                            <a:srgbClr val="404040"/>
                          </a:solidFill>
                          <a:latin typeface="Arial"/>
                        </a:rPr>
                        <a:t>Baseline; first hypothesis tree</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Global Benchmarking Report</a:t>
                      </a:r>
                    </a:p>
                  </a:txBody>
                  <a:tcPr marL="54864" marR="54864" marT="27432" marB="27432" anchor="ctr">
                    <a:solidFill>
                      <a:srgbClr val="FFFFFF"/>
                    </a:solidFill>
                  </a:tcPr>
                </a:tc>
                <a:tc>
                  <a:txBody>
                    <a:bodyPr wrap="square"/>
                    <a:lstStyle/>
                    <a:p>
                      <a:pPr algn="l"/>
                      <a:r>
                        <a:rPr sz="1000" b="0" i="0">
                          <a:solidFill>
                            <a:srgbClr val="404040"/>
                          </a:solidFill>
                          <a:latin typeface="Arial"/>
                        </a:rPr>
                        <a:t>Mar 2026</a:t>
                      </a:r>
                    </a:p>
                  </a:txBody>
                  <a:tcPr marL="54864" marR="54864" marT="27432" marB="27432" anchor="ctr">
                    <a:solidFill>
                      <a:srgbClr val="FFFFFF"/>
                    </a:solidFill>
                  </a:tcPr>
                </a:tc>
                <a:tc>
                  <a:txBody>
                    <a:bodyPr wrap="square"/>
                    <a:lstStyle/>
                    <a:p>
                      <a:pPr algn="l"/>
                      <a:r>
                        <a:rPr sz="1000" b="0" i="0">
                          <a:solidFill>
                            <a:srgbClr val="404040"/>
                          </a:solidFill>
                          <a:latin typeface="Arial"/>
                        </a:rPr>
                        <a:t>Final</a:t>
                      </a:r>
                    </a:p>
                  </a:txBody>
                  <a:tcPr marL="54864" marR="54864" marT="27432" marB="27432" anchor="ctr">
                    <a:solidFill>
                      <a:srgbClr val="FFFFFF"/>
                    </a:solidFill>
                  </a:tcPr>
                </a:tc>
                <a:tc>
                  <a:txBody>
                    <a:bodyPr wrap="square"/>
                    <a:lstStyle/>
                    <a:p>
                      <a:pPr algn="l"/>
                      <a:r>
                        <a:rPr sz="1000" b="0" i="0">
                          <a:solidFill>
                            <a:srgbClr val="404040"/>
                          </a:solidFill>
                          <a:latin typeface="Arial"/>
                        </a:rPr>
                        <a:t>Six comparators; system insight</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Stakeholder Insights Report</a:t>
                      </a:r>
                    </a:p>
                  </a:txBody>
                  <a:tcPr marL="54864" marR="54864" marT="27432" marB="27432" anchor="ctr">
                    <a:solidFill>
                      <a:srgbClr val="F2F2F2"/>
                    </a:solidFill>
                  </a:tcPr>
                </a:tc>
                <a:tc>
                  <a:txBody>
                    <a:bodyPr wrap="square"/>
                    <a:lstStyle/>
                    <a:p>
                      <a:pPr algn="l"/>
                      <a:r>
                        <a:rPr sz="1000" b="0" i="0">
                          <a:solidFill>
                            <a:srgbClr val="404040"/>
                          </a:solidFill>
                          <a:latin typeface="Arial"/>
                        </a:rPr>
                        <a:t>Mar 2026</a:t>
                      </a:r>
                    </a:p>
                  </a:txBody>
                  <a:tcPr marL="54864" marR="54864" marT="27432" marB="27432" anchor="ctr">
                    <a:solidFill>
                      <a:srgbClr val="F2F2F2"/>
                    </a:solidFill>
                  </a:tcPr>
                </a:tc>
                <a:tc>
                  <a:txBody>
                    <a:bodyPr wrap="square"/>
                    <a:lstStyle/>
                    <a:p>
                      <a:pPr algn="l"/>
                      <a:r>
                        <a:rPr sz="1000" b="0" i="0">
                          <a:solidFill>
                            <a:srgbClr val="404040"/>
                          </a:solidFill>
                          <a:latin typeface="Arial"/>
                        </a:rPr>
                        <a:t>Phase 1</a:t>
                      </a:r>
                    </a:p>
                  </a:txBody>
                  <a:tcPr marL="54864" marR="54864" marT="27432" marB="27432" anchor="ctr">
                    <a:solidFill>
                      <a:srgbClr val="F2F2F2"/>
                    </a:solidFill>
                  </a:tcPr>
                </a:tc>
                <a:tc>
                  <a:txBody>
                    <a:bodyPr wrap="square"/>
                    <a:lstStyle/>
                    <a:p>
                      <a:pPr algn="l"/>
                      <a:r>
                        <a:rPr sz="1000" b="0" i="0">
                          <a:solidFill>
                            <a:srgbClr val="404040"/>
                          </a:solidFill>
                          <a:latin typeface="Arial"/>
                        </a:rPr>
                        <a:t>16 organisations; ~223 insights</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MIDAS Aviation Market Assessment</a:t>
                      </a:r>
                    </a:p>
                  </a:txBody>
                  <a:tcPr marL="54864" marR="54864" marT="27432" marB="27432" anchor="ctr">
                    <a:solidFill>
                      <a:srgbClr val="FFFFFF"/>
                    </a:solidFill>
                  </a:tcPr>
                </a:tc>
                <a:tc>
                  <a:txBody>
                    <a:bodyPr wrap="square"/>
                    <a:lstStyle/>
                    <a:p>
                      <a:pPr algn="l"/>
                      <a:r>
                        <a:rPr sz="1000" b="0" i="0">
                          <a:solidFill>
                            <a:srgbClr val="404040"/>
                          </a:solidFill>
                          <a:latin typeface="Arial"/>
                        </a:rPr>
                        <a:t>Mar / Apr 2026</a:t>
                      </a:r>
                    </a:p>
                  </a:txBody>
                  <a:tcPr marL="54864" marR="54864" marT="27432" marB="27432" anchor="ctr">
                    <a:solidFill>
                      <a:srgbClr val="FFFFFF"/>
                    </a:solidFill>
                  </a:tcPr>
                </a:tc>
                <a:tc>
                  <a:txBody>
                    <a:bodyPr wrap="square"/>
                    <a:lstStyle/>
                    <a:p>
                      <a:pPr algn="l"/>
                      <a:r>
                        <a:rPr sz="1000" b="0" i="0">
                          <a:solidFill>
                            <a:srgbClr val="404040"/>
                          </a:solidFill>
                          <a:latin typeface="Arial"/>
                        </a:rPr>
                        <a:t>Final draft</a:t>
                      </a:r>
                    </a:p>
                  </a:txBody>
                  <a:tcPr marL="54864" marR="54864" marT="27432" marB="27432" anchor="ctr">
                    <a:solidFill>
                      <a:srgbClr val="FFFFFF"/>
                    </a:solidFill>
                  </a:tcPr>
                </a:tc>
                <a:tc>
                  <a:txBody>
                    <a:bodyPr wrap="square"/>
                    <a:lstStyle/>
                    <a:p>
                      <a:pPr algn="l"/>
                      <a:r>
                        <a:rPr sz="1000" b="0" i="0">
                          <a:solidFill>
                            <a:srgbClr val="404040"/>
                          </a:solidFill>
                          <a:latin typeface="Arial"/>
                        </a:rPr>
                        <a:t>Air capacity, routes, India and China</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Demand-Side Analysis</a:t>
                      </a:r>
                    </a:p>
                  </a:txBody>
                  <a:tcPr marL="54864" marR="54864" marT="27432" marB="27432" anchor="ctr">
                    <a:solidFill>
                      <a:srgbClr val="F2F2F2"/>
                    </a:solidFill>
                  </a:tcPr>
                </a:tc>
                <a:tc>
                  <a:txBody>
                    <a:bodyPr wrap="square"/>
                    <a:lstStyle/>
                    <a:p>
                      <a:pPr algn="l"/>
                      <a:r>
                        <a:rPr sz="1000" b="0" i="0">
                          <a:solidFill>
                            <a:srgbClr val="404040"/>
                          </a:solidFill>
                          <a:latin typeface="Arial"/>
                        </a:rPr>
                        <a:t>Jun 2026</a:t>
                      </a:r>
                    </a:p>
                  </a:txBody>
                  <a:tcPr marL="54864" marR="54864" marT="27432" marB="27432" anchor="ctr">
                    <a:solidFill>
                      <a:srgbClr val="F2F2F2"/>
                    </a:solidFill>
                  </a:tcPr>
                </a:tc>
                <a:tc>
                  <a:txBody>
                    <a:bodyPr wrap="square"/>
                    <a:lstStyle/>
                    <a:p>
                      <a:pPr algn="l"/>
                      <a:r>
                        <a:rPr sz="1000" b="0" i="0">
                          <a:solidFill>
                            <a:srgbClr val="404040"/>
                          </a:solidFill>
                          <a:latin typeface="Arial"/>
                        </a:rPr>
                        <a:t>Final</a:t>
                      </a:r>
                    </a:p>
                  </a:txBody>
                  <a:tcPr marL="54864" marR="54864" marT="27432" marB="27432" anchor="ctr">
                    <a:solidFill>
                      <a:srgbClr val="F2F2F2"/>
                    </a:solidFill>
                  </a:tcPr>
                </a:tc>
                <a:tc>
                  <a:txBody>
                    <a:bodyPr wrap="square"/>
                    <a:lstStyle/>
                    <a:p>
                      <a:pPr algn="l"/>
                      <a:r>
                        <a:rPr sz="1000" b="0" i="0">
                          <a:solidFill>
                            <a:srgbClr val="404040"/>
                          </a:solidFill>
                          <a:latin typeface="Arial"/>
                        </a:rPr>
                        <a:t>Scenarios, markets, MICE, route to market</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Infrastructure Report</a:t>
                      </a:r>
                    </a:p>
                  </a:txBody>
                  <a:tcPr marL="54864" marR="54864" marT="27432" marB="27432" anchor="ctr">
                    <a:solidFill>
                      <a:srgbClr val="FFFFFF"/>
                    </a:solidFill>
                  </a:tcPr>
                </a:tc>
                <a:tc>
                  <a:txBody>
                    <a:bodyPr wrap="square"/>
                    <a:lstStyle/>
                    <a:p>
                      <a:pPr algn="l"/>
                      <a:r>
                        <a:rPr sz="1000" b="0" i="0">
                          <a:solidFill>
                            <a:srgbClr val="404040"/>
                          </a:solidFill>
                          <a:latin typeface="Arial"/>
                        </a:rPr>
                        <a:t>Jun 2026</a:t>
                      </a:r>
                    </a:p>
                  </a:txBody>
                  <a:tcPr marL="54864" marR="54864" marT="27432" marB="27432" anchor="ctr">
                    <a:solidFill>
                      <a:srgbClr val="FFFFFF"/>
                    </a:solidFill>
                  </a:tcPr>
                </a:tc>
                <a:tc>
                  <a:txBody>
                    <a:bodyPr wrap="square"/>
                    <a:lstStyle/>
                    <a:p>
                      <a:pPr algn="l"/>
                      <a:r>
                        <a:rPr sz="1000" b="0" i="0">
                          <a:solidFill>
                            <a:srgbClr val="404040"/>
                          </a:solidFill>
                          <a:latin typeface="Arial"/>
                        </a:rPr>
                        <a:t>Draft</a:t>
                      </a:r>
                    </a:p>
                  </a:txBody>
                  <a:tcPr marL="54864" marR="54864" marT="27432" marB="27432" anchor="ctr">
                    <a:solidFill>
                      <a:srgbClr val="FFFFFF"/>
                    </a:solidFill>
                  </a:tcPr>
                </a:tc>
                <a:tc>
                  <a:txBody>
                    <a:bodyPr wrap="square"/>
                    <a:lstStyle/>
                    <a:p>
                      <a:pPr algn="l"/>
                      <a:r>
                        <a:rPr sz="1000" b="0" i="0">
                          <a:solidFill>
                            <a:srgbClr val="404040"/>
                          </a:solidFill>
                          <a:latin typeface="Arial"/>
                        </a:rPr>
                        <a:t>Asset base, readiness, routes; placeholder text remains</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Hypothesis Tree v4</a:t>
                      </a:r>
                    </a:p>
                  </a:txBody>
                  <a:tcPr marL="54864" marR="54864" marT="27432" marB="27432" anchor="ctr">
                    <a:solidFill>
                      <a:srgbClr val="F2F2F2"/>
                    </a:solidFill>
                  </a:tcPr>
                </a:tc>
                <a:tc>
                  <a:txBody>
                    <a:bodyPr wrap="square"/>
                    <a:lstStyle/>
                    <a:p>
                      <a:pPr algn="l"/>
                      <a:r>
                        <a:rPr sz="1000" b="0" i="0">
                          <a:solidFill>
                            <a:srgbClr val="404040"/>
                          </a:solidFill>
                          <a:latin typeface="Arial"/>
                        </a:rPr>
                        <a:t>Jul 2026</a:t>
                      </a:r>
                    </a:p>
                  </a:txBody>
                  <a:tcPr marL="54864" marR="54864" marT="27432" marB="27432" anchor="ctr">
                    <a:solidFill>
                      <a:srgbClr val="F2F2F2"/>
                    </a:solidFill>
                  </a:tcPr>
                </a:tc>
                <a:tc>
                  <a:txBody>
                    <a:bodyPr wrap="square"/>
                    <a:lstStyle/>
                    <a:p>
                      <a:pPr algn="l"/>
                      <a:r>
                        <a:rPr sz="1000" b="0" i="0">
                          <a:solidFill>
                            <a:srgbClr val="404040"/>
                          </a:solidFill>
                          <a:latin typeface="Arial"/>
                        </a:rPr>
                        <a:t>Draft</a:t>
                      </a:r>
                    </a:p>
                  </a:txBody>
                  <a:tcPr marL="54864" marR="54864" marT="27432" marB="27432" anchor="ctr">
                    <a:solidFill>
                      <a:srgbClr val="F2F2F2"/>
                    </a:solidFill>
                  </a:tcPr>
                </a:tc>
                <a:tc>
                  <a:txBody>
                    <a:bodyPr wrap="square"/>
                    <a:lstStyle/>
                    <a:p>
                      <a:pPr algn="l"/>
                      <a:r>
                        <a:rPr sz="1000" b="0" i="0">
                          <a:solidFill>
                            <a:srgbClr val="404040"/>
                          </a:solidFill>
                          <a:latin typeface="Arial"/>
                        </a:rPr>
                        <a:t>Spine of this pack</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SME &amp; Community Inclusion Plan</a:t>
                      </a:r>
                    </a:p>
                  </a:txBody>
                  <a:tcPr marL="54864" marR="54864" marT="27432" marB="27432" anchor="ctr">
                    <a:solidFill>
                      <a:srgbClr val="FFFFFF"/>
                    </a:solidFill>
                  </a:tcPr>
                </a:tc>
                <a:tc>
                  <a:txBody>
                    <a:bodyPr wrap="square"/>
                    <a:lstStyle/>
                    <a:p>
                      <a:pPr algn="l"/>
                      <a:r>
                        <a:rPr sz="1000" b="0" i="0">
                          <a:solidFill>
                            <a:srgbClr val="404040"/>
                          </a:solidFill>
                          <a:latin typeface="Arial"/>
                        </a:rPr>
                        <a:t>Sep 2026</a:t>
                      </a:r>
                    </a:p>
                  </a:txBody>
                  <a:tcPr marL="54864" marR="54864" marT="27432" marB="27432" anchor="ctr">
                    <a:solidFill>
                      <a:srgbClr val="FFFFFF"/>
                    </a:solidFill>
                  </a:tcPr>
                </a:tc>
                <a:tc>
                  <a:txBody>
                    <a:bodyPr wrap="square"/>
                    <a:lstStyle/>
                    <a:p>
                      <a:pPr algn="l"/>
                      <a:r>
                        <a:rPr sz="1000" b="0" i="0">
                          <a:solidFill>
                            <a:srgbClr val="404040"/>
                          </a:solidFill>
                          <a:latin typeface="Arial"/>
                        </a:rPr>
                        <a:t>Draft</a:t>
                      </a:r>
                    </a:p>
                  </a:txBody>
                  <a:tcPr marL="54864" marR="54864" marT="27432" marB="27432" anchor="ctr">
                    <a:solidFill>
                      <a:srgbClr val="FFFFFF"/>
                    </a:solidFill>
                  </a:tcPr>
                </a:tc>
                <a:tc>
                  <a:txBody>
                    <a:bodyPr wrap="square"/>
                    <a:lstStyle/>
                    <a:p>
                      <a:pPr algn="l"/>
                      <a:r>
                        <a:rPr sz="1000" b="0" i="0">
                          <a:solidFill>
                            <a:srgbClr val="404040"/>
                          </a:solidFill>
                          <a:latin typeface="Arial"/>
                        </a:rPr>
                        <a:t>107 communities; 20 shortlisted; 6 profiled</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DSE, Mobility and Municipal factbases</a:t>
                      </a:r>
                    </a:p>
                  </a:txBody>
                  <a:tcPr marL="54864" marR="54864" marT="27432" marB="27432" anchor="ctr">
                    <a:solidFill>
                      <a:srgbClr val="F2F2F2"/>
                    </a:solidFill>
                  </a:tcPr>
                </a:tc>
                <a:tc>
                  <a:txBody>
                    <a:bodyPr wrap="square"/>
                    <a:lstStyle/>
                    <a:p>
                      <a:pPr algn="l"/>
                      <a:r>
                        <a:rPr sz="1000" b="0" i="0">
                          <a:solidFill>
                            <a:srgbClr val="404040"/>
                          </a:solidFill>
                          <a:latin typeface="Arial"/>
                        </a:rPr>
                        <a:t>Nov 2025 to Jul 2026</a:t>
                      </a:r>
                    </a:p>
                  </a:txBody>
                  <a:tcPr marL="54864" marR="54864" marT="27432" marB="27432" anchor="ctr">
                    <a:solidFill>
                      <a:srgbClr val="F2F2F2"/>
                    </a:solidFill>
                  </a:tcPr>
                </a:tc>
                <a:tc>
                  <a:txBody>
                    <a:bodyPr wrap="square"/>
                    <a:lstStyle/>
                    <a:p>
                      <a:pPr algn="l"/>
                      <a:r>
                        <a:rPr sz="1000" b="0" i="0">
                          <a:solidFill>
                            <a:srgbClr val="404040"/>
                          </a:solidFill>
                          <a:latin typeface="Arial"/>
                        </a:rPr>
                        <a:t>Working drafts (AI-assisted)</a:t>
                      </a:r>
                    </a:p>
                  </a:txBody>
                  <a:tcPr marL="54864" marR="54864" marT="27432" marB="27432" anchor="ctr">
                    <a:solidFill>
                      <a:srgbClr val="F2F2F2"/>
                    </a:solidFill>
                  </a:tcPr>
                </a:tc>
                <a:tc>
                  <a:txBody>
                    <a:bodyPr wrap="square"/>
                    <a:lstStyle/>
                    <a:p>
                      <a:pPr algn="l"/>
                      <a:r>
                        <a:rPr sz="1000" b="0" i="0">
                          <a:solidFill>
                            <a:srgbClr val="404040"/>
                          </a:solidFill>
                          <a:latin typeface="Arial"/>
                        </a:rPr>
                        <a:t>Targets, air, cruise, visas, mobility, mandates</a:t>
                      </a:r>
                    </a:p>
                  </a:txBody>
                  <a:tcPr marL="54864" marR="54864" marT="27432" marB="27432" anchor="ctr">
                    <a:solidFill>
                      <a:srgbClr val="F2F2F2"/>
                    </a:solidFill>
                  </a:tcPr>
                </a:tc>
              </a:tr>
              <a:tr h="365760">
                <a:tc>
                  <a:txBody>
                    <a:bodyPr wrap="square"/>
                    <a:lstStyle/>
                    <a:p>
                      <a:pPr algn="l"/>
                      <a:r>
                        <a:rPr sz="1000" b="1" i="0">
                          <a:solidFill>
                            <a:srgbClr val="1F497D"/>
                          </a:solidFill>
                          <a:latin typeface="Arial"/>
                        </a:rPr>
                        <a:t>Cape brand identity concept</a:t>
                      </a:r>
                    </a:p>
                  </a:txBody>
                  <a:tcPr marL="54864" marR="54864" marT="27432" marB="27432" anchor="ctr">
                    <a:solidFill>
                      <a:srgbClr val="FFFFFF"/>
                    </a:solidFill>
                  </a:tcPr>
                </a:tc>
                <a:tc>
                  <a:txBody>
                    <a:bodyPr wrap="square"/>
                    <a:lstStyle/>
                    <a:p>
                      <a:pPr algn="l"/>
                      <a:r>
                        <a:rPr sz="1000" b="0" i="0">
                          <a:solidFill>
                            <a:srgbClr val="404040"/>
                          </a:solidFill>
                          <a:latin typeface="Arial"/>
                        </a:rPr>
                        <a:t>2026</a:t>
                      </a:r>
                    </a:p>
                  </a:txBody>
                  <a:tcPr marL="54864" marR="54864" marT="27432" marB="27432" anchor="ctr">
                    <a:solidFill>
                      <a:srgbClr val="FFFFFF"/>
                    </a:solidFill>
                  </a:tcPr>
                </a:tc>
                <a:tc>
                  <a:txBody>
                    <a:bodyPr wrap="square"/>
                    <a:lstStyle/>
                    <a:p>
                      <a:pPr algn="l"/>
                      <a:r>
                        <a:rPr sz="1000" b="0" i="0">
                          <a:solidFill>
                            <a:srgbClr val="404040"/>
                          </a:solidFill>
                          <a:latin typeface="Arial"/>
                        </a:rPr>
                        <a:t>Concept</a:t>
                      </a:r>
                    </a:p>
                  </a:txBody>
                  <a:tcPr marL="54864" marR="54864" marT="27432" marB="27432" anchor="ctr">
                    <a:solidFill>
                      <a:srgbClr val="FFFFFF"/>
                    </a:solidFill>
                  </a:tcPr>
                </a:tc>
                <a:tc>
                  <a:txBody>
                    <a:bodyPr wrap="square"/>
                    <a:lstStyle/>
                    <a:p>
                      <a:pPr algn="l"/>
                      <a:r>
                        <a:rPr sz="1000" b="0" i="0">
                          <a:solidFill>
                            <a:srgbClr val="404040"/>
                          </a:solidFill>
                          <a:latin typeface="Arial"/>
                        </a:rPr>
                        <a:t>Strategy input for the brand hypothesis</a:t>
                      </a:r>
                    </a:p>
                  </a:txBody>
                  <a:tcPr marL="54864" marR="54864" marT="27432" marB="27432" anchor="ctr">
                    <a:solidFill>
                      <a:srgbClr val="FFFFFF"/>
                    </a:solidFill>
                  </a:tcPr>
                </a:tc>
              </a:tr>
              <a:tr h="365760">
                <a:tc>
                  <a:txBody>
                    <a:bodyPr wrap="square"/>
                    <a:lstStyle/>
                    <a:p>
                      <a:pPr algn="l"/>
                      <a:r>
                        <a:rPr sz="1000" b="1" i="0">
                          <a:solidFill>
                            <a:srgbClr val="1F497D"/>
                          </a:solidFill>
                          <a:latin typeface="Arial"/>
                        </a:rPr>
                        <a:t>RFP SCM002-2025 and signed SLA</a:t>
                      </a:r>
                    </a:p>
                  </a:txBody>
                  <a:tcPr marL="54864" marR="54864" marT="27432" marB="27432" anchor="ctr">
                    <a:solidFill>
                      <a:srgbClr val="F2F2F2"/>
                    </a:solidFill>
                  </a:tcPr>
                </a:tc>
                <a:tc>
                  <a:txBody>
                    <a:bodyPr wrap="square"/>
                    <a:lstStyle/>
                    <a:p>
                      <a:pPr algn="l"/>
                      <a:r>
                        <a:rPr sz="1000" b="0" i="0">
                          <a:solidFill>
                            <a:srgbClr val="404040"/>
                          </a:solidFill>
                          <a:latin typeface="Arial"/>
                        </a:rPr>
                        <a:t>Jul / Dec 2025</a:t>
                      </a:r>
                    </a:p>
                  </a:txBody>
                  <a:tcPr marL="54864" marR="54864" marT="27432" marB="27432" anchor="ctr">
                    <a:solidFill>
                      <a:srgbClr val="F2F2F2"/>
                    </a:solidFill>
                  </a:tcPr>
                </a:tc>
                <a:tc>
                  <a:txBody>
                    <a:bodyPr wrap="square"/>
                    <a:lstStyle/>
                    <a:p>
                      <a:pPr algn="l"/>
                      <a:r>
                        <a:rPr sz="1000" b="0" i="0">
                          <a:solidFill>
                            <a:srgbClr val="404040"/>
                          </a:solidFill>
                          <a:latin typeface="Arial"/>
                        </a:rPr>
                        <a:t>Final</a:t>
                      </a:r>
                    </a:p>
                  </a:txBody>
                  <a:tcPr marL="54864" marR="54864" marT="27432" marB="27432" anchor="ctr">
                    <a:solidFill>
                      <a:srgbClr val="F2F2F2"/>
                    </a:solidFill>
                  </a:tcPr>
                </a:tc>
                <a:tc>
                  <a:txBody>
                    <a:bodyPr wrap="square"/>
                    <a:lstStyle/>
                    <a:p>
                      <a:pPr algn="l"/>
                      <a:r>
                        <a:rPr sz="1000" b="0" i="0">
                          <a:solidFill>
                            <a:srgbClr val="404040"/>
                          </a:solidFill>
                          <a:latin typeface="Arial"/>
                        </a:rPr>
                        <a:t>Scope, deliverables, term, payment</a:t>
                      </a:r>
                    </a:p>
                  </a:txBody>
                  <a:tcPr marL="54864" marR="54864" marT="27432" marB="27432" anchor="ctr">
                    <a:solidFill>
                      <a:srgbClr val="F2F2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84048" y="438912"/>
            <a:ext cx="11338560" cy="685800"/>
          </a:xfrm>
        </p:spPr>
        <p:txBody>
          <a:bodyPr wrap="square" anchor="t" lIns="0" rIns="0" tIns="0" bIns="0">
            <a:normAutofit/>
          </a:bodyPr>
          <a:lstStyle/>
          <a:p>
            <a:pPr algn="l"/>
            <a:r>
              <a:rPr sz="2000" b="1" i="0">
                <a:solidFill>
                  <a:srgbClr val="00AEEF"/>
                </a:solidFill>
                <a:latin typeface="Arial"/>
              </a:rPr>
              <a:t>Several inconsistencies across deliverables must be reconciled before figures go to the Board</a:t>
            </a:r>
          </a:p>
        </p:txBody>
      </p:sp>
      <p:sp>
        <p:nvSpPr>
          <p:cNvPr id="3" name="Topic"/>
          <p:cNvSpPr txBox="1"/>
          <p:nvPr/>
        </p:nvSpPr>
        <p:spPr>
          <a:xfrm>
            <a:off x="384048" y="201168"/>
            <a:ext cx="8686800" cy="274320"/>
          </a:xfrm>
          <a:prstGeom prst="rect">
            <a:avLst/>
          </a:prstGeom>
          <a:noFill/>
        </p:spPr>
        <p:txBody>
          <a:bodyPr wrap="square" anchor="t" lIns="36576" rIns="36576" tIns="21945" bIns="21945">
            <a:spAutoFit/>
          </a:bodyPr>
          <a:lstStyle/>
          <a:p>
            <a:pPr algn="l">
              <a:spcAft>
                <a:spcPts val="0"/>
              </a:spcAft>
            </a:pPr>
            <a:r>
              <a:rPr sz="1000" b="1" i="0">
                <a:solidFill>
                  <a:srgbClr val="1F497D"/>
                </a:solidFill>
                <a:latin typeface="Arial"/>
              </a:rPr>
              <a:t>APPENDIX | DATA ISSUES TO FIX BEFORE THE FINAL REPORT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17320" y="6336792"/>
            <a:ext cx="9692640" cy="365760"/>
          </a:xfrm>
          <a:prstGeom prst="rect">
            <a:avLst/>
          </a:prstGeom>
          <a:noFill/>
        </p:spPr>
        <p:txBody>
          <a:bodyPr wrap="square" anchor="b" lIns="36576" rIns="36576" tIns="21945" bIns="21945">
            <a:spAutoFit/>
          </a:bodyPr>
          <a:lstStyle/>
          <a:p>
            <a:pPr algn="l">
              <a:spcAft>
                <a:spcPts val="0"/>
              </a:spcAft>
            </a:pPr>
            <a:r>
              <a:rPr sz="800" b="0" i="0">
                <a:solidFill>
                  <a:srgbClr val="7F7F7F"/>
                </a:solidFill>
                <a:latin typeface="Arial"/>
              </a:rPr>
              <a:t>Source: Letsema review of inputs</a:t>
            </a:r>
          </a:p>
        </p:txBody>
      </p:sp>
      <p:sp>
        <p:nvSpPr>
          <p:cNvPr id="6" name="Page number"/>
          <p:cNvSpPr txBox="1"/>
          <p:nvPr/>
        </p:nvSpPr>
        <p:spPr>
          <a:xfrm>
            <a:off x="11292840" y="6419088"/>
            <a:ext cx="54864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384048" y="1188720"/>
          <a:ext cx="11420856" cy="4608576"/>
        </p:xfrm>
        <a:graphic>
          <a:graphicData uri="http://schemas.openxmlformats.org/drawingml/2006/table">
            <a:tbl>
              <a:tblPr firstRow="1" bandRow="0">
                <a:tableStyleId>{5C22544A-7EE6-4342-B048-85BDC9FD1C3A}</a:tableStyleId>
              </a:tblPr>
              <a:tblGrid>
                <a:gridCol w="2194560"/>
                <a:gridCol w="6309360"/>
                <a:gridCol w="2916936"/>
              </a:tblGrid>
              <a:tr h="329184">
                <a:tc>
                  <a:txBody>
                    <a:bodyPr wrap="square"/>
                    <a:lstStyle/>
                    <a:p>
                      <a:pPr algn="l"/>
                      <a:r>
                        <a:rPr sz="900" b="1" i="0">
                          <a:solidFill>
                            <a:srgbClr val="FFFFFF"/>
                          </a:solidFill>
                          <a:latin typeface="Arial"/>
                        </a:rPr>
                        <a:t>Issue</a:t>
                      </a:r>
                    </a:p>
                  </a:txBody>
                  <a:tcPr marL="54864" marR="54864" marT="27432" marB="27432" anchor="ctr">
                    <a:solidFill>
                      <a:srgbClr val="1F497D"/>
                    </a:solidFill>
                  </a:tcPr>
                </a:tc>
                <a:tc>
                  <a:txBody>
                    <a:bodyPr wrap="square"/>
                    <a:lstStyle/>
                    <a:p>
                      <a:pPr algn="l"/>
                      <a:r>
                        <a:rPr sz="900" b="1" i="0">
                          <a:solidFill>
                            <a:srgbClr val="FFFFFF"/>
                          </a:solidFill>
                          <a:latin typeface="Arial"/>
                        </a:rPr>
                        <a:t>What is wrong</a:t>
                      </a:r>
                    </a:p>
                  </a:txBody>
                  <a:tcPr marL="54864" marR="54864" marT="27432" marB="27432" anchor="ctr">
                    <a:solidFill>
                      <a:srgbClr val="1F497D"/>
                    </a:solidFill>
                  </a:tcPr>
                </a:tc>
                <a:tc>
                  <a:txBody>
                    <a:bodyPr wrap="square"/>
                    <a:lstStyle/>
                    <a:p>
                      <a:pPr algn="l"/>
                      <a:r>
                        <a:rPr sz="900" b="1" i="0">
                          <a:solidFill>
                            <a:srgbClr val="FFFFFF"/>
                          </a:solidFill>
                          <a:latin typeface="Arial"/>
                        </a:rPr>
                        <a:t>Where</a:t>
                      </a:r>
                    </a:p>
                  </a:txBody>
                  <a:tcPr marL="54864" marR="54864" marT="27432" marB="27432" anchor="ctr">
                    <a:solidFill>
                      <a:srgbClr val="1F497D"/>
                    </a:solidFill>
                  </a:tcPr>
                </a:tc>
              </a:tr>
              <a:tr h="329184">
                <a:tc>
                  <a:txBody>
                    <a:bodyPr wrap="square"/>
                    <a:lstStyle/>
                    <a:p>
                      <a:pPr algn="l"/>
                      <a:r>
                        <a:rPr sz="900" b="1" i="0">
                          <a:solidFill>
                            <a:srgbClr val="1F497D"/>
                          </a:solidFill>
                          <a:latin typeface="Arial"/>
                        </a:rPr>
                        <a:t>Arrivals baseline</a:t>
                      </a:r>
                    </a:p>
                  </a:txBody>
                  <a:tcPr marL="54864" marR="54864" marT="27432" marB="27432" anchor="ctr">
                    <a:solidFill>
                      <a:srgbClr val="FFFFFF"/>
                    </a:solidFill>
                  </a:tcPr>
                </a:tc>
                <a:tc>
                  <a:txBody>
                    <a:bodyPr wrap="square"/>
                    <a:lstStyle/>
                    <a:p>
                      <a:pPr algn="l"/>
                      <a:r>
                        <a:rPr sz="900" b="0" i="0">
                          <a:solidFill>
                            <a:srgbClr val="404040"/>
                          </a:solidFill>
                          <a:latin typeface="Arial"/>
                        </a:rPr>
                        <a:t>Several figures for the same concept (see previous appendix slide)</a:t>
                      </a:r>
                    </a:p>
                  </a:txBody>
                  <a:tcPr marL="54864" marR="54864" marT="27432" marB="27432" anchor="ctr">
                    <a:solidFill>
                      <a:srgbClr val="FFFFFF"/>
                    </a:solidFill>
                  </a:tcPr>
                </a:tc>
                <a:tc>
                  <a:txBody>
                    <a:bodyPr wrap="square"/>
                    <a:lstStyle/>
                    <a:p>
                      <a:pPr algn="l"/>
                      <a:r>
                        <a:rPr sz="900" b="0" i="0">
                          <a:solidFill>
                            <a:srgbClr val="7F7F7F"/>
                          </a:solidFill>
                          <a:latin typeface="Arial"/>
                        </a:rPr>
                        <a:t>All</a:t>
                      </a:r>
                    </a:p>
                  </a:txBody>
                  <a:tcPr marL="54864" marR="54864" marT="27432" marB="27432" anchor="ctr">
                    <a:solidFill>
                      <a:srgbClr val="FFFFFF"/>
                    </a:solidFill>
                  </a:tcPr>
                </a:tc>
              </a:tr>
              <a:tr h="329184">
                <a:tc>
                  <a:txBody>
                    <a:bodyPr wrap="square"/>
                    <a:lstStyle/>
                    <a:p>
                      <a:pPr algn="l"/>
                      <a:r>
                        <a:rPr sz="900" b="1" i="0">
                          <a:solidFill>
                            <a:srgbClr val="1F497D"/>
                          </a:solidFill>
                          <a:latin typeface="Arial"/>
                        </a:rPr>
                        <a:t>Supply scores</a:t>
                      </a:r>
                    </a:p>
                  </a:txBody>
                  <a:tcPr marL="54864" marR="54864" marT="27432" marB="27432" anchor="ctr">
                    <a:solidFill>
                      <a:srgbClr val="F2F2F2"/>
                    </a:solidFill>
                  </a:tcPr>
                </a:tc>
                <a:tc>
                  <a:txBody>
                    <a:bodyPr wrap="square"/>
                    <a:lstStyle/>
                    <a:p>
                      <a:pPr algn="l"/>
                      <a:r>
                        <a:rPr sz="900" b="0" i="0">
                          <a:solidFill>
                            <a:srgbClr val="404040"/>
                          </a:solidFill>
                          <a:latin typeface="Arial"/>
                        </a:rPr>
                        <a:t>Category labels on the regional comparison slides appear swapped between pages</a:t>
                      </a:r>
                    </a:p>
                  </a:txBody>
                  <a:tcPr marL="54864" marR="54864" marT="27432" marB="27432" anchor="ctr">
                    <a:solidFill>
                      <a:srgbClr val="F2F2F2"/>
                    </a:solidFill>
                  </a:tcPr>
                </a:tc>
                <a:tc>
                  <a:txBody>
                    <a:bodyPr wrap="square"/>
                    <a:lstStyle/>
                    <a:p>
                      <a:pPr algn="l"/>
                      <a:r>
                        <a:rPr sz="900" b="0" i="0">
                          <a:solidFill>
                            <a:srgbClr val="7F7F7F"/>
                          </a:solidFill>
                          <a:latin typeface="Arial"/>
                        </a:rPr>
                        <a:t>Infrastructure Report pp27-29</a:t>
                      </a:r>
                    </a:p>
                  </a:txBody>
                  <a:tcPr marL="54864" marR="54864" marT="27432" marB="27432" anchor="ctr">
                    <a:solidFill>
                      <a:srgbClr val="F2F2F2"/>
                    </a:solidFill>
                  </a:tcPr>
                </a:tc>
              </a:tr>
              <a:tr h="329184">
                <a:tc>
                  <a:txBody>
                    <a:bodyPr wrap="square"/>
                    <a:lstStyle/>
                    <a:p>
                      <a:pPr algn="l"/>
                      <a:r>
                        <a:rPr sz="900" b="1" i="0">
                          <a:solidFill>
                            <a:srgbClr val="1F497D"/>
                          </a:solidFill>
                          <a:latin typeface="Arial"/>
                        </a:rPr>
                        <a:t>Top-five market share</a:t>
                      </a:r>
                    </a:p>
                  </a:txBody>
                  <a:tcPr marL="54864" marR="54864" marT="27432" marB="27432" anchor="ctr">
                    <a:solidFill>
                      <a:srgbClr val="FFFFFF"/>
                    </a:solidFill>
                  </a:tcPr>
                </a:tc>
                <a:tc>
                  <a:txBody>
                    <a:bodyPr wrap="square"/>
                    <a:lstStyle/>
                    <a:p>
                      <a:pPr algn="l"/>
                      <a:r>
                        <a:rPr sz="900" b="0" i="0">
                          <a:solidFill>
                            <a:srgbClr val="404040"/>
                          </a:solidFill>
                          <a:latin typeface="Arial"/>
                        </a:rPr>
                        <a:t>61% in text and 63% in the chart</a:t>
                      </a:r>
                    </a:p>
                  </a:txBody>
                  <a:tcPr marL="54864" marR="54864" marT="27432" marB="27432" anchor="ctr">
                    <a:solidFill>
                      <a:srgbClr val="FFFFFF"/>
                    </a:solidFill>
                  </a:tcPr>
                </a:tc>
                <a:tc>
                  <a:txBody>
                    <a:bodyPr wrap="square"/>
                    <a:lstStyle/>
                    <a:p>
                      <a:pPr algn="l"/>
                      <a:r>
                        <a:rPr sz="900" b="0" i="0">
                          <a:solidFill>
                            <a:srgbClr val="7F7F7F"/>
                          </a:solidFill>
                          <a:latin typeface="Arial"/>
                        </a:rPr>
                        <a:t>Demand-Side p13; Diagnostic p29</a:t>
                      </a:r>
                    </a:p>
                  </a:txBody>
                  <a:tcPr marL="54864" marR="54864" marT="27432" marB="27432" anchor="ctr">
                    <a:solidFill>
                      <a:srgbClr val="FFFFFF"/>
                    </a:solidFill>
                  </a:tcPr>
                </a:tc>
              </a:tr>
              <a:tr h="329184">
                <a:tc>
                  <a:txBody>
                    <a:bodyPr wrap="square"/>
                    <a:lstStyle/>
                    <a:p>
                      <a:pPr algn="l"/>
                      <a:r>
                        <a:rPr sz="900" b="1" i="0">
                          <a:solidFill>
                            <a:srgbClr val="1F497D"/>
                          </a:solidFill>
                          <a:latin typeface="Arial"/>
                        </a:rPr>
                        <a:t>Seasonality</a:t>
                      </a:r>
                    </a:p>
                  </a:txBody>
                  <a:tcPr marL="54864" marR="54864" marT="27432" marB="27432" anchor="ctr">
                    <a:solidFill>
                      <a:srgbClr val="F2F2F2"/>
                    </a:solidFill>
                  </a:tcPr>
                </a:tc>
                <a:tc>
                  <a:txBody>
                    <a:bodyPr wrap="square"/>
                    <a:lstStyle/>
                    <a:p>
                      <a:pPr algn="l"/>
                      <a:r>
                        <a:rPr sz="900" b="0" i="0">
                          <a:solidFill>
                            <a:srgbClr val="404040"/>
                          </a:solidFill>
                          <a:latin typeface="Arial"/>
                        </a:rPr>
                        <a:t>Monthly shares sum to ~105%; "Feb-Mar = 25%" not supported by the chart</a:t>
                      </a:r>
                    </a:p>
                  </a:txBody>
                  <a:tcPr marL="54864" marR="54864" marT="27432" marB="27432" anchor="ctr">
                    <a:solidFill>
                      <a:srgbClr val="F2F2F2"/>
                    </a:solidFill>
                  </a:tcPr>
                </a:tc>
                <a:tc>
                  <a:txBody>
                    <a:bodyPr wrap="square"/>
                    <a:lstStyle/>
                    <a:p>
                      <a:pPr algn="l"/>
                      <a:r>
                        <a:rPr sz="900" b="0" i="0">
                          <a:solidFill>
                            <a:srgbClr val="7F7F7F"/>
                          </a:solidFill>
                          <a:latin typeface="Arial"/>
                        </a:rPr>
                        <a:t>Demand-Side p12</a:t>
                      </a:r>
                    </a:p>
                  </a:txBody>
                  <a:tcPr marL="54864" marR="54864" marT="27432" marB="27432" anchor="ctr">
                    <a:solidFill>
                      <a:srgbClr val="F2F2F2"/>
                    </a:solidFill>
                  </a:tcPr>
                </a:tc>
              </a:tr>
              <a:tr h="329184">
                <a:tc>
                  <a:txBody>
                    <a:bodyPr wrap="square"/>
                    <a:lstStyle/>
                    <a:p>
                      <a:pPr algn="l"/>
                      <a:r>
                        <a:rPr sz="900" b="1" i="0">
                          <a:solidFill>
                            <a:srgbClr val="1F497D"/>
                          </a:solidFill>
                          <a:latin typeface="Arial"/>
                        </a:rPr>
                        <a:t>Length of stay</a:t>
                      </a:r>
                    </a:p>
                  </a:txBody>
                  <a:tcPr marL="54864" marR="54864" marT="27432" marB="27432" anchor="ctr">
                    <a:solidFill>
                      <a:srgbClr val="FFFFFF"/>
                    </a:solidFill>
                  </a:tcPr>
                </a:tc>
                <a:tc>
                  <a:txBody>
                    <a:bodyPr wrap="square"/>
                    <a:lstStyle/>
                    <a:p>
                      <a:pPr algn="l"/>
                      <a:r>
                        <a:rPr sz="900" b="0" i="0">
                          <a:solidFill>
                            <a:srgbClr val="404040"/>
                          </a:solidFill>
                          <a:latin typeface="Arial"/>
                        </a:rPr>
                        <a:t>Plotted buckets sum to 48%; "60% stay 7+ days" not derivable</a:t>
                      </a:r>
                    </a:p>
                  </a:txBody>
                  <a:tcPr marL="54864" marR="54864" marT="27432" marB="27432" anchor="ctr">
                    <a:solidFill>
                      <a:srgbClr val="FFFFFF"/>
                    </a:solidFill>
                  </a:tcPr>
                </a:tc>
                <a:tc>
                  <a:txBody>
                    <a:bodyPr wrap="square"/>
                    <a:lstStyle/>
                    <a:p>
                      <a:pPr algn="l"/>
                      <a:r>
                        <a:rPr sz="900" b="0" i="0">
                          <a:solidFill>
                            <a:srgbClr val="7F7F7F"/>
                          </a:solidFill>
                          <a:latin typeface="Arial"/>
                        </a:rPr>
                        <a:t>Diagnostic pp25-27</a:t>
                      </a:r>
                    </a:p>
                  </a:txBody>
                  <a:tcPr marL="54864" marR="54864" marT="27432" marB="27432" anchor="ctr">
                    <a:solidFill>
                      <a:srgbClr val="FFFFFF"/>
                    </a:solidFill>
                  </a:tcPr>
                </a:tc>
              </a:tr>
              <a:tr h="329184">
                <a:tc>
                  <a:txBody>
                    <a:bodyPr wrap="square"/>
                    <a:lstStyle/>
                    <a:p>
                      <a:pPr algn="l"/>
                      <a:r>
                        <a:rPr sz="900" b="1" i="0">
                          <a:solidFill>
                            <a:srgbClr val="1F497D"/>
                          </a:solidFill>
                          <a:latin typeface="Arial"/>
                        </a:rPr>
                        <a:t>Doubling target</a:t>
                      </a:r>
                    </a:p>
                  </a:txBody>
                  <a:tcPr marL="54864" marR="54864" marT="27432" marB="27432" anchor="ctr">
                    <a:solidFill>
                      <a:srgbClr val="F2F2F2"/>
                    </a:solidFill>
                  </a:tcPr>
                </a:tc>
                <a:tc>
                  <a:txBody>
                    <a:bodyPr wrap="square"/>
                    <a:lstStyle/>
                    <a:p>
                      <a:pPr algn="l"/>
                      <a:r>
                        <a:rPr sz="900" b="0" i="0">
                          <a:solidFill>
                            <a:srgbClr val="404040"/>
                          </a:solidFill>
                          <a:latin typeface="Arial"/>
                        </a:rPr>
                        <a:t>Diagnostic states 5.7m arrivals and R54.7bn by 2035 (Blueprint figures)</a:t>
                      </a:r>
                    </a:p>
                  </a:txBody>
                  <a:tcPr marL="54864" marR="54864" marT="27432" marB="27432" anchor="ctr">
                    <a:solidFill>
                      <a:srgbClr val="F2F2F2"/>
                    </a:solidFill>
                  </a:tcPr>
                </a:tc>
                <a:tc>
                  <a:txBody>
                    <a:bodyPr wrap="square"/>
                    <a:lstStyle/>
                    <a:p>
                      <a:pPr algn="l"/>
                      <a:r>
                        <a:rPr sz="900" b="0" i="0">
                          <a:solidFill>
                            <a:srgbClr val="7F7F7F"/>
                          </a:solidFill>
                          <a:latin typeface="Arial"/>
                        </a:rPr>
                        <a:t>Diagnostic p5</a:t>
                      </a:r>
                    </a:p>
                  </a:txBody>
                  <a:tcPr marL="54864" marR="54864" marT="27432" marB="27432" anchor="ctr">
                    <a:solidFill>
                      <a:srgbClr val="F2F2F2"/>
                    </a:solidFill>
                  </a:tcPr>
                </a:tc>
              </a:tr>
              <a:tr h="329184">
                <a:tc>
                  <a:txBody>
                    <a:bodyPr wrap="square"/>
                    <a:lstStyle/>
                    <a:p>
                      <a:pPr algn="l"/>
                      <a:r>
                        <a:rPr sz="900" b="1" i="0">
                          <a:solidFill>
                            <a:srgbClr val="1F497D"/>
                          </a:solidFill>
                          <a:latin typeface="Arial"/>
                        </a:rPr>
                        <a:t>Cruise chart</a:t>
                      </a:r>
                    </a:p>
                  </a:txBody>
                  <a:tcPr marL="54864" marR="54864" marT="27432" marB="27432" anchor="ctr">
                    <a:solidFill>
                      <a:srgbClr val="FFFFFF"/>
                    </a:solidFill>
                  </a:tcPr>
                </a:tc>
                <a:tc>
                  <a:txBody>
                    <a:bodyPr wrap="square"/>
                    <a:lstStyle/>
                    <a:p>
                      <a:pPr algn="l"/>
                      <a:r>
                        <a:rPr sz="900" b="0" i="0">
                          <a:solidFill>
                            <a:srgbClr val="404040"/>
                          </a:solidFill>
                          <a:latin typeface="Arial"/>
                        </a:rPr>
                        <a:t>One value repeats across two series</a:t>
                      </a:r>
                    </a:p>
                  </a:txBody>
                  <a:tcPr marL="54864" marR="54864" marT="27432" marB="27432" anchor="ctr">
                    <a:solidFill>
                      <a:srgbClr val="FFFFFF"/>
                    </a:solidFill>
                  </a:tcPr>
                </a:tc>
                <a:tc>
                  <a:txBody>
                    <a:bodyPr wrap="square"/>
                    <a:lstStyle/>
                    <a:p>
                      <a:pPr algn="l"/>
                      <a:r>
                        <a:rPr sz="900" b="0" i="0">
                          <a:solidFill>
                            <a:srgbClr val="7F7F7F"/>
                          </a:solidFill>
                          <a:latin typeface="Arial"/>
                        </a:rPr>
                        <a:t>Diagnostic p37</a:t>
                      </a:r>
                    </a:p>
                  </a:txBody>
                  <a:tcPr marL="54864" marR="54864" marT="27432" marB="27432" anchor="ctr">
                    <a:solidFill>
                      <a:srgbClr val="FFFFFF"/>
                    </a:solidFill>
                  </a:tcPr>
                </a:tc>
              </a:tr>
              <a:tr h="329184">
                <a:tc>
                  <a:txBody>
                    <a:bodyPr wrap="square"/>
                    <a:lstStyle/>
                    <a:p>
                      <a:pPr algn="l"/>
                      <a:r>
                        <a:rPr sz="900" b="1" i="0">
                          <a:solidFill>
                            <a:srgbClr val="1F497D"/>
                          </a:solidFill>
                          <a:latin typeface="Arial"/>
                        </a:rPr>
                        <a:t>Inbound spend table</a:t>
                      </a:r>
                    </a:p>
                  </a:txBody>
                  <a:tcPr marL="54864" marR="54864" marT="27432" marB="27432" anchor="ctr">
                    <a:solidFill>
                      <a:srgbClr val="F2F2F2"/>
                    </a:solidFill>
                  </a:tcPr>
                </a:tc>
                <a:tc>
                  <a:txBody>
                    <a:bodyPr wrap="square"/>
                    <a:lstStyle/>
                    <a:p>
                      <a:pPr algn="l"/>
                      <a:r>
                        <a:rPr sz="900" b="0" i="0">
                          <a:solidFill>
                            <a:srgbClr val="404040"/>
                          </a:solidFill>
                          <a:latin typeface="Arial"/>
                        </a:rPr>
                        <a:t>Outbound spend likely US$bn printed as US$m</a:t>
                      </a:r>
                    </a:p>
                  </a:txBody>
                  <a:tcPr marL="54864" marR="54864" marT="27432" marB="27432" anchor="ctr">
                    <a:solidFill>
                      <a:srgbClr val="F2F2F2"/>
                    </a:solidFill>
                  </a:tcPr>
                </a:tc>
                <a:tc>
                  <a:txBody>
                    <a:bodyPr wrap="square"/>
                    <a:lstStyle/>
                    <a:p>
                      <a:pPr algn="l"/>
                      <a:r>
                        <a:rPr sz="900" b="0" i="0">
                          <a:solidFill>
                            <a:srgbClr val="7F7F7F"/>
                          </a:solidFill>
                          <a:latin typeface="Arial"/>
                        </a:rPr>
                        <a:t>DSE factbase T7</a:t>
                      </a:r>
                    </a:p>
                  </a:txBody>
                  <a:tcPr marL="54864" marR="54864" marT="27432" marB="27432" anchor="ctr">
                    <a:solidFill>
                      <a:srgbClr val="F2F2F2"/>
                    </a:solidFill>
                  </a:tcPr>
                </a:tc>
              </a:tr>
              <a:tr h="329184">
                <a:tc>
                  <a:txBody>
                    <a:bodyPr wrap="square"/>
                    <a:lstStyle/>
                    <a:p>
                      <a:pPr algn="l"/>
                      <a:r>
                        <a:rPr sz="900" b="1" i="0">
                          <a:solidFill>
                            <a:srgbClr val="1F497D"/>
                          </a:solidFill>
                          <a:latin typeface="Arial"/>
                        </a:rPr>
                        <a:t>Infrastructure Report</a:t>
                      </a:r>
                    </a:p>
                  </a:txBody>
                  <a:tcPr marL="54864" marR="54864" marT="27432" marB="27432" anchor="ctr">
                    <a:solidFill>
                      <a:srgbClr val="FFFFFF"/>
                    </a:solidFill>
                  </a:tcPr>
                </a:tc>
                <a:tc>
                  <a:txBody>
                    <a:bodyPr wrap="square"/>
                    <a:lstStyle/>
                    <a:p>
                      <a:pPr algn="l"/>
                      <a:r>
                        <a:rPr sz="900" b="0" i="0">
                          <a:solidFill>
                            <a:srgbClr val="404040"/>
                          </a:solidFill>
                          <a:latin typeface="Arial"/>
                        </a:rPr>
                        <a:t>Placeholder text from another engagement; one district deep dive only</a:t>
                      </a:r>
                    </a:p>
                  </a:txBody>
                  <a:tcPr marL="54864" marR="54864" marT="27432" marB="27432" anchor="ctr">
                    <a:solidFill>
                      <a:srgbClr val="FFFFFF"/>
                    </a:solidFill>
                  </a:tcPr>
                </a:tc>
                <a:tc>
                  <a:txBody>
                    <a:bodyPr wrap="square"/>
                    <a:lstStyle/>
                    <a:p>
                      <a:pPr algn="l"/>
                      <a:r>
                        <a:rPr sz="900" b="0" i="0">
                          <a:solidFill>
                            <a:srgbClr val="7F7F7F"/>
                          </a:solidFill>
                          <a:latin typeface="Arial"/>
                        </a:rPr>
                        <a:t>Infrastructure Report p15 (GTA workshop text)</a:t>
                      </a:r>
                    </a:p>
                  </a:txBody>
                  <a:tcPr marL="54864" marR="54864" marT="27432" marB="27432" anchor="ctr">
                    <a:solidFill>
                      <a:srgbClr val="FFFFFF"/>
                    </a:solidFill>
                  </a:tcPr>
                </a:tc>
              </a:tr>
              <a:tr h="329184">
                <a:tc>
                  <a:txBody>
                    <a:bodyPr wrap="square"/>
                    <a:lstStyle/>
                    <a:p>
                      <a:pPr algn="l"/>
                      <a:r>
                        <a:rPr sz="900" b="1" i="0">
                          <a:solidFill>
                            <a:srgbClr val="1F497D"/>
                          </a:solidFill>
                          <a:latin typeface="Arial"/>
                        </a:rPr>
                        <a:t>Stakeholder report</a:t>
                      </a:r>
                    </a:p>
                  </a:txBody>
                  <a:tcPr marL="54864" marR="54864" marT="27432" marB="27432" anchor="ctr">
                    <a:solidFill>
                      <a:srgbClr val="F2F2F2"/>
                    </a:solidFill>
                  </a:tcPr>
                </a:tc>
                <a:tc>
                  <a:txBody>
                    <a:bodyPr wrap="square"/>
                    <a:lstStyle/>
                    <a:p>
                      <a:pPr algn="l"/>
                      <a:r>
                        <a:rPr sz="900" b="0" i="0">
                          <a:solidFill>
                            <a:srgbClr val="404040"/>
                          </a:solidFill>
                          <a:latin typeface="Arial"/>
                        </a:rPr>
                        <a:t>Titled "Unlocking", not "Doubling"; no reference to the 2.8m goal</a:t>
                      </a:r>
                    </a:p>
                  </a:txBody>
                  <a:tcPr marL="54864" marR="54864" marT="27432" marB="27432" anchor="ctr">
                    <a:solidFill>
                      <a:srgbClr val="F2F2F2"/>
                    </a:solidFill>
                  </a:tcPr>
                </a:tc>
                <a:tc>
                  <a:txBody>
                    <a:bodyPr wrap="square"/>
                    <a:lstStyle/>
                    <a:p>
                      <a:pPr algn="l"/>
                      <a:r>
                        <a:rPr sz="900" b="0" i="0">
                          <a:solidFill>
                            <a:srgbClr val="7F7F7F"/>
                          </a:solidFill>
                          <a:latin typeface="Arial"/>
                        </a:rPr>
                        <a:t>Stakeholder Insights</a:t>
                      </a:r>
                    </a:p>
                  </a:txBody>
                  <a:tcPr marL="54864" marR="54864" marT="27432" marB="27432" anchor="ctr">
                    <a:solidFill>
                      <a:srgbClr val="F2F2F2"/>
                    </a:solidFill>
                  </a:tcPr>
                </a:tc>
              </a:tr>
              <a:tr h="329184">
                <a:tc>
                  <a:txBody>
                    <a:bodyPr wrap="square"/>
                    <a:lstStyle/>
                    <a:p>
                      <a:pPr algn="l"/>
                      <a:r>
                        <a:rPr sz="900" b="1" i="0">
                          <a:solidFill>
                            <a:srgbClr val="1F497D"/>
                          </a:solidFill>
                          <a:latin typeface="Arial"/>
                        </a:rPr>
                        <a:t>Kenya yield</a:t>
                      </a:r>
                    </a:p>
                  </a:txBody>
                  <a:tcPr marL="54864" marR="54864" marT="27432" marB="27432" anchor="ctr">
                    <a:solidFill>
                      <a:srgbClr val="FFFFFF"/>
                    </a:solidFill>
                  </a:tcPr>
                </a:tc>
                <a:tc>
                  <a:txBody>
                    <a:bodyPr wrap="square"/>
                    <a:lstStyle/>
                    <a:p>
                      <a:pPr algn="l"/>
                      <a:r>
                        <a:rPr sz="900" b="0" i="0">
                          <a:solidFill>
                            <a:srgbClr val="404040"/>
                          </a:solidFill>
                          <a:latin typeface="Arial"/>
                        </a:rPr>
                        <a:t>Benchmark: US$1,650 on 2.1m arrivals; Demand-Side: US$1,460 on 2.4m</a:t>
                      </a:r>
                    </a:p>
                  </a:txBody>
                  <a:tcPr marL="54864" marR="54864" marT="27432" marB="27432" anchor="ctr">
                    <a:solidFill>
                      <a:srgbClr val="FFFFFF"/>
                    </a:solidFill>
                  </a:tcPr>
                </a:tc>
                <a:tc>
                  <a:txBody>
                    <a:bodyPr wrap="square"/>
                    <a:lstStyle/>
                    <a:p>
                      <a:pPr algn="l"/>
                      <a:r>
                        <a:rPr sz="900" b="0" i="0">
                          <a:solidFill>
                            <a:srgbClr val="7F7F7F"/>
                          </a:solidFill>
                          <a:latin typeface="Arial"/>
                        </a:rPr>
                        <a:t>Benchmark p27; Demand-Side p15</a:t>
                      </a:r>
                    </a:p>
                  </a:txBody>
                  <a:tcPr marL="54864" marR="54864" marT="27432" marB="27432" anchor="ctr">
                    <a:solidFill>
                      <a:srgbClr val="FFFFFF"/>
                    </a:solidFill>
                  </a:tcPr>
                </a:tc>
              </a:tr>
              <a:tr h="329184">
                <a:tc>
                  <a:txBody>
                    <a:bodyPr wrap="square"/>
                    <a:lstStyle/>
                    <a:p>
                      <a:pPr algn="l"/>
                      <a:r>
                        <a:rPr sz="900" b="1" i="0">
                          <a:solidFill>
                            <a:srgbClr val="1F497D"/>
                          </a:solidFill>
                          <a:latin typeface="Arial"/>
                        </a:rPr>
                        <a:t>Overberg seasonality</a:t>
                      </a:r>
                    </a:p>
                  </a:txBody>
                  <a:tcPr marL="54864" marR="54864" marT="27432" marB="27432" anchor="ctr">
                    <a:solidFill>
                      <a:srgbClr val="F2F2F2"/>
                    </a:solidFill>
                  </a:tcPr>
                </a:tc>
                <a:tc>
                  <a:txBody>
                    <a:bodyPr wrap="square"/>
                    <a:lstStyle/>
                    <a:p>
                      <a:pPr algn="l"/>
                      <a:r>
                        <a:rPr sz="900" b="0" i="0">
                          <a:solidFill>
                            <a:srgbClr val="404040"/>
                          </a:solidFill>
                          <a:latin typeface="Arial"/>
                        </a:rPr>
                        <a:t>Infrastructure: demand and pricing peak in winter; Overberg District: May-July is a shoulder</a:t>
                      </a:r>
                    </a:p>
                  </a:txBody>
                  <a:tcPr marL="54864" marR="54864" marT="27432" marB="27432" anchor="ctr">
                    <a:solidFill>
                      <a:srgbClr val="F2F2F2"/>
                    </a:solidFill>
                  </a:tcPr>
                </a:tc>
                <a:tc>
                  <a:txBody>
                    <a:bodyPr wrap="square"/>
                    <a:lstStyle/>
                    <a:p>
                      <a:pPr algn="l"/>
                      <a:r>
                        <a:rPr sz="900" b="0" i="0">
                          <a:solidFill>
                            <a:srgbClr val="7F7F7F"/>
                          </a:solidFill>
                          <a:latin typeface="Arial"/>
                        </a:rPr>
                        <a:t>Infrastructure p28; Stakeholder p26</a:t>
                      </a:r>
                    </a:p>
                  </a:txBody>
                  <a:tcPr marL="54864" marR="54864" marT="27432" marB="27432" anchor="ctr">
                    <a:solidFill>
                      <a:srgbClr val="F2F2F2"/>
                    </a:solidFill>
                  </a:tcPr>
                </a:tc>
              </a:tr>
              <a:tr h="329184">
                <a:tc>
                  <a:txBody>
                    <a:bodyPr wrap="square"/>
                    <a:lstStyle/>
                    <a:p>
                      <a:pPr algn="l"/>
                      <a:r>
                        <a:rPr sz="900" b="1" i="0">
                          <a:solidFill>
                            <a:srgbClr val="1F497D"/>
                          </a:solidFill>
                          <a:latin typeface="Arial"/>
                        </a:rPr>
                        <a:t>India and China volumes</a:t>
                      </a:r>
                    </a:p>
                  </a:txBody>
                  <a:tcPr marL="54864" marR="54864" marT="27432" marB="27432" anchor="ctr">
                    <a:solidFill>
                      <a:srgbClr val="FFFFFF"/>
                    </a:solidFill>
                  </a:tcPr>
                </a:tc>
                <a:tc>
                  <a:txBody>
                    <a:bodyPr wrap="square"/>
                    <a:lstStyle/>
                    <a:p>
                      <a:pPr algn="l"/>
                      <a:r>
                        <a:rPr sz="900" b="0" i="0">
                          <a:solidFill>
                            <a:srgbClr val="404040"/>
                          </a:solidFill>
                          <a:latin typeface="Arial"/>
                        </a:rPr>
                        <a:t>MIDAS uses "passengers", "bookings" and "travellers" interchangeably for GDS-estimated two-way journeys</a:t>
                      </a:r>
                    </a:p>
                  </a:txBody>
                  <a:tcPr marL="54864" marR="54864" marT="27432" marB="27432" anchor="ctr">
                    <a:solidFill>
                      <a:srgbClr val="FFFFFF"/>
                    </a:solidFill>
                  </a:tcPr>
                </a:tc>
                <a:tc>
                  <a:txBody>
                    <a:bodyPr wrap="square"/>
                    <a:lstStyle/>
                    <a:p>
                      <a:pPr algn="l"/>
                      <a:r>
                        <a:rPr sz="900" b="0" i="0">
                          <a:solidFill>
                            <a:srgbClr val="7F7F7F"/>
                          </a:solidFill>
                          <a:latin typeface="Arial"/>
                        </a:rPr>
                        <a:t>MIDAS pp3, 18-19</a:t>
                      </a:r>
                    </a:p>
                  </a:txBody>
                  <a:tcPr marL="54864" marR="54864" marT="27432" marB="27432"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nd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11480" y="2011680"/>
            <a:ext cx="5486400" cy="1280160"/>
          </a:xfrm>
          <a:prstGeom prst="rect">
            <a:avLst/>
          </a:prstGeom>
          <a:noFill/>
        </p:spPr>
        <p:txBody>
          <a:bodyPr wrap="square" anchor="t" lIns="0" rIns="0" tIns="0" bIns="0">
            <a:spAutoFit/>
          </a:bodyPr>
          <a:lstStyle/>
          <a:p>
            <a:pPr algn="l">
              <a:spcAft>
                <a:spcPts val="0"/>
              </a:spcAft>
            </a:pPr>
            <a:r>
              <a:rPr sz="8000" b="0" i="0">
                <a:solidFill>
                  <a:srgbClr val="FFFFFF"/>
                </a:solidFill>
                <a:latin typeface="Arial"/>
              </a:rPr>
              <a:t>END</a:t>
            </a:r>
          </a:p>
        </p:txBody>
      </p:sp>
      <p:sp>
        <p:nvSpPr>
          <p:cNvPr id="4" name="TextBox 3"/>
          <p:cNvSpPr txBox="1"/>
          <p:nvPr/>
        </p:nvSpPr>
        <p:spPr>
          <a:xfrm>
            <a:off x="457200" y="3246120"/>
            <a:ext cx="5486400" cy="548640"/>
          </a:xfrm>
          <a:prstGeom prst="rect">
            <a:avLst/>
          </a:prstGeom>
          <a:noFill/>
        </p:spPr>
        <p:txBody>
          <a:bodyPr wrap="square" anchor="t" lIns="0" rIns="0" tIns="0" bIns="0">
            <a:spAutoFit/>
          </a:bodyPr>
          <a:lstStyle/>
          <a:p>
            <a:pPr algn="l">
              <a:spcAft>
                <a:spcPts val="0"/>
              </a:spcAft>
            </a:pPr>
            <a:r>
              <a:rPr sz="2600" b="0" i="0">
                <a:solidFill>
                  <a:srgbClr val="FFFFFF"/>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