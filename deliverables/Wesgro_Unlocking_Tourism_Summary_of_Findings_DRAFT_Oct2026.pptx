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International arrivals (m)</c:v>
                </c:pt>
              </c:strCache>
            </c:strRef>
          </c:tx>
          <c:spPr>
            <a:solidFill>
              <a:srgbClr val="00AEEF"/>
            </a:solidFill>
          </c:spPr>
          <c:dPt>
            <c:idx val="0"/>
            <c:spPr>
              <a:solidFill>
                <a:srgbClr val="D9D9D9"/>
              </a:solidFill>
            </c:spPr>
          </c:dPt>
          <c:dPt>
            <c:idx val="1"/>
            <c:spPr>
              <a:solidFill>
                <a:srgbClr val="4F81BD"/>
              </a:solidFill>
            </c:spPr>
          </c:dPt>
          <c:dPt>
            <c:idx val="2"/>
            <c:spPr>
              <a:solidFill>
                <a:srgbClr val="4F81BD"/>
              </a:solidFill>
            </c:spPr>
          </c:dPt>
          <c:dPt>
            <c:idx val="3"/>
            <c:spPr>
              <a:solidFill>
                <a:srgbClr val="00AEEF"/>
              </a:solidFill>
            </c:spPr>
          </c:dPt>
          <c:dPt>
            <c:idx val="4"/>
            <c:spPr>
              <a:solidFill>
                <a:srgbClr val="1F497D"/>
              </a:solidFill>
            </c:spPr>
          </c:dPt>
          <c:cat>
            <c:strRef>
              <c:f>Sheet1!$A$2:$A$6</c:f>
              <c:strCache>
                <c:ptCount val="5"/>
                <c:pt idx="0">
                  <c:v>2024 base</c:v>
                </c:pt>
                <c:pt idx="1">
                  <c:v>Conservative 2035</c:v>
                </c:pt>
                <c:pt idx="2">
                  <c:v>Base 2035</c:v>
                </c:pt>
                <c:pt idx="3">
                  <c:v>Accelerated 2035</c:v>
                </c:pt>
                <c:pt idx="4">
                  <c:v>Goal 2035</c:v>
                </c:pt>
              </c:strCache>
            </c:strRef>
          </c:cat>
          <c:val>
            <c:numRef>
              <c:f>Sheet1!$B$2:$B$6</c:f>
              <c:numCache>
                <c:formatCode>General</c:formatCode>
                <c:ptCount val="5"/>
                <c:pt idx="0">
                  <c:v>1.445</c:v>
                </c:pt>
                <c:pt idx="1">
                  <c:v>1.823</c:v>
                </c:pt>
                <c:pt idx="2">
                  <c:v>2.176</c:v>
                </c:pt>
                <c:pt idx="3">
                  <c:v>2.516</c:v>
                </c:pt>
                <c:pt idx="4">
                  <c:v>2.8</c:v>
                </c:pt>
              </c:numCache>
            </c:numRef>
          </c:val>
        </c:ser>
        <c:dLbls>
          <c:numFmt formatCode="0.00&quot;m&quot;" sourceLinked="0"/>
          <c:txPr>
            <a:bodyPr/>
            <a:lstStyle/>
            <a:p>
              <a:pPr>
                <a:defRPr sz="1000">
                  <a:solidFill>
                    <a:srgbClr val="404040"/>
                  </a:solidFill>
                </a:defRPr>
              </a:pPr>
            </a:p>
          </c:txPr>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000"/>
            </a:pPr>
          </a:p>
        </c:txPr>
        <c:crossAx val="-2113994440"/>
        <c:crosses val="autoZero"/>
        <c:auto val="1"/>
        <c:lblAlgn val="ctr"/>
        <c:lblOffset val="100"/>
        <c:noMultiLvlLbl val="0"/>
      </c:catAx>
      <c:valAx>
        <c:axId val="-2113994440"/>
        <c:scaling/>
        <c:delete/>
        <c:axPos val="l"/>
        <c:majorTickMark val="out"/>
        <c:minorTickMark val="none"/>
        <c:tickLblPos val="nextTo"/>
        <c:txPr>
          <a:bodyPr/>
          <a:lstStyle/>
          <a:p>
            <a:pPr>
              <a:defRPr sz="1000"/>
            </a:pPr>
          </a:p>
        </c:txPr>
        <c:crossAx val="-2068027336"/>
        <c:crosses val="autoZero"/>
      </c:valAx>
    </c:plotArea>
    <c:dispBlanksAs val="gap"/>
  </c:chart>
  <c:txPr>
    <a:bodyPr/>
    <a:lstStyle/>
    <a:p>
      <a:pPr>
        <a:defRPr sz="1000">
          <a:solidFill>
            <a:srgbClr val="404040"/>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Spend per visitor (ZAR, 2024)</c:v>
                </c:pt>
              </c:strCache>
            </c:strRef>
          </c:tx>
          <c:spPr>
            <a:solidFill>
              <a:srgbClr val="00AEEF"/>
            </a:solidFill>
          </c:spPr>
          <c:dPt>
            <c:idx val="7"/>
            <c:spPr>
              <a:solidFill>
                <a:srgbClr val="4F81BD"/>
              </a:solidFill>
            </c:spPr>
          </c:dPt>
          <c:dPt>
            <c:idx val="8"/>
            <c:spPr>
              <a:solidFill>
                <a:srgbClr val="4F81BD"/>
              </a:solidFill>
            </c:spPr>
          </c:dPt>
          <c:cat>
            <c:strRef>
              <c:f>Sheet1!$A$2:$A$10</c:f>
              <c:strCache>
                <c:ptCount val="9"/>
                <c:pt idx="0">
                  <c:v>USA</c:v>
                </c:pt>
                <c:pt idx="1">
                  <c:v>UK</c:v>
                </c:pt>
                <c:pt idx="2">
                  <c:v>Germany</c:v>
                </c:pt>
                <c:pt idx="3">
                  <c:v>Australia</c:v>
                </c:pt>
                <c:pt idx="4">
                  <c:v>Netherlands</c:v>
                </c:pt>
                <c:pt idx="5">
                  <c:v>France</c:v>
                </c:pt>
                <c:pt idx="6">
                  <c:v>Brazil</c:v>
                </c:pt>
                <c:pt idx="7">
                  <c:v>Namibia</c:v>
                </c:pt>
                <c:pt idx="8">
                  <c:v>Zimbabwe</c:v>
                </c:pt>
              </c:strCache>
            </c:strRef>
          </c:cat>
          <c:val>
            <c:numRef>
              <c:f>Sheet1!$B$2:$B$10</c:f>
              <c:numCache>
                <c:formatCode>General</c:formatCode>
                <c:ptCount val="9"/>
                <c:pt idx="0">
                  <c:v>32900</c:v>
                </c:pt>
                <c:pt idx="1">
                  <c:v>26500</c:v>
                </c:pt>
                <c:pt idx="2">
                  <c:v>25600</c:v>
                </c:pt>
                <c:pt idx="3">
                  <c:v>23900</c:v>
                </c:pt>
                <c:pt idx="4">
                  <c:v>23300</c:v>
                </c:pt>
                <c:pt idx="5">
                  <c:v>22000</c:v>
                </c:pt>
                <c:pt idx="6">
                  <c:v>19200</c:v>
                </c:pt>
                <c:pt idx="7">
                  <c:v>8600</c:v>
                </c:pt>
                <c:pt idx="8">
                  <c:v>8500</c:v>
                </c:pt>
              </c:numCache>
            </c:numRef>
          </c:val>
        </c:ser>
        <c:dLbls>
          <c:numFmt formatCode="&quot;R&quot;#,##0" sourceLinked="0"/>
          <c:txPr>
            <a:bodyPr/>
            <a:lstStyle/>
            <a:p>
              <a:pPr>
                <a:defRPr sz="1000">
                  <a:solidFill>
                    <a:srgbClr val="404040"/>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000"/>
            </a:pPr>
          </a:p>
        </c:txPr>
        <c:crossAx val="-2113994440"/>
        <c:crosses val="autoZero"/>
        <c:auto val="1"/>
        <c:lblAlgn val="ctr"/>
        <c:lblOffset val="100"/>
        <c:noMultiLvlLbl val="0"/>
      </c:catAx>
      <c:valAx>
        <c:axId val="-2113994440"/>
        <c:scaling/>
        <c:delete/>
        <c:axPos val="b"/>
        <c:majorTickMark val="out"/>
        <c:minorTickMark val="none"/>
        <c:tickLblPos val="nextTo"/>
        <c:txPr>
          <a:bodyPr/>
          <a:lstStyle/>
          <a:p>
            <a:pPr>
              <a:defRPr sz="1000"/>
            </a:pPr>
          </a:p>
        </c:txPr>
        <c:crossAx val="-2068027336"/>
        <c:crosses val="autoZero"/>
      </c:valAx>
    </c:plotArea>
    <c:dispBlanksAs val="gap"/>
  </c:chart>
  <c:txPr>
    <a:bodyPr/>
    <a:lstStyle/>
    <a:p>
      <a:pPr>
        <a:defRPr sz="1000">
          <a:solidFill>
            <a:srgbClr val="40404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CTIA international passenger arrivals (m)</c:v>
                </c:pt>
              </c:strCache>
            </c:strRef>
          </c:tx>
          <c:spPr>
            <a:solidFill>
              <a:srgbClr val="00AEEF"/>
            </a:solidFill>
          </c:spPr>
          <c:dPt>
            <c:idx val="10"/>
            <c:spPr>
              <a:solidFill>
                <a:srgbClr val="1F497D"/>
              </a:solidFill>
            </c:spPr>
          </c:dPt>
          <c:cat>
            <c:strRef>
              <c:f>Sheet1!$A$2:$A$12</c:f>
              <c:strCache>
                <c:ptCount val="11"/>
                <c:pt idx="0">
                  <c:v>FY15/16</c:v>
                </c:pt>
                <c:pt idx="1">
                  <c:v>FY16/17</c:v>
                </c:pt>
                <c:pt idx="2">
                  <c:v>FY17/18</c:v>
                </c:pt>
                <c:pt idx="3">
                  <c:v>FY18/19</c:v>
                </c:pt>
                <c:pt idx="4">
                  <c:v>FY19/20</c:v>
                </c:pt>
                <c:pt idx="5">
                  <c:v>FY20/21</c:v>
                </c:pt>
                <c:pt idx="6">
                  <c:v>FY21/22</c:v>
                </c:pt>
                <c:pt idx="7">
                  <c:v>FY22/23</c:v>
                </c:pt>
                <c:pt idx="8">
                  <c:v>FY23/24</c:v>
                </c:pt>
                <c:pt idx="9">
                  <c:v>FY24/25</c:v>
                </c:pt>
                <c:pt idx="10">
                  <c:v>FY25/26</c:v>
                </c:pt>
              </c:strCache>
            </c:strRef>
          </c:cat>
          <c:val>
            <c:numRef>
              <c:f>Sheet1!$B$2:$B$12</c:f>
              <c:numCache>
                <c:formatCode>General</c:formatCode>
                <c:ptCount val="11"/>
                <c:pt idx="0">
                  <c:v>0.781</c:v>
                </c:pt>
                <c:pt idx="1">
                  <c:v>0.957</c:v>
                </c:pt>
                <c:pt idx="2">
                  <c:v>1.11</c:v>
                </c:pt>
                <c:pt idx="3">
                  <c:v>1.19</c:v>
                </c:pt>
                <c:pt idx="4">
                  <c:v>1.16</c:v>
                </c:pt>
                <c:pt idx="5">
                  <c:v>0.08</c:v>
                </c:pt>
                <c:pt idx="6">
                  <c:v>0.379</c:v>
                </c:pt>
                <c:pt idx="7">
                  <c:v>1.07</c:v>
                </c:pt>
                <c:pt idx="8">
                  <c:v>1.36</c:v>
                </c:pt>
                <c:pt idx="9">
                  <c:v>1.44</c:v>
                </c:pt>
                <c:pt idx="10">
                  <c:v>1.57</c:v>
                </c:pt>
              </c:numCache>
            </c:numRef>
          </c:val>
        </c:ser>
        <c:dLbls>
          <c:numFmt formatCode="0.00" sourceLinked="0"/>
          <c:txPr>
            <a:bodyPr/>
            <a:lstStyle/>
            <a:p>
              <a:pPr>
                <a:defRPr sz="900">
                  <a:solidFill>
                    <a:srgbClr val="404040"/>
                  </a:solidFill>
                </a:defRPr>
              </a:pPr>
            </a:p>
          </c:txPr>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900"/>
            </a:pPr>
          </a:p>
        </c:txPr>
        <c:crossAx val="-2113994440"/>
        <c:crosses val="autoZero"/>
        <c:auto val="1"/>
        <c:lblAlgn val="ctr"/>
        <c:lblOffset val="100"/>
        <c:noMultiLvlLbl val="0"/>
      </c:catAx>
      <c:valAx>
        <c:axId val="-2113994440"/>
        <c:scaling/>
        <c:delete/>
        <c:axPos val="l"/>
        <c:majorTickMark val="out"/>
        <c:minorTickMark val="none"/>
        <c:tickLblPos val="nextTo"/>
        <c:txPr>
          <a:bodyPr/>
          <a:lstStyle/>
          <a:p>
            <a:pPr>
              <a:defRPr sz="900"/>
            </a:pPr>
          </a:p>
        </c:txPr>
        <c:crossAx val="-2068027336"/>
        <c:crosses val="autoZero"/>
      </c:valAx>
    </c:plotArea>
    <c:dispBlanksAs val="gap"/>
  </c:chart>
  <c:txPr>
    <a:bodyPr/>
    <a:lstStyle/>
    <a:p>
      <a:pPr>
        <a:defRPr sz="900">
          <a:solidFill>
            <a:srgbClr val="404040"/>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International bed-nights 2023 (m)</c:v>
                </c:pt>
              </c:strCache>
            </c:strRef>
          </c:tx>
          <c:spPr>
            <a:solidFill>
              <a:srgbClr val="00AEEF"/>
            </a:solidFill>
          </c:spPr>
          <c:dPt>
            <c:idx val="0"/>
            <c:spPr>
              <a:solidFill>
                <a:srgbClr val="1F497D"/>
              </a:solidFill>
            </c:spPr>
          </c:dPt>
          <c:cat>
            <c:strRef>
              <c:f>Sheet1!$A$2:$A$6</c:f>
              <c:strCache>
                <c:ptCount val="5"/>
                <c:pt idx="0">
                  <c:v>Cape Metro</c:v>
                </c:pt>
                <c:pt idx="1">
                  <c:v>Garden Route</c:v>
                </c:pt>
                <c:pt idx="2">
                  <c:v>Overberg</c:v>
                </c:pt>
                <c:pt idx="3">
                  <c:v>West Coast</c:v>
                </c:pt>
                <c:pt idx="4">
                  <c:v>Central Karoo</c:v>
                </c:pt>
              </c:strCache>
            </c:strRef>
          </c:cat>
          <c:val>
            <c:numRef>
              <c:f>Sheet1!$B$2:$B$6</c:f>
              <c:numCache>
                <c:formatCode>General</c:formatCode>
                <c:ptCount val="5"/>
                <c:pt idx="0">
                  <c:v>8.1</c:v>
                </c:pt>
                <c:pt idx="1">
                  <c:v>3.7</c:v>
                </c:pt>
                <c:pt idx="2">
                  <c:v>1.5</c:v>
                </c:pt>
                <c:pt idx="3">
                  <c:v>1.4</c:v>
                </c:pt>
                <c:pt idx="4">
                  <c:v>0.32</c:v>
                </c:pt>
              </c:numCache>
            </c:numRef>
          </c:val>
        </c:ser>
        <c:dLbls>
          <c:numFmt formatCode="0.0&quot;m&quot;" sourceLinked="0"/>
          <c:txPr>
            <a:bodyPr/>
            <a:lstStyle/>
            <a:p>
              <a:pPr>
                <a:defRPr sz="1000">
                  <a:solidFill>
                    <a:srgbClr val="404040"/>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000"/>
            </a:pPr>
          </a:p>
        </c:txPr>
        <c:crossAx val="-2113994440"/>
        <c:crosses val="autoZero"/>
        <c:auto val="1"/>
        <c:lblAlgn val="ctr"/>
        <c:lblOffset val="100"/>
        <c:noMultiLvlLbl val="0"/>
      </c:catAx>
      <c:valAx>
        <c:axId val="-2113994440"/>
        <c:scaling/>
        <c:delete/>
        <c:axPos val="b"/>
        <c:majorTickMark val="out"/>
        <c:minorTickMark val="none"/>
        <c:tickLblPos val="nextTo"/>
        <c:txPr>
          <a:bodyPr/>
          <a:lstStyle/>
          <a:p>
            <a:pPr>
              <a:defRPr sz="1000"/>
            </a:pPr>
          </a:p>
        </c:txPr>
        <c:crossAx val="-2068027336"/>
        <c:crosses val="autoZero"/>
      </c:valAx>
    </c:plotArea>
    <c:dispBlanksAs val="gap"/>
  </c:chart>
  <c:txPr>
    <a:bodyPr/>
    <a:lstStyle/>
    <a:p>
      <a:pPr>
        <a:defRPr sz="1000">
          <a:solidFill>
            <a:srgbClr val="40404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Working session pack. Purpose: step back from the individual deliverables, test the findings against the hypothesis tree, agree how to close the gaps and align on the shape of the final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most deliverables were completed months apart and read in isolation. Today we read them together, against the question the study was commissioned to answer. We want challenge, not sign-off.</a:t>
            </a:r>
          </a:p>
          <a:p>
            <a:r>
              <a:t>Question for the room: what would make you disagree with the working position on slide 20?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evidence base is broad but uneven. Two deliverables are draft quality and the M&amp;E toolkit has not been tabled. The contract term ends 31 October 2026; the remaining work runs past that date unless the term is extended.</a:t>
            </a:r>
          </a:p>
          <a:p>
            <a:r>
              <a:t>Question: is the extension position confirmed with Wesgro?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Demand-Side model is the only quantified path we have. Its best case assumes direct India and China routes plus dedicated activation, and still lands at 2.52m. Doubling needs about 6.2% a year from 2024; the accelerated case delivers 5.0%. MIDAS adds that airlines see long-haul markets as mature and are more likely to raise fares than seats.</a:t>
            </a:r>
          </a:p>
          <a:p>
            <a:r>
              <a:t>Question: do we reframe the goal, add new levers to the model, or present the gap honestly?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2.8m goal is a doubling of 1.4m, but our own documents use passengers, overnight visitors and tourist arrivals interchangeably. Each implies a different target and a different M&amp;E baseline. DEDAT also argued in the stakeholder round that value or spend may be a better lens than volume.</a:t>
            </a:r>
          </a:p>
          <a:p>
            <a:r>
              <a:t>Question: which single metric will the final report and the M&amp;E toolkit hold Wesgro 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this is the tree as the team last revised it. The coloured markers are the team's own July judgement against the December Diagnostic tree. The rest of the deck tests every box against the evidence. The tree's headline claim is that growth is supply-constrained and that demand is proven; we test both.</a:t>
            </a:r>
          </a:p>
          <a:p>
            <a:r>
              <a:t>Question: is anything missing from this tree before we score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a handful of mature markets carry the destination. A US visitor spends nearly four times a Namibian visitor, yet regional markets bring counter-seasonal stability. Kenya earns more per arrival than the Western Cape from a smaller base, which shows yield is a choice.</a:t>
            </a:r>
          </a:p>
          <a:p>
            <a:r>
              <a:t>Question: should the final roadmap set a spend target alongside arrivals?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India and China already send travellers via Dubai, Addis Ababa and Doha. The barrier is conversion: no direct service, visa friction and a destination absent from the platforms where these travellers plan and book. The Gulf is both a source and a gateway, which makes it the nearest growth corridor.</a:t>
            </a:r>
          </a:p>
          <a:p>
            <a:r>
              <a:t>Question: how much of the growth story can wait until after 2030?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seasonality, market-native distribution, mature-market yield and Africa are well evidenced. The segment work and the new brand hypothesis are not. Marketing itself has never been analysed as a lever: we have channel advice but no spend, return or brand health data.</a:t>
            </a:r>
          </a:p>
          <a:p>
            <a:r>
              <a:t>Question: are we comfortable recommending a brand shift on the evidence we hold?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route development under Cape Town Air Access is a genuine success: 17 new mainline routes since 2015, more than any benchmark airport. The Demand-Side model nonetheless treats seat capacity as a hard ceiling near 1.8m, and MIDAS warns that airlines now prefer fares to frequencies. The client factbases place the binding constraint downstream, in ground access, safety and visas. MIDAS also notes that Middle East hubs, which carry one in five international seats, were disrupted by conflict at the time of writing.</a:t>
            </a:r>
          </a:p>
          <a:p>
            <a:r>
              <a:t>Question: which constraint binds first, and when?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province has the assets, but readiness, accessibility and bookability collapse outside the Metro, the Winelands and the N2. Tourists barely use public transport, so dispersal depends on self-drive confidence, curated shuttles and packaged routes. The Infrastructure Report maps 50,332 assets but does not yet prioritise investments or quantify returns.</a:t>
            </a:r>
          </a:p>
          <a:p>
            <a:r>
              <a:t>Question: which two or three corridors should the roadmap back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every supply focus area is supported, most of them strongly. The weakness is in the response, not the diagnosis: the investment framework has no prioritised pipeline or ROI, which the SLA requires.</a:t>
            </a:r>
          </a:p>
          <a:p>
            <a:r>
              <a:t>Question: who owns the investment prioritisation, and by when?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inclusion plan profiles 20 communities across all six regions. Most are within 45 minutes of a tourism node. The binding constraint is organisation, not distance: no local body holds the product, takes bookings and records local revenue. Safety gates several of the strongest opportunities. The plan does not yet address the 10,000 SMMEs goal or digital enablement at scale.</a:t>
            </a:r>
          </a:p>
          <a:p>
            <a:r>
              <a:t>Question: is a community plan enough to answer the SLA requirement for scalable SMME models?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stakeholders agree on the problem. The levers that matter most (airports, ports, visas, policing) sit with national bodies; tourism spend sits outside tourism budgets; coordination bodies are proposed but not operating; and no one can measure provincial tourism GDP or jobs with an approved method. Every benchmark destination solved coordination first.</a:t>
            </a:r>
          </a:p>
          <a:p>
            <a:r>
              <a:t>Question: what is Wesgro's mandate in a coordinated system, and what must sit elsewhere?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enabling pillar has the strongest consensus and the thinnest analysis of solutions. Skills and investment are the weakest links: we cannot yet support the 300,000 jobs goal or the SLA requirement for ROI-ranked investments.</a:t>
            </a:r>
          </a:p>
          <a:p>
            <a:r>
              <a:t>Question: do we close these gaps or bound them as limitations in the final report?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six comparators grew above the 3-5% global norm by aligning institutions, demand creation and access. None did it by marketing or air access alone. Two gaps: the report has no underperforming cases, which the inception plan promised, and no comparison of marketing budgets or institutional funding.</a:t>
            </a:r>
          </a:p>
          <a:p>
            <a:r>
              <a:t>Question: which two lessons are non-negotiable for the final roadmap?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this is the single slide to hold in mind. Supply and governance are well evidenced. The thin areas cluster in three places: segments and brand, workforce skills and capital. No focus area is contradicted outright, but the headline goal is not reached by any modelled path, and the tree's claim that demand is "proven" is only partly true: the Western Cape captures 0.1% of global arrivals, so demand is available but not yet converted.</a:t>
            </a:r>
          </a:p>
          <a:p>
            <a:r>
              <a:t>Question: which amber boxes must turn green before we can recommend on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each theme is evidenced in at least two independent workstreams. Together they say the Western Cape is capture-poor rather than demand-poor: it converts too little of the demand it already reaches, spreads it too little and measures it too poorly.</a:t>
            </a:r>
          </a:p>
          <a:p>
            <a:r>
              <a:t>Question: is anything missing, or is any theme overstated?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these are not errors to fix. They are choices the final report must make explicit. For each, we propose a default position to react to.</a:t>
            </a:r>
          </a:p>
          <a:p>
            <a:r>
              <a:t>Question: where do we disagree with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this is a strawman to attack, not a conclusion. It answers the core question in one line and states the conditions that must hold. If the room rejects a condition, the answer changes.</a:t>
            </a:r>
          </a:p>
          <a:p>
            <a:r>
              <a:t>Question: which condition is the weakest, and what would we need to believe instead?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we tested the tree and the RFP scope against the evidence we hold. Red gaps would leave a recommendation or an SLA requirement unsupported. Amber gaps can be bounded as limitations if time runs short.</a:t>
            </a:r>
          </a:p>
          <a:p>
            <a:r>
              <a:t>Question: is the red list right, and is anything missing?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four of the seven demand focus areas depend on marketing, and the brand hypothesis is new. We have good channel intelligence for China, India and the Gulf, but nothing on what Wesgro spends and where, what return it earns or how the brand performs against competitors. "The Cape" brand concept is a strategy input that has not been tested.</a:t>
            </a:r>
          </a:p>
          <a:p>
            <a:r>
              <a:t>Question: which option do we commit to, and who on the team leads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each gap has a proposed response. "Bound" means we state the limitation in the final report rather than analyse it. Owners are roles, to be named in the room.</a:t>
            </a:r>
          </a:p>
          <a:p>
            <a:r>
              <a:t>Question: do we accept the "bound" calls, and who owns each 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SLA asks for an evidence-based roadmap that names roles by tier. Organising by pillar keeps the link to the tree and the evidence; adding horizons and owners makes it implementable. The alternative, organising by actor, is easier to hand over but breaks the logic chain.</a:t>
            </a:r>
          </a:p>
          <a:p>
            <a:r>
              <a:t>Question: which structure will Exco and the Board find most usable?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these are themes, not recommendations. Firm themes rest on strong evidence from several workstreams. Conditional themes need the gap work before we can commit.</a:t>
            </a:r>
          </a:p>
          <a:p>
            <a:r>
              <a:t>Question: is anything here we would not be willing to put in front of the Board?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we will use these to run the discussion. We do not need consensus on all eight, but we need a position, an owner and a date for each.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close the session by confirming each decision, its owner and the date it is recorded. Anything not decided becomes a risk on the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plan front-loads the target decision and the gap work, so drafting starts on settled foundations in week 3. The contract term ends on 31 October, inside week 3: everything to the right of the red line depends on an extension agreed under SLA clause 4.3.</a:t>
            </a:r>
          </a:p>
          <a:p>
            <a:r>
              <a:t>Question: are the Steercom, Exco and Board dates realistic for Wesgro?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table for the hypothesis scorecard. Page references are to the PDF page of each input.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table for the hypothesis scorecard. Page references are to the PDF page of each input.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client factbases carry "OpenAI" as author in their file metadata and describe themselves as compilations from a supplied source pack. Figures from them are cited to the primary report where possible and must be verified before the final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changes the direction of the findings, but each would undermine credibility if it reached the Board unresolved.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4.xml"/><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7.xml"/><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 Id="rId4"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 Id="rId4" Type="http://schemas.openxmlformats.org/officeDocument/2006/relationships/chart" Target="../charts/char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cover_bg.jp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411480" y="4709160"/>
            <a:ext cx="7772400" cy="502920"/>
          </a:xfrm>
        </p:spPr>
        <p:txBody>
          <a:bodyPr lIns="0" rIns="0" tIns="0" bIns="0"/>
          <a:lstStyle/>
          <a:p>
            <a:pPr algn="l"/>
            <a:r>
              <a:rPr sz="2800" b="1" i="0">
                <a:solidFill>
                  <a:srgbClr val="FFFFFF"/>
                </a:solidFill>
                <a:latin typeface="Arial"/>
              </a:rPr>
              <a:t>Unlocking Tourism Growth</a:t>
            </a:r>
          </a:p>
        </p:txBody>
      </p:sp>
      <p:pic>
        <p:nvPicPr>
          <p:cNvPr id="4" name="Picture 3" descr="letsema.png"/>
          <p:cNvPicPr>
            <a:picLocks noChangeAspect="1"/>
          </p:cNvPicPr>
          <p:nvPr/>
        </p:nvPicPr>
        <p:blipFill>
          <a:blip r:embed="rId3"/>
          <a:stretch>
            <a:fillRect/>
          </a:stretch>
        </p:blipFill>
        <p:spPr>
          <a:xfrm>
            <a:off x="411480" y="2697480"/>
            <a:ext cx="1874519" cy="245063"/>
          </a:xfrm>
          <a:prstGeom prst="rect">
            <a:avLst/>
          </a:prstGeom>
        </p:spPr>
      </p:pic>
      <p:sp>
        <p:nvSpPr>
          <p:cNvPr id="5" name="TextBox 4"/>
          <p:cNvSpPr txBox="1"/>
          <p:nvPr/>
        </p:nvSpPr>
        <p:spPr>
          <a:xfrm>
            <a:off x="411480" y="3035808"/>
            <a:ext cx="2743200" cy="228600"/>
          </a:xfrm>
          <a:prstGeom prst="rect">
            <a:avLst/>
          </a:prstGeom>
          <a:noFill/>
        </p:spPr>
        <p:txBody>
          <a:bodyPr wrap="square" anchor="t" lIns="36576" rIns="36576" tIns="21945" bIns="21945">
            <a:spAutoFit/>
          </a:bodyPr>
          <a:lstStyle/>
          <a:p>
            <a:pPr algn="l">
              <a:spcAft>
                <a:spcPts val="0"/>
              </a:spcAft>
            </a:pPr>
            <a:r>
              <a:rPr sz="800" b="0" i="1">
                <a:solidFill>
                  <a:srgbClr val="FFFFFF"/>
                </a:solidFill>
                <a:latin typeface="Arial"/>
              </a:rPr>
              <a:t>In partnership with</a:t>
            </a:r>
          </a:p>
        </p:txBody>
      </p:sp>
      <p:pic>
        <p:nvPicPr>
          <p:cNvPr id="6" name="Picture 5" descr="skift.png"/>
          <p:cNvPicPr>
            <a:picLocks noChangeAspect="1"/>
          </p:cNvPicPr>
          <p:nvPr/>
        </p:nvPicPr>
        <p:blipFill>
          <a:blip r:embed="rId4"/>
          <a:stretch>
            <a:fillRect/>
          </a:stretch>
        </p:blipFill>
        <p:spPr>
          <a:xfrm>
            <a:off x="411480" y="3273552"/>
            <a:ext cx="685800" cy="404132"/>
          </a:xfrm>
          <a:prstGeom prst="rect">
            <a:avLst/>
          </a:prstGeom>
        </p:spPr>
      </p:pic>
      <p:sp>
        <p:nvSpPr>
          <p:cNvPr id="7" name="TextBox 6"/>
          <p:cNvSpPr txBox="1"/>
          <p:nvPr/>
        </p:nvSpPr>
        <p:spPr>
          <a:xfrm>
            <a:off x="411480" y="5230368"/>
            <a:ext cx="7772400" cy="457200"/>
          </a:xfrm>
          <a:prstGeom prst="rect">
            <a:avLst/>
          </a:prstGeom>
          <a:noFill/>
        </p:spPr>
        <p:txBody>
          <a:bodyPr wrap="square" anchor="t" lIns="0" rIns="0" tIns="0" bIns="0">
            <a:spAutoFit/>
          </a:bodyPr>
          <a:lstStyle/>
          <a:p>
            <a:pPr algn="l">
              <a:spcAft>
                <a:spcPts val="0"/>
              </a:spcAft>
            </a:pPr>
            <a:r>
              <a:rPr sz="2200" b="0" i="0">
                <a:solidFill>
                  <a:srgbClr val="FFFFFF"/>
                </a:solidFill>
                <a:latin typeface="Arial"/>
              </a:rPr>
              <a:t>Summary of Findings: Taking Stock</a:t>
            </a:r>
          </a:p>
        </p:txBody>
      </p:sp>
      <p:sp>
        <p:nvSpPr>
          <p:cNvPr id="8" name="TextBox 7"/>
          <p:cNvSpPr txBox="1"/>
          <p:nvPr/>
        </p:nvSpPr>
        <p:spPr>
          <a:xfrm>
            <a:off x="411480" y="5715000"/>
            <a:ext cx="7772400" cy="274320"/>
          </a:xfrm>
          <a:prstGeom prst="rect">
            <a:avLst/>
          </a:prstGeom>
          <a:noFill/>
        </p:spPr>
        <p:txBody>
          <a:bodyPr wrap="square" anchor="t" lIns="0" rIns="0" tIns="0" bIns="0">
            <a:spAutoFit/>
          </a:bodyPr>
          <a:lstStyle/>
          <a:p>
            <a:pPr algn="l">
              <a:spcAft>
                <a:spcPts val="0"/>
              </a:spcAft>
            </a:pPr>
            <a:r>
              <a:rPr sz="1200" b="0" i="0">
                <a:solidFill>
                  <a:srgbClr val="FFFFFF"/>
                </a:solidFill>
                <a:latin typeface="Arial"/>
              </a:rPr>
              <a:t>Team working session | October 2026</a:t>
            </a:r>
          </a:p>
        </p:txBody>
      </p:sp>
      <p:pic>
        <p:nvPicPr>
          <p:cNvPr id="9" name="Picture 8" descr="flag.png"/>
          <p:cNvPicPr>
            <a:picLocks noChangeAspect="1"/>
          </p:cNvPicPr>
          <p:nvPr/>
        </p:nvPicPr>
        <p:blipFill>
          <a:blip r:embed="rId5"/>
          <a:stretch>
            <a:fillRect/>
          </a:stretch>
        </p:blipFill>
        <p:spPr>
          <a:xfrm>
            <a:off x="11539728" y="6153912"/>
            <a:ext cx="495344" cy="329184"/>
          </a:xfrm>
          <a:prstGeom prst="rect">
            <a:avLst/>
          </a:prstGeom>
        </p:spPr>
      </p:pic>
      <p:sp>
        <p:nvSpPr>
          <p:cNvPr id="10"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D9D9D9"/>
                </a:solidFill>
                <a:latin typeface="Arial"/>
              </a:rPr>
              <a:t>DRAFT FOR DISCUSSION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Today is about the "so what": we test the evidence, close the gaps and align on the answer</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PURPOSE OF TODAY</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Letsema</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TextBox 7"/>
          <p:cNvSpPr txBox="1"/>
          <p:nvPr/>
        </p:nvSpPr>
        <p:spPr>
          <a:xfrm>
            <a:off x="384048" y="1234440"/>
            <a:ext cx="731520" cy="731520"/>
          </a:xfrm>
          <a:prstGeom prst="rect">
            <a:avLst/>
          </a:prstGeom>
          <a:noFill/>
        </p:spPr>
        <p:txBody>
          <a:bodyPr wrap="square" anchor="t" lIns="36576" rIns="36576" tIns="21945" bIns="21945">
            <a:spAutoFit/>
          </a:bodyPr>
          <a:lstStyle/>
          <a:p>
            <a:pPr algn="l">
              <a:spcAft>
                <a:spcPts val="0"/>
              </a:spcAft>
            </a:pPr>
            <a:r>
              <a:rPr sz="3000" b="1" i="0">
                <a:solidFill>
                  <a:srgbClr val="00AEEF"/>
                </a:solidFill>
                <a:latin typeface="Arial"/>
              </a:rPr>
              <a:t>01</a:t>
            </a:r>
          </a:p>
        </p:txBody>
      </p:sp>
      <p:sp>
        <p:nvSpPr>
          <p:cNvPr id="9" name="TextBox 8"/>
          <p:cNvSpPr txBox="1"/>
          <p:nvPr/>
        </p:nvSpPr>
        <p:spPr>
          <a:xfrm>
            <a:off x="1143000" y="1280160"/>
            <a:ext cx="4480560" cy="320040"/>
          </a:xfrm>
          <a:prstGeom prst="rect">
            <a:avLst/>
          </a:prstGeom>
          <a:noFill/>
        </p:spPr>
        <p:txBody>
          <a:bodyPr wrap="square" anchor="t" lIns="36576" rIns="36576" tIns="21945" bIns="21945">
            <a:spAutoFit/>
          </a:bodyPr>
          <a:lstStyle/>
          <a:p>
            <a:pPr algn="l">
              <a:spcAft>
                <a:spcPts val="0"/>
              </a:spcAft>
            </a:pPr>
            <a:r>
              <a:rPr sz="1400" b="1" i="0">
                <a:solidFill>
                  <a:srgbClr val="1F497D"/>
                </a:solidFill>
                <a:latin typeface="Arial"/>
              </a:rPr>
              <a:t>Reflect and challenge</a:t>
            </a:r>
          </a:p>
        </p:txBody>
      </p:sp>
      <p:sp>
        <p:nvSpPr>
          <p:cNvPr id="10" name="TextBox 9"/>
          <p:cNvSpPr txBox="1"/>
          <p:nvPr/>
        </p:nvSpPr>
        <p:spPr>
          <a:xfrm>
            <a:off x="1143000" y="1618488"/>
            <a:ext cx="4480560" cy="731520"/>
          </a:xfrm>
          <a:prstGeom prst="rect">
            <a:avLst/>
          </a:prstGeom>
          <a:noFill/>
        </p:spPr>
        <p:txBody>
          <a:bodyPr wrap="square" anchor="t" lIns="36576" rIns="36576" tIns="21945" bIns="21945">
            <a:spAutoFit/>
          </a:bodyPr>
          <a:lstStyle/>
          <a:p>
            <a:pPr algn="l">
              <a:spcAft>
                <a:spcPts val="400"/>
              </a:spcAft>
            </a:pPr>
            <a:r>
              <a:rPr sz="1100" b="0" i="0">
                <a:solidFill>
                  <a:srgbClr val="404040"/>
                </a:solidFill>
                <a:latin typeface="Arial"/>
              </a:rPr>
              <a:t>Revisit the core question and the hypothesis tree. Test whether the evidence supports each branch, and where it does not.</a:t>
            </a:r>
          </a:p>
        </p:txBody>
      </p:sp>
      <p:sp>
        <p:nvSpPr>
          <p:cNvPr id="11" name="TextBox 10"/>
          <p:cNvSpPr txBox="1"/>
          <p:nvPr/>
        </p:nvSpPr>
        <p:spPr>
          <a:xfrm>
            <a:off x="384048" y="2697480"/>
            <a:ext cx="731520" cy="731520"/>
          </a:xfrm>
          <a:prstGeom prst="rect">
            <a:avLst/>
          </a:prstGeom>
          <a:noFill/>
        </p:spPr>
        <p:txBody>
          <a:bodyPr wrap="square" anchor="t" lIns="36576" rIns="36576" tIns="21945" bIns="21945">
            <a:spAutoFit/>
          </a:bodyPr>
          <a:lstStyle/>
          <a:p>
            <a:pPr algn="l">
              <a:spcAft>
                <a:spcPts val="0"/>
              </a:spcAft>
            </a:pPr>
            <a:r>
              <a:rPr sz="3000" b="1" i="0">
                <a:solidFill>
                  <a:srgbClr val="00AEEF"/>
                </a:solidFill>
                <a:latin typeface="Arial"/>
              </a:rPr>
              <a:t>02</a:t>
            </a:r>
          </a:p>
        </p:txBody>
      </p:sp>
      <p:sp>
        <p:nvSpPr>
          <p:cNvPr id="12" name="TextBox 11"/>
          <p:cNvSpPr txBox="1"/>
          <p:nvPr/>
        </p:nvSpPr>
        <p:spPr>
          <a:xfrm>
            <a:off x="1143000" y="2743200"/>
            <a:ext cx="4480560" cy="320040"/>
          </a:xfrm>
          <a:prstGeom prst="rect">
            <a:avLst/>
          </a:prstGeom>
          <a:noFill/>
        </p:spPr>
        <p:txBody>
          <a:bodyPr wrap="square" anchor="t" lIns="36576" rIns="36576" tIns="21945" bIns="21945">
            <a:spAutoFit/>
          </a:bodyPr>
          <a:lstStyle/>
          <a:p>
            <a:pPr algn="l">
              <a:spcAft>
                <a:spcPts val="0"/>
              </a:spcAft>
            </a:pPr>
            <a:r>
              <a:rPr sz="1400" b="1" i="0">
                <a:solidFill>
                  <a:srgbClr val="1F497D"/>
                </a:solidFill>
                <a:latin typeface="Arial"/>
              </a:rPr>
              <a:t>Close the gaps</a:t>
            </a:r>
          </a:p>
        </p:txBody>
      </p:sp>
      <p:sp>
        <p:nvSpPr>
          <p:cNvPr id="13" name="TextBox 12"/>
          <p:cNvSpPr txBox="1"/>
          <p:nvPr/>
        </p:nvSpPr>
        <p:spPr>
          <a:xfrm>
            <a:off x="1143000" y="3081528"/>
            <a:ext cx="4480560" cy="731520"/>
          </a:xfrm>
          <a:prstGeom prst="rect">
            <a:avLst/>
          </a:prstGeom>
          <a:noFill/>
        </p:spPr>
        <p:txBody>
          <a:bodyPr wrap="square" anchor="t" lIns="36576" rIns="36576" tIns="21945" bIns="21945">
            <a:spAutoFit/>
          </a:bodyPr>
          <a:lstStyle/>
          <a:p>
            <a:pPr algn="l">
              <a:spcAft>
                <a:spcPts val="400"/>
              </a:spcAft>
            </a:pPr>
            <a:r>
              <a:rPr sz="1100" b="0" i="0">
                <a:solidFill>
                  <a:srgbClr val="404040"/>
                </a:solidFill>
                <a:latin typeface="Arial"/>
              </a:rPr>
              <a:t>Agree how to handle the areas with thin or no analysis, starting with marketing and brand, before we draft.</a:t>
            </a:r>
          </a:p>
        </p:txBody>
      </p:sp>
      <p:sp>
        <p:nvSpPr>
          <p:cNvPr id="14" name="TextBox 13"/>
          <p:cNvSpPr txBox="1"/>
          <p:nvPr/>
        </p:nvSpPr>
        <p:spPr>
          <a:xfrm>
            <a:off x="384048" y="4160520"/>
            <a:ext cx="731520" cy="731520"/>
          </a:xfrm>
          <a:prstGeom prst="rect">
            <a:avLst/>
          </a:prstGeom>
          <a:noFill/>
        </p:spPr>
        <p:txBody>
          <a:bodyPr wrap="square" anchor="t" lIns="36576" rIns="36576" tIns="21945" bIns="21945">
            <a:spAutoFit/>
          </a:bodyPr>
          <a:lstStyle/>
          <a:p>
            <a:pPr algn="l">
              <a:spcAft>
                <a:spcPts val="0"/>
              </a:spcAft>
            </a:pPr>
            <a:r>
              <a:rPr sz="3000" b="1" i="0">
                <a:solidFill>
                  <a:srgbClr val="00AEEF"/>
                </a:solidFill>
                <a:latin typeface="Arial"/>
              </a:rPr>
              <a:t>03</a:t>
            </a:r>
          </a:p>
        </p:txBody>
      </p:sp>
      <p:sp>
        <p:nvSpPr>
          <p:cNvPr id="15" name="TextBox 14"/>
          <p:cNvSpPr txBox="1"/>
          <p:nvPr/>
        </p:nvSpPr>
        <p:spPr>
          <a:xfrm>
            <a:off x="1143000" y="4206240"/>
            <a:ext cx="4480560" cy="320040"/>
          </a:xfrm>
          <a:prstGeom prst="rect">
            <a:avLst/>
          </a:prstGeom>
          <a:noFill/>
        </p:spPr>
        <p:txBody>
          <a:bodyPr wrap="square" anchor="t" lIns="36576" rIns="36576" tIns="21945" bIns="21945">
            <a:spAutoFit/>
          </a:bodyPr>
          <a:lstStyle/>
          <a:p>
            <a:pPr algn="l">
              <a:spcAft>
                <a:spcPts val="0"/>
              </a:spcAft>
            </a:pPr>
            <a:r>
              <a:rPr sz="1400" b="1" i="0">
                <a:solidFill>
                  <a:srgbClr val="1F497D"/>
                </a:solidFill>
                <a:latin typeface="Arial"/>
              </a:rPr>
              <a:t>Align on the response</a:t>
            </a:r>
          </a:p>
        </p:txBody>
      </p:sp>
      <p:sp>
        <p:nvSpPr>
          <p:cNvPr id="16" name="TextBox 15"/>
          <p:cNvSpPr txBox="1"/>
          <p:nvPr/>
        </p:nvSpPr>
        <p:spPr>
          <a:xfrm>
            <a:off x="1143000" y="4544568"/>
            <a:ext cx="4480560" cy="731520"/>
          </a:xfrm>
          <a:prstGeom prst="rect">
            <a:avLst/>
          </a:prstGeom>
          <a:noFill/>
        </p:spPr>
        <p:txBody>
          <a:bodyPr wrap="square" anchor="t" lIns="36576" rIns="36576" tIns="21945" bIns="21945">
            <a:spAutoFit/>
          </a:bodyPr>
          <a:lstStyle/>
          <a:p>
            <a:pPr algn="l">
              <a:spcAft>
                <a:spcPts val="400"/>
              </a:spcAft>
            </a:pPr>
            <a:r>
              <a:rPr sz="1100" b="0" i="0">
                <a:solidFill>
                  <a:srgbClr val="404040"/>
                </a:solidFill>
                <a:latin typeface="Arial"/>
              </a:rPr>
              <a:t>Agree the structure and the emerging themes of the final recommendations, and the plan for the next six weeks.</a:t>
            </a:r>
          </a:p>
        </p:txBody>
      </p:sp>
      <p:cxnSp>
        <p:nvCxnSpPr>
          <p:cNvPr id="17" name="Connector 16"/>
          <p:cNvCxnSpPr/>
          <p:nvPr/>
        </p:nvCxnSpPr>
        <p:spPr>
          <a:xfrm>
            <a:off x="5989320" y="1280160"/>
            <a:ext cx="0" cy="4572000"/>
          </a:xfrm>
          <a:prstGeom prst="line">
            <a:avLst/>
          </a:prstGeom>
          <a:ln w="19050">
            <a:solidFill>
              <a:srgbClr val="00AEE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63640" y="1234440"/>
            <a:ext cx="5486400" cy="320040"/>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PROPOSED AGENDA (3 HOURS)</a:t>
            </a:r>
          </a:p>
        </p:txBody>
      </p:sp>
      <p:graphicFrame>
        <p:nvGraphicFramePr>
          <p:cNvPr id="19" name="Table 18"/>
          <p:cNvGraphicFramePr>
            <a:graphicFrameLocks noGrp="1"/>
          </p:cNvGraphicFramePr>
          <p:nvPr/>
        </p:nvGraphicFramePr>
        <p:xfrm>
          <a:off x="6263640" y="1645920"/>
          <a:ext cx="5532120" cy="3072384"/>
        </p:xfrm>
        <a:graphic>
          <a:graphicData uri="http://schemas.openxmlformats.org/drawingml/2006/table">
            <a:tbl>
              <a:tblPr firstRow="1" bandRow="0">
                <a:tableStyleId>{5C22544A-7EE6-4342-B048-85BDC9FD1C3A}</a:tableStyleId>
              </a:tblPr>
              <a:tblGrid>
                <a:gridCol w="914400"/>
                <a:gridCol w="4617720"/>
              </a:tblGrid>
              <a:tr h="384048">
                <a:tc>
                  <a:txBody>
                    <a:bodyPr wrap="square"/>
                    <a:lstStyle/>
                    <a:p>
                      <a:pPr algn="l"/>
                      <a:r>
                        <a:rPr sz="1050" b="1" i="0">
                          <a:solidFill>
                            <a:srgbClr val="FFFFFF"/>
                          </a:solidFill>
                          <a:latin typeface="Arial"/>
                        </a:rPr>
                        <a:t>Time</a:t>
                      </a:r>
                    </a:p>
                  </a:txBody>
                  <a:tcPr marL="54864" marR="54864" marT="27432" marB="27432" anchor="ctr">
                    <a:solidFill>
                      <a:srgbClr val="1F497D"/>
                    </a:solidFill>
                  </a:tcPr>
                </a:tc>
                <a:tc>
                  <a:txBody>
                    <a:bodyPr wrap="square"/>
                    <a:lstStyle/>
                    <a:p>
                      <a:pPr algn="l"/>
                      <a:r>
                        <a:rPr sz="1050" b="1" i="0">
                          <a:solidFill>
                            <a:srgbClr val="FFFFFF"/>
                          </a:solidFill>
                          <a:latin typeface="Arial"/>
                        </a:rPr>
                        <a:t>Session</a:t>
                      </a:r>
                    </a:p>
                  </a:txBody>
                  <a:tcPr marL="54864" marR="54864" marT="27432" marB="27432" anchor="ctr">
                    <a:solidFill>
                      <a:srgbClr val="1F497D"/>
                    </a:solidFill>
                  </a:tcPr>
                </a:tc>
              </a:tr>
              <a:tr h="384048">
                <a:tc>
                  <a:txBody>
                    <a:bodyPr wrap="square"/>
                    <a:lstStyle/>
                    <a:p>
                      <a:pPr algn="l"/>
                      <a:r>
                        <a:rPr sz="1050" b="1" i="0">
                          <a:solidFill>
                            <a:srgbClr val="1F497D"/>
                          </a:solidFill>
                          <a:latin typeface="Arial"/>
                        </a:rPr>
                        <a:t>10 min</a:t>
                      </a:r>
                    </a:p>
                  </a:txBody>
                  <a:tcPr marL="54864" marR="54864" marT="27432" marB="27432" anchor="ctr">
                    <a:solidFill>
                      <a:srgbClr val="FFFFFF"/>
                    </a:solidFill>
                  </a:tcPr>
                </a:tc>
                <a:tc>
                  <a:txBody>
                    <a:bodyPr wrap="square"/>
                    <a:lstStyle/>
                    <a:p>
                      <a:pPr algn="l"/>
                      <a:r>
                        <a:rPr sz="1050" b="0" i="0">
                          <a:solidFill>
                            <a:srgbClr val="404040"/>
                          </a:solidFill>
                          <a:latin typeface="Arial"/>
                        </a:rPr>
                        <a:t>Purpose, ground rules and where the study stands</a:t>
                      </a:r>
                    </a:p>
                  </a:txBody>
                  <a:tcPr marL="54864" marR="54864" marT="27432" marB="27432" anchor="ctr">
                    <a:solidFill>
                      <a:srgbClr val="FFFFFF"/>
                    </a:solidFill>
                  </a:tcPr>
                </a:tc>
              </a:tr>
              <a:tr h="384048">
                <a:tc>
                  <a:txBody>
                    <a:bodyPr wrap="square"/>
                    <a:lstStyle/>
                    <a:p>
                      <a:pPr algn="l"/>
                      <a:r>
                        <a:rPr sz="1050" b="1" i="0">
                          <a:solidFill>
                            <a:srgbClr val="1F497D"/>
                          </a:solidFill>
                          <a:latin typeface="Arial"/>
                        </a:rPr>
                        <a:t>20 min</a:t>
                      </a:r>
                    </a:p>
                  </a:txBody>
                  <a:tcPr marL="54864" marR="54864" marT="27432" marB="27432" anchor="ctr">
                    <a:solidFill>
                      <a:srgbClr val="F2F2F2"/>
                    </a:solidFill>
                  </a:tcPr>
                </a:tc>
                <a:tc>
                  <a:txBody>
                    <a:bodyPr wrap="square"/>
                    <a:lstStyle/>
                    <a:p>
                      <a:pPr algn="l"/>
                      <a:r>
                        <a:rPr sz="1050" b="0" i="0">
                          <a:solidFill>
                            <a:srgbClr val="404040"/>
                          </a:solidFill>
                          <a:latin typeface="Arial"/>
                        </a:rPr>
                        <a:t>The core question: what exactly are we doubling?</a:t>
                      </a:r>
                    </a:p>
                  </a:txBody>
                  <a:tcPr marL="54864" marR="54864" marT="27432" marB="27432" anchor="ctr">
                    <a:solidFill>
                      <a:srgbClr val="F2F2F2"/>
                    </a:solidFill>
                  </a:tcPr>
                </a:tc>
              </a:tr>
              <a:tr h="384048">
                <a:tc>
                  <a:txBody>
                    <a:bodyPr wrap="square"/>
                    <a:lstStyle/>
                    <a:p>
                      <a:pPr algn="l"/>
                      <a:r>
                        <a:rPr sz="1050" b="1" i="0">
                          <a:solidFill>
                            <a:srgbClr val="1F497D"/>
                          </a:solidFill>
                          <a:latin typeface="Arial"/>
                        </a:rPr>
                        <a:t>45 min</a:t>
                      </a:r>
                    </a:p>
                  </a:txBody>
                  <a:tcPr marL="54864" marR="54864" marT="27432" marB="27432" anchor="ctr">
                    <a:solidFill>
                      <a:srgbClr val="FFFFFF"/>
                    </a:solidFill>
                  </a:tcPr>
                </a:tc>
                <a:tc>
                  <a:txBody>
                    <a:bodyPr wrap="square"/>
                    <a:lstStyle/>
                    <a:p>
                      <a:pPr algn="l"/>
                      <a:r>
                        <a:rPr sz="1050" b="0" i="0">
                          <a:solidFill>
                            <a:srgbClr val="404040"/>
                          </a:solidFill>
                          <a:latin typeface="Arial"/>
                        </a:rPr>
                        <a:t>What we found, branch by branch</a:t>
                      </a:r>
                    </a:p>
                  </a:txBody>
                  <a:tcPr marL="54864" marR="54864" marT="27432" marB="27432" anchor="ctr">
                    <a:solidFill>
                      <a:srgbClr val="FFFFFF"/>
                    </a:solidFill>
                  </a:tcPr>
                </a:tc>
              </a:tr>
              <a:tr h="384048">
                <a:tc>
                  <a:txBody>
                    <a:bodyPr wrap="square"/>
                    <a:lstStyle/>
                    <a:p>
                      <a:pPr algn="l"/>
                      <a:r>
                        <a:rPr sz="1050" b="1" i="0">
                          <a:solidFill>
                            <a:srgbClr val="1F497D"/>
                          </a:solidFill>
                          <a:latin typeface="Arial"/>
                        </a:rPr>
                        <a:t>30 min</a:t>
                      </a:r>
                    </a:p>
                  </a:txBody>
                  <a:tcPr marL="54864" marR="54864" marT="27432" marB="27432" anchor="ctr">
                    <a:solidFill>
                      <a:srgbClr val="F2F2F2"/>
                    </a:solidFill>
                  </a:tcPr>
                </a:tc>
                <a:tc>
                  <a:txBody>
                    <a:bodyPr wrap="square"/>
                    <a:lstStyle/>
                    <a:p>
                      <a:pPr algn="l"/>
                      <a:r>
                        <a:rPr sz="1050" b="0" i="0">
                          <a:solidFill>
                            <a:srgbClr val="404040"/>
                          </a:solidFill>
                          <a:latin typeface="Arial"/>
                        </a:rPr>
                        <a:t>Stepping back: scorecard, themes, tensions and the "so what"</a:t>
                      </a:r>
                    </a:p>
                  </a:txBody>
                  <a:tcPr marL="54864" marR="54864" marT="27432" marB="27432" anchor="ctr">
                    <a:solidFill>
                      <a:srgbClr val="F2F2F2"/>
                    </a:solidFill>
                  </a:tcPr>
                </a:tc>
              </a:tr>
              <a:tr h="384048">
                <a:tc>
                  <a:txBody>
                    <a:bodyPr wrap="square"/>
                    <a:lstStyle/>
                    <a:p>
                      <a:pPr algn="l"/>
                      <a:r>
                        <a:rPr sz="1050" b="1" i="0">
                          <a:solidFill>
                            <a:srgbClr val="1F497D"/>
                          </a:solidFill>
                          <a:latin typeface="Arial"/>
                        </a:rPr>
                        <a:t>30 min</a:t>
                      </a:r>
                    </a:p>
                  </a:txBody>
                  <a:tcPr marL="54864" marR="54864" marT="27432" marB="27432" anchor="ctr">
                    <a:solidFill>
                      <a:srgbClr val="FFFFFF"/>
                    </a:solidFill>
                  </a:tcPr>
                </a:tc>
                <a:tc>
                  <a:txBody>
                    <a:bodyPr wrap="square"/>
                    <a:lstStyle/>
                    <a:p>
                      <a:pPr algn="l"/>
                      <a:r>
                        <a:rPr sz="1050" b="0" i="0">
                          <a:solidFill>
                            <a:srgbClr val="404040"/>
                          </a:solidFill>
                          <a:latin typeface="Arial"/>
                        </a:rPr>
                        <a:t>Gaps, with a focus on marketing and brand</a:t>
                      </a:r>
                    </a:p>
                  </a:txBody>
                  <a:tcPr marL="54864" marR="54864" marT="27432" marB="27432" anchor="ctr">
                    <a:solidFill>
                      <a:srgbClr val="FFFFFF"/>
                    </a:solidFill>
                  </a:tcPr>
                </a:tc>
              </a:tr>
              <a:tr h="384048">
                <a:tc>
                  <a:txBody>
                    <a:bodyPr wrap="square"/>
                    <a:lstStyle/>
                    <a:p>
                      <a:pPr algn="l"/>
                      <a:r>
                        <a:rPr sz="1050" b="1" i="0">
                          <a:solidFill>
                            <a:srgbClr val="1F497D"/>
                          </a:solidFill>
                          <a:latin typeface="Arial"/>
                        </a:rPr>
                        <a:t>25 min</a:t>
                      </a:r>
                    </a:p>
                  </a:txBody>
                  <a:tcPr marL="54864" marR="54864" marT="27432" marB="27432" anchor="ctr">
                    <a:solidFill>
                      <a:srgbClr val="F2F2F2"/>
                    </a:solidFill>
                  </a:tcPr>
                </a:tc>
                <a:tc>
                  <a:txBody>
                    <a:bodyPr wrap="square"/>
                    <a:lstStyle/>
                    <a:p>
                      <a:pPr algn="l"/>
                      <a:r>
                        <a:rPr sz="1050" b="0" i="0">
                          <a:solidFill>
                            <a:srgbClr val="404040"/>
                          </a:solidFill>
                          <a:latin typeface="Arial"/>
                        </a:rPr>
                        <a:t>Shape of the final recommendations</a:t>
                      </a:r>
                    </a:p>
                  </a:txBody>
                  <a:tcPr marL="54864" marR="54864" marT="27432" marB="27432" anchor="ctr">
                    <a:solidFill>
                      <a:srgbClr val="F2F2F2"/>
                    </a:solidFill>
                  </a:tcPr>
                </a:tc>
              </a:tr>
              <a:tr h="384048">
                <a:tc>
                  <a:txBody>
                    <a:bodyPr wrap="square"/>
                    <a:lstStyle/>
                    <a:p>
                      <a:pPr algn="l"/>
                      <a:r>
                        <a:rPr sz="1050" b="1" i="0">
                          <a:solidFill>
                            <a:srgbClr val="1F497D"/>
                          </a:solidFill>
                          <a:latin typeface="Arial"/>
                        </a:rPr>
                        <a:t>20 min</a:t>
                      </a:r>
                    </a:p>
                  </a:txBody>
                  <a:tcPr marL="54864" marR="54864" marT="27432" marB="27432" anchor="ctr">
                    <a:solidFill>
                      <a:srgbClr val="FFFFFF"/>
                    </a:solidFill>
                  </a:tcPr>
                </a:tc>
                <a:tc>
                  <a:txBody>
                    <a:bodyPr wrap="square"/>
                    <a:lstStyle/>
                    <a:p>
                      <a:pPr algn="l"/>
                      <a:r>
                        <a:rPr sz="1050" b="0" i="0">
                          <a:solidFill>
                            <a:srgbClr val="404040"/>
                          </a:solidFill>
                          <a:latin typeface="Arial"/>
                        </a:rPr>
                        <a:t>Next six weeks and decisions</a:t>
                      </a:r>
                    </a:p>
                  </a:txBody>
                  <a:tcPr marL="54864" marR="54864" marT="27432" marB="27432" anchor="ctr">
                    <a:solidFill>
                      <a:srgbClr val="FFFFFF"/>
                    </a:solidFill>
                  </a:tcPr>
                </a:tc>
              </a:tr>
            </a:tbl>
          </a:graphicData>
        </a:graphic>
      </p:graphicFrame>
      <p:sp>
        <p:nvSpPr>
          <p:cNvPr id="20" name="Rectangle 19"/>
          <p:cNvSpPr/>
          <p:nvPr/>
        </p:nvSpPr>
        <p:spPr>
          <a:xfrm>
            <a:off x="6263640" y="4983480"/>
            <a:ext cx="5532120" cy="960120"/>
          </a:xfrm>
          <a:prstGeom prst="rect">
            <a:avLst/>
          </a:prstGeom>
          <a:solidFill>
            <a:srgbClr val="F2F2F2"/>
          </a:solidFill>
          <a:ln>
            <a:noFill/>
          </a:ln>
        </p:spPr>
        <p:txBody>
          <a:bodyPr rtlCol="0" anchor="ctr"/>
          <a:lstStyle/>
          <a:p>
            <a:pPr algn="ctr"/>
          </a:p>
        </p:txBody>
      </p:sp>
      <p:sp>
        <p:nvSpPr>
          <p:cNvPr id="21" name="Rectangle 20"/>
          <p:cNvSpPr/>
          <p:nvPr/>
        </p:nvSpPr>
        <p:spPr>
          <a:xfrm>
            <a:off x="6263640" y="4983480"/>
            <a:ext cx="54864" cy="960120"/>
          </a:xfrm>
          <a:prstGeom prst="rect">
            <a:avLst/>
          </a:prstGeom>
          <a:solidFill>
            <a:srgbClr val="00AEEF"/>
          </a:solidFill>
          <a:ln>
            <a:noFill/>
          </a:ln>
        </p:spPr>
        <p:txBody>
          <a:bodyPr rtlCol="0" anchor="ctr"/>
          <a:lstStyle/>
          <a:p>
            <a:pPr algn="ctr"/>
          </a:p>
        </p:txBody>
      </p:sp>
      <p:sp>
        <p:nvSpPr>
          <p:cNvPr id="22" name="TextBox 21"/>
          <p:cNvSpPr txBox="1"/>
          <p:nvPr/>
        </p:nvSpPr>
        <p:spPr>
          <a:xfrm>
            <a:off x="6428231" y="5074920"/>
            <a:ext cx="52578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Ground rules</a:t>
            </a:r>
          </a:p>
        </p:txBody>
      </p:sp>
      <p:sp>
        <p:nvSpPr>
          <p:cNvPr id="23" name="TextBox 22"/>
          <p:cNvSpPr txBox="1"/>
          <p:nvPr/>
        </p:nvSpPr>
        <p:spPr>
          <a:xfrm>
            <a:off x="6428231" y="5394960"/>
            <a:ext cx="5257800" cy="457200"/>
          </a:xfrm>
          <a:prstGeom prst="rect">
            <a:avLst/>
          </a:prstGeom>
          <a:noFill/>
        </p:spPr>
        <p:txBody>
          <a:bodyPr wrap="square" anchor="t" lIns="36576" rIns="36576" tIns="21945" bIns="21945">
            <a:spAutoFit/>
          </a:bodyPr>
          <a:lstStyle/>
          <a:p>
            <a:pPr algn="l">
              <a:spcAft>
                <a:spcPts val="400"/>
              </a:spcAft>
            </a:pPr>
            <a:r>
              <a:rPr sz="1000" b="0" i="0">
                <a:solidFill>
                  <a:srgbClr val="404040"/>
                </a:solidFill>
                <a:latin typeface="Arial"/>
              </a:rPr>
              <a:t>Challenge the evidence, not the authors. Separate what the data shows from what we infer. Leave with decisions, not a list of open threads.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Six of ten contracted deliverables are in hand; the M&amp;E toolkit and the final report remain</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WHERE THE STUDY STANDS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Signed SLA, Annexure B clause 3.2 (Dec 2025); input documents as received for this session</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3</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11420855" cy="4389120"/>
        </p:xfrm>
        <a:graphic>
          <a:graphicData uri="http://schemas.openxmlformats.org/drawingml/2006/table">
            <a:tbl>
              <a:tblPr firstRow="1" bandRow="0">
                <a:tableStyleId>{5C22544A-7EE6-4342-B048-85BDC9FD1C3A}</a:tableStyleId>
              </a:tblPr>
              <a:tblGrid>
                <a:gridCol w="731520"/>
                <a:gridCol w="3749039"/>
                <a:gridCol w="1097280"/>
                <a:gridCol w="1417320"/>
                <a:gridCol w="4425696"/>
              </a:tblGrid>
              <a:tr h="365760">
                <a:tc>
                  <a:txBody>
                    <a:bodyPr wrap="square"/>
                    <a:lstStyle/>
                    <a:p>
                      <a:pPr algn="l"/>
                      <a:r>
                        <a:rPr sz="1000" b="1" i="0">
                          <a:solidFill>
                            <a:srgbClr val="FFFFFF"/>
                          </a:solidFill>
                          <a:latin typeface="Arial"/>
                        </a:rPr>
                        <a:t>SLA ref</a:t>
                      </a:r>
                    </a:p>
                  </a:txBody>
                  <a:tcPr marL="54864" marR="54864" marT="27432" marB="27432" anchor="ctr">
                    <a:solidFill>
                      <a:srgbClr val="1F497D"/>
                    </a:solidFill>
                  </a:tcPr>
                </a:tc>
                <a:tc>
                  <a:txBody>
                    <a:bodyPr wrap="square"/>
                    <a:lstStyle/>
                    <a:p>
                      <a:pPr algn="l"/>
                      <a:r>
                        <a:rPr sz="1000" b="1" i="0">
                          <a:solidFill>
                            <a:srgbClr val="FFFFFF"/>
                          </a:solidFill>
                          <a:latin typeface="Arial"/>
                        </a:rPr>
                        <a:t>Deliverable</a:t>
                      </a:r>
                    </a:p>
                  </a:txBody>
                  <a:tcPr marL="54864" marR="54864" marT="27432" marB="27432" anchor="ctr">
                    <a:solidFill>
                      <a:srgbClr val="1F497D"/>
                    </a:solidFill>
                  </a:tcPr>
                </a:tc>
                <a:tc>
                  <a:txBody>
                    <a:bodyPr wrap="square"/>
                    <a:lstStyle/>
                    <a:p>
                      <a:pPr algn="l"/>
                      <a:r>
                        <a:rPr sz="1000" b="1" i="0">
                          <a:solidFill>
                            <a:srgbClr val="FFFFFF"/>
                          </a:solidFill>
                          <a:latin typeface="Arial"/>
                        </a:rPr>
                        <a:t>Dated</a:t>
                      </a:r>
                    </a:p>
                  </a:txBody>
                  <a:tcPr marL="54864" marR="54864" marT="27432" marB="27432" anchor="ctr">
                    <a:solidFill>
                      <a:srgbClr val="1F497D"/>
                    </a:solidFill>
                  </a:tcPr>
                </a:tc>
                <a:tc>
                  <a:txBody>
                    <a:bodyPr wrap="square"/>
                    <a:lstStyle/>
                    <a:p>
                      <a:pPr algn="l"/>
                      <a:r>
                        <a:rPr sz="1000" b="1" i="0">
                          <a:solidFill>
                            <a:srgbClr val="FFFFFF"/>
                          </a:solidFill>
                          <a:latin typeface="Arial"/>
                        </a:rPr>
                        <a:t>Status</a:t>
                      </a:r>
                    </a:p>
                  </a:txBody>
                  <a:tcPr marL="54864" marR="54864" marT="27432" marB="27432" anchor="ctr">
                    <a:solidFill>
                      <a:srgbClr val="1F497D"/>
                    </a:solidFill>
                  </a:tcPr>
                </a:tc>
                <a:tc>
                  <a:txBody>
                    <a:bodyPr wrap="square"/>
                    <a:lstStyle/>
                    <a:p>
                      <a:pPr algn="l"/>
                      <a:r>
                        <a:rPr sz="1000" b="1" i="0">
                          <a:solidFill>
                            <a:srgbClr val="FFFFFF"/>
                          </a:solidFill>
                          <a:latin typeface="Arial"/>
                        </a:rPr>
                        <a:t>Comment</a:t>
                      </a:r>
                    </a:p>
                  </a:txBody>
                  <a:tcPr marL="54864" marR="54864" marT="27432" marB="27432" anchor="ctr">
                    <a:solidFill>
                      <a:srgbClr val="1F497D"/>
                    </a:solidFill>
                  </a:tcPr>
                </a:tc>
              </a:tr>
              <a:tr h="365760">
                <a:tc>
                  <a:txBody>
                    <a:bodyPr wrap="square"/>
                    <a:lstStyle/>
                    <a:p>
                      <a:pPr algn="l"/>
                      <a:r>
                        <a:rPr sz="1000" b="0" i="0">
                          <a:solidFill>
                            <a:srgbClr val="7F7F7F"/>
                          </a:solidFill>
                          <a:latin typeface="Arial"/>
                        </a:rPr>
                        <a:t>3.2.1</a:t>
                      </a:r>
                    </a:p>
                  </a:txBody>
                  <a:tcPr marL="54864" marR="54864" marT="27432" marB="27432" anchor="ctr">
                    <a:solidFill>
                      <a:srgbClr val="FFFFFF"/>
                    </a:solidFill>
                  </a:tcPr>
                </a:tc>
                <a:tc>
                  <a:txBody>
                    <a:bodyPr wrap="square"/>
                    <a:lstStyle/>
                    <a:p>
                      <a:pPr algn="l"/>
                      <a:r>
                        <a:rPr sz="1000" b="1" i="0">
                          <a:solidFill>
                            <a:srgbClr val="1F497D"/>
                          </a:solidFill>
                          <a:latin typeface="Arial"/>
                        </a:rPr>
                        <a:t>Inception report and project plan</a:t>
                      </a:r>
                    </a:p>
                  </a:txBody>
                  <a:tcPr marL="54864" marR="54864" marT="27432" marB="27432" anchor="ctr">
                    <a:solidFill>
                      <a:srgbClr val="FFFFFF"/>
                    </a:solidFill>
                  </a:tcPr>
                </a:tc>
                <a:tc>
                  <a:txBody>
                    <a:bodyPr wrap="square"/>
                    <a:lstStyle/>
                    <a:p>
                      <a:pPr algn="l"/>
                      <a:r>
                        <a:rPr sz="1000" b="0" i="0">
                          <a:solidFill>
                            <a:srgbClr val="404040"/>
                          </a:solidFill>
                          <a:latin typeface="Arial"/>
                        </a:rPr>
                        <a:t>Nov 2025</a:t>
                      </a:r>
                    </a:p>
                  </a:txBody>
                  <a:tcPr marL="54864" marR="54864" marT="27432" marB="27432" anchor="ctr">
                    <a:solidFill>
                      <a:srgbClr val="FFFFFF"/>
                    </a:solidFill>
                  </a:tcPr>
                </a:tc>
                <a:tc>
                  <a:txBody>
                    <a:bodyPr wrap="square"/>
                    <a:lstStyle/>
                    <a:p>
                      <a:pPr algn="l"/>
                      <a:r>
                        <a:rPr sz="1000" b="1" i="0">
                          <a:solidFill>
                            <a:srgbClr val="FFFFFF"/>
                          </a:solidFill>
                          <a:latin typeface="Arial"/>
                        </a:rPr>
                        <a:t>Delivered</a:t>
                      </a:r>
                    </a:p>
                  </a:txBody>
                  <a:tcPr marL="54864" marR="54864" marT="27432" marB="27432" anchor="ctr">
                    <a:solidFill>
                      <a:srgbClr val="2E9E44"/>
                    </a:solidFill>
                  </a:tcPr>
                </a:tc>
                <a:tc>
                  <a:txBody>
                    <a:bodyPr wrap="square"/>
                    <a:lstStyle/>
                    <a:p>
                      <a:pPr algn="l"/>
                      <a:r>
                        <a:rPr sz="1000" b="0" i="0">
                          <a:solidFill>
                            <a:srgbClr val="404040"/>
                          </a:solidFill>
                          <a:latin typeface="Arial"/>
                        </a:rPr>
                        <a:t>Four-phase plan; no hypothesis framing yet</a:t>
                      </a:r>
                    </a:p>
                  </a:txBody>
                  <a:tcPr marL="54864" marR="54864" marT="27432" marB="27432" anchor="ctr">
                    <a:solidFill>
                      <a:srgbClr val="FFFFFF"/>
                    </a:solidFill>
                  </a:tcPr>
                </a:tc>
              </a:tr>
              <a:tr h="365760">
                <a:tc>
                  <a:txBody>
                    <a:bodyPr wrap="square"/>
                    <a:lstStyle/>
                    <a:p>
                      <a:pPr algn="l"/>
                      <a:r>
                        <a:rPr sz="1000" b="0" i="0">
                          <a:solidFill>
                            <a:srgbClr val="7F7F7F"/>
                          </a:solidFill>
                          <a:latin typeface="Arial"/>
                        </a:rPr>
                        <a:t>3.2.2</a:t>
                      </a:r>
                    </a:p>
                  </a:txBody>
                  <a:tcPr marL="54864" marR="54864" marT="27432" marB="27432" anchor="ctr">
                    <a:solidFill>
                      <a:srgbClr val="F2F2F2"/>
                    </a:solidFill>
                  </a:tcPr>
                </a:tc>
                <a:tc>
                  <a:txBody>
                    <a:bodyPr wrap="square"/>
                    <a:lstStyle/>
                    <a:p>
                      <a:pPr algn="l"/>
                      <a:r>
                        <a:rPr sz="1000" b="1" i="0">
                          <a:solidFill>
                            <a:srgbClr val="1F497D"/>
                          </a:solidFill>
                          <a:latin typeface="Arial"/>
                        </a:rPr>
                        <a:t>Current State Diagnostic</a:t>
                      </a:r>
                    </a:p>
                  </a:txBody>
                  <a:tcPr marL="54864" marR="54864" marT="27432" marB="27432" anchor="ctr">
                    <a:solidFill>
                      <a:srgbClr val="F2F2F2"/>
                    </a:solidFill>
                  </a:tcPr>
                </a:tc>
                <a:tc>
                  <a:txBody>
                    <a:bodyPr wrap="square"/>
                    <a:lstStyle/>
                    <a:p>
                      <a:pPr algn="l"/>
                      <a:r>
                        <a:rPr sz="1000" b="0" i="0">
                          <a:solidFill>
                            <a:srgbClr val="404040"/>
                          </a:solidFill>
                          <a:latin typeface="Arial"/>
                        </a:rPr>
                        <a:t>Dec 2025</a:t>
                      </a:r>
                    </a:p>
                  </a:txBody>
                  <a:tcPr marL="54864" marR="54864" marT="27432" marB="27432" anchor="ctr">
                    <a:solidFill>
                      <a:srgbClr val="F2F2F2"/>
                    </a:solidFill>
                  </a:tcPr>
                </a:tc>
                <a:tc>
                  <a:txBody>
                    <a:bodyPr wrap="square"/>
                    <a:lstStyle/>
                    <a:p>
                      <a:pPr algn="l"/>
                      <a:r>
                        <a:rPr sz="1000" b="1" i="0">
                          <a:solidFill>
                            <a:srgbClr val="FFFFFF"/>
                          </a:solidFill>
                          <a:latin typeface="Arial"/>
                        </a:rPr>
                        <a:t>Delivered</a:t>
                      </a:r>
                    </a:p>
                  </a:txBody>
                  <a:tcPr marL="54864" marR="54864" marT="27432" marB="27432" anchor="ctr">
                    <a:solidFill>
                      <a:srgbClr val="2E9E44"/>
                    </a:solidFill>
                  </a:tcPr>
                </a:tc>
                <a:tc>
                  <a:txBody>
                    <a:bodyPr wrap="square"/>
                    <a:lstStyle/>
                    <a:p>
                      <a:pPr algn="l"/>
                      <a:r>
                        <a:rPr sz="1000" b="0" i="0">
                          <a:solidFill>
                            <a:srgbClr val="404040"/>
                          </a:solidFill>
                          <a:latin typeface="Arial"/>
                        </a:rPr>
                        <a:t>Baseline and first hypothesis tree (p64)</a:t>
                      </a:r>
                    </a:p>
                  </a:txBody>
                  <a:tcPr marL="54864" marR="54864" marT="27432" marB="27432" anchor="ctr">
                    <a:solidFill>
                      <a:srgbClr val="F2F2F2"/>
                    </a:solidFill>
                  </a:tcPr>
                </a:tc>
              </a:tr>
              <a:tr h="365760">
                <a:tc>
                  <a:txBody>
                    <a:bodyPr wrap="square"/>
                    <a:lstStyle/>
                    <a:p>
                      <a:pPr algn="l"/>
                      <a:r>
                        <a:rPr sz="1000" b="0" i="0">
                          <a:solidFill>
                            <a:srgbClr val="7F7F7F"/>
                          </a:solidFill>
                          <a:latin typeface="Arial"/>
                        </a:rPr>
                        <a:t>3.2.3</a:t>
                      </a:r>
                    </a:p>
                  </a:txBody>
                  <a:tcPr marL="54864" marR="54864" marT="27432" marB="27432" anchor="ctr">
                    <a:solidFill>
                      <a:srgbClr val="FFFFFF"/>
                    </a:solidFill>
                  </a:tcPr>
                </a:tc>
                <a:tc>
                  <a:txBody>
                    <a:bodyPr wrap="square"/>
                    <a:lstStyle/>
                    <a:p>
                      <a:pPr algn="l"/>
                      <a:r>
                        <a:rPr sz="1000" b="1" i="0">
                          <a:solidFill>
                            <a:srgbClr val="1F497D"/>
                          </a:solidFill>
                          <a:latin typeface="Arial"/>
                        </a:rPr>
                        <a:t>Market Strategy Report (Demand-Side)</a:t>
                      </a:r>
                    </a:p>
                  </a:txBody>
                  <a:tcPr marL="54864" marR="54864" marT="27432" marB="27432" anchor="ctr">
                    <a:solidFill>
                      <a:srgbClr val="FFFFFF"/>
                    </a:solidFill>
                  </a:tcPr>
                </a:tc>
                <a:tc>
                  <a:txBody>
                    <a:bodyPr wrap="square"/>
                    <a:lstStyle/>
                    <a:p>
                      <a:pPr algn="l"/>
                      <a:r>
                        <a:rPr sz="1000" b="0" i="0">
                          <a:solidFill>
                            <a:srgbClr val="404040"/>
                          </a:solidFill>
                          <a:latin typeface="Arial"/>
                        </a:rPr>
                        <a:t>Jun 2026</a:t>
                      </a:r>
                    </a:p>
                  </a:txBody>
                  <a:tcPr marL="54864" marR="54864" marT="27432" marB="27432" anchor="ctr">
                    <a:solidFill>
                      <a:srgbClr val="FFFFFF"/>
                    </a:solidFill>
                  </a:tcPr>
                </a:tc>
                <a:tc>
                  <a:txBody>
                    <a:bodyPr wrap="square"/>
                    <a:lstStyle/>
                    <a:p>
                      <a:pPr algn="l"/>
                      <a:r>
                        <a:rPr sz="1000" b="1" i="0">
                          <a:solidFill>
                            <a:srgbClr val="FFFFFF"/>
                          </a:solidFill>
                          <a:latin typeface="Arial"/>
                        </a:rPr>
                        <a:t>Delivered</a:t>
                      </a:r>
                    </a:p>
                  </a:txBody>
                  <a:tcPr marL="54864" marR="54864" marT="27432" marB="27432" anchor="ctr">
                    <a:solidFill>
                      <a:srgbClr val="2E9E44"/>
                    </a:solidFill>
                  </a:tcPr>
                </a:tc>
                <a:tc>
                  <a:txBody>
                    <a:bodyPr wrap="square"/>
                    <a:lstStyle/>
                    <a:p>
                      <a:pPr algn="l"/>
                      <a:r>
                        <a:rPr sz="1000" b="0" i="0">
                          <a:solidFill>
                            <a:srgbClr val="404040"/>
                          </a:solidFill>
                          <a:latin typeface="Arial"/>
                        </a:rPr>
                        <a:t>Scenarios, priority markets, route to market</a:t>
                      </a:r>
                    </a:p>
                  </a:txBody>
                  <a:tcPr marL="54864" marR="54864" marT="27432" marB="27432" anchor="ctr">
                    <a:solidFill>
                      <a:srgbClr val="FFFFFF"/>
                    </a:solidFill>
                  </a:tcPr>
                </a:tc>
              </a:tr>
              <a:tr h="365760">
                <a:tc>
                  <a:txBody>
                    <a:bodyPr wrap="square"/>
                    <a:lstStyle/>
                    <a:p>
                      <a:pPr algn="l"/>
                      <a:r>
                        <a:rPr sz="1000" b="0" i="0">
                          <a:solidFill>
                            <a:srgbClr val="7F7F7F"/>
                          </a:solidFill>
                          <a:latin typeface="Arial"/>
                        </a:rPr>
                        <a:t>3.2.4</a:t>
                      </a:r>
                    </a:p>
                  </a:txBody>
                  <a:tcPr marL="54864" marR="54864" marT="27432" marB="27432" anchor="ctr">
                    <a:solidFill>
                      <a:srgbClr val="F2F2F2"/>
                    </a:solidFill>
                  </a:tcPr>
                </a:tc>
                <a:tc>
                  <a:txBody>
                    <a:bodyPr wrap="square"/>
                    <a:lstStyle/>
                    <a:p>
                      <a:pPr algn="l"/>
                      <a:r>
                        <a:rPr sz="1000" b="1" i="0">
                          <a:solidFill>
                            <a:srgbClr val="1F497D"/>
                          </a:solidFill>
                          <a:latin typeface="Arial"/>
                        </a:rPr>
                        <a:t>Infrastructure Investment Framework</a:t>
                      </a:r>
                    </a:p>
                  </a:txBody>
                  <a:tcPr marL="54864" marR="54864" marT="27432" marB="27432" anchor="ctr">
                    <a:solidFill>
                      <a:srgbClr val="F2F2F2"/>
                    </a:solidFill>
                  </a:tcPr>
                </a:tc>
                <a:tc>
                  <a:txBody>
                    <a:bodyPr wrap="square"/>
                    <a:lstStyle/>
                    <a:p>
                      <a:pPr algn="l"/>
                      <a:r>
                        <a:rPr sz="1000" b="0" i="0">
                          <a:solidFill>
                            <a:srgbClr val="404040"/>
                          </a:solidFill>
                          <a:latin typeface="Arial"/>
                        </a:rPr>
                        <a:t>Jun 2026</a:t>
                      </a:r>
                    </a:p>
                  </a:txBody>
                  <a:tcPr marL="54864" marR="54864" marT="27432" marB="27432" anchor="ctr">
                    <a:solidFill>
                      <a:srgbClr val="F2F2F2"/>
                    </a:solidFill>
                  </a:tcPr>
                </a:tc>
                <a:tc>
                  <a:txBody>
                    <a:bodyPr wrap="square"/>
                    <a:lstStyle/>
                    <a:p>
                      <a:pPr algn="l"/>
                      <a:r>
                        <a:rPr sz="1000" b="1" i="0">
                          <a:solidFill>
                            <a:srgbClr val="FFFFFF"/>
                          </a:solidFill>
                          <a:latin typeface="Arial"/>
                        </a:rPr>
                        <a:t>Draft / partial</a:t>
                      </a:r>
                    </a:p>
                  </a:txBody>
                  <a:tcPr marL="54864" marR="54864" marT="27432" marB="27432" anchor="ctr">
                    <a:solidFill>
                      <a:srgbClr val="F2A900"/>
                    </a:solidFill>
                  </a:tcPr>
                </a:tc>
                <a:tc>
                  <a:txBody>
                    <a:bodyPr wrap="square"/>
                    <a:lstStyle/>
                    <a:p>
                      <a:pPr algn="l"/>
                      <a:r>
                        <a:rPr sz="1000" b="0" i="0">
                          <a:solidFill>
                            <a:srgbClr val="404040"/>
                          </a:solidFill>
                          <a:latin typeface="Arial"/>
                        </a:rPr>
                        <a:t>Asset base and readiness; no ROI or pipeline yet</a:t>
                      </a:r>
                    </a:p>
                  </a:txBody>
                  <a:tcPr marL="54864" marR="54864" marT="27432" marB="27432" anchor="ctr">
                    <a:solidFill>
                      <a:srgbClr val="F2F2F2"/>
                    </a:solidFill>
                  </a:tcPr>
                </a:tc>
              </a:tr>
              <a:tr h="365760">
                <a:tc>
                  <a:txBody>
                    <a:bodyPr wrap="square"/>
                    <a:lstStyle/>
                    <a:p>
                      <a:pPr algn="l"/>
                      <a:r>
                        <a:rPr sz="1000" b="0" i="0">
                          <a:solidFill>
                            <a:srgbClr val="7F7F7F"/>
                          </a:solidFill>
                          <a:latin typeface="Arial"/>
                        </a:rPr>
                        <a:t>3.2.5</a:t>
                      </a:r>
                    </a:p>
                  </a:txBody>
                  <a:tcPr marL="54864" marR="54864" marT="27432" marB="27432" anchor="ctr">
                    <a:solidFill>
                      <a:srgbClr val="FFFFFF"/>
                    </a:solidFill>
                  </a:tcPr>
                </a:tc>
                <a:tc>
                  <a:txBody>
                    <a:bodyPr wrap="square"/>
                    <a:lstStyle/>
                    <a:p>
                      <a:pPr algn="l"/>
                      <a:r>
                        <a:rPr sz="1000" b="1" i="0">
                          <a:solidFill>
                            <a:srgbClr val="1F497D"/>
                          </a:solidFill>
                          <a:latin typeface="Arial"/>
                        </a:rPr>
                        <a:t>SMME and Inclusion Strategy</a:t>
                      </a:r>
                    </a:p>
                  </a:txBody>
                  <a:tcPr marL="54864" marR="54864" marT="27432" marB="27432" anchor="ctr">
                    <a:solidFill>
                      <a:srgbClr val="FFFFFF"/>
                    </a:solidFill>
                  </a:tcPr>
                </a:tc>
                <a:tc>
                  <a:txBody>
                    <a:bodyPr wrap="square"/>
                    <a:lstStyle/>
                    <a:p>
                      <a:pPr algn="l"/>
                      <a:r>
                        <a:rPr sz="1000" b="0" i="0">
                          <a:solidFill>
                            <a:srgbClr val="404040"/>
                          </a:solidFill>
                          <a:latin typeface="Arial"/>
                        </a:rPr>
                        <a:t>Sep 2026</a:t>
                      </a:r>
                    </a:p>
                  </a:txBody>
                  <a:tcPr marL="54864" marR="54864" marT="27432" marB="27432" anchor="ctr">
                    <a:solidFill>
                      <a:srgbClr val="FFFFFF"/>
                    </a:solidFill>
                  </a:tcPr>
                </a:tc>
                <a:tc>
                  <a:txBody>
                    <a:bodyPr wrap="square"/>
                    <a:lstStyle/>
                    <a:p>
                      <a:pPr algn="l"/>
                      <a:r>
                        <a:rPr sz="1000" b="1" i="0">
                          <a:solidFill>
                            <a:srgbClr val="FFFFFF"/>
                          </a:solidFill>
                          <a:latin typeface="Arial"/>
                        </a:rPr>
                        <a:t>Draft / partial</a:t>
                      </a:r>
                    </a:p>
                  </a:txBody>
                  <a:tcPr marL="54864" marR="54864" marT="27432" marB="27432" anchor="ctr">
                    <a:solidFill>
                      <a:srgbClr val="F2A900"/>
                    </a:solidFill>
                  </a:tcPr>
                </a:tc>
                <a:tc>
                  <a:txBody>
                    <a:bodyPr wrap="square"/>
                    <a:lstStyle/>
                    <a:p>
                      <a:pPr algn="l"/>
                      <a:r>
                        <a:rPr sz="1000" b="0" i="0">
                          <a:solidFill>
                            <a:srgbClr val="404040"/>
                          </a:solidFill>
                          <a:latin typeface="Arial"/>
                        </a:rPr>
                        <a:t>Community plan; broader SMME and digital scale thin</a:t>
                      </a:r>
                    </a:p>
                  </a:txBody>
                  <a:tcPr marL="54864" marR="54864" marT="27432" marB="27432" anchor="ctr">
                    <a:solidFill>
                      <a:srgbClr val="FFFFFF"/>
                    </a:solidFill>
                  </a:tcPr>
                </a:tc>
              </a:tr>
              <a:tr h="365760">
                <a:tc>
                  <a:txBody>
                    <a:bodyPr wrap="square"/>
                    <a:lstStyle/>
                    <a:p>
                      <a:pPr algn="l"/>
                      <a:r>
                        <a:rPr sz="1000" b="0" i="0">
                          <a:solidFill>
                            <a:srgbClr val="7F7F7F"/>
                          </a:solidFill>
                          <a:latin typeface="Arial"/>
                        </a:rPr>
                        <a:t>3.2.6</a:t>
                      </a:r>
                    </a:p>
                  </a:txBody>
                  <a:tcPr marL="54864" marR="54864" marT="27432" marB="27432" anchor="ctr">
                    <a:solidFill>
                      <a:srgbClr val="F2F2F2"/>
                    </a:solidFill>
                  </a:tcPr>
                </a:tc>
                <a:tc>
                  <a:txBody>
                    <a:bodyPr wrap="square"/>
                    <a:lstStyle/>
                    <a:p>
                      <a:pPr algn="l"/>
                      <a:r>
                        <a:rPr sz="1000" b="1" i="0">
                          <a:solidFill>
                            <a:srgbClr val="1F497D"/>
                          </a:solidFill>
                          <a:latin typeface="Arial"/>
                        </a:rPr>
                        <a:t>Monitoring and Evaluation Toolkit</a:t>
                      </a:r>
                    </a:p>
                  </a:txBody>
                  <a:tcPr marL="54864" marR="54864" marT="27432" marB="27432" anchor="ctr">
                    <a:solidFill>
                      <a:srgbClr val="F2F2F2"/>
                    </a:solidFill>
                  </a:tcPr>
                </a:tc>
                <a:tc>
                  <a:txBody>
                    <a:bodyPr wrap="square"/>
                    <a:lstStyle/>
                    <a:p>
                      <a:pPr algn="l"/>
                      <a:r>
                        <a:rPr sz="1000" b="0" i="0">
                          <a:solidFill>
                            <a:srgbClr val="404040"/>
                          </a:solidFill>
                          <a:latin typeface="Arial"/>
                        </a:rPr>
                        <a:t>n/a</a:t>
                      </a:r>
                    </a:p>
                  </a:txBody>
                  <a:tcPr marL="54864" marR="54864" marT="27432" marB="27432" anchor="ctr">
                    <a:solidFill>
                      <a:srgbClr val="F2F2F2"/>
                    </a:solidFill>
                  </a:tcPr>
                </a:tc>
                <a:tc>
                  <a:txBody>
                    <a:bodyPr wrap="square"/>
                    <a:lstStyle/>
                    <a:p>
                      <a:pPr algn="l"/>
                      <a:r>
                        <a:rPr sz="1000" b="1" i="0">
                          <a:solidFill>
                            <a:srgbClr val="FFFFFF"/>
                          </a:solidFill>
                          <a:latin typeface="Arial"/>
                        </a:rPr>
                        <a:t>Outstanding</a:t>
                      </a:r>
                    </a:p>
                  </a:txBody>
                  <a:tcPr marL="54864" marR="54864" marT="27432" marB="27432" anchor="ctr">
                    <a:solidFill>
                      <a:srgbClr val="D9262B"/>
                    </a:solidFill>
                  </a:tcPr>
                </a:tc>
                <a:tc>
                  <a:txBody>
                    <a:bodyPr wrap="square"/>
                    <a:lstStyle/>
                    <a:p>
                      <a:pPr algn="l"/>
                      <a:r>
                        <a:rPr sz="1000" b="0" i="0">
                          <a:solidFill>
                            <a:srgbClr val="404040"/>
                          </a:solidFill>
                          <a:latin typeface="Arial"/>
                        </a:rPr>
                        <a:t>Not tabled for this session</a:t>
                      </a:r>
                    </a:p>
                  </a:txBody>
                  <a:tcPr marL="54864" marR="54864" marT="27432" marB="27432" anchor="ctr">
                    <a:solidFill>
                      <a:srgbClr val="F2F2F2"/>
                    </a:solidFill>
                  </a:tcPr>
                </a:tc>
              </a:tr>
              <a:tr h="365760">
                <a:tc>
                  <a:txBody>
                    <a:bodyPr wrap="square"/>
                    <a:lstStyle/>
                    <a:p>
                      <a:pPr algn="l"/>
                      <a:r>
                        <a:rPr sz="1000" b="0" i="0">
                          <a:solidFill>
                            <a:srgbClr val="7F7F7F"/>
                          </a:solidFill>
                          <a:latin typeface="Arial"/>
                        </a:rPr>
                        <a:t>3.2.7</a:t>
                      </a:r>
                    </a:p>
                  </a:txBody>
                  <a:tcPr marL="54864" marR="54864" marT="27432" marB="27432" anchor="ctr">
                    <a:solidFill>
                      <a:srgbClr val="FFFFFF"/>
                    </a:solidFill>
                  </a:tcPr>
                </a:tc>
                <a:tc>
                  <a:txBody>
                    <a:bodyPr wrap="square"/>
                    <a:lstStyle/>
                    <a:p>
                      <a:pPr algn="l"/>
                      <a:r>
                        <a:rPr sz="1000" b="1" i="0">
                          <a:solidFill>
                            <a:srgbClr val="1F497D"/>
                          </a:solidFill>
                          <a:latin typeface="Arial"/>
                        </a:rPr>
                        <a:t>Global Benchmarking Report</a:t>
                      </a:r>
                    </a:p>
                  </a:txBody>
                  <a:tcPr marL="54864" marR="54864" marT="27432" marB="27432" anchor="ctr">
                    <a:solidFill>
                      <a:srgbClr val="FFFFFF"/>
                    </a:solidFill>
                  </a:tcPr>
                </a:tc>
                <a:tc>
                  <a:txBody>
                    <a:bodyPr wrap="square"/>
                    <a:lstStyle/>
                    <a:p>
                      <a:pPr algn="l"/>
                      <a:r>
                        <a:rPr sz="1000" b="0" i="0">
                          <a:solidFill>
                            <a:srgbClr val="404040"/>
                          </a:solidFill>
                          <a:latin typeface="Arial"/>
                        </a:rPr>
                        <a:t>Mar 2026</a:t>
                      </a:r>
                    </a:p>
                  </a:txBody>
                  <a:tcPr marL="54864" marR="54864" marT="27432" marB="27432" anchor="ctr">
                    <a:solidFill>
                      <a:srgbClr val="FFFFFF"/>
                    </a:solidFill>
                  </a:tcPr>
                </a:tc>
                <a:tc>
                  <a:txBody>
                    <a:bodyPr wrap="square"/>
                    <a:lstStyle/>
                    <a:p>
                      <a:pPr algn="l"/>
                      <a:r>
                        <a:rPr sz="1000" b="1" i="0">
                          <a:solidFill>
                            <a:srgbClr val="FFFFFF"/>
                          </a:solidFill>
                          <a:latin typeface="Arial"/>
                        </a:rPr>
                        <a:t>Delivered</a:t>
                      </a:r>
                    </a:p>
                  </a:txBody>
                  <a:tcPr marL="54864" marR="54864" marT="27432" marB="27432" anchor="ctr">
                    <a:solidFill>
                      <a:srgbClr val="2E9E44"/>
                    </a:solidFill>
                  </a:tcPr>
                </a:tc>
                <a:tc>
                  <a:txBody>
                    <a:bodyPr wrap="square"/>
                    <a:lstStyle/>
                    <a:p>
                      <a:pPr algn="l"/>
                      <a:r>
                        <a:rPr sz="1000" b="0" i="0">
                          <a:solidFill>
                            <a:srgbClr val="404040"/>
                          </a:solidFill>
                          <a:latin typeface="Arial"/>
                        </a:rPr>
                        <a:t>Six comparators; no underperformer cases</a:t>
                      </a:r>
                    </a:p>
                  </a:txBody>
                  <a:tcPr marL="54864" marR="54864" marT="27432" marB="27432" anchor="ctr">
                    <a:solidFill>
                      <a:srgbClr val="FFFFFF"/>
                    </a:solidFill>
                  </a:tcPr>
                </a:tc>
              </a:tr>
              <a:tr h="365760">
                <a:tc>
                  <a:txBody>
                    <a:bodyPr wrap="square"/>
                    <a:lstStyle/>
                    <a:p>
                      <a:pPr algn="l"/>
                      <a:r>
                        <a:rPr sz="1000" b="0" i="0">
                          <a:solidFill>
                            <a:srgbClr val="7F7F7F"/>
                          </a:solidFill>
                          <a:latin typeface="Arial"/>
                        </a:rPr>
                        <a:t>3.2.8</a:t>
                      </a:r>
                    </a:p>
                  </a:txBody>
                  <a:tcPr marL="54864" marR="54864" marT="27432" marB="27432" anchor="ctr">
                    <a:solidFill>
                      <a:srgbClr val="F2F2F2"/>
                    </a:solidFill>
                  </a:tcPr>
                </a:tc>
                <a:tc>
                  <a:txBody>
                    <a:bodyPr wrap="square"/>
                    <a:lstStyle/>
                    <a:p>
                      <a:pPr algn="l"/>
                      <a:r>
                        <a:rPr sz="1000" b="1" i="0">
                          <a:solidFill>
                            <a:srgbClr val="1F497D"/>
                          </a:solidFill>
                          <a:latin typeface="Arial"/>
                        </a:rPr>
                        <a:t>Stakeholder engagement (10 interactions)</a:t>
                      </a:r>
                    </a:p>
                  </a:txBody>
                  <a:tcPr marL="54864" marR="54864" marT="27432" marB="27432" anchor="ctr">
                    <a:solidFill>
                      <a:srgbClr val="F2F2F2"/>
                    </a:solidFill>
                  </a:tcPr>
                </a:tc>
                <a:tc>
                  <a:txBody>
                    <a:bodyPr wrap="square"/>
                    <a:lstStyle/>
                    <a:p>
                      <a:pPr algn="l"/>
                      <a:r>
                        <a:rPr sz="1000" b="0" i="0">
                          <a:solidFill>
                            <a:srgbClr val="404040"/>
                          </a:solidFill>
                          <a:latin typeface="Arial"/>
                        </a:rPr>
                        <a:t>Mar 2026</a:t>
                      </a:r>
                    </a:p>
                  </a:txBody>
                  <a:tcPr marL="54864" marR="54864" marT="27432" marB="27432" anchor="ctr">
                    <a:solidFill>
                      <a:srgbClr val="F2F2F2"/>
                    </a:solidFill>
                  </a:tcPr>
                </a:tc>
                <a:tc>
                  <a:txBody>
                    <a:bodyPr wrap="square"/>
                    <a:lstStyle/>
                    <a:p>
                      <a:pPr algn="l"/>
                      <a:r>
                        <a:rPr sz="1000" b="1" i="0">
                          <a:solidFill>
                            <a:srgbClr val="FFFFFF"/>
                          </a:solidFill>
                          <a:latin typeface="Arial"/>
                        </a:rPr>
                        <a:t>Draft / partial</a:t>
                      </a:r>
                    </a:p>
                  </a:txBody>
                  <a:tcPr marL="54864" marR="54864" marT="27432" marB="27432" anchor="ctr">
                    <a:solidFill>
                      <a:srgbClr val="F2A900"/>
                    </a:solidFill>
                  </a:tcPr>
                </a:tc>
                <a:tc>
                  <a:txBody>
                    <a:bodyPr wrap="square"/>
                    <a:lstStyle/>
                    <a:p>
                      <a:pPr algn="l"/>
                      <a:r>
                        <a:rPr sz="1000" b="0" i="0">
                          <a:solidFill>
                            <a:srgbClr val="404040"/>
                          </a:solidFill>
                          <a:latin typeface="Arial"/>
                        </a:rPr>
                        <a:t>Phase 1 report; Phase 2 to 4 status unclear</a:t>
                      </a:r>
                    </a:p>
                  </a:txBody>
                  <a:tcPr marL="54864" marR="54864" marT="27432" marB="27432" anchor="ctr">
                    <a:solidFill>
                      <a:srgbClr val="F2F2F2"/>
                    </a:solidFill>
                  </a:tcPr>
                </a:tc>
              </a:tr>
              <a:tr h="365760">
                <a:tc>
                  <a:txBody>
                    <a:bodyPr wrap="square"/>
                    <a:lstStyle/>
                    <a:p>
                      <a:pPr algn="l"/>
                      <a:r>
                        <a:rPr sz="1000" b="0" i="0">
                          <a:solidFill>
                            <a:srgbClr val="7F7F7F"/>
                          </a:solidFill>
                          <a:latin typeface="Arial"/>
                        </a:rPr>
                        <a:t>3.2.9</a:t>
                      </a:r>
                    </a:p>
                  </a:txBody>
                  <a:tcPr marL="54864" marR="54864" marT="27432" marB="27432" anchor="ctr">
                    <a:solidFill>
                      <a:srgbClr val="FFFFFF"/>
                    </a:solidFill>
                  </a:tcPr>
                </a:tc>
                <a:tc>
                  <a:txBody>
                    <a:bodyPr wrap="square"/>
                    <a:lstStyle/>
                    <a:p>
                      <a:pPr algn="l"/>
                      <a:r>
                        <a:rPr sz="1000" b="1" i="0">
                          <a:solidFill>
                            <a:srgbClr val="1F497D"/>
                          </a:solidFill>
                          <a:latin typeface="Arial"/>
                        </a:rPr>
                        <a:t>Final Research Report and knowledge transfer</a:t>
                      </a:r>
                    </a:p>
                  </a:txBody>
                  <a:tcPr marL="54864" marR="54864" marT="27432" marB="27432" anchor="ctr">
                    <a:solidFill>
                      <a:srgbClr val="FFFFFF"/>
                    </a:solidFill>
                  </a:tcPr>
                </a:tc>
                <a:tc>
                  <a:txBody>
                    <a:bodyPr wrap="square"/>
                    <a:lstStyle/>
                    <a:p>
                      <a:pPr algn="l"/>
                      <a:r>
                        <a:rPr sz="1000" b="0" i="0">
                          <a:solidFill>
                            <a:srgbClr val="404040"/>
                          </a:solidFill>
                          <a:latin typeface="Arial"/>
                        </a:rPr>
                        <a:t>n/a</a:t>
                      </a:r>
                    </a:p>
                  </a:txBody>
                  <a:tcPr marL="54864" marR="54864" marT="27432" marB="27432" anchor="ctr">
                    <a:solidFill>
                      <a:srgbClr val="FFFFFF"/>
                    </a:solidFill>
                  </a:tcPr>
                </a:tc>
                <a:tc>
                  <a:txBody>
                    <a:bodyPr wrap="square"/>
                    <a:lstStyle/>
                    <a:p>
                      <a:pPr algn="l"/>
                      <a:r>
                        <a:rPr sz="1000" b="1" i="0">
                          <a:solidFill>
                            <a:srgbClr val="FFFFFF"/>
                          </a:solidFill>
                          <a:latin typeface="Arial"/>
                        </a:rPr>
                        <a:t>Outstanding</a:t>
                      </a:r>
                    </a:p>
                  </a:txBody>
                  <a:tcPr marL="54864" marR="54864" marT="27432" marB="27432" anchor="ctr">
                    <a:solidFill>
                      <a:srgbClr val="D9262B"/>
                    </a:solidFill>
                  </a:tcPr>
                </a:tc>
                <a:tc>
                  <a:txBody>
                    <a:bodyPr wrap="square"/>
                    <a:lstStyle/>
                    <a:p>
                      <a:pPr algn="l"/>
                      <a:r>
                        <a:rPr sz="1000" b="0" i="0">
                          <a:solidFill>
                            <a:srgbClr val="404040"/>
                          </a:solidFill>
                          <a:latin typeface="Arial"/>
                        </a:rPr>
                        <a:t>Drafting starts after this session</a:t>
                      </a:r>
                    </a:p>
                  </a:txBody>
                  <a:tcPr marL="54864" marR="54864" marT="27432" marB="27432" anchor="ctr">
                    <a:solidFill>
                      <a:srgbClr val="FFFFFF"/>
                    </a:solidFill>
                  </a:tcPr>
                </a:tc>
              </a:tr>
              <a:tr h="365760">
                <a:tc>
                  <a:txBody>
                    <a:bodyPr wrap="square"/>
                    <a:lstStyle/>
                    <a:p>
                      <a:pPr algn="l"/>
                      <a:r>
                        <a:rPr sz="1000" b="0" i="0">
                          <a:solidFill>
                            <a:srgbClr val="7F7F7F"/>
                          </a:solidFill>
                          <a:latin typeface="Arial"/>
                        </a:rPr>
                        <a:t>3.2.10</a:t>
                      </a:r>
                    </a:p>
                  </a:txBody>
                  <a:tcPr marL="54864" marR="54864" marT="27432" marB="27432" anchor="ctr">
                    <a:solidFill>
                      <a:srgbClr val="F2F2F2"/>
                    </a:solidFill>
                  </a:tcPr>
                </a:tc>
                <a:tc>
                  <a:txBody>
                    <a:bodyPr wrap="square"/>
                    <a:lstStyle/>
                    <a:p>
                      <a:pPr algn="l"/>
                      <a:r>
                        <a:rPr sz="1000" b="1" i="0">
                          <a:solidFill>
                            <a:srgbClr val="1F497D"/>
                          </a:solidFill>
                          <a:latin typeface="Arial"/>
                        </a:rPr>
                        <a:t>Launch event and knowledge transfer (4)</a:t>
                      </a:r>
                    </a:p>
                  </a:txBody>
                  <a:tcPr marL="54864" marR="54864" marT="27432" marB="27432" anchor="ctr">
                    <a:solidFill>
                      <a:srgbClr val="F2F2F2"/>
                    </a:solidFill>
                  </a:tcPr>
                </a:tc>
                <a:tc>
                  <a:txBody>
                    <a:bodyPr wrap="square"/>
                    <a:lstStyle/>
                    <a:p>
                      <a:pPr algn="l"/>
                      <a:r>
                        <a:rPr sz="1000" b="0" i="0">
                          <a:solidFill>
                            <a:srgbClr val="404040"/>
                          </a:solidFill>
                          <a:latin typeface="Arial"/>
                        </a:rPr>
                        <a:t>n/a</a:t>
                      </a:r>
                    </a:p>
                  </a:txBody>
                  <a:tcPr marL="54864" marR="54864" marT="27432" marB="27432" anchor="ctr">
                    <a:solidFill>
                      <a:srgbClr val="F2F2F2"/>
                    </a:solidFill>
                  </a:tcPr>
                </a:tc>
                <a:tc>
                  <a:txBody>
                    <a:bodyPr wrap="square"/>
                    <a:lstStyle/>
                    <a:p>
                      <a:pPr algn="l"/>
                      <a:r>
                        <a:rPr sz="1000" b="1" i="0">
                          <a:solidFill>
                            <a:srgbClr val="FFFFFF"/>
                          </a:solidFill>
                          <a:latin typeface="Arial"/>
                        </a:rPr>
                        <a:t>Outstanding</a:t>
                      </a:r>
                    </a:p>
                  </a:txBody>
                  <a:tcPr marL="54864" marR="54864" marT="27432" marB="27432" anchor="ctr">
                    <a:solidFill>
                      <a:srgbClr val="D9262B"/>
                    </a:solidFill>
                  </a:tcPr>
                </a:tc>
                <a:tc>
                  <a:txBody>
                    <a:bodyPr wrap="square"/>
                    <a:lstStyle/>
                    <a:p>
                      <a:pPr algn="l"/>
                      <a:r>
                        <a:rPr sz="1000" b="0" i="0">
                          <a:solidFill>
                            <a:srgbClr val="404040"/>
                          </a:solidFill>
                          <a:latin typeface="Arial"/>
                        </a:rPr>
                        <a:t>Date and format not yet set</a:t>
                      </a:r>
                    </a:p>
                  </a:txBody>
                  <a:tcPr marL="54864" marR="54864" marT="27432" marB="27432" anchor="ctr">
                    <a:solidFill>
                      <a:srgbClr val="F2F2F2"/>
                    </a:solidFill>
                  </a:tcPr>
                </a:tc>
              </a:tr>
              <a:tr h="365760">
                <a:tc>
                  <a:txBody>
                    <a:bodyPr wrap="square"/>
                    <a:lstStyle/>
                    <a:p>
                      <a:pPr algn="l"/>
                      <a:r>
                        <a:rPr sz="1000" b="0" i="0">
                          <a:solidFill>
                            <a:srgbClr val="7F7F7F"/>
                          </a:solidFill>
                          <a:latin typeface="Arial"/>
                        </a:rPr>
                        <a:t>Extra</a:t>
                      </a:r>
                    </a:p>
                  </a:txBody>
                  <a:tcPr marL="54864" marR="54864" marT="27432" marB="27432" anchor="ctr">
                    <a:solidFill>
                      <a:srgbClr val="FFFFFF"/>
                    </a:solidFill>
                  </a:tcPr>
                </a:tc>
                <a:tc>
                  <a:txBody>
                    <a:bodyPr wrap="square"/>
                    <a:lstStyle/>
                    <a:p>
                      <a:pPr algn="l"/>
                      <a:r>
                        <a:rPr sz="1000" b="1" i="0">
                          <a:solidFill>
                            <a:srgbClr val="1F497D"/>
                          </a:solidFill>
                          <a:latin typeface="Arial"/>
                        </a:rPr>
                        <a:t>MIDAS aviation assessment; three client factbases</a:t>
                      </a:r>
                    </a:p>
                  </a:txBody>
                  <a:tcPr marL="54864" marR="54864" marT="27432" marB="27432" anchor="ctr">
                    <a:solidFill>
                      <a:srgbClr val="FFFFFF"/>
                    </a:solidFill>
                  </a:tcPr>
                </a:tc>
                <a:tc>
                  <a:txBody>
                    <a:bodyPr wrap="square"/>
                    <a:lstStyle/>
                    <a:p>
                      <a:pPr algn="l"/>
                      <a:r>
                        <a:rPr sz="1000" b="0" i="0">
                          <a:solidFill>
                            <a:srgbClr val="404040"/>
                          </a:solidFill>
                          <a:latin typeface="Arial"/>
                        </a:rPr>
                        <a:t>Mar-Jul 2026</a:t>
                      </a:r>
                    </a:p>
                  </a:txBody>
                  <a:tcPr marL="54864" marR="54864" marT="27432" marB="27432" anchor="ctr">
                    <a:solidFill>
                      <a:srgbClr val="FFFFFF"/>
                    </a:solidFill>
                  </a:tcPr>
                </a:tc>
                <a:tc>
                  <a:txBody>
                    <a:bodyPr wrap="square"/>
                    <a:lstStyle/>
                    <a:p>
                      <a:pPr algn="l"/>
                      <a:r>
                        <a:rPr sz="1000" b="1" i="0">
                          <a:solidFill>
                            <a:srgbClr val="FFFFFF"/>
                          </a:solidFill>
                          <a:latin typeface="Arial"/>
                        </a:rPr>
                        <a:t>Supplementary</a:t>
                      </a:r>
                    </a:p>
                  </a:txBody>
                  <a:tcPr marL="54864" marR="54864" marT="27432" marB="27432" anchor="ctr">
                    <a:solidFill>
                      <a:srgbClr val="4F81BD"/>
                    </a:solidFill>
                  </a:tcPr>
                </a:tc>
                <a:tc>
                  <a:txBody>
                    <a:bodyPr wrap="square"/>
                    <a:lstStyle/>
                    <a:p>
                      <a:pPr algn="l"/>
                      <a:r>
                        <a:rPr sz="1000" b="0" i="0">
                          <a:solidFill>
                            <a:srgbClr val="404040"/>
                          </a:solidFill>
                          <a:latin typeface="Arial"/>
                        </a:rPr>
                        <a:t>Air market depth; secondary syntheses</a:t>
                      </a:r>
                    </a:p>
                  </a:txBody>
                  <a:tcPr marL="54864" marR="54864" marT="27432" marB="27432" anchor="ctr">
                    <a:solidFill>
                      <a:srgbClr val="FFFFFF"/>
                    </a:solidFill>
                  </a:tcPr>
                </a:tc>
              </a:tr>
            </a:tbl>
          </a:graphicData>
        </a:graphic>
      </p:graphicFrame>
      <p:sp>
        <p:nvSpPr>
          <p:cNvPr id="9" name="Rectangle 8"/>
          <p:cNvSpPr/>
          <p:nvPr/>
        </p:nvSpPr>
        <p:spPr>
          <a:xfrm>
            <a:off x="384048" y="5779008"/>
            <a:ext cx="11420856" cy="438912"/>
          </a:xfrm>
          <a:prstGeom prst="rect">
            <a:avLst/>
          </a:prstGeom>
          <a:solidFill>
            <a:srgbClr val="1F497D"/>
          </a:solidFill>
          <a:ln>
            <a:noFill/>
          </a:ln>
        </p:spPr>
        <p:txBody>
          <a:bodyPr rtlCol="0" anchor="ctr"/>
          <a:lstStyle/>
          <a:p>
            <a:pPr algn="ctr"/>
          </a:p>
        </p:txBody>
      </p:sp>
      <p:sp>
        <p:nvSpPr>
          <p:cNvPr id="10" name="TextBox 9"/>
          <p:cNvSpPr txBox="1"/>
          <p:nvPr/>
        </p:nvSpPr>
        <p:spPr>
          <a:xfrm>
            <a:off x="548640" y="5779008"/>
            <a:ext cx="11064240" cy="438912"/>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Contract term ends 31 October 2026. Final report, M&amp;E toolkit and launch fall after that date: an extension under SLA clause 4.3 is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divider_bg.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2697480"/>
            <a:ext cx="12191695" cy="1463040"/>
          </a:xfrm>
          <a:prstGeom prst="rect">
            <a:avLst/>
          </a:prstGeom>
          <a:solidFill>
            <a:srgbClr val="009FDF">
              <a:alpha val="78000"/>
            </a:srgbClr>
          </a:solidFill>
          <a:ln>
            <a:noFill/>
          </a:ln>
        </p:spPr>
        <p:txBody>
          <a:bodyPr rtlCol="0" anchor="ctr"/>
          <a:lstStyle/>
          <a:p>
            <a:pPr algn="ctr"/>
          </a:p>
        </p:txBody>
      </p:sp>
      <p:sp>
        <p:nvSpPr>
          <p:cNvPr id="2" name="Title 1"/>
          <p:cNvSpPr>
            <a:spLocks noGrp="1"/>
          </p:cNvSpPr>
          <p:nvPr>
            <p:ph type="title"/>
          </p:nvPr>
        </p:nvSpPr>
        <p:spPr>
          <a:xfrm>
            <a:off x="1097280" y="2788920"/>
            <a:ext cx="10058400" cy="731520"/>
          </a:xfrm>
        </p:spPr>
        <p:txBody>
          <a:bodyPr anchor="ctr"/>
          <a:lstStyle/>
          <a:p>
            <a:pPr algn="l"/>
            <a:r>
              <a:rPr sz="3200" b="1" i="0">
                <a:solidFill>
                  <a:srgbClr val="FFFFFF"/>
                </a:solidFill>
                <a:latin typeface="Arial"/>
              </a:rPr>
              <a:t>The core question</a:t>
            </a:r>
          </a:p>
        </p:txBody>
      </p:sp>
      <p:sp>
        <p:nvSpPr>
          <p:cNvPr id="5" name="TextBox 4"/>
          <p:cNvSpPr txBox="1"/>
          <p:nvPr/>
        </p:nvSpPr>
        <p:spPr>
          <a:xfrm>
            <a:off x="1097280" y="3520440"/>
            <a:ext cx="10058400" cy="457200"/>
          </a:xfrm>
          <a:prstGeom prst="rect">
            <a:avLst/>
          </a:prstGeom>
          <a:noFill/>
        </p:spPr>
        <p:txBody>
          <a:bodyPr wrap="square" anchor="t" lIns="36576" rIns="36576" tIns="21945" bIns="21945">
            <a:spAutoFit/>
          </a:bodyPr>
          <a:lstStyle/>
          <a:p>
            <a:pPr algn="l">
              <a:spcAft>
                <a:spcPts val="0"/>
              </a:spcAft>
            </a:pPr>
            <a:r>
              <a:rPr sz="1400" b="0" i="0">
                <a:solidFill>
                  <a:srgbClr val="FFFFFF"/>
                </a:solidFill>
                <a:latin typeface="Arial"/>
              </a:rPr>
              <a:t>What exactly are we doubling, and can the evidence get us there?</a:t>
            </a:r>
          </a:p>
        </p:txBody>
      </p:sp>
      <p:sp>
        <p:nvSpPr>
          <p:cNvPr id="6" name="TextBox 5"/>
          <p:cNvSpPr txBox="1"/>
          <p:nvPr/>
        </p:nvSpPr>
        <p:spPr>
          <a:xfrm>
            <a:off x="411480" y="2788920"/>
            <a:ext cx="731520" cy="731520"/>
          </a:xfrm>
          <a:prstGeom prst="rect">
            <a:avLst/>
          </a:prstGeom>
          <a:noFill/>
        </p:spPr>
        <p:txBody>
          <a:bodyPr wrap="square" anchor="ctr" lIns="36576" rIns="36576" tIns="21945" bIns="21945">
            <a:spAutoFit/>
          </a:bodyPr>
          <a:lstStyle/>
          <a:p>
            <a:pPr algn="l">
              <a:spcAft>
                <a:spcPts val="400"/>
              </a:spcAft>
            </a:pPr>
            <a:r>
              <a:rPr sz="3200" b="0" i="0">
                <a:solidFill>
                  <a:srgbClr val="FFFFFF"/>
                </a:solidFill>
                <a:latin typeface="Arial"/>
              </a:rPr>
              <a:t>01</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D9D9D9"/>
                </a:solidFill>
                <a:latin typeface="Arial"/>
              </a:rPr>
              <a:t>DRAFT FOR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No modelled scenario reaches 2.8m by 2035; even the accelerated case falls ~284k short</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THE CORE QUESTION</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Demand-Side Analysis (Letsema/Skift, Jun 2026), pp19-21 (2024 base 1,445,031; OAG). Required growth rate is Letsema calculation.</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5</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Chart 7"/>
          <p:cNvGraphicFramePr>
            <a:graphicFrameLocks noGrp="1"/>
          </p:cNvGraphicFramePr>
          <p:nvPr/>
        </p:nvGraphicFramePr>
        <p:xfrm>
          <a:off x="384048" y="1234440"/>
          <a:ext cx="6766560" cy="4343400"/>
        </p:xfrm>
        <a:graphic>
          <a:graphicData uri="http://schemas.openxmlformats.org/drawingml/2006/chart">
            <c:chart xmlns:c="http://schemas.openxmlformats.org/drawingml/2006/chart" r:id="rId4"/>
          </a:graphicData>
        </a:graphic>
      </p:graphicFrame>
      <p:sp>
        <p:nvSpPr>
          <p:cNvPr id="9" name="TextBox 8"/>
          <p:cNvSpPr txBox="1"/>
          <p:nvPr/>
        </p:nvSpPr>
        <p:spPr>
          <a:xfrm>
            <a:off x="457200" y="5577840"/>
            <a:ext cx="6675120" cy="274320"/>
          </a:xfrm>
          <a:prstGeom prst="rect">
            <a:avLst/>
          </a:prstGeom>
          <a:noFill/>
        </p:spPr>
        <p:txBody>
          <a:bodyPr wrap="square" anchor="t" lIns="36576" rIns="36576" tIns="21945" bIns="21945">
            <a:spAutoFit/>
          </a:bodyPr>
          <a:lstStyle/>
          <a:p>
            <a:pPr algn="l">
              <a:spcAft>
                <a:spcPts val="0"/>
              </a:spcAft>
            </a:pPr>
            <a:r>
              <a:rPr sz="950" b="0" i="0">
                <a:solidFill>
                  <a:srgbClr val="7F7F7F"/>
                </a:solidFill>
                <a:latin typeface="Arial"/>
              </a:rPr>
              <a:t>Annual growth 2024-2035:  Conservative 2.0%  |  Base 3.7%  |  Accelerated 5.0%  |  Goal requires ~6.2%</a:t>
            </a:r>
          </a:p>
        </p:txBody>
      </p:sp>
      <p:sp>
        <p:nvSpPr>
          <p:cNvPr id="10" name="Rectangle 9"/>
          <p:cNvSpPr/>
          <p:nvPr/>
        </p:nvSpPr>
        <p:spPr>
          <a:xfrm>
            <a:off x="7498079" y="1280160"/>
            <a:ext cx="4297680" cy="1051560"/>
          </a:xfrm>
          <a:prstGeom prst="rect">
            <a:avLst/>
          </a:prstGeom>
          <a:solidFill>
            <a:srgbClr val="DCEEF7"/>
          </a:solidFill>
          <a:ln>
            <a:noFill/>
          </a:ln>
        </p:spPr>
        <p:txBody>
          <a:bodyPr rtlCol="0" anchor="ctr"/>
          <a:lstStyle/>
          <a:p>
            <a:pPr algn="ctr"/>
          </a:p>
        </p:txBody>
      </p:sp>
      <p:sp>
        <p:nvSpPr>
          <p:cNvPr id="11" name="TextBox 10"/>
          <p:cNvSpPr txBox="1"/>
          <p:nvPr/>
        </p:nvSpPr>
        <p:spPr>
          <a:xfrm>
            <a:off x="7607807" y="1353312"/>
            <a:ext cx="4078224" cy="525780"/>
          </a:xfrm>
          <a:prstGeom prst="rect">
            <a:avLst/>
          </a:prstGeom>
          <a:noFill/>
        </p:spPr>
        <p:txBody>
          <a:bodyPr wrap="square" anchor="b" lIns="36576" rIns="36576" tIns="21945" bIns="21945">
            <a:spAutoFit/>
          </a:bodyPr>
          <a:lstStyle/>
          <a:p>
            <a:pPr algn="l">
              <a:spcAft>
                <a:spcPts val="0"/>
              </a:spcAft>
            </a:pPr>
            <a:r>
              <a:rPr sz="2600" b="1" i="0">
                <a:solidFill>
                  <a:srgbClr val="1F497D"/>
                </a:solidFill>
                <a:latin typeface="Arial"/>
              </a:rPr>
              <a:t>~284k</a:t>
            </a:r>
          </a:p>
        </p:txBody>
      </p:sp>
      <p:sp>
        <p:nvSpPr>
          <p:cNvPr id="12" name="TextBox 11"/>
          <p:cNvSpPr txBox="1"/>
          <p:nvPr/>
        </p:nvSpPr>
        <p:spPr>
          <a:xfrm>
            <a:off x="7607807" y="1858517"/>
            <a:ext cx="4078224" cy="452170"/>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shortfall to the goal in the accelerated case, which assumes new direct India and China routes</a:t>
            </a:r>
          </a:p>
        </p:txBody>
      </p:sp>
      <p:sp>
        <p:nvSpPr>
          <p:cNvPr id="13" name="Rectangle 12"/>
          <p:cNvSpPr/>
          <p:nvPr/>
        </p:nvSpPr>
        <p:spPr>
          <a:xfrm>
            <a:off x="7498079" y="2468880"/>
            <a:ext cx="4297680" cy="1051560"/>
          </a:xfrm>
          <a:prstGeom prst="rect">
            <a:avLst/>
          </a:prstGeom>
          <a:solidFill>
            <a:srgbClr val="DCEEF7"/>
          </a:solidFill>
          <a:ln>
            <a:noFill/>
          </a:ln>
        </p:spPr>
        <p:txBody>
          <a:bodyPr rtlCol="0" anchor="ctr"/>
          <a:lstStyle/>
          <a:p>
            <a:pPr algn="ctr"/>
          </a:p>
        </p:txBody>
      </p:sp>
      <p:sp>
        <p:nvSpPr>
          <p:cNvPr id="14" name="TextBox 13"/>
          <p:cNvSpPr txBox="1"/>
          <p:nvPr/>
        </p:nvSpPr>
        <p:spPr>
          <a:xfrm>
            <a:off x="7607807" y="2542032"/>
            <a:ext cx="4078224" cy="525780"/>
          </a:xfrm>
          <a:prstGeom prst="rect">
            <a:avLst/>
          </a:prstGeom>
          <a:noFill/>
        </p:spPr>
        <p:txBody>
          <a:bodyPr wrap="square" anchor="b" lIns="36576" rIns="36576" tIns="21945" bIns="21945">
            <a:spAutoFit/>
          </a:bodyPr>
          <a:lstStyle/>
          <a:p>
            <a:pPr algn="l">
              <a:spcAft>
                <a:spcPts val="0"/>
              </a:spcAft>
            </a:pPr>
            <a:r>
              <a:rPr sz="2600" b="1" i="0">
                <a:solidFill>
                  <a:srgbClr val="1F497D"/>
                </a:solidFill>
                <a:latin typeface="Arial"/>
              </a:rPr>
              <a:t>~1.8m</a:t>
            </a:r>
          </a:p>
        </p:txBody>
      </p:sp>
      <p:sp>
        <p:nvSpPr>
          <p:cNvPr id="15" name="TextBox 14"/>
          <p:cNvSpPr txBox="1"/>
          <p:nvPr/>
        </p:nvSpPr>
        <p:spPr>
          <a:xfrm>
            <a:off x="7607807" y="3047238"/>
            <a:ext cx="4078224" cy="452170"/>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arrivals ceiling at current seat capacity, crossed around 2030 in the base case</a:t>
            </a:r>
          </a:p>
        </p:txBody>
      </p:sp>
      <p:sp>
        <p:nvSpPr>
          <p:cNvPr id="16" name="Rectangle 15"/>
          <p:cNvSpPr/>
          <p:nvPr/>
        </p:nvSpPr>
        <p:spPr>
          <a:xfrm>
            <a:off x="7498079" y="3657600"/>
            <a:ext cx="4297680" cy="1051560"/>
          </a:xfrm>
          <a:prstGeom prst="rect">
            <a:avLst/>
          </a:prstGeom>
          <a:solidFill>
            <a:srgbClr val="DCEEF7"/>
          </a:solidFill>
          <a:ln>
            <a:noFill/>
          </a:ln>
        </p:spPr>
        <p:txBody>
          <a:bodyPr rtlCol="0" anchor="ctr"/>
          <a:lstStyle/>
          <a:p>
            <a:pPr algn="ctr"/>
          </a:p>
        </p:txBody>
      </p:sp>
      <p:sp>
        <p:nvSpPr>
          <p:cNvPr id="17" name="TextBox 16"/>
          <p:cNvSpPr txBox="1"/>
          <p:nvPr/>
        </p:nvSpPr>
        <p:spPr>
          <a:xfrm>
            <a:off x="7607807" y="3730752"/>
            <a:ext cx="4078224" cy="525780"/>
          </a:xfrm>
          <a:prstGeom prst="rect">
            <a:avLst/>
          </a:prstGeom>
          <a:noFill/>
        </p:spPr>
        <p:txBody>
          <a:bodyPr wrap="square" anchor="b" lIns="36576" rIns="36576" tIns="21945" bIns="21945">
            <a:spAutoFit/>
          </a:bodyPr>
          <a:lstStyle/>
          <a:p>
            <a:pPr algn="l">
              <a:spcAft>
                <a:spcPts val="0"/>
              </a:spcAft>
            </a:pPr>
            <a:r>
              <a:rPr sz="2200" b="1" i="0">
                <a:solidFill>
                  <a:srgbClr val="1F497D"/>
                </a:solidFill>
                <a:latin typeface="Arial"/>
              </a:rPr>
              <a:t>Post-2030</a:t>
            </a:r>
          </a:p>
        </p:txBody>
      </p:sp>
      <p:sp>
        <p:nvSpPr>
          <p:cNvPr id="18" name="TextBox 17"/>
          <p:cNvSpPr txBox="1"/>
          <p:nvPr/>
        </p:nvSpPr>
        <p:spPr>
          <a:xfrm>
            <a:off x="7607807" y="4235958"/>
            <a:ext cx="4078224" cy="452170"/>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earliest realistic direct India service; China is a long-term diplomatic build (MIDAS)</a:t>
            </a:r>
          </a:p>
        </p:txBody>
      </p:sp>
      <p:sp>
        <p:nvSpPr>
          <p:cNvPr id="19" name="TextBox 18"/>
          <p:cNvSpPr txBox="1"/>
          <p:nvPr/>
        </p:nvSpPr>
        <p:spPr>
          <a:xfrm>
            <a:off x="7498079" y="4846320"/>
            <a:ext cx="4297680" cy="914400"/>
          </a:xfrm>
          <a:prstGeom prst="rect">
            <a:avLst/>
          </a:prstGeom>
          <a:noFill/>
        </p:spPr>
        <p:txBody>
          <a:bodyPr wrap="square" anchor="t" lIns="36576" rIns="36576" tIns="21945" bIns="21945">
            <a:spAutoFit/>
          </a:bodyPr>
          <a:lstStyle/>
          <a:p>
            <a:pPr algn="l">
              <a:spcAft>
                <a:spcPts val="400"/>
              </a:spcAft>
            </a:pPr>
            <a:r>
              <a:rPr sz="1100" b="1" i="0">
                <a:solidFill>
                  <a:srgbClr val="00AEEF"/>
                </a:solidFill>
                <a:latin typeface="Arial"/>
              </a:rPr>
              <a:t>The goal is credible only if new levers sit outside the model: yield, events, visa reform and a second gateway.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We do not yet agree what we are doubling: at least six arrival baselines are in circulation</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THE CORE QUESTION</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Brief and SLA; Demand-Side Analysis (Letsema/Skift, Jun 2026); City TDF 2024 and PERO 2025 via municipal factbase; CTAA update Nov 2025; Wesgro 2026-30 Strategic Plan via DSE factbase; Tourism Blueprint 2030; MIDAS Aviation, Aviation Market Assessment (Mar 2026)</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6</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11420855" cy="3785616"/>
        </p:xfrm>
        <a:graphic>
          <a:graphicData uri="http://schemas.openxmlformats.org/drawingml/2006/table">
            <a:tbl>
              <a:tblPr firstRow="1" bandRow="0">
                <a:tableStyleId>{5C22544A-7EE6-4342-B048-85BDC9FD1C3A}</a:tableStyleId>
              </a:tblPr>
              <a:tblGrid>
                <a:gridCol w="1325880"/>
                <a:gridCol w="3931920"/>
                <a:gridCol w="2377440"/>
                <a:gridCol w="3785615"/>
              </a:tblGrid>
              <a:tr h="420624">
                <a:tc>
                  <a:txBody>
                    <a:bodyPr wrap="square"/>
                    <a:lstStyle/>
                    <a:p>
                      <a:pPr algn="l"/>
                      <a:r>
                        <a:rPr sz="1000" b="1" i="0">
                          <a:solidFill>
                            <a:srgbClr val="FFFFFF"/>
                          </a:solidFill>
                          <a:latin typeface="Arial"/>
                        </a:rPr>
                        <a:t>Figure</a:t>
                      </a:r>
                    </a:p>
                  </a:txBody>
                  <a:tcPr marL="54864" marR="54864" marT="27432" marB="27432" anchor="ctr">
                    <a:solidFill>
                      <a:srgbClr val="1F497D"/>
                    </a:solidFill>
                  </a:tcPr>
                </a:tc>
                <a:tc>
                  <a:txBody>
                    <a:bodyPr wrap="square"/>
                    <a:lstStyle/>
                    <a:p>
                      <a:pPr algn="l"/>
                      <a:r>
                        <a:rPr sz="1000" b="1" i="0">
                          <a:solidFill>
                            <a:srgbClr val="FFFFFF"/>
                          </a:solidFill>
                          <a:latin typeface="Arial"/>
                        </a:rPr>
                        <a:t>What it measures</a:t>
                      </a:r>
                    </a:p>
                  </a:txBody>
                  <a:tcPr marL="54864" marR="54864" marT="27432" marB="27432" anchor="ctr">
                    <a:solidFill>
                      <a:srgbClr val="1F497D"/>
                    </a:solidFill>
                  </a:tcPr>
                </a:tc>
                <a:tc>
                  <a:txBody>
                    <a:bodyPr wrap="square"/>
                    <a:lstStyle/>
                    <a:p>
                      <a:pPr algn="l"/>
                      <a:r>
                        <a:rPr sz="1000" b="1" i="0">
                          <a:solidFill>
                            <a:srgbClr val="FFFFFF"/>
                          </a:solidFill>
                          <a:latin typeface="Arial"/>
                        </a:rPr>
                        <a:t>Source</a:t>
                      </a:r>
                    </a:p>
                  </a:txBody>
                  <a:tcPr marL="54864" marR="54864" marT="27432" marB="27432" anchor="ctr">
                    <a:solidFill>
                      <a:srgbClr val="1F497D"/>
                    </a:solidFill>
                  </a:tcPr>
                </a:tc>
                <a:tc>
                  <a:txBody>
                    <a:bodyPr wrap="square"/>
                    <a:lstStyle/>
                    <a:p>
                      <a:pPr algn="l"/>
                      <a:r>
                        <a:rPr sz="1000" b="1" i="0">
                          <a:solidFill>
                            <a:srgbClr val="FFFFFF"/>
                          </a:solidFill>
                          <a:latin typeface="Arial"/>
                        </a:rPr>
                        <a:t>Implication if used as the base</a:t>
                      </a:r>
                    </a:p>
                  </a:txBody>
                  <a:tcPr marL="54864" marR="54864" marT="27432" marB="27432" anchor="ctr">
                    <a:solidFill>
                      <a:srgbClr val="1F497D"/>
                    </a:solidFill>
                  </a:tcPr>
                </a:tc>
              </a:tr>
              <a:tr h="420624">
                <a:tc>
                  <a:txBody>
                    <a:bodyPr wrap="square"/>
                    <a:lstStyle/>
                    <a:p>
                      <a:pPr algn="l"/>
                      <a:r>
                        <a:rPr sz="1000" b="1" i="0">
                          <a:solidFill>
                            <a:srgbClr val="1F497D"/>
                          </a:solidFill>
                          <a:latin typeface="Arial"/>
                        </a:rPr>
                        <a:t>1.4m</a:t>
                      </a:r>
                    </a:p>
                  </a:txBody>
                  <a:tcPr marL="54864" marR="54864" marT="27432" marB="27432" anchor="ctr">
                    <a:solidFill>
                      <a:srgbClr val="FFFFFF"/>
                    </a:solidFill>
                  </a:tcPr>
                </a:tc>
                <a:tc>
                  <a:txBody>
                    <a:bodyPr wrap="square"/>
                    <a:lstStyle/>
                    <a:p>
                      <a:pPr algn="l"/>
                      <a:r>
                        <a:rPr sz="1000" b="0" i="0">
                          <a:solidFill>
                            <a:srgbClr val="404040"/>
                          </a:solidFill>
                          <a:latin typeface="Arial"/>
                        </a:rPr>
                        <a:t>International tourist arrivals (base year unstated)</a:t>
                      </a:r>
                    </a:p>
                  </a:txBody>
                  <a:tcPr marL="54864" marR="54864" marT="27432" marB="27432" anchor="ctr">
                    <a:solidFill>
                      <a:srgbClr val="FFFFFF"/>
                    </a:solidFill>
                  </a:tcPr>
                </a:tc>
                <a:tc>
                  <a:txBody>
                    <a:bodyPr wrap="square"/>
                    <a:lstStyle/>
                    <a:p>
                      <a:pPr algn="l"/>
                      <a:r>
                        <a:rPr sz="1000" b="0" i="0">
                          <a:solidFill>
                            <a:srgbClr val="404040"/>
                          </a:solidFill>
                          <a:latin typeface="Arial"/>
                        </a:rPr>
                        <a:t>Brief; MIDAS</a:t>
                      </a:r>
                    </a:p>
                  </a:txBody>
                  <a:tcPr marL="54864" marR="54864" marT="27432" marB="27432" anchor="ctr">
                    <a:solidFill>
                      <a:srgbClr val="FFFFFF"/>
                    </a:solidFill>
                  </a:tcPr>
                </a:tc>
                <a:tc>
                  <a:txBody>
                    <a:bodyPr wrap="square"/>
                    <a:lstStyle/>
                    <a:p>
                      <a:pPr algn="l"/>
                      <a:r>
                        <a:rPr sz="1000" b="0" i="0">
                          <a:solidFill>
                            <a:srgbClr val="404040"/>
                          </a:solidFill>
                          <a:latin typeface="Arial"/>
                        </a:rPr>
                        <a:t>Goal of 2.8m by 2035</a:t>
                      </a:r>
                    </a:p>
                  </a:txBody>
                  <a:tcPr marL="54864" marR="54864" marT="27432" marB="27432" anchor="ctr">
                    <a:solidFill>
                      <a:srgbClr val="FFFFFF"/>
                    </a:solidFill>
                  </a:tcPr>
                </a:tc>
              </a:tr>
              <a:tr h="420624">
                <a:tc>
                  <a:txBody>
                    <a:bodyPr wrap="square"/>
                    <a:lstStyle/>
                    <a:p>
                      <a:pPr algn="l"/>
                      <a:r>
                        <a:rPr sz="1000" b="1" i="0">
                          <a:solidFill>
                            <a:srgbClr val="1F497D"/>
                          </a:solidFill>
                          <a:latin typeface="Arial"/>
                        </a:rPr>
                        <a:t>1.445m</a:t>
                      </a:r>
                    </a:p>
                  </a:txBody>
                  <a:tcPr marL="54864" marR="54864" marT="27432" marB="27432" anchor="ctr">
                    <a:solidFill>
                      <a:srgbClr val="F2F2F2"/>
                    </a:solidFill>
                  </a:tcPr>
                </a:tc>
                <a:tc>
                  <a:txBody>
                    <a:bodyPr wrap="square"/>
                    <a:lstStyle/>
                    <a:p>
                      <a:pPr algn="l"/>
                      <a:r>
                        <a:rPr sz="1000" b="0" i="0">
                          <a:solidFill>
                            <a:srgbClr val="404040"/>
                          </a:solidFill>
                          <a:latin typeface="Arial"/>
                        </a:rPr>
                        <a:t>Modelled international arrivals, 2024</a:t>
                      </a:r>
                    </a:p>
                  </a:txBody>
                  <a:tcPr marL="54864" marR="54864" marT="27432" marB="27432" anchor="ctr">
                    <a:solidFill>
                      <a:srgbClr val="F2F2F2"/>
                    </a:solidFill>
                  </a:tcPr>
                </a:tc>
                <a:tc>
                  <a:txBody>
                    <a:bodyPr wrap="square"/>
                    <a:lstStyle/>
                    <a:p>
                      <a:pPr algn="l"/>
                      <a:r>
                        <a:rPr sz="1000" b="0" i="0">
                          <a:solidFill>
                            <a:srgbClr val="404040"/>
                          </a:solidFill>
                          <a:latin typeface="Arial"/>
                        </a:rPr>
                        <a:t>Demand-Side model</a:t>
                      </a:r>
                    </a:p>
                  </a:txBody>
                  <a:tcPr marL="54864" marR="54864" marT="27432" marB="27432" anchor="ctr">
                    <a:solidFill>
                      <a:srgbClr val="F2F2F2"/>
                    </a:solidFill>
                  </a:tcPr>
                </a:tc>
                <a:tc>
                  <a:txBody>
                    <a:bodyPr wrap="square"/>
                    <a:lstStyle/>
                    <a:p>
                      <a:pPr algn="l"/>
                      <a:r>
                        <a:rPr sz="1000" b="0" i="0">
                          <a:solidFill>
                            <a:srgbClr val="404040"/>
                          </a:solidFill>
                          <a:latin typeface="Arial"/>
                        </a:rPr>
                        <a:t>Requires ~6.2% a year to 2035</a:t>
                      </a:r>
                    </a:p>
                  </a:txBody>
                  <a:tcPr marL="54864" marR="54864" marT="27432" marB="27432" anchor="ctr">
                    <a:solidFill>
                      <a:srgbClr val="F2F2F2"/>
                    </a:solidFill>
                  </a:tcPr>
                </a:tc>
              </a:tr>
              <a:tr h="420624">
                <a:tc>
                  <a:txBody>
                    <a:bodyPr wrap="square"/>
                    <a:lstStyle/>
                    <a:p>
                      <a:pPr algn="l"/>
                      <a:r>
                        <a:rPr sz="1000" b="1" i="0">
                          <a:solidFill>
                            <a:srgbClr val="1F497D"/>
                          </a:solidFill>
                          <a:latin typeface="Arial"/>
                        </a:rPr>
                        <a:t>1.57m</a:t>
                      </a:r>
                    </a:p>
                  </a:txBody>
                  <a:tcPr marL="54864" marR="54864" marT="27432" marB="27432" anchor="ctr">
                    <a:solidFill>
                      <a:srgbClr val="FFFFFF"/>
                    </a:solidFill>
                  </a:tcPr>
                </a:tc>
                <a:tc>
                  <a:txBody>
                    <a:bodyPr wrap="square"/>
                    <a:lstStyle/>
                    <a:p>
                      <a:pPr algn="l"/>
                      <a:r>
                        <a:rPr sz="1000" b="0" i="0">
                          <a:solidFill>
                            <a:srgbClr val="404040"/>
                          </a:solidFill>
                          <a:latin typeface="Arial"/>
                        </a:rPr>
                        <a:t>CTIA international passenger arrivals, FY25/26</a:t>
                      </a:r>
                    </a:p>
                  </a:txBody>
                  <a:tcPr marL="54864" marR="54864" marT="27432" marB="27432" anchor="ctr">
                    <a:solidFill>
                      <a:srgbClr val="FFFFFF"/>
                    </a:solidFill>
                  </a:tcPr>
                </a:tc>
                <a:tc>
                  <a:txBody>
                    <a:bodyPr wrap="square"/>
                    <a:lstStyle/>
                    <a:p>
                      <a:pPr algn="l"/>
                      <a:r>
                        <a:rPr sz="1000" b="0" i="0">
                          <a:solidFill>
                            <a:srgbClr val="404040"/>
                          </a:solidFill>
                          <a:latin typeface="Arial"/>
                        </a:rPr>
                        <a:t>Demand-Side (CTIA/ACSA)</a:t>
                      </a:r>
                    </a:p>
                  </a:txBody>
                  <a:tcPr marL="54864" marR="54864" marT="27432" marB="27432" anchor="ctr">
                    <a:solidFill>
                      <a:srgbClr val="FFFFFF"/>
                    </a:solidFill>
                  </a:tcPr>
                </a:tc>
                <a:tc>
                  <a:txBody>
                    <a:bodyPr wrap="square"/>
                    <a:lstStyle/>
                    <a:p>
                      <a:pPr algn="l"/>
                      <a:r>
                        <a:rPr sz="1000" b="0" i="0">
                          <a:solidFill>
                            <a:srgbClr val="404040"/>
                          </a:solidFill>
                          <a:latin typeface="Arial"/>
                        </a:rPr>
                        <a:t>Includes residents and transfers</a:t>
                      </a:r>
                    </a:p>
                  </a:txBody>
                  <a:tcPr marL="54864" marR="54864" marT="27432" marB="27432" anchor="ctr">
                    <a:solidFill>
                      <a:srgbClr val="FFFFFF"/>
                    </a:solidFill>
                  </a:tcPr>
                </a:tc>
              </a:tr>
              <a:tr h="420624">
                <a:tc>
                  <a:txBody>
                    <a:bodyPr wrap="square"/>
                    <a:lstStyle/>
                    <a:p>
                      <a:pPr algn="l"/>
                      <a:r>
                        <a:rPr sz="1000" b="1" i="0">
                          <a:solidFill>
                            <a:srgbClr val="1F497D"/>
                          </a:solidFill>
                          <a:latin typeface="Arial"/>
                        </a:rPr>
                        <a:t>1.62m</a:t>
                      </a:r>
                    </a:p>
                  </a:txBody>
                  <a:tcPr marL="54864" marR="54864" marT="27432" marB="27432" anchor="ctr">
                    <a:solidFill>
                      <a:srgbClr val="F2F2F2"/>
                    </a:solidFill>
                  </a:tcPr>
                </a:tc>
                <a:tc>
                  <a:txBody>
                    <a:bodyPr wrap="square"/>
                    <a:lstStyle/>
                    <a:p>
                      <a:pPr algn="l"/>
                      <a:r>
                        <a:rPr sz="1000" b="0" i="0">
                          <a:solidFill>
                            <a:srgbClr val="404040"/>
                          </a:solidFill>
                          <a:latin typeface="Arial"/>
                        </a:rPr>
                        <a:t>Cape Town international arrivals baseline</a:t>
                      </a:r>
                    </a:p>
                  </a:txBody>
                  <a:tcPr marL="54864" marR="54864" marT="27432" marB="27432" anchor="ctr">
                    <a:solidFill>
                      <a:srgbClr val="F2F2F2"/>
                    </a:solidFill>
                  </a:tcPr>
                </a:tc>
                <a:tc>
                  <a:txBody>
                    <a:bodyPr wrap="square"/>
                    <a:lstStyle/>
                    <a:p>
                      <a:pPr algn="l"/>
                      <a:r>
                        <a:rPr sz="1000" b="0" i="0">
                          <a:solidFill>
                            <a:srgbClr val="404040"/>
                          </a:solidFill>
                          <a:latin typeface="Arial"/>
                        </a:rPr>
                        <a:t>City TDF 2024</a:t>
                      </a:r>
                    </a:p>
                  </a:txBody>
                  <a:tcPr marL="54864" marR="54864" marT="27432" marB="27432" anchor="ctr">
                    <a:solidFill>
                      <a:srgbClr val="F2F2F2"/>
                    </a:solidFill>
                  </a:tcPr>
                </a:tc>
                <a:tc>
                  <a:txBody>
                    <a:bodyPr wrap="square"/>
                    <a:lstStyle/>
                    <a:p>
                      <a:pPr algn="l"/>
                      <a:r>
                        <a:rPr sz="1000" b="0" i="0">
                          <a:solidFill>
                            <a:srgbClr val="404040"/>
                          </a:solidFill>
                          <a:latin typeface="Arial"/>
                        </a:rPr>
                        <a:t>City target was 2.28m by 2024</a:t>
                      </a:r>
                    </a:p>
                  </a:txBody>
                  <a:tcPr marL="54864" marR="54864" marT="27432" marB="27432" anchor="ctr">
                    <a:solidFill>
                      <a:srgbClr val="F2F2F2"/>
                    </a:solidFill>
                  </a:tcPr>
                </a:tc>
              </a:tr>
              <a:tr h="420624">
                <a:tc>
                  <a:txBody>
                    <a:bodyPr wrap="square"/>
                    <a:lstStyle/>
                    <a:p>
                      <a:pPr algn="l"/>
                      <a:r>
                        <a:rPr sz="1000" b="1" i="0">
                          <a:solidFill>
                            <a:srgbClr val="1F497D"/>
                          </a:solidFill>
                          <a:latin typeface="Arial"/>
                        </a:rPr>
                        <a:t>932,831</a:t>
                      </a:r>
                    </a:p>
                  </a:txBody>
                  <a:tcPr marL="54864" marR="54864" marT="27432" marB="27432" anchor="ctr">
                    <a:solidFill>
                      <a:srgbClr val="FFFFFF"/>
                    </a:solidFill>
                  </a:tcPr>
                </a:tc>
                <a:tc>
                  <a:txBody>
                    <a:bodyPr wrap="square"/>
                    <a:lstStyle/>
                    <a:p>
                      <a:pPr algn="l"/>
                      <a:r>
                        <a:rPr sz="1000" b="0" i="0">
                          <a:solidFill>
                            <a:srgbClr val="404040"/>
                          </a:solidFill>
                          <a:latin typeface="Arial"/>
                        </a:rPr>
                        <a:t>CTIA overnight international visitors, 2024</a:t>
                      </a:r>
                    </a:p>
                  </a:txBody>
                  <a:tcPr marL="54864" marR="54864" marT="27432" marB="27432" anchor="ctr">
                    <a:solidFill>
                      <a:srgbClr val="FFFFFF"/>
                    </a:solidFill>
                  </a:tcPr>
                </a:tc>
                <a:tc>
                  <a:txBody>
                    <a:bodyPr wrap="square"/>
                    <a:lstStyle/>
                    <a:p>
                      <a:pPr algn="l"/>
                      <a:r>
                        <a:rPr sz="1000" b="0" i="0">
                          <a:solidFill>
                            <a:srgbClr val="404040"/>
                          </a:solidFill>
                          <a:latin typeface="Arial"/>
                        </a:rPr>
                        <a:t>PERO 2025</a:t>
                      </a:r>
                    </a:p>
                  </a:txBody>
                  <a:tcPr marL="54864" marR="54864" marT="27432" marB="27432" anchor="ctr">
                    <a:solidFill>
                      <a:srgbClr val="FFFFFF"/>
                    </a:solidFill>
                  </a:tcPr>
                </a:tc>
                <a:tc>
                  <a:txBody>
                    <a:bodyPr wrap="square"/>
                    <a:lstStyle/>
                    <a:p>
                      <a:pPr algn="l"/>
                      <a:r>
                        <a:rPr sz="1000" b="0" i="0">
                          <a:solidFill>
                            <a:srgbClr val="404040"/>
                          </a:solidFill>
                          <a:latin typeface="Arial"/>
                        </a:rPr>
                        <a:t>Grew only 2.0% in 2024</a:t>
                      </a:r>
                    </a:p>
                  </a:txBody>
                  <a:tcPr marL="54864" marR="54864" marT="27432" marB="27432" anchor="ctr">
                    <a:solidFill>
                      <a:srgbClr val="FFFFFF"/>
                    </a:solidFill>
                  </a:tcPr>
                </a:tc>
              </a:tr>
              <a:tr h="420624">
                <a:tc>
                  <a:txBody>
                    <a:bodyPr wrap="square"/>
                    <a:lstStyle/>
                    <a:p>
                      <a:pPr algn="l"/>
                      <a:r>
                        <a:rPr sz="1000" b="1" i="0">
                          <a:solidFill>
                            <a:srgbClr val="1F497D"/>
                          </a:solidFill>
                          <a:latin typeface="Arial"/>
                        </a:rPr>
                        <a:t>3.1m</a:t>
                      </a:r>
                    </a:p>
                  </a:txBody>
                  <a:tcPr marL="54864" marR="54864" marT="27432" marB="27432" anchor="ctr">
                    <a:solidFill>
                      <a:srgbClr val="F2F2F2"/>
                    </a:solidFill>
                  </a:tcPr>
                </a:tc>
                <a:tc>
                  <a:txBody>
                    <a:bodyPr wrap="square"/>
                    <a:lstStyle/>
                    <a:p>
                      <a:pPr algn="l"/>
                      <a:r>
                        <a:rPr sz="1000" b="0" i="0">
                          <a:solidFill>
                            <a:srgbClr val="404040"/>
                          </a:solidFill>
                          <a:latin typeface="Arial"/>
                        </a:rPr>
                        <a:t>CTIA two-way international passengers, 2024</a:t>
                      </a:r>
                    </a:p>
                  </a:txBody>
                  <a:tcPr marL="54864" marR="54864" marT="27432" marB="27432" anchor="ctr">
                    <a:solidFill>
                      <a:srgbClr val="F2F2F2"/>
                    </a:solidFill>
                  </a:tcPr>
                </a:tc>
                <a:tc>
                  <a:txBody>
                    <a:bodyPr wrap="square"/>
                    <a:lstStyle/>
                    <a:p>
                      <a:pPr algn="l"/>
                      <a:r>
                        <a:rPr sz="1000" b="0" i="0">
                          <a:solidFill>
                            <a:srgbClr val="404040"/>
                          </a:solidFill>
                          <a:latin typeface="Arial"/>
                        </a:rPr>
                        <a:t>CTAA update</a:t>
                      </a:r>
                    </a:p>
                  </a:txBody>
                  <a:tcPr marL="54864" marR="54864" marT="27432" marB="27432" anchor="ctr">
                    <a:solidFill>
                      <a:srgbClr val="F2F2F2"/>
                    </a:solidFill>
                  </a:tcPr>
                </a:tc>
                <a:tc>
                  <a:txBody>
                    <a:bodyPr wrap="square"/>
                    <a:lstStyle/>
                    <a:p>
                      <a:pPr algn="l"/>
                      <a:r>
                        <a:rPr sz="1000" b="0" i="0">
                          <a:solidFill>
                            <a:srgbClr val="404040"/>
                          </a:solidFill>
                          <a:latin typeface="Arial"/>
                        </a:rPr>
                        <a:t>Counts each trip twice</a:t>
                      </a:r>
                    </a:p>
                  </a:txBody>
                  <a:tcPr marL="54864" marR="54864" marT="27432" marB="27432" anchor="ctr">
                    <a:solidFill>
                      <a:srgbClr val="F2F2F2"/>
                    </a:solidFill>
                  </a:tcPr>
                </a:tc>
              </a:tr>
              <a:tr h="420624">
                <a:tc>
                  <a:txBody>
                    <a:bodyPr wrap="square"/>
                    <a:lstStyle/>
                    <a:p>
                      <a:pPr algn="l"/>
                      <a:r>
                        <a:rPr sz="1000" b="1" i="0">
                          <a:solidFill>
                            <a:srgbClr val="1F497D"/>
                          </a:solidFill>
                          <a:latin typeface="Arial"/>
                        </a:rPr>
                        <a:t>3m by 2030</a:t>
                      </a:r>
                    </a:p>
                  </a:txBody>
                  <a:tcPr marL="54864" marR="54864" marT="27432" marB="27432" anchor="ctr">
                    <a:solidFill>
                      <a:srgbClr val="FFFFFF"/>
                    </a:solidFill>
                  </a:tcPr>
                </a:tc>
                <a:tc>
                  <a:txBody>
                    <a:bodyPr wrap="square"/>
                    <a:lstStyle/>
                    <a:p>
                      <a:pPr algn="l"/>
                      <a:r>
                        <a:rPr sz="1000" b="0" i="0">
                          <a:solidFill>
                            <a:srgbClr val="404040"/>
                          </a:solidFill>
                          <a:latin typeface="Arial"/>
                        </a:rPr>
                        <a:t>Target from a 2m (2019) base</a:t>
                      </a:r>
                    </a:p>
                  </a:txBody>
                  <a:tcPr marL="54864" marR="54864" marT="27432" marB="27432" anchor="ctr">
                    <a:solidFill>
                      <a:srgbClr val="FFFFFF"/>
                    </a:solidFill>
                  </a:tcPr>
                </a:tc>
                <a:tc>
                  <a:txBody>
                    <a:bodyPr wrap="square"/>
                    <a:lstStyle/>
                    <a:p>
                      <a:pPr algn="l"/>
                      <a:r>
                        <a:rPr sz="1000" b="0" i="0">
                          <a:solidFill>
                            <a:srgbClr val="404040"/>
                          </a:solidFill>
                          <a:latin typeface="Arial"/>
                        </a:rPr>
                        <a:t>G4J; Wesgro plan</a:t>
                      </a:r>
                    </a:p>
                  </a:txBody>
                  <a:tcPr marL="54864" marR="54864" marT="27432" marB="27432" anchor="ctr">
                    <a:solidFill>
                      <a:srgbClr val="FFFFFF"/>
                    </a:solidFill>
                  </a:tcPr>
                </a:tc>
                <a:tc>
                  <a:txBody>
                    <a:bodyPr wrap="square"/>
                    <a:lstStyle/>
                    <a:p>
                      <a:pPr algn="l"/>
                      <a:r>
                        <a:rPr sz="1000" b="0" i="0">
                          <a:solidFill>
                            <a:srgbClr val="404040"/>
                          </a:solidFill>
                          <a:latin typeface="Arial"/>
                        </a:rPr>
                        <a:t>Different horizon and base</a:t>
                      </a:r>
                    </a:p>
                  </a:txBody>
                  <a:tcPr marL="54864" marR="54864" marT="27432" marB="27432" anchor="ctr">
                    <a:solidFill>
                      <a:srgbClr val="FFFFFF"/>
                    </a:solidFill>
                  </a:tcPr>
                </a:tc>
              </a:tr>
              <a:tr h="420624">
                <a:tc>
                  <a:txBody>
                    <a:bodyPr wrap="square"/>
                    <a:lstStyle/>
                    <a:p>
                      <a:pPr algn="l"/>
                      <a:r>
                        <a:rPr sz="1000" b="1" i="0">
                          <a:solidFill>
                            <a:srgbClr val="1F497D"/>
                          </a:solidFill>
                          <a:latin typeface="Arial"/>
                        </a:rPr>
                        <a:t>5.7m</a:t>
                      </a:r>
                    </a:p>
                  </a:txBody>
                  <a:tcPr marL="54864" marR="54864" marT="27432" marB="27432" anchor="ctr">
                    <a:solidFill>
                      <a:srgbClr val="F2F2F2"/>
                    </a:solidFill>
                  </a:tcPr>
                </a:tc>
                <a:tc>
                  <a:txBody>
                    <a:bodyPr wrap="square"/>
                    <a:lstStyle/>
                    <a:p>
                      <a:pPr algn="l"/>
                      <a:r>
                        <a:rPr sz="1000" b="0" i="0">
                          <a:solidFill>
                            <a:srgbClr val="404040"/>
                          </a:solidFill>
                          <a:latin typeface="Arial"/>
                        </a:rPr>
                        <a:t>Pre-COVID long-term arrivals target</a:t>
                      </a:r>
                    </a:p>
                  </a:txBody>
                  <a:tcPr marL="54864" marR="54864" marT="27432" marB="27432" anchor="ctr">
                    <a:solidFill>
                      <a:srgbClr val="F2F2F2"/>
                    </a:solidFill>
                  </a:tcPr>
                </a:tc>
                <a:tc>
                  <a:txBody>
                    <a:bodyPr wrap="square"/>
                    <a:lstStyle/>
                    <a:p>
                      <a:pPr algn="l"/>
                      <a:r>
                        <a:rPr sz="1000" b="0" i="0">
                          <a:solidFill>
                            <a:srgbClr val="404040"/>
                          </a:solidFill>
                          <a:latin typeface="Arial"/>
                        </a:rPr>
                        <a:t>Tourism Blueprint 2030</a:t>
                      </a:r>
                    </a:p>
                  </a:txBody>
                  <a:tcPr marL="54864" marR="54864" marT="27432" marB="27432" anchor="ctr">
                    <a:solidFill>
                      <a:srgbClr val="F2F2F2"/>
                    </a:solidFill>
                  </a:tcPr>
                </a:tc>
                <a:tc>
                  <a:txBody>
                    <a:bodyPr wrap="square"/>
                    <a:lstStyle/>
                    <a:p>
                      <a:pPr algn="l"/>
                      <a:r>
                        <a:rPr sz="1000" b="0" i="0">
                          <a:solidFill>
                            <a:srgbClr val="404040"/>
                          </a:solidFill>
                          <a:latin typeface="Arial"/>
                        </a:rPr>
                        <a:t>Restated in the Diagnostic (p5)</a:t>
                      </a:r>
                    </a:p>
                  </a:txBody>
                  <a:tcPr marL="54864" marR="54864" marT="27432" marB="27432" anchor="ctr">
                    <a:solidFill>
                      <a:srgbClr val="F2F2F2"/>
                    </a:solidFill>
                  </a:tcPr>
                </a:tc>
              </a:tr>
            </a:tbl>
          </a:graphicData>
        </a:graphic>
      </p:graphicFrame>
      <p:sp>
        <p:nvSpPr>
          <p:cNvPr id="9" name="Rectangle 8"/>
          <p:cNvSpPr/>
          <p:nvPr/>
        </p:nvSpPr>
        <p:spPr>
          <a:xfrm>
            <a:off x="384048" y="5623560"/>
            <a:ext cx="11420856" cy="548640"/>
          </a:xfrm>
          <a:prstGeom prst="rect">
            <a:avLst/>
          </a:prstGeom>
          <a:solidFill>
            <a:srgbClr val="1F497D"/>
          </a:solidFill>
          <a:ln>
            <a:noFill/>
          </a:ln>
        </p:spPr>
        <p:txBody>
          <a:bodyPr rtlCol="0" anchor="ctr"/>
          <a:lstStyle/>
          <a:p>
            <a:pPr algn="ctr"/>
          </a:p>
        </p:txBody>
      </p:sp>
      <p:sp>
        <p:nvSpPr>
          <p:cNvPr id="10" name="TextBox 9"/>
          <p:cNvSpPr txBox="1"/>
          <p:nvPr/>
        </p:nvSpPr>
        <p:spPr>
          <a:xfrm>
            <a:off x="548640" y="5623560"/>
            <a:ext cx="11064240" cy="548640"/>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Decision needed: one headline metric (arrivals, overnight visitors or spend), one base year and one source, carried into the M&amp;E toolkit.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The v4 hypothesis tree frames the answer: three pillars, six objectives, twenty focus areas</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THE SPINE OF THE STUDY</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Wesgro Hypothesis Tree DRAFT v4 (4 Jul 2026), evolved from the Diagnostic tree (Dec 2025, p64)</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7</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218688" y="1143000"/>
            <a:ext cx="5751576" cy="457200"/>
          </a:xfrm>
          <a:prstGeom prst="rect">
            <a:avLst/>
          </a:prstGeom>
          <a:solidFill>
            <a:srgbClr val="1F497D"/>
          </a:solidFill>
          <a:ln>
            <a:noFill/>
          </a:ln>
        </p:spPr>
        <p:txBody>
          <a:bodyPr rtlCol="0" anchor="ctr" wrap="square" lIns="36576" rIns="36576" tIns="21945" bIns="21945"/>
          <a:lstStyle/>
          <a:p>
            <a:pPr algn="ctr">
              <a:spcAft>
                <a:spcPts val="0"/>
              </a:spcAft>
            </a:pPr>
            <a:r>
              <a:rPr sz="1200" b="1" i="0">
                <a:solidFill>
                  <a:srgbClr val="FFFFFF"/>
                </a:solidFill>
                <a:latin typeface="Arial"/>
              </a:rPr>
              <a:t>Unlocking International Tourism Growth</a:t>
            </a:r>
          </a:p>
          <a:p>
            <a:pPr algn="ctr">
              <a:spcAft>
                <a:spcPts val="0"/>
              </a:spcAft>
            </a:pPr>
            <a:r>
              <a:rPr sz="900" b="0" i="0">
                <a:solidFill>
                  <a:srgbClr val="FFFFFF"/>
                </a:solidFill>
                <a:latin typeface="Arial"/>
              </a:rPr>
              <a:t>2.8m international visitors and 300,000 tourism jobs by 2035</a:t>
            </a:r>
          </a:p>
        </p:txBody>
      </p:sp>
      <p:cxnSp>
        <p:nvCxnSpPr>
          <p:cNvPr id="9" name="Connector 8"/>
          <p:cNvCxnSpPr/>
          <p:nvPr/>
        </p:nvCxnSpPr>
        <p:spPr>
          <a:xfrm>
            <a:off x="2231136" y="1600200"/>
            <a:ext cx="0" cy="164592"/>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84048" y="1764792"/>
            <a:ext cx="3694176" cy="566928"/>
          </a:xfrm>
          <a:prstGeom prst="rect">
            <a:avLst/>
          </a:prstGeom>
          <a:solidFill>
            <a:srgbClr val="29ABE2"/>
          </a:solidFill>
          <a:ln>
            <a:noFill/>
          </a:ln>
        </p:spPr>
        <p:txBody>
          <a:bodyPr rtlCol="0" anchor="ctr" wrap="square" lIns="36576" rIns="36576" tIns="21945" bIns="21945"/>
          <a:lstStyle/>
          <a:p>
            <a:pPr algn="ctr">
              <a:spcAft>
                <a:spcPts val="100"/>
              </a:spcAft>
            </a:pPr>
            <a:r>
              <a:rPr sz="1100" b="1" i="0">
                <a:solidFill>
                  <a:srgbClr val="FFFFFF"/>
                </a:solidFill>
                <a:latin typeface="Arial"/>
              </a:rPr>
              <a:t>RESHAPE DEMAND</a:t>
            </a:r>
          </a:p>
          <a:p>
            <a:pPr algn="ctr">
              <a:spcAft>
                <a:spcPts val="0"/>
              </a:spcAft>
            </a:pPr>
            <a:r>
              <a:rPr sz="800" b="0" i="0">
                <a:solidFill>
                  <a:srgbClr val="FFFFFF"/>
                </a:solidFill>
                <a:latin typeface="Arial"/>
              </a:rPr>
              <a:t>Convert proven demand: high-value segments in priority markets and a flatter seasonal curve</a:t>
            </a:r>
          </a:p>
        </p:txBody>
      </p:sp>
      <p:cxnSp>
        <p:nvCxnSpPr>
          <p:cNvPr id="11" name="Connector 10"/>
          <p:cNvCxnSpPr/>
          <p:nvPr/>
        </p:nvCxnSpPr>
        <p:spPr>
          <a:xfrm>
            <a:off x="6053327" y="1600200"/>
            <a:ext cx="0" cy="164592"/>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206240" y="1764792"/>
            <a:ext cx="3694176" cy="566928"/>
          </a:xfrm>
          <a:prstGeom prst="rect">
            <a:avLst/>
          </a:prstGeom>
          <a:solidFill>
            <a:srgbClr val="29ABE2"/>
          </a:solidFill>
          <a:ln>
            <a:noFill/>
          </a:ln>
        </p:spPr>
        <p:txBody>
          <a:bodyPr rtlCol="0" anchor="ctr" wrap="square" lIns="36576" rIns="36576" tIns="21945" bIns="21945"/>
          <a:lstStyle/>
          <a:p>
            <a:pPr algn="ctr">
              <a:spcAft>
                <a:spcPts val="100"/>
              </a:spcAft>
            </a:pPr>
            <a:r>
              <a:rPr sz="1100" b="1" i="0">
                <a:solidFill>
                  <a:srgbClr val="FFFFFF"/>
                </a:solidFill>
                <a:latin typeface="Arial"/>
              </a:rPr>
              <a:t>TRANSFORM SUPPLY</a:t>
            </a:r>
          </a:p>
          <a:p>
            <a:pPr algn="ctr">
              <a:spcAft>
                <a:spcPts val="0"/>
              </a:spcAft>
            </a:pPr>
            <a:r>
              <a:rPr sz="800" b="0" i="0">
                <a:solidFill>
                  <a:srgbClr val="FFFFFF"/>
                </a:solidFill>
                <a:latin typeface="Arial"/>
              </a:rPr>
              <a:t>Remove the mobility, infrastructure and product constraints that cap capacity to convert demand</a:t>
            </a:r>
          </a:p>
        </p:txBody>
      </p:sp>
      <p:cxnSp>
        <p:nvCxnSpPr>
          <p:cNvPr id="13" name="Connector 12"/>
          <p:cNvCxnSpPr/>
          <p:nvPr/>
        </p:nvCxnSpPr>
        <p:spPr>
          <a:xfrm>
            <a:off x="9875519" y="1600200"/>
            <a:ext cx="0" cy="164592"/>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8028431" y="1764792"/>
            <a:ext cx="3694176" cy="566928"/>
          </a:xfrm>
          <a:prstGeom prst="rect">
            <a:avLst/>
          </a:prstGeom>
          <a:solidFill>
            <a:srgbClr val="29ABE2"/>
          </a:solidFill>
          <a:ln>
            <a:noFill/>
          </a:ln>
        </p:spPr>
        <p:txBody>
          <a:bodyPr rtlCol="0" anchor="ctr" wrap="square" lIns="36576" rIns="36576" tIns="21945" bIns="21945"/>
          <a:lstStyle/>
          <a:p>
            <a:pPr algn="ctr">
              <a:spcAft>
                <a:spcPts val="100"/>
              </a:spcAft>
            </a:pPr>
            <a:r>
              <a:rPr sz="1100" b="1" i="0">
                <a:solidFill>
                  <a:srgbClr val="FFFFFF"/>
                </a:solidFill>
                <a:latin typeface="Arial"/>
              </a:rPr>
              <a:t>BUILD ENABLING CAPABILITY</a:t>
            </a:r>
          </a:p>
          <a:p>
            <a:pPr algn="ctr">
              <a:spcAft>
                <a:spcPts val="0"/>
              </a:spcAft>
            </a:pPr>
            <a:r>
              <a:rPr sz="800" b="0" i="0">
                <a:solidFill>
                  <a:srgbClr val="FFFFFF"/>
                </a:solidFill>
                <a:latin typeface="Arial"/>
              </a:rPr>
              <a:t>Coordinate institutions, investment and communities so growth is governed, financed and shared</a:t>
            </a:r>
          </a:p>
        </p:txBody>
      </p:sp>
      <p:cxnSp>
        <p:nvCxnSpPr>
          <p:cNvPr id="15" name="Connector 14"/>
          <p:cNvCxnSpPr/>
          <p:nvPr/>
        </p:nvCxnSpPr>
        <p:spPr>
          <a:xfrm>
            <a:off x="2231136" y="1682495"/>
            <a:ext cx="7644383"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4048"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Traveller, Brand and Proposition</a:t>
            </a:r>
          </a:p>
        </p:txBody>
      </p:sp>
      <p:cxnSp>
        <p:nvCxnSpPr>
          <p:cNvPr id="17" name="Connector 16"/>
          <p:cNvCxnSpPr/>
          <p:nvPr/>
        </p:nvCxnSpPr>
        <p:spPr>
          <a:xfrm>
            <a:off x="1275588"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2295144"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Source Market Growth and Diversification</a:t>
            </a:r>
          </a:p>
        </p:txBody>
      </p:sp>
      <p:cxnSp>
        <p:nvCxnSpPr>
          <p:cNvPr id="19" name="Connector 18"/>
          <p:cNvCxnSpPr/>
          <p:nvPr/>
        </p:nvCxnSpPr>
        <p:spPr>
          <a:xfrm>
            <a:off x="3186684"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206240"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Accessibility, Connectivity and Infrastructure</a:t>
            </a:r>
          </a:p>
        </p:txBody>
      </p:sp>
      <p:cxnSp>
        <p:nvCxnSpPr>
          <p:cNvPr id="21" name="Connector 20"/>
          <p:cNvCxnSpPr/>
          <p:nvPr/>
        </p:nvCxnSpPr>
        <p:spPr>
          <a:xfrm>
            <a:off x="5097779"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117336"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Product and Destination Capacity</a:t>
            </a:r>
          </a:p>
        </p:txBody>
      </p:sp>
      <p:cxnSp>
        <p:nvCxnSpPr>
          <p:cNvPr id="23" name="Connector 22"/>
          <p:cNvCxnSpPr/>
          <p:nvPr/>
        </p:nvCxnSpPr>
        <p:spPr>
          <a:xfrm>
            <a:off x="7008875"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028431"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Inclusion and Sustainability</a:t>
            </a:r>
          </a:p>
        </p:txBody>
      </p:sp>
      <p:cxnSp>
        <p:nvCxnSpPr>
          <p:cNvPr id="25" name="Connector 24"/>
          <p:cNvCxnSpPr/>
          <p:nvPr/>
        </p:nvCxnSpPr>
        <p:spPr>
          <a:xfrm>
            <a:off x="8919972"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9939528"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Governance, Leadership and Investment</a:t>
            </a:r>
          </a:p>
        </p:txBody>
      </p:sp>
      <p:cxnSp>
        <p:nvCxnSpPr>
          <p:cNvPr id="27" name="Connector 26"/>
          <p:cNvCxnSpPr/>
          <p:nvPr/>
        </p:nvCxnSpPr>
        <p:spPr>
          <a:xfrm>
            <a:off x="10831067"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384048" y="2926080"/>
            <a:ext cx="1783080" cy="548640"/>
          </a:xfrm>
          <a:prstGeom prst="rect">
            <a:avLst/>
          </a:prstGeom>
          <a:solidFill>
            <a:srgbClr val="FFFFFF"/>
          </a:solidFill>
          <a:ln w="9525">
            <a:solidFill>
              <a:srgbClr val="7F7F7F"/>
            </a:solidFill>
          </a:ln>
        </p:spPr>
        <p:txBody>
          <a:bodyPr rtlCol="0" anchor="ctr"/>
          <a:lstStyle/>
          <a:p>
            <a:pPr algn="ctr"/>
          </a:p>
        </p:txBody>
      </p:sp>
      <p:sp>
        <p:nvSpPr>
          <p:cNvPr id="29" name="TextBox 28"/>
          <p:cNvSpPr txBox="1"/>
          <p:nvPr/>
        </p:nvSpPr>
        <p:spPr>
          <a:xfrm>
            <a:off x="420623" y="2944368"/>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Target the four priority high-value traveller segments</a:t>
            </a:r>
          </a:p>
        </p:txBody>
      </p:sp>
      <p:sp>
        <p:nvSpPr>
          <p:cNvPr id="30" name="Oval 29"/>
          <p:cNvSpPr/>
          <p:nvPr/>
        </p:nvSpPr>
        <p:spPr>
          <a:xfrm>
            <a:off x="2029968" y="2971800"/>
            <a:ext cx="91440" cy="91440"/>
          </a:xfrm>
          <a:prstGeom prst="ellipse">
            <a:avLst/>
          </a:prstGeom>
          <a:solidFill>
            <a:srgbClr val="E97132"/>
          </a:solidFill>
          <a:ln>
            <a:noFill/>
          </a:ln>
        </p:spPr>
        <p:txBody>
          <a:bodyPr rtlCol="0" anchor="ctr"/>
          <a:lstStyle/>
          <a:p>
            <a:pPr algn="ctr"/>
          </a:p>
        </p:txBody>
      </p:sp>
      <p:sp>
        <p:nvSpPr>
          <p:cNvPr id="31" name="Rectangle 30"/>
          <p:cNvSpPr/>
          <p:nvPr/>
        </p:nvSpPr>
        <p:spPr>
          <a:xfrm>
            <a:off x="384048" y="3557016"/>
            <a:ext cx="1783080" cy="548640"/>
          </a:xfrm>
          <a:prstGeom prst="rect">
            <a:avLst/>
          </a:prstGeom>
          <a:solidFill>
            <a:srgbClr val="FFFFFF"/>
          </a:solidFill>
          <a:ln w="9525">
            <a:solidFill>
              <a:srgbClr val="7F7F7F"/>
            </a:solidFill>
          </a:ln>
        </p:spPr>
        <p:txBody>
          <a:bodyPr rtlCol="0" anchor="ctr"/>
          <a:lstStyle/>
          <a:p>
            <a:pPr algn="ctr"/>
          </a:p>
        </p:txBody>
      </p:sp>
      <p:sp>
        <p:nvSpPr>
          <p:cNvPr id="32" name="TextBox 31"/>
          <p:cNvSpPr txBox="1"/>
          <p:nvPr/>
        </p:nvSpPr>
        <p:spPr>
          <a:xfrm>
            <a:off x="420623" y="3575304"/>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Extend Cape Town's brand equity to the province</a:t>
            </a:r>
          </a:p>
        </p:txBody>
      </p:sp>
      <p:sp>
        <p:nvSpPr>
          <p:cNvPr id="33" name="Oval 32"/>
          <p:cNvSpPr/>
          <p:nvPr/>
        </p:nvSpPr>
        <p:spPr>
          <a:xfrm>
            <a:off x="2029968" y="3602736"/>
            <a:ext cx="91440" cy="91440"/>
          </a:xfrm>
          <a:prstGeom prst="ellipse">
            <a:avLst/>
          </a:prstGeom>
          <a:solidFill>
            <a:srgbClr val="196B24"/>
          </a:solidFill>
          <a:ln>
            <a:noFill/>
          </a:ln>
        </p:spPr>
        <p:txBody>
          <a:bodyPr rtlCol="0" anchor="ctr"/>
          <a:lstStyle/>
          <a:p>
            <a:pPr algn="ctr"/>
          </a:p>
        </p:txBody>
      </p:sp>
      <p:sp>
        <p:nvSpPr>
          <p:cNvPr id="34" name="Rectangle 33"/>
          <p:cNvSpPr/>
          <p:nvPr/>
        </p:nvSpPr>
        <p:spPr>
          <a:xfrm>
            <a:off x="384048" y="4187952"/>
            <a:ext cx="1783080" cy="548640"/>
          </a:xfrm>
          <a:prstGeom prst="rect">
            <a:avLst/>
          </a:prstGeom>
          <a:solidFill>
            <a:srgbClr val="FFFFFF"/>
          </a:solidFill>
          <a:ln w="9525">
            <a:solidFill>
              <a:srgbClr val="7F7F7F"/>
            </a:solidFill>
          </a:ln>
        </p:spPr>
        <p:txBody>
          <a:bodyPr rtlCol="0" anchor="ctr"/>
          <a:lstStyle/>
          <a:p>
            <a:pPr algn="ctr"/>
          </a:p>
        </p:txBody>
      </p:sp>
      <p:sp>
        <p:nvSpPr>
          <p:cNvPr id="35" name="TextBox 34"/>
          <p:cNvSpPr txBox="1"/>
          <p:nvPr/>
        </p:nvSpPr>
        <p:spPr>
          <a:xfrm>
            <a:off x="420623" y="4206240"/>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Flatten seasonality with MICE and regional spread</a:t>
            </a:r>
          </a:p>
        </p:txBody>
      </p:sp>
      <p:sp>
        <p:nvSpPr>
          <p:cNvPr id="36" name="Oval 35"/>
          <p:cNvSpPr/>
          <p:nvPr/>
        </p:nvSpPr>
        <p:spPr>
          <a:xfrm>
            <a:off x="2029968" y="4233672"/>
            <a:ext cx="91440" cy="91440"/>
          </a:xfrm>
          <a:prstGeom prst="ellipse">
            <a:avLst/>
          </a:prstGeom>
          <a:solidFill>
            <a:srgbClr val="E97132"/>
          </a:solidFill>
          <a:ln>
            <a:noFill/>
          </a:ln>
        </p:spPr>
        <p:txBody>
          <a:bodyPr rtlCol="0" anchor="ctr"/>
          <a:lstStyle/>
          <a:p>
            <a:pPr algn="ctr"/>
          </a:p>
        </p:txBody>
      </p:sp>
      <p:sp>
        <p:nvSpPr>
          <p:cNvPr id="37" name="Rectangle 36"/>
          <p:cNvSpPr/>
          <p:nvPr/>
        </p:nvSpPr>
        <p:spPr>
          <a:xfrm>
            <a:off x="384048" y="4818888"/>
            <a:ext cx="1783080" cy="548640"/>
          </a:xfrm>
          <a:prstGeom prst="rect">
            <a:avLst/>
          </a:prstGeom>
          <a:solidFill>
            <a:srgbClr val="FFFFFF"/>
          </a:solidFill>
          <a:ln w="9525">
            <a:solidFill>
              <a:srgbClr val="7F7F7F"/>
            </a:solidFill>
          </a:ln>
        </p:spPr>
        <p:txBody>
          <a:bodyPr rtlCol="0" anchor="ctr"/>
          <a:lstStyle/>
          <a:p>
            <a:pPr algn="ctr"/>
          </a:p>
        </p:txBody>
      </p:sp>
      <p:sp>
        <p:nvSpPr>
          <p:cNvPr id="38" name="TextBox 37"/>
          <p:cNvSpPr txBox="1"/>
          <p:nvPr/>
        </p:nvSpPr>
        <p:spPr>
          <a:xfrm>
            <a:off x="420623" y="4837175"/>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Embed the destination in market-native booking platforms</a:t>
            </a:r>
          </a:p>
        </p:txBody>
      </p:sp>
      <p:sp>
        <p:nvSpPr>
          <p:cNvPr id="39" name="Oval 38"/>
          <p:cNvSpPr/>
          <p:nvPr/>
        </p:nvSpPr>
        <p:spPr>
          <a:xfrm>
            <a:off x="2029968" y="4864607"/>
            <a:ext cx="91440" cy="91440"/>
          </a:xfrm>
          <a:prstGeom prst="ellipse">
            <a:avLst/>
          </a:prstGeom>
          <a:solidFill>
            <a:srgbClr val="E97132"/>
          </a:solidFill>
          <a:ln>
            <a:noFill/>
          </a:ln>
        </p:spPr>
        <p:txBody>
          <a:bodyPr rtlCol="0" anchor="ctr"/>
          <a:lstStyle/>
          <a:p>
            <a:pPr algn="ctr"/>
          </a:p>
        </p:txBody>
      </p:sp>
      <p:sp>
        <p:nvSpPr>
          <p:cNvPr id="40" name="Rectangle 39"/>
          <p:cNvSpPr/>
          <p:nvPr/>
        </p:nvSpPr>
        <p:spPr>
          <a:xfrm>
            <a:off x="2295144" y="2926080"/>
            <a:ext cx="1783080" cy="548640"/>
          </a:xfrm>
          <a:prstGeom prst="rect">
            <a:avLst/>
          </a:prstGeom>
          <a:solidFill>
            <a:srgbClr val="FFFFFF"/>
          </a:solidFill>
          <a:ln w="9525">
            <a:solidFill>
              <a:srgbClr val="7F7F7F"/>
            </a:solidFill>
          </a:ln>
        </p:spPr>
        <p:txBody>
          <a:bodyPr rtlCol="0" anchor="ctr"/>
          <a:lstStyle/>
          <a:p>
            <a:pPr algn="ctr"/>
          </a:p>
        </p:txBody>
      </p:sp>
      <p:sp>
        <p:nvSpPr>
          <p:cNvPr id="41" name="TextBox 40"/>
          <p:cNvSpPr txBox="1"/>
          <p:nvPr/>
        </p:nvSpPr>
        <p:spPr>
          <a:xfrm>
            <a:off x="2331720" y="2944368"/>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Grow priority markets (India, China, Gulf, ASEAN)</a:t>
            </a:r>
          </a:p>
        </p:txBody>
      </p:sp>
      <p:sp>
        <p:nvSpPr>
          <p:cNvPr id="42" name="Oval 41"/>
          <p:cNvSpPr/>
          <p:nvPr/>
        </p:nvSpPr>
        <p:spPr>
          <a:xfrm>
            <a:off x="3941063" y="2971800"/>
            <a:ext cx="91440" cy="91440"/>
          </a:xfrm>
          <a:prstGeom prst="ellipse">
            <a:avLst/>
          </a:prstGeom>
          <a:solidFill>
            <a:srgbClr val="E97132"/>
          </a:solidFill>
          <a:ln>
            <a:noFill/>
          </a:ln>
        </p:spPr>
        <p:txBody>
          <a:bodyPr rtlCol="0" anchor="ctr"/>
          <a:lstStyle/>
          <a:p>
            <a:pPr algn="ctr"/>
          </a:p>
        </p:txBody>
      </p:sp>
      <p:sp>
        <p:nvSpPr>
          <p:cNvPr id="43" name="Rectangle 42"/>
          <p:cNvSpPr/>
          <p:nvPr/>
        </p:nvSpPr>
        <p:spPr>
          <a:xfrm>
            <a:off x="2295144" y="3557016"/>
            <a:ext cx="1783080" cy="548640"/>
          </a:xfrm>
          <a:prstGeom prst="rect">
            <a:avLst/>
          </a:prstGeom>
          <a:solidFill>
            <a:srgbClr val="FFFFFF"/>
          </a:solidFill>
          <a:ln w="9525">
            <a:solidFill>
              <a:srgbClr val="7F7F7F"/>
            </a:solidFill>
          </a:ln>
        </p:spPr>
        <p:txBody>
          <a:bodyPr rtlCol="0" anchor="ctr"/>
          <a:lstStyle/>
          <a:p>
            <a:pPr algn="ctr"/>
          </a:p>
        </p:txBody>
      </p:sp>
      <p:sp>
        <p:nvSpPr>
          <p:cNvPr id="44" name="TextBox 43"/>
          <p:cNvSpPr txBox="1"/>
          <p:nvPr/>
        </p:nvSpPr>
        <p:spPr>
          <a:xfrm>
            <a:off x="2331720" y="3575304"/>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Increase yield in mature markets (UK, Europe, N. America)</a:t>
            </a:r>
          </a:p>
        </p:txBody>
      </p:sp>
      <p:sp>
        <p:nvSpPr>
          <p:cNvPr id="45" name="Oval 44"/>
          <p:cNvSpPr/>
          <p:nvPr/>
        </p:nvSpPr>
        <p:spPr>
          <a:xfrm>
            <a:off x="3941063" y="3602736"/>
            <a:ext cx="91440" cy="91440"/>
          </a:xfrm>
          <a:prstGeom prst="ellipse">
            <a:avLst/>
          </a:prstGeom>
          <a:solidFill>
            <a:srgbClr val="156082"/>
          </a:solidFill>
          <a:ln>
            <a:noFill/>
          </a:ln>
        </p:spPr>
        <p:txBody>
          <a:bodyPr rtlCol="0" anchor="ctr"/>
          <a:lstStyle/>
          <a:p>
            <a:pPr algn="ctr"/>
          </a:p>
        </p:txBody>
      </p:sp>
      <p:sp>
        <p:nvSpPr>
          <p:cNvPr id="46" name="Rectangle 45"/>
          <p:cNvSpPr/>
          <p:nvPr/>
        </p:nvSpPr>
        <p:spPr>
          <a:xfrm>
            <a:off x="2295144" y="4187952"/>
            <a:ext cx="1783080" cy="548640"/>
          </a:xfrm>
          <a:prstGeom prst="rect">
            <a:avLst/>
          </a:prstGeom>
          <a:solidFill>
            <a:srgbClr val="FFFFFF"/>
          </a:solidFill>
          <a:ln w="9525">
            <a:solidFill>
              <a:srgbClr val="7F7F7F"/>
            </a:solidFill>
          </a:ln>
        </p:spPr>
        <p:txBody>
          <a:bodyPr rtlCol="0" anchor="ctr"/>
          <a:lstStyle/>
          <a:p>
            <a:pPr algn="ctr"/>
          </a:p>
        </p:txBody>
      </p:sp>
      <p:sp>
        <p:nvSpPr>
          <p:cNvPr id="47" name="TextBox 46"/>
          <p:cNvSpPr txBox="1"/>
          <p:nvPr/>
        </p:nvSpPr>
        <p:spPr>
          <a:xfrm>
            <a:off x="2331720" y="4206240"/>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Grow regional top-up and counter-seasonal demand (Africa)</a:t>
            </a:r>
          </a:p>
        </p:txBody>
      </p:sp>
      <p:sp>
        <p:nvSpPr>
          <p:cNvPr id="48" name="Oval 47"/>
          <p:cNvSpPr/>
          <p:nvPr/>
        </p:nvSpPr>
        <p:spPr>
          <a:xfrm>
            <a:off x="3941063" y="4233672"/>
            <a:ext cx="91440" cy="91440"/>
          </a:xfrm>
          <a:prstGeom prst="ellipse">
            <a:avLst/>
          </a:prstGeom>
          <a:solidFill>
            <a:srgbClr val="E97132"/>
          </a:solidFill>
          <a:ln>
            <a:noFill/>
          </a:ln>
        </p:spPr>
        <p:txBody>
          <a:bodyPr rtlCol="0" anchor="ctr"/>
          <a:lstStyle/>
          <a:p>
            <a:pPr algn="ctr"/>
          </a:p>
        </p:txBody>
      </p:sp>
      <p:sp>
        <p:nvSpPr>
          <p:cNvPr id="49" name="Rectangle 48"/>
          <p:cNvSpPr/>
          <p:nvPr/>
        </p:nvSpPr>
        <p:spPr>
          <a:xfrm>
            <a:off x="4206240" y="2926080"/>
            <a:ext cx="1783080" cy="548640"/>
          </a:xfrm>
          <a:prstGeom prst="rect">
            <a:avLst/>
          </a:prstGeom>
          <a:solidFill>
            <a:srgbClr val="FFFFFF"/>
          </a:solidFill>
          <a:ln w="9525">
            <a:solidFill>
              <a:srgbClr val="7F7F7F"/>
            </a:solidFill>
          </a:ln>
        </p:spPr>
        <p:txBody>
          <a:bodyPr rtlCol="0" anchor="ctr"/>
          <a:lstStyle/>
          <a:p>
            <a:pPr algn="ctr"/>
          </a:p>
        </p:txBody>
      </p:sp>
      <p:sp>
        <p:nvSpPr>
          <p:cNvPr id="50" name="TextBox 49"/>
          <p:cNvSpPr txBox="1"/>
          <p:nvPr/>
        </p:nvSpPr>
        <p:spPr>
          <a:xfrm>
            <a:off x="4242816" y="2944368"/>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Close the air access and cruise capacity gaps</a:t>
            </a:r>
          </a:p>
        </p:txBody>
      </p:sp>
      <p:sp>
        <p:nvSpPr>
          <p:cNvPr id="51" name="Oval 50"/>
          <p:cNvSpPr/>
          <p:nvPr/>
        </p:nvSpPr>
        <p:spPr>
          <a:xfrm>
            <a:off x="5852159" y="2971800"/>
            <a:ext cx="91440" cy="91440"/>
          </a:xfrm>
          <a:prstGeom prst="ellipse">
            <a:avLst/>
          </a:prstGeom>
          <a:solidFill>
            <a:srgbClr val="156082"/>
          </a:solidFill>
          <a:ln>
            <a:noFill/>
          </a:ln>
        </p:spPr>
        <p:txBody>
          <a:bodyPr rtlCol="0" anchor="ctr"/>
          <a:lstStyle/>
          <a:p>
            <a:pPr algn="ctr"/>
          </a:p>
        </p:txBody>
      </p:sp>
      <p:sp>
        <p:nvSpPr>
          <p:cNvPr id="52" name="Rectangle 51"/>
          <p:cNvSpPr/>
          <p:nvPr/>
        </p:nvSpPr>
        <p:spPr>
          <a:xfrm>
            <a:off x="4206240" y="3557016"/>
            <a:ext cx="1783080" cy="548640"/>
          </a:xfrm>
          <a:prstGeom prst="rect">
            <a:avLst/>
          </a:prstGeom>
          <a:solidFill>
            <a:srgbClr val="FFFFFF"/>
          </a:solidFill>
          <a:ln w="9525">
            <a:solidFill>
              <a:srgbClr val="7F7F7F"/>
            </a:solidFill>
          </a:ln>
        </p:spPr>
        <p:txBody>
          <a:bodyPr rtlCol="0" anchor="ctr"/>
          <a:lstStyle/>
          <a:p>
            <a:pPr algn="ctr"/>
          </a:p>
        </p:txBody>
      </p:sp>
      <p:sp>
        <p:nvSpPr>
          <p:cNvPr id="53" name="TextBox 52"/>
          <p:cNvSpPr txBox="1"/>
          <p:nvPr/>
        </p:nvSpPr>
        <p:spPr>
          <a:xfrm>
            <a:off x="4242816" y="3575304"/>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Accelerate tourism-enabling internal mobility</a:t>
            </a:r>
          </a:p>
        </p:txBody>
      </p:sp>
      <p:sp>
        <p:nvSpPr>
          <p:cNvPr id="54" name="Oval 53"/>
          <p:cNvSpPr/>
          <p:nvPr/>
        </p:nvSpPr>
        <p:spPr>
          <a:xfrm>
            <a:off x="5852159" y="3602736"/>
            <a:ext cx="91440" cy="91440"/>
          </a:xfrm>
          <a:prstGeom prst="ellipse">
            <a:avLst/>
          </a:prstGeom>
          <a:solidFill>
            <a:srgbClr val="156082"/>
          </a:solidFill>
          <a:ln>
            <a:noFill/>
          </a:ln>
        </p:spPr>
        <p:txBody>
          <a:bodyPr rtlCol="0" anchor="ctr"/>
          <a:lstStyle/>
          <a:p>
            <a:pPr algn="ctr"/>
          </a:p>
        </p:txBody>
      </p:sp>
      <p:sp>
        <p:nvSpPr>
          <p:cNvPr id="55" name="Rectangle 54"/>
          <p:cNvSpPr/>
          <p:nvPr/>
        </p:nvSpPr>
        <p:spPr>
          <a:xfrm>
            <a:off x="4206240" y="4187952"/>
            <a:ext cx="1783080" cy="548640"/>
          </a:xfrm>
          <a:prstGeom prst="rect">
            <a:avLst/>
          </a:prstGeom>
          <a:solidFill>
            <a:srgbClr val="FFFFFF"/>
          </a:solidFill>
          <a:ln w="9525">
            <a:solidFill>
              <a:srgbClr val="7F7F7F"/>
            </a:solidFill>
          </a:ln>
        </p:spPr>
        <p:txBody>
          <a:bodyPr rtlCol="0" anchor="ctr"/>
          <a:lstStyle/>
          <a:p>
            <a:pPr algn="ctr"/>
          </a:p>
        </p:txBody>
      </p:sp>
      <p:sp>
        <p:nvSpPr>
          <p:cNvPr id="56" name="TextBox 55"/>
          <p:cNvSpPr txBox="1"/>
          <p:nvPr/>
        </p:nvSpPr>
        <p:spPr>
          <a:xfrm>
            <a:off x="4242816" y="4206240"/>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Lead removal of infrastructure, visa and safety deficits</a:t>
            </a:r>
          </a:p>
        </p:txBody>
      </p:sp>
      <p:sp>
        <p:nvSpPr>
          <p:cNvPr id="57" name="Oval 56"/>
          <p:cNvSpPr/>
          <p:nvPr/>
        </p:nvSpPr>
        <p:spPr>
          <a:xfrm>
            <a:off x="5852159" y="4233672"/>
            <a:ext cx="91440" cy="91440"/>
          </a:xfrm>
          <a:prstGeom prst="ellipse">
            <a:avLst/>
          </a:prstGeom>
          <a:solidFill>
            <a:srgbClr val="156082"/>
          </a:solidFill>
          <a:ln>
            <a:noFill/>
          </a:ln>
        </p:spPr>
        <p:txBody>
          <a:bodyPr rtlCol="0" anchor="ctr"/>
          <a:lstStyle/>
          <a:p>
            <a:pPr algn="ctr"/>
          </a:p>
        </p:txBody>
      </p:sp>
      <p:sp>
        <p:nvSpPr>
          <p:cNvPr id="58" name="Rectangle 57"/>
          <p:cNvSpPr/>
          <p:nvPr/>
        </p:nvSpPr>
        <p:spPr>
          <a:xfrm>
            <a:off x="6117336" y="2926080"/>
            <a:ext cx="1783080" cy="548640"/>
          </a:xfrm>
          <a:prstGeom prst="rect">
            <a:avLst/>
          </a:prstGeom>
          <a:solidFill>
            <a:srgbClr val="FFFFFF"/>
          </a:solidFill>
          <a:ln w="9525">
            <a:solidFill>
              <a:srgbClr val="7F7F7F"/>
            </a:solidFill>
          </a:ln>
        </p:spPr>
        <p:txBody>
          <a:bodyPr rtlCol="0" anchor="ctr"/>
          <a:lstStyle/>
          <a:p>
            <a:pPr algn="ctr"/>
          </a:p>
        </p:txBody>
      </p:sp>
      <p:sp>
        <p:nvSpPr>
          <p:cNvPr id="59" name="TextBox 58"/>
          <p:cNvSpPr txBox="1"/>
          <p:nvPr/>
        </p:nvSpPr>
        <p:spPr>
          <a:xfrm>
            <a:off x="6153912" y="2944368"/>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Support diversified route and product development</a:t>
            </a:r>
          </a:p>
        </p:txBody>
      </p:sp>
      <p:sp>
        <p:nvSpPr>
          <p:cNvPr id="60" name="Oval 59"/>
          <p:cNvSpPr/>
          <p:nvPr/>
        </p:nvSpPr>
        <p:spPr>
          <a:xfrm>
            <a:off x="7763255" y="2971800"/>
            <a:ext cx="91440" cy="91440"/>
          </a:xfrm>
          <a:prstGeom prst="ellipse">
            <a:avLst/>
          </a:prstGeom>
          <a:solidFill>
            <a:srgbClr val="156082"/>
          </a:solidFill>
          <a:ln>
            <a:noFill/>
          </a:ln>
        </p:spPr>
        <p:txBody>
          <a:bodyPr rtlCol="0" anchor="ctr"/>
          <a:lstStyle/>
          <a:p>
            <a:pPr algn="ctr"/>
          </a:p>
        </p:txBody>
      </p:sp>
      <p:sp>
        <p:nvSpPr>
          <p:cNvPr id="61" name="Rectangle 60"/>
          <p:cNvSpPr/>
          <p:nvPr/>
        </p:nvSpPr>
        <p:spPr>
          <a:xfrm>
            <a:off x="6117336" y="3557016"/>
            <a:ext cx="1783080" cy="548640"/>
          </a:xfrm>
          <a:prstGeom prst="rect">
            <a:avLst/>
          </a:prstGeom>
          <a:solidFill>
            <a:srgbClr val="FFFFFF"/>
          </a:solidFill>
          <a:ln w="9525">
            <a:solidFill>
              <a:srgbClr val="7F7F7F"/>
            </a:solidFill>
          </a:ln>
        </p:spPr>
        <p:txBody>
          <a:bodyPr rtlCol="0" anchor="ctr"/>
          <a:lstStyle/>
          <a:p>
            <a:pPr algn="ctr"/>
          </a:p>
        </p:txBody>
      </p:sp>
      <p:sp>
        <p:nvSpPr>
          <p:cNvPr id="62" name="TextBox 61"/>
          <p:cNvSpPr txBox="1"/>
          <p:nvPr/>
        </p:nvSpPr>
        <p:spPr>
          <a:xfrm>
            <a:off x="6153912" y="3575304"/>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Align visitor experience in-destination</a:t>
            </a:r>
          </a:p>
        </p:txBody>
      </p:sp>
      <p:sp>
        <p:nvSpPr>
          <p:cNvPr id="63" name="Oval 62"/>
          <p:cNvSpPr/>
          <p:nvPr/>
        </p:nvSpPr>
        <p:spPr>
          <a:xfrm>
            <a:off x="7763255" y="3602736"/>
            <a:ext cx="91440" cy="91440"/>
          </a:xfrm>
          <a:prstGeom prst="ellipse">
            <a:avLst/>
          </a:prstGeom>
          <a:solidFill>
            <a:srgbClr val="156082"/>
          </a:solidFill>
          <a:ln>
            <a:noFill/>
          </a:ln>
        </p:spPr>
        <p:txBody>
          <a:bodyPr rtlCol="0" anchor="ctr"/>
          <a:lstStyle/>
          <a:p>
            <a:pPr algn="ctr"/>
          </a:p>
        </p:txBody>
      </p:sp>
      <p:sp>
        <p:nvSpPr>
          <p:cNvPr id="64" name="Rectangle 63"/>
          <p:cNvSpPr/>
          <p:nvPr/>
        </p:nvSpPr>
        <p:spPr>
          <a:xfrm>
            <a:off x="6117336" y="4187952"/>
            <a:ext cx="1783080" cy="548640"/>
          </a:xfrm>
          <a:prstGeom prst="rect">
            <a:avLst/>
          </a:prstGeom>
          <a:solidFill>
            <a:srgbClr val="FFFFFF"/>
          </a:solidFill>
          <a:ln w="9525">
            <a:solidFill>
              <a:srgbClr val="7F7F7F"/>
            </a:solidFill>
          </a:ln>
        </p:spPr>
        <p:txBody>
          <a:bodyPr rtlCol="0" anchor="ctr"/>
          <a:lstStyle/>
          <a:p>
            <a:pPr algn="ctr"/>
          </a:p>
        </p:txBody>
      </p:sp>
      <p:sp>
        <p:nvSpPr>
          <p:cNvPr id="65" name="TextBox 64"/>
          <p:cNvSpPr txBox="1"/>
          <p:nvPr/>
        </p:nvSpPr>
        <p:spPr>
          <a:xfrm>
            <a:off x="6153912" y="4206240"/>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Sustainably maximise nature-based and cultural attractions</a:t>
            </a:r>
          </a:p>
        </p:txBody>
      </p:sp>
      <p:sp>
        <p:nvSpPr>
          <p:cNvPr id="66" name="Oval 65"/>
          <p:cNvSpPr/>
          <p:nvPr/>
        </p:nvSpPr>
        <p:spPr>
          <a:xfrm>
            <a:off x="7763255" y="4233672"/>
            <a:ext cx="91440" cy="91440"/>
          </a:xfrm>
          <a:prstGeom prst="ellipse">
            <a:avLst/>
          </a:prstGeom>
          <a:solidFill>
            <a:srgbClr val="156082"/>
          </a:solidFill>
          <a:ln>
            <a:noFill/>
          </a:ln>
        </p:spPr>
        <p:txBody>
          <a:bodyPr rtlCol="0" anchor="ctr"/>
          <a:lstStyle/>
          <a:p>
            <a:pPr algn="ctr"/>
          </a:p>
        </p:txBody>
      </p:sp>
      <p:sp>
        <p:nvSpPr>
          <p:cNvPr id="67" name="Rectangle 66"/>
          <p:cNvSpPr/>
          <p:nvPr/>
        </p:nvSpPr>
        <p:spPr>
          <a:xfrm>
            <a:off x="8028431" y="2926080"/>
            <a:ext cx="1783080" cy="548640"/>
          </a:xfrm>
          <a:prstGeom prst="rect">
            <a:avLst/>
          </a:prstGeom>
          <a:solidFill>
            <a:srgbClr val="FFFFFF"/>
          </a:solidFill>
          <a:ln w="9525">
            <a:solidFill>
              <a:srgbClr val="7F7F7F"/>
            </a:solidFill>
          </a:ln>
        </p:spPr>
        <p:txBody>
          <a:bodyPr rtlCol="0" anchor="ctr"/>
          <a:lstStyle/>
          <a:p>
            <a:pPr algn="ctr"/>
          </a:p>
        </p:txBody>
      </p:sp>
      <p:sp>
        <p:nvSpPr>
          <p:cNvPr id="68" name="TextBox 67"/>
          <p:cNvSpPr txBox="1"/>
          <p:nvPr/>
        </p:nvSpPr>
        <p:spPr>
          <a:xfrm>
            <a:off x="8065007" y="2944368"/>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Include MSMEs and communities in tourism value chains</a:t>
            </a:r>
          </a:p>
        </p:txBody>
      </p:sp>
      <p:sp>
        <p:nvSpPr>
          <p:cNvPr id="69" name="Oval 68"/>
          <p:cNvSpPr/>
          <p:nvPr/>
        </p:nvSpPr>
        <p:spPr>
          <a:xfrm>
            <a:off x="9674351" y="2971800"/>
            <a:ext cx="91440" cy="91440"/>
          </a:xfrm>
          <a:prstGeom prst="ellipse">
            <a:avLst/>
          </a:prstGeom>
          <a:solidFill>
            <a:srgbClr val="E97132"/>
          </a:solidFill>
          <a:ln>
            <a:noFill/>
          </a:ln>
        </p:spPr>
        <p:txBody>
          <a:bodyPr rtlCol="0" anchor="ctr"/>
          <a:lstStyle/>
          <a:p>
            <a:pPr algn="ctr"/>
          </a:p>
        </p:txBody>
      </p:sp>
      <p:sp>
        <p:nvSpPr>
          <p:cNvPr id="70" name="Rectangle 69"/>
          <p:cNvSpPr/>
          <p:nvPr/>
        </p:nvSpPr>
        <p:spPr>
          <a:xfrm>
            <a:off x="8028431" y="3557016"/>
            <a:ext cx="1783080" cy="548640"/>
          </a:xfrm>
          <a:prstGeom prst="rect">
            <a:avLst/>
          </a:prstGeom>
          <a:solidFill>
            <a:srgbClr val="FFFFFF"/>
          </a:solidFill>
          <a:ln w="9525">
            <a:solidFill>
              <a:srgbClr val="7F7F7F"/>
            </a:solidFill>
          </a:ln>
        </p:spPr>
        <p:txBody>
          <a:bodyPr rtlCol="0" anchor="ctr"/>
          <a:lstStyle/>
          <a:p>
            <a:pPr algn="ctr"/>
          </a:p>
        </p:txBody>
      </p:sp>
      <p:sp>
        <p:nvSpPr>
          <p:cNvPr id="71" name="TextBox 70"/>
          <p:cNvSpPr txBox="1"/>
          <p:nvPr/>
        </p:nvSpPr>
        <p:spPr>
          <a:xfrm>
            <a:off x="8065007" y="3575304"/>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Develop the tourism workforce and service skills</a:t>
            </a:r>
          </a:p>
        </p:txBody>
      </p:sp>
      <p:sp>
        <p:nvSpPr>
          <p:cNvPr id="72" name="Oval 71"/>
          <p:cNvSpPr/>
          <p:nvPr/>
        </p:nvSpPr>
        <p:spPr>
          <a:xfrm>
            <a:off x="9674351" y="3602736"/>
            <a:ext cx="91440" cy="91440"/>
          </a:xfrm>
          <a:prstGeom prst="ellipse">
            <a:avLst/>
          </a:prstGeom>
          <a:solidFill>
            <a:srgbClr val="E97132"/>
          </a:solidFill>
          <a:ln>
            <a:noFill/>
          </a:ln>
        </p:spPr>
        <p:txBody>
          <a:bodyPr rtlCol="0" anchor="ctr"/>
          <a:lstStyle/>
          <a:p>
            <a:pPr algn="ctr"/>
          </a:p>
        </p:txBody>
      </p:sp>
      <p:sp>
        <p:nvSpPr>
          <p:cNvPr id="73" name="Rectangle 72"/>
          <p:cNvSpPr/>
          <p:nvPr/>
        </p:nvSpPr>
        <p:spPr>
          <a:xfrm>
            <a:off x="8028431" y="4187952"/>
            <a:ext cx="1783080" cy="548640"/>
          </a:xfrm>
          <a:prstGeom prst="rect">
            <a:avLst/>
          </a:prstGeom>
          <a:solidFill>
            <a:srgbClr val="FFFFFF"/>
          </a:solidFill>
          <a:ln w="9525">
            <a:solidFill>
              <a:srgbClr val="7F7F7F"/>
            </a:solidFill>
          </a:ln>
        </p:spPr>
        <p:txBody>
          <a:bodyPr rtlCol="0" anchor="ctr"/>
          <a:lstStyle/>
          <a:p>
            <a:pPr algn="ctr"/>
          </a:p>
        </p:txBody>
      </p:sp>
      <p:sp>
        <p:nvSpPr>
          <p:cNvPr id="74" name="TextBox 73"/>
          <p:cNvSpPr txBox="1"/>
          <p:nvPr/>
        </p:nvSpPr>
        <p:spPr>
          <a:xfrm>
            <a:off x="8065007" y="4206240"/>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Ensure sustainable and resilient destination management</a:t>
            </a:r>
          </a:p>
        </p:txBody>
      </p:sp>
      <p:sp>
        <p:nvSpPr>
          <p:cNvPr id="75" name="Oval 74"/>
          <p:cNvSpPr/>
          <p:nvPr/>
        </p:nvSpPr>
        <p:spPr>
          <a:xfrm>
            <a:off x="9674351" y="4233672"/>
            <a:ext cx="91440" cy="91440"/>
          </a:xfrm>
          <a:prstGeom prst="ellipse">
            <a:avLst/>
          </a:prstGeom>
          <a:solidFill>
            <a:srgbClr val="196B24"/>
          </a:solidFill>
          <a:ln>
            <a:noFill/>
          </a:ln>
        </p:spPr>
        <p:txBody>
          <a:bodyPr rtlCol="0" anchor="ctr"/>
          <a:lstStyle/>
          <a:p>
            <a:pPr algn="ctr"/>
          </a:p>
        </p:txBody>
      </p:sp>
      <p:sp>
        <p:nvSpPr>
          <p:cNvPr id="76" name="Rectangle 75"/>
          <p:cNvSpPr/>
          <p:nvPr/>
        </p:nvSpPr>
        <p:spPr>
          <a:xfrm>
            <a:off x="9939528" y="2926080"/>
            <a:ext cx="1783080" cy="548640"/>
          </a:xfrm>
          <a:prstGeom prst="rect">
            <a:avLst/>
          </a:prstGeom>
          <a:solidFill>
            <a:srgbClr val="FFFFFF"/>
          </a:solidFill>
          <a:ln w="9525">
            <a:solidFill>
              <a:srgbClr val="7F7F7F"/>
            </a:solidFill>
          </a:ln>
        </p:spPr>
        <p:txBody>
          <a:bodyPr rtlCol="0" anchor="ctr"/>
          <a:lstStyle/>
          <a:p>
            <a:pPr algn="ctr"/>
          </a:p>
        </p:txBody>
      </p:sp>
      <p:sp>
        <p:nvSpPr>
          <p:cNvPr id="77" name="TextBox 76"/>
          <p:cNvSpPr txBox="1"/>
          <p:nvPr/>
        </p:nvSpPr>
        <p:spPr>
          <a:xfrm>
            <a:off x="9976103" y="2944368"/>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Review institutional arrangements (local, provincial and national)</a:t>
            </a:r>
          </a:p>
        </p:txBody>
      </p:sp>
      <p:sp>
        <p:nvSpPr>
          <p:cNvPr id="78" name="Oval 77"/>
          <p:cNvSpPr/>
          <p:nvPr/>
        </p:nvSpPr>
        <p:spPr>
          <a:xfrm>
            <a:off x="11585447" y="2971800"/>
            <a:ext cx="91440" cy="91440"/>
          </a:xfrm>
          <a:prstGeom prst="ellipse">
            <a:avLst/>
          </a:prstGeom>
          <a:solidFill>
            <a:srgbClr val="156082"/>
          </a:solidFill>
          <a:ln>
            <a:noFill/>
          </a:ln>
        </p:spPr>
        <p:txBody>
          <a:bodyPr rtlCol="0" anchor="ctr"/>
          <a:lstStyle/>
          <a:p>
            <a:pPr algn="ctr"/>
          </a:p>
        </p:txBody>
      </p:sp>
      <p:sp>
        <p:nvSpPr>
          <p:cNvPr id="79" name="Rectangle 78"/>
          <p:cNvSpPr/>
          <p:nvPr/>
        </p:nvSpPr>
        <p:spPr>
          <a:xfrm>
            <a:off x="9939528" y="3557016"/>
            <a:ext cx="1783080" cy="548640"/>
          </a:xfrm>
          <a:prstGeom prst="rect">
            <a:avLst/>
          </a:prstGeom>
          <a:solidFill>
            <a:srgbClr val="FFFFFF"/>
          </a:solidFill>
          <a:ln w="9525">
            <a:solidFill>
              <a:srgbClr val="7F7F7F"/>
            </a:solidFill>
          </a:ln>
        </p:spPr>
        <p:txBody>
          <a:bodyPr rtlCol="0" anchor="ctr"/>
          <a:lstStyle/>
          <a:p>
            <a:pPr algn="ctr"/>
          </a:p>
        </p:txBody>
      </p:sp>
      <p:sp>
        <p:nvSpPr>
          <p:cNvPr id="80" name="TextBox 79"/>
          <p:cNvSpPr txBox="1"/>
          <p:nvPr/>
        </p:nvSpPr>
        <p:spPr>
          <a:xfrm>
            <a:off x="9976103" y="3575304"/>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Strengthen industry and government collaboration</a:t>
            </a:r>
          </a:p>
        </p:txBody>
      </p:sp>
      <p:sp>
        <p:nvSpPr>
          <p:cNvPr id="81" name="Oval 80"/>
          <p:cNvSpPr/>
          <p:nvPr/>
        </p:nvSpPr>
        <p:spPr>
          <a:xfrm>
            <a:off x="11585447" y="3602736"/>
            <a:ext cx="91440" cy="91440"/>
          </a:xfrm>
          <a:prstGeom prst="ellipse">
            <a:avLst/>
          </a:prstGeom>
          <a:solidFill>
            <a:srgbClr val="156082"/>
          </a:solidFill>
          <a:ln>
            <a:noFill/>
          </a:ln>
        </p:spPr>
        <p:txBody>
          <a:bodyPr rtlCol="0" anchor="ctr"/>
          <a:lstStyle/>
          <a:p>
            <a:pPr algn="ctr"/>
          </a:p>
        </p:txBody>
      </p:sp>
      <p:sp>
        <p:nvSpPr>
          <p:cNvPr id="82" name="Rectangle 81"/>
          <p:cNvSpPr/>
          <p:nvPr/>
        </p:nvSpPr>
        <p:spPr>
          <a:xfrm>
            <a:off x="9939528" y="4187952"/>
            <a:ext cx="1783080" cy="548640"/>
          </a:xfrm>
          <a:prstGeom prst="rect">
            <a:avLst/>
          </a:prstGeom>
          <a:solidFill>
            <a:srgbClr val="FFFFFF"/>
          </a:solidFill>
          <a:ln w="9525">
            <a:solidFill>
              <a:srgbClr val="7F7F7F"/>
            </a:solidFill>
          </a:ln>
        </p:spPr>
        <p:txBody>
          <a:bodyPr rtlCol="0" anchor="ctr"/>
          <a:lstStyle/>
          <a:p>
            <a:pPr algn="ctr"/>
          </a:p>
        </p:txBody>
      </p:sp>
      <p:sp>
        <p:nvSpPr>
          <p:cNvPr id="83" name="TextBox 82"/>
          <p:cNvSpPr txBox="1"/>
          <p:nvPr/>
        </p:nvSpPr>
        <p:spPr>
          <a:xfrm>
            <a:off x="9976103" y="4206240"/>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Expedite enabling policy and build the data layer</a:t>
            </a:r>
          </a:p>
        </p:txBody>
      </p:sp>
      <p:sp>
        <p:nvSpPr>
          <p:cNvPr id="84" name="Oval 83"/>
          <p:cNvSpPr/>
          <p:nvPr/>
        </p:nvSpPr>
        <p:spPr>
          <a:xfrm>
            <a:off x="11585447" y="4233672"/>
            <a:ext cx="91440" cy="91440"/>
          </a:xfrm>
          <a:prstGeom prst="ellipse">
            <a:avLst/>
          </a:prstGeom>
          <a:solidFill>
            <a:srgbClr val="E97132"/>
          </a:solidFill>
          <a:ln>
            <a:noFill/>
          </a:ln>
        </p:spPr>
        <p:txBody>
          <a:bodyPr rtlCol="0" anchor="ctr"/>
          <a:lstStyle/>
          <a:p>
            <a:pPr algn="ctr"/>
          </a:p>
        </p:txBody>
      </p:sp>
      <p:sp>
        <p:nvSpPr>
          <p:cNvPr id="85" name="Rectangle 84"/>
          <p:cNvSpPr/>
          <p:nvPr/>
        </p:nvSpPr>
        <p:spPr>
          <a:xfrm>
            <a:off x="9939528" y="4818888"/>
            <a:ext cx="1783080" cy="548640"/>
          </a:xfrm>
          <a:prstGeom prst="rect">
            <a:avLst/>
          </a:prstGeom>
          <a:solidFill>
            <a:srgbClr val="FFFFFF"/>
          </a:solidFill>
          <a:ln w="9525">
            <a:solidFill>
              <a:srgbClr val="7F7F7F"/>
            </a:solidFill>
          </a:ln>
        </p:spPr>
        <p:txBody>
          <a:bodyPr rtlCol="0" anchor="ctr"/>
          <a:lstStyle/>
          <a:p>
            <a:pPr algn="ctr"/>
          </a:p>
        </p:txBody>
      </p:sp>
      <p:sp>
        <p:nvSpPr>
          <p:cNvPr id="86" name="TextBox 85"/>
          <p:cNvSpPr txBox="1"/>
          <p:nvPr/>
        </p:nvSpPr>
        <p:spPr>
          <a:xfrm>
            <a:off x="9976103" y="4837175"/>
            <a:ext cx="1600200" cy="512063"/>
          </a:xfrm>
          <a:prstGeom prst="rect">
            <a:avLst/>
          </a:prstGeom>
          <a:noFill/>
        </p:spPr>
        <p:txBody>
          <a:bodyPr wrap="square" anchor="ctr" lIns="27432" rIns="27432" tIns="16459" bIns="16459">
            <a:spAutoFit/>
          </a:bodyPr>
          <a:lstStyle/>
          <a:p>
            <a:pPr algn="ctr">
              <a:spcAft>
                <a:spcPts val="0"/>
              </a:spcAft>
            </a:pPr>
            <a:r>
              <a:rPr sz="850" b="0" i="0">
                <a:solidFill>
                  <a:srgbClr val="404040"/>
                </a:solidFill>
                <a:latin typeface="Arial"/>
              </a:rPr>
              <a:t>Crowd-in capital with targeted investment strategies</a:t>
            </a:r>
          </a:p>
        </p:txBody>
      </p:sp>
      <p:sp>
        <p:nvSpPr>
          <p:cNvPr id="87" name="Oval 86"/>
          <p:cNvSpPr/>
          <p:nvPr/>
        </p:nvSpPr>
        <p:spPr>
          <a:xfrm>
            <a:off x="11585447" y="4864607"/>
            <a:ext cx="91440" cy="91440"/>
          </a:xfrm>
          <a:prstGeom prst="ellipse">
            <a:avLst/>
          </a:prstGeom>
          <a:solidFill>
            <a:srgbClr val="156082"/>
          </a:solidFill>
          <a:ln>
            <a:noFill/>
          </a:ln>
        </p:spPr>
        <p:txBody>
          <a:bodyPr rtlCol="0" anchor="ctr"/>
          <a:lstStyle/>
          <a:p>
            <a:pPr algn="ctr"/>
          </a:p>
        </p:txBody>
      </p:sp>
      <p:sp>
        <p:nvSpPr>
          <p:cNvPr id="88" name="TextBox 87"/>
          <p:cNvSpPr txBox="1"/>
          <p:nvPr/>
        </p:nvSpPr>
        <p:spPr>
          <a:xfrm>
            <a:off x="6217920" y="5971032"/>
            <a:ext cx="1463040" cy="228600"/>
          </a:xfrm>
          <a:prstGeom prst="rect">
            <a:avLst/>
          </a:prstGeom>
          <a:noFill/>
        </p:spPr>
        <p:txBody>
          <a:bodyPr wrap="square" anchor="t" lIns="36576" rIns="36576" tIns="21945" bIns="21945">
            <a:spAutoFit/>
          </a:bodyPr>
          <a:lstStyle/>
          <a:p>
            <a:pPr algn="r">
              <a:spcAft>
                <a:spcPts val="0"/>
              </a:spcAft>
            </a:pPr>
            <a:r>
              <a:rPr sz="800" b="0" i="0">
                <a:solidFill>
                  <a:srgbClr val="7F7F7F"/>
                </a:solidFill>
                <a:latin typeface="Arial"/>
              </a:rPr>
              <a:t>Team's July 2026 marker:</a:t>
            </a:r>
          </a:p>
        </p:txBody>
      </p:sp>
      <p:sp>
        <p:nvSpPr>
          <p:cNvPr id="89" name="Oval 88"/>
          <p:cNvSpPr/>
          <p:nvPr/>
        </p:nvSpPr>
        <p:spPr>
          <a:xfrm>
            <a:off x="7726680" y="6035040"/>
            <a:ext cx="100584" cy="100584"/>
          </a:xfrm>
          <a:prstGeom prst="ellipse">
            <a:avLst/>
          </a:prstGeom>
          <a:solidFill>
            <a:srgbClr val="156082"/>
          </a:solidFill>
          <a:ln>
            <a:noFill/>
          </a:ln>
        </p:spPr>
        <p:txBody>
          <a:bodyPr rtlCol="0" anchor="ctr"/>
          <a:lstStyle/>
          <a:p>
            <a:pPr algn="ctr"/>
          </a:p>
        </p:txBody>
      </p:sp>
      <p:sp>
        <p:nvSpPr>
          <p:cNvPr id="90" name="TextBox 89"/>
          <p:cNvSpPr txBox="1"/>
          <p:nvPr/>
        </p:nvSpPr>
        <p:spPr>
          <a:xfrm>
            <a:off x="7863840" y="5971032"/>
            <a:ext cx="914400" cy="228600"/>
          </a:xfrm>
          <a:prstGeom prst="rect">
            <a:avLst/>
          </a:prstGeom>
          <a:noFill/>
        </p:spPr>
        <p:txBody>
          <a:bodyPr wrap="square" anchor="t" lIns="36576" rIns="36576" tIns="21945" bIns="21945">
            <a:spAutoFit/>
          </a:bodyPr>
          <a:lstStyle/>
          <a:p>
            <a:pPr algn="l">
              <a:spcAft>
                <a:spcPts val="0"/>
              </a:spcAft>
            </a:pPr>
            <a:r>
              <a:rPr sz="800" b="0" i="0">
                <a:solidFill>
                  <a:srgbClr val="404040"/>
                </a:solidFill>
                <a:latin typeface="Arial"/>
              </a:rPr>
              <a:t>Validated</a:t>
            </a:r>
          </a:p>
        </p:txBody>
      </p:sp>
      <p:sp>
        <p:nvSpPr>
          <p:cNvPr id="91" name="Oval 90"/>
          <p:cNvSpPr/>
          <p:nvPr/>
        </p:nvSpPr>
        <p:spPr>
          <a:xfrm>
            <a:off x="8778240" y="6035040"/>
            <a:ext cx="100584" cy="100584"/>
          </a:xfrm>
          <a:prstGeom prst="ellipse">
            <a:avLst/>
          </a:prstGeom>
          <a:solidFill>
            <a:srgbClr val="E97132"/>
          </a:solidFill>
          <a:ln>
            <a:noFill/>
          </a:ln>
        </p:spPr>
        <p:txBody>
          <a:bodyPr rtlCol="0" anchor="ctr"/>
          <a:lstStyle/>
          <a:p>
            <a:pPr algn="ctr"/>
          </a:p>
        </p:txBody>
      </p:sp>
      <p:sp>
        <p:nvSpPr>
          <p:cNvPr id="92" name="TextBox 91"/>
          <p:cNvSpPr txBox="1"/>
          <p:nvPr/>
        </p:nvSpPr>
        <p:spPr>
          <a:xfrm>
            <a:off x="8915400" y="5971032"/>
            <a:ext cx="914400" cy="228600"/>
          </a:xfrm>
          <a:prstGeom prst="rect">
            <a:avLst/>
          </a:prstGeom>
          <a:noFill/>
        </p:spPr>
        <p:txBody>
          <a:bodyPr wrap="square" anchor="t" lIns="36576" rIns="36576" tIns="21945" bIns="21945">
            <a:spAutoFit/>
          </a:bodyPr>
          <a:lstStyle/>
          <a:p>
            <a:pPr algn="l">
              <a:spcAft>
                <a:spcPts val="0"/>
              </a:spcAft>
            </a:pPr>
            <a:r>
              <a:rPr sz="800" b="0" i="0">
                <a:solidFill>
                  <a:srgbClr val="404040"/>
                </a:solidFill>
                <a:latin typeface="Arial"/>
              </a:rPr>
              <a:t>Refined</a:t>
            </a:r>
          </a:p>
        </p:txBody>
      </p:sp>
      <p:sp>
        <p:nvSpPr>
          <p:cNvPr id="93" name="Oval 92"/>
          <p:cNvSpPr/>
          <p:nvPr/>
        </p:nvSpPr>
        <p:spPr>
          <a:xfrm>
            <a:off x="9829800" y="6035040"/>
            <a:ext cx="100584" cy="100584"/>
          </a:xfrm>
          <a:prstGeom prst="ellipse">
            <a:avLst/>
          </a:prstGeom>
          <a:solidFill>
            <a:srgbClr val="196B24"/>
          </a:solidFill>
          <a:ln>
            <a:noFill/>
          </a:ln>
        </p:spPr>
        <p:txBody>
          <a:bodyPr rtlCol="0" anchor="ctr"/>
          <a:lstStyle/>
          <a:p>
            <a:pPr algn="ctr"/>
          </a:p>
        </p:txBody>
      </p:sp>
      <p:sp>
        <p:nvSpPr>
          <p:cNvPr id="94" name="TextBox 93"/>
          <p:cNvSpPr txBox="1"/>
          <p:nvPr/>
        </p:nvSpPr>
        <p:spPr>
          <a:xfrm>
            <a:off x="9966960" y="5971032"/>
            <a:ext cx="914400" cy="228600"/>
          </a:xfrm>
          <a:prstGeom prst="rect">
            <a:avLst/>
          </a:prstGeom>
          <a:noFill/>
        </p:spPr>
        <p:txBody>
          <a:bodyPr wrap="square" anchor="t" lIns="36576" rIns="36576" tIns="21945" bIns="21945">
            <a:spAutoFit/>
          </a:bodyPr>
          <a:lstStyle/>
          <a:p>
            <a:pPr algn="l">
              <a:spcAft>
                <a:spcPts val="0"/>
              </a:spcAft>
            </a:pPr>
            <a:r>
              <a:rPr sz="800" b="0" i="0">
                <a:solidFill>
                  <a:srgbClr val="404040"/>
                </a:solidFill>
                <a:latin typeface="Arial"/>
              </a:rPr>
              <a:t>New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divider_bg.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2697480"/>
            <a:ext cx="12191695" cy="1463040"/>
          </a:xfrm>
          <a:prstGeom prst="rect">
            <a:avLst/>
          </a:prstGeom>
          <a:solidFill>
            <a:srgbClr val="009FDF">
              <a:alpha val="78000"/>
            </a:srgbClr>
          </a:solidFill>
          <a:ln>
            <a:noFill/>
          </a:ln>
        </p:spPr>
        <p:txBody>
          <a:bodyPr rtlCol="0" anchor="ctr"/>
          <a:lstStyle/>
          <a:p>
            <a:pPr algn="ctr"/>
          </a:p>
        </p:txBody>
      </p:sp>
      <p:sp>
        <p:nvSpPr>
          <p:cNvPr id="2" name="Title 1"/>
          <p:cNvSpPr>
            <a:spLocks noGrp="1"/>
          </p:cNvSpPr>
          <p:nvPr>
            <p:ph type="title"/>
          </p:nvPr>
        </p:nvSpPr>
        <p:spPr>
          <a:xfrm>
            <a:off x="1097280" y="2788920"/>
            <a:ext cx="10058400" cy="731520"/>
          </a:xfrm>
        </p:spPr>
        <p:txBody>
          <a:bodyPr anchor="ctr"/>
          <a:lstStyle/>
          <a:p>
            <a:pPr algn="l"/>
            <a:r>
              <a:rPr sz="3200" b="1" i="0">
                <a:solidFill>
                  <a:srgbClr val="FFFFFF"/>
                </a:solidFill>
                <a:latin typeface="Arial"/>
              </a:rPr>
              <a:t>What we found</a:t>
            </a:r>
          </a:p>
        </p:txBody>
      </p:sp>
      <p:sp>
        <p:nvSpPr>
          <p:cNvPr id="5" name="TextBox 4"/>
          <p:cNvSpPr txBox="1"/>
          <p:nvPr/>
        </p:nvSpPr>
        <p:spPr>
          <a:xfrm>
            <a:off x="1097280" y="3520440"/>
            <a:ext cx="10058400" cy="457200"/>
          </a:xfrm>
          <a:prstGeom prst="rect">
            <a:avLst/>
          </a:prstGeom>
          <a:noFill/>
        </p:spPr>
        <p:txBody>
          <a:bodyPr wrap="square" anchor="t" lIns="36576" rIns="36576" tIns="21945" bIns="21945">
            <a:spAutoFit/>
          </a:bodyPr>
          <a:lstStyle/>
          <a:p>
            <a:pPr algn="l">
              <a:spcAft>
                <a:spcPts val="0"/>
              </a:spcAft>
            </a:pPr>
            <a:r>
              <a:rPr sz="1400" b="0" i="0">
                <a:solidFill>
                  <a:srgbClr val="FFFFFF"/>
                </a:solidFill>
                <a:latin typeface="Arial"/>
              </a:rPr>
              <a:t>The evidence, branch by branch</a:t>
            </a:r>
          </a:p>
        </p:txBody>
      </p:sp>
      <p:sp>
        <p:nvSpPr>
          <p:cNvPr id="6" name="TextBox 5"/>
          <p:cNvSpPr txBox="1"/>
          <p:nvPr/>
        </p:nvSpPr>
        <p:spPr>
          <a:xfrm>
            <a:off x="411480" y="2788920"/>
            <a:ext cx="731520" cy="731520"/>
          </a:xfrm>
          <a:prstGeom prst="rect">
            <a:avLst/>
          </a:prstGeom>
          <a:noFill/>
        </p:spPr>
        <p:txBody>
          <a:bodyPr wrap="square" anchor="ctr" lIns="36576" rIns="36576" tIns="21945" bIns="21945">
            <a:spAutoFit/>
          </a:bodyPr>
          <a:lstStyle/>
          <a:p>
            <a:pPr algn="l">
              <a:spcAft>
                <a:spcPts val="400"/>
              </a:spcAft>
            </a:pPr>
            <a:r>
              <a:rPr sz="3200" b="0" i="0">
                <a:solidFill>
                  <a:srgbClr val="FFFFFF"/>
                </a:solidFill>
                <a:latin typeface="Arial"/>
              </a:rPr>
              <a:t>02</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D9D9D9"/>
                </a:solidFill>
                <a:latin typeface="Arial"/>
              </a:rPr>
              <a:t>DRAFT FOR DISCUSSION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Demand is concentrated, seasonal and uneven in value: who comes matters as much as how many</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RESHAPE DEMAND | FINDINGS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Demand-Side Analysis (Letsema/Skift, Jun 2026) pp12-15 (spend per visitor 2024, Stats SA/SA Tourism); Current State Diagnostic v2 (Dec 2025) pp29-32</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9</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Chart 7"/>
          <p:cNvGraphicFramePr>
            <a:graphicFrameLocks noGrp="1"/>
          </p:cNvGraphicFramePr>
          <p:nvPr/>
        </p:nvGraphicFramePr>
        <p:xfrm>
          <a:off x="384048" y="1463040"/>
          <a:ext cx="6035040" cy="4160520"/>
        </p:xfrm>
        <a:graphic>
          <a:graphicData uri="http://schemas.openxmlformats.org/drawingml/2006/chart">
            <c:chart xmlns:c="http://schemas.openxmlformats.org/drawingml/2006/chart" r:id="rId4"/>
          </a:graphicData>
        </a:graphic>
      </p:graphicFrame>
      <p:sp>
        <p:nvSpPr>
          <p:cNvPr id="9" name="TextBox 8"/>
          <p:cNvSpPr txBox="1"/>
          <p:nvPr/>
        </p:nvSpPr>
        <p:spPr>
          <a:xfrm>
            <a:off x="457200" y="1207008"/>
            <a:ext cx="59436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Spend per visitor by source market, ZAR, 2024</a:t>
            </a:r>
          </a:p>
        </p:txBody>
      </p:sp>
      <p:sp>
        <p:nvSpPr>
          <p:cNvPr id="10" name="Rectangle 9"/>
          <p:cNvSpPr/>
          <p:nvPr/>
        </p:nvSpPr>
        <p:spPr>
          <a:xfrm>
            <a:off x="6675120" y="1234440"/>
            <a:ext cx="5120640" cy="1371600"/>
          </a:xfrm>
          <a:prstGeom prst="rect">
            <a:avLst/>
          </a:prstGeom>
          <a:solidFill>
            <a:srgbClr val="F2F2F2"/>
          </a:solidFill>
          <a:ln>
            <a:noFill/>
          </a:ln>
        </p:spPr>
        <p:txBody>
          <a:bodyPr rtlCol="0" anchor="ctr"/>
          <a:lstStyle/>
          <a:p>
            <a:pPr algn="ctr"/>
          </a:p>
        </p:txBody>
      </p:sp>
      <p:sp>
        <p:nvSpPr>
          <p:cNvPr id="11" name="Rectangle 10"/>
          <p:cNvSpPr/>
          <p:nvPr/>
        </p:nvSpPr>
        <p:spPr>
          <a:xfrm>
            <a:off x="6675120" y="1234440"/>
            <a:ext cx="54864" cy="1371600"/>
          </a:xfrm>
          <a:prstGeom prst="rect">
            <a:avLst/>
          </a:prstGeom>
          <a:solidFill>
            <a:srgbClr val="00AEEF"/>
          </a:solidFill>
          <a:ln>
            <a:noFill/>
          </a:ln>
        </p:spPr>
        <p:txBody>
          <a:bodyPr rtlCol="0" anchor="ctr"/>
          <a:lstStyle/>
          <a:p>
            <a:pPr algn="ctr"/>
          </a:p>
        </p:txBody>
      </p:sp>
      <p:sp>
        <p:nvSpPr>
          <p:cNvPr id="12" name="TextBox 11"/>
          <p:cNvSpPr txBox="1"/>
          <p:nvPr/>
        </p:nvSpPr>
        <p:spPr>
          <a:xfrm>
            <a:off x="6839712" y="1325880"/>
            <a:ext cx="484632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Concentration</a:t>
            </a:r>
          </a:p>
        </p:txBody>
      </p:sp>
      <p:sp>
        <p:nvSpPr>
          <p:cNvPr id="13" name="TextBox 12"/>
          <p:cNvSpPr txBox="1"/>
          <p:nvPr/>
        </p:nvSpPr>
        <p:spPr>
          <a:xfrm>
            <a:off x="6839712" y="1645920"/>
            <a:ext cx="4846320" cy="868680"/>
          </a:xfrm>
          <a:prstGeom prst="rect">
            <a:avLst/>
          </a:prstGeom>
          <a:noFill/>
        </p:spPr>
        <p:txBody>
          <a:bodyPr wrap="square" anchor="t" lIns="36576" rIns="36576" tIns="21945" bIns="21945">
            <a:spAutoFit/>
          </a:bodyPr>
          <a:lstStyle/>
          <a:p>
            <a:pPr algn="l">
              <a:spcAft>
                <a:spcPts val="400"/>
              </a:spcAft>
            </a:pPr>
            <a:r>
              <a:rPr sz="1000" b="0" i="0">
                <a:solidFill>
                  <a:srgbClr val="404040"/>
                </a:solidFill>
                <a:latin typeface="Arial"/>
              </a:rPr>
              <a:t>The top five markets (UK, Germany, USA, Netherlands, France) supply 61-63% of overseas arrivals. The Western Cape earns about a quarter of SA foreign spend from a smaller share of arrivals.</a:t>
            </a:r>
          </a:p>
        </p:txBody>
      </p:sp>
      <p:sp>
        <p:nvSpPr>
          <p:cNvPr id="14" name="Rectangle 13"/>
          <p:cNvSpPr/>
          <p:nvPr/>
        </p:nvSpPr>
        <p:spPr>
          <a:xfrm>
            <a:off x="6675120" y="2743200"/>
            <a:ext cx="5120640" cy="1371600"/>
          </a:xfrm>
          <a:prstGeom prst="rect">
            <a:avLst/>
          </a:prstGeom>
          <a:solidFill>
            <a:srgbClr val="F2F2F2"/>
          </a:solidFill>
          <a:ln>
            <a:noFill/>
          </a:ln>
        </p:spPr>
        <p:txBody>
          <a:bodyPr rtlCol="0" anchor="ctr"/>
          <a:lstStyle/>
          <a:p>
            <a:pPr algn="ctr"/>
          </a:p>
        </p:txBody>
      </p:sp>
      <p:sp>
        <p:nvSpPr>
          <p:cNvPr id="15" name="Rectangle 14"/>
          <p:cNvSpPr/>
          <p:nvPr/>
        </p:nvSpPr>
        <p:spPr>
          <a:xfrm>
            <a:off x="6675120" y="2743200"/>
            <a:ext cx="54864" cy="1371600"/>
          </a:xfrm>
          <a:prstGeom prst="rect">
            <a:avLst/>
          </a:prstGeom>
          <a:solidFill>
            <a:srgbClr val="00AEEF"/>
          </a:solidFill>
          <a:ln>
            <a:noFill/>
          </a:ln>
        </p:spPr>
        <p:txBody>
          <a:bodyPr rtlCol="0" anchor="ctr"/>
          <a:lstStyle/>
          <a:p>
            <a:pPr algn="ctr"/>
          </a:p>
        </p:txBody>
      </p:sp>
      <p:sp>
        <p:nvSpPr>
          <p:cNvPr id="16" name="TextBox 15"/>
          <p:cNvSpPr txBox="1"/>
          <p:nvPr/>
        </p:nvSpPr>
        <p:spPr>
          <a:xfrm>
            <a:off x="6839712" y="2834640"/>
            <a:ext cx="484632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Seasonality</a:t>
            </a:r>
          </a:p>
        </p:txBody>
      </p:sp>
      <p:sp>
        <p:nvSpPr>
          <p:cNvPr id="17" name="TextBox 16"/>
          <p:cNvSpPr txBox="1"/>
          <p:nvPr/>
        </p:nvSpPr>
        <p:spPr>
          <a:xfrm>
            <a:off x="6839712" y="3154680"/>
            <a:ext cx="4846320" cy="868680"/>
          </a:xfrm>
          <a:prstGeom prst="rect">
            <a:avLst/>
          </a:prstGeom>
          <a:noFill/>
        </p:spPr>
        <p:txBody>
          <a:bodyPr wrap="square" anchor="t" lIns="36576" rIns="36576" tIns="21945" bIns="21945">
            <a:spAutoFit/>
          </a:bodyPr>
          <a:lstStyle/>
          <a:p>
            <a:pPr algn="l">
              <a:spcAft>
                <a:spcPts val="400"/>
              </a:spcAft>
            </a:pPr>
            <a:r>
              <a:rPr sz="1000" b="0" i="0">
                <a:solidFill>
                  <a:srgbClr val="404040"/>
                </a:solidFill>
                <a:latin typeface="Arial"/>
              </a:rPr>
              <a:t>October to March carries 61% of overseas visitors. International seat capacity falls from 10-11% a month (Nov-Jan) to 6-7% (May-Sep).</a:t>
            </a:r>
          </a:p>
        </p:txBody>
      </p:sp>
      <p:sp>
        <p:nvSpPr>
          <p:cNvPr id="18" name="Rectangle 17"/>
          <p:cNvSpPr/>
          <p:nvPr/>
        </p:nvSpPr>
        <p:spPr>
          <a:xfrm>
            <a:off x="6675120" y="4251960"/>
            <a:ext cx="5120640" cy="1371600"/>
          </a:xfrm>
          <a:prstGeom prst="rect">
            <a:avLst/>
          </a:prstGeom>
          <a:solidFill>
            <a:srgbClr val="F2F2F2"/>
          </a:solidFill>
          <a:ln>
            <a:noFill/>
          </a:ln>
        </p:spPr>
        <p:txBody>
          <a:bodyPr rtlCol="0" anchor="ctr"/>
          <a:lstStyle/>
          <a:p>
            <a:pPr algn="ctr"/>
          </a:p>
        </p:txBody>
      </p:sp>
      <p:sp>
        <p:nvSpPr>
          <p:cNvPr id="19" name="Rectangle 18"/>
          <p:cNvSpPr/>
          <p:nvPr/>
        </p:nvSpPr>
        <p:spPr>
          <a:xfrm>
            <a:off x="6675120" y="4251960"/>
            <a:ext cx="54864" cy="1371600"/>
          </a:xfrm>
          <a:prstGeom prst="rect">
            <a:avLst/>
          </a:prstGeom>
          <a:solidFill>
            <a:srgbClr val="00AEEF"/>
          </a:solidFill>
          <a:ln>
            <a:noFill/>
          </a:ln>
        </p:spPr>
        <p:txBody>
          <a:bodyPr rtlCol="0" anchor="ctr"/>
          <a:lstStyle/>
          <a:p>
            <a:pPr algn="ctr"/>
          </a:p>
        </p:txBody>
      </p:sp>
      <p:sp>
        <p:nvSpPr>
          <p:cNvPr id="20" name="TextBox 19"/>
          <p:cNvSpPr txBox="1"/>
          <p:nvPr/>
        </p:nvSpPr>
        <p:spPr>
          <a:xfrm>
            <a:off x="6839712" y="4343400"/>
            <a:ext cx="484632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Value, not volume</a:t>
            </a:r>
          </a:p>
        </p:txBody>
      </p:sp>
      <p:sp>
        <p:nvSpPr>
          <p:cNvPr id="21" name="TextBox 20"/>
          <p:cNvSpPr txBox="1"/>
          <p:nvPr/>
        </p:nvSpPr>
        <p:spPr>
          <a:xfrm>
            <a:off x="6839712" y="4663440"/>
            <a:ext cx="4846320" cy="868680"/>
          </a:xfrm>
          <a:prstGeom prst="rect">
            <a:avLst/>
          </a:prstGeom>
          <a:noFill/>
        </p:spPr>
        <p:txBody>
          <a:bodyPr wrap="square" anchor="t" lIns="36576" rIns="36576" tIns="21945" bIns="21945">
            <a:spAutoFit/>
          </a:bodyPr>
          <a:lstStyle/>
          <a:p>
            <a:pPr algn="l">
              <a:spcAft>
                <a:spcPts val="400"/>
              </a:spcAft>
            </a:pPr>
            <a:r>
              <a:rPr sz="1000" b="0" i="0">
                <a:solidFill>
                  <a:srgbClr val="404040"/>
                </a:solidFill>
                <a:latin typeface="Arial"/>
              </a:rPr>
              <a:t>Western Cape earns ~US$890 per arrival; Kenya ~US$1,460 from 2.4m arrivals. Arrival growth alone is a weak proxy for economic impact.</a:t>
            </a:r>
          </a:p>
        </p:txBody>
      </p:sp>
      <p:sp>
        <p:nvSpPr>
          <p:cNvPr id="22" name="Rectangle 21"/>
          <p:cNvSpPr/>
          <p:nvPr/>
        </p:nvSpPr>
        <p:spPr>
          <a:xfrm>
            <a:off x="384048" y="5760720"/>
            <a:ext cx="11420856" cy="438912"/>
          </a:xfrm>
          <a:prstGeom prst="rect">
            <a:avLst/>
          </a:prstGeom>
          <a:solidFill>
            <a:srgbClr val="1F497D"/>
          </a:solidFill>
          <a:ln>
            <a:noFill/>
          </a:ln>
        </p:spPr>
        <p:txBody>
          <a:bodyPr rtlCol="0" anchor="ctr"/>
          <a:lstStyle/>
          <a:p>
            <a:pPr algn="ctr"/>
          </a:p>
        </p:txBody>
      </p:sp>
      <p:sp>
        <p:nvSpPr>
          <p:cNvPr id="23" name="TextBox 22"/>
          <p:cNvSpPr txBox="1"/>
          <p:nvPr/>
        </p:nvSpPr>
        <p:spPr>
          <a:xfrm>
            <a:off x="548640" y="5760720"/>
            <a:ext cx="11064240" cy="438912"/>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Implication: the portfolio must protect mature-market volume, raise yield and fill the green season.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Growth markets are real but slow to convert: access, visas and native distribution decide timing</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RESHAPE DEMAND | FINDINGS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Demand-Side Analysis (Letsema/Skift, Jun 2026) pp43-51; MIDAS Aviation, Aviation Market Assessment (Mar 2026) pp24-27; BDO Visa Regime Study (Jul 2024) and CTAA update (Nov 2025) via mobility factbase</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10</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11420856" cy="3401568"/>
        </p:xfrm>
        <a:graphic>
          <a:graphicData uri="http://schemas.openxmlformats.org/drawingml/2006/table">
            <a:tbl>
              <a:tblPr firstRow="1" bandRow="0">
                <a:tableStyleId>{5C22544A-7EE6-4342-B048-85BDC9FD1C3A}</a:tableStyleId>
              </a:tblPr>
              <a:tblGrid>
                <a:gridCol w="1737360"/>
                <a:gridCol w="2514600"/>
                <a:gridCol w="2788920"/>
                <a:gridCol w="2194560"/>
                <a:gridCol w="2185416"/>
              </a:tblGrid>
              <a:tr h="566928">
                <a:tc>
                  <a:txBody>
                    <a:bodyPr wrap="square"/>
                    <a:lstStyle/>
                    <a:p>
                      <a:pPr algn="l"/>
                      <a:r>
                        <a:rPr sz="950" b="1" i="0">
                          <a:solidFill>
                            <a:srgbClr val="FFFFFF"/>
                          </a:solidFill>
                          <a:latin typeface="Arial"/>
                        </a:rPr>
                        <a:t>Market</a:t>
                      </a:r>
                    </a:p>
                  </a:txBody>
                  <a:tcPr marL="54864" marR="54864" marT="27432" marB="27432" anchor="ctr">
                    <a:solidFill>
                      <a:srgbClr val="1F497D"/>
                    </a:solidFill>
                  </a:tcPr>
                </a:tc>
                <a:tc>
                  <a:txBody>
                    <a:bodyPr wrap="square"/>
                    <a:lstStyle/>
                    <a:p>
                      <a:pPr algn="l"/>
                      <a:r>
                        <a:rPr sz="950" b="1" i="0">
                          <a:solidFill>
                            <a:srgbClr val="FFFFFF"/>
                          </a:solidFill>
                          <a:latin typeface="Arial"/>
                        </a:rPr>
                        <a:t>Today</a:t>
                      </a:r>
                    </a:p>
                  </a:txBody>
                  <a:tcPr marL="54864" marR="54864" marT="27432" marB="27432" anchor="ctr">
                    <a:solidFill>
                      <a:srgbClr val="1F497D"/>
                    </a:solidFill>
                  </a:tcPr>
                </a:tc>
                <a:tc>
                  <a:txBody>
                    <a:bodyPr wrap="square"/>
                    <a:lstStyle/>
                    <a:p>
                      <a:pPr algn="l"/>
                      <a:r>
                        <a:rPr sz="950" b="1" i="0">
                          <a:solidFill>
                            <a:srgbClr val="FFFFFF"/>
                          </a:solidFill>
                          <a:latin typeface="Arial"/>
                        </a:rPr>
                        <a:t>Binding barriers</a:t>
                      </a:r>
                    </a:p>
                  </a:txBody>
                  <a:tcPr marL="54864" marR="54864" marT="27432" marB="27432" anchor="ctr">
                    <a:solidFill>
                      <a:srgbClr val="1F497D"/>
                    </a:solidFill>
                  </a:tcPr>
                </a:tc>
                <a:tc>
                  <a:txBody>
                    <a:bodyPr wrap="square"/>
                    <a:lstStyle/>
                    <a:p>
                      <a:pPr algn="l"/>
                      <a:r>
                        <a:rPr sz="950" b="1" i="0">
                          <a:solidFill>
                            <a:srgbClr val="FFFFFF"/>
                          </a:solidFill>
                          <a:latin typeface="Arial"/>
                        </a:rPr>
                        <a:t>Earliest direct air</a:t>
                      </a:r>
                    </a:p>
                  </a:txBody>
                  <a:tcPr marL="54864" marR="54864" marT="27432" marB="27432" anchor="ctr">
                    <a:solidFill>
                      <a:srgbClr val="1F497D"/>
                    </a:solidFill>
                  </a:tcPr>
                </a:tc>
                <a:tc>
                  <a:txBody>
                    <a:bodyPr wrap="square"/>
                    <a:lstStyle/>
                    <a:p>
                      <a:pPr algn="l"/>
                      <a:r>
                        <a:rPr sz="950" b="1" i="0">
                          <a:solidFill>
                            <a:srgbClr val="FFFFFF"/>
                          </a:solidFill>
                          <a:latin typeface="Arial"/>
                        </a:rPr>
                        <a:t>Where travellers book</a:t>
                      </a:r>
                    </a:p>
                  </a:txBody>
                  <a:tcPr marL="54864" marR="54864" marT="27432" marB="27432" anchor="ctr">
                    <a:solidFill>
                      <a:srgbClr val="1F497D"/>
                    </a:solidFill>
                  </a:tcPr>
                </a:tc>
              </a:tr>
              <a:tr h="566928">
                <a:tc>
                  <a:txBody>
                    <a:bodyPr wrap="square"/>
                    <a:lstStyle/>
                    <a:p>
                      <a:pPr algn="l"/>
                      <a:r>
                        <a:rPr sz="950" b="1" i="0">
                          <a:solidFill>
                            <a:srgbClr val="1F497D"/>
                          </a:solidFill>
                          <a:latin typeface="Arial"/>
                        </a:rPr>
                        <a:t>India</a:t>
                      </a:r>
                    </a:p>
                  </a:txBody>
                  <a:tcPr marL="54864" marR="54864" marT="27432" marB="27432" anchor="ctr">
                    <a:solidFill>
                      <a:srgbClr val="FFFFFF"/>
                    </a:solidFill>
                  </a:tcPr>
                </a:tc>
                <a:tc>
                  <a:txBody>
                    <a:bodyPr wrap="square"/>
                    <a:lstStyle/>
                    <a:p>
                      <a:pPr algn="l"/>
                      <a:r>
                        <a:rPr sz="950" b="0" i="0">
                          <a:solidFill>
                            <a:srgbClr val="404040"/>
                          </a:solidFill>
                          <a:latin typeface="Arial"/>
                        </a:rPr>
                        <a:t>~71,000 travel to Cape Town indirectly; ~250,000 to SA</a:t>
                      </a:r>
                    </a:p>
                  </a:txBody>
                  <a:tcPr marL="54864" marR="54864" marT="27432" marB="27432" anchor="ctr">
                    <a:solidFill>
                      <a:srgbClr val="FFFFFF"/>
                    </a:solidFill>
                  </a:tcPr>
                </a:tc>
                <a:tc>
                  <a:txBody>
                    <a:bodyPr wrap="square"/>
                    <a:lstStyle/>
                    <a:p>
                      <a:pPr algn="l"/>
                      <a:r>
                        <a:rPr sz="950" b="0" i="0">
                          <a:solidFill>
                            <a:srgbClr val="404040"/>
                          </a:solidFill>
                          <a:latin typeface="Arial"/>
                        </a:rPr>
                        <a:t>No direct flight; visa; awareness beyond Cape Town imagery</a:t>
                      </a:r>
                    </a:p>
                  </a:txBody>
                  <a:tcPr marL="54864" marR="54864" marT="27432" marB="27432" anchor="ctr">
                    <a:solidFill>
                      <a:srgbClr val="FFFFFF"/>
                    </a:solidFill>
                  </a:tcPr>
                </a:tc>
                <a:tc>
                  <a:txBody>
                    <a:bodyPr wrap="square"/>
                    <a:lstStyle/>
                    <a:p>
                      <a:pPr algn="l"/>
                      <a:r>
                        <a:rPr sz="950" b="0" i="0">
                          <a:solidFill>
                            <a:srgbClr val="404040"/>
                          </a:solidFill>
                          <a:latin typeface="Arial"/>
                        </a:rPr>
                        <a:t>Not before 2030 (Air India, IndiGo fleets)</a:t>
                      </a:r>
                    </a:p>
                  </a:txBody>
                  <a:tcPr marL="54864" marR="54864" marT="27432" marB="27432" anchor="ctr">
                    <a:solidFill>
                      <a:srgbClr val="FFFFFF"/>
                    </a:solidFill>
                  </a:tcPr>
                </a:tc>
                <a:tc>
                  <a:txBody>
                    <a:bodyPr wrap="square"/>
                    <a:lstStyle/>
                    <a:p>
                      <a:pPr algn="l"/>
                      <a:r>
                        <a:rPr sz="950" b="0" i="0">
                          <a:solidFill>
                            <a:srgbClr val="404040"/>
                          </a:solidFill>
                          <a:latin typeface="Arial"/>
                        </a:rPr>
                        <a:t>MakeMyTrip, Booking.com, Expedia</a:t>
                      </a:r>
                    </a:p>
                  </a:txBody>
                  <a:tcPr marL="54864" marR="54864" marT="27432" marB="27432" anchor="ctr">
                    <a:solidFill>
                      <a:srgbClr val="FFFFFF"/>
                    </a:solidFill>
                  </a:tcPr>
                </a:tc>
              </a:tr>
              <a:tr h="566928">
                <a:tc>
                  <a:txBody>
                    <a:bodyPr wrap="square"/>
                    <a:lstStyle/>
                    <a:p>
                      <a:pPr algn="l"/>
                      <a:r>
                        <a:rPr sz="950" b="1" i="0">
                          <a:solidFill>
                            <a:srgbClr val="1F497D"/>
                          </a:solidFill>
                          <a:latin typeface="Arial"/>
                        </a:rPr>
                        <a:t>China</a:t>
                      </a:r>
                    </a:p>
                  </a:txBody>
                  <a:tcPr marL="54864" marR="54864" marT="27432" marB="27432" anchor="ctr">
                    <a:solidFill>
                      <a:srgbClr val="F2F2F2"/>
                    </a:solidFill>
                  </a:tcPr>
                </a:tc>
                <a:tc>
                  <a:txBody>
                    <a:bodyPr wrap="square"/>
                    <a:lstStyle/>
                    <a:p>
                      <a:pPr algn="l"/>
                      <a:r>
                        <a:rPr sz="950" b="0" i="0">
                          <a:solidFill>
                            <a:srgbClr val="404040"/>
                          </a:solidFill>
                          <a:latin typeface="Arial"/>
                        </a:rPr>
                        <a:t>~30,000 indirect; CPT at 55% of 2019</a:t>
                      </a:r>
                    </a:p>
                  </a:txBody>
                  <a:tcPr marL="54864" marR="54864" marT="27432" marB="27432" anchor="ctr">
                    <a:solidFill>
                      <a:srgbClr val="F2F2F2"/>
                    </a:solidFill>
                  </a:tcPr>
                </a:tc>
                <a:tc>
                  <a:txBody>
                    <a:bodyPr wrap="square"/>
                    <a:lstStyle/>
                    <a:p>
                      <a:pPr algn="l"/>
                      <a:r>
                        <a:rPr sz="950" b="0" i="0">
                          <a:solidFill>
                            <a:srgbClr val="404040"/>
                          </a:solidFill>
                          <a:latin typeface="Arial"/>
                        </a:rPr>
                        <a:t>Visa; safety perception; Mandarin and payments readiness</a:t>
                      </a:r>
                    </a:p>
                  </a:txBody>
                  <a:tcPr marL="54864" marR="54864" marT="27432" marB="27432" anchor="ctr">
                    <a:solidFill>
                      <a:srgbClr val="F2F2F2"/>
                    </a:solidFill>
                  </a:tcPr>
                </a:tc>
                <a:tc>
                  <a:txBody>
                    <a:bodyPr wrap="square"/>
                    <a:lstStyle/>
                    <a:p>
                      <a:pPr algn="l"/>
                      <a:r>
                        <a:rPr sz="950" b="0" i="0">
                          <a:solidFill>
                            <a:srgbClr val="404040"/>
                          </a:solidFill>
                          <a:latin typeface="Arial"/>
                        </a:rPr>
                        <a:t>Long-term; government-to-government route</a:t>
                      </a:r>
                    </a:p>
                  </a:txBody>
                  <a:tcPr marL="54864" marR="54864" marT="27432" marB="27432" anchor="ctr">
                    <a:solidFill>
                      <a:srgbClr val="F2F2F2"/>
                    </a:solidFill>
                  </a:tcPr>
                </a:tc>
                <a:tc>
                  <a:txBody>
                    <a:bodyPr wrap="square"/>
                    <a:lstStyle/>
                    <a:p>
                      <a:pPr algn="l"/>
                      <a:r>
                        <a:rPr sz="950" b="0" i="0">
                          <a:solidFill>
                            <a:srgbClr val="404040"/>
                          </a:solidFill>
                          <a:latin typeface="Arial"/>
                        </a:rPr>
                        <a:t>Trip.com, Qunar, Fliggy, Xiaohongshu</a:t>
                      </a:r>
                    </a:p>
                  </a:txBody>
                  <a:tcPr marL="54864" marR="54864" marT="27432" marB="27432" anchor="ctr">
                    <a:solidFill>
                      <a:srgbClr val="F2F2F2"/>
                    </a:solidFill>
                  </a:tcPr>
                </a:tc>
              </a:tr>
              <a:tr h="566928">
                <a:tc>
                  <a:txBody>
                    <a:bodyPr wrap="square"/>
                    <a:lstStyle/>
                    <a:p>
                      <a:pPr algn="l"/>
                      <a:r>
                        <a:rPr sz="950" b="1" i="0">
                          <a:solidFill>
                            <a:srgbClr val="1F497D"/>
                          </a:solidFill>
                          <a:latin typeface="Arial"/>
                        </a:rPr>
                        <a:t>Gulf / Middle East</a:t>
                      </a:r>
                    </a:p>
                  </a:txBody>
                  <a:tcPr marL="54864" marR="54864" marT="27432" marB="27432" anchor="ctr">
                    <a:solidFill>
                      <a:srgbClr val="FFFFFF"/>
                    </a:solidFill>
                  </a:tcPr>
                </a:tc>
                <a:tc>
                  <a:txBody>
                    <a:bodyPr wrap="square"/>
                    <a:lstStyle/>
                    <a:p>
                      <a:pPr algn="l"/>
                      <a:r>
                        <a:rPr sz="950" b="0" i="0">
                          <a:solidFill>
                            <a:srgbClr val="404040"/>
                          </a:solidFill>
                          <a:latin typeface="Arial"/>
                        </a:rPr>
                        <a:t>DXB and DOH carry ~349,000 CPT passengers</a:t>
                      </a:r>
                    </a:p>
                  </a:txBody>
                  <a:tcPr marL="54864" marR="54864" marT="27432" marB="27432" anchor="ctr">
                    <a:solidFill>
                      <a:srgbClr val="FFFFFF"/>
                    </a:solidFill>
                  </a:tcPr>
                </a:tc>
                <a:tc>
                  <a:txBody>
                    <a:bodyPr wrap="square"/>
                    <a:lstStyle/>
                    <a:p>
                      <a:pPr algn="l"/>
                      <a:r>
                        <a:rPr sz="950" b="0" i="0">
                          <a:solidFill>
                            <a:srgbClr val="404040"/>
                          </a:solidFill>
                          <a:latin typeface="Arial"/>
                        </a:rPr>
                        <a:t>Slow visas; peak pricing; no Arabic booking platforms</a:t>
                      </a:r>
                    </a:p>
                  </a:txBody>
                  <a:tcPr marL="54864" marR="54864" marT="27432" marB="27432" anchor="ctr">
                    <a:solidFill>
                      <a:srgbClr val="FFFFFF"/>
                    </a:solidFill>
                  </a:tcPr>
                </a:tc>
                <a:tc>
                  <a:txBody>
                    <a:bodyPr wrap="square"/>
                    <a:lstStyle/>
                    <a:p>
                      <a:pPr algn="l"/>
                      <a:r>
                        <a:rPr sz="950" b="0" i="0">
                          <a:solidFill>
                            <a:srgbClr val="404040"/>
                          </a:solidFill>
                          <a:latin typeface="Arial"/>
                        </a:rPr>
                        <a:t>In place; Riyadh Air an emerging option</a:t>
                      </a:r>
                    </a:p>
                  </a:txBody>
                  <a:tcPr marL="54864" marR="54864" marT="27432" marB="27432" anchor="ctr">
                    <a:solidFill>
                      <a:srgbClr val="FFFFFF"/>
                    </a:solidFill>
                  </a:tcPr>
                </a:tc>
                <a:tc>
                  <a:txBody>
                    <a:bodyPr wrap="square"/>
                    <a:lstStyle/>
                    <a:p>
                      <a:pPr algn="l"/>
                      <a:r>
                        <a:rPr sz="950" b="0" i="0">
                          <a:solidFill>
                            <a:srgbClr val="404040"/>
                          </a:solidFill>
                          <a:latin typeface="Arial"/>
                        </a:rPr>
                        <a:t>Almosafer, Wego, Cleartrip, agents</a:t>
                      </a:r>
                    </a:p>
                  </a:txBody>
                  <a:tcPr marL="54864" marR="54864" marT="27432" marB="27432" anchor="ctr">
                    <a:solidFill>
                      <a:srgbClr val="FFFFFF"/>
                    </a:solidFill>
                  </a:tcPr>
                </a:tc>
              </a:tr>
              <a:tr h="566928">
                <a:tc>
                  <a:txBody>
                    <a:bodyPr wrap="square"/>
                    <a:lstStyle/>
                    <a:p>
                      <a:pPr algn="l"/>
                      <a:r>
                        <a:rPr sz="950" b="1" i="0">
                          <a:solidFill>
                            <a:srgbClr val="1F497D"/>
                          </a:solidFill>
                          <a:latin typeface="Arial"/>
                        </a:rPr>
                        <a:t>Africa (Nigeria, Kenya, Ghana)</a:t>
                      </a:r>
                    </a:p>
                  </a:txBody>
                  <a:tcPr marL="54864" marR="54864" marT="27432" marB="27432" anchor="ctr">
                    <a:solidFill>
                      <a:srgbClr val="F2F2F2"/>
                    </a:solidFill>
                  </a:tcPr>
                </a:tc>
                <a:tc>
                  <a:txBody>
                    <a:bodyPr wrap="square"/>
                    <a:lstStyle/>
                    <a:p>
                      <a:pPr algn="l"/>
                      <a:r>
                        <a:rPr sz="950" b="0" i="0">
                          <a:solidFill>
                            <a:srgbClr val="404040"/>
                          </a:solidFill>
                          <a:latin typeface="Arial"/>
                        </a:rPr>
                        <a:t>Nigeria and Ghana spend R27,700-R31,000 per visitor</a:t>
                      </a:r>
                    </a:p>
                  </a:txBody>
                  <a:tcPr marL="54864" marR="54864" marT="27432" marB="27432" anchor="ctr">
                    <a:solidFill>
                      <a:srgbClr val="F2F2F2"/>
                    </a:solidFill>
                  </a:tcPr>
                </a:tc>
                <a:tc>
                  <a:txBody>
                    <a:bodyPr wrap="square"/>
                    <a:lstStyle/>
                    <a:p>
                      <a:pPr algn="l"/>
                      <a:r>
                        <a:rPr sz="950" b="0" i="0">
                          <a:solidFill>
                            <a:srgbClr val="404040"/>
                          </a:solidFill>
                          <a:latin typeface="Arial"/>
                        </a:rPr>
                        <a:t>Visas, fares and budget sensitivity</a:t>
                      </a:r>
                    </a:p>
                  </a:txBody>
                  <a:tcPr marL="54864" marR="54864" marT="27432" marB="27432" anchor="ctr">
                    <a:solidFill>
                      <a:srgbClr val="F2F2F2"/>
                    </a:solidFill>
                  </a:tcPr>
                </a:tc>
                <a:tc>
                  <a:txBody>
                    <a:bodyPr wrap="square"/>
                    <a:lstStyle/>
                    <a:p>
                      <a:pPr algn="l"/>
                      <a:r>
                        <a:rPr sz="950" b="0" i="0">
                          <a:solidFill>
                            <a:srgbClr val="404040"/>
                          </a:solidFill>
                          <a:latin typeface="Arial"/>
                        </a:rPr>
                        <a:t>Hub-based; capacity to Kenya growing</a:t>
                      </a:r>
                    </a:p>
                  </a:txBody>
                  <a:tcPr marL="54864" marR="54864" marT="27432" marB="27432" anchor="ctr">
                    <a:solidFill>
                      <a:srgbClr val="F2F2F2"/>
                    </a:solidFill>
                  </a:tcPr>
                </a:tc>
                <a:tc>
                  <a:txBody>
                    <a:bodyPr wrap="square"/>
                    <a:lstStyle/>
                    <a:p>
                      <a:pPr algn="l"/>
                      <a:r>
                        <a:rPr sz="950" b="0" i="0">
                          <a:solidFill>
                            <a:srgbClr val="404040"/>
                          </a:solidFill>
                          <a:latin typeface="Arial"/>
                        </a:rPr>
                        <a:t>Search, social, OTAs</a:t>
                      </a:r>
                    </a:p>
                  </a:txBody>
                  <a:tcPr marL="54864" marR="54864" marT="27432" marB="27432" anchor="ctr">
                    <a:solidFill>
                      <a:srgbClr val="F2F2F2"/>
                    </a:solidFill>
                  </a:tcPr>
                </a:tc>
              </a:tr>
              <a:tr h="566928">
                <a:tc>
                  <a:txBody>
                    <a:bodyPr wrap="square"/>
                    <a:lstStyle/>
                    <a:p>
                      <a:pPr algn="l"/>
                      <a:r>
                        <a:rPr sz="950" b="1" i="0">
                          <a:solidFill>
                            <a:srgbClr val="1F497D"/>
                          </a:solidFill>
                          <a:latin typeface="Arial"/>
                        </a:rPr>
                        <a:t>ASEAN, Brazil</a:t>
                      </a:r>
                    </a:p>
                  </a:txBody>
                  <a:tcPr marL="54864" marR="54864" marT="27432" marB="27432" anchor="ctr">
                    <a:solidFill>
                      <a:srgbClr val="FFFFFF"/>
                    </a:solidFill>
                  </a:tcPr>
                </a:tc>
                <a:tc>
                  <a:txBody>
                    <a:bodyPr wrap="square"/>
                    <a:lstStyle/>
                    <a:p>
                      <a:pPr algn="l"/>
                      <a:r>
                        <a:rPr sz="950" b="0" i="0">
                          <a:solidFill>
                            <a:srgbClr val="404040"/>
                          </a:solidFill>
                          <a:latin typeface="Arial"/>
                        </a:rPr>
                        <a:t>Named priority markets</a:t>
                      </a:r>
                    </a:p>
                  </a:txBody>
                  <a:tcPr marL="54864" marR="54864" marT="27432" marB="27432" anchor="ctr">
                    <a:solidFill>
                      <a:srgbClr val="FFFFFF"/>
                    </a:solidFill>
                  </a:tcPr>
                </a:tc>
                <a:tc>
                  <a:txBody>
                    <a:bodyPr wrap="square"/>
                    <a:lstStyle/>
                    <a:p>
                      <a:pPr algn="l"/>
                      <a:r>
                        <a:rPr sz="950" b="0" i="0">
                          <a:solidFill>
                            <a:srgbClr val="404040"/>
                          </a:solidFill>
                          <a:latin typeface="Arial"/>
                        </a:rPr>
                        <a:t>Not analysed in any deliverable</a:t>
                      </a:r>
                    </a:p>
                  </a:txBody>
                  <a:tcPr marL="54864" marR="54864" marT="27432" marB="27432" anchor="ctr">
                    <a:solidFill>
                      <a:srgbClr val="FFFFFF"/>
                    </a:solidFill>
                  </a:tcPr>
                </a:tc>
                <a:tc>
                  <a:txBody>
                    <a:bodyPr wrap="square"/>
                    <a:lstStyle/>
                    <a:p>
                      <a:pPr algn="l"/>
                      <a:r>
                        <a:rPr sz="950" b="0" i="0">
                          <a:solidFill>
                            <a:srgbClr val="404040"/>
                          </a:solidFill>
                          <a:latin typeface="Arial"/>
                        </a:rPr>
                        <a:t>n/a</a:t>
                      </a:r>
                    </a:p>
                  </a:txBody>
                  <a:tcPr marL="54864" marR="54864" marT="27432" marB="27432" anchor="ctr">
                    <a:solidFill>
                      <a:srgbClr val="FFFFFF"/>
                    </a:solidFill>
                  </a:tcPr>
                </a:tc>
                <a:tc>
                  <a:txBody>
                    <a:bodyPr wrap="square"/>
                    <a:lstStyle/>
                    <a:p>
                      <a:pPr algn="l"/>
                      <a:r>
                        <a:rPr sz="950" b="0" i="0">
                          <a:solidFill>
                            <a:srgbClr val="404040"/>
                          </a:solidFill>
                          <a:latin typeface="Arial"/>
                        </a:rPr>
                        <a:t>n/a</a:t>
                      </a:r>
                    </a:p>
                  </a:txBody>
                  <a:tcPr marL="54864" marR="54864" marT="27432" marB="27432" anchor="ctr">
                    <a:solidFill>
                      <a:srgbClr val="FFFFFF"/>
                    </a:solidFill>
                  </a:tcPr>
                </a:tc>
              </a:tr>
            </a:tbl>
          </a:graphicData>
        </a:graphic>
      </p:graphicFrame>
      <p:sp>
        <p:nvSpPr>
          <p:cNvPr id="9" name="Rectangle 8"/>
          <p:cNvSpPr/>
          <p:nvPr/>
        </p:nvSpPr>
        <p:spPr>
          <a:xfrm>
            <a:off x="384048" y="4937760"/>
            <a:ext cx="3703320" cy="960120"/>
          </a:xfrm>
          <a:prstGeom prst="rect">
            <a:avLst/>
          </a:prstGeom>
          <a:solidFill>
            <a:srgbClr val="DCEEF7"/>
          </a:solidFill>
          <a:ln>
            <a:noFill/>
          </a:ln>
        </p:spPr>
        <p:txBody>
          <a:bodyPr rtlCol="0" anchor="ctr"/>
          <a:lstStyle/>
          <a:p>
            <a:pPr algn="ctr"/>
          </a:p>
        </p:txBody>
      </p:sp>
      <p:sp>
        <p:nvSpPr>
          <p:cNvPr id="10" name="TextBox 9"/>
          <p:cNvSpPr txBox="1"/>
          <p:nvPr/>
        </p:nvSpPr>
        <p:spPr>
          <a:xfrm>
            <a:off x="493776" y="5010912"/>
            <a:ext cx="3483863" cy="480060"/>
          </a:xfrm>
          <a:prstGeom prst="rect">
            <a:avLst/>
          </a:prstGeom>
          <a:noFill/>
        </p:spPr>
        <p:txBody>
          <a:bodyPr wrap="square" anchor="b" lIns="36576" rIns="36576" tIns="21945" bIns="21945">
            <a:spAutoFit/>
          </a:bodyPr>
          <a:lstStyle/>
          <a:p>
            <a:pPr algn="l">
              <a:spcAft>
                <a:spcPts val="0"/>
              </a:spcAft>
            </a:pPr>
            <a:r>
              <a:rPr sz="2000" b="1" i="0">
                <a:solidFill>
                  <a:srgbClr val="1F497D"/>
                </a:solidFill>
                <a:latin typeface="Arial"/>
              </a:rPr>
              <a:t>440 of 13,887</a:t>
            </a:r>
          </a:p>
        </p:txBody>
      </p:sp>
      <p:sp>
        <p:nvSpPr>
          <p:cNvPr id="11" name="TextBox 10"/>
          <p:cNvSpPr txBox="1"/>
          <p:nvPr/>
        </p:nvSpPr>
        <p:spPr>
          <a:xfrm>
            <a:off x="493776" y="5465826"/>
            <a:ext cx="3483863" cy="412851"/>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first-year eVisa applications approved</a:t>
            </a:r>
          </a:p>
        </p:txBody>
      </p:sp>
      <p:sp>
        <p:nvSpPr>
          <p:cNvPr id="12" name="Rectangle 11"/>
          <p:cNvSpPr/>
          <p:nvPr/>
        </p:nvSpPr>
        <p:spPr>
          <a:xfrm>
            <a:off x="4242816" y="4937760"/>
            <a:ext cx="3703320" cy="960120"/>
          </a:xfrm>
          <a:prstGeom prst="rect">
            <a:avLst/>
          </a:prstGeom>
          <a:solidFill>
            <a:srgbClr val="DCEEF7"/>
          </a:solidFill>
          <a:ln>
            <a:noFill/>
          </a:ln>
        </p:spPr>
        <p:txBody>
          <a:bodyPr rtlCol="0" anchor="ctr"/>
          <a:lstStyle/>
          <a:p>
            <a:pPr algn="ctr"/>
          </a:p>
        </p:txBody>
      </p:sp>
      <p:sp>
        <p:nvSpPr>
          <p:cNvPr id="13" name="TextBox 12"/>
          <p:cNvSpPr txBox="1"/>
          <p:nvPr/>
        </p:nvSpPr>
        <p:spPr>
          <a:xfrm>
            <a:off x="4352544" y="5010912"/>
            <a:ext cx="3483863" cy="480060"/>
          </a:xfrm>
          <a:prstGeom prst="rect">
            <a:avLst/>
          </a:prstGeom>
          <a:noFill/>
        </p:spPr>
        <p:txBody>
          <a:bodyPr wrap="square" anchor="b" lIns="36576" rIns="36576" tIns="21945" bIns="21945">
            <a:spAutoFit/>
          </a:bodyPr>
          <a:lstStyle/>
          <a:p>
            <a:pPr algn="l">
              <a:spcAft>
                <a:spcPts val="0"/>
              </a:spcAft>
            </a:pPr>
            <a:r>
              <a:rPr sz="2000" b="1" i="0">
                <a:solidFill>
                  <a:srgbClr val="1F497D"/>
                </a:solidFill>
                <a:latin typeface="Arial"/>
              </a:rPr>
              <a:t>+505,000</a:t>
            </a:r>
          </a:p>
        </p:txBody>
      </p:sp>
      <p:sp>
        <p:nvSpPr>
          <p:cNvPr id="14" name="TextBox 13"/>
          <p:cNvSpPr txBox="1"/>
          <p:nvPr/>
        </p:nvSpPr>
        <p:spPr>
          <a:xfrm>
            <a:off x="4352544" y="5465826"/>
            <a:ext cx="3483863" cy="412851"/>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modelled additional SA tourists in 2030 from a China, India and Nigeria visa exemption (BDO)</a:t>
            </a:r>
          </a:p>
        </p:txBody>
      </p:sp>
      <p:sp>
        <p:nvSpPr>
          <p:cNvPr id="15" name="Rectangle 14"/>
          <p:cNvSpPr/>
          <p:nvPr/>
        </p:nvSpPr>
        <p:spPr>
          <a:xfrm>
            <a:off x="8101583" y="4937760"/>
            <a:ext cx="3703320" cy="960120"/>
          </a:xfrm>
          <a:prstGeom prst="rect">
            <a:avLst/>
          </a:prstGeom>
          <a:solidFill>
            <a:srgbClr val="DCEEF7"/>
          </a:solidFill>
          <a:ln>
            <a:noFill/>
          </a:ln>
        </p:spPr>
        <p:txBody>
          <a:bodyPr rtlCol="0" anchor="ctr"/>
          <a:lstStyle/>
          <a:p>
            <a:pPr algn="ctr"/>
          </a:p>
        </p:txBody>
      </p:sp>
      <p:sp>
        <p:nvSpPr>
          <p:cNvPr id="16" name="TextBox 15"/>
          <p:cNvSpPr txBox="1"/>
          <p:nvPr/>
        </p:nvSpPr>
        <p:spPr>
          <a:xfrm>
            <a:off x="8211311" y="5010912"/>
            <a:ext cx="3483863" cy="480060"/>
          </a:xfrm>
          <a:prstGeom prst="rect">
            <a:avLst/>
          </a:prstGeom>
          <a:noFill/>
        </p:spPr>
        <p:txBody>
          <a:bodyPr wrap="square" anchor="b" lIns="36576" rIns="36576" tIns="21945" bIns="21945">
            <a:spAutoFit/>
          </a:bodyPr>
          <a:lstStyle/>
          <a:p>
            <a:pPr algn="l">
              <a:spcAft>
                <a:spcPts val="0"/>
              </a:spcAft>
            </a:pPr>
            <a:r>
              <a:rPr sz="2000" b="1" i="0">
                <a:solidFill>
                  <a:srgbClr val="1F497D"/>
                </a:solidFill>
                <a:latin typeface="Arial"/>
              </a:rPr>
              <a:t>Not before 2030</a:t>
            </a:r>
          </a:p>
        </p:txBody>
      </p:sp>
      <p:sp>
        <p:nvSpPr>
          <p:cNvPr id="17" name="TextBox 16"/>
          <p:cNvSpPr txBox="1"/>
          <p:nvPr/>
        </p:nvSpPr>
        <p:spPr>
          <a:xfrm>
            <a:off x="8211311" y="5465826"/>
            <a:ext cx="3483863" cy="412851"/>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realistic window for a direct India service to Cape Town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Demand-side levers hold, but segment and brand claims rest on thin evidence</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RESHAPE DEMAND | VERDICT</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Demand-Side Analysis (Letsema/Skift, Jun 2026); Current State Diagnostic v2 (Dec 2025); Stakeholder Insights Report (Mar 2026); MIDAS Aviation, Aviation Market Assessment (Mar 2026)</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11</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84048" y="1097280"/>
            <a:ext cx="11420856" cy="274320"/>
          </a:xfrm>
          <a:prstGeom prst="rect">
            <a:avLst/>
          </a:prstGeom>
          <a:solidFill>
            <a:srgbClr val="1F497D"/>
          </a:solidFill>
          <a:ln>
            <a:noFill/>
          </a:ln>
        </p:spPr>
        <p:txBody>
          <a:bodyPr rtlCol="0" anchor="ctr"/>
          <a:lstStyle/>
          <a:p>
            <a:pPr algn="ctr"/>
          </a:p>
        </p:txBody>
      </p:sp>
      <p:sp>
        <p:nvSpPr>
          <p:cNvPr id="9" name="TextBox 8"/>
          <p:cNvSpPr txBox="1"/>
          <p:nvPr/>
        </p:nvSpPr>
        <p:spPr>
          <a:xfrm>
            <a:off x="420623" y="1097280"/>
            <a:ext cx="245973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Focus area (v4 tree)</a:t>
            </a:r>
          </a:p>
        </p:txBody>
      </p:sp>
      <p:sp>
        <p:nvSpPr>
          <p:cNvPr id="10" name="TextBox 9"/>
          <p:cNvSpPr txBox="1"/>
          <p:nvPr/>
        </p:nvSpPr>
        <p:spPr>
          <a:xfrm>
            <a:off x="2935224" y="1097280"/>
            <a:ext cx="72237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Team marker</a:t>
            </a:r>
          </a:p>
        </p:txBody>
      </p:sp>
      <p:sp>
        <p:nvSpPr>
          <p:cNvPr id="11" name="TextBox 10"/>
          <p:cNvSpPr txBox="1"/>
          <p:nvPr/>
        </p:nvSpPr>
        <p:spPr>
          <a:xfrm>
            <a:off x="3712463" y="1097280"/>
            <a:ext cx="1243584"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Our verdict</a:t>
            </a:r>
          </a:p>
        </p:txBody>
      </p:sp>
      <p:sp>
        <p:nvSpPr>
          <p:cNvPr id="12" name="TextBox 11"/>
          <p:cNvSpPr txBox="1"/>
          <p:nvPr/>
        </p:nvSpPr>
        <p:spPr>
          <a:xfrm>
            <a:off x="5010912" y="1097280"/>
            <a:ext cx="694944"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Evidence</a:t>
            </a:r>
          </a:p>
        </p:txBody>
      </p:sp>
      <p:sp>
        <p:nvSpPr>
          <p:cNvPr id="13" name="TextBox 12"/>
          <p:cNvSpPr txBox="1"/>
          <p:nvPr/>
        </p:nvSpPr>
        <p:spPr>
          <a:xfrm>
            <a:off x="5760720" y="1097280"/>
            <a:ext cx="319125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What the evidence shows</a:t>
            </a:r>
          </a:p>
        </p:txBody>
      </p:sp>
      <p:sp>
        <p:nvSpPr>
          <p:cNvPr id="14" name="TextBox 13"/>
          <p:cNvSpPr txBox="1"/>
          <p:nvPr/>
        </p:nvSpPr>
        <p:spPr>
          <a:xfrm>
            <a:off x="9006839" y="1097280"/>
            <a:ext cx="277977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So what</a:t>
            </a:r>
          </a:p>
        </p:txBody>
      </p:sp>
      <p:sp>
        <p:nvSpPr>
          <p:cNvPr id="15" name="TextBox 14"/>
          <p:cNvSpPr txBox="1"/>
          <p:nvPr/>
        </p:nvSpPr>
        <p:spPr>
          <a:xfrm>
            <a:off x="384048" y="1408176"/>
            <a:ext cx="11420856" cy="219456"/>
          </a:xfrm>
          <a:prstGeom prst="rect">
            <a:avLst/>
          </a:prstGeom>
          <a:noFill/>
        </p:spPr>
        <p:txBody>
          <a:bodyPr wrap="square" anchor="ctr" lIns="36576" rIns="36576" tIns="21945" bIns="21945">
            <a:spAutoFit/>
          </a:bodyPr>
          <a:lstStyle/>
          <a:p>
            <a:pPr algn="l">
              <a:spcAft>
                <a:spcPts val="0"/>
              </a:spcAft>
            </a:pPr>
            <a:r>
              <a:rPr sz="800" b="1" i="0">
                <a:solidFill>
                  <a:srgbClr val="00AEEF"/>
                </a:solidFill>
                <a:latin typeface="Arial"/>
              </a:rPr>
              <a:t>TRAVELLER, BRAND AND PROPOSITION</a:t>
            </a:r>
          </a:p>
        </p:txBody>
      </p:sp>
      <p:sp>
        <p:nvSpPr>
          <p:cNvPr id="16" name="TextBox 15"/>
          <p:cNvSpPr txBox="1"/>
          <p:nvPr/>
        </p:nvSpPr>
        <p:spPr>
          <a:xfrm>
            <a:off x="402336" y="1636776"/>
            <a:ext cx="2459736" cy="566928"/>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1a  </a:t>
            </a:r>
            <a:r>
              <a:rPr sz="950" b="1" i="0">
                <a:solidFill>
                  <a:srgbClr val="1F497D"/>
                </a:solidFill>
                <a:latin typeface="Arial"/>
              </a:rPr>
              <a:t>Target the four priority high-value traveller segments</a:t>
            </a:r>
          </a:p>
        </p:txBody>
      </p:sp>
      <p:sp>
        <p:nvSpPr>
          <p:cNvPr id="17" name="Oval 16"/>
          <p:cNvSpPr/>
          <p:nvPr/>
        </p:nvSpPr>
        <p:spPr>
          <a:xfrm>
            <a:off x="2944368" y="1874520"/>
            <a:ext cx="91440" cy="91440"/>
          </a:xfrm>
          <a:prstGeom prst="ellipse">
            <a:avLst/>
          </a:prstGeom>
          <a:solidFill>
            <a:srgbClr val="E97132"/>
          </a:solidFill>
          <a:ln>
            <a:noFill/>
          </a:ln>
        </p:spPr>
        <p:txBody>
          <a:bodyPr rtlCol="0" anchor="ctr"/>
          <a:lstStyle/>
          <a:p>
            <a:pPr algn="ctr"/>
          </a:p>
        </p:txBody>
      </p:sp>
      <p:sp>
        <p:nvSpPr>
          <p:cNvPr id="18" name="TextBox 17"/>
          <p:cNvSpPr txBox="1"/>
          <p:nvPr/>
        </p:nvSpPr>
        <p:spPr>
          <a:xfrm>
            <a:off x="3063240" y="1636776"/>
            <a:ext cx="594359" cy="566928"/>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Refined</a:t>
            </a:r>
          </a:p>
        </p:txBody>
      </p:sp>
      <p:sp>
        <p:nvSpPr>
          <p:cNvPr id="19" name="Rounded Rectangle 18"/>
          <p:cNvSpPr/>
          <p:nvPr/>
        </p:nvSpPr>
        <p:spPr>
          <a:xfrm>
            <a:off x="3703320" y="1801368"/>
            <a:ext cx="1207008" cy="237744"/>
          </a:xfrm>
          <a:prstGeom prst="roundRect">
            <a:avLst>
              <a:gd name="adj" fmla="val 50000"/>
            </a:avLst>
          </a:prstGeom>
          <a:solidFill>
            <a:srgbClr val="F2A900"/>
          </a:solidFill>
          <a:ln>
            <a:noFill/>
          </a:ln>
        </p:spPr>
        <p:txBody>
          <a:bodyPr rtlCol="0" anchor="ctr" lIns="27432" rIns="27432" tIns="0" bIns="0"/>
          <a:lstStyle/>
          <a:p>
            <a:pPr algn="ctr"/>
            <a:r>
              <a:rPr sz="750" b="1" i="0">
                <a:solidFill>
                  <a:srgbClr val="262626"/>
                </a:solidFill>
                <a:latin typeface="Arial"/>
              </a:rPr>
              <a:t>PARTLY SUPPORTED</a:t>
            </a:r>
          </a:p>
        </p:txBody>
      </p:sp>
      <p:sp>
        <p:nvSpPr>
          <p:cNvPr id="20" name="Oval 19"/>
          <p:cNvSpPr/>
          <p:nvPr/>
        </p:nvSpPr>
        <p:spPr>
          <a:xfrm>
            <a:off x="5047488" y="1869948"/>
            <a:ext cx="100584" cy="100584"/>
          </a:xfrm>
          <a:prstGeom prst="ellipse">
            <a:avLst/>
          </a:prstGeom>
          <a:solidFill>
            <a:srgbClr val="1F497D"/>
          </a:solidFill>
          <a:ln w="9525">
            <a:solidFill>
              <a:srgbClr val="1F497D"/>
            </a:solidFill>
          </a:ln>
        </p:spPr>
        <p:txBody>
          <a:bodyPr rtlCol="0" anchor="ctr"/>
          <a:lstStyle/>
          <a:p>
            <a:pPr algn="ctr"/>
          </a:p>
        </p:txBody>
      </p:sp>
      <p:sp>
        <p:nvSpPr>
          <p:cNvPr id="21" name="Oval 20"/>
          <p:cNvSpPr/>
          <p:nvPr/>
        </p:nvSpPr>
        <p:spPr>
          <a:xfrm>
            <a:off x="5184648" y="1869948"/>
            <a:ext cx="100584" cy="100584"/>
          </a:xfrm>
          <a:prstGeom prst="ellipse">
            <a:avLst/>
          </a:prstGeom>
          <a:solidFill>
            <a:srgbClr val="FFFFFF"/>
          </a:solidFill>
          <a:ln w="9525">
            <a:solidFill>
              <a:srgbClr val="1F497D"/>
            </a:solidFill>
          </a:ln>
        </p:spPr>
        <p:txBody>
          <a:bodyPr rtlCol="0" anchor="ctr"/>
          <a:lstStyle/>
          <a:p>
            <a:pPr algn="ctr"/>
          </a:p>
        </p:txBody>
      </p:sp>
      <p:sp>
        <p:nvSpPr>
          <p:cNvPr id="22" name="Oval 21"/>
          <p:cNvSpPr/>
          <p:nvPr/>
        </p:nvSpPr>
        <p:spPr>
          <a:xfrm>
            <a:off x="5321807" y="1869948"/>
            <a:ext cx="100584" cy="100584"/>
          </a:xfrm>
          <a:prstGeom prst="ellipse">
            <a:avLst/>
          </a:prstGeom>
          <a:solidFill>
            <a:srgbClr val="FFFFFF"/>
          </a:solidFill>
          <a:ln w="9525">
            <a:solidFill>
              <a:srgbClr val="1F497D"/>
            </a:solidFill>
          </a:ln>
        </p:spPr>
        <p:txBody>
          <a:bodyPr rtlCol="0" anchor="ctr"/>
          <a:lstStyle/>
          <a:p>
            <a:pPr algn="ctr"/>
          </a:p>
        </p:txBody>
      </p:sp>
      <p:sp>
        <p:nvSpPr>
          <p:cNvPr id="23" name="TextBox 22"/>
          <p:cNvSpPr txBox="1"/>
          <p:nvPr/>
        </p:nvSpPr>
        <p:spPr>
          <a:xfrm>
            <a:off x="5724144" y="1636776"/>
            <a:ext cx="3172968" cy="566928"/>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Four Skift segments defined qualitatively in the Diagnostic; the archetype results promised in the Demand-Side work were not delivered.</a:t>
            </a:r>
          </a:p>
        </p:txBody>
      </p:sp>
      <p:sp>
        <p:nvSpPr>
          <p:cNvPr id="24" name="TextBox 23"/>
          <p:cNvSpPr txBox="1"/>
          <p:nvPr/>
        </p:nvSpPr>
        <p:spPr>
          <a:xfrm>
            <a:off x="8970263" y="1636776"/>
            <a:ext cx="2798064" cy="566928"/>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Size the segments and link them to markets before they anchor recommendations.</a:t>
            </a:r>
          </a:p>
        </p:txBody>
      </p:sp>
      <p:cxnSp>
        <p:nvCxnSpPr>
          <p:cNvPr id="25" name="Connector 24"/>
          <p:cNvCxnSpPr/>
          <p:nvPr/>
        </p:nvCxnSpPr>
        <p:spPr>
          <a:xfrm>
            <a:off x="384048" y="2203704"/>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02336" y="2203704"/>
            <a:ext cx="2459736" cy="566928"/>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1b  </a:t>
            </a:r>
            <a:r>
              <a:rPr sz="950" b="1" i="0">
                <a:solidFill>
                  <a:srgbClr val="1F497D"/>
                </a:solidFill>
                <a:latin typeface="Arial"/>
              </a:rPr>
              <a:t>Extend Cape Town's brand equity to the province</a:t>
            </a:r>
          </a:p>
        </p:txBody>
      </p:sp>
      <p:sp>
        <p:nvSpPr>
          <p:cNvPr id="27" name="Oval 26"/>
          <p:cNvSpPr/>
          <p:nvPr/>
        </p:nvSpPr>
        <p:spPr>
          <a:xfrm>
            <a:off x="2944368" y="2441448"/>
            <a:ext cx="91440" cy="91440"/>
          </a:xfrm>
          <a:prstGeom prst="ellipse">
            <a:avLst/>
          </a:prstGeom>
          <a:solidFill>
            <a:srgbClr val="196B24"/>
          </a:solidFill>
          <a:ln>
            <a:noFill/>
          </a:ln>
        </p:spPr>
        <p:txBody>
          <a:bodyPr rtlCol="0" anchor="ctr"/>
          <a:lstStyle/>
          <a:p>
            <a:pPr algn="ctr"/>
          </a:p>
        </p:txBody>
      </p:sp>
      <p:sp>
        <p:nvSpPr>
          <p:cNvPr id="28" name="TextBox 27"/>
          <p:cNvSpPr txBox="1"/>
          <p:nvPr/>
        </p:nvSpPr>
        <p:spPr>
          <a:xfrm>
            <a:off x="3063240" y="2203704"/>
            <a:ext cx="594359" cy="566928"/>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New</a:t>
            </a:r>
          </a:p>
        </p:txBody>
      </p:sp>
      <p:sp>
        <p:nvSpPr>
          <p:cNvPr id="29" name="Rounded Rectangle 28"/>
          <p:cNvSpPr/>
          <p:nvPr/>
        </p:nvSpPr>
        <p:spPr>
          <a:xfrm>
            <a:off x="3703320" y="2368296"/>
            <a:ext cx="1207008" cy="237744"/>
          </a:xfrm>
          <a:prstGeom prst="roundRect">
            <a:avLst>
              <a:gd name="adj" fmla="val 50000"/>
            </a:avLst>
          </a:prstGeom>
          <a:solidFill>
            <a:srgbClr val="F2A900"/>
          </a:solidFill>
          <a:ln>
            <a:noFill/>
          </a:ln>
        </p:spPr>
        <p:txBody>
          <a:bodyPr rtlCol="0" anchor="ctr" lIns="27432" rIns="27432" tIns="0" bIns="0"/>
          <a:lstStyle/>
          <a:p>
            <a:pPr algn="ctr"/>
            <a:r>
              <a:rPr sz="750" b="1" i="0">
                <a:solidFill>
                  <a:srgbClr val="262626"/>
                </a:solidFill>
                <a:latin typeface="Arial"/>
              </a:rPr>
              <a:t>PARTLY SUPPORTED</a:t>
            </a:r>
          </a:p>
        </p:txBody>
      </p:sp>
      <p:sp>
        <p:nvSpPr>
          <p:cNvPr id="30" name="Oval 29"/>
          <p:cNvSpPr/>
          <p:nvPr/>
        </p:nvSpPr>
        <p:spPr>
          <a:xfrm>
            <a:off x="5047488" y="2436876"/>
            <a:ext cx="100584" cy="100584"/>
          </a:xfrm>
          <a:prstGeom prst="ellipse">
            <a:avLst/>
          </a:prstGeom>
          <a:solidFill>
            <a:srgbClr val="1F497D"/>
          </a:solidFill>
          <a:ln w="9525">
            <a:solidFill>
              <a:srgbClr val="1F497D"/>
            </a:solidFill>
          </a:ln>
        </p:spPr>
        <p:txBody>
          <a:bodyPr rtlCol="0" anchor="ctr"/>
          <a:lstStyle/>
          <a:p>
            <a:pPr algn="ctr"/>
          </a:p>
        </p:txBody>
      </p:sp>
      <p:sp>
        <p:nvSpPr>
          <p:cNvPr id="31" name="Oval 30"/>
          <p:cNvSpPr/>
          <p:nvPr/>
        </p:nvSpPr>
        <p:spPr>
          <a:xfrm>
            <a:off x="5184648" y="2436876"/>
            <a:ext cx="100584" cy="100584"/>
          </a:xfrm>
          <a:prstGeom prst="ellipse">
            <a:avLst/>
          </a:prstGeom>
          <a:solidFill>
            <a:srgbClr val="FFFFFF"/>
          </a:solidFill>
          <a:ln w="9525">
            <a:solidFill>
              <a:srgbClr val="1F497D"/>
            </a:solidFill>
          </a:ln>
        </p:spPr>
        <p:txBody>
          <a:bodyPr rtlCol="0" anchor="ctr"/>
          <a:lstStyle/>
          <a:p>
            <a:pPr algn="ctr"/>
          </a:p>
        </p:txBody>
      </p:sp>
      <p:sp>
        <p:nvSpPr>
          <p:cNvPr id="32" name="Oval 31"/>
          <p:cNvSpPr/>
          <p:nvPr/>
        </p:nvSpPr>
        <p:spPr>
          <a:xfrm>
            <a:off x="5321807" y="2436876"/>
            <a:ext cx="100584" cy="100584"/>
          </a:xfrm>
          <a:prstGeom prst="ellipse">
            <a:avLst/>
          </a:prstGeom>
          <a:solidFill>
            <a:srgbClr val="FFFFFF"/>
          </a:solidFill>
          <a:ln w="9525">
            <a:solidFill>
              <a:srgbClr val="1F497D"/>
            </a:solidFill>
          </a:ln>
        </p:spPr>
        <p:txBody>
          <a:bodyPr rtlCol="0" anchor="ctr"/>
          <a:lstStyle/>
          <a:p>
            <a:pPr algn="ctr"/>
          </a:p>
        </p:txBody>
      </p:sp>
      <p:sp>
        <p:nvSpPr>
          <p:cNvPr id="33" name="TextBox 32"/>
          <p:cNvSpPr txBox="1"/>
          <p:nvPr/>
        </p:nvSpPr>
        <p:spPr>
          <a:xfrm>
            <a:off x="5724144" y="2203704"/>
            <a:ext cx="3172968" cy="566928"/>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Concentration is evidenced (Cape Town takes 54% of tourist spend); no brand health, perception or campaign data exists to show brand is the fix.</a:t>
            </a:r>
          </a:p>
        </p:txBody>
      </p:sp>
      <p:sp>
        <p:nvSpPr>
          <p:cNvPr id="34" name="TextBox 33"/>
          <p:cNvSpPr txBox="1"/>
          <p:nvPr/>
        </p:nvSpPr>
        <p:spPr>
          <a:xfrm>
            <a:off x="8970263" y="2203704"/>
            <a:ext cx="2798064" cy="566928"/>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Test "The Cape" concept and brand architecture before committing to it.</a:t>
            </a:r>
          </a:p>
        </p:txBody>
      </p:sp>
      <p:cxnSp>
        <p:nvCxnSpPr>
          <p:cNvPr id="35" name="Connector 34"/>
          <p:cNvCxnSpPr/>
          <p:nvPr/>
        </p:nvCxnSpPr>
        <p:spPr>
          <a:xfrm>
            <a:off x="384048" y="2770632"/>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2336" y="2770632"/>
            <a:ext cx="2459736" cy="566928"/>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1c  </a:t>
            </a:r>
            <a:r>
              <a:rPr sz="950" b="1" i="0">
                <a:solidFill>
                  <a:srgbClr val="1F497D"/>
                </a:solidFill>
                <a:latin typeface="Arial"/>
              </a:rPr>
              <a:t>Flatten seasonality with MICE and regional spread</a:t>
            </a:r>
          </a:p>
        </p:txBody>
      </p:sp>
      <p:sp>
        <p:nvSpPr>
          <p:cNvPr id="37" name="Oval 36"/>
          <p:cNvSpPr/>
          <p:nvPr/>
        </p:nvSpPr>
        <p:spPr>
          <a:xfrm>
            <a:off x="2944368" y="3008376"/>
            <a:ext cx="91440" cy="91440"/>
          </a:xfrm>
          <a:prstGeom prst="ellipse">
            <a:avLst/>
          </a:prstGeom>
          <a:solidFill>
            <a:srgbClr val="E97132"/>
          </a:solidFill>
          <a:ln>
            <a:noFill/>
          </a:ln>
        </p:spPr>
        <p:txBody>
          <a:bodyPr rtlCol="0" anchor="ctr"/>
          <a:lstStyle/>
          <a:p>
            <a:pPr algn="ctr"/>
          </a:p>
        </p:txBody>
      </p:sp>
      <p:sp>
        <p:nvSpPr>
          <p:cNvPr id="38" name="TextBox 37"/>
          <p:cNvSpPr txBox="1"/>
          <p:nvPr/>
        </p:nvSpPr>
        <p:spPr>
          <a:xfrm>
            <a:off x="3063240" y="2770632"/>
            <a:ext cx="594359" cy="566928"/>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Refined</a:t>
            </a:r>
          </a:p>
        </p:txBody>
      </p:sp>
      <p:sp>
        <p:nvSpPr>
          <p:cNvPr id="39" name="Rounded Rectangle 38"/>
          <p:cNvSpPr/>
          <p:nvPr/>
        </p:nvSpPr>
        <p:spPr>
          <a:xfrm>
            <a:off x="3703320" y="2935224"/>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40" name="Oval 39"/>
          <p:cNvSpPr/>
          <p:nvPr/>
        </p:nvSpPr>
        <p:spPr>
          <a:xfrm>
            <a:off x="5047488" y="3003804"/>
            <a:ext cx="100584" cy="100584"/>
          </a:xfrm>
          <a:prstGeom prst="ellipse">
            <a:avLst/>
          </a:prstGeom>
          <a:solidFill>
            <a:srgbClr val="1F497D"/>
          </a:solidFill>
          <a:ln w="9525">
            <a:solidFill>
              <a:srgbClr val="1F497D"/>
            </a:solidFill>
          </a:ln>
        </p:spPr>
        <p:txBody>
          <a:bodyPr rtlCol="0" anchor="ctr"/>
          <a:lstStyle/>
          <a:p>
            <a:pPr algn="ctr"/>
          </a:p>
        </p:txBody>
      </p:sp>
      <p:sp>
        <p:nvSpPr>
          <p:cNvPr id="41" name="Oval 40"/>
          <p:cNvSpPr/>
          <p:nvPr/>
        </p:nvSpPr>
        <p:spPr>
          <a:xfrm>
            <a:off x="5184648" y="3003804"/>
            <a:ext cx="100584" cy="100584"/>
          </a:xfrm>
          <a:prstGeom prst="ellipse">
            <a:avLst/>
          </a:prstGeom>
          <a:solidFill>
            <a:srgbClr val="1F497D"/>
          </a:solidFill>
          <a:ln w="9525">
            <a:solidFill>
              <a:srgbClr val="1F497D"/>
            </a:solidFill>
          </a:ln>
        </p:spPr>
        <p:txBody>
          <a:bodyPr rtlCol="0" anchor="ctr"/>
          <a:lstStyle/>
          <a:p>
            <a:pPr algn="ctr"/>
          </a:p>
        </p:txBody>
      </p:sp>
      <p:sp>
        <p:nvSpPr>
          <p:cNvPr id="42" name="Oval 41"/>
          <p:cNvSpPr/>
          <p:nvPr/>
        </p:nvSpPr>
        <p:spPr>
          <a:xfrm>
            <a:off x="5321807" y="3003804"/>
            <a:ext cx="100584" cy="100584"/>
          </a:xfrm>
          <a:prstGeom prst="ellipse">
            <a:avLst/>
          </a:prstGeom>
          <a:solidFill>
            <a:srgbClr val="1F497D"/>
          </a:solidFill>
          <a:ln w="9525">
            <a:solidFill>
              <a:srgbClr val="1F497D"/>
            </a:solidFill>
          </a:ln>
        </p:spPr>
        <p:txBody>
          <a:bodyPr rtlCol="0" anchor="ctr"/>
          <a:lstStyle/>
          <a:p>
            <a:pPr algn="ctr"/>
          </a:p>
        </p:txBody>
      </p:sp>
      <p:sp>
        <p:nvSpPr>
          <p:cNvPr id="43" name="TextBox 42"/>
          <p:cNvSpPr txBox="1"/>
          <p:nvPr/>
        </p:nvSpPr>
        <p:spPr>
          <a:xfrm>
            <a:off x="5724144" y="2770632"/>
            <a:ext cx="3172968" cy="566928"/>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Oct-Mar carries 61% of overseas visitors; conferences peak May-Nov; Cape Town ranks 35th globally (ICCA 2024).</a:t>
            </a:r>
          </a:p>
        </p:txBody>
      </p:sp>
      <p:sp>
        <p:nvSpPr>
          <p:cNvPr id="44" name="TextBox 43"/>
          <p:cNvSpPr txBox="1"/>
          <p:nvPr/>
        </p:nvSpPr>
        <p:spPr>
          <a:xfrm>
            <a:off x="8970263" y="2770632"/>
            <a:ext cx="2798064" cy="566928"/>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A year-round events and MICE spine is the strongest demand lever we have evidenced.</a:t>
            </a:r>
          </a:p>
        </p:txBody>
      </p:sp>
      <p:cxnSp>
        <p:nvCxnSpPr>
          <p:cNvPr id="45" name="Connector 44"/>
          <p:cNvCxnSpPr/>
          <p:nvPr/>
        </p:nvCxnSpPr>
        <p:spPr>
          <a:xfrm>
            <a:off x="384048" y="3337560"/>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02336" y="3337560"/>
            <a:ext cx="2459736" cy="566928"/>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1d  </a:t>
            </a:r>
            <a:r>
              <a:rPr sz="950" b="1" i="0">
                <a:solidFill>
                  <a:srgbClr val="1F497D"/>
                </a:solidFill>
                <a:latin typeface="Arial"/>
              </a:rPr>
              <a:t>Embed the destination in market-native booking platforms</a:t>
            </a:r>
          </a:p>
        </p:txBody>
      </p:sp>
      <p:sp>
        <p:nvSpPr>
          <p:cNvPr id="47" name="Oval 46"/>
          <p:cNvSpPr/>
          <p:nvPr/>
        </p:nvSpPr>
        <p:spPr>
          <a:xfrm>
            <a:off x="2944368" y="3575304"/>
            <a:ext cx="91440" cy="91440"/>
          </a:xfrm>
          <a:prstGeom prst="ellipse">
            <a:avLst/>
          </a:prstGeom>
          <a:solidFill>
            <a:srgbClr val="E97132"/>
          </a:solidFill>
          <a:ln>
            <a:noFill/>
          </a:ln>
        </p:spPr>
        <p:txBody>
          <a:bodyPr rtlCol="0" anchor="ctr"/>
          <a:lstStyle/>
          <a:p>
            <a:pPr algn="ctr"/>
          </a:p>
        </p:txBody>
      </p:sp>
      <p:sp>
        <p:nvSpPr>
          <p:cNvPr id="48" name="TextBox 47"/>
          <p:cNvSpPr txBox="1"/>
          <p:nvPr/>
        </p:nvSpPr>
        <p:spPr>
          <a:xfrm>
            <a:off x="3063240" y="3337560"/>
            <a:ext cx="594359" cy="566928"/>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Refined</a:t>
            </a:r>
          </a:p>
        </p:txBody>
      </p:sp>
      <p:sp>
        <p:nvSpPr>
          <p:cNvPr id="49" name="Rounded Rectangle 48"/>
          <p:cNvSpPr/>
          <p:nvPr/>
        </p:nvSpPr>
        <p:spPr>
          <a:xfrm>
            <a:off x="3703320" y="3502152"/>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50" name="Oval 49"/>
          <p:cNvSpPr/>
          <p:nvPr/>
        </p:nvSpPr>
        <p:spPr>
          <a:xfrm>
            <a:off x="5047488" y="3570732"/>
            <a:ext cx="100584" cy="100584"/>
          </a:xfrm>
          <a:prstGeom prst="ellipse">
            <a:avLst/>
          </a:prstGeom>
          <a:solidFill>
            <a:srgbClr val="1F497D"/>
          </a:solidFill>
          <a:ln w="9525">
            <a:solidFill>
              <a:srgbClr val="1F497D"/>
            </a:solidFill>
          </a:ln>
        </p:spPr>
        <p:txBody>
          <a:bodyPr rtlCol="0" anchor="ctr"/>
          <a:lstStyle/>
          <a:p>
            <a:pPr algn="ctr"/>
          </a:p>
        </p:txBody>
      </p:sp>
      <p:sp>
        <p:nvSpPr>
          <p:cNvPr id="51" name="Oval 50"/>
          <p:cNvSpPr/>
          <p:nvPr/>
        </p:nvSpPr>
        <p:spPr>
          <a:xfrm>
            <a:off x="5184648" y="3570732"/>
            <a:ext cx="100584" cy="100584"/>
          </a:xfrm>
          <a:prstGeom prst="ellipse">
            <a:avLst/>
          </a:prstGeom>
          <a:solidFill>
            <a:srgbClr val="1F497D"/>
          </a:solidFill>
          <a:ln w="9525">
            <a:solidFill>
              <a:srgbClr val="1F497D"/>
            </a:solidFill>
          </a:ln>
        </p:spPr>
        <p:txBody>
          <a:bodyPr rtlCol="0" anchor="ctr"/>
          <a:lstStyle/>
          <a:p>
            <a:pPr algn="ctr"/>
          </a:p>
        </p:txBody>
      </p:sp>
      <p:sp>
        <p:nvSpPr>
          <p:cNvPr id="52" name="Oval 51"/>
          <p:cNvSpPr/>
          <p:nvPr/>
        </p:nvSpPr>
        <p:spPr>
          <a:xfrm>
            <a:off x="5321807" y="3570732"/>
            <a:ext cx="100584" cy="100584"/>
          </a:xfrm>
          <a:prstGeom prst="ellipse">
            <a:avLst/>
          </a:prstGeom>
          <a:solidFill>
            <a:srgbClr val="FFFFFF"/>
          </a:solidFill>
          <a:ln w="9525">
            <a:solidFill>
              <a:srgbClr val="1F497D"/>
            </a:solidFill>
          </a:ln>
        </p:spPr>
        <p:txBody>
          <a:bodyPr rtlCol="0" anchor="ctr"/>
          <a:lstStyle/>
          <a:p>
            <a:pPr algn="ctr"/>
          </a:p>
        </p:txBody>
      </p:sp>
      <p:sp>
        <p:nvSpPr>
          <p:cNvPr id="53" name="TextBox 52"/>
          <p:cNvSpPr txBox="1"/>
          <p:nvPr/>
        </p:nvSpPr>
        <p:spPr>
          <a:xfrm>
            <a:off x="5724144" y="3337560"/>
            <a:ext cx="3172968" cy="566928"/>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Discovery and booking run through Douyin, Trip.com, MakeMyTrip and Almosafer; 70% of CapeNature bookings still come by phone.</a:t>
            </a:r>
          </a:p>
        </p:txBody>
      </p:sp>
      <p:sp>
        <p:nvSpPr>
          <p:cNvPr id="54" name="TextBox 53"/>
          <p:cNvSpPr txBox="1"/>
          <p:nvPr/>
        </p:nvSpPr>
        <p:spPr>
          <a:xfrm>
            <a:off x="8970263" y="3337560"/>
            <a:ext cx="2798064" cy="566928"/>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Shift spend from awareness to trade-led conversion, measured by bookings.</a:t>
            </a:r>
          </a:p>
        </p:txBody>
      </p:sp>
      <p:cxnSp>
        <p:nvCxnSpPr>
          <p:cNvPr id="55" name="Connector 54"/>
          <p:cNvCxnSpPr/>
          <p:nvPr/>
        </p:nvCxnSpPr>
        <p:spPr>
          <a:xfrm>
            <a:off x="384048" y="3904488"/>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384048" y="3904488"/>
            <a:ext cx="11420856" cy="219456"/>
          </a:xfrm>
          <a:prstGeom prst="rect">
            <a:avLst/>
          </a:prstGeom>
          <a:noFill/>
        </p:spPr>
        <p:txBody>
          <a:bodyPr wrap="square" anchor="ctr" lIns="36576" rIns="36576" tIns="21945" bIns="21945">
            <a:spAutoFit/>
          </a:bodyPr>
          <a:lstStyle/>
          <a:p>
            <a:pPr algn="l">
              <a:spcAft>
                <a:spcPts val="0"/>
              </a:spcAft>
            </a:pPr>
            <a:r>
              <a:rPr sz="800" b="1" i="0">
                <a:solidFill>
                  <a:srgbClr val="00AEEF"/>
                </a:solidFill>
                <a:latin typeface="Arial"/>
              </a:rPr>
              <a:t>SOURCE MARKET GROWTH AND DIVERSIFICATION</a:t>
            </a:r>
          </a:p>
        </p:txBody>
      </p:sp>
      <p:sp>
        <p:nvSpPr>
          <p:cNvPr id="57" name="TextBox 56"/>
          <p:cNvSpPr txBox="1"/>
          <p:nvPr/>
        </p:nvSpPr>
        <p:spPr>
          <a:xfrm>
            <a:off x="402336" y="4133088"/>
            <a:ext cx="2459736" cy="566928"/>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1e  </a:t>
            </a:r>
            <a:r>
              <a:rPr sz="950" b="1" i="0">
                <a:solidFill>
                  <a:srgbClr val="1F497D"/>
                </a:solidFill>
                <a:latin typeface="Arial"/>
              </a:rPr>
              <a:t>Grow priority markets (India, China, Gulf, ASEAN)</a:t>
            </a:r>
          </a:p>
        </p:txBody>
      </p:sp>
      <p:sp>
        <p:nvSpPr>
          <p:cNvPr id="58" name="Oval 57"/>
          <p:cNvSpPr/>
          <p:nvPr/>
        </p:nvSpPr>
        <p:spPr>
          <a:xfrm>
            <a:off x="2944368" y="4370832"/>
            <a:ext cx="91440" cy="91440"/>
          </a:xfrm>
          <a:prstGeom prst="ellipse">
            <a:avLst/>
          </a:prstGeom>
          <a:solidFill>
            <a:srgbClr val="E97132"/>
          </a:solidFill>
          <a:ln>
            <a:noFill/>
          </a:ln>
        </p:spPr>
        <p:txBody>
          <a:bodyPr rtlCol="0" anchor="ctr"/>
          <a:lstStyle/>
          <a:p>
            <a:pPr algn="ctr"/>
          </a:p>
        </p:txBody>
      </p:sp>
      <p:sp>
        <p:nvSpPr>
          <p:cNvPr id="59" name="TextBox 58"/>
          <p:cNvSpPr txBox="1"/>
          <p:nvPr/>
        </p:nvSpPr>
        <p:spPr>
          <a:xfrm>
            <a:off x="3063240" y="4133088"/>
            <a:ext cx="594359" cy="566928"/>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Refined</a:t>
            </a:r>
          </a:p>
        </p:txBody>
      </p:sp>
      <p:sp>
        <p:nvSpPr>
          <p:cNvPr id="60" name="Rounded Rectangle 59"/>
          <p:cNvSpPr/>
          <p:nvPr/>
        </p:nvSpPr>
        <p:spPr>
          <a:xfrm>
            <a:off x="3703320" y="4297680"/>
            <a:ext cx="1207008" cy="237744"/>
          </a:xfrm>
          <a:prstGeom prst="roundRect">
            <a:avLst>
              <a:gd name="adj" fmla="val 50000"/>
            </a:avLst>
          </a:prstGeom>
          <a:solidFill>
            <a:srgbClr val="F2A900"/>
          </a:solidFill>
          <a:ln>
            <a:noFill/>
          </a:ln>
        </p:spPr>
        <p:txBody>
          <a:bodyPr rtlCol="0" anchor="ctr" lIns="27432" rIns="27432" tIns="0" bIns="0"/>
          <a:lstStyle/>
          <a:p>
            <a:pPr algn="ctr"/>
            <a:r>
              <a:rPr sz="750" b="1" i="0">
                <a:solidFill>
                  <a:srgbClr val="262626"/>
                </a:solidFill>
                <a:latin typeface="Arial"/>
              </a:rPr>
              <a:t>PARTLY SUPPORTED</a:t>
            </a:r>
          </a:p>
        </p:txBody>
      </p:sp>
      <p:sp>
        <p:nvSpPr>
          <p:cNvPr id="61" name="Oval 60"/>
          <p:cNvSpPr/>
          <p:nvPr/>
        </p:nvSpPr>
        <p:spPr>
          <a:xfrm>
            <a:off x="5047488" y="4366260"/>
            <a:ext cx="100584" cy="100584"/>
          </a:xfrm>
          <a:prstGeom prst="ellipse">
            <a:avLst/>
          </a:prstGeom>
          <a:solidFill>
            <a:srgbClr val="1F497D"/>
          </a:solidFill>
          <a:ln w="9525">
            <a:solidFill>
              <a:srgbClr val="1F497D"/>
            </a:solidFill>
          </a:ln>
        </p:spPr>
        <p:txBody>
          <a:bodyPr rtlCol="0" anchor="ctr"/>
          <a:lstStyle/>
          <a:p>
            <a:pPr algn="ctr"/>
          </a:p>
        </p:txBody>
      </p:sp>
      <p:sp>
        <p:nvSpPr>
          <p:cNvPr id="62" name="Oval 61"/>
          <p:cNvSpPr/>
          <p:nvPr/>
        </p:nvSpPr>
        <p:spPr>
          <a:xfrm>
            <a:off x="5184648" y="4366260"/>
            <a:ext cx="100584" cy="100584"/>
          </a:xfrm>
          <a:prstGeom prst="ellipse">
            <a:avLst/>
          </a:prstGeom>
          <a:solidFill>
            <a:srgbClr val="1F497D"/>
          </a:solidFill>
          <a:ln w="9525">
            <a:solidFill>
              <a:srgbClr val="1F497D"/>
            </a:solidFill>
          </a:ln>
        </p:spPr>
        <p:txBody>
          <a:bodyPr rtlCol="0" anchor="ctr"/>
          <a:lstStyle/>
          <a:p>
            <a:pPr algn="ctr"/>
          </a:p>
        </p:txBody>
      </p:sp>
      <p:sp>
        <p:nvSpPr>
          <p:cNvPr id="63" name="Oval 62"/>
          <p:cNvSpPr/>
          <p:nvPr/>
        </p:nvSpPr>
        <p:spPr>
          <a:xfrm>
            <a:off x="5321807" y="4366260"/>
            <a:ext cx="100584" cy="100584"/>
          </a:xfrm>
          <a:prstGeom prst="ellipse">
            <a:avLst/>
          </a:prstGeom>
          <a:solidFill>
            <a:srgbClr val="1F497D"/>
          </a:solidFill>
          <a:ln w="9525">
            <a:solidFill>
              <a:srgbClr val="1F497D"/>
            </a:solidFill>
          </a:ln>
        </p:spPr>
        <p:txBody>
          <a:bodyPr rtlCol="0" anchor="ctr"/>
          <a:lstStyle/>
          <a:p>
            <a:pPr algn="ctr"/>
          </a:p>
        </p:txBody>
      </p:sp>
      <p:sp>
        <p:nvSpPr>
          <p:cNvPr id="64" name="TextBox 63"/>
          <p:cNvSpPr txBox="1"/>
          <p:nvPr/>
        </p:nvSpPr>
        <p:spPr>
          <a:xfrm>
            <a:off x="5724144" y="4133088"/>
            <a:ext cx="3172968" cy="566928"/>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India (~71k) and China (~30k) already travel indirectly, but no direct route is likely before 2030 and ASEAN was not analysed.</a:t>
            </a:r>
          </a:p>
        </p:txBody>
      </p:sp>
      <p:sp>
        <p:nvSpPr>
          <p:cNvPr id="65" name="TextBox 64"/>
          <p:cNvSpPr txBox="1"/>
          <p:nvPr/>
        </p:nvSpPr>
        <p:spPr>
          <a:xfrm>
            <a:off x="8970263" y="4133088"/>
            <a:ext cx="2798064" cy="566928"/>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Treat India and China as a post-2030 build; the Gulf is the near-term growth corridor.</a:t>
            </a:r>
          </a:p>
        </p:txBody>
      </p:sp>
      <p:cxnSp>
        <p:nvCxnSpPr>
          <p:cNvPr id="66" name="Connector 65"/>
          <p:cNvCxnSpPr/>
          <p:nvPr/>
        </p:nvCxnSpPr>
        <p:spPr>
          <a:xfrm>
            <a:off x="384048" y="4700016"/>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02336" y="4700016"/>
            <a:ext cx="2459736" cy="566928"/>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1f  </a:t>
            </a:r>
            <a:r>
              <a:rPr sz="950" b="1" i="0">
                <a:solidFill>
                  <a:srgbClr val="1F497D"/>
                </a:solidFill>
                <a:latin typeface="Arial"/>
              </a:rPr>
              <a:t>Increase yield in mature markets (UK, Europe, N. America)</a:t>
            </a:r>
          </a:p>
        </p:txBody>
      </p:sp>
      <p:sp>
        <p:nvSpPr>
          <p:cNvPr id="68" name="Oval 67"/>
          <p:cNvSpPr/>
          <p:nvPr/>
        </p:nvSpPr>
        <p:spPr>
          <a:xfrm>
            <a:off x="2944368" y="4937760"/>
            <a:ext cx="91440" cy="91440"/>
          </a:xfrm>
          <a:prstGeom prst="ellipse">
            <a:avLst/>
          </a:prstGeom>
          <a:solidFill>
            <a:srgbClr val="156082"/>
          </a:solidFill>
          <a:ln>
            <a:noFill/>
          </a:ln>
        </p:spPr>
        <p:txBody>
          <a:bodyPr rtlCol="0" anchor="ctr"/>
          <a:lstStyle/>
          <a:p>
            <a:pPr algn="ctr"/>
          </a:p>
        </p:txBody>
      </p:sp>
      <p:sp>
        <p:nvSpPr>
          <p:cNvPr id="69" name="TextBox 68"/>
          <p:cNvSpPr txBox="1"/>
          <p:nvPr/>
        </p:nvSpPr>
        <p:spPr>
          <a:xfrm>
            <a:off x="3063240" y="4700016"/>
            <a:ext cx="594359" cy="566928"/>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Validated</a:t>
            </a:r>
          </a:p>
        </p:txBody>
      </p:sp>
      <p:sp>
        <p:nvSpPr>
          <p:cNvPr id="70" name="Rounded Rectangle 69"/>
          <p:cNvSpPr/>
          <p:nvPr/>
        </p:nvSpPr>
        <p:spPr>
          <a:xfrm>
            <a:off x="3703320" y="4864608"/>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71" name="Oval 70"/>
          <p:cNvSpPr/>
          <p:nvPr/>
        </p:nvSpPr>
        <p:spPr>
          <a:xfrm>
            <a:off x="5047488" y="4933188"/>
            <a:ext cx="100584" cy="100584"/>
          </a:xfrm>
          <a:prstGeom prst="ellipse">
            <a:avLst/>
          </a:prstGeom>
          <a:solidFill>
            <a:srgbClr val="1F497D"/>
          </a:solidFill>
          <a:ln w="9525">
            <a:solidFill>
              <a:srgbClr val="1F497D"/>
            </a:solidFill>
          </a:ln>
        </p:spPr>
        <p:txBody>
          <a:bodyPr rtlCol="0" anchor="ctr"/>
          <a:lstStyle/>
          <a:p>
            <a:pPr algn="ctr"/>
          </a:p>
        </p:txBody>
      </p:sp>
      <p:sp>
        <p:nvSpPr>
          <p:cNvPr id="72" name="Oval 71"/>
          <p:cNvSpPr/>
          <p:nvPr/>
        </p:nvSpPr>
        <p:spPr>
          <a:xfrm>
            <a:off x="5184648" y="4933188"/>
            <a:ext cx="100584" cy="100584"/>
          </a:xfrm>
          <a:prstGeom prst="ellipse">
            <a:avLst/>
          </a:prstGeom>
          <a:solidFill>
            <a:srgbClr val="1F497D"/>
          </a:solidFill>
          <a:ln w="9525">
            <a:solidFill>
              <a:srgbClr val="1F497D"/>
            </a:solidFill>
          </a:ln>
        </p:spPr>
        <p:txBody>
          <a:bodyPr rtlCol="0" anchor="ctr"/>
          <a:lstStyle/>
          <a:p>
            <a:pPr algn="ctr"/>
          </a:p>
        </p:txBody>
      </p:sp>
      <p:sp>
        <p:nvSpPr>
          <p:cNvPr id="73" name="Oval 72"/>
          <p:cNvSpPr/>
          <p:nvPr/>
        </p:nvSpPr>
        <p:spPr>
          <a:xfrm>
            <a:off x="5321807" y="4933188"/>
            <a:ext cx="100584" cy="100584"/>
          </a:xfrm>
          <a:prstGeom prst="ellipse">
            <a:avLst/>
          </a:prstGeom>
          <a:solidFill>
            <a:srgbClr val="FFFFFF"/>
          </a:solidFill>
          <a:ln w="9525">
            <a:solidFill>
              <a:srgbClr val="1F497D"/>
            </a:solidFill>
          </a:ln>
        </p:spPr>
        <p:txBody>
          <a:bodyPr rtlCol="0" anchor="ctr"/>
          <a:lstStyle/>
          <a:p>
            <a:pPr algn="ctr"/>
          </a:p>
        </p:txBody>
      </p:sp>
      <p:sp>
        <p:nvSpPr>
          <p:cNvPr id="74" name="TextBox 73"/>
          <p:cNvSpPr txBox="1"/>
          <p:nvPr/>
        </p:nvSpPr>
        <p:spPr>
          <a:xfrm>
            <a:off x="5724144" y="4700016"/>
            <a:ext cx="3172968" cy="566928"/>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The top five mature markets supply 61-63% of overseas arrivals and grow 2-4% a year; capture of their outbound trips is only 0.12-0.23%.</a:t>
            </a:r>
          </a:p>
        </p:txBody>
      </p:sp>
      <p:sp>
        <p:nvSpPr>
          <p:cNvPr id="75" name="TextBox 74"/>
          <p:cNvSpPr txBox="1"/>
          <p:nvPr/>
        </p:nvSpPr>
        <p:spPr>
          <a:xfrm>
            <a:off x="8970263" y="4700016"/>
            <a:ext cx="2798064" cy="566928"/>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Mature markets are not saturated; they remain the volume base and the yield lever.</a:t>
            </a:r>
          </a:p>
        </p:txBody>
      </p:sp>
      <p:cxnSp>
        <p:nvCxnSpPr>
          <p:cNvPr id="76" name="Connector 75"/>
          <p:cNvCxnSpPr/>
          <p:nvPr/>
        </p:nvCxnSpPr>
        <p:spPr>
          <a:xfrm>
            <a:off x="384048" y="5266944"/>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402336" y="5266944"/>
            <a:ext cx="2459736" cy="566928"/>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1g  </a:t>
            </a:r>
            <a:r>
              <a:rPr sz="950" b="1" i="0">
                <a:solidFill>
                  <a:srgbClr val="1F497D"/>
                </a:solidFill>
                <a:latin typeface="Arial"/>
              </a:rPr>
              <a:t>Grow regional top-up and counter-seasonal demand (Africa)</a:t>
            </a:r>
          </a:p>
        </p:txBody>
      </p:sp>
      <p:sp>
        <p:nvSpPr>
          <p:cNvPr id="78" name="Oval 77"/>
          <p:cNvSpPr/>
          <p:nvPr/>
        </p:nvSpPr>
        <p:spPr>
          <a:xfrm>
            <a:off x="2944368" y="5504688"/>
            <a:ext cx="91440" cy="91440"/>
          </a:xfrm>
          <a:prstGeom prst="ellipse">
            <a:avLst/>
          </a:prstGeom>
          <a:solidFill>
            <a:srgbClr val="E97132"/>
          </a:solidFill>
          <a:ln>
            <a:noFill/>
          </a:ln>
        </p:spPr>
        <p:txBody>
          <a:bodyPr rtlCol="0" anchor="ctr"/>
          <a:lstStyle/>
          <a:p>
            <a:pPr algn="ctr"/>
          </a:p>
        </p:txBody>
      </p:sp>
      <p:sp>
        <p:nvSpPr>
          <p:cNvPr id="79" name="TextBox 78"/>
          <p:cNvSpPr txBox="1"/>
          <p:nvPr/>
        </p:nvSpPr>
        <p:spPr>
          <a:xfrm>
            <a:off x="3063240" y="5266944"/>
            <a:ext cx="594359" cy="566928"/>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Refined</a:t>
            </a:r>
          </a:p>
        </p:txBody>
      </p:sp>
      <p:sp>
        <p:nvSpPr>
          <p:cNvPr id="80" name="Rounded Rectangle 79"/>
          <p:cNvSpPr/>
          <p:nvPr/>
        </p:nvSpPr>
        <p:spPr>
          <a:xfrm>
            <a:off x="3703320" y="5431536"/>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81" name="Oval 80"/>
          <p:cNvSpPr/>
          <p:nvPr/>
        </p:nvSpPr>
        <p:spPr>
          <a:xfrm>
            <a:off x="5047488" y="5500116"/>
            <a:ext cx="100584" cy="100584"/>
          </a:xfrm>
          <a:prstGeom prst="ellipse">
            <a:avLst/>
          </a:prstGeom>
          <a:solidFill>
            <a:srgbClr val="1F497D"/>
          </a:solidFill>
          <a:ln w="9525">
            <a:solidFill>
              <a:srgbClr val="1F497D"/>
            </a:solidFill>
          </a:ln>
        </p:spPr>
        <p:txBody>
          <a:bodyPr rtlCol="0" anchor="ctr"/>
          <a:lstStyle/>
          <a:p>
            <a:pPr algn="ctr"/>
          </a:p>
        </p:txBody>
      </p:sp>
      <p:sp>
        <p:nvSpPr>
          <p:cNvPr id="82" name="Oval 81"/>
          <p:cNvSpPr/>
          <p:nvPr/>
        </p:nvSpPr>
        <p:spPr>
          <a:xfrm>
            <a:off x="5184648" y="5500116"/>
            <a:ext cx="100584" cy="100584"/>
          </a:xfrm>
          <a:prstGeom prst="ellipse">
            <a:avLst/>
          </a:prstGeom>
          <a:solidFill>
            <a:srgbClr val="1F497D"/>
          </a:solidFill>
          <a:ln w="9525">
            <a:solidFill>
              <a:srgbClr val="1F497D"/>
            </a:solidFill>
          </a:ln>
        </p:spPr>
        <p:txBody>
          <a:bodyPr rtlCol="0" anchor="ctr"/>
          <a:lstStyle/>
          <a:p>
            <a:pPr algn="ctr"/>
          </a:p>
        </p:txBody>
      </p:sp>
      <p:sp>
        <p:nvSpPr>
          <p:cNvPr id="83" name="Oval 82"/>
          <p:cNvSpPr/>
          <p:nvPr/>
        </p:nvSpPr>
        <p:spPr>
          <a:xfrm>
            <a:off x="5321807" y="5500116"/>
            <a:ext cx="100584" cy="100584"/>
          </a:xfrm>
          <a:prstGeom prst="ellipse">
            <a:avLst/>
          </a:prstGeom>
          <a:solidFill>
            <a:srgbClr val="FFFFFF"/>
          </a:solidFill>
          <a:ln w="9525">
            <a:solidFill>
              <a:srgbClr val="1F497D"/>
            </a:solidFill>
          </a:ln>
        </p:spPr>
        <p:txBody>
          <a:bodyPr rtlCol="0" anchor="ctr"/>
          <a:lstStyle/>
          <a:p>
            <a:pPr algn="ctr"/>
          </a:p>
        </p:txBody>
      </p:sp>
      <p:sp>
        <p:nvSpPr>
          <p:cNvPr id="84" name="TextBox 83"/>
          <p:cNvSpPr txBox="1"/>
          <p:nvPr/>
        </p:nvSpPr>
        <p:spPr>
          <a:xfrm>
            <a:off x="5724144" y="5266944"/>
            <a:ext cx="3172968" cy="566928"/>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323,971 African arrivals in 2024, 62% from Zimbabwe and Namibia; Nigeria, Kenya and Ghana carry the largest addressable demand.</a:t>
            </a:r>
          </a:p>
        </p:txBody>
      </p:sp>
      <p:sp>
        <p:nvSpPr>
          <p:cNvPr id="85" name="TextBox 84"/>
          <p:cNvSpPr txBox="1"/>
          <p:nvPr/>
        </p:nvSpPr>
        <p:spPr>
          <a:xfrm>
            <a:off x="8970263" y="5266944"/>
            <a:ext cx="2798064" cy="566928"/>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Pair Africa activation with visa and fare friction removal, or it will not convert.</a:t>
            </a:r>
          </a:p>
        </p:txBody>
      </p:sp>
      <p:cxnSp>
        <p:nvCxnSpPr>
          <p:cNvPr id="86" name="Connector 85"/>
          <p:cNvCxnSpPr/>
          <p:nvPr/>
        </p:nvCxnSpPr>
        <p:spPr>
          <a:xfrm>
            <a:off x="384048" y="5833872"/>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Air access has been the best-performing lever, yet the workstreams disagree on whether it now binds</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TRANSFORM SUPPLY | FINDINGS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Demand-Side Analysis (Letsema/Skift, Jun 2026) p11 (CTIA/ACSA, FY passenger arrivals); MIDAS Aviation, Aviation Market Assessment (Mar 2026); CTAA update (Nov 2025) and PLTF (Apr 2025) via mobility factbase</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12</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Chart 7"/>
          <p:cNvGraphicFramePr>
            <a:graphicFrameLocks noGrp="1"/>
          </p:cNvGraphicFramePr>
          <p:nvPr/>
        </p:nvGraphicFramePr>
        <p:xfrm>
          <a:off x="384048" y="1463040"/>
          <a:ext cx="6583680" cy="3794760"/>
        </p:xfrm>
        <a:graphic>
          <a:graphicData uri="http://schemas.openxmlformats.org/drawingml/2006/chart">
            <c:chart xmlns:c="http://schemas.openxmlformats.org/drawingml/2006/chart" r:id="rId4"/>
          </a:graphicData>
        </a:graphic>
      </p:graphicFrame>
      <p:sp>
        <p:nvSpPr>
          <p:cNvPr id="9" name="TextBox 8"/>
          <p:cNvSpPr txBox="1"/>
          <p:nvPr/>
        </p:nvSpPr>
        <p:spPr>
          <a:xfrm>
            <a:off x="457200" y="1207008"/>
            <a:ext cx="6400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CTIA international passenger arrivals, millions, by financial year</a:t>
            </a:r>
          </a:p>
        </p:txBody>
      </p:sp>
      <p:sp>
        <p:nvSpPr>
          <p:cNvPr id="10" name="TextBox 9"/>
          <p:cNvSpPr txBox="1"/>
          <p:nvPr/>
        </p:nvSpPr>
        <p:spPr>
          <a:xfrm>
            <a:off x="457200" y="5303520"/>
            <a:ext cx="6492240" cy="411480"/>
          </a:xfrm>
          <a:prstGeom prst="rect">
            <a:avLst/>
          </a:prstGeom>
          <a:noFill/>
        </p:spPr>
        <p:txBody>
          <a:bodyPr wrap="square" anchor="t" lIns="36576" rIns="36576" tIns="21945" bIns="21945">
            <a:spAutoFit/>
          </a:bodyPr>
          <a:lstStyle/>
          <a:p>
            <a:pPr algn="l">
              <a:spcAft>
                <a:spcPts val="0"/>
              </a:spcAft>
            </a:pPr>
            <a:r>
              <a:rPr sz="900" b="0" i="1">
                <a:solidFill>
                  <a:srgbClr val="7F7F7F"/>
                </a:solidFill>
                <a:latin typeface="Arial"/>
              </a:rPr>
              <a:t>Passenger arrivals include residents and transfers; they are not tourist arrivals.</a:t>
            </a:r>
          </a:p>
        </p:txBody>
      </p:sp>
      <p:sp>
        <p:nvSpPr>
          <p:cNvPr id="11" name="Rectangle 10"/>
          <p:cNvSpPr/>
          <p:nvPr/>
        </p:nvSpPr>
        <p:spPr>
          <a:xfrm>
            <a:off x="7178040" y="1234440"/>
            <a:ext cx="4617720" cy="1417320"/>
          </a:xfrm>
          <a:prstGeom prst="rect">
            <a:avLst/>
          </a:prstGeom>
          <a:solidFill>
            <a:srgbClr val="F2F2F2"/>
          </a:solidFill>
          <a:ln>
            <a:noFill/>
          </a:ln>
        </p:spPr>
        <p:txBody>
          <a:bodyPr rtlCol="0" anchor="ctr"/>
          <a:lstStyle/>
          <a:p>
            <a:pPr algn="ctr"/>
          </a:p>
        </p:txBody>
      </p:sp>
      <p:sp>
        <p:nvSpPr>
          <p:cNvPr id="12" name="Rectangle 11"/>
          <p:cNvSpPr/>
          <p:nvPr/>
        </p:nvSpPr>
        <p:spPr>
          <a:xfrm>
            <a:off x="7178040" y="1234440"/>
            <a:ext cx="54864" cy="1417320"/>
          </a:xfrm>
          <a:prstGeom prst="rect">
            <a:avLst/>
          </a:prstGeom>
          <a:solidFill>
            <a:srgbClr val="00AEEF"/>
          </a:solidFill>
          <a:ln>
            <a:noFill/>
          </a:ln>
        </p:spPr>
        <p:txBody>
          <a:bodyPr rtlCol="0" anchor="ctr"/>
          <a:lstStyle/>
          <a:p>
            <a:pPr algn="ctr"/>
          </a:p>
        </p:txBody>
      </p:sp>
      <p:sp>
        <p:nvSpPr>
          <p:cNvPr id="13" name="TextBox 12"/>
          <p:cNvSpPr txBox="1"/>
          <p:nvPr/>
        </p:nvSpPr>
        <p:spPr>
          <a:xfrm>
            <a:off x="7342631" y="1325880"/>
            <a:ext cx="43434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The case that air binds</a:t>
            </a:r>
          </a:p>
        </p:txBody>
      </p:sp>
      <p:sp>
        <p:nvSpPr>
          <p:cNvPr id="14" name="TextBox 13"/>
          <p:cNvSpPr txBox="1"/>
          <p:nvPr/>
        </p:nvSpPr>
        <p:spPr>
          <a:xfrm>
            <a:off x="7342631" y="1645920"/>
            <a:ext cx="4343400" cy="914400"/>
          </a:xfrm>
          <a:prstGeom prst="rect">
            <a:avLst/>
          </a:prstGeom>
          <a:noFill/>
        </p:spPr>
        <p:txBody>
          <a:bodyPr wrap="square" anchor="t" lIns="36576" rIns="36576" tIns="21945" bIns="21945">
            <a:spAutoFit/>
          </a:bodyPr>
          <a:lstStyle/>
          <a:p>
            <a:pPr algn="l">
              <a:spcAft>
                <a:spcPts val="400"/>
              </a:spcAft>
            </a:pPr>
            <a:r>
              <a:rPr sz="1000" b="0" i="0">
                <a:solidFill>
                  <a:srgbClr val="404040"/>
                </a:solidFill>
                <a:latin typeface="Arial"/>
              </a:rPr>
              <a:t>Current seats cap arrivals near 1.8m around 2030. Long-haul markets are mature for airlines; India and China routes are post-2030.</a:t>
            </a:r>
          </a:p>
        </p:txBody>
      </p:sp>
      <p:sp>
        <p:nvSpPr>
          <p:cNvPr id="15" name="Rectangle 14"/>
          <p:cNvSpPr/>
          <p:nvPr/>
        </p:nvSpPr>
        <p:spPr>
          <a:xfrm>
            <a:off x="7178040" y="2788920"/>
            <a:ext cx="4617720" cy="1417320"/>
          </a:xfrm>
          <a:prstGeom prst="rect">
            <a:avLst/>
          </a:prstGeom>
          <a:solidFill>
            <a:srgbClr val="F2F2F2"/>
          </a:solidFill>
          <a:ln>
            <a:noFill/>
          </a:ln>
        </p:spPr>
        <p:txBody>
          <a:bodyPr rtlCol="0" anchor="ctr"/>
          <a:lstStyle/>
          <a:p>
            <a:pPr algn="ctr"/>
          </a:p>
        </p:txBody>
      </p:sp>
      <p:sp>
        <p:nvSpPr>
          <p:cNvPr id="16" name="Rectangle 15"/>
          <p:cNvSpPr/>
          <p:nvPr/>
        </p:nvSpPr>
        <p:spPr>
          <a:xfrm>
            <a:off x="7178040" y="2788920"/>
            <a:ext cx="54864" cy="1417320"/>
          </a:xfrm>
          <a:prstGeom prst="rect">
            <a:avLst/>
          </a:prstGeom>
          <a:solidFill>
            <a:srgbClr val="00AEEF"/>
          </a:solidFill>
          <a:ln>
            <a:noFill/>
          </a:ln>
        </p:spPr>
        <p:txBody>
          <a:bodyPr rtlCol="0" anchor="ctr"/>
          <a:lstStyle/>
          <a:p>
            <a:pPr algn="ctr"/>
          </a:p>
        </p:txBody>
      </p:sp>
      <p:sp>
        <p:nvSpPr>
          <p:cNvPr id="17" name="TextBox 16"/>
          <p:cNvSpPr txBox="1"/>
          <p:nvPr/>
        </p:nvSpPr>
        <p:spPr>
          <a:xfrm>
            <a:off x="7342631" y="2880360"/>
            <a:ext cx="43434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The case that it does not yet</a:t>
            </a:r>
          </a:p>
        </p:txBody>
      </p:sp>
      <p:sp>
        <p:nvSpPr>
          <p:cNvPr id="18" name="TextBox 17"/>
          <p:cNvSpPr txBox="1"/>
          <p:nvPr/>
        </p:nvSpPr>
        <p:spPr>
          <a:xfrm>
            <a:off x="7342631" y="3200400"/>
            <a:ext cx="4343400" cy="914400"/>
          </a:xfrm>
          <a:prstGeom prst="rect">
            <a:avLst/>
          </a:prstGeom>
          <a:noFill/>
        </p:spPr>
        <p:txBody>
          <a:bodyPr wrap="square" anchor="t" lIns="36576" rIns="36576" tIns="21945" bIns="21945">
            <a:spAutoFit/>
          </a:bodyPr>
          <a:lstStyle/>
          <a:p>
            <a:pPr algn="l">
              <a:spcAft>
                <a:spcPts val="400"/>
              </a:spcAft>
            </a:pPr>
            <a:r>
              <a:rPr sz="1000" b="0" i="0">
                <a:solidFill>
                  <a:srgbClr val="404040"/>
                </a:solidFill>
                <a:latin typeface="Arial"/>
              </a:rPr>
              <a:t>+200,000 seats for W25/26 (+11%); 24 airlines, 35 routes; CTIA at &gt;10m against 14m design capacity; international seats grew 6.1% a year from 2010.</a:t>
            </a:r>
          </a:p>
        </p:txBody>
      </p:sp>
      <p:sp>
        <p:nvSpPr>
          <p:cNvPr id="19" name="Rectangle 18"/>
          <p:cNvSpPr/>
          <p:nvPr/>
        </p:nvSpPr>
        <p:spPr>
          <a:xfrm>
            <a:off x="7178040" y="4343400"/>
            <a:ext cx="4617720" cy="1371600"/>
          </a:xfrm>
          <a:prstGeom prst="rect">
            <a:avLst/>
          </a:prstGeom>
          <a:solidFill>
            <a:srgbClr val="F2F2F2"/>
          </a:solidFill>
          <a:ln>
            <a:noFill/>
          </a:ln>
        </p:spPr>
        <p:txBody>
          <a:bodyPr rtlCol="0" anchor="ctr"/>
          <a:lstStyle/>
          <a:p>
            <a:pPr algn="ctr"/>
          </a:p>
        </p:txBody>
      </p:sp>
      <p:sp>
        <p:nvSpPr>
          <p:cNvPr id="20" name="Rectangle 19"/>
          <p:cNvSpPr/>
          <p:nvPr/>
        </p:nvSpPr>
        <p:spPr>
          <a:xfrm>
            <a:off x="7178040" y="4343400"/>
            <a:ext cx="54864" cy="1371600"/>
          </a:xfrm>
          <a:prstGeom prst="rect">
            <a:avLst/>
          </a:prstGeom>
          <a:solidFill>
            <a:srgbClr val="00AEEF"/>
          </a:solidFill>
          <a:ln>
            <a:noFill/>
          </a:ln>
        </p:spPr>
        <p:txBody>
          <a:bodyPr rtlCol="0" anchor="ctr"/>
          <a:lstStyle/>
          <a:p>
            <a:pPr algn="ctr"/>
          </a:p>
        </p:txBody>
      </p:sp>
      <p:sp>
        <p:nvSpPr>
          <p:cNvPr id="21" name="TextBox 20"/>
          <p:cNvSpPr txBox="1"/>
          <p:nvPr/>
        </p:nvSpPr>
        <p:spPr>
          <a:xfrm>
            <a:off x="7342631" y="4434840"/>
            <a:ext cx="43434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Cruise is under-weighted</a:t>
            </a:r>
          </a:p>
        </p:txBody>
      </p:sp>
      <p:sp>
        <p:nvSpPr>
          <p:cNvPr id="22" name="TextBox 21"/>
          <p:cNvSpPr txBox="1"/>
          <p:nvPr/>
        </p:nvSpPr>
        <p:spPr>
          <a:xfrm>
            <a:off x="7342631" y="4754880"/>
            <a:ext cx="4343400" cy="868680"/>
          </a:xfrm>
          <a:prstGeom prst="rect">
            <a:avLst/>
          </a:prstGeom>
          <a:noFill/>
        </p:spPr>
        <p:txBody>
          <a:bodyPr wrap="square" anchor="t" lIns="36576" rIns="36576" tIns="21945" bIns="21945">
            <a:spAutoFit/>
          </a:bodyPr>
          <a:lstStyle/>
          <a:p>
            <a:pPr algn="l">
              <a:spcAft>
                <a:spcPts val="400"/>
              </a:spcAft>
            </a:pPr>
            <a:r>
              <a:rPr sz="1000" b="0" i="0">
                <a:solidFill>
                  <a:srgbClr val="404040"/>
                </a:solidFill>
                <a:latin typeface="Arial"/>
              </a:rPr>
              <a:t>79 calls and ~100,000 international passengers in 2024/25, spending ~R2.0bn. Target: 250 calls by 2030.</a:t>
            </a:r>
          </a:p>
        </p:txBody>
      </p:sp>
      <p:sp>
        <p:nvSpPr>
          <p:cNvPr id="23" name="Rectangle 22"/>
          <p:cNvSpPr/>
          <p:nvPr/>
        </p:nvSpPr>
        <p:spPr>
          <a:xfrm>
            <a:off x="384048" y="5760720"/>
            <a:ext cx="11420856" cy="438912"/>
          </a:xfrm>
          <a:prstGeom prst="rect">
            <a:avLst/>
          </a:prstGeom>
          <a:solidFill>
            <a:srgbClr val="1F497D"/>
          </a:solidFill>
          <a:ln>
            <a:noFill/>
          </a:ln>
        </p:spPr>
        <p:txBody>
          <a:bodyPr rtlCol="0" anchor="ctr"/>
          <a:lstStyle/>
          <a:p>
            <a:pPr algn="ctr"/>
          </a:p>
        </p:txBody>
      </p:sp>
      <p:sp>
        <p:nvSpPr>
          <p:cNvPr id="24" name="TextBox 23"/>
          <p:cNvSpPr txBox="1"/>
          <p:nvPr/>
        </p:nvSpPr>
        <p:spPr>
          <a:xfrm>
            <a:off x="548640" y="5760720"/>
            <a:ext cx="11064240" cy="438912"/>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Air sets the ceiling after 2030; ground access, safety and visas set the conversion rate today.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Readiness falls away with distance from Cape Town, so growth reinforces the core instead of spreading</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TRANSFORM SUPPLY | FINDINGS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MERO 2024-25 via municipal factbase (international bed-nights 2023); PLTF via mobility factbase; Infrastructure Report (Jun 2026)</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13</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Chart 7"/>
          <p:cNvGraphicFramePr>
            <a:graphicFrameLocks noGrp="1"/>
          </p:cNvGraphicFramePr>
          <p:nvPr/>
        </p:nvGraphicFramePr>
        <p:xfrm>
          <a:off x="384048" y="1463040"/>
          <a:ext cx="5669280" cy="3794760"/>
        </p:xfrm>
        <a:graphic>
          <a:graphicData uri="http://schemas.openxmlformats.org/drawingml/2006/chart">
            <c:chart xmlns:c="http://schemas.openxmlformats.org/drawingml/2006/chart" r:id="rId4"/>
          </a:graphicData>
        </a:graphic>
      </p:graphicFrame>
      <p:sp>
        <p:nvSpPr>
          <p:cNvPr id="9" name="TextBox 8"/>
          <p:cNvSpPr txBox="1"/>
          <p:nvPr/>
        </p:nvSpPr>
        <p:spPr>
          <a:xfrm>
            <a:off x="457200" y="1207008"/>
            <a:ext cx="557784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International bed-nights by district, 2023</a:t>
            </a:r>
          </a:p>
        </p:txBody>
      </p:sp>
      <p:sp>
        <p:nvSpPr>
          <p:cNvPr id="10" name="TextBox 9"/>
          <p:cNvSpPr txBox="1"/>
          <p:nvPr/>
        </p:nvSpPr>
        <p:spPr>
          <a:xfrm>
            <a:off x="457200" y="5303520"/>
            <a:ext cx="5577840" cy="411480"/>
          </a:xfrm>
          <a:prstGeom prst="rect">
            <a:avLst/>
          </a:prstGeom>
          <a:noFill/>
        </p:spPr>
        <p:txBody>
          <a:bodyPr wrap="square" anchor="t" lIns="36576" rIns="36576" tIns="21945" bIns="21945">
            <a:spAutoFit/>
          </a:bodyPr>
          <a:lstStyle/>
          <a:p>
            <a:pPr algn="l">
              <a:spcAft>
                <a:spcPts val="0"/>
              </a:spcAft>
            </a:pPr>
            <a:r>
              <a:rPr sz="900" b="0" i="1">
                <a:solidFill>
                  <a:srgbClr val="7F7F7F"/>
                </a:solidFill>
                <a:latin typeface="Arial"/>
              </a:rPr>
              <a:t>Cape Winelands reported growth only (+37.5% international bed-nights).</a:t>
            </a:r>
          </a:p>
        </p:txBody>
      </p:sp>
      <p:sp>
        <p:nvSpPr>
          <p:cNvPr id="11" name="Rectangle 10"/>
          <p:cNvSpPr/>
          <p:nvPr/>
        </p:nvSpPr>
        <p:spPr>
          <a:xfrm>
            <a:off x="6309360" y="1234440"/>
            <a:ext cx="2651760" cy="1097280"/>
          </a:xfrm>
          <a:prstGeom prst="rect">
            <a:avLst/>
          </a:prstGeom>
          <a:solidFill>
            <a:srgbClr val="DCEEF7"/>
          </a:solidFill>
          <a:ln>
            <a:noFill/>
          </a:ln>
        </p:spPr>
        <p:txBody>
          <a:bodyPr rtlCol="0" anchor="ctr"/>
          <a:lstStyle/>
          <a:p>
            <a:pPr algn="ctr"/>
          </a:p>
        </p:txBody>
      </p:sp>
      <p:sp>
        <p:nvSpPr>
          <p:cNvPr id="12" name="TextBox 11"/>
          <p:cNvSpPr txBox="1"/>
          <p:nvPr/>
        </p:nvSpPr>
        <p:spPr>
          <a:xfrm>
            <a:off x="6419088" y="1307592"/>
            <a:ext cx="2432304" cy="548640"/>
          </a:xfrm>
          <a:prstGeom prst="rect">
            <a:avLst/>
          </a:prstGeom>
          <a:noFill/>
        </p:spPr>
        <p:txBody>
          <a:bodyPr wrap="square" anchor="b" lIns="36576" rIns="36576" tIns="21945" bIns="21945">
            <a:spAutoFit/>
          </a:bodyPr>
          <a:lstStyle/>
          <a:p>
            <a:pPr algn="l">
              <a:spcAft>
                <a:spcPts val="0"/>
              </a:spcAft>
            </a:pPr>
            <a:r>
              <a:rPr sz="2400" b="1" i="0">
                <a:solidFill>
                  <a:srgbClr val="1F497D"/>
                </a:solidFill>
                <a:latin typeface="Arial"/>
              </a:rPr>
              <a:t>1.6%</a:t>
            </a:r>
          </a:p>
        </p:txBody>
      </p:sp>
      <p:sp>
        <p:nvSpPr>
          <p:cNvPr id="13" name="TextBox 12"/>
          <p:cNvSpPr txBox="1"/>
          <p:nvPr/>
        </p:nvSpPr>
        <p:spPr>
          <a:xfrm>
            <a:off x="6419088" y="1837944"/>
            <a:ext cx="2432304" cy="471830"/>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of tourist trips use public transport</a:t>
            </a:r>
          </a:p>
        </p:txBody>
      </p:sp>
      <p:sp>
        <p:nvSpPr>
          <p:cNvPr id="14" name="Rectangle 13"/>
          <p:cNvSpPr/>
          <p:nvPr/>
        </p:nvSpPr>
        <p:spPr>
          <a:xfrm>
            <a:off x="9144000" y="1234440"/>
            <a:ext cx="2651760" cy="1097280"/>
          </a:xfrm>
          <a:prstGeom prst="rect">
            <a:avLst/>
          </a:prstGeom>
          <a:solidFill>
            <a:srgbClr val="DCEEF7"/>
          </a:solidFill>
          <a:ln>
            <a:noFill/>
          </a:ln>
        </p:spPr>
        <p:txBody>
          <a:bodyPr rtlCol="0" anchor="ctr"/>
          <a:lstStyle/>
          <a:p>
            <a:pPr algn="ctr"/>
          </a:p>
        </p:txBody>
      </p:sp>
      <p:sp>
        <p:nvSpPr>
          <p:cNvPr id="15" name="TextBox 14"/>
          <p:cNvSpPr txBox="1"/>
          <p:nvPr/>
        </p:nvSpPr>
        <p:spPr>
          <a:xfrm>
            <a:off x="9253728" y="1307592"/>
            <a:ext cx="2432304" cy="548640"/>
          </a:xfrm>
          <a:prstGeom prst="rect">
            <a:avLst/>
          </a:prstGeom>
          <a:noFill/>
        </p:spPr>
        <p:txBody>
          <a:bodyPr wrap="square" anchor="b" lIns="36576" rIns="36576" tIns="21945" bIns="21945">
            <a:spAutoFit/>
          </a:bodyPr>
          <a:lstStyle/>
          <a:p>
            <a:pPr algn="l">
              <a:spcAft>
                <a:spcPts val="0"/>
              </a:spcAft>
            </a:pPr>
            <a:r>
              <a:rPr sz="2400" b="1" i="0">
                <a:solidFill>
                  <a:srgbClr val="1F497D"/>
                </a:solidFill>
                <a:latin typeface="Arial"/>
              </a:rPr>
              <a:t>50,332</a:t>
            </a:r>
          </a:p>
        </p:txBody>
      </p:sp>
      <p:sp>
        <p:nvSpPr>
          <p:cNvPr id="16" name="TextBox 15"/>
          <p:cNvSpPr txBox="1"/>
          <p:nvPr/>
        </p:nvSpPr>
        <p:spPr>
          <a:xfrm>
            <a:off x="9253728" y="1837944"/>
            <a:ext cx="2432304" cy="471830"/>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tourism assets mapped across six regions</a:t>
            </a:r>
          </a:p>
        </p:txBody>
      </p:sp>
      <p:sp>
        <p:nvSpPr>
          <p:cNvPr id="17" name="Rectangle 16"/>
          <p:cNvSpPr/>
          <p:nvPr/>
        </p:nvSpPr>
        <p:spPr>
          <a:xfrm>
            <a:off x="6309360" y="2468880"/>
            <a:ext cx="5486400" cy="3154680"/>
          </a:xfrm>
          <a:prstGeom prst="rect">
            <a:avLst/>
          </a:prstGeom>
          <a:solidFill>
            <a:srgbClr val="F2F2F2"/>
          </a:solidFill>
          <a:ln>
            <a:noFill/>
          </a:ln>
        </p:spPr>
        <p:txBody>
          <a:bodyPr rtlCol="0" anchor="ctr"/>
          <a:lstStyle/>
          <a:p>
            <a:pPr algn="ctr"/>
          </a:p>
        </p:txBody>
      </p:sp>
      <p:sp>
        <p:nvSpPr>
          <p:cNvPr id="18" name="Rectangle 17"/>
          <p:cNvSpPr/>
          <p:nvPr/>
        </p:nvSpPr>
        <p:spPr>
          <a:xfrm>
            <a:off x="6309360" y="2468880"/>
            <a:ext cx="54864" cy="3154680"/>
          </a:xfrm>
          <a:prstGeom prst="rect">
            <a:avLst/>
          </a:prstGeom>
          <a:solidFill>
            <a:srgbClr val="00AEEF"/>
          </a:solidFill>
          <a:ln>
            <a:noFill/>
          </a:ln>
        </p:spPr>
        <p:txBody>
          <a:bodyPr rtlCol="0" anchor="ctr"/>
          <a:lstStyle/>
          <a:p>
            <a:pPr algn="ctr"/>
          </a:p>
        </p:txBody>
      </p:sp>
      <p:sp>
        <p:nvSpPr>
          <p:cNvPr id="19" name="TextBox 18"/>
          <p:cNvSpPr txBox="1"/>
          <p:nvPr/>
        </p:nvSpPr>
        <p:spPr>
          <a:xfrm>
            <a:off x="6473952" y="2560320"/>
            <a:ext cx="521208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What the supply work shows</a:t>
            </a:r>
          </a:p>
        </p:txBody>
      </p:sp>
      <p:sp>
        <p:nvSpPr>
          <p:cNvPr id="20" name="TextBox 19"/>
          <p:cNvSpPr txBox="1"/>
          <p:nvPr/>
        </p:nvSpPr>
        <p:spPr>
          <a:xfrm>
            <a:off x="6473952" y="2880360"/>
            <a:ext cx="5212080" cy="2651760"/>
          </a:xfrm>
          <a:prstGeom prst="rect">
            <a:avLst/>
          </a:prstGeom>
          <a:noFill/>
        </p:spPr>
        <p:txBody>
          <a:bodyPr wrap="square" anchor="t" lIns="36576" rIns="36576" tIns="21945" bIns="21945">
            <a:spAutoFit/>
          </a:bodyPr>
          <a:lstStyle/>
          <a:p>
            <a:pPr algn="l" marL="146304" indent="-146304">
              <a:spcAft>
                <a:spcPts val="500"/>
              </a:spcAft>
              <a:buClr>
                <a:srgbClr val="00AEEF"/>
              </a:buClr>
              <a:buFont typeface="Arial"/>
              <a:buChar char="•"/>
            </a:pPr>
            <a:r>
              <a:rPr sz="1000" b="0" i="0">
                <a:solidFill>
                  <a:srgbClr val="404040"/>
                </a:solidFill>
                <a:latin typeface="Arial"/>
              </a:rPr>
              <a:t>Three corridors (N2, R62, Winelands) carry the visitor system; the N2 is a single point of failure.</a:t>
            </a:r>
          </a:p>
          <a:p>
            <a:pPr algn="l" marL="146304" indent="-146304">
              <a:spcAft>
                <a:spcPts val="500"/>
              </a:spcAft>
              <a:buClr>
                <a:srgbClr val="00AEEF"/>
              </a:buClr>
              <a:buFont typeface="Arial"/>
              <a:buChar char="•"/>
            </a:pPr>
            <a:r>
              <a:rPr sz="1000" b="0" i="0">
                <a:solidFill>
                  <a:srgbClr val="404040"/>
                </a:solidFill>
                <a:latin typeface="Arial"/>
              </a:rPr>
              <a:t>No mid-scale branded accommodation between luxury estates and basic self-catering.</a:t>
            </a:r>
          </a:p>
          <a:p>
            <a:pPr algn="l" marL="146304" indent="-146304">
              <a:spcAft>
                <a:spcPts val="500"/>
              </a:spcAft>
              <a:buClr>
                <a:srgbClr val="00AEEF"/>
              </a:buClr>
              <a:buFont typeface="Arial"/>
              <a:buChar char="•"/>
            </a:pPr>
            <a:r>
              <a:rPr sz="1000" b="0" i="0">
                <a:solidFill>
                  <a:srgbClr val="404040"/>
                </a:solidFill>
                <a:latin typeface="Arial"/>
              </a:rPr>
              <a:t>Most rural properties have no OTA presence and are invisible to the market.</a:t>
            </a:r>
          </a:p>
          <a:p>
            <a:pPr algn="l" marL="146304" indent="-146304">
              <a:spcAft>
                <a:spcPts val="500"/>
              </a:spcAft>
              <a:buClr>
                <a:srgbClr val="00AEEF"/>
              </a:buClr>
              <a:buFont typeface="Arial"/>
              <a:buChar char="•"/>
            </a:pPr>
            <a:r>
              <a:rPr sz="1000" b="0" i="0">
                <a:solidFill>
                  <a:srgbClr val="404040"/>
                </a:solidFill>
                <a:latin typeface="Arial"/>
              </a:rPr>
              <a:t>Events in shoulder and off-peak seasons are critically thin outside the Metro.</a:t>
            </a:r>
          </a:p>
          <a:p>
            <a:pPr algn="l" marL="146304" indent="-146304">
              <a:spcAft>
                <a:spcPts val="500"/>
              </a:spcAft>
              <a:buClr>
                <a:srgbClr val="00AEEF"/>
              </a:buClr>
              <a:buFont typeface="Arial"/>
              <a:buChar char="•"/>
            </a:pPr>
            <a:r>
              <a:rPr sz="1000" b="0" i="0">
                <a:solidFill>
                  <a:srgbClr val="404040"/>
                </a:solidFill>
                <a:latin typeface="Arial"/>
              </a:rPr>
              <a:t>The MyCiTi airport link has been suspended since 2022; rail is unusable for tourism.</a:t>
            </a:r>
          </a:p>
        </p:txBody>
      </p:sp>
      <p:sp>
        <p:nvSpPr>
          <p:cNvPr id="21" name="Rectangle 20"/>
          <p:cNvSpPr/>
          <p:nvPr/>
        </p:nvSpPr>
        <p:spPr>
          <a:xfrm>
            <a:off x="384048" y="5760720"/>
            <a:ext cx="11420856" cy="438912"/>
          </a:xfrm>
          <a:prstGeom prst="rect">
            <a:avLst/>
          </a:prstGeom>
          <a:solidFill>
            <a:srgbClr val="1F497D"/>
          </a:solidFill>
          <a:ln>
            <a:noFill/>
          </a:ln>
        </p:spPr>
        <p:txBody>
          <a:bodyPr rtlCol="0" anchor="ctr"/>
          <a:lstStyle/>
          <a:p>
            <a:pPr algn="ctr"/>
          </a:p>
        </p:txBody>
      </p:sp>
      <p:sp>
        <p:nvSpPr>
          <p:cNvPr id="22" name="TextBox 21"/>
          <p:cNvSpPr txBox="1"/>
          <p:nvPr/>
        </p:nvSpPr>
        <p:spPr>
          <a:xfrm>
            <a:off x="548640" y="5760720"/>
            <a:ext cx="11064240" cy="438912"/>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Dispersal needs deliberate corridor investment and packaging; it will not happen by spillover.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Supply hypotheses hold strongly; the open question is sequencing and who pays</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TRANSFORM SUPPLY | VERDICT</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Infrastructure Report (Jun 2026); MIDAS Aviation, Aviation Market Assessment (Mar 2026); Stakeholder Insights Report (Mar 2026); mobility factbase</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14</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84048" y="1097280"/>
            <a:ext cx="11420856" cy="274320"/>
          </a:xfrm>
          <a:prstGeom prst="rect">
            <a:avLst/>
          </a:prstGeom>
          <a:solidFill>
            <a:srgbClr val="1F497D"/>
          </a:solidFill>
          <a:ln>
            <a:noFill/>
          </a:ln>
        </p:spPr>
        <p:txBody>
          <a:bodyPr rtlCol="0" anchor="ctr"/>
          <a:lstStyle/>
          <a:p>
            <a:pPr algn="ctr"/>
          </a:p>
        </p:txBody>
      </p:sp>
      <p:sp>
        <p:nvSpPr>
          <p:cNvPr id="9" name="TextBox 8"/>
          <p:cNvSpPr txBox="1"/>
          <p:nvPr/>
        </p:nvSpPr>
        <p:spPr>
          <a:xfrm>
            <a:off x="420623" y="1097280"/>
            <a:ext cx="245973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Focus area (v4 tree)</a:t>
            </a:r>
          </a:p>
        </p:txBody>
      </p:sp>
      <p:sp>
        <p:nvSpPr>
          <p:cNvPr id="10" name="TextBox 9"/>
          <p:cNvSpPr txBox="1"/>
          <p:nvPr/>
        </p:nvSpPr>
        <p:spPr>
          <a:xfrm>
            <a:off x="2935224" y="1097280"/>
            <a:ext cx="72237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Team marker</a:t>
            </a:r>
          </a:p>
        </p:txBody>
      </p:sp>
      <p:sp>
        <p:nvSpPr>
          <p:cNvPr id="11" name="TextBox 10"/>
          <p:cNvSpPr txBox="1"/>
          <p:nvPr/>
        </p:nvSpPr>
        <p:spPr>
          <a:xfrm>
            <a:off x="3712463" y="1097280"/>
            <a:ext cx="1243584"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Our verdict</a:t>
            </a:r>
          </a:p>
        </p:txBody>
      </p:sp>
      <p:sp>
        <p:nvSpPr>
          <p:cNvPr id="12" name="TextBox 11"/>
          <p:cNvSpPr txBox="1"/>
          <p:nvPr/>
        </p:nvSpPr>
        <p:spPr>
          <a:xfrm>
            <a:off x="5010912" y="1097280"/>
            <a:ext cx="694944"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Evidence</a:t>
            </a:r>
          </a:p>
        </p:txBody>
      </p:sp>
      <p:sp>
        <p:nvSpPr>
          <p:cNvPr id="13" name="TextBox 12"/>
          <p:cNvSpPr txBox="1"/>
          <p:nvPr/>
        </p:nvSpPr>
        <p:spPr>
          <a:xfrm>
            <a:off x="5760720" y="1097280"/>
            <a:ext cx="319125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What the evidence shows</a:t>
            </a:r>
          </a:p>
        </p:txBody>
      </p:sp>
      <p:sp>
        <p:nvSpPr>
          <p:cNvPr id="14" name="TextBox 13"/>
          <p:cNvSpPr txBox="1"/>
          <p:nvPr/>
        </p:nvSpPr>
        <p:spPr>
          <a:xfrm>
            <a:off x="9006839" y="1097280"/>
            <a:ext cx="277977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So what</a:t>
            </a:r>
          </a:p>
        </p:txBody>
      </p:sp>
      <p:sp>
        <p:nvSpPr>
          <p:cNvPr id="15" name="TextBox 14"/>
          <p:cNvSpPr txBox="1"/>
          <p:nvPr/>
        </p:nvSpPr>
        <p:spPr>
          <a:xfrm>
            <a:off x="384048" y="1408176"/>
            <a:ext cx="11420856" cy="219456"/>
          </a:xfrm>
          <a:prstGeom prst="rect">
            <a:avLst/>
          </a:prstGeom>
          <a:noFill/>
        </p:spPr>
        <p:txBody>
          <a:bodyPr wrap="square" anchor="ctr" lIns="36576" rIns="36576" tIns="21945" bIns="21945">
            <a:spAutoFit/>
          </a:bodyPr>
          <a:lstStyle/>
          <a:p>
            <a:pPr algn="l">
              <a:spcAft>
                <a:spcPts val="0"/>
              </a:spcAft>
            </a:pPr>
            <a:r>
              <a:rPr sz="800" b="1" i="0">
                <a:solidFill>
                  <a:srgbClr val="00AEEF"/>
                </a:solidFill>
                <a:latin typeface="Arial"/>
              </a:rPr>
              <a:t>ACCESSIBILITY, CONNECTIVITY AND INFRASTRUCTURE</a:t>
            </a:r>
          </a:p>
        </p:txBody>
      </p:sp>
      <p:sp>
        <p:nvSpPr>
          <p:cNvPr id="16" name="TextBox 15"/>
          <p:cNvSpPr txBox="1"/>
          <p:nvPr/>
        </p:nvSpPr>
        <p:spPr>
          <a:xfrm>
            <a:off x="402336" y="1636776"/>
            <a:ext cx="2459736" cy="603504"/>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2a  </a:t>
            </a:r>
            <a:r>
              <a:rPr sz="950" b="1" i="0">
                <a:solidFill>
                  <a:srgbClr val="1F497D"/>
                </a:solidFill>
                <a:latin typeface="Arial"/>
              </a:rPr>
              <a:t>Close the air access and cruise capacity gaps</a:t>
            </a:r>
          </a:p>
        </p:txBody>
      </p:sp>
      <p:sp>
        <p:nvSpPr>
          <p:cNvPr id="17" name="Oval 16"/>
          <p:cNvSpPr/>
          <p:nvPr/>
        </p:nvSpPr>
        <p:spPr>
          <a:xfrm>
            <a:off x="2944368" y="1892808"/>
            <a:ext cx="91440" cy="91440"/>
          </a:xfrm>
          <a:prstGeom prst="ellipse">
            <a:avLst/>
          </a:prstGeom>
          <a:solidFill>
            <a:srgbClr val="156082"/>
          </a:solidFill>
          <a:ln>
            <a:noFill/>
          </a:ln>
        </p:spPr>
        <p:txBody>
          <a:bodyPr rtlCol="0" anchor="ctr"/>
          <a:lstStyle/>
          <a:p>
            <a:pPr algn="ctr"/>
          </a:p>
        </p:txBody>
      </p:sp>
      <p:sp>
        <p:nvSpPr>
          <p:cNvPr id="18" name="TextBox 17"/>
          <p:cNvSpPr txBox="1"/>
          <p:nvPr/>
        </p:nvSpPr>
        <p:spPr>
          <a:xfrm>
            <a:off x="3063240" y="1636776"/>
            <a:ext cx="594359" cy="603504"/>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Validated</a:t>
            </a:r>
          </a:p>
        </p:txBody>
      </p:sp>
      <p:sp>
        <p:nvSpPr>
          <p:cNvPr id="19" name="Rounded Rectangle 18"/>
          <p:cNvSpPr/>
          <p:nvPr/>
        </p:nvSpPr>
        <p:spPr>
          <a:xfrm>
            <a:off x="3703320" y="1819656"/>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20" name="Oval 19"/>
          <p:cNvSpPr/>
          <p:nvPr/>
        </p:nvSpPr>
        <p:spPr>
          <a:xfrm>
            <a:off x="5047488" y="1888236"/>
            <a:ext cx="100584" cy="100584"/>
          </a:xfrm>
          <a:prstGeom prst="ellipse">
            <a:avLst/>
          </a:prstGeom>
          <a:solidFill>
            <a:srgbClr val="1F497D"/>
          </a:solidFill>
          <a:ln w="9525">
            <a:solidFill>
              <a:srgbClr val="1F497D"/>
            </a:solidFill>
          </a:ln>
        </p:spPr>
        <p:txBody>
          <a:bodyPr rtlCol="0" anchor="ctr"/>
          <a:lstStyle/>
          <a:p>
            <a:pPr algn="ctr"/>
          </a:p>
        </p:txBody>
      </p:sp>
      <p:sp>
        <p:nvSpPr>
          <p:cNvPr id="21" name="Oval 20"/>
          <p:cNvSpPr/>
          <p:nvPr/>
        </p:nvSpPr>
        <p:spPr>
          <a:xfrm>
            <a:off x="5184648" y="1888236"/>
            <a:ext cx="100584" cy="100584"/>
          </a:xfrm>
          <a:prstGeom prst="ellipse">
            <a:avLst/>
          </a:prstGeom>
          <a:solidFill>
            <a:srgbClr val="1F497D"/>
          </a:solidFill>
          <a:ln w="9525">
            <a:solidFill>
              <a:srgbClr val="1F497D"/>
            </a:solidFill>
          </a:ln>
        </p:spPr>
        <p:txBody>
          <a:bodyPr rtlCol="0" anchor="ctr"/>
          <a:lstStyle/>
          <a:p>
            <a:pPr algn="ctr"/>
          </a:p>
        </p:txBody>
      </p:sp>
      <p:sp>
        <p:nvSpPr>
          <p:cNvPr id="22" name="Oval 21"/>
          <p:cNvSpPr/>
          <p:nvPr/>
        </p:nvSpPr>
        <p:spPr>
          <a:xfrm>
            <a:off x="5321807" y="1888236"/>
            <a:ext cx="100584" cy="100584"/>
          </a:xfrm>
          <a:prstGeom prst="ellipse">
            <a:avLst/>
          </a:prstGeom>
          <a:solidFill>
            <a:srgbClr val="1F497D"/>
          </a:solidFill>
          <a:ln w="9525">
            <a:solidFill>
              <a:srgbClr val="1F497D"/>
            </a:solidFill>
          </a:ln>
        </p:spPr>
        <p:txBody>
          <a:bodyPr rtlCol="0" anchor="ctr"/>
          <a:lstStyle/>
          <a:p>
            <a:pPr algn="ctr"/>
          </a:p>
        </p:txBody>
      </p:sp>
      <p:sp>
        <p:nvSpPr>
          <p:cNvPr id="23" name="TextBox 22"/>
          <p:cNvSpPr txBox="1"/>
          <p:nvPr/>
        </p:nvSpPr>
        <p:spPr>
          <a:xfrm>
            <a:off x="5724144" y="1636776"/>
            <a:ext cx="3172968" cy="603504"/>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Seat capacity caps arrivals near 1.8m around 2030; airlines see long-haul markets as mature and will lift fares before seats.</a:t>
            </a:r>
          </a:p>
        </p:txBody>
      </p:sp>
      <p:sp>
        <p:nvSpPr>
          <p:cNvPr id="24" name="TextBox 23"/>
          <p:cNvSpPr txBox="1"/>
          <p:nvPr/>
        </p:nvSpPr>
        <p:spPr>
          <a:xfrm>
            <a:off x="8970263" y="1636776"/>
            <a:ext cx="2798064" cy="603504"/>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Air remains decisive, but whether it binds before ground access and safety is contested.</a:t>
            </a:r>
          </a:p>
        </p:txBody>
      </p:sp>
      <p:cxnSp>
        <p:nvCxnSpPr>
          <p:cNvPr id="25" name="Connector 24"/>
          <p:cNvCxnSpPr/>
          <p:nvPr/>
        </p:nvCxnSpPr>
        <p:spPr>
          <a:xfrm>
            <a:off x="384048" y="2240280"/>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02336" y="2240280"/>
            <a:ext cx="2459736" cy="603504"/>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2b  </a:t>
            </a:r>
            <a:r>
              <a:rPr sz="950" b="1" i="0">
                <a:solidFill>
                  <a:srgbClr val="1F497D"/>
                </a:solidFill>
                <a:latin typeface="Arial"/>
              </a:rPr>
              <a:t>Accelerate tourism-enabling internal mobility</a:t>
            </a:r>
          </a:p>
        </p:txBody>
      </p:sp>
      <p:sp>
        <p:nvSpPr>
          <p:cNvPr id="27" name="Oval 26"/>
          <p:cNvSpPr/>
          <p:nvPr/>
        </p:nvSpPr>
        <p:spPr>
          <a:xfrm>
            <a:off x="2944368" y="2496312"/>
            <a:ext cx="91440" cy="91440"/>
          </a:xfrm>
          <a:prstGeom prst="ellipse">
            <a:avLst/>
          </a:prstGeom>
          <a:solidFill>
            <a:srgbClr val="156082"/>
          </a:solidFill>
          <a:ln>
            <a:noFill/>
          </a:ln>
        </p:spPr>
        <p:txBody>
          <a:bodyPr rtlCol="0" anchor="ctr"/>
          <a:lstStyle/>
          <a:p>
            <a:pPr algn="ctr"/>
          </a:p>
        </p:txBody>
      </p:sp>
      <p:sp>
        <p:nvSpPr>
          <p:cNvPr id="28" name="TextBox 27"/>
          <p:cNvSpPr txBox="1"/>
          <p:nvPr/>
        </p:nvSpPr>
        <p:spPr>
          <a:xfrm>
            <a:off x="3063240" y="2240280"/>
            <a:ext cx="594359" cy="603504"/>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Validated</a:t>
            </a:r>
          </a:p>
        </p:txBody>
      </p:sp>
      <p:sp>
        <p:nvSpPr>
          <p:cNvPr id="29" name="Rounded Rectangle 28"/>
          <p:cNvSpPr/>
          <p:nvPr/>
        </p:nvSpPr>
        <p:spPr>
          <a:xfrm>
            <a:off x="3703320" y="2423160"/>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30" name="Oval 29"/>
          <p:cNvSpPr/>
          <p:nvPr/>
        </p:nvSpPr>
        <p:spPr>
          <a:xfrm>
            <a:off x="5047488" y="2491740"/>
            <a:ext cx="100584" cy="100584"/>
          </a:xfrm>
          <a:prstGeom prst="ellipse">
            <a:avLst/>
          </a:prstGeom>
          <a:solidFill>
            <a:srgbClr val="1F497D"/>
          </a:solidFill>
          <a:ln w="9525">
            <a:solidFill>
              <a:srgbClr val="1F497D"/>
            </a:solidFill>
          </a:ln>
        </p:spPr>
        <p:txBody>
          <a:bodyPr rtlCol="0" anchor="ctr"/>
          <a:lstStyle/>
          <a:p>
            <a:pPr algn="ctr"/>
          </a:p>
        </p:txBody>
      </p:sp>
      <p:sp>
        <p:nvSpPr>
          <p:cNvPr id="31" name="Oval 30"/>
          <p:cNvSpPr/>
          <p:nvPr/>
        </p:nvSpPr>
        <p:spPr>
          <a:xfrm>
            <a:off x="5184648" y="2491740"/>
            <a:ext cx="100584" cy="100584"/>
          </a:xfrm>
          <a:prstGeom prst="ellipse">
            <a:avLst/>
          </a:prstGeom>
          <a:solidFill>
            <a:srgbClr val="1F497D"/>
          </a:solidFill>
          <a:ln w="9525">
            <a:solidFill>
              <a:srgbClr val="1F497D"/>
            </a:solidFill>
          </a:ln>
        </p:spPr>
        <p:txBody>
          <a:bodyPr rtlCol="0" anchor="ctr"/>
          <a:lstStyle/>
          <a:p>
            <a:pPr algn="ctr"/>
          </a:p>
        </p:txBody>
      </p:sp>
      <p:sp>
        <p:nvSpPr>
          <p:cNvPr id="32" name="Oval 31"/>
          <p:cNvSpPr/>
          <p:nvPr/>
        </p:nvSpPr>
        <p:spPr>
          <a:xfrm>
            <a:off x="5321807" y="2491740"/>
            <a:ext cx="100584" cy="100584"/>
          </a:xfrm>
          <a:prstGeom prst="ellipse">
            <a:avLst/>
          </a:prstGeom>
          <a:solidFill>
            <a:srgbClr val="1F497D"/>
          </a:solidFill>
          <a:ln w="9525">
            <a:solidFill>
              <a:srgbClr val="1F497D"/>
            </a:solidFill>
          </a:ln>
        </p:spPr>
        <p:txBody>
          <a:bodyPr rtlCol="0" anchor="ctr"/>
          <a:lstStyle/>
          <a:p>
            <a:pPr algn="ctr"/>
          </a:p>
        </p:txBody>
      </p:sp>
      <p:sp>
        <p:nvSpPr>
          <p:cNvPr id="33" name="TextBox 32"/>
          <p:cNvSpPr txBox="1"/>
          <p:nvPr/>
        </p:nvSpPr>
        <p:spPr>
          <a:xfrm>
            <a:off x="5724144" y="2240280"/>
            <a:ext cx="3172968" cy="603504"/>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Tourists use public transport for 1.6% of trips; the N2 is the only continuous corridor; the MyCiTi airport link has been suspended since 2022.</a:t>
            </a:r>
          </a:p>
        </p:txBody>
      </p:sp>
      <p:sp>
        <p:nvSpPr>
          <p:cNvPr id="34" name="TextBox 33"/>
          <p:cNvSpPr txBox="1"/>
          <p:nvPr/>
        </p:nvSpPr>
        <p:spPr>
          <a:xfrm>
            <a:off x="8970263" y="2240280"/>
            <a:ext cx="2798064" cy="603504"/>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Dispersal depends on self-drive readiness and curated shuttles, not mass transit.</a:t>
            </a:r>
          </a:p>
        </p:txBody>
      </p:sp>
      <p:cxnSp>
        <p:nvCxnSpPr>
          <p:cNvPr id="35" name="Connector 34"/>
          <p:cNvCxnSpPr/>
          <p:nvPr/>
        </p:nvCxnSpPr>
        <p:spPr>
          <a:xfrm>
            <a:off x="384048" y="2843784"/>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2336" y="2843784"/>
            <a:ext cx="2459736" cy="603504"/>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2c  </a:t>
            </a:r>
            <a:r>
              <a:rPr sz="950" b="1" i="0">
                <a:solidFill>
                  <a:srgbClr val="1F497D"/>
                </a:solidFill>
                <a:latin typeface="Arial"/>
              </a:rPr>
              <a:t>Lead removal of infrastructure, visa and safety deficits</a:t>
            </a:r>
          </a:p>
        </p:txBody>
      </p:sp>
      <p:sp>
        <p:nvSpPr>
          <p:cNvPr id="37" name="Oval 36"/>
          <p:cNvSpPr/>
          <p:nvPr/>
        </p:nvSpPr>
        <p:spPr>
          <a:xfrm>
            <a:off x="2944368" y="3099816"/>
            <a:ext cx="91440" cy="91440"/>
          </a:xfrm>
          <a:prstGeom prst="ellipse">
            <a:avLst/>
          </a:prstGeom>
          <a:solidFill>
            <a:srgbClr val="156082"/>
          </a:solidFill>
          <a:ln>
            <a:noFill/>
          </a:ln>
        </p:spPr>
        <p:txBody>
          <a:bodyPr rtlCol="0" anchor="ctr"/>
          <a:lstStyle/>
          <a:p>
            <a:pPr algn="ctr"/>
          </a:p>
        </p:txBody>
      </p:sp>
      <p:sp>
        <p:nvSpPr>
          <p:cNvPr id="38" name="TextBox 37"/>
          <p:cNvSpPr txBox="1"/>
          <p:nvPr/>
        </p:nvSpPr>
        <p:spPr>
          <a:xfrm>
            <a:off x="3063240" y="2843784"/>
            <a:ext cx="594359" cy="603504"/>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Validated</a:t>
            </a:r>
          </a:p>
        </p:txBody>
      </p:sp>
      <p:sp>
        <p:nvSpPr>
          <p:cNvPr id="39" name="Rounded Rectangle 38"/>
          <p:cNvSpPr/>
          <p:nvPr/>
        </p:nvSpPr>
        <p:spPr>
          <a:xfrm>
            <a:off x="3703320" y="3026664"/>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40" name="Oval 39"/>
          <p:cNvSpPr/>
          <p:nvPr/>
        </p:nvSpPr>
        <p:spPr>
          <a:xfrm>
            <a:off x="5047488" y="3095244"/>
            <a:ext cx="100584" cy="100584"/>
          </a:xfrm>
          <a:prstGeom prst="ellipse">
            <a:avLst/>
          </a:prstGeom>
          <a:solidFill>
            <a:srgbClr val="1F497D"/>
          </a:solidFill>
          <a:ln w="9525">
            <a:solidFill>
              <a:srgbClr val="1F497D"/>
            </a:solidFill>
          </a:ln>
        </p:spPr>
        <p:txBody>
          <a:bodyPr rtlCol="0" anchor="ctr"/>
          <a:lstStyle/>
          <a:p>
            <a:pPr algn="ctr"/>
          </a:p>
        </p:txBody>
      </p:sp>
      <p:sp>
        <p:nvSpPr>
          <p:cNvPr id="41" name="Oval 40"/>
          <p:cNvSpPr/>
          <p:nvPr/>
        </p:nvSpPr>
        <p:spPr>
          <a:xfrm>
            <a:off x="5184648" y="3095244"/>
            <a:ext cx="100584" cy="100584"/>
          </a:xfrm>
          <a:prstGeom prst="ellipse">
            <a:avLst/>
          </a:prstGeom>
          <a:solidFill>
            <a:srgbClr val="1F497D"/>
          </a:solidFill>
          <a:ln w="9525">
            <a:solidFill>
              <a:srgbClr val="1F497D"/>
            </a:solidFill>
          </a:ln>
        </p:spPr>
        <p:txBody>
          <a:bodyPr rtlCol="0" anchor="ctr"/>
          <a:lstStyle/>
          <a:p>
            <a:pPr algn="ctr"/>
          </a:p>
        </p:txBody>
      </p:sp>
      <p:sp>
        <p:nvSpPr>
          <p:cNvPr id="42" name="Oval 41"/>
          <p:cNvSpPr/>
          <p:nvPr/>
        </p:nvSpPr>
        <p:spPr>
          <a:xfrm>
            <a:off x="5321807" y="3095244"/>
            <a:ext cx="100584" cy="100584"/>
          </a:xfrm>
          <a:prstGeom prst="ellipse">
            <a:avLst/>
          </a:prstGeom>
          <a:solidFill>
            <a:srgbClr val="1F497D"/>
          </a:solidFill>
          <a:ln w="9525">
            <a:solidFill>
              <a:srgbClr val="1F497D"/>
            </a:solidFill>
          </a:ln>
        </p:spPr>
        <p:txBody>
          <a:bodyPr rtlCol="0" anchor="ctr"/>
          <a:lstStyle/>
          <a:p>
            <a:pPr algn="ctr"/>
          </a:p>
        </p:txBody>
      </p:sp>
      <p:sp>
        <p:nvSpPr>
          <p:cNvPr id="43" name="TextBox 42"/>
          <p:cNvSpPr txBox="1"/>
          <p:nvPr/>
        </p:nvSpPr>
        <p:spPr>
          <a:xfrm>
            <a:off x="5724144" y="2843784"/>
            <a:ext cx="3172968" cy="603504"/>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Safety is the top demand dampener; the first-year eVisa approved 440 of 13,887 applications.</a:t>
            </a:r>
          </a:p>
        </p:txBody>
      </p:sp>
      <p:sp>
        <p:nvSpPr>
          <p:cNvPr id="44" name="TextBox 43"/>
          <p:cNvSpPr txBox="1"/>
          <p:nvPr/>
        </p:nvSpPr>
        <p:spPr>
          <a:xfrm>
            <a:off x="8970263" y="2843784"/>
            <a:ext cx="2798064" cy="603504"/>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The largest levers sit with national bodies; Wesgro's role is advocacy with evidence.</a:t>
            </a:r>
          </a:p>
        </p:txBody>
      </p:sp>
      <p:cxnSp>
        <p:nvCxnSpPr>
          <p:cNvPr id="45" name="Connector 44"/>
          <p:cNvCxnSpPr/>
          <p:nvPr/>
        </p:nvCxnSpPr>
        <p:spPr>
          <a:xfrm>
            <a:off x="384048" y="3447288"/>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84048" y="3447288"/>
            <a:ext cx="11420856" cy="219456"/>
          </a:xfrm>
          <a:prstGeom prst="rect">
            <a:avLst/>
          </a:prstGeom>
          <a:noFill/>
        </p:spPr>
        <p:txBody>
          <a:bodyPr wrap="square" anchor="ctr" lIns="36576" rIns="36576" tIns="21945" bIns="21945">
            <a:spAutoFit/>
          </a:bodyPr>
          <a:lstStyle/>
          <a:p>
            <a:pPr algn="l">
              <a:spcAft>
                <a:spcPts val="0"/>
              </a:spcAft>
            </a:pPr>
            <a:r>
              <a:rPr sz="800" b="1" i="0">
                <a:solidFill>
                  <a:srgbClr val="00AEEF"/>
                </a:solidFill>
                <a:latin typeface="Arial"/>
              </a:rPr>
              <a:t>PRODUCT AND DESTINATION CAPACITY</a:t>
            </a:r>
          </a:p>
        </p:txBody>
      </p:sp>
      <p:sp>
        <p:nvSpPr>
          <p:cNvPr id="47" name="TextBox 46"/>
          <p:cNvSpPr txBox="1"/>
          <p:nvPr/>
        </p:nvSpPr>
        <p:spPr>
          <a:xfrm>
            <a:off x="402336" y="3675888"/>
            <a:ext cx="2459736" cy="603504"/>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2d  </a:t>
            </a:r>
            <a:r>
              <a:rPr sz="950" b="1" i="0">
                <a:solidFill>
                  <a:srgbClr val="1F497D"/>
                </a:solidFill>
                <a:latin typeface="Arial"/>
              </a:rPr>
              <a:t>Support diversified route and product development</a:t>
            </a:r>
          </a:p>
        </p:txBody>
      </p:sp>
      <p:sp>
        <p:nvSpPr>
          <p:cNvPr id="48" name="Oval 47"/>
          <p:cNvSpPr/>
          <p:nvPr/>
        </p:nvSpPr>
        <p:spPr>
          <a:xfrm>
            <a:off x="2944368" y="3931920"/>
            <a:ext cx="91440" cy="91440"/>
          </a:xfrm>
          <a:prstGeom prst="ellipse">
            <a:avLst/>
          </a:prstGeom>
          <a:solidFill>
            <a:srgbClr val="156082"/>
          </a:solidFill>
          <a:ln>
            <a:noFill/>
          </a:ln>
        </p:spPr>
        <p:txBody>
          <a:bodyPr rtlCol="0" anchor="ctr"/>
          <a:lstStyle/>
          <a:p>
            <a:pPr algn="ctr"/>
          </a:p>
        </p:txBody>
      </p:sp>
      <p:sp>
        <p:nvSpPr>
          <p:cNvPr id="49" name="TextBox 48"/>
          <p:cNvSpPr txBox="1"/>
          <p:nvPr/>
        </p:nvSpPr>
        <p:spPr>
          <a:xfrm>
            <a:off x="3063240" y="3675888"/>
            <a:ext cx="594359" cy="603504"/>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Validated</a:t>
            </a:r>
          </a:p>
        </p:txBody>
      </p:sp>
      <p:sp>
        <p:nvSpPr>
          <p:cNvPr id="50" name="Rounded Rectangle 49"/>
          <p:cNvSpPr/>
          <p:nvPr/>
        </p:nvSpPr>
        <p:spPr>
          <a:xfrm>
            <a:off x="3703320" y="3858768"/>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51" name="Oval 50"/>
          <p:cNvSpPr/>
          <p:nvPr/>
        </p:nvSpPr>
        <p:spPr>
          <a:xfrm>
            <a:off x="5047488" y="3927348"/>
            <a:ext cx="100584" cy="100584"/>
          </a:xfrm>
          <a:prstGeom prst="ellipse">
            <a:avLst/>
          </a:prstGeom>
          <a:solidFill>
            <a:srgbClr val="1F497D"/>
          </a:solidFill>
          <a:ln w="9525">
            <a:solidFill>
              <a:srgbClr val="1F497D"/>
            </a:solidFill>
          </a:ln>
        </p:spPr>
        <p:txBody>
          <a:bodyPr rtlCol="0" anchor="ctr"/>
          <a:lstStyle/>
          <a:p>
            <a:pPr algn="ctr"/>
          </a:p>
        </p:txBody>
      </p:sp>
      <p:sp>
        <p:nvSpPr>
          <p:cNvPr id="52" name="Oval 51"/>
          <p:cNvSpPr/>
          <p:nvPr/>
        </p:nvSpPr>
        <p:spPr>
          <a:xfrm>
            <a:off x="5184648" y="3927348"/>
            <a:ext cx="100584" cy="100584"/>
          </a:xfrm>
          <a:prstGeom prst="ellipse">
            <a:avLst/>
          </a:prstGeom>
          <a:solidFill>
            <a:srgbClr val="1F497D"/>
          </a:solidFill>
          <a:ln w="9525">
            <a:solidFill>
              <a:srgbClr val="1F497D"/>
            </a:solidFill>
          </a:ln>
        </p:spPr>
        <p:txBody>
          <a:bodyPr rtlCol="0" anchor="ctr"/>
          <a:lstStyle/>
          <a:p>
            <a:pPr algn="ctr"/>
          </a:p>
        </p:txBody>
      </p:sp>
      <p:sp>
        <p:nvSpPr>
          <p:cNvPr id="53" name="Oval 52"/>
          <p:cNvSpPr/>
          <p:nvPr/>
        </p:nvSpPr>
        <p:spPr>
          <a:xfrm>
            <a:off x="5321807" y="3927348"/>
            <a:ext cx="100584" cy="100584"/>
          </a:xfrm>
          <a:prstGeom prst="ellipse">
            <a:avLst/>
          </a:prstGeom>
          <a:solidFill>
            <a:srgbClr val="FFFFFF"/>
          </a:solidFill>
          <a:ln w="9525">
            <a:solidFill>
              <a:srgbClr val="1F497D"/>
            </a:solidFill>
          </a:ln>
        </p:spPr>
        <p:txBody>
          <a:bodyPr rtlCol="0" anchor="ctr"/>
          <a:lstStyle/>
          <a:p>
            <a:pPr algn="ctr"/>
          </a:p>
        </p:txBody>
      </p:sp>
      <p:sp>
        <p:nvSpPr>
          <p:cNvPr id="54" name="TextBox 53"/>
          <p:cNvSpPr txBox="1"/>
          <p:nvPr/>
        </p:nvSpPr>
        <p:spPr>
          <a:xfrm>
            <a:off x="5724144" y="3675888"/>
            <a:ext cx="3172968" cy="603504"/>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50,332 assets mapped: readiness and accessibility fall sharply with distance from Cape Town; six touring routes defined.</a:t>
            </a:r>
          </a:p>
        </p:txBody>
      </p:sp>
      <p:sp>
        <p:nvSpPr>
          <p:cNvPr id="55" name="TextBox 54"/>
          <p:cNvSpPr txBox="1"/>
          <p:nvPr/>
        </p:nvSpPr>
        <p:spPr>
          <a:xfrm>
            <a:off x="8970263" y="3675888"/>
            <a:ext cx="2798064" cy="603504"/>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Prioritised investments and ROI are still missing from the framework.</a:t>
            </a:r>
          </a:p>
        </p:txBody>
      </p:sp>
      <p:cxnSp>
        <p:nvCxnSpPr>
          <p:cNvPr id="56" name="Connector 55"/>
          <p:cNvCxnSpPr/>
          <p:nvPr/>
        </p:nvCxnSpPr>
        <p:spPr>
          <a:xfrm>
            <a:off x="384048" y="4279392"/>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02336" y="4279392"/>
            <a:ext cx="2459736" cy="603504"/>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2e  </a:t>
            </a:r>
            <a:r>
              <a:rPr sz="950" b="1" i="0">
                <a:solidFill>
                  <a:srgbClr val="1F497D"/>
                </a:solidFill>
                <a:latin typeface="Arial"/>
              </a:rPr>
              <a:t>Align visitor experience in-destination</a:t>
            </a:r>
          </a:p>
        </p:txBody>
      </p:sp>
      <p:sp>
        <p:nvSpPr>
          <p:cNvPr id="58" name="Oval 57"/>
          <p:cNvSpPr/>
          <p:nvPr/>
        </p:nvSpPr>
        <p:spPr>
          <a:xfrm>
            <a:off x="2944368" y="4535424"/>
            <a:ext cx="91440" cy="91440"/>
          </a:xfrm>
          <a:prstGeom prst="ellipse">
            <a:avLst/>
          </a:prstGeom>
          <a:solidFill>
            <a:srgbClr val="156082"/>
          </a:solidFill>
          <a:ln>
            <a:noFill/>
          </a:ln>
        </p:spPr>
        <p:txBody>
          <a:bodyPr rtlCol="0" anchor="ctr"/>
          <a:lstStyle/>
          <a:p>
            <a:pPr algn="ctr"/>
          </a:p>
        </p:txBody>
      </p:sp>
      <p:sp>
        <p:nvSpPr>
          <p:cNvPr id="59" name="TextBox 58"/>
          <p:cNvSpPr txBox="1"/>
          <p:nvPr/>
        </p:nvSpPr>
        <p:spPr>
          <a:xfrm>
            <a:off x="3063240" y="4279392"/>
            <a:ext cx="594359" cy="603504"/>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Validated</a:t>
            </a:r>
          </a:p>
        </p:txBody>
      </p:sp>
      <p:sp>
        <p:nvSpPr>
          <p:cNvPr id="60" name="Rounded Rectangle 59"/>
          <p:cNvSpPr/>
          <p:nvPr/>
        </p:nvSpPr>
        <p:spPr>
          <a:xfrm>
            <a:off x="3703320" y="4462272"/>
            <a:ext cx="1207008" cy="237744"/>
          </a:xfrm>
          <a:prstGeom prst="roundRect">
            <a:avLst>
              <a:gd name="adj" fmla="val 50000"/>
            </a:avLst>
          </a:prstGeom>
          <a:solidFill>
            <a:srgbClr val="F2A900"/>
          </a:solidFill>
          <a:ln>
            <a:noFill/>
          </a:ln>
        </p:spPr>
        <p:txBody>
          <a:bodyPr rtlCol="0" anchor="ctr" lIns="27432" rIns="27432" tIns="0" bIns="0"/>
          <a:lstStyle/>
          <a:p>
            <a:pPr algn="ctr"/>
            <a:r>
              <a:rPr sz="750" b="1" i="0">
                <a:solidFill>
                  <a:srgbClr val="262626"/>
                </a:solidFill>
                <a:latin typeface="Arial"/>
              </a:rPr>
              <a:t>PARTLY SUPPORTED</a:t>
            </a:r>
          </a:p>
        </p:txBody>
      </p:sp>
      <p:sp>
        <p:nvSpPr>
          <p:cNvPr id="61" name="Oval 60"/>
          <p:cNvSpPr/>
          <p:nvPr/>
        </p:nvSpPr>
        <p:spPr>
          <a:xfrm>
            <a:off x="5047488" y="4530852"/>
            <a:ext cx="100584" cy="100584"/>
          </a:xfrm>
          <a:prstGeom prst="ellipse">
            <a:avLst/>
          </a:prstGeom>
          <a:solidFill>
            <a:srgbClr val="1F497D"/>
          </a:solidFill>
          <a:ln w="9525">
            <a:solidFill>
              <a:srgbClr val="1F497D"/>
            </a:solidFill>
          </a:ln>
        </p:spPr>
        <p:txBody>
          <a:bodyPr rtlCol="0" anchor="ctr"/>
          <a:lstStyle/>
          <a:p>
            <a:pPr algn="ctr"/>
          </a:p>
        </p:txBody>
      </p:sp>
      <p:sp>
        <p:nvSpPr>
          <p:cNvPr id="62" name="Oval 61"/>
          <p:cNvSpPr/>
          <p:nvPr/>
        </p:nvSpPr>
        <p:spPr>
          <a:xfrm>
            <a:off x="5184648" y="4530852"/>
            <a:ext cx="100584" cy="100584"/>
          </a:xfrm>
          <a:prstGeom prst="ellipse">
            <a:avLst/>
          </a:prstGeom>
          <a:solidFill>
            <a:srgbClr val="1F497D"/>
          </a:solidFill>
          <a:ln w="9525">
            <a:solidFill>
              <a:srgbClr val="1F497D"/>
            </a:solidFill>
          </a:ln>
        </p:spPr>
        <p:txBody>
          <a:bodyPr rtlCol="0" anchor="ctr"/>
          <a:lstStyle/>
          <a:p>
            <a:pPr algn="ctr"/>
          </a:p>
        </p:txBody>
      </p:sp>
      <p:sp>
        <p:nvSpPr>
          <p:cNvPr id="63" name="Oval 62"/>
          <p:cNvSpPr/>
          <p:nvPr/>
        </p:nvSpPr>
        <p:spPr>
          <a:xfrm>
            <a:off x="5321807" y="4530852"/>
            <a:ext cx="100584" cy="100584"/>
          </a:xfrm>
          <a:prstGeom prst="ellipse">
            <a:avLst/>
          </a:prstGeom>
          <a:solidFill>
            <a:srgbClr val="FFFFFF"/>
          </a:solidFill>
          <a:ln w="9525">
            <a:solidFill>
              <a:srgbClr val="1F497D"/>
            </a:solidFill>
          </a:ln>
        </p:spPr>
        <p:txBody>
          <a:bodyPr rtlCol="0" anchor="ctr"/>
          <a:lstStyle/>
          <a:p>
            <a:pPr algn="ctr"/>
          </a:p>
        </p:txBody>
      </p:sp>
      <p:sp>
        <p:nvSpPr>
          <p:cNvPr id="64" name="TextBox 63"/>
          <p:cNvSpPr txBox="1"/>
          <p:nvPr/>
        </p:nvSpPr>
        <p:spPr>
          <a:xfrm>
            <a:off x="5724144" y="4279392"/>
            <a:ext cx="3172968" cy="603504"/>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Peak queues of up to three hours at the Cableway; uneven service and restaurant quality outside core nodes.</a:t>
            </a:r>
          </a:p>
        </p:txBody>
      </p:sp>
      <p:sp>
        <p:nvSpPr>
          <p:cNvPr id="65" name="TextBox 64"/>
          <p:cNvSpPr txBox="1"/>
          <p:nvPr/>
        </p:nvSpPr>
        <p:spPr>
          <a:xfrm>
            <a:off x="8970263" y="4279392"/>
            <a:ext cx="2798064" cy="603504"/>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Evidence is stakeholder-led; benchmarks point to a provincial quality standard.</a:t>
            </a:r>
          </a:p>
        </p:txBody>
      </p:sp>
      <p:cxnSp>
        <p:nvCxnSpPr>
          <p:cNvPr id="66" name="Connector 65"/>
          <p:cNvCxnSpPr/>
          <p:nvPr/>
        </p:nvCxnSpPr>
        <p:spPr>
          <a:xfrm>
            <a:off x="384048" y="4882896"/>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02336" y="4882896"/>
            <a:ext cx="2459736" cy="603504"/>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2f  </a:t>
            </a:r>
            <a:r>
              <a:rPr sz="950" b="1" i="0">
                <a:solidFill>
                  <a:srgbClr val="1F497D"/>
                </a:solidFill>
                <a:latin typeface="Arial"/>
              </a:rPr>
              <a:t>Sustainably maximise nature-based and cultural attractions</a:t>
            </a:r>
          </a:p>
        </p:txBody>
      </p:sp>
      <p:sp>
        <p:nvSpPr>
          <p:cNvPr id="68" name="Oval 67"/>
          <p:cNvSpPr/>
          <p:nvPr/>
        </p:nvSpPr>
        <p:spPr>
          <a:xfrm>
            <a:off x="2944368" y="5138928"/>
            <a:ext cx="91440" cy="91440"/>
          </a:xfrm>
          <a:prstGeom prst="ellipse">
            <a:avLst/>
          </a:prstGeom>
          <a:solidFill>
            <a:srgbClr val="156082"/>
          </a:solidFill>
          <a:ln>
            <a:noFill/>
          </a:ln>
        </p:spPr>
        <p:txBody>
          <a:bodyPr rtlCol="0" anchor="ctr"/>
          <a:lstStyle/>
          <a:p>
            <a:pPr algn="ctr"/>
          </a:p>
        </p:txBody>
      </p:sp>
      <p:sp>
        <p:nvSpPr>
          <p:cNvPr id="69" name="TextBox 68"/>
          <p:cNvSpPr txBox="1"/>
          <p:nvPr/>
        </p:nvSpPr>
        <p:spPr>
          <a:xfrm>
            <a:off x="3063240" y="4882896"/>
            <a:ext cx="594359" cy="603504"/>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Validated</a:t>
            </a:r>
          </a:p>
        </p:txBody>
      </p:sp>
      <p:sp>
        <p:nvSpPr>
          <p:cNvPr id="70" name="Rounded Rectangle 69"/>
          <p:cNvSpPr/>
          <p:nvPr/>
        </p:nvSpPr>
        <p:spPr>
          <a:xfrm>
            <a:off x="3703320" y="5065776"/>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71" name="Oval 70"/>
          <p:cNvSpPr/>
          <p:nvPr/>
        </p:nvSpPr>
        <p:spPr>
          <a:xfrm>
            <a:off x="5047488" y="5134356"/>
            <a:ext cx="100584" cy="100584"/>
          </a:xfrm>
          <a:prstGeom prst="ellipse">
            <a:avLst/>
          </a:prstGeom>
          <a:solidFill>
            <a:srgbClr val="1F497D"/>
          </a:solidFill>
          <a:ln w="9525">
            <a:solidFill>
              <a:srgbClr val="1F497D"/>
            </a:solidFill>
          </a:ln>
        </p:spPr>
        <p:txBody>
          <a:bodyPr rtlCol="0" anchor="ctr"/>
          <a:lstStyle/>
          <a:p>
            <a:pPr algn="ctr"/>
          </a:p>
        </p:txBody>
      </p:sp>
      <p:sp>
        <p:nvSpPr>
          <p:cNvPr id="72" name="Oval 71"/>
          <p:cNvSpPr/>
          <p:nvPr/>
        </p:nvSpPr>
        <p:spPr>
          <a:xfrm>
            <a:off x="5184648" y="5134356"/>
            <a:ext cx="100584" cy="100584"/>
          </a:xfrm>
          <a:prstGeom prst="ellipse">
            <a:avLst/>
          </a:prstGeom>
          <a:solidFill>
            <a:srgbClr val="1F497D"/>
          </a:solidFill>
          <a:ln w="9525">
            <a:solidFill>
              <a:srgbClr val="1F497D"/>
            </a:solidFill>
          </a:ln>
        </p:spPr>
        <p:txBody>
          <a:bodyPr rtlCol="0" anchor="ctr"/>
          <a:lstStyle/>
          <a:p>
            <a:pPr algn="ctr"/>
          </a:p>
        </p:txBody>
      </p:sp>
      <p:sp>
        <p:nvSpPr>
          <p:cNvPr id="73" name="Oval 72"/>
          <p:cNvSpPr/>
          <p:nvPr/>
        </p:nvSpPr>
        <p:spPr>
          <a:xfrm>
            <a:off x="5321807" y="5134356"/>
            <a:ext cx="100584" cy="100584"/>
          </a:xfrm>
          <a:prstGeom prst="ellipse">
            <a:avLst/>
          </a:prstGeom>
          <a:solidFill>
            <a:srgbClr val="FFFFFF"/>
          </a:solidFill>
          <a:ln w="9525">
            <a:solidFill>
              <a:srgbClr val="1F497D"/>
            </a:solidFill>
          </a:ln>
        </p:spPr>
        <p:txBody>
          <a:bodyPr rtlCol="0" anchor="ctr"/>
          <a:lstStyle/>
          <a:p>
            <a:pPr algn="ctr"/>
          </a:p>
        </p:txBody>
      </p:sp>
      <p:sp>
        <p:nvSpPr>
          <p:cNvPr id="74" name="TextBox 73"/>
          <p:cNvSpPr txBox="1"/>
          <p:nvPr/>
        </p:nvSpPr>
        <p:spPr>
          <a:xfrm>
            <a:off x="5724144" y="4882896"/>
            <a:ext cx="3172968" cy="603504"/>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Boulders and the Table Mountain summit are at capacity; weather costs Robben Island ~R16m a year.</a:t>
            </a:r>
          </a:p>
        </p:txBody>
      </p:sp>
      <p:sp>
        <p:nvSpPr>
          <p:cNvPr id="75" name="TextBox 74"/>
          <p:cNvSpPr txBox="1"/>
          <p:nvPr/>
        </p:nvSpPr>
        <p:spPr>
          <a:xfrm>
            <a:off x="8970263" y="4882896"/>
            <a:ext cx="2798064" cy="603504"/>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Growth must route to new product, which tempers any pure volume target.</a:t>
            </a:r>
          </a:p>
        </p:txBody>
      </p:sp>
      <p:cxnSp>
        <p:nvCxnSpPr>
          <p:cNvPr id="76" name="Connector 75"/>
          <p:cNvCxnSpPr/>
          <p:nvPr/>
        </p:nvCxnSpPr>
        <p:spPr>
          <a:xfrm>
            <a:off x="384048" y="5486400"/>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Communities sit beside the demand but outside the spend; the missing piece is a seller with a stake</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BUILD ENABLING CAPABILITY | FINDINGS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SME &amp; Community Inclusion Plan (Sep 2026) (Census 2011 sub-places; SA Tourism; project analysis)</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15</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84048" y="1234440"/>
            <a:ext cx="2743200" cy="1234440"/>
          </a:xfrm>
          <a:prstGeom prst="rect">
            <a:avLst/>
          </a:prstGeom>
          <a:solidFill>
            <a:srgbClr val="DCEEF7"/>
          </a:solidFill>
          <a:ln>
            <a:noFill/>
          </a:ln>
        </p:spPr>
        <p:txBody>
          <a:bodyPr rtlCol="0" anchor="ctr"/>
          <a:lstStyle/>
          <a:p>
            <a:pPr algn="ctr"/>
          </a:p>
        </p:txBody>
      </p:sp>
      <p:sp>
        <p:nvSpPr>
          <p:cNvPr id="9" name="TextBox 8"/>
          <p:cNvSpPr txBox="1"/>
          <p:nvPr/>
        </p:nvSpPr>
        <p:spPr>
          <a:xfrm>
            <a:off x="493776" y="1307592"/>
            <a:ext cx="2523744" cy="617220"/>
          </a:xfrm>
          <a:prstGeom prst="rect">
            <a:avLst/>
          </a:prstGeom>
          <a:noFill/>
        </p:spPr>
        <p:txBody>
          <a:bodyPr wrap="square" anchor="b" lIns="36576" rIns="36576" tIns="21945" bIns="21945">
            <a:spAutoFit/>
          </a:bodyPr>
          <a:lstStyle/>
          <a:p>
            <a:pPr algn="l">
              <a:spcAft>
                <a:spcPts val="0"/>
              </a:spcAft>
            </a:pPr>
            <a:r>
              <a:rPr sz="2800" b="1" i="0">
                <a:solidFill>
                  <a:srgbClr val="1F497D"/>
                </a:solidFill>
                <a:latin typeface="Arial"/>
              </a:rPr>
              <a:t>18.4%</a:t>
            </a:r>
          </a:p>
        </p:txBody>
      </p:sp>
      <p:sp>
        <p:nvSpPr>
          <p:cNvPr id="10" name="TextBox 9"/>
          <p:cNvSpPr txBox="1"/>
          <p:nvPr/>
        </p:nvSpPr>
        <p:spPr>
          <a:xfrm>
            <a:off x="493776" y="1913382"/>
            <a:ext cx="2523744" cy="530809"/>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of residents live in the 20 priority communities</a:t>
            </a:r>
          </a:p>
        </p:txBody>
      </p:sp>
      <p:sp>
        <p:nvSpPr>
          <p:cNvPr id="11" name="Rectangle 10"/>
          <p:cNvSpPr/>
          <p:nvPr/>
        </p:nvSpPr>
        <p:spPr>
          <a:xfrm>
            <a:off x="3246120" y="1234440"/>
            <a:ext cx="2743200" cy="1234440"/>
          </a:xfrm>
          <a:prstGeom prst="rect">
            <a:avLst/>
          </a:prstGeom>
          <a:solidFill>
            <a:srgbClr val="DCEEF7"/>
          </a:solidFill>
          <a:ln>
            <a:noFill/>
          </a:ln>
        </p:spPr>
        <p:txBody>
          <a:bodyPr rtlCol="0" anchor="ctr"/>
          <a:lstStyle/>
          <a:p>
            <a:pPr algn="ctr"/>
          </a:p>
        </p:txBody>
      </p:sp>
      <p:sp>
        <p:nvSpPr>
          <p:cNvPr id="12" name="TextBox 11"/>
          <p:cNvSpPr txBox="1"/>
          <p:nvPr/>
        </p:nvSpPr>
        <p:spPr>
          <a:xfrm>
            <a:off x="3355848" y="1307592"/>
            <a:ext cx="2523744" cy="617220"/>
          </a:xfrm>
          <a:prstGeom prst="rect">
            <a:avLst/>
          </a:prstGeom>
          <a:noFill/>
        </p:spPr>
        <p:txBody>
          <a:bodyPr wrap="square" anchor="b" lIns="36576" rIns="36576" tIns="21945" bIns="21945">
            <a:spAutoFit/>
          </a:bodyPr>
          <a:lstStyle/>
          <a:p>
            <a:pPr algn="l">
              <a:spcAft>
                <a:spcPts val="0"/>
              </a:spcAft>
            </a:pPr>
            <a:r>
              <a:rPr sz="2400" b="1" i="0">
                <a:solidFill>
                  <a:srgbClr val="1F497D"/>
                </a:solidFill>
                <a:latin typeface="Arial"/>
              </a:rPr>
              <a:t>0.02-0.04%</a:t>
            </a:r>
          </a:p>
        </p:txBody>
      </p:sp>
      <p:sp>
        <p:nvSpPr>
          <p:cNvPr id="13" name="TextBox 12"/>
          <p:cNvSpPr txBox="1"/>
          <p:nvPr/>
        </p:nvSpPr>
        <p:spPr>
          <a:xfrm>
            <a:off x="3355848" y="1913382"/>
            <a:ext cx="2523744" cy="530809"/>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of foreign visitor spend reaches them (R4m-R10m)</a:t>
            </a:r>
          </a:p>
        </p:txBody>
      </p:sp>
      <p:sp>
        <p:nvSpPr>
          <p:cNvPr id="14" name="Rectangle 13"/>
          <p:cNvSpPr/>
          <p:nvPr/>
        </p:nvSpPr>
        <p:spPr>
          <a:xfrm>
            <a:off x="6108192" y="1234440"/>
            <a:ext cx="2743200" cy="1234440"/>
          </a:xfrm>
          <a:prstGeom prst="rect">
            <a:avLst/>
          </a:prstGeom>
          <a:solidFill>
            <a:srgbClr val="DCEEF7"/>
          </a:solidFill>
          <a:ln>
            <a:noFill/>
          </a:ln>
        </p:spPr>
        <p:txBody>
          <a:bodyPr rtlCol="0" anchor="ctr"/>
          <a:lstStyle/>
          <a:p>
            <a:pPr algn="ctr"/>
          </a:p>
        </p:txBody>
      </p:sp>
      <p:sp>
        <p:nvSpPr>
          <p:cNvPr id="15" name="TextBox 14"/>
          <p:cNvSpPr txBox="1"/>
          <p:nvPr/>
        </p:nvSpPr>
        <p:spPr>
          <a:xfrm>
            <a:off x="6217920" y="1307592"/>
            <a:ext cx="2523744" cy="617220"/>
          </a:xfrm>
          <a:prstGeom prst="rect">
            <a:avLst/>
          </a:prstGeom>
          <a:noFill/>
        </p:spPr>
        <p:txBody>
          <a:bodyPr wrap="square" anchor="b" lIns="36576" rIns="36576" tIns="21945" bIns="21945">
            <a:spAutoFit/>
          </a:bodyPr>
          <a:lstStyle/>
          <a:p>
            <a:pPr algn="l">
              <a:spcAft>
                <a:spcPts val="0"/>
              </a:spcAft>
            </a:pPr>
            <a:r>
              <a:rPr sz="2800" b="1" i="0">
                <a:solidFill>
                  <a:srgbClr val="1F497D"/>
                </a:solidFill>
                <a:latin typeface="Arial"/>
              </a:rPr>
              <a:t>R259m</a:t>
            </a:r>
          </a:p>
        </p:txBody>
      </p:sp>
      <p:sp>
        <p:nvSpPr>
          <p:cNvPr id="16" name="TextBox 15"/>
          <p:cNvSpPr txBox="1"/>
          <p:nvPr/>
        </p:nvSpPr>
        <p:spPr>
          <a:xfrm>
            <a:off x="6217920" y="1913382"/>
            <a:ext cx="2523744" cy="530809"/>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a year if they captured 1% of spend; R547m at the 2035 ambition</a:t>
            </a:r>
          </a:p>
        </p:txBody>
      </p:sp>
      <p:sp>
        <p:nvSpPr>
          <p:cNvPr id="17" name="Rectangle 16"/>
          <p:cNvSpPr/>
          <p:nvPr/>
        </p:nvSpPr>
        <p:spPr>
          <a:xfrm>
            <a:off x="8970264" y="1234440"/>
            <a:ext cx="2834640" cy="1234440"/>
          </a:xfrm>
          <a:prstGeom prst="rect">
            <a:avLst/>
          </a:prstGeom>
          <a:solidFill>
            <a:srgbClr val="DCEEF7"/>
          </a:solidFill>
          <a:ln>
            <a:noFill/>
          </a:ln>
        </p:spPr>
        <p:txBody>
          <a:bodyPr rtlCol="0" anchor="ctr"/>
          <a:lstStyle/>
          <a:p>
            <a:pPr algn="ctr"/>
          </a:p>
        </p:txBody>
      </p:sp>
      <p:sp>
        <p:nvSpPr>
          <p:cNvPr id="18" name="TextBox 17"/>
          <p:cNvSpPr txBox="1"/>
          <p:nvPr/>
        </p:nvSpPr>
        <p:spPr>
          <a:xfrm>
            <a:off x="9079992" y="1307592"/>
            <a:ext cx="2615184" cy="617220"/>
          </a:xfrm>
          <a:prstGeom prst="rect">
            <a:avLst/>
          </a:prstGeom>
          <a:noFill/>
        </p:spPr>
        <p:txBody>
          <a:bodyPr wrap="square" anchor="b" lIns="36576" rIns="36576" tIns="21945" bIns="21945">
            <a:spAutoFit/>
          </a:bodyPr>
          <a:lstStyle/>
          <a:p>
            <a:pPr algn="l">
              <a:spcAft>
                <a:spcPts val="0"/>
              </a:spcAft>
            </a:pPr>
            <a:r>
              <a:rPr sz="2600" b="1" i="0">
                <a:solidFill>
                  <a:srgbClr val="1F497D"/>
                </a:solidFill>
                <a:latin typeface="Arial"/>
              </a:rPr>
              <a:t>93 of 107</a:t>
            </a:r>
          </a:p>
        </p:txBody>
      </p:sp>
      <p:sp>
        <p:nvSpPr>
          <p:cNvPr id="19" name="TextBox 18"/>
          <p:cNvSpPr txBox="1"/>
          <p:nvPr/>
        </p:nvSpPr>
        <p:spPr>
          <a:xfrm>
            <a:off x="9079992" y="1913382"/>
            <a:ext cx="2615184" cy="530809"/>
          </a:xfrm>
          <a:prstGeom prst="rect">
            <a:avLst/>
          </a:prstGeom>
          <a:noFill/>
        </p:spPr>
        <p:txBody>
          <a:bodyPr wrap="square" anchor="t" lIns="36576" rIns="36576" tIns="21945" bIns="21945">
            <a:spAutoFit/>
          </a:bodyPr>
          <a:lstStyle/>
          <a:p>
            <a:pPr algn="l">
              <a:spcAft>
                <a:spcPts val="0"/>
              </a:spcAft>
            </a:pPr>
            <a:r>
              <a:rPr sz="950" b="0" i="0">
                <a:solidFill>
                  <a:srgbClr val="404040"/>
                </a:solidFill>
                <a:latin typeface="Arial"/>
              </a:rPr>
              <a:t>long-listed communities lie within 45 minutes of a node</a:t>
            </a:r>
          </a:p>
        </p:txBody>
      </p:sp>
      <p:graphicFrame>
        <p:nvGraphicFramePr>
          <p:cNvPr id="20" name="Table 19"/>
          <p:cNvGraphicFramePr>
            <a:graphicFrameLocks noGrp="1"/>
          </p:cNvGraphicFramePr>
          <p:nvPr/>
        </p:nvGraphicFramePr>
        <p:xfrm>
          <a:off x="384048" y="2697480"/>
          <a:ext cx="6035040" cy="2103120"/>
        </p:xfrm>
        <a:graphic>
          <a:graphicData uri="http://schemas.openxmlformats.org/drawingml/2006/table">
            <a:tbl>
              <a:tblPr firstRow="1" bandRow="0">
                <a:tableStyleId>{5C22544A-7EE6-4342-B048-85BDC9FD1C3A}</a:tableStyleId>
              </a:tblPr>
              <a:tblGrid>
                <a:gridCol w="1920240"/>
                <a:gridCol w="1188720"/>
                <a:gridCol w="2926080"/>
              </a:tblGrid>
              <a:tr h="420624">
                <a:tc>
                  <a:txBody>
                    <a:bodyPr wrap="square"/>
                    <a:lstStyle/>
                    <a:p>
                      <a:pPr algn="l"/>
                      <a:r>
                        <a:rPr sz="1000" b="1" i="0">
                          <a:solidFill>
                            <a:srgbClr val="FFFFFF"/>
                          </a:solidFill>
                          <a:latin typeface="Arial"/>
                        </a:rPr>
                        <a:t>Binding constraint</a:t>
                      </a:r>
                    </a:p>
                  </a:txBody>
                  <a:tcPr marL="54864" marR="54864" marT="27432" marB="27432" anchor="ctr">
                    <a:solidFill>
                      <a:srgbClr val="1F497D"/>
                    </a:solidFill>
                  </a:tcPr>
                </a:tc>
                <a:tc>
                  <a:txBody>
                    <a:bodyPr wrap="square"/>
                    <a:lstStyle/>
                    <a:p>
                      <a:pPr algn="l"/>
                      <a:r>
                        <a:rPr sz="1000" b="1" i="0">
                          <a:solidFill>
                            <a:srgbClr val="FFFFFF"/>
                          </a:solidFill>
                          <a:latin typeface="Arial"/>
                        </a:rPr>
                        <a:t>Communities</a:t>
                      </a:r>
                    </a:p>
                  </a:txBody>
                  <a:tcPr marL="54864" marR="54864" marT="27432" marB="27432" anchor="ctr">
                    <a:solidFill>
                      <a:srgbClr val="1F497D"/>
                    </a:solidFill>
                  </a:tcPr>
                </a:tc>
                <a:tc>
                  <a:txBody>
                    <a:bodyPr wrap="square"/>
                    <a:lstStyle/>
                    <a:p>
                      <a:pPr algn="l"/>
                      <a:r>
                        <a:rPr sz="1000" b="1" i="0">
                          <a:solidFill>
                            <a:srgbClr val="FFFFFF"/>
                          </a:solidFill>
                          <a:latin typeface="Arial"/>
                        </a:rPr>
                        <a:t>What it means</a:t>
                      </a:r>
                    </a:p>
                  </a:txBody>
                  <a:tcPr marL="54864" marR="54864" marT="27432" marB="27432" anchor="ctr">
                    <a:solidFill>
                      <a:srgbClr val="1F497D"/>
                    </a:solidFill>
                  </a:tcPr>
                </a:tc>
              </a:tr>
              <a:tr h="420624">
                <a:tc>
                  <a:txBody>
                    <a:bodyPr wrap="square"/>
                    <a:lstStyle/>
                    <a:p>
                      <a:pPr algn="l"/>
                      <a:r>
                        <a:rPr sz="1000" b="1" i="0">
                          <a:solidFill>
                            <a:srgbClr val="1F497D"/>
                          </a:solidFill>
                          <a:latin typeface="Arial"/>
                        </a:rPr>
                        <a:t>Organisation</a:t>
                      </a:r>
                    </a:p>
                  </a:txBody>
                  <a:tcPr marL="54864" marR="54864" marT="27432" marB="27432" anchor="ctr">
                    <a:solidFill>
                      <a:srgbClr val="FFFFFF"/>
                    </a:solidFill>
                  </a:tcPr>
                </a:tc>
                <a:tc>
                  <a:txBody>
                    <a:bodyPr wrap="square"/>
                    <a:lstStyle/>
                    <a:p>
                      <a:pPr algn="l"/>
                      <a:r>
                        <a:rPr sz="1000" b="0" i="0">
                          <a:solidFill>
                            <a:srgbClr val="404040"/>
                          </a:solidFill>
                          <a:latin typeface="Arial"/>
                        </a:rPr>
                        <a:t>11 of 20</a:t>
                      </a:r>
                    </a:p>
                  </a:txBody>
                  <a:tcPr marL="54864" marR="54864" marT="27432" marB="27432" anchor="ctr">
                    <a:solidFill>
                      <a:srgbClr val="FFFFFF"/>
                    </a:solidFill>
                  </a:tcPr>
                </a:tc>
                <a:tc>
                  <a:txBody>
                    <a:bodyPr wrap="square"/>
                    <a:lstStyle/>
                    <a:p>
                      <a:pPr algn="l"/>
                      <a:r>
                        <a:rPr sz="1000" b="0" i="0">
                          <a:solidFill>
                            <a:srgbClr val="404040"/>
                          </a:solidFill>
                          <a:latin typeface="Arial"/>
                        </a:rPr>
                        <a:t>No body packages, sells and records local revenue</a:t>
                      </a:r>
                    </a:p>
                  </a:txBody>
                  <a:tcPr marL="54864" marR="54864" marT="27432" marB="27432" anchor="ctr">
                    <a:solidFill>
                      <a:srgbClr val="FFFFFF"/>
                    </a:solidFill>
                  </a:tcPr>
                </a:tc>
              </a:tr>
              <a:tr h="420624">
                <a:tc>
                  <a:txBody>
                    <a:bodyPr wrap="square"/>
                    <a:lstStyle/>
                    <a:p>
                      <a:pPr algn="l"/>
                      <a:r>
                        <a:rPr sz="1000" b="1" i="0">
                          <a:solidFill>
                            <a:srgbClr val="1F497D"/>
                          </a:solidFill>
                          <a:latin typeface="Arial"/>
                        </a:rPr>
                        <a:t>Safety perception gap</a:t>
                      </a:r>
                    </a:p>
                  </a:txBody>
                  <a:tcPr marL="54864" marR="54864" marT="27432" marB="27432" anchor="ctr">
                    <a:solidFill>
                      <a:srgbClr val="F2F2F2"/>
                    </a:solidFill>
                  </a:tcPr>
                </a:tc>
                <a:tc>
                  <a:txBody>
                    <a:bodyPr wrap="square"/>
                    <a:lstStyle/>
                    <a:p>
                      <a:pPr algn="l"/>
                      <a:r>
                        <a:rPr sz="1000" b="0" i="0">
                          <a:solidFill>
                            <a:srgbClr val="404040"/>
                          </a:solidFill>
                          <a:latin typeface="Arial"/>
                        </a:rPr>
                        <a:t>9 of 20</a:t>
                      </a:r>
                    </a:p>
                  </a:txBody>
                  <a:tcPr marL="54864" marR="54864" marT="27432" marB="27432" anchor="ctr">
                    <a:solidFill>
                      <a:srgbClr val="F2F2F2"/>
                    </a:solidFill>
                  </a:tcPr>
                </a:tc>
                <a:tc>
                  <a:txBody>
                    <a:bodyPr wrap="square"/>
                    <a:lstStyle/>
                    <a:p>
                      <a:pPr algn="l"/>
                      <a:r>
                        <a:rPr sz="1000" b="0" i="0">
                          <a:solidFill>
                            <a:srgbClr val="404040"/>
                          </a:solidFill>
                          <a:latin typeface="Arial"/>
                        </a:rPr>
                        <a:t>Activation needs a site safety plan first</a:t>
                      </a:r>
                    </a:p>
                  </a:txBody>
                  <a:tcPr marL="54864" marR="54864" marT="27432" marB="27432" anchor="ctr">
                    <a:solidFill>
                      <a:srgbClr val="F2F2F2"/>
                    </a:solidFill>
                  </a:tcPr>
                </a:tc>
              </a:tr>
              <a:tr h="420624">
                <a:tc>
                  <a:txBody>
                    <a:bodyPr wrap="square"/>
                    <a:lstStyle/>
                    <a:p>
                      <a:pPr algn="l"/>
                      <a:r>
                        <a:rPr sz="1000" b="1" i="0">
                          <a:solidFill>
                            <a:srgbClr val="1F497D"/>
                          </a:solidFill>
                          <a:latin typeface="Arial"/>
                        </a:rPr>
                        <a:t>Extortion recorded</a:t>
                      </a:r>
                    </a:p>
                  </a:txBody>
                  <a:tcPr marL="54864" marR="54864" marT="27432" marB="27432" anchor="ctr">
                    <a:solidFill>
                      <a:srgbClr val="FFFFFF"/>
                    </a:solidFill>
                  </a:tcPr>
                </a:tc>
                <a:tc>
                  <a:txBody>
                    <a:bodyPr wrap="square"/>
                    <a:lstStyle/>
                    <a:p>
                      <a:pPr algn="l"/>
                      <a:r>
                        <a:rPr sz="1000" b="0" i="0">
                          <a:solidFill>
                            <a:srgbClr val="404040"/>
                          </a:solidFill>
                          <a:latin typeface="Arial"/>
                        </a:rPr>
                        <a:t>5 of 20</a:t>
                      </a:r>
                    </a:p>
                  </a:txBody>
                  <a:tcPr marL="54864" marR="54864" marT="27432" marB="27432" anchor="ctr">
                    <a:solidFill>
                      <a:srgbClr val="FFFFFF"/>
                    </a:solidFill>
                  </a:tcPr>
                </a:tc>
                <a:tc>
                  <a:txBody>
                    <a:bodyPr wrap="square"/>
                    <a:lstStyle/>
                    <a:p>
                      <a:pPr algn="l"/>
                      <a:r>
                        <a:rPr sz="1000" b="0" i="0">
                          <a:solidFill>
                            <a:srgbClr val="404040"/>
                          </a:solidFill>
                          <a:latin typeface="Arial"/>
                        </a:rPr>
                        <a:t>A separate safety gate before launch</a:t>
                      </a:r>
                    </a:p>
                  </a:txBody>
                  <a:tcPr marL="54864" marR="54864" marT="27432" marB="27432" anchor="ctr">
                    <a:solidFill>
                      <a:srgbClr val="FFFFFF"/>
                    </a:solidFill>
                  </a:tcPr>
                </a:tc>
              </a:tr>
              <a:tr h="420624">
                <a:tc>
                  <a:txBody>
                    <a:bodyPr wrap="square"/>
                    <a:lstStyle/>
                    <a:p>
                      <a:pPr algn="l"/>
                      <a:r>
                        <a:rPr sz="1000" b="1" i="0">
                          <a:solidFill>
                            <a:srgbClr val="1F497D"/>
                          </a:solidFill>
                          <a:latin typeface="Arial"/>
                        </a:rPr>
                        <a:t>Distance</a:t>
                      </a:r>
                    </a:p>
                  </a:txBody>
                  <a:tcPr marL="54864" marR="54864" marT="27432" marB="27432" anchor="ctr">
                    <a:solidFill>
                      <a:srgbClr val="F2F2F2"/>
                    </a:solidFill>
                  </a:tcPr>
                </a:tc>
                <a:tc>
                  <a:txBody>
                    <a:bodyPr wrap="square"/>
                    <a:lstStyle/>
                    <a:p>
                      <a:pPr algn="l"/>
                      <a:r>
                        <a:rPr sz="1000" b="0" i="0">
                          <a:solidFill>
                            <a:srgbClr val="404040"/>
                          </a:solidFill>
                          <a:latin typeface="Arial"/>
                        </a:rPr>
                        <a:t>0 of 20</a:t>
                      </a:r>
                    </a:p>
                  </a:txBody>
                  <a:tcPr marL="54864" marR="54864" marT="27432" marB="27432" anchor="ctr">
                    <a:solidFill>
                      <a:srgbClr val="F2F2F2"/>
                    </a:solidFill>
                  </a:tcPr>
                </a:tc>
                <a:tc>
                  <a:txBody>
                    <a:bodyPr wrap="square"/>
                    <a:lstStyle/>
                    <a:p>
                      <a:pPr algn="l"/>
                      <a:r>
                        <a:rPr sz="1000" b="0" i="0">
                          <a:solidFill>
                            <a:srgbClr val="404040"/>
                          </a:solidFill>
                          <a:latin typeface="Arial"/>
                        </a:rPr>
                        <a:t>Demand is near; the route to market is missing</a:t>
                      </a:r>
                    </a:p>
                  </a:txBody>
                  <a:tcPr marL="54864" marR="54864" marT="27432" marB="27432" anchor="ctr">
                    <a:solidFill>
                      <a:srgbClr val="F2F2F2"/>
                    </a:solidFill>
                  </a:tcPr>
                </a:tc>
              </a:tr>
            </a:tbl>
          </a:graphicData>
        </a:graphic>
      </p:graphicFrame>
      <p:sp>
        <p:nvSpPr>
          <p:cNvPr id="21" name="Rectangle 20"/>
          <p:cNvSpPr/>
          <p:nvPr/>
        </p:nvSpPr>
        <p:spPr>
          <a:xfrm>
            <a:off x="6629400" y="2697480"/>
            <a:ext cx="5166360" cy="2194560"/>
          </a:xfrm>
          <a:prstGeom prst="rect">
            <a:avLst/>
          </a:prstGeom>
          <a:solidFill>
            <a:srgbClr val="F2F2F2"/>
          </a:solidFill>
          <a:ln>
            <a:noFill/>
          </a:ln>
        </p:spPr>
        <p:txBody>
          <a:bodyPr rtlCol="0" anchor="ctr"/>
          <a:lstStyle/>
          <a:p>
            <a:pPr algn="ctr"/>
          </a:p>
        </p:txBody>
      </p:sp>
      <p:sp>
        <p:nvSpPr>
          <p:cNvPr id="22" name="Rectangle 21"/>
          <p:cNvSpPr/>
          <p:nvPr/>
        </p:nvSpPr>
        <p:spPr>
          <a:xfrm>
            <a:off x="6629400" y="2697480"/>
            <a:ext cx="54864" cy="2194560"/>
          </a:xfrm>
          <a:prstGeom prst="rect">
            <a:avLst/>
          </a:prstGeom>
          <a:solidFill>
            <a:srgbClr val="00AEEF"/>
          </a:solidFill>
          <a:ln>
            <a:noFill/>
          </a:ln>
        </p:spPr>
        <p:txBody>
          <a:bodyPr rtlCol="0" anchor="ctr"/>
          <a:lstStyle/>
          <a:p>
            <a:pPr algn="ctr"/>
          </a:p>
        </p:txBody>
      </p:sp>
      <p:sp>
        <p:nvSpPr>
          <p:cNvPr id="23" name="TextBox 22"/>
          <p:cNvSpPr txBox="1"/>
          <p:nvPr/>
        </p:nvSpPr>
        <p:spPr>
          <a:xfrm>
            <a:off x="6793992" y="2788920"/>
            <a:ext cx="489204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Benchmark lesson (Rio, Medellín, Soweto, Costa Rica)</a:t>
            </a:r>
          </a:p>
        </p:txBody>
      </p:sp>
      <p:sp>
        <p:nvSpPr>
          <p:cNvPr id="24" name="TextBox 23"/>
          <p:cNvSpPr txBox="1"/>
          <p:nvPr/>
        </p:nvSpPr>
        <p:spPr>
          <a:xfrm>
            <a:off x="6793992" y="3108960"/>
            <a:ext cx="4892040" cy="1691639"/>
          </a:xfrm>
          <a:prstGeom prst="rect">
            <a:avLst/>
          </a:prstGeom>
          <a:noFill/>
        </p:spPr>
        <p:txBody>
          <a:bodyPr wrap="square" anchor="t" lIns="36576" rIns="36576" tIns="21945" bIns="21945">
            <a:spAutoFit/>
          </a:bodyPr>
          <a:lstStyle/>
          <a:p>
            <a:pPr algn="l">
              <a:spcAft>
                <a:spcPts val="400"/>
              </a:spcAft>
            </a:pPr>
            <a:r>
              <a:rPr sz="1000" b="0" i="0">
                <a:solidFill>
                  <a:srgbClr val="404040"/>
                </a:solidFill>
                <a:latin typeface="Arial"/>
              </a:rPr>
              <a:t>A seller with a stake, a safe and workable visit and product that keeps spend local come first. Exposure comes last. Kliptown spent ~R497m on assets before an operator existed; it now draws ~4,000 visitors a year.</a:t>
            </a:r>
          </a:p>
        </p:txBody>
      </p:sp>
      <p:sp>
        <p:nvSpPr>
          <p:cNvPr id="25" name="Rectangle 24"/>
          <p:cNvSpPr/>
          <p:nvPr/>
        </p:nvSpPr>
        <p:spPr>
          <a:xfrm>
            <a:off x="384048" y="5074920"/>
            <a:ext cx="11420856" cy="502920"/>
          </a:xfrm>
          <a:prstGeom prst="rect">
            <a:avLst/>
          </a:prstGeom>
          <a:solidFill>
            <a:srgbClr val="1F497D"/>
          </a:solidFill>
          <a:ln>
            <a:noFill/>
          </a:ln>
        </p:spPr>
        <p:txBody>
          <a:bodyPr rtlCol="0" anchor="ctr"/>
          <a:lstStyle/>
          <a:p>
            <a:pPr algn="ctr"/>
          </a:p>
        </p:txBody>
      </p:sp>
      <p:sp>
        <p:nvSpPr>
          <p:cNvPr id="26" name="TextBox 25"/>
          <p:cNvSpPr txBox="1"/>
          <p:nvPr/>
        </p:nvSpPr>
        <p:spPr>
          <a:xfrm>
            <a:off x="548640" y="5074920"/>
            <a:ext cx="11064240" cy="502920"/>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Pilot two or three communities with a working booking route and a safety gate before any capital investment.</a:t>
            </a:r>
          </a:p>
        </p:txBody>
      </p:sp>
      <p:sp>
        <p:nvSpPr>
          <p:cNvPr id="27" name="TextBox 26"/>
          <p:cNvSpPr txBox="1"/>
          <p:nvPr/>
        </p:nvSpPr>
        <p:spPr>
          <a:xfrm>
            <a:off x="384048" y="5650992"/>
            <a:ext cx="11338560" cy="457200"/>
          </a:xfrm>
          <a:prstGeom prst="rect">
            <a:avLst/>
          </a:prstGeom>
          <a:noFill/>
        </p:spPr>
        <p:txBody>
          <a:bodyPr wrap="square" anchor="t" lIns="36576" rIns="36576" tIns="21945" bIns="21945">
            <a:spAutoFit/>
          </a:bodyPr>
          <a:lstStyle/>
          <a:p>
            <a:pPr algn="l">
              <a:spcAft>
                <a:spcPts val="0"/>
              </a:spcAft>
            </a:pPr>
            <a:r>
              <a:rPr sz="1000" b="0" i="1">
                <a:solidFill>
                  <a:srgbClr val="7F7F7F"/>
                </a:solidFill>
                <a:latin typeface="Arial"/>
              </a:rPr>
              <a:t>Not yet covered: skills and workforce supply, the 10,000 SMMEs onboarding goal, and digital enablement at provincial scale.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Governance and data were the most widely raised constraints: 15 of 16 organisations named each</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BUILD ENABLING CAPABILITY | FINDINGS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Stakeholder Insights Report (Mar 2026) (16 organisations, Phase 1); municipal and mobility factbases; Global Benchmarking Report (Mar 2026)</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16</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84048" y="1234440"/>
            <a:ext cx="3703320" cy="2743200"/>
          </a:xfrm>
          <a:prstGeom prst="rect">
            <a:avLst/>
          </a:prstGeom>
          <a:solidFill>
            <a:srgbClr val="F2F2F2"/>
          </a:solidFill>
          <a:ln>
            <a:noFill/>
          </a:ln>
        </p:spPr>
        <p:txBody>
          <a:bodyPr rtlCol="0" anchor="ctr"/>
          <a:lstStyle/>
          <a:p>
            <a:pPr algn="ctr"/>
          </a:p>
        </p:txBody>
      </p:sp>
      <p:sp>
        <p:nvSpPr>
          <p:cNvPr id="9" name="Rectangle 8"/>
          <p:cNvSpPr/>
          <p:nvPr/>
        </p:nvSpPr>
        <p:spPr>
          <a:xfrm>
            <a:off x="384048" y="1234440"/>
            <a:ext cx="54864" cy="2743200"/>
          </a:xfrm>
          <a:prstGeom prst="rect">
            <a:avLst/>
          </a:prstGeom>
          <a:solidFill>
            <a:srgbClr val="00AEEF"/>
          </a:solidFill>
          <a:ln>
            <a:noFill/>
          </a:ln>
        </p:spPr>
        <p:txBody>
          <a:bodyPr rtlCol="0" anchor="ctr"/>
          <a:lstStyle/>
          <a:p>
            <a:pPr algn="ctr"/>
          </a:p>
        </p:txBody>
      </p:sp>
      <p:sp>
        <p:nvSpPr>
          <p:cNvPr id="10" name="TextBox 9"/>
          <p:cNvSpPr txBox="1"/>
          <p:nvPr/>
        </p:nvSpPr>
        <p:spPr>
          <a:xfrm>
            <a:off x="548640" y="1325880"/>
            <a:ext cx="34290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Mandates are fragmented</a:t>
            </a:r>
          </a:p>
        </p:txBody>
      </p:sp>
      <p:sp>
        <p:nvSpPr>
          <p:cNvPr id="11" name="TextBox 10"/>
          <p:cNvSpPr txBox="1"/>
          <p:nvPr/>
        </p:nvSpPr>
        <p:spPr>
          <a:xfrm>
            <a:off x="548640" y="1645920"/>
            <a:ext cx="3429000" cy="2240280"/>
          </a:xfrm>
          <a:prstGeom prst="rect">
            <a:avLst/>
          </a:prstGeom>
          <a:noFill/>
        </p:spPr>
        <p:txBody>
          <a:bodyPr wrap="square" anchor="t" lIns="36576" rIns="36576" tIns="21945" bIns="21945">
            <a:spAutoFit/>
          </a:bodyPr>
          <a:lstStyle/>
          <a:p>
            <a:pPr algn="l" marL="146304" indent="-146304">
              <a:spcAft>
                <a:spcPts val="500"/>
              </a:spcAft>
              <a:buClr>
                <a:srgbClr val="00AEEF"/>
              </a:buClr>
              <a:buFont typeface="Arial"/>
              <a:buChar char="•"/>
            </a:pPr>
            <a:r>
              <a:rPr sz="1000" b="0" i="0">
                <a:solidFill>
                  <a:srgbClr val="404040"/>
                </a:solidFill>
                <a:latin typeface="Arial"/>
              </a:rPr>
              <a:t>ACSA, TNPA and Home Affairs hold airport, port and visa levers.</a:t>
            </a:r>
          </a:p>
          <a:p>
            <a:pPr algn="l" marL="146304" indent="-146304">
              <a:spcAft>
                <a:spcPts val="500"/>
              </a:spcAft>
              <a:buClr>
                <a:srgbClr val="00AEEF"/>
              </a:buClr>
              <a:buFont typeface="Arial"/>
              <a:buChar char="•"/>
            </a:pPr>
            <a:r>
              <a:rPr sz="1000" b="0" i="0">
                <a:solidFill>
                  <a:srgbClr val="404040"/>
                </a:solidFill>
                <a:latin typeface="Arial"/>
              </a:rPr>
              <a:t>Circular 131 disrupted municipal funding for local tourism bodies.</a:t>
            </a:r>
          </a:p>
          <a:p>
            <a:pPr algn="l" marL="146304" indent="-146304">
              <a:spcAft>
                <a:spcPts val="500"/>
              </a:spcAft>
              <a:buClr>
                <a:srgbClr val="00AEEF"/>
              </a:buClr>
              <a:buFont typeface="Arial"/>
              <a:buChar char="•"/>
            </a:pPr>
            <a:r>
              <a:rPr sz="1000" b="0" i="0">
                <a:solidFill>
                  <a:srgbClr val="404040"/>
                </a:solidFill>
                <a:latin typeface="Arial"/>
              </a:rPr>
              <a:t>Tourism investments often sit outside tourism budgets.</a:t>
            </a:r>
          </a:p>
          <a:p>
            <a:pPr algn="l" marL="146304" indent="-146304">
              <a:spcAft>
                <a:spcPts val="500"/>
              </a:spcAft>
              <a:buClr>
                <a:srgbClr val="00AEEF"/>
              </a:buClr>
              <a:buFont typeface="Arial"/>
              <a:buChar char="•"/>
            </a:pPr>
            <a:r>
              <a:rPr sz="1000" b="0" i="0">
                <a:solidFill>
                  <a:srgbClr val="404040"/>
                </a:solidFill>
                <a:latin typeface="Arial"/>
              </a:rPr>
              <a:t>The City coordination cluster is still only proposed.</a:t>
            </a:r>
          </a:p>
        </p:txBody>
      </p:sp>
      <p:sp>
        <p:nvSpPr>
          <p:cNvPr id="12" name="Rectangle 11"/>
          <p:cNvSpPr/>
          <p:nvPr/>
        </p:nvSpPr>
        <p:spPr>
          <a:xfrm>
            <a:off x="4242816" y="1234440"/>
            <a:ext cx="3703320" cy="2743200"/>
          </a:xfrm>
          <a:prstGeom prst="rect">
            <a:avLst/>
          </a:prstGeom>
          <a:solidFill>
            <a:srgbClr val="F2F2F2"/>
          </a:solidFill>
          <a:ln>
            <a:noFill/>
          </a:ln>
        </p:spPr>
        <p:txBody>
          <a:bodyPr rtlCol="0" anchor="ctr"/>
          <a:lstStyle/>
          <a:p>
            <a:pPr algn="ctr"/>
          </a:p>
        </p:txBody>
      </p:sp>
      <p:sp>
        <p:nvSpPr>
          <p:cNvPr id="13" name="Rectangle 12"/>
          <p:cNvSpPr/>
          <p:nvPr/>
        </p:nvSpPr>
        <p:spPr>
          <a:xfrm>
            <a:off x="4242816" y="1234440"/>
            <a:ext cx="54864" cy="2743200"/>
          </a:xfrm>
          <a:prstGeom prst="rect">
            <a:avLst/>
          </a:prstGeom>
          <a:solidFill>
            <a:srgbClr val="00AEEF"/>
          </a:solidFill>
          <a:ln>
            <a:noFill/>
          </a:ln>
        </p:spPr>
        <p:txBody>
          <a:bodyPr rtlCol="0" anchor="ctr"/>
          <a:lstStyle/>
          <a:p>
            <a:pPr algn="ctr"/>
          </a:p>
        </p:txBody>
      </p:sp>
      <p:sp>
        <p:nvSpPr>
          <p:cNvPr id="14" name="TextBox 13"/>
          <p:cNvSpPr txBox="1"/>
          <p:nvPr/>
        </p:nvSpPr>
        <p:spPr>
          <a:xfrm>
            <a:off x="4407407" y="1325880"/>
            <a:ext cx="34290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Data is lagged and proxy-based</a:t>
            </a:r>
          </a:p>
        </p:txBody>
      </p:sp>
      <p:sp>
        <p:nvSpPr>
          <p:cNvPr id="15" name="TextBox 14"/>
          <p:cNvSpPr txBox="1"/>
          <p:nvPr/>
        </p:nvSpPr>
        <p:spPr>
          <a:xfrm>
            <a:off x="4407407" y="1645920"/>
            <a:ext cx="3429000" cy="2240280"/>
          </a:xfrm>
          <a:prstGeom prst="rect">
            <a:avLst/>
          </a:prstGeom>
          <a:noFill/>
        </p:spPr>
        <p:txBody>
          <a:bodyPr wrap="square" anchor="t" lIns="36576" rIns="36576" tIns="21945" bIns="21945">
            <a:spAutoFit/>
          </a:bodyPr>
          <a:lstStyle/>
          <a:p>
            <a:pPr algn="l" marL="146304" indent="-146304">
              <a:spcAft>
                <a:spcPts val="500"/>
              </a:spcAft>
              <a:buClr>
                <a:srgbClr val="00AEEF"/>
              </a:buClr>
              <a:buFont typeface="Arial"/>
              <a:buChar char="•"/>
            </a:pPr>
            <a:r>
              <a:rPr sz="1000" b="0" i="0">
                <a:solidFill>
                  <a:srgbClr val="404040"/>
                </a:solidFill>
                <a:latin typeface="Arial"/>
              </a:rPr>
              <a:t>No approved method for provincial tourism GDP and jobs.</a:t>
            </a:r>
          </a:p>
          <a:p>
            <a:pPr algn="l" marL="146304" indent="-146304">
              <a:spcAft>
                <a:spcPts val="500"/>
              </a:spcAft>
              <a:buClr>
                <a:srgbClr val="00AEEF"/>
              </a:buClr>
              <a:buFont typeface="Arial"/>
              <a:buChar char="•"/>
            </a:pPr>
            <a:r>
              <a:rPr sz="1000" b="0" i="0">
                <a:solidFill>
                  <a:srgbClr val="404040"/>
                </a:solidFill>
                <a:latin typeface="Arial"/>
              </a:rPr>
              <a:t>Stats SA cites 749 vacancies slowing the tourism satellite account.</a:t>
            </a:r>
          </a:p>
          <a:p>
            <a:pPr algn="l" marL="146304" indent="-146304">
              <a:spcAft>
                <a:spcPts val="500"/>
              </a:spcAft>
              <a:buClr>
                <a:srgbClr val="00AEEF"/>
              </a:buClr>
              <a:buFont typeface="Arial"/>
              <a:buChar char="•"/>
            </a:pPr>
            <a:r>
              <a:rPr sz="1000" b="0" i="0">
                <a:solidFill>
                  <a:srgbClr val="404040"/>
                </a:solidFill>
                <a:latin typeface="Arial"/>
              </a:rPr>
              <a:t>Airport and card data overstate tourism unless filtered.</a:t>
            </a:r>
          </a:p>
          <a:p>
            <a:pPr algn="l" marL="146304" indent="-146304">
              <a:spcAft>
                <a:spcPts val="500"/>
              </a:spcAft>
              <a:buClr>
                <a:srgbClr val="00AEEF"/>
              </a:buClr>
              <a:buFont typeface="Arial"/>
              <a:buChar char="•"/>
            </a:pPr>
            <a:r>
              <a:rPr sz="1000" b="0" i="0">
                <a:solidFill>
                  <a:srgbClr val="404040"/>
                </a:solidFill>
                <a:latin typeface="Arial"/>
              </a:rPr>
              <a:t>Operators and attractions do not share visitor-level data.</a:t>
            </a:r>
          </a:p>
        </p:txBody>
      </p:sp>
      <p:sp>
        <p:nvSpPr>
          <p:cNvPr id="16" name="Rectangle 15"/>
          <p:cNvSpPr/>
          <p:nvPr/>
        </p:nvSpPr>
        <p:spPr>
          <a:xfrm>
            <a:off x="8101583" y="1234440"/>
            <a:ext cx="3703320" cy="2743200"/>
          </a:xfrm>
          <a:prstGeom prst="rect">
            <a:avLst/>
          </a:prstGeom>
          <a:solidFill>
            <a:srgbClr val="F2F2F2"/>
          </a:solidFill>
          <a:ln>
            <a:noFill/>
          </a:ln>
        </p:spPr>
        <p:txBody>
          <a:bodyPr rtlCol="0" anchor="ctr"/>
          <a:lstStyle/>
          <a:p>
            <a:pPr algn="ctr"/>
          </a:p>
        </p:txBody>
      </p:sp>
      <p:sp>
        <p:nvSpPr>
          <p:cNvPr id="17" name="Rectangle 16"/>
          <p:cNvSpPr/>
          <p:nvPr/>
        </p:nvSpPr>
        <p:spPr>
          <a:xfrm>
            <a:off x="8101583" y="1234440"/>
            <a:ext cx="54864" cy="2743200"/>
          </a:xfrm>
          <a:prstGeom prst="rect">
            <a:avLst/>
          </a:prstGeom>
          <a:solidFill>
            <a:srgbClr val="00AEEF"/>
          </a:solidFill>
          <a:ln>
            <a:noFill/>
          </a:ln>
        </p:spPr>
        <p:txBody>
          <a:bodyPr rtlCol="0" anchor="ctr"/>
          <a:lstStyle/>
          <a:p>
            <a:pPr algn="ctr"/>
          </a:p>
        </p:txBody>
      </p:sp>
      <p:sp>
        <p:nvSpPr>
          <p:cNvPr id="18" name="TextBox 17"/>
          <p:cNvSpPr txBox="1"/>
          <p:nvPr/>
        </p:nvSpPr>
        <p:spPr>
          <a:xfrm>
            <a:off x="8266175" y="1325880"/>
            <a:ext cx="34290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Coordination works where it is built</a:t>
            </a:r>
          </a:p>
        </p:txBody>
      </p:sp>
      <p:sp>
        <p:nvSpPr>
          <p:cNvPr id="19" name="TextBox 18"/>
          <p:cNvSpPr txBox="1"/>
          <p:nvPr/>
        </p:nvSpPr>
        <p:spPr>
          <a:xfrm>
            <a:off x="8266175" y="1645920"/>
            <a:ext cx="3429000" cy="2240280"/>
          </a:xfrm>
          <a:prstGeom prst="rect">
            <a:avLst/>
          </a:prstGeom>
          <a:noFill/>
        </p:spPr>
        <p:txBody>
          <a:bodyPr wrap="square" anchor="t" lIns="36576" rIns="36576" tIns="21945" bIns="21945">
            <a:spAutoFit/>
          </a:bodyPr>
          <a:lstStyle/>
          <a:p>
            <a:pPr algn="l" marL="146304" indent="-146304">
              <a:spcAft>
                <a:spcPts val="500"/>
              </a:spcAft>
              <a:buClr>
                <a:srgbClr val="00AEEF"/>
              </a:buClr>
              <a:buFont typeface="Arial"/>
              <a:buChar char="•"/>
            </a:pPr>
            <a:r>
              <a:rPr sz="1000" b="0" i="0">
                <a:solidFill>
                  <a:srgbClr val="404040"/>
                </a:solidFill>
                <a:latin typeface="Arial"/>
              </a:rPr>
              <a:t>Cape Town Air Access: 17 new mainline routes since 2015, top of its peer group.</a:t>
            </a:r>
          </a:p>
          <a:p>
            <a:pPr algn="l" marL="146304" indent="-146304">
              <a:spcAft>
                <a:spcPts val="500"/>
              </a:spcAft>
              <a:buClr>
                <a:srgbClr val="00AEEF"/>
              </a:buClr>
              <a:buFont typeface="Arial"/>
              <a:buChar char="•"/>
            </a:pPr>
            <a:r>
              <a:rPr sz="1000" b="0" i="0">
                <a:solidFill>
                  <a:srgbClr val="404040"/>
                </a:solidFill>
                <a:latin typeface="Arial"/>
              </a:rPr>
              <a:t>JAMS already convenes associations, Wesgro, WCG and the City.</a:t>
            </a:r>
          </a:p>
          <a:p>
            <a:pPr algn="l" marL="146304" indent="-146304">
              <a:spcAft>
                <a:spcPts val="500"/>
              </a:spcAft>
              <a:buClr>
                <a:srgbClr val="00AEEF"/>
              </a:buClr>
              <a:buFont typeface="Arial"/>
              <a:buChar char="•"/>
            </a:pPr>
            <a:r>
              <a:rPr sz="1000" b="0" i="0">
                <a:solidFill>
                  <a:srgbClr val="404040"/>
                </a:solidFill>
                <a:latin typeface="Arial"/>
              </a:rPr>
              <a:t>Collaboration on bids and cruise lifts conversion (Mossel Bay: 4 to 27 calls).</a:t>
            </a:r>
          </a:p>
        </p:txBody>
      </p:sp>
      <p:sp>
        <p:nvSpPr>
          <p:cNvPr id="20" name="TextBox 19"/>
          <p:cNvSpPr txBox="1"/>
          <p:nvPr/>
        </p:nvSpPr>
        <p:spPr>
          <a:xfrm>
            <a:off x="384048" y="4114800"/>
            <a:ext cx="1133856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WHAT THE BENCHMARKS SAY</a:t>
            </a:r>
          </a:p>
        </p:txBody>
      </p:sp>
      <p:graphicFrame>
        <p:nvGraphicFramePr>
          <p:cNvPr id="21" name="Table 20"/>
          <p:cNvGraphicFramePr>
            <a:graphicFrameLocks noGrp="1"/>
          </p:cNvGraphicFramePr>
          <p:nvPr/>
        </p:nvGraphicFramePr>
        <p:xfrm>
          <a:off x="384048" y="4407408"/>
          <a:ext cx="11420856" cy="1243584"/>
        </p:xfrm>
        <a:graphic>
          <a:graphicData uri="http://schemas.openxmlformats.org/drawingml/2006/table">
            <a:tbl>
              <a:tblPr firstRow="1" bandRow="0">
                <a:tableStyleId>{5C22544A-7EE6-4342-B048-85BDC9FD1C3A}</a:tableStyleId>
              </a:tblPr>
              <a:tblGrid>
                <a:gridCol w="1645920"/>
                <a:gridCol w="3657600"/>
                <a:gridCol w="6117336"/>
              </a:tblGrid>
              <a:tr h="310896">
                <a:tc>
                  <a:txBody>
                    <a:bodyPr wrap="square"/>
                    <a:lstStyle/>
                    <a:p>
                      <a:pPr algn="l"/>
                      <a:r>
                        <a:rPr sz="950" b="1" i="0">
                          <a:solidFill>
                            <a:srgbClr val="FFFFFF"/>
                          </a:solidFill>
                          <a:latin typeface="Arial"/>
                        </a:rPr>
                        <a:t>Destination</a:t>
                      </a:r>
                    </a:p>
                  </a:txBody>
                  <a:tcPr marL="54864" marR="54864" marT="27432" marB="27432" anchor="ctr">
                    <a:solidFill>
                      <a:srgbClr val="1F497D"/>
                    </a:solidFill>
                  </a:tcPr>
                </a:tc>
                <a:tc>
                  <a:txBody>
                    <a:bodyPr wrap="square"/>
                    <a:lstStyle/>
                    <a:p>
                      <a:pPr algn="l"/>
                      <a:r>
                        <a:rPr sz="950" b="1" i="0">
                          <a:solidFill>
                            <a:srgbClr val="FFFFFF"/>
                          </a:solidFill>
                          <a:latin typeface="Arial"/>
                        </a:rPr>
                        <a:t>Primary lever</a:t>
                      </a:r>
                    </a:p>
                  </a:txBody>
                  <a:tcPr marL="54864" marR="54864" marT="27432" marB="27432" anchor="ctr">
                    <a:solidFill>
                      <a:srgbClr val="1F497D"/>
                    </a:solidFill>
                  </a:tcPr>
                </a:tc>
                <a:tc>
                  <a:txBody>
                    <a:bodyPr wrap="square"/>
                    <a:lstStyle/>
                    <a:p>
                      <a:pPr algn="l"/>
                      <a:r>
                        <a:rPr sz="950" b="1" i="0">
                          <a:solidFill>
                            <a:srgbClr val="FFFFFF"/>
                          </a:solidFill>
                          <a:latin typeface="Arial"/>
                        </a:rPr>
                        <a:t>Lesson for the Western Cape</a:t>
                      </a:r>
                    </a:p>
                  </a:txBody>
                  <a:tcPr marL="54864" marR="54864" marT="27432" marB="27432" anchor="ctr">
                    <a:solidFill>
                      <a:srgbClr val="1F497D"/>
                    </a:solidFill>
                  </a:tcPr>
                </a:tc>
              </a:tr>
              <a:tr h="310896">
                <a:tc>
                  <a:txBody>
                    <a:bodyPr wrap="square"/>
                    <a:lstStyle/>
                    <a:p>
                      <a:pPr algn="l"/>
                      <a:r>
                        <a:rPr sz="950" b="0" i="0">
                          <a:solidFill>
                            <a:srgbClr val="404040"/>
                          </a:solidFill>
                          <a:latin typeface="Arial"/>
                        </a:rPr>
                        <a:t>Singapore</a:t>
                      </a:r>
                    </a:p>
                  </a:txBody>
                  <a:tcPr marL="54864" marR="54864" marT="27432" marB="27432" anchor="ctr">
                    <a:solidFill>
                      <a:srgbClr val="FFFFFF"/>
                    </a:solidFill>
                  </a:tcPr>
                </a:tc>
                <a:tc>
                  <a:txBody>
                    <a:bodyPr wrap="square"/>
                    <a:lstStyle/>
                    <a:p>
                      <a:pPr algn="l"/>
                      <a:r>
                        <a:rPr sz="950" b="0" i="0">
                          <a:solidFill>
                            <a:srgbClr val="404040"/>
                          </a:solidFill>
                          <a:latin typeface="Arial"/>
                        </a:rPr>
                        <a:t>Integrated aviation hub; quality uplift</a:t>
                      </a:r>
                    </a:p>
                  </a:txBody>
                  <a:tcPr marL="54864" marR="54864" marT="27432" marB="27432" anchor="ctr">
                    <a:solidFill>
                      <a:srgbClr val="FFFFFF"/>
                    </a:solidFill>
                  </a:tcPr>
                </a:tc>
                <a:tc>
                  <a:txBody>
                    <a:bodyPr wrap="square"/>
                    <a:lstStyle/>
                    <a:p>
                      <a:pPr algn="l"/>
                      <a:r>
                        <a:rPr sz="950" b="0" i="0">
                          <a:solidFill>
                            <a:srgbClr val="404040"/>
                          </a:solidFill>
                          <a:latin typeface="Arial"/>
                        </a:rPr>
                        <a:t>One orchestrating body with shared KPIs across aviation, events and marketing</a:t>
                      </a:r>
                    </a:p>
                  </a:txBody>
                  <a:tcPr marL="54864" marR="54864" marT="27432" marB="27432" anchor="ctr">
                    <a:solidFill>
                      <a:srgbClr val="FFFFFF"/>
                    </a:solidFill>
                  </a:tcPr>
                </a:tc>
              </a:tr>
              <a:tr h="310896">
                <a:tc>
                  <a:txBody>
                    <a:bodyPr wrap="square"/>
                    <a:lstStyle/>
                    <a:p>
                      <a:pPr algn="l"/>
                      <a:r>
                        <a:rPr sz="950" b="0" i="0">
                          <a:solidFill>
                            <a:srgbClr val="404040"/>
                          </a:solidFill>
                          <a:latin typeface="Arial"/>
                        </a:rPr>
                        <a:t>New Zealand</a:t>
                      </a:r>
                    </a:p>
                  </a:txBody>
                  <a:tcPr marL="54864" marR="54864" marT="27432" marB="27432" anchor="ctr">
                    <a:solidFill>
                      <a:srgbClr val="F2F2F2"/>
                    </a:solidFill>
                  </a:tcPr>
                </a:tc>
                <a:tc>
                  <a:txBody>
                    <a:bodyPr wrap="square"/>
                    <a:lstStyle/>
                    <a:p>
                      <a:pPr algn="l"/>
                      <a:r>
                        <a:rPr sz="950" b="0" i="0">
                          <a:solidFill>
                            <a:srgbClr val="404040"/>
                          </a:solidFill>
                          <a:latin typeface="Arial"/>
                        </a:rPr>
                        <a:t>Route-accountable marketing; yield metrics</a:t>
                      </a:r>
                    </a:p>
                  </a:txBody>
                  <a:tcPr marL="54864" marR="54864" marT="27432" marB="27432" anchor="ctr">
                    <a:solidFill>
                      <a:srgbClr val="F2F2F2"/>
                    </a:solidFill>
                  </a:tcPr>
                </a:tc>
                <a:tc>
                  <a:txBody>
                    <a:bodyPr wrap="square"/>
                    <a:lstStyle/>
                    <a:p>
                      <a:pPr algn="l"/>
                      <a:r>
                        <a:rPr sz="950" b="0" i="0">
                          <a:solidFill>
                            <a:srgbClr val="404040"/>
                          </a:solidFill>
                          <a:latin typeface="Arial"/>
                        </a:rPr>
                        <a:t>Tie marketing budgets to route economics; measure yield, not only arrivals</a:t>
                      </a:r>
                    </a:p>
                  </a:txBody>
                  <a:tcPr marL="54864" marR="54864" marT="27432" marB="27432" anchor="ctr">
                    <a:solidFill>
                      <a:srgbClr val="F2F2F2"/>
                    </a:solidFill>
                  </a:tcPr>
                </a:tc>
              </a:tr>
              <a:tr h="310896">
                <a:tc>
                  <a:txBody>
                    <a:bodyPr wrap="square"/>
                    <a:lstStyle/>
                    <a:p>
                      <a:pPr algn="l"/>
                      <a:r>
                        <a:rPr sz="950" b="0" i="0">
                          <a:solidFill>
                            <a:srgbClr val="404040"/>
                          </a:solidFill>
                          <a:latin typeface="Arial"/>
                        </a:rPr>
                        <a:t>Valencia</a:t>
                      </a:r>
                    </a:p>
                  </a:txBody>
                  <a:tcPr marL="54864" marR="54864" marT="27432" marB="27432" anchor="ctr">
                    <a:solidFill>
                      <a:srgbClr val="FFFFFF"/>
                    </a:solidFill>
                  </a:tcPr>
                </a:tc>
                <a:tc>
                  <a:txBody>
                    <a:bodyPr wrap="square"/>
                    <a:lstStyle/>
                    <a:p>
                      <a:pPr algn="l"/>
                      <a:r>
                        <a:rPr sz="950" b="0" i="0">
                          <a:solidFill>
                            <a:srgbClr val="404040"/>
                          </a:solidFill>
                          <a:latin typeface="Arial"/>
                        </a:rPr>
                        <a:t>Public-private governance; quality standard</a:t>
                      </a:r>
                    </a:p>
                  </a:txBody>
                  <a:tcPr marL="54864" marR="54864" marT="27432" marB="27432" anchor="ctr">
                    <a:solidFill>
                      <a:srgbClr val="FFFFFF"/>
                    </a:solidFill>
                  </a:tcPr>
                </a:tc>
                <a:tc>
                  <a:txBody>
                    <a:bodyPr wrap="square"/>
                    <a:lstStyle/>
                    <a:p>
                      <a:pPr algn="l"/>
                      <a:r>
                        <a:rPr sz="950" b="0" i="0">
                          <a:solidFill>
                            <a:srgbClr val="404040"/>
                          </a:solidFill>
                          <a:latin typeface="Arial"/>
                        </a:rPr>
                        <a:t>Sector councils and a provincial quality charter</a:t>
                      </a:r>
                    </a:p>
                  </a:txBody>
                  <a:tcPr marL="54864" marR="54864" marT="27432" marB="27432" anchor="ctr">
                    <a:solidFill>
                      <a:srgbClr val="FFFFFF"/>
                    </a:solidFill>
                  </a:tcPr>
                </a:tc>
              </a:tr>
            </a:tbl>
          </a:graphicData>
        </a:graphic>
      </p:graphicFrame>
      <p:sp>
        <p:nvSpPr>
          <p:cNvPr id="22" name="Rectangle 21"/>
          <p:cNvSpPr/>
          <p:nvPr/>
        </p:nvSpPr>
        <p:spPr>
          <a:xfrm>
            <a:off x="384048" y="5760720"/>
            <a:ext cx="11420856" cy="438912"/>
          </a:xfrm>
          <a:prstGeom prst="rect">
            <a:avLst/>
          </a:prstGeom>
          <a:solidFill>
            <a:srgbClr val="1F497D"/>
          </a:solidFill>
          <a:ln>
            <a:noFill/>
          </a:ln>
        </p:spPr>
        <p:txBody>
          <a:bodyPr rtlCol="0" anchor="ctr"/>
          <a:lstStyle/>
          <a:p>
            <a:pPr algn="ctr"/>
          </a:p>
        </p:txBody>
      </p:sp>
      <p:sp>
        <p:nvSpPr>
          <p:cNvPr id="23" name="TextBox 22"/>
          <p:cNvSpPr txBox="1"/>
          <p:nvPr/>
        </p:nvSpPr>
        <p:spPr>
          <a:xfrm>
            <a:off x="548640" y="5760720"/>
            <a:ext cx="11064240" cy="438912"/>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Without a coordinating mechanism, Wesgro is accountable for outcomes it cannot control.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Governance, collaboration and data are proven constraints; skills and capital remain untested</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BUILD ENABLING CAPABILITY | VERDICT</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SME &amp; Community Inclusion Plan (Sep 2026); Stakeholder Insights Report (Mar 2026); factbases; Infrastructure Report (Jun 2026)</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17</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84048" y="1097280"/>
            <a:ext cx="11420856" cy="274320"/>
          </a:xfrm>
          <a:prstGeom prst="rect">
            <a:avLst/>
          </a:prstGeom>
          <a:solidFill>
            <a:srgbClr val="1F497D"/>
          </a:solidFill>
          <a:ln>
            <a:noFill/>
          </a:ln>
        </p:spPr>
        <p:txBody>
          <a:bodyPr rtlCol="0" anchor="ctr"/>
          <a:lstStyle/>
          <a:p>
            <a:pPr algn="ctr"/>
          </a:p>
        </p:txBody>
      </p:sp>
      <p:sp>
        <p:nvSpPr>
          <p:cNvPr id="9" name="TextBox 8"/>
          <p:cNvSpPr txBox="1"/>
          <p:nvPr/>
        </p:nvSpPr>
        <p:spPr>
          <a:xfrm>
            <a:off x="420623" y="1097280"/>
            <a:ext cx="245973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Focus area (v4 tree)</a:t>
            </a:r>
          </a:p>
        </p:txBody>
      </p:sp>
      <p:sp>
        <p:nvSpPr>
          <p:cNvPr id="10" name="TextBox 9"/>
          <p:cNvSpPr txBox="1"/>
          <p:nvPr/>
        </p:nvSpPr>
        <p:spPr>
          <a:xfrm>
            <a:off x="2935224" y="1097280"/>
            <a:ext cx="72237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Team marker</a:t>
            </a:r>
          </a:p>
        </p:txBody>
      </p:sp>
      <p:sp>
        <p:nvSpPr>
          <p:cNvPr id="11" name="TextBox 10"/>
          <p:cNvSpPr txBox="1"/>
          <p:nvPr/>
        </p:nvSpPr>
        <p:spPr>
          <a:xfrm>
            <a:off x="3712463" y="1097280"/>
            <a:ext cx="1243584"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Our verdict</a:t>
            </a:r>
          </a:p>
        </p:txBody>
      </p:sp>
      <p:sp>
        <p:nvSpPr>
          <p:cNvPr id="12" name="TextBox 11"/>
          <p:cNvSpPr txBox="1"/>
          <p:nvPr/>
        </p:nvSpPr>
        <p:spPr>
          <a:xfrm>
            <a:off x="5010912" y="1097280"/>
            <a:ext cx="694944"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Evidence</a:t>
            </a:r>
          </a:p>
        </p:txBody>
      </p:sp>
      <p:sp>
        <p:nvSpPr>
          <p:cNvPr id="13" name="TextBox 12"/>
          <p:cNvSpPr txBox="1"/>
          <p:nvPr/>
        </p:nvSpPr>
        <p:spPr>
          <a:xfrm>
            <a:off x="5760720" y="1097280"/>
            <a:ext cx="319125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What the evidence shows</a:t>
            </a:r>
          </a:p>
        </p:txBody>
      </p:sp>
      <p:sp>
        <p:nvSpPr>
          <p:cNvPr id="14" name="TextBox 13"/>
          <p:cNvSpPr txBox="1"/>
          <p:nvPr/>
        </p:nvSpPr>
        <p:spPr>
          <a:xfrm>
            <a:off x="9006839" y="1097280"/>
            <a:ext cx="2779776" cy="274320"/>
          </a:xfrm>
          <a:prstGeom prst="rect">
            <a:avLst/>
          </a:prstGeom>
          <a:noFill/>
        </p:spPr>
        <p:txBody>
          <a:bodyPr wrap="square" anchor="ctr" lIns="36576" rIns="36576" tIns="21945" bIns="21945">
            <a:spAutoFit/>
          </a:bodyPr>
          <a:lstStyle/>
          <a:p>
            <a:pPr algn="l">
              <a:spcAft>
                <a:spcPts val="0"/>
              </a:spcAft>
            </a:pPr>
            <a:r>
              <a:rPr sz="900" b="1" i="0">
                <a:solidFill>
                  <a:srgbClr val="FFFFFF"/>
                </a:solidFill>
                <a:latin typeface="Arial"/>
              </a:rPr>
              <a:t>So what</a:t>
            </a:r>
          </a:p>
        </p:txBody>
      </p:sp>
      <p:sp>
        <p:nvSpPr>
          <p:cNvPr id="15" name="TextBox 14"/>
          <p:cNvSpPr txBox="1"/>
          <p:nvPr/>
        </p:nvSpPr>
        <p:spPr>
          <a:xfrm>
            <a:off x="384048" y="1408176"/>
            <a:ext cx="11420856" cy="219456"/>
          </a:xfrm>
          <a:prstGeom prst="rect">
            <a:avLst/>
          </a:prstGeom>
          <a:noFill/>
        </p:spPr>
        <p:txBody>
          <a:bodyPr wrap="square" anchor="ctr" lIns="36576" rIns="36576" tIns="21945" bIns="21945">
            <a:spAutoFit/>
          </a:bodyPr>
          <a:lstStyle/>
          <a:p>
            <a:pPr algn="l">
              <a:spcAft>
                <a:spcPts val="0"/>
              </a:spcAft>
            </a:pPr>
            <a:r>
              <a:rPr sz="800" b="1" i="0">
                <a:solidFill>
                  <a:srgbClr val="00AEEF"/>
                </a:solidFill>
                <a:latin typeface="Arial"/>
              </a:rPr>
              <a:t>INCLUSION AND SUSTAINABILITY</a:t>
            </a:r>
          </a:p>
        </p:txBody>
      </p:sp>
      <p:sp>
        <p:nvSpPr>
          <p:cNvPr id="16" name="TextBox 15"/>
          <p:cNvSpPr txBox="1"/>
          <p:nvPr/>
        </p:nvSpPr>
        <p:spPr>
          <a:xfrm>
            <a:off x="402336" y="1636776"/>
            <a:ext cx="2459736" cy="548640"/>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3a  </a:t>
            </a:r>
            <a:r>
              <a:rPr sz="950" b="1" i="0">
                <a:solidFill>
                  <a:srgbClr val="1F497D"/>
                </a:solidFill>
                <a:latin typeface="Arial"/>
              </a:rPr>
              <a:t>Include MSMEs and communities in tourism value chains</a:t>
            </a:r>
          </a:p>
        </p:txBody>
      </p:sp>
      <p:sp>
        <p:nvSpPr>
          <p:cNvPr id="17" name="Oval 16"/>
          <p:cNvSpPr/>
          <p:nvPr/>
        </p:nvSpPr>
        <p:spPr>
          <a:xfrm>
            <a:off x="2944368" y="1865376"/>
            <a:ext cx="91440" cy="91440"/>
          </a:xfrm>
          <a:prstGeom prst="ellipse">
            <a:avLst/>
          </a:prstGeom>
          <a:solidFill>
            <a:srgbClr val="E97132"/>
          </a:solidFill>
          <a:ln>
            <a:noFill/>
          </a:ln>
        </p:spPr>
        <p:txBody>
          <a:bodyPr rtlCol="0" anchor="ctr"/>
          <a:lstStyle/>
          <a:p>
            <a:pPr algn="ctr"/>
          </a:p>
        </p:txBody>
      </p:sp>
      <p:sp>
        <p:nvSpPr>
          <p:cNvPr id="18" name="TextBox 17"/>
          <p:cNvSpPr txBox="1"/>
          <p:nvPr/>
        </p:nvSpPr>
        <p:spPr>
          <a:xfrm>
            <a:off x="3063240" y="1636776"/>
            <a:ext cx="594359" cy="548640"/>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Refined</a:t>
            </a:r>
          </a:p>
        </p:txBody>
      </p:sp>
      <p:sp>
        <p:nvSpPr>
          <p:cNvPr id="19" name="Rounded Rectangle 18"/>
          <p:cNvSpPr/>
          <p:nvPr/>
        </p:nvSpPr>
        <p:spPr>
          <a:xfrm>
            <a:off x="3703320" y="1792224"/>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20" name="Oval 19"/>
          <p:cNvSpPr/>
          <p:nvPr/>
        </p:nvSpPr>
        <p:spPr>
          <a:xfrm>
            <a:off x="5047488" y="1860803"/>
            <a:ext cx="100584" cy="100584"/>
          </a:xfrm>
          <a:prstGeom prst="ellipse">
            <a:avLst/>
          </a:prstGeom>
          <a:solidFill>
            <a:srgbClr val="1F497D"/>
          </a:solidFill>
          <a:ln w="9525">
            <a:solidFill>
              <a:srgbClr val="1F497D"/>
            </a:solidFill>
          </a:ln>
        </p:spPr>
        <p:txBody>
          <a:bodyPr rtlCol="0" anchor="ctr"/>
          <a:lstStyle/>
          <a:p>
            <a:pPr algn="ctr"/>
          </a:p>
        </p:txBody>
      </p:sp>
      <p:sp>
        <p:nvSpPr>
          <p:cNvPr id="21" name="Oval 20"/>
          <p:cNvSpPr/>
          <p:nvPr/>
        </p:nvSpPr>
        <p:spPr>
          <a:xfrm>
            <a:off x="5184648" y="1860803"/>
            <a:ext cx="100584" cy="100584"/>
          </a:xfrm>
          <a:prstGeom prst="ellipse">
            <a:avLst/>
          </a:prstGeom>
          <a:solidFill>
            <a:srgbClr val="1F497D"/>
          </a:solidFill>
          <a:ln w="9525">
            <a:solidFill>
              <a:srgbClr val="1F497D"/>
            </a:solidFill>
          </a:ln>
        </p:spPr>
        <p:txBody>
          <a:bodyPr rtlCol="0" anchor="ctr"/>
          <a:lstStyle/>
          <a:p>
            <a:pPr algn="ctr"/>
          </a:p>
        </p:txBody>
      </p:sp>
      <p:sp>
        <p:nvSpPr>
          <p:cNvPr id="22" name="Oval 21"/>
          <p:cNvSpPr/>
          <p:nvPr/>
        </p:nvSpPr>
        <p:spPr>
          <a:xfrm>
            <a:off x="5321807" y="1860803"/>
            <a:ext cx="100584" cy="100584"/>
          </a:xfrm>
          <a:prstGeom prst="ellipse">
            <a:avLst/>
          </a:prstGeom>
          <a:solidFill>
            <a:srgbClr val="1F497D"/>
          </a:solidFill>
          <a:ln w="9525">
            <a:solidFill>
              <a:srgbClr val="1F497D"/>
            </a:solidFill>
          </a:ln>
        </p:spPr>
        <p:txBody>
          <a:bodyPr rtlCol="0" anchor="ctr"/>
          <a:lstStyle/>
          <a:p>
            <a:pPr algn="ctr"/>
          </a:p>
        </p:txBody>
      </p:sp>
      <p:sp>
        <p:nvSpPr>
          <p:cNvPr id="23" name="TextBox 22"/>
          <p:cNvSpPr txBox="1"/>
          <p:nvPr/>
        </p:nvSpPr>
        <p:spPr>
          <a:xfrm>
            <a:off x="5724144" y="1636776"/>
            <a:ext cx="3172968" cy="548640"/>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20 priority communities hold 18.4% of residents but capture 0.02-0.04% of foreign visitor spend; organisation binds in 11 of 20.</a:t>
            </a:r>
          </a:p>
        </p:txBody>
      </p:sp>
      <p:sp>
        <p:nvSpPr>
          <p:cNvPr id="24" name="TextBox 23"/>
          <p:cNvSpPr txBox="1"/>
          <p:nvPr/>
        </p:nvSpPr>
        <p:spPr>
          <a:xfrm>
            <a:off x="8970263" y="1636776"/>
            <a:ext cx="2798064" cy="548640"/>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Build a seller with a stake before building assets.</a:t>
            </a:r>
          </a:p>
        </p:txBody>
      </p:sp>
      <p:cxnSp>
        <p:nvCxnSpPr>
          <p:cNvPr id="25" name="Connector 24"/>
          <p:cNvCxnSpPr/>
          <p:nvPr/>
        </p:nvCxnSpPr>
        <p:spPr>
          <a:xfrm>
            <a:off x="384048" y="2185416"/>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02336" y="2185416"/>
            <a:ext cx="2459736" cy="548640"/>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3b  </a:t>
            </a:r>
            <a:r>
              <a:rPr sz="950" b="1" i="0">
                <a:solidFill>
                  <a:srgbClr val="1F497D"/>
                </a:solidFill>
                <a:latin typeface="Arial"/>
              </a:rPr>
              <a:t>Develop the tourism workforce and service skills</a:t>
            </a:r>
          </a:p>
        </p:txBody>
      </p:sp>
      <p:sp>
        <p:nvSpPr>
          <p:cNvPr id="27" name="Oval 26"/>
          <p:cNvSpPr/>
          <p:nvPr/>
        </p:nvSpPr>
        <p:spPr>
          <a:xfrm>
            <a:off x="2944368" y="2414016"/>
            <a:ext cx="91440" cy="91440"/>
          </a:xfrm>
          <a:prstGeom prst="ellipse">
            <a:avLst/>
          </a:prstGeom>
          <a:solidFill>
            <a:srgbClr val="E97132"/>
          </a:solidFill>
          <a:ln>
            <a:noFill/>
          </a:ln>
        </p:spPr>
        <p:txBody>
          <a:bodyPr rtlCol="0" anchor="ctr"/>
          <a:lstStyle/>
          <a:p>
            <a:pPr algn="ctr"/>
          </a:p>
        </p:txBody>
      </p:sp>
      <p:sp>
        <p:nvSpPr>
          <p:cNvPr id="28" name="TextBox 27"/>
          <p:cNvSpPr txBox="1"/>
          <p:nvPr/>
        </p:nvSpPr>
        <p:spPr>
          <a:xfrm>
            <a:off x="3063240" y="2185416"/>
            <a:ext cx="594359" cy="548640"/>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Refined</a:t>
            </a:r>
          </a:p>
        </p:txBody>
      </p:sp>
      <p:sp>
        <p:nvSpPr>
          <p:cNvPr id="29" name="Rounded Rectangle 28"/>
          <p:cNvSpPr/>
          <p:nvPr/>
        </p:nvSpPr>
        <p:spPr>
          <a:xfrm>
            <a:off x="3703320" y="2340864"/>
            <a:ext cx="1207008" cy="237744"/>
          </a:xfrm>
          <a:prstGeom prst="roundRect">
            <a:avLst>
              <a:gd name="adj" fmla="val 50000"/>
            </a:avLst>
          </a:prstGeom>
          <a:solidFill>
            <a:srgbClr val="FFFFFF"/>
          </a:solidFill>
          <a:ln w="9525">
            <a:solidFill>
              <a:srgbClr val="7F7F7F"/>
            </a:solidFill>
          </a:ln>
        </p:spPr>
        <p:txBody>
          <a:bodyPr rtlCol="0" anchor="ctr" lIns="27432" rIns="27432" tIns="0" bIns="0"/>
          <a:lstStyle/>
          <a:p>
            <a:pPr algn="ctr"/>
            <a:r>
              <a:rPr sz="750" b="1" i="0">
                <a:solidFill>
                  <a:srgbClr val="7F7F7F"/>
                </a:solidFill>
                <a:latin typeface="Arial"/>
              </a:rPr>
              <a:t>NOT YET TESTED</a:t>
            </a:r>
          </a:p>
        </p:txBody>
      </p:sp>
      <p:sp>
        <p:nvSpPr>
          <p:cNvPr id="30" name="Oval 29"/>
          <p:cNvSpPr/>
          <p:nvPr/>
        </p:nvSpPr>
        <p:spPr>
          <a:xfrm>
            <a:off x="5047488" y="2409444"/>
            <a:ext cx="100584" cy="100584"/>
          </a:xfrm>
          <a:prstGeom prst="ellipse">
            <a:avLst/>
          </a:prstGeom>
          <a:solidFill>
            <a:srgbClr val="1F497D"/>
          </a:solidFill>
          <a:ln w="9525">
            <a:solidFill>
              <a:srgbClr val="1F497D"/>
            </a:solidFill>
          </a:ln>
        </p:spPr>
        <p:txBody>
          <a:bodyPr rtlCol="0" anchor="ctr"/>
          <a:lstStyle/>
          <a:p>
            <a:pPr algn="ctr"/>
          </a:p>
        </p:txBody>
      </p:sp>
      <p:sp>
        <p:nvSpPr>
          <p:cNvPr id="31" name="Oval 30"/>
          <p:cNvSpPr/>
          <p:nvPr/>
        </p:nvSpPr>
        <p:spPr>
          <a:xfrm>
            <a:off x="5184648" y="2409444"/>
            <a:ext cx="100584" cy="100584"/>
          </a:xfrm>
          <a:prstGeom prst="ellipse">
            <a:avLst/>
          </a:prstGeom>
          <a:solidFill>
            <a:srgbClr val="FFFFFF"/>
          </a:solidFill>
          <a:ln w="9525">
            <a:solidFill>
              <a:srgbClr val="1F497D"/>
            </a:solidFill>
          </a:ln>
        </p:spPr>
        <p:txBody>
          <a:bodyPr rtlCol="0" anchor="ctr"/>
          <a:lstStyle/>
          <a:p>
            <a:pPr algn="ctr"/>
          </a:p>
        </p:txBody>
      </p:sp>
      <p:sp>
        <p:nvSpPr>
          <p:cNvPr id="32" name="Oval 31"/>
          <p:cNvSpPr/>
          <p:nvPr/>
        </p:nvSpPr>
        <p:spPr>
          <a:xfrm>
            <a:off x="5321807" y="2409444"/>
            <a:ext cx="100584" cy="100584"/>
          </a:xfrm>
          <a:prstGeom prst="ellipse">
            <a:avLst/>
          </a:prstGeom>
          <a:solidFill>
            <a:srgbClr val="FFFFFF"/>
          </a:solidFill>
          <a:ln w="9525">
            <a:solidFill>
              <a:srgbClr val="1F497D"/>
            </a:solidFill>
          </a:ln>
        </p:spPr>
        <p:txBody>
          <a:bodyPr rtlCol="0" anchor="ctr"/>
          <a:lstStyle/>
          <a:p>
            <a:pPr algn="ctr"/>
          </a:p>
        </p:txBody>
      </p:sp>
      <p:sp>
        <p:nvSpPr>
          <p:cNvPr id="33" name="TextBox 32"/>
          <p:cNvSpPr txBox="1"/>
          <p:nvPr/>
        </p:nvSpPr>
        <p:spPr>
          <a:xfrm>
            <a:off x="5724144" y="2185416"/>
            <a:ext cx="3172968" cy="548640"/>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Skills gaps surface anecdotally (CapeNature, guides, service quality); no labour supply or training analysis exists.</a:t>
            </a:r>
          </a:p>
        </p:txBody>
      </p:sp>
      <p:sp>
        <p:nvSpPr>
          <p:cNvPr id="34" name="TextBox 33"/>
          <p:cNvSpPr txBox="1"/>
          <p:nvPr/>
        </p:nvSpPr>
        <p:spPr>
          <a:xfrm>
            <a:off x="8970263" y="2185416"/>
            <a:ext cx="2798064" cy="548640"/>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The 300,000 jobs goal has no evidence base yet.</a:t>
            </a:r>
          </a:p>
        </p:txBody>
      </p:sp>
      <p:cxnSp>
        <p:nvCxnSpPr>
          <p:cNvPr id="35" name="Connector 34"/>
          <p:cNvCxnSpPr/>
          <p:nvPr/>
        </p:nvCxnSpPr>
        <p:spPr>
          <a:xfrm>
            <a:off x="384048" y="2734056"/>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2336" y="2734056"/>
            <a:ext cx="2459736" cy="548640"/>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3c  </a:t>
            </a:r>
            <a:r>
              <a:rPr sz="950" b="1" i="0">
                <a:solidFill>
                  <a:srgbClr val="1F497D"/>
                </a:solidFill>
                <a:latin typeface="Arial"/>
              </a:rPr>
              <a:t>Ensure sustainable and resilient destination management</a:t>
            </a:r>
          </a:p>
        </p:txBody>
      </p:sp>
      <p:sp>
        <p:nvSpPr>
          <p:cNvPr id="37" name="Oval 36"/>
          <p:cNvSpPr/>
          <p:nvPr/>
        </p:nvSpPr>
        <p:spPr>
          <a:xfrm>
            <a:off x="2944368" y="2962656"/>
            <a:ext cx="91440" cy="91440"/>
          </a:xfrm>
          <a:prstGeom prst="ellipse">
            <a:avLst/>
          </a:prstGeom>
          <a:solidFill>
            <a:srgbClr val="196B24"/>
          </a:solidFill>
          <a:ln>
            <a:noFill/>
          </a:ln>
        </p:spPr>
        <p:txBody>
          <a:bodyPr rtlCol="0" anchor="ctr"/>
          <a:lstStyle/>
          <a:p>
            <a:pPr algn="ctr"/>
          </a:p>
        </p:txBody>
      </p:sp>
      <p:sp>
        <p:nvSpPr>
          <p:cNvPr id="38" name="TextBox 37"/>
          <p:cNvSpPr txBox="1"/>
          <p:nvPr/>
        </p:nvSpPr>
        <p:spPr>
          <a:xfrm>
            <a:off x="3063240" y="2734056"/>
            <a:ext cx="594359" cy="548640"/>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New</a:t>
            </a:r>
          </a:p>
        </p:txBody>
      </p:sp>
      <p:sp>
        <p:nvSpPr>
          <p:cNvPr id="39" name="Rounded Rectangle 38"/>
          <p:cNvSpPr/>
          <p:nvPr/>
        </p:nvSpPr>
        <p:spPr>
          <a:xfrm>
            <a:off x="3703320" y="2889504"/>
            <a:ext cx="1207008" cy="237744"/>
          </a:xfrm>
          <a:prstGeom prst="roundRect">
            <a:avLst>
              <a:gd name="adj" fmla="val 50000"/>
            </a:avLst>
          </a:prstGeom>
          <a:solidFill>
            <a:srgbClr val="F2A900"/>
          </a:solidFill>
          <a:ln>
            <a:noFill/>
          </a:ln>
        </p:spPr>
        <p:txBody>
          <a:bodyPr rtlCol="0" anchor="ctr" lIns="27432" rIns="27432" tIns="0" bIns="0"/>
          <a:lstStyle/>
          <a:p>
            <a:pPr algn="ctr"/>
            <a:r>
              <a:rPr sz="750" b="1" i="0">
                <a:solidFill>
                  <a:srgbClr val="262626"/>
                </a:solidFill>
                <a:latin typeface="Arial"/>
              </a:rPr>
              <a:t>PARTLY SUPPORTED</a:t>
            </a:r>
          </a:p>
        </p:txBody>
      </p:sp>
      <p:sp>
        <p:nvSpPr>
          <p:cNvPr id="40" name="Oval 39"/>
          <p:cNvSpPr/>
          <p:nvPr/>
        </p:nvSpPr>
        <p:spPr>
          <a:xfrm>
            <a:off x="5047488" y="2958084"/>
            <a:ext cx="100584" cy="100584"/>
          </a:xfrm>
          <a:prstGeom prst="ellipse">
            <a:avLst/>
          </a:prstGeom>
          <a:solidFill>
            <a:srgbClr val="1F497D"/>
          </a:solidFill>
          <a:ln w="9525">
            <a:solidFill>
              <a:srgbClr val="1F497D"/>
            </a:solidFill>
          </a:ln>
        </p:spPr>
        <p:txBody>
          <a:bodyPr rtlCol="0" anchor="ctr"/>
          <a:lstStyle/>
          <a:p>
            <a:pPr algn="ctr"/>
          </a:p>
        </p:txBody>
      </p:sp>
      <p:sp>
        <p:nvSpPr>
          <p:cNvPr id="41" name="Oval 40"/>
          <p:cNvSpPr/>
          <p:nvPr/>
        </p:nvSpPr>
        <p:spPr>
          <a:xfrm>
            <a:off x="5184648" y="2958084"/>
            <a:ext cx="100584" cy="100584"/>
          </a:xfrm>
          <a:prstGeom prst="ellipse">
            <a:avLst/>
          </a:prstGeom>
          <a:solidFill>
            <a:srgbClr val="FFFFFF"/>
          </a:solidFill>
          <a:ln w="9525">
            <a:solidFill>
              <a:srgbClr val="1F497D"/>
            </a:solidFill>
          </a:ln>
        </p:spPr>
        <p:txBody>
          <a:bodyPr rtlCol="0" anchor="ctr"/>
          <a:lstStyle/>
          <a:p>
            <a:pPr algn="ctr"/>
          </a:p>
        </p:txBody>
      </p:sp>
      <p:sp>
        <p:nvSpPr>
          <p:cNvPr id="42" name="Oval 41"/>
          <p:cNvSpPr/>
          <p:nvPr/>
        </p:nvSpPr>
        <p:spPr>
          <a:xfrm>
            <a:off x="5321807" y="2958084"/>
            <a:ext cx="100584" cy="100584"/>
          </a:xfrm>
          <a:prstGeom prst="ellipse">
            <a:avLst/>
          </a:prstGeom>
          <a:solidFill>
            <a:srgbClr val="FFFFFF"/>
          </a:solidFill>
          <a:ln w="9525">
            <a:solidFill>
              <a:srgbClr val="1F497D"/>
            </a:solidFill>
          </a:ln>
        </p:spPr>
        <p:txBody>
          <a:bodyPr rtlCol="0" anchor="ctr"/>
          <a:lstStyle/>
          <a:p>
            <a:pPr algn="ctr"/>
          </a:p>
        </p:txBody>
      </p:sp>
      <p:sp>
        <p:nvSpPr>
          <p:cNvPr id="43" name="TextBox 42"/>
          <p:cNvSpPr txBox="1"/>
          <p:nvPr/>
        </p:nvSpPr>
        <p:spPr>
          <a:xfrm>
            <a:off x="5724144" y="2734056"/>
            <a:ext cx="3172968" cy="548640"/>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Climate-driven closures, water limits and carrying capacity are documented; no carbon or resilience metrics exist.</a:t>
            </a:r>
          </a:p>
        </p:txBody>
      </p:sp>
      <p:sp>
        <p:nvSpPr>
          <p:cNvPr id="44" name="TextBox 43"/>
          <p:cNvSpPr txBox="1"/>
          <p:nvPr/>
        </p:nvSpPr>
        <p:spPr>
          <a:xfrm>
            <a:off x="8970263" y="2734056"/>
            <a:ext cx="2798064" cy="548640"/>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Needs a light-touch framing, not a new workstream.</a:t>
            </a:r>
          </a:p>
        </p:txBody>
      </p:sp>
      <p:cxnSp>
        <p:nvCxnSpPr>
          <p:cNvPr id="45" name="Connector 44"/>
          <p:cNvCxnSpPr/>
          <p:nvPr/>
        </p:nvCxnSpPr>
        <p:spPr>
          <a:xfrm>
            <a:off x="384048" y="3282696"/>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84048" y="3282696"/>
            <a:ext cx="11420856" cy="219456"/>
          </a:xfrm>
          <a:prstGeom prst="rect">
            <a:avLst/>
          </a:prstGeom>
          <a:noFill/>
        </p:spPr>
        <p:txBody>
          <a:bodyPr wrap="square" anchor="ctr" lIns="36576" rIns="36576" tIns="21945" bIns="21945">
            <a:spAutoFit/>
          </a:bodyPr>
          <a:lstStyle/>
          <a:p>
            <a:pPr algn="l">
              <a:spcAft>
                <a:spcPts val="0"/>
              </a:spcAft>
            </a:pPr>
            <a:r>
              <a:rPr sz="800" b="1" i="0">
                <a:solidFill>
                  <a:srgbClr val="00AEEF"/>
                </a:solidFill>
                <a:latin typeface="Arial"/>
              </a:rPr>
              <a:t>GOVERNANCE, LEADERSHIP AND INVESTMENT</a:t>
            </a:r>
          </a:p>
        </p:txBody>
      </p:sp>
      <p:sp>
        <p:nvSpPr>
          <p:cNvPr id="47" name="TextBox 46"/>
          <p:cNvSpPr txBox="1"/>
          <p:nvPr/>
        </p:nvSpPr>
        <p:spPr>
          <a:xfrm>
            <a:off x="402336" y="3511296"/>
            <a:ext cx="2459736" cy="548640"/>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3d  </a:t>
            </a:r>
            <a:r>
              <a:rPr sz="950" b="1" i="0">
                <a:solidFill>
                  <a:srgbClr val="1F497D"/>
                </a:solidFill>
                <a:latin typeface="Arial"/>
              </a:rPr>
              <a:t>Review institutional arrangements (local, provincial and national)</a:t>
            </a:r>
          </a:p>
        </p:txBody>
      </p:sp>
      <p:sp>
        <p:nvSpPr>
          <p:cNvPr id="48" name="Oval 47"/>
          <p:cNvSpPr/>
          <p:nvPr/>
        </p:nvSpPr>
        <p:spPr>
          <a:xfrm>
            <a:off x="2944368" y="3739896"/>
            <a:ext cx="91440" cy="91440"/>
          </a:xfrm>
          <a:prstGeom prst="ellipse">
            <a:avLst/>
          </a:prstGeom>
          <a:solidFill>
            <a:srgbClr val="156082"/>
          </a:solidFill>
          <a:ln>
            <a:noFill/>
          </a:ln>
        </p:spPr>
        <p:txBody>
          <a:bodyPr rtlCol="0" anchor="ctr"/>
          <a:lstStyle/>
          <a:p>
            <a:pPr algn="ctr"/>
          </a:p>
        </p:txBody>
      </p:sp>
      <p:sp>
        <p:nvSpPr>
          <p:cNvPr id="49" name="TextBox 48"/>
          <p:cNvSpPr txBox="1"/>
          <p:nvPr/>
        </p:nvSpPr>
        <p:spPr>
          <a:xfrm>
            <a:off x="3063240" y="3511296"/>
            <a:ext cx="594359" cy="548640"/>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Validated</a:t>
            </a:r>
          </a:p>
        </p:txBody>
      </p:sp>
      <p:sp>
        <p:nvSpPr>
          <p:cNvPr id="50" name="Rounded Rectangle 49"/>
          <p:cNvSpPr/>
          <p:nvPr/>
        </p:nvSpPr>
        <p:spPr>
          <a:xfrm>
            <a:off x="3703320" y="3666744"/>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51" name="Oval 50"/>
          <p:cNvSpPr/>
          <p:nvPr/>
        </p:nvSpPr>
        <p:spPr>
          <a:xfrm>
            <a:off x="5047488" y="3735324"/>
            <a:ext cx="100584" cy="100584"/>
          </a:xfrm>
          <a:prstGeom prst="ellipse">
            <a:avLst/>
          </a:prstGeom>
          <a:solidFill>
            <a:srgbClr val="1F497D"/>
          </a:solidFill>
          <a:ln w="9525">
            <a:solidFill>
              <a:srgbClr val="1F497D"/>
            </a:solidFill>
          </a:ln>
        </p:spPr>
        <p:txBody>
          <a:bodyPr rtlCol="0" anchor="ctr"/>
          <a:lstStyle/>
          <a:p>
            <a:pPr algn="ctr"/>
          </a:p>
        </p:txBody>
      </p:sp>
      <p:sp>
        <p:nvSpPr>
          <p:cNvPr id="52" name="Oval 51"/>
          <p:cNvSpPr/>
          <p:nvPr/>
        </p:nvSpPr>
        <p:spPr>
          <a:xfrm>
            <a:off x="5184648" y="3735324"/>
            <a:ext cx="100584" cy="100584"/>
          </a:xfrm>
          <a:prstGeom prst="ellipse">
            <a:avLst/>
          </a:prstGeom>
          <a:solidFill>
            <a:srgbClr val="1F497D"/>
          </a:solidFill>
          <a:ln w="9525">
            <a:solidFill>
              <a:srgbClr val="1F497D"/>
            </a:solidFill>
          </a:ln>
        </p:spPr>
        <p:txBody>
          <a:bodyPr rtlCol="0" anchor="ctr"/>
          <a:lstStyle/>
          <a:p>
            <a:pPr algn="ctr"/>
          </a:p>
        </p:txBody>
      </p:sp>
      <p:sp>
        <p:nvSpPr>
          <p:cNvPr id="53" name="Oval 52"/>
          <p:cNvSpPr/>
          <p:nvPr/>
        </p:nvSpPr>
        <p:spPr>
          <a:xfrm>
            <a:off x="5321807" y="3735324"/>
            <a:ext cx="100584" cy="100584"/>
          </a:xfrm>
          <a:prstGeom prst="ellipse">
            <a:avLst/>
          </a:prstGeom>
          <a:solidFill>
            <a:srgbClr val="1F497D"/>
          </a:solidFill>
          <a:ln w="9525">
            <a:solidFill>
              <a:srgbClr val="1F497D"/>
            </a:solidFill>
          </a:ln>
        </p:spPr>
        <p:txBody>
          <a:bodyPr rtlCol="0" anchor="ctr"/>
          <a:lstStyle/>
          <a:p>
            <a:pPr algn="ctr"/>
          </a:p>
        </p:txBody>
      </p:sp>
      <p:sp>
        <p:nvSpPr>
          <p:cNvPr id="54" name="TextBox 53"/>
          <p:cNvSpPr txBox="1"/>
          <p:nvPr/>
        </p:nvSpPr>
        <p:spPr>
          <a:xfrm>
            <a:off x="5724144" y="3511296"/>
            <a:ext cx="3172968" cy="548640"/>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Airports, ports and visas sit with national bodies; the City's coordination cluster is only proposed; Circular 131 cut LTO funding.</a:t>
            </a:r>
          </a:p>
        </p:txBody>
      </p:sp>
      <p:sp>
        <p:nvSpPr>
          <p:cNvPr id="55" name="TextBox 54"/>
          <p:cNvSpPr txBox="1"/>
          <p:nvPr/>
        </p:nvSpPr>
        <p:spPr>
          <a:xfrm>
            <a:off x="8970263" y="3511296"/>
            <a:ext cx="2798064" cy="548640"/>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Recommendations must name owners by tier, or they will stall.</a:t>
            </a:r>
          </a:p>
        </p:txBody>
      </p:sp>
      <p:cxnSp>
        <p:nvCxnSpPr>
          <p:cNvPr id="56" name="Connector 55"/>
          <p:cNvCxnSpPr/>
          <p:nvPr/>
        </p:nvCxnSpPr>
        <p:spPr>
          <a:xfrm>
            <a:off x="384048" y="4059936"/>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02336" y="4059936"/>
            <a:ext cx="2459736" cy="548640"/>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3e  </a:t>
            </a:r>
            <a:r>
              <a:rPr sz="950" b="1" i="0">
                <a:solidFill>
                  <a:srgbClr val="1F497D"/>
                </a:solidFill>
                <a:latin typeface="Arial"/>
              </a:rPr>
              <a:t>Strengthen industry and government collaboration</a:t>
            </a:r>
          </a:p>
        </p:txBody>
      </p:sp>
      <p:sp>
        <p:nvSpPr>
          <p:cNvPr id="58" name="Oval 57"/>
          <p:cNvSpPr/>
          <p:nvPr/>
        </p:nvSpPr>
        <p:spPr>
          <a:xfrm>
            <a:off x="2944368" y="4288536"/>
            <a:ext cx="91440" cy="91440"/>
          </a:xfrm>
          <a:prstGeom prst="ellipse">
            <a:avLst/>
          </a:prstGeom>
          <a:solidFill>
            <a:srgbClr val="156082"/>
          </a:solidFill>
          <a:ln>
            <a:noFill/>
          </a:ln>
        </p:spPr>
        <p:txBody>
          <a:bodyPr rtlCol="0" anchor="ctr"/>
          <a:lstStyle/>
          <a:p>
            <a:pPr algn="ctr"/>
          </a:p>
        </p:txBody>
      </p:sp>
      <p:sp>
        <p:nvSpPr>
          <p:cNvPr id="59" name="TextBox 58"/>
          <p:cNvSpPr txBox="1"/>
          <p:nvPr/>
        </p:nvSpPr>
        <p:spPr>
          <a:xfrm>
            <a:off x="3063240" y="4059936"/>
            <a:ext cx="594359" cy="548640"/>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Validated</a:t>
            </a:r>
          </a:p>
        </p:txBody>
      </p:sp>
      <p:sp>
        <p:nvSpPr>
          <p:cNvPr id="60" name="Rounded Rectangle 59"/>
          <p:cNvSpPr/>
          <p:nvPr/>
        </p:nvSpPr>
        <p:spPr>
          <a:xfrm>
            <a:off x="3703320" y="4215384"/>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61" name="Oval 60"/>
          <p:cNvSpPr/>
          <p:nvPr/>
        </p:nvSpPr>
        <p:spPr>
          <a:xfrm>
            <a:off x="5047488" y="4283964"/>
            <a:ext cx="100584" cy="100584"/>
          </a:xfrm>
          <a:prstGeom prst="ellipse">
            <a:avLst/>
          </a:prstGeom>
          <a:solidFill>
            <a:srgbClr val="1F497D"/>
          </a:solidFill>
          <a:ln w="9525">
            <a:solidFill>
              <a:srgbClr val="1F497D"/>
            </a:solidFill>
          </a:ln>
        </p:spPr>
        <p:txBody>
          <a:bodyPr rtlCol="0" anchor="ctr"/>
          <a:lstStyle/>
          <a:p>
            <a:pPr algn="ctr"/>
          </a:p>
        </p:txBody>
      </p:sp>
      <p:sp>
        <p:nvSpPr>
          <p:cNvPr id="62" name="Oval 61"/>
          <p:cNvSpPr/>
          <p:nvPr/>
        </p:nvSpPr>
        <p:spPr>
          <a:xfrm>
            <a:off x="5184648" y="4283964"/>
            <a:ext cx="100584" cy="100584"/>
          </a:xfrm>
          <a:prstGeom prst="ellipse">
            <a:avLst/>
          </a:prstGeom>
          <a:solidFill>
            <a:srgbClr val="1F497D"/>
          </a:solidFill>
          <a:ln w="9525">
            <a:solidFill>
              <a:srgbClr val="1F497D"/>
            </a:solidFill>
          </a:ln>
        </p:spPr>
        <p:txBody>
          <a:bodyPr rtlCol="0" anchor="ctr"/>
          <a:lstStyle/>
          <a:p>
            <a:pPr algn="ctr"/>
          </a:p>
        </p:txBody>
      </p:sp>
      <p:sp>
        <p:nvSpPr>
          <p:cNvPr id="63" name="Oval 62"/>
          <p:cNvSpPr/>
          <p:nvPr/>
        </p:nvSpPr>
        <p:spPr>
          <a:xfrm>
            <a:off x="5321807" y="4283964"/>
            <a:ext cx="100584" cy="100584"/>
          </a:xfrm>
          <a:prstGeom prst="ellipse">
            <a:avLst/>
          </a:prstGeom>
          <a:solidFill>
            <a:srgbClr val="1F497D"/>
          </a:solidFill>
          <a:ln w="9525">
            <a:solidFill>
              <a:srgbClr val="1F497D"/>
            </a:solidFill>
          </a:ln>
        </p:spPr>
        <p:txBody>
          <a:bodyPr rtlCol="0" anchor="ctr"/>
          <a:lstStyle/>
          <a:p>
            <a:pPr algn="ctr"/>
          </a:p>
        </p:txBody>
      </p:sp>
      <p:sp>
        <p:nvSpPr>
          <p:cNvPr id="64" name="TextBox 63"/>
          <p:cNvSpPr txBox="1"/>
          <p:nvPr/>
        </p:nvSpPr>
        <p:spPr>
          <a:xfrm>
            <a:off x="5724144" y="4059936"/>
            <a:ext cx="3172968" cy="548640"/>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15 of 16 organisations raised collaboration; Cape Town Air Access shows a multi-agency model that works.</a:t>
            </a:r>
          </a:p>
        </p:txBody>
      </p:sp>
      <p:sp>
        <p:nvSpPr>
          <p:cNvPr id="65" name="TextBox 64"/>
          <p:cNvSpPr txBox="1"/>
          <p:nvPr/>
        </p:nvSpPr>
        <p:spPr>
          <a:xfrm>
            <a:off x="8970263" y="4059936"/>
            <a:ext cx="2798064" cy="548640"/>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Replicate the Air Access model for events, safety and data.</a:t>
            </a:r>
          </a:p>
        </p:txBody>
      </p:sp>
      <p:cxnSp>
        <p:nvCxnSpPr>
          <p:cNvPr id="66" name="Connector 65"/>
          <p:cNvCxnSpPr/>
          <p:nvPr/>
        </p:nvCxnSpPr>
        <p:spPr>
          <a:xfrm>
            <a:off x="384048" y="4608576"/>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02336" y="4608576"/>
            <a:ext cx="2459736" cy="548640"/>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3f  </a:t>
            </a:r>
            <a:r>
              <a:rPr sz="950" b="1" i="0">
                <a:solidFill>
                  <a:srgbClr val="1F497D"/>
                </a:solidFill>
                <a:latin typeface="Arial"/>
              </a:rPr>
              <a:t>Expedite enabling policy and build the data layer</a:t>
            </a:r>
          </a:p>
        </p:txBody>
      </p:sp>
      <p:sp>
        <p:nvSpPr>
          <p:cNvPr id="68" name="Oval 67"/>
          <p:cNvSpPr/>
          <p:nvPr/>
        </p:nvSpPr>
        <p:spPr>
          <a:xfrm>
            <a:off x="2944368" y="4837176"/>
            <a:ext cx="91440" cy="91440"/>
          </a:xfrm>
          <a:prstGeom prst="ellipse">
            <a:avLst/>
          </a:prstGeom>
          <a:solidFill>
            <a:srgbClr val="E97132"/>
          </a:solidFill>
          <a:ln>
            <a:noFill/>
          </a:ln>
        </p:spPr>
        <p:txBody>
          <a:bodyPr rtlCol="0" anchor="ctr"/>
          <a:lstStyle/>
          <a:p>
            <a:pPr algn="ctr"/>
          </a:p>
        </p:txBody>
      </p:sp>
      <p:sp>
        <p:nvSpPr>
          <p:cNvPr id="69" name="TextBox 68"/>
          <p:cNvSpPr txBox="1"/>
          <p:nvPr/>
        </p:nvSpPr>
        <p:spPr>
          <a:xfrm>
            <a:off x="3063240" y="4608576"/>
            <a:ext cx="594359" cy="548640"/>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Refined</a:t>
            </a:r>
          </a:p>
        </p:txBody>
      </p:sp>
      <p:sp>
        <p:nvSpPr>
          <p:cNvPr id="70" name="Rounded Rectangle 69"/>
          <p:cNvSpPr/>
          <p:nvPr/>
        </p:nvSpPr>
        <p:spPr>
          <a:xfrm>
            <a:off x="3703320" y="4764024"/>
            <a:ext cx="1207008" cy="237744"/>
          </a:xfrm>
          <a:prstGeom prst="roundRect">
            <a:avLst>
              <a:gd name="adj" fmla="val 50000"/>
            </a:avLst>
          </a:prstGeom>
          <a:solidFill>
            <a:srgbClr val="2E9E44"/>
          </a:solidFill>
          <a:ln>
            <a:noFill/>
          </a:ln>
        </p:spPr>
        <p:txBody>
          <a:bodyPr rtlCol="0" anchor="ctr" lIns="27432" rIns="27432" tIns="0" bIns="0"/>
          <a:lstStyle/>
          <a:p>
            <a:pPr algn="ctr"/>
            <a:r>
              <a:rPr sz="750" b="1" i="0">
                <a:solidFill>
                  <a:srgbClr val="FFFFFF"/>
                </a:solidFill>
                <a:latin typeface="Arial"/>
              </a:rPr>
              <a:t>SUPPORTED</a:t>
            </a:r>
          </a:p>
        </p:txBody>
      </p:sp>
      <p:sp>
        <p:nvSpPr>
          <p:cNvPr id="71" name="Oval 70"/>
          <p:cNvSpPr/>
          <p:nvPr/>
        </p:nvSpPr>
        <p:spPr>
          <a:xfrm>
            <a:off x="5047488" y="4832604"/>
            <a:ext cx="100584" cy="100584"/>
          </a:xfrm>
          <a:prstGeom prst="ellipse">
            <a:avLst/>
          </a:prstGeom>
          <a:solidFill>
            <a:srgbClr val="1F497D"/>
          </a:solidFill>
          <a:ln w="9525">
            <a:solidFill>
              <a:srgbClr val="1F497D"/>
            </a:solidFill>
          </a:ln>
        </p:spPr>
        <p:txBody>
          <a:bodyPr rtlCol="0" anchor="ctr"/>
          <a:lstStyle/>
          <a:p>
            <a:pPr algn="ctr"/>
          </a:p>
        </p:txBody>
      </p:sp>
      <p:sp>
        <p:nvSpPr>
          <p:cNvPr id="72" name="Oval 71"/>
          <p:cNvSpPr/>
          <p:nvPr/>
        </p:nvSpPr>
        <p:spPr>
          <a:xfrm>
            <a:off x="5184648" y="4832604"/>
            <a:ext cx="100584" cy="100584"/>
          </a:xfrm>
          <a:prstGeom prst="ellipse">
            <a:avLst/>
          </a:prstGeom>
          <a:solidFill>
            <a:srgbClr val="1F497D"/>
          </a:solidFill>
          <a:ln w="9525">
            <a:solidFill>
              <a:srgbClr val="1F497D"/>
            </a:solidFill>
          </a:ln>
        </p:spPr>
        <p:txBody>
          <a:bodyPr rtlCol="0" anchor="ctr"/>
          <a:lstStyle/>
          <a:p>
            <a:pPr algn="ctr"/>
          </a:p>
        </p:txBody>
      </p:sp>
      <p:sp>
        <p:nvSpPr>
          <p:cNvPr id="73" name="Oval 72"/>
          <p:cNvSpPr/>
          <p:nvPr/>
        </p:nvSpPr>
        <p:spPr>
          <a:xfrm>
            <a:off x="5321807" y="4832604"/>
            <a:ext cx="100584" cy="100584"/>
          </a:xfrm>
          <a:prstGeom prst="ellipse">
            <a:avLst/>
          </a:prstGeom>
          <a:solidFill>
            <a:srgbClr val="1F497D"/>
          </a:solidFill>
          <a:ln w="9525">
            <a:solidFill>
              <a:srgbClr val="1F497D"/>
            </a:solidFill>
          </a:ln>
        </p:spPr>
        <p:txBody>
          <a:bodyPr rtlCol="0" anchor="ctr"/>
          <a:lstStyle/>
          <a:p>
            <a:pPr algn="ctr"/>
          </a:p>
        </p:txBody>
      </p:sp>
      <p:sp>
        <p:nvSpPr>
          <p:cNvPr id="74" name="TextBox 73"/>
          <p:cNvSpPr txBox="1"/>
          <p:nvPr/>
        </p:nvSpPr>
        <p:spPr>
          <a:xfrm>
            <a:off x="5724144" y="4608576"/>
            <a:ext cx="3172968" cy="548640"/>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At least six competing arrivals baselines; no approved provincial tourism GDP or jobs method; data lagged and proxy-based.</a:t>
            </a:r>
          </a:p>
        </p:txBody>
      </p:sp>
      <p:sp>
        <p:nvSpPr>
          <p:cNvPr id="75" name="TextBox 74"/>
          <p:cNvSpPr txBox="1"/>
          <p:nvPr/>
        </p:nvSpPr>
        <p:spPr>
          <a:xfrm>
            <a:off x="8970263" y="4608576"/>
            <a:ext cx="2798064" cy="548640"/>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The data layer is a precondition for the target, the M&amp;E toolkit and every KPI.</a:t>
            </a:r>
          </a:p>
        </p:txBody>
      </p:sp>
      <p:cxnSp>
        <p:nvCxnSpPr>
          <p:cNvPr id="76" name="Connector 75"/>
          <p:cNvCxnSpPr/>
          <p:nvPr/>
        </p:nvCxnSpPr>
        <p:spPr>
          <a:xfrm>
            <a:off x="384048" y="5157216"/>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402336" y="5157216"/>
            <a:ext cx="2459736" cy="548640"/>
          </a:xfrm>
          <a:prstGeom prst="rect">
            <a:avLst/>
          </a:prstGeom>
          <a:noFill/>
        </p:spPr>
        <p:txBody>
          <a:bodyPr wrap="square" anchor="ctr" lIns="36576" rIns="36576" tIns="21945" bIns="21945">
            <a:spAutoFit/>
          </a:bodyPr>
          <a:lstStyle/>
          <a:p>
            <a:pPr algn="l">
              <a:spcAft>
                <a:spcPts val="0"/>
              </a:spcAft>
            </a:pPr>
            <a:r>
              <a:rPr sz="800" b="0" i="0">
                <a:solidFill>
                  <a:srgbClr val="7F7F7F"/>
                </a:solidFill>
                <a:latin typeface="Arial"/>
              </a:rPr>
              <a:t>3g  </a:t>
            </a:r>
            <a:r>
              <a:rPr sz="950" b="1" i="0">
                <a:solidFill>
                  <a:srgbClr val="1F497D"/>
                </a:solidFill>
                <a:latin typeface="Arial"/>
              </a:rPr>
              <a:t>Crowd-in capital with targeted investment strategies</a:t>
            </a:r>
          </a:p>
        </p:txBody>
      </p:sp>
      <p:sp>
        <p:nvSpPr>
          <p:cNvPr id="78" name="Oval 77"/>
          <p:cNvSpPr/>
          <p:nvPr/>
        </p:nvSpPr>
        <p:spPr>
          <a:xfrm>
            <a:off x="2944368" y="5385816"/>
            <a:ext cx="91440" cy="91440"/>
          </a:xfrm>
          <a:prstGeom prst="ellipse">
            <a:avLst/>
          </a:prstGeom>
          <a:solidFill>
            <a:srgbClr val="156082"/>
          </a:solidFill>
          <a:ln>
            <a:noFill/>
          </a:ln>
        </p:spPr>
        <p:txBody>
          <a:bodyPr rtlCol="0" anchor="ctr"/>
          <a:lstStyle/>
          <a:p>
            <a:pPr algn="ctr"/>
          </a:p>
        </p:txBody>
      </p:sp>
      <p:sp>
        <p:nvSpPr>
          <p:cNvPr id="79" name="TextBox 78"/>
          <p:cNvSpPr txBox="1"/>
          <p:nvPr/>
        </p:nvSpPr>
        <p:spPr>
          <a:xfrm>
            <a:off x="3063240" y="5157216"/>
            <a:ext cx="594359" cy="548640"/>
          </a:xfrm>
          <a:prstGeom prst="rect">
            <a:avLst/>
          </a:prstGeom>
          <a:noFill/>
        </p:spPr>
        <p:txBody>
          <a:bodyPr wrap="square" anchor="ctr" lIns="36576" rIns="36576" tIns="21945" bIns="21945">
            <a:spAutoFit/>
          </a:bodyPr>
          <a:lstStyle/>
          <a:p>
            <a:pPr algn="l">
              <a:spcAft>
                <a:spcPts val="0"/>
              </a:spcAft>
            </a:pPr>
            <a:r>
              <a:rPr sz="800" b="0" i="0">
                <a:solidFill>
                  <a:srgbClr val="404040"/>
                </a:solidFill>
                <a:latin typeface="Arial"/>
              </a:rPr>
              <a:t>Validated</a:t>
            </a:r>
          </a:p>
        </p:txBody>
      </p:sp>
      <p:sp>
        <p:nvSpPr>
          <p:cNvPr id="80" name="Rounded Rectangle 79"/>
          <p:cNvSpPr/>
          <p:nvPr/>
        </p:nvSpPr>
        <p:spPr>
          <a:xfrm>
            <a:off x="3703320" y="5312664"/>
            <a:ext cx="1207008" cy="237744"/>
          </a:xfrm>
          <a:prstGeom prst="roundRect">
            <a:avLst>
              <a:gd name="adj" fmla="val 50000"/>
            </a:avLst>
          </a:prstGeom>
          <a:solidFill>
            <a:srgbClr val="F2A900"/>
          </a:solidFill>
          <a:ln>
            <a:noFill/>
          </a:ln>
        </p:spPr>
        <p:txBody>
          <a:bodyPr rtlCol="0" anchor="ctr" lIns="27432" rIns="27432" tIns="0" bIns="0"/>
          <a:lstStyle/>
          <a:p>
            <a:pPr algn="ctr"/>
            <a:r>
              <a:rPr sz="750" b="1" i="0">
                <a:solidFill>
                  <a:srgbClr val="262626"/>
                </a:solidFill>
                <a:latin typeface="Arial"/>
              </a:rPr>
              <a:t>PARTLY SUPPORTED</a:t>
            </a:r>
          </a:p>
        </p:txBody>
      </p:sp>
      <p:sp>
        <p:nvSpPr>
          <p:cNvPr id="81" name="Oval 80"/>
          <p:cNvSpPr/>
          <p:nvPr/>
        </p:nvSpPr>
        <p:spPr>
          <a:xfrm>
            <a:off x="5047488" y="5381244"/>
            <a:ext cx="100584" cy="100584"/>
          </a:xfrm>
          <a:prstGeom prst="ellipse">
            <a:avLst/>
          </a:prstGeom>
          <a:solidFill>
            <a:srgbClr val="1F497D"/>
          </a:solidFill>
          <a:ln w="9525">
            <a:solidFill>
              <a:srgbClr val="1F497D"/>
            </a:solidFill>
          </a:ln>
        </p:spPr>
        <p:txBody>
          <a:bodyPr rtlCol="0" anchor="ctr"/>
          <a:lstStyle/>
          <a:p>
            <a:pPr algn="ctr"/>
          </a:p>
        </p:txBody>
      </p:sp>
      <p:sp>
        <p:nvSpPr>
          <p:cNvPr id="82" name="Oval 81"/>
          <p:cNvSpPr/>
          <p:nvPr/>
        </p:nvSpPr>
        <p:spPr>
          <a:xfrm>
            <a:off x="5184648" y="5381244"/>
            <a:ext cx="100584" cy="100584"/>
          </a:xfrm>
          <a:prstGeom prst="ellipse">
            <a:avLst/>
          </a:prstGeom>
          <a:solidFill>
            <a:srgbClr val="FFFFFF"/>
          </a:solidFill>
          <a:ln w="9525">
            <a:solidFill>
              <a:srgbClr val="1F497D"/>
            </a:solidFill>
          </a:ln>
        </p:spPr>
        <p:txBody>
          <a:bodyPr rtlCol="0" anchor="ctr"/>
          <a:lstStyle/>
          <a:p>
            <a:pPr algn="ctr"/>
          </a:p>
        </p:txBody>
      </p:sp>
      <p:sp>
        <p:nvSpPr>
          <p:cNvPr id="83" name="Oval 82"/>
          <p:cNvSpPr/>
          <p:nvPr/>
        </p:nvSpPr>
        <p:spPr>
          <a:xfrm>
            <a:off x="5321807" y="5381244"/>
            <a:ext cx="100584" cy="100584"/>
          </a:xfrm>
          <a:prstGeom prst="ellipse">
            <a:avLst/>
          </a:prstGeom>
          <a:solidFill>
            <a:srgbClr val="FFFFFF"/>
          </a:solidFill>
          <a:ln w="9525">
            <a:solidFill>
              <a:srgbClr val="1F497D"/>
            </a:solidFill>
          </a:ln>
        </p:spPr>
        <p:txBody>
          <a:bodyPr rtlCol="0" anchor="ctr"/>
          <a:lstStyle/>
          <a:p>
            <a:pPr algn="ctr"/>
          </a:p>
        </p:txBody>
      </p:sp>
      <p:sp>
        <p:nvSpPr>
          <p:cNvPr id="84" name="TextBox 83"/>
          <p:cNvSpPr txBox="1"/>
          <p:nvPr/>
        </p:nvSpPr>
        <p:spPr>
          <a:xfrm>
            <a:off x="5724144" y="5157216"/>
            <a:ext cx="3172968" cy="548640"/>
          </a:xfrm>
          <a:prstGeom prst="rect">
            <a:avLst/>
          </a:prstGeom>
          <a:noFill/>
        </p:spPr>
        <p:txBody>
          <a:bodyPr wrap="square" anchor="ctr" lIns="36576" rIns="36576" tIns="21945" bIns="21945">
            <a:spAutoFit/>
          </a:bodyPr>
          <a:lstStyle/>
          <a:p>
            <a:pPr algn="l">
              <a:spcAft>
                <a:spcPts val="0"/>
              </a:spcAft>
            </a:pPr>
            <a:r>
              <a:rPr sz="850" b="0" i="0">
                <a:solidFill>
                  <a:srgbClr val="404040"/>
                </a:solidFill>
                <a:latin typeface="Arial"/>
              </a:rPr>
              <a:t>Funding sits below peers and a levy is being discussed; no costed pipeline or ROI exists in any deliverable.</a:t>
            </a:r>
          </a:p>
        </p:txBody>
      </p:sp>
      <p:sp>
        <p:nvSpPr>
          <p:cNvPr id="85" name="TextBox 84"/>
          <p:cNvSpPr txBox="1"/>
          <p:nvPr/>
        </p:nvSpPr>
        <p:spPr>
          <a:xfrm>
            <a:off x="8970263" y="5157216"/>
            <a:ext cx="2798064" cy="548640"/>
          </a:xfrm>
          <a:prstGeom prst="rect">
            <a:avLst/>
          </a:prstGeom>
          <a:noFill/>
        </p:spPr>
        <p:txBody>
          <a:bodyPr wrap="square" anchor="ctr" lIns="36576" rIns="36576" tIns="21945" bIns="21945">
            <a:spAutoFit/>
          </a:bodyPr>
          <a:lstStyle/>
          <a:p>
            <a:pPr algn="l">
              <a:spcAft>
                <a:spcPts val="0"/>
              </a:spcAft>
            </a:pPr>
            <a:r>
              <a:rPr sz="850" b="0" i="0">
                <a:solidFill>
                  <a:srgbClr val="1F497D"/>
                </a:solidFill>
                <a:latin typeface="Arial"/>
              </a:rPr>
              <a:t>The SLA requires ROI projections we have not yet produced.</a:t>
            </a:r>
          </a:p>
        </p:txBody>
      </p:sp>
      <p:cxnSp>
        <p:nvCxnSpPr>
          <p:cNvPr id="86" name="Connector 85"/>
          <p:cNvCxnSpPr/>
          <p:nvPr/>
        </p:nvCxnSpPr>
        <p:spPr>
          <a:xfrm>
            <a:off x="384048" y="5705855"/>
            <a:ext cx="11420856"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Destinations that outgrow the market do it as a system, not through any single lever</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GLOBAL BENCHMARKING</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Global Benchmarking Report (Mar 2026) (UN Tourism; Tourism Research Australia; Tourism NZ; Kenya TRI; STB); MIDAS Aviation, Aviation Market Assessment (Mar 2026)</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18</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7498080" cy="3968496"/>
        </p:xfrm>
        <a:graphic>
          <a:graphicData uri="http://schemas.openxmlformats.org/drawingml/2006/table">
            <a:tbl>
              <a:tblPr firstRow="1" bandRow="0">
                <a:tableStyleId>{5C22544A-7EE6-4342-B048-85BDC9FD1C3A}</a:tableStyleId>
              </a:tblPr>
              <a:tblGrid>
                <a:gridCol w="1691640"/>
                <a:gridCol w="1051560"/>
                <a:gridCol w="2194560"/>
                <a:gridCol w="2560320"/>
              </a:tblGrid>
              <a:tr h="566928">
                <a:tc>
                  <a:txBody>
                    <a:bodyPr wrap="square"/>
                    <a:lstStyle/>
                    <a:p>
                      <a:pPr algn="l"/>
                      <a:r>
                        <a:rPr sz="950" b="1" i="0">
                          <a:solidFill>
                            <a:srgbClr val="FFFFFF"/>
                          </a:solidFill>
                          <a:latin typeface="Arial"/>
                        </a:rPr>
                        <a:t>Comparator</a:t>
                      </a:r>
                    </a:p>
                  </a:txBody>
                  <a:tcPr marL="54864" marR="54864" marT="27432" marB="27432" anchor="ctr">
                    <a:solidFill>
                      <a:srgbClr val="1F497D"/>
                    </a:solidFill>
                  </a:tcPr>
                </a:tc>
                <a:tc>
                  <a:txBody>
                    <a:bodyPr wrap="square"/>
                    <a:lstStyle/>
                    <a:p>
                      <a:pPr algn="l"/>
                      <a:r>
                        <a:rPr sz="950" b="1" i="0">
                          <a:solidFill>
                            <a:srgbClr val="FFFFFF"/>
                          </a:solidFill>
                          <a:latin typeface="Arial"/>
                        </a:rPr>
                        <a:t>2023-24 growth</a:t>
                      </a:r>
                    </a:p>
                  </a:txBody>
                  <a:tcPr marL="54864" marR="54864" marT="27432" marB="27432" anchor="ctr">
                    <a:solidFill>
                      <a:srgbClr val="1F497D"/>
                    </a:solidFill>
                  </a:tcPr>
                </a:tc>
                <a:tc>
                  <a:txBody>
                    <a:bodyPr wrap="square"/>
                    <a:lstStyle/>
                    <a:p>
                      <a:pPr algn="l"/>
                      <a:r>
                        <a:rPr sz="950" b="1" i="0">
                          <a:solidFill>
                            <a:srgbClr val="FFFFFF"/>
                          </a:solidFill>
                          <a:latin typeface="Arial"/>
                        </a:rPr>
                        <a:t>Primary levers</a:t>
                      </a:r>
                    </a:p>
                  </a:txBody>
                  <a:tcPr marL="54864" marR="54864" marT="27432" marB="27432" anchor="ctr">
                    <a:solidFill>
                      <a:srgbClr val="1F497D"/>
                    </a:solidFill>
                  </a:tcPr>
                </a:tc>
                <a:tc>
                  <a:txBody>
                    <a:bodyPr wrap="square"/>
                    <a:lstStyle/>
                    <a:p>
                      <a:pPr algn="l"/>
                      <a:r>
                        <a:rPr sz="950" b="1" i="0">
                          <a:solidFill>
                            <a:srgbClr val="FFFFFF"/>
                          </a:solidFill>
                          <a:latin typeface="Arial"/>
                        </a:rPr>
                        <a:t>Transferable move</a:t>
                      </a:r>
                    </a:p>
                  </a:txBody>
                  <a:tcPr marL="54864" marR="54864" marT="27432" marB="27432" anchor="ctr">
                    <a:solidFill>
                      <a:srgbClr val="1F497D"/>
                    </a:solidFill>
                  </a:tcPr>
                </a:tc>
              </a:tr>
              <a:tr h="566928">
                <a:tc>
                  <a:txBody>
                    <a:bodyPr wrap="square"/>
                    <a:lstStyle/>
                    <a:p>
                      <a:pPr algn="l"/>
                      <a:r>
                        <a:rPr sz="950" b="1" i="0">
                          <a:solidFill>
                            <a:srgbClr val="1F497D"/>
                          </a:solidFill>
                          <a:latin typeface="Arial"/>
                        </a:rPr>
                        <a:t>Melbourne, Victoria</a:t>
                      </a:r>
                    </a:p>
                  </a:txBody>
                  <a:tcPr marL="54864" marR="54864" marT="27432" marB="27432" anchor="ctr">
                    <a:solidFill>
                      <a:srgbClr val="FFFFFF"/>
                    </a:solidFill>
                  </a:tcPr>
                </a:tc>
                <a:tc>
                  <a:txBody>
                    <a:bodyPr wrap="square"/>
                    <a:lstStyle/>
                    <a:p>
                      <a:pPr algn="l"/>
                      <a:r>
                        <a:rPr sz="950" b="0" i="0">
                          <a:solidFill>
                            <a:srgbClr val="404040"/>
                          </a:solidFill>
                          <a:latin typeface="Arial"/>
                        </a:rPr>
                        <a:t>~4.3%</a:t>
                      </a:r>
                    </a:p>
                  </a:txBody>
                  <a:tcPr marL="54864" marR="54864" marT="27432" marB="27432" anchor="ctr">
                    <a:solidFill>
                      <a:srgbClr val="FFFFFF"/>
                    </a:solidFill>
                  </a:tcPr>
                </a:tc>
                <a:tc>
                  <a:txBody>
                    <a:bodyPr wrap="square"/>
                    <a:lstStyle/>
                    <a:p>
                      <a:pPr algn="l"/>
                      <a:r>
                        <a:rPr sz="950" b="0" i="0">
                          <a:solidFill>
                            <a:srgbClr val="404040"/>
                          </a:solidFill>
                          <a:latin typeface="Arial"/>
                        </a:rPr>
                        <a:t>Event-led demand; knowledge-led brand</a:t>
                      </a:r>
                    </a:p>
                  </a:txBody>
                  <a:tcPr marL="54864" marR="54864" marT="27432" marB="27432" anchor="ctr">
                    <a:solidFill>
                      <a:srgbClr val="FFFFFF"/>
                    </a:solidFill>
                  </a:tcPr>
                </a:tc>
                <a:tc>
                  <a:txBody>
                    <a:bodyPr wrap="square"/>
                    <a:lstStyle/>
                    <a:p>
                      <a:pPr algn="l"/>
                      <a:r>
                        <a:rPr sz="950" b="0" i="0">
                          <a:solidFill>
                            <a:srgbClr val="404040"/>
                          </a:solidFill>
                          <a:latin typeface="Arial"/>
                        </a:rPr>
                        <a:t>A single events and MICE pipeline across Wesgro, Convention Bureau, City and Province</a:t>
                      </a:r>
                    </a:p>
                  </a:txBody>
                  <a:tcPr marL="54864" marR="54864" marT="27432" marB="27432" anchor="ctr">
                    <a:solidFill>
                      <a:srgbClr val="FFFFFF"/>
                    </a:solidFill>
                  </a:tcPr>
                </a:tc>
              </a:tr>
              <a:tr h="566928">
                <a:tc>
                  <a:txBody>
                    <a:bodyPr wrap="square"/>
                    <a:lstStyle/>
                    <a:p>
                      <a:pPr algn="l"/>
                      <a:r>
                        <a:rPr sz="950" b="1" i="0">
                          <a:solidFill>
                            <a:srgbClr val="1F497D"/>
                          </a:solidFill>
                          <a:latin typeface="Arial"/>
                        </a:rPr>
                        <a:t>Chile</a:t>
                      </a:r>
                    </a:p>
                  </a:txBody>
                  <a:tcPr marL="54864" marR="54864" marT="27432" marB="27432" anchor="ctr">
                    <a:solidFill>
                      <a:srgbClr val="F2F2F2"/>
                    </a:solidFill>
                  </a:tcPr>
                </a:tc>
                <a:tc>
                  <a:txBody>
                    <a:bodyPr wrap="square"/>
                    <a:lstStyle/>
                    <a:p>
                      <a:pPr algn="l"/>
                      <a:r>
                        <a:rPr sz="950" b="0" i="0">
                          <a:solidFill>
                            <a:srgbClr val="404040"/>
                          </a:solidFill>
                          <a:latin typeface="Arial"/>
                        </a:rPr>
                        <a:t>~35%</a:t>
                      </a:r>
                    </a:p>
                  </a:txBody>
                  <a:tcPr marL="54864" marR="54864" marT="27432" marB="27432" anchor="ctr">
                    <a:solidFill>
                      <a:srgbClr val="F2F2F2"/>
                    </a:solidFill>
                  </a:tcPr>
                </a:tc>
                <a:tc>
                  <a:txBody>
                    <a:bodyPr wrap="square"/>
                    <a:lstStyle/>
                    <a:p>
                      <a:pPr algn="l"/>
                      <a:r>
                        <a:rPr sz="950" b="0" i="0">
                          <a:solidFill>
                            <a:srgbClr val="404040"/>
                          </a:solidFill>
                          <a:latin typeface="Arial"/>
                        </a:rPr>
                        <a:t>Gateway-led air capacity; product diversification</a:t>
                      </a:r>
                    </a:p>
                  </a:txBody>
                  <a:tcPr marL="54864" marR="54864" marT="27432" marB="27432" anchor="ctr">
                    <a:solidFill>
                      <a:srgbClr val="F2F2F2"/>
                    </a:solidFill>
                  </a:tcPr>
                </a:tc>
                <a:tc>
                  <a:txBody>
                    <a:bodyPr wrap="square"/>
                    <a:lstStyle/>
                    <a:p>
                      <a:pPr algn="l"/>
                      <a:r>
                        <a:rPr sz="950" b="0" i="0">
                          <a:solidFill>
                            <a:srgbClr val="404040"/>
                          </a:solidFill>
                          <a:latin typeface="Arial"/>
                        </a:rPr>
                        <a:t>Treat air access as economic infrastructure with a funded route fund</a:t>
                      </a:r>
                    </a:p>
                  </a:txBody>
                  <a:tcPr marL="54864" marR="54864" marT="27432" marB="27432" anchor="ctr">
                    <a:solidFill>
                      <a:srgbClr val="F2F2F2"/>
                    </a:solidFill>
                  </a:tcPr>
                </a:tc>
              </a:tr>
              <a:tr h="566928">
                <a:tc>
                  <a:txBody>
                    <a:bodyPr wrap="square"/>
                    <a:lstStyle/>
                    <a:p>
                      <a:pPr algn="l"/>
                      <a:r>
                        <a:rPr sz="950" b="1" i="0">
                          <a:solidFill>
                            <a:srgbClr val="1F497D"/>
                          </a:solidFill>
                          <a:latin typeface="Arial"/>
                        </a:rPr>
                        <a:t>Kenya</a:t>
                      </a:r>
                    </a:p>
                  </a:txBody>
                  <a:tcPr marL="54864" marR="54864" marT="27432" marB="27432" anchor="ctr">
                    <a:solidFill>
                      <a:srgbClr val="FFFFFF"/>
                    </a:solidFill>
                  </a:tcPr>
                </a:tc>
                <a:tc>
                  <a:txBody>
                    <a:bodyPr wrap="square"/>
                    <a:lstStyle/>
                    <a:p>
                      <a:pPr algn="l"/>
                      <a:r>
                        <a:rPr sz="950" b="0" i="0">
                          <a:solidFill>
                            <a:srgbClr val="404040"/>
                          </a:solidFill>
                          <a:latin typeface="Arial"/>
                        </a:rPr>
                        <a:t>~13-15%</a:t>
                      </a:r>
                    </a:p>
                  </a:txBody>
                  <a:tcPr marL="54864" marR="54864" marT="27432" marB="27432" anchor="ctr">
                    <a:solidFill>
                      <a:srgbClr val="FFFFFF"/>
                    </a:solidFill>
                  </a:tcPr>
                </a:tc>
                <a:tc>
                  <a:txBody>
                    <a:bodyPr wrap="square"/>
                    <a:lstStyle/>
                    <a:p>
                      <a:pPr algn="l"/>
                      <a:r>
                        <a:rPr sz="950" b="0" i="0">
                          <a:solidFill>
                            <a:srgbClr val="404040"/>
                          </a:solidFill>
                          <a:latin typeface="Arial"/>
                        </a:rPr>
                        <a:t>Conservation-led institutions; Nairobi gateway</a:t>
                      </a:r>
                    </a:p>
                  </a:txBody>
                  <a:tcPr marL="54864" marR="54864" marT="27432" marB="27432" anchor="ctr">
                    <a:solidFill>
                      <a:srgbClr val="FFFFFF"/>
                    </a:solidFill>
                  </a:tcPr>
                </a:tc>
                <a:tc>
                  <a:txBody>
                    <a:bodyPr wrap="square"/>
                    <a:lstStyle/>
                    <a:p>
                      <a:pPr algn="l"/>
                      <a:r>
                        <a:rPr sz="950" b="0" i="0">
                          <a:solidFill>
                            <a:srgbClr val="404040"/>
                          </a:solidFill>
                          <a:latin typeface="Arial"/>
                        </a:rPr>
                        <a:t>Use MICE and business travel as a year-round stabiliser</a:t>
                      </a:r>
                    </a:p>
                  </a:txBody>
                  <a:tcPr marL="54864" marR="54864" marT="27432" marB="27432" anchor="ctr">
                    <a:solidFill>
                      <a:srgbClr val="FFFFFF"/>
                    </a:solidFill>
                  </a:tcPr>
                </a:tc>
              </a:tr>
              <a:tr h="566928">
                <a:tc>
                  <a:txBody>
                    <a:bodyPr wrap="square"/>
                    <a:lstStyle/>
                    <a:p>
                      <a:pPr algn="l"/>
                      <a:r>
                        <a:rPr sz="950" b="1" i="0">
                          <a:solidFill>
                            <a:srgbClr val="1F497D"/>
                          </a:solidFill>
                          <a:latin typeface="Arial"/>
                        </a:rPr>
                        <a:t>Singapore</a:t>
                      </a:r>
                    </a:p>
                  </a:txBody>
                  <a:tcPr marL="54864" marR="54864" marT="27432" marB="27432" anchor="ctr">
                    <a:solidFill>
                      <a:srgbClr val="F2F2F2"/>
                    </a:solidFill>
                  </a:tcPr>
                </a:tc>
                <a:tc>
                  <a:txBody>
                    <a:bodyPr wrap="square"/>
                    <a:lstStyle/>
                    <a:p>
                      <a:pPr algn="l"/>
                      <a:r>
                        <a:rPr sz="950" b="0" i="0">
                          <a:solidFill>
                            <a:srgbClr val="404040"/>
                          </a:solidFill>
                          <a:latin typeface="Arial"/>
                        </a:rPr>
                        <a:t>~19%</a:t>
                      </a:r>
                    </a:p>
                  </a:txBody>
                  <a:tcPr marL="54864" marR="54864" marT="27432" marB="27432" anchor="ctr">
                    <a:solidFill>
                      <a:srgbClr val="F2F2F2"/>
                    </a:solidFill>
                  </a:tcPr>
                </a:tc>
                <a:tc>
                  <a:txBody>
                    <a:bodyPr wrap="square"/>
                    <a:lstStyle/>
                    <a:p>
                      <a:pPr algn="l"/>
                      <a:r>
                        <a:rPr sz="950" b="0" i="0">
                          <a:solidFill>
                            <a:srgbClr val="404040"/>
                          </a:solidFill>
                          <a:latin typeface="Arial"/>
                        </a:rPr>
                        <a:t>Integrated hub and stopovers; quality uplift</a:t>
                      </a:r>
                    </a:p>
                  </a:txBody>
                  <a:tcPr marL="54864" marR="54864" marT="27432" marB="27432" anchor="ctr">
                    <a:solidFill>
                      <a:srgbClr val="F2F2F2"/>
                    </a:solidFill>
                  </a:tcPr>
                </a:tc>
                <a:tc>
                  <a:txBody>
                    <a:bodyPr wrap="square"/>
                    <a:lstStyle/>
                    <a:p>
                      <a:pPr algn="l"/>
                      <a:r>
                        <a:rPr sz="950" b="0" i="0">
                          <a:solidFill>
                            <a:srgbClr val="404040"/>
                          </a:solidFill>
                          <a:latin typeface="Arial"/>
                        </a:rPr>
                        <a:t>Align aviation, events and investment promotion under shared KPIs</a:t>
                      </a:r>
                    </a:p>
                  </a:txBody>
                  <a:tcPr marL="54864" marR="54864" marT="27432" marB="27432" anchor="ctr">
                    <a:solidFill>
                      <a:srgbClr val="F2F2F2"/>
                    </a:solidFill>
                  </a:tcPr>
                </a:tc>
              </a:tr>
              <a:tr h="566928">
                <a:tc>
                  <a:txBody>
                    <a:bodyPr wrap="square"/>
                    <a:lstStyle/>
                    <a:p>
                      <a:pPr algn="l"/>
                      <a:r>
                        <a:rPr sz="950" b="1" i="0">
                          <a:solidFill>
                            <a:srgbClr val="1F497D"/>
                          </a:solidFill>
                          <a:latin typeface="Arial"/>
                        </a:rPr>
                        <a:t>Valencia</a:t>
                      </a:r>
                    </a:p>
                  </a:txBody>
                  <a:tcPr marL="54864" marR="54864" marT="27432" marB="27432" anchor="ctr">
                    <a:solidFill>
                      <a:srgbClr val="FFFFFF"/>
                    </a:solidFill>
                  </a:tcPr>
                </a:tc>
                <a:tc>
                  <a:txBody>
                    <a:bodyPr wrap="square"/>
                    <a:lstStyle/>
                    <a:p>
                      <a:pPr algn="l"/>
                      <a:r>
                        <a:rPr sz="950" b="0" i="0">
                          <a:solidFill>
                            <a:srgbClr val="404040"/>
                          </a:solidFill>
                          <a:latin typeface="Arial"/>
                        </a:rPr>
                        <a:t>~13-14%</a:t>
                      </a:r>
                    </a:p>
                  </a:txBody>
                  <a:tcPr marL="54864" marR="54864" marT="27432" marB="27432" anchor="ctr">
                    <a:solidFill>
                      <a:srgbClr val="FFFFFF"/>
                    </a:solidFill>
                  </a:tcPr>
                </a:tc>
                <a:tc>
                  <a:txBody>
                    <a:bodyPr wrap="square"/>
                    <a:lstStyle/>
                    <a:p>
                      <a:pPr algn="l"/>
                      <a:r>
                        <a:rPr sz="950" b="0" i="0">
                          <a:solidFill>
                            <a:srgbClr val="404040"/>
                          </a:solidFill>
                          <a:latin typeface="Arial"/>
                        </a:rPr>
                        <a:t>Quality standardisation; governance-led diversification</a:t>
                      </a:r>
                    </a:p>
                  </a:txBody>
                  <a:tcPr marL="54864" marR="54864" marT="27432" marB="27432" anchor="ctr">
                    <a:solidFill>
                      <a:srgbClr val="FFFFFF"/>
                    </a:solidFill>
                  </a:tcPr>
                </a:tc>
                <a:tc>
                  <a:txBody>
                    <a:bodyPr wrap="square"/>
                    <a:lstStyle/>
                    <a:p>
                      <a:pPr algn="l"/>
                      <a:r>
                        <a:rPr sz="950" b="0" i="0">
                          <a:solidFill>
                            <a:srgbClr val="404040"/>
                          </a:solidFill>
                          <a:latin typeface="Arial"/>
                        </a:rPr>
                        <a:t>Provincial quality charter; sector councils</a:t>
                      </a:r>
                    </a:p>
                  </a:txBody>
                  <a:tcPr marL="54864" marR="54864" marT="27432" marB="27432" anchor="ctr">
                    <a:solidFill>
                      <a:srgbClr val="FFFFFF"/>
                    </a:solidFill>
                  </a:tcPr>
                </a:tc>
              </a:tr>
              <a:tr h="566928">
                <a:tc>
                  <a:txBody>
                    <a:bodyPr wrap="square"/>
                    <a:lstStyle/>
                    <a:p>
                      <a:pPr algn="l"/>
                      <a:r>
                        <a:rPr sz="950" b="1" i="0">
                          <a:solidFill>
                            <a:srgbClr val="1F497D"/>
                          </a:solidFill>
                          <a:latin typeface="Arial"/>
                        </a:rPr>
                        <a:t>Auckland, New Zealand</a:t>
                      </a:r>
                    </a:p>
                  </a:txBody>
                  <a:tcPr marL="54864" marR="54864" marT="27432" marB="27432" anchor="ctr">
                    <a:solidFill>
                      <a:srgbClr val="F2F2F2"/>
                    </a:solidFill>
                  </a:tcPr>
                </a:tc>
                <a:tc>
                  <a:txBody>
                    <a:bodyPr wrap="square"/>
                    <a:lstStyle/>
                    <a:p>
                      <a:pPr algn="l"/>
                      <a:r>
                        <a:rPr sz="950" b="0" i="0">
                          <a:solidFill>
                            <a:srgbClr val="404040"/>
                          </a:solidFill>
                          <a:latin typeface="Arial"/>
                        </a:rPr>
                        <a:t>~12%</a:t>
                      </a:r>
                    </a:p>
                  </a:txBody>
                  <a:tcPr marL="54864" marR="54864" marT="27432" marB="27432" anchor="ctr">
                    <a:solidFill>
                      <a:srgbClr val="F2F2F2"/>
                    </a:solidFill>
                  </a:tcPr>
                </a:tc>
                <a:tc>
                  <a:txBody>
                    <a:bodyPr wrap="square"/>
                    <a:lstStyle/>
                    <a:p>
                      <a:pPr algn="l"/>
                      <a:r>
                        <a:rPr sz="950" b="0" i="0">
                          <a:solidFill>
                            <a:srgbClr val="404040"/>
                          </a:solidFill>
                          <a:latin typeface="Arial"/>
                        </a:rPr>
                        <a:t>Demand-engineered air access; regional value</a:t>
                      </a:r>
                    </a:p>
                  </a:txBody>
                  <a:tcPr marL="54864" marR="54864" marT="27432" marB="27432" anchor="ctr">
                    <a:solidFill>
                      <a:srgbClr val="F2F2F2"/>
                    </a:solidFill>
                  </a:tcPr>
                </a:tc>
                <a:tc>
                  <a:txBody>
                    <a:bodyPr wrap="square"/>
                    <a:lstStyle/>
                    <a:p>
                      <a:pPr algn="l"/>
                      <a:r>
                        <a:rPr sz="950" b="0" i="0">
                          <a:solidFill>
                            <a:srgbClr val="404040"/>
                          </a:solidFill>
                          <a:latin typeface="Arial"/>
                        </a:rPr>
                        <a:t>Route-accountable marketing; yield-based KPIs</a:t>
                      </a:r>
                    </a:p>
                  </a:txBody>
                  <a:tcPr marL="54864" marR="54864" marT="27432" marB="27432" anchor="ctr">
                    <a:solidFill>
                      <a:srgbClr val="F2F2F2"/>
                    </a:solidFill>
                  </a:tcPr>
                </a:tc>
              </a:tr>
            </a:tbl>
          </a:graphicData>
        </a:graphic>
      </p:graphicFrame>
      <p:sp>
        <p:nvSpPr>
          <p:cNvPr id="9" name="Rectangle 8"/>
          <p:cNvSpPr/>
          <p:nvPr/>
        </p:nvSpPr>
        <p:spPr>
          <a:xfrm>
            <a:off x="8092440" y="1188720"/>
            <a:ext cx="3703320" cy="2011680"/>
          </a:xfrm>
          <a:prstGeom prst="rect">
            <a:avLst/>
          </a:prstGeom>
          <a:solidFill>
            <a:srgbClr val="F2F2F2"/>
          </a:solidFill>
          <a:ln>
            <a:noFill/>
          </a:ln>
        </p:spPr>
        <p:txBody>
          <a:bodyPr rtlCol="0" anchor="ctr"/>
          <a:lstStyle/>
          <a:p>
            <a:pPr algn="ctr"/>
          </a:p>
        </p:txBody>
      </p:sp>
      <p:sp>
        <p:nvSpPr>
          <p:cNvPr id="10" name="Rectangle 9"/>
          <p:cNvSpPr/>
          <p:nvPr/>
        </p:nvSpPr>
        <p:spPr>
          <a:xfrm>
            <a:off x="8092440" y="1188720"/>
            <a:ext cx="54864" cy="2011680"/>
          </a:xfrm>
          <a:prstGeom prst="rect">
            <a:avLst/>
          </a:prstGeom>
          <a:solidFill>
            <a:srgbClr val="00AEEF"/>
          </a:solidFill>
          <a:ln>
            <a:noFill/>
          </a:ln>
        </p:spPr>
        <p:txBody>
          <a:bodyPr rtlCol="0" anchor="ctr"/>
          <a:lstStyle/>
          <a:p>
            <a:pPr algn="ctr"/>
          </a:p>
        </p:txBody>
      </p:sp>
      <p:sp>
        <p:nvSpPr>
          <p:cNvPr id="11" name="TextBox 10"/>
          <p:cNvSpPr txBox="1"/>
          <p:nvPr/>
        </p:nvSpPr>
        <p:spPr>
          <a:xfrm>
            <a:off x="8257031" y="1280160"/>
            <a:ext cx="34290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The system insight</a:t>
            </a:r>
          </a:p>
        </p:txBody>
      </p:sp>
      <p:sp>
        <p:nvSpPr>
          <p:cNvPr id="12" name="TextBox 11"/>
          <p:cNvSpPr txBox="1"/>
          <p:nvPr/>
        </p:nvSpPr>
        <p:spPr>
          <a:xfrm>
            <a:off x="8257031" y="1600200"/>
            <a:ext cx="3429000" cy="1508760"/>
          </a:xfrm>
          <a:prstGeom prst="rect">
            <a:avLst/>
          </a:prstGeom>
          <a:noFill/>
        </p:spPr>
        <p:txBody>
          <a:bodyPr wrap="square" anchor="t" lIns="36576" rIns="36576" tIns="21945" bIns="21945">
            <a:spAutoFit/>
          </a:bodyPr>
          <a:lstStyle/>
          <a:p>
            <a:pPr algn="l">
              <a:spcAft>
                <a:spcPts val="400"/>
              </a:spcAft>
            </a:pPr>
            <a:r>
              <a:rPr sz="1000" b="0" i="0">
                <a:solidFill>
                  <a:srgbClr val="404040"/>
                </a:solidFill>
                <a:latin typeface="Arial"/>
              </a:rPr>
              <a:t>Institutional coordination organises the actors. Strategic marketing creates demand. Accessibility converts it into arrivals. Growth is strongest when the three reinforce each other.</a:t>
            </a:r>
          </a:p>
        </p:txBody>
      </p:sp>
      <p:sp>
        <p:nvSpPr>
          <p:cNvPr id="13" name="Rectangle 12"/>
          <p:cNvSpPr/>
          <p:nvPr/>
        </p:nvSpPr>
        <p:spPr>
          <a:xfrm>
            <a:off x="8092440" y="3337560"/>
            <a:ext cx="3703320" cy="2286000"/>
          </a:xfrm>
          <a:prstGeom prst="rect">
            <a:avLst/>
          </a:prstGeom>
          <a:solidFill>
            <a:srgbClr val="F2F2F2"/>
          </a:solidFill>
          <a:ln>
            <a:noFill/>
          </a:ln>
        </p:spPr>
        <p:txBody>
          <a:bodyPr rtlCol="0" anchor="ctr"/>
          <a:lstStyle/>
          <a:p>
            <a:pPr algn="ctr"/>
          </a:p>
        </p:txBody>
      </p:sp>
      <p:sp>
        <p:nvSpPr>
          <p:cNvPr id="14" name="Rectangle 13"/>
          <p:cNvSpPr/>
          <p:nvPr/>
        </p:nvSpPr>
        <p:spPr>
          <a:xfrm>
            <a:off x="8092440" y="3337560"/>
            <a:ext cx="54864" cy="2286000"/>
          </a:xfrm>
          <a:prstGeom prst="rect">
            <a:avLst/>
          </a:prstGeom>
          <a:solidFill>
            <a:srgbClr val="00AEEF"/>
          </a:solidFill>
          <a:ln>
            <a:noFill/>
          </a:ln>
        </p:spPr>
        <p:txBody>
          <a:bodyPr rtlCol="0" anchor="ctr"/>
          <a:lstStyle/>
          <a:p>
            <a:pPr algn="ctr"/>
          </a:p>
        </p:txBody>
      </p:sp>
      <p:sp>
        <p:nvSpPr>
          <p:cNvPr id="15" name="TextBox 14"/>
          <p:cNvSpPr txBox="1"/>
          <p:nvPr/>
        </p:nvSpPr>
        <p:spPr>
          <a:xfrm>
            <a:off x="8257031" y="3429000"/>
            <a:ext cx="34290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Cross-cutting patterns</a:t>
            </a:r>
          </a:p>
        </p:txBody>
      </p:sp>
      <p:sp>
        <p:nvSpPr>
          <p:cNvPr id="16" name="TextBox 15"/>
          <p:cNvSpPr txBox="1"/>
          <p:nvPr/>
        </p:nvSpPr>
        <p:spPr>
          <a:xfrm>
            <a:off x="8257031" y="3749039"/>
            <a:ext cx="3429000" cy="1783080"/>
          </a:xfrm>
          <a:prstGeom prst="rect">
            <a:avLst/>
          </a:prstGeom>
          <a:noFill/>
        </p:spPr>
        <p:txBody>
          <a:bodyPr wrap="square" anchor="t" lIns="36576" rIns="36576" tIns="21945" bIns="21945">
            <a:spAutoFit/>
          </a:bodyPr>
          <a:lstStyle/>
          <a:p>
            <a:pPr algn="l" marL="146304" indent="-146304">
              <a:spcAft>
                <a:spcPts val="500"/>
              </a:spcAft>
              <a:buClr>
                <a:srgbClr val="00AEEF"/>
              </a:buClr>
              <a:buFont typeface="Arial"/>
              <a:buChar char="•"/>
            </a:pPr>
            <a:r>
              <a:rPr sz="1000" b="0" i="0">
                <a:solidFill>
                  <a:srgbClr val="404040"/>
                </a:solidFill>
                <a:latin typeface="Arial"/>
              </a:rPr>
              <a:t>Yield over arrivals</a:t>
            </a:r>
          </a:p>
          <a:p>
            <a:pPr algn="l" marL="146304" indent="-146304">
              <a:spcAft>
                <a:spcPts val="500"/>
              </a:spcAft>
              <a:buClr>
                <a:srgbClr val="00AEEF"/>
              </a:buClr>
              <a:buFont typeface="Arial"/>
              <a:buChar char="•"/>
            </a:pPr>
            <a:r>
              <a:rPr sz="1000" b="0" i="0">
                <a:solidFill>
                  <a:srgbClr val="404040"/>
                </a:solidFill>
                <a:latin typeface="Arial"/>
              </a:rPr>
              <a:t>Demand is designed, not discovered</a:t>
            </a:r>
          </a:p>
          <a:p>
            <a:pPr algn="l" marL="146304" indent="-146304">
              <a:spcAft>
                <a:spcPts val="500"/>
              </a:spcAft>
              <a:buClr>
                <a:srgbClr val="00AEEF"/>
              </a:buClr>
              <a:buFont typeface="Arial"/>
              <a:buChar char="•"/>
            </a:pPr>
            <a:r>
              <a:rPr sz="1000" b="0" i="0">
                <a:solidFill>
                  <a:srgbClr val="404040"/>
                </a:solidFill>
                <a:latin typeface="Arial"/>
              </a:rPr>
              <a:t>MICE and events smooth seasons</a:t>
            </a:r>
          </a:p>
          <a:p>
            <a:pPr algn="l" marL="146304" indent="-146304">
              <a:spcAft>
                <a:spcPts val="500"/>
              </a:spcAft>
              <a:buClr>
                <a:srgbClr val="00AEEF"/>
              </a:buClr>
              <a:buFont typeface="Arial"/>
              <a:buChar char="•"/>
            </a:pPr>
            <a:r>
              <a:rPr sz="1000" b="0" i="0">
                <a:solidFill>
                  <a:srgbClr val="404040"/>
                </a:solidFill>
                <a:latin typeface="Arial"/>
              </a:rPr>
              <a:t>Destinations sold as multi-stop trips</a:t>
            </a:r>
          </a:p>
          <a:p>
            <a:pPr algn="l" marL="146304" indent="-146304">
              <a:spcAft>
                <a:spcPts val="500"/>
              </a:spcAft>
              <a:buClr>
                <a:srgbClr val="00AEEF"/>
              </a:buClr>
              <a:buFont typeface="Arial"/>
              <a:buChar char="•"/>
            </a:pPr>
            <a:r>
              <a:rPr sz="1000" b="0" i="0">
                <a:solidFill>
                  <a:srgbClr val="404040"/>
                </a:solidFill>
                <a:latin typeface="Arial"/>
              </a:rPr>
              <a:t>Authenticity built with communities</a:t>
            </a:r>
          </a:p>
        </p:txBody>
      </p:sp>
      <p:sp>
        <p:nvSpPr>
          <p:cNvPr id="17" name="Rectangle 16"/>
          <p:cNvSpPr/>
          <p:nvPr/>
        </p:nvSpPr>
        <p:spPr>
          <a:xfrm>
            <a:off x="384048" y="5760720"/>
            <a:ext cx="11420856" cy="438912"/>
          </a:xfrm>
          <a:prstGeom prst="rect">
            <a:avLst/>
          </a:prstGeom>
          <a:solidFill>
            <a:srgbClr val="1F497D"/>
          </a:solidFill>
          <a:ln>
            <a:noFill/>
          </a:ln>
        </p:spPr>
        <p:txBody>
          <a:bodyPr rtlCol="0" anchor="ctr"/>
          <a:lstStyle/>
          <a:p>
            <a:pPr algn="ctr"/>
          </a:p>
        </p:txBody>
      </p:sp>
      <p:sp>
        <p:nvSpPr>
          <p:cNvPr id="18" name="TextBox 17"/>
          <p:cNvSpPr txBox="1"/>
          <p:nvPr/>
        </p:nvSpPr>
        <p:spPr>
          <a:xfrm>
            <a:off x="548640" y="5760720"/>
            <a:ext cx="11064240" cy="438912"/>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Cape Town already leads its airport peer group on new mainline routes; the gap is the system around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divider_bg.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2697480"/>
            <a:ext cx="12191695" cy="1463040"/>
          </a:xfrm>
          <a:prstGeom prst="rect">
            <a:avLst/>
          </a:prstGeom>
          <a:solidFill>
            <a:srgbClr val="009FDF">
              <a:alpha val="78000"/>
            </a:srgbClr>
          </a:solidFill>
          <a:ln>
            <a:noFill/>
          </a:ln>
        </p:spPr>
        <p:txBody>
          <a:bodyPr rtlCol="0" anchor="ctr"/>
          <a:lstStyle/>
          <a:p>
            <a:pPr algn="ctr"/>
          </a:p>
        </p:txBody>
      </p:sp>
      <p:sp>
        <p:nvSpPr>
          <p:cNvPr id="2" name="Title 1"/>
          <p:cNvSpPr>
            <a:spLocks noGrp="1"/>
          </p:cNvSpPr>
          <p:nvPr>
            <p:ph type="title"/>
          </p:nvPr>
        </p:nvSpPr>
        <p:spPr>
          <a:xfrm>
            <a:off x="1097280" y="2788920"/>
            <a:ext cx="10058400" cy="731520"/>
          </a:xfrm>
        </p:spPr>
        <p:txBody>
          <a:bodyPr anchor="ctr"/>
          <a:lstStyle/>
          <a:p>
            <a:pPr algn="l"/>
            <a:r>
              <a:rPr sz="3200" b="1" i="0">
                <a:solidFill>
                  <a:srgbClr val="FFFFFF"/>
                </a:solidFill>
                <a:latin typeface="Arial"/>
              </a:rPr>
              <a:t>Stepping back</a:t>
            </a:r>
          </a:p>
        </p:txBody>
      </p:sp>
      <p:sp>
        <p:nvSpPr>
          <p:cNvPr id="5" name="TextBox 4"/>
          <p:cNvSpPr txBox="1"/>
          <p:nvPr/>
        </p:nvSpPr>
        <p:spPr>
          <a:xfrm>
            <a:off x="1097280" y="3520440"/>
            <a:ext cx="10058400" cy="457200"/>
          </a:xfrm>
          <a:prstGeom prst="rect">
            <a:avLst/>
          </a:prstGeom>
          <a:noFill/>
        </p:spPr>
        <p:txBody>
          <a:bodyPr wrap="square" anchor="t" lIns="36576" rIns="36576" tIns="21945" bIns="21945">
            <a:spAutoFit/>
          </a:bodyPr>
          <a:lstStyle/>
          <a:p>
            <a:pPr algn="l">
              <a:spcAft>
                <a:spcPts val="0"/>
              </a:spcAft>
            </a:pPr>
            <a:r>
              <a:rPr sz="1400" b="0" i="0">
                <a:solidFill>
                  <a:srgbClr val="FFFFFF"/>
                </a:solidFill>
                <a:latin typeface="Arial"/>
              </a:rPr>
              <a:t>Scorecard, themes, tensions and the "so what"</a:t>
            </a:r>
          </a:p>
        </p:txBody>
      </p:sp>
      <p:sp>
        <p:nvSpPr>
          <p:cNvPr id="6" name="TextBox 5"/>
          <p:cNvSpPr txBox="1"/>
          <p:nvPr/>
        </p:nvSpPr>
        <p:spPr>
          <a:xfrm>
            <a:off x="411480" y="2788920"/>
            <a:ext cx="731520" cy="731520"/>
          </a:xfrm>
          <a:prstGeom prst="rect">
            <a:avLst/>
          </a:prstGeom>
          <a:noFill/>
        </p:spPr>
        <p:txBody>
          <a:bodyPr wrap="square" anchor="ctr" lIns="36576" rIns="36576" tIns="21945" bIns="21945">
            <a:spAutoFit/>
          </a:bodyPr>
          <a:lstStyle/>
          <a:p>
            <a:pPr algn="l">
              <a:spcAft>
                <a:spcPts val="400"/>
              </a:spcAft>
            </a:pPr>
            <a:r>
              <a:rPr sz="3200" b="0" i="0">
                <a:solidFill>
                  <a:srgbClr val="FFFFFF"/>
                </a:solidFill>
                <a:latin typeface="Arial"/>
              </a:rPr>
              <a:t>03</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D9D9D9"/>
                </a:solidFill>
                <a:latin typeface="Arial"/>
              </a:rPr>
              <a:t>DRAFT FOR DISCUSSION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The tree largely holds: 13 of 20 focus areas are supported, but the goal itself is at risk</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HYPOTHESIS SCORECARD</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Letsema synthesis of all inputs; verdicts per focus area are evidenced in the appendix</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20</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218688" y="1143000"/>
            <a:ext cx="5751576" cy="457200"/>
          </a:xfrm>
          <a:prstGeom prst="rect">
            <a:avLst/>
          </a:prstGeom>
          <a:solidFill>
            <a:srgbClr val="1F497D"/>
          </a:solidFill>
          <a:ln>
            <a:noFill/>
          </a:ln>
        </p:spPr>
        <p:txBody>
          <a:bodyPr rtlCol="0" anchor="ctr" wrap="square" lIns="36576" rIns="36576" tIns="21945" bIns="21945"/>
          <a:lstStyle/>
          <a:p>
            <a:pPr algn="ctr">
              <a:spcAft>
                <a:spcPts val="0"/>
              </a:spcAft>
            </a:pPr>
            <a:r>
              <a:rPr sz="1200" b="1" i="0">
                <a:solidFill>
                  <a:srgbClr val="FFFFFF"/>
                </a:solidFill>
                <a:latin typeface="Arial"/>
              </a:rPr>
              <a:t>Unlocking International Tourism Growth</a:t>
            </a:r>
          </a:p>
          <a:p>
            <a:pPr algn="ctr">
              <a:spcAft>
                <a:spcPts val="0"/>
              </a:spcAft>
            </a:pPr>
            <a:r>
              <a:rPr sz="900" b="0" i="0">
                <a:solidFill>
                  <a:srgbClr val="FFFFFF"/>
                </a:solidFill>
                <a:latin typeface="Arial"/>
              </a:rPr>
              <a:t>2.8m international visitors and 300,000 tourism jobs by 2035</a:t>
            </a:r>
          </a:p>
        </p:txBody>
      </p:sp>
      <p:cxnSp>
        <p:nvCxnSpPr>
          <p:cNvPr id="9" name="Connector 8"/>
          <p:cNvCxnSpPr/>
          <p:nvPr/>
        </p:nvCxnSpPr>
        <p:spPr>
          <a:xfrm>
            <a:off x="2231136" y="1600200"/>
            <a:ext cx="0" cy="164592"/>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84048" y="1764792"/>
            <a:ext cx="3694176" cy="566928"/>
          </a:xfrm>
          <a:prstGeom prst="rect">
            <a:avLst/>
          </a:prstGeom>
          <a:solidFill>
            <a:srgbClr val="29ABE2"/>
          </a:solidFill>
          <a:ln>
            <a:noFill/>
          </a:ln>
        </p:spPr>
        <p:txBody>
          <a:bodyPr rtlCol="0" anchor="ctr" wrap="square" lIns="36576" rIns="36576" tIns="21945" bIns="21945"/>
          <a:lstStyle/>
          <a:p>
            <a:pPr algn="ctr">
              <a:spcAft>
                <a:spcPts val="100"/>
              </a:spcAft>
            </a:pPr>
            <a:r>
              <a:rPr sz="1100" b="1" i="0">
                <a:solidFill>
                  <a:srgbClr val="FFFFFF"/>
                </a:solidFill>
                <a:latin typeface="Arial"/>
              </a:rPr>
              <a:t>RESHAPE DEMAND</a:t>
            </a:r>
          </a:p>
          <a:p>
            <a:pPr algn="ctr">
              <a:spcAft>
                <a:spcPts val="0"/>
              </a:spcAft>
            </a:pPr>
            <a:r>
              <a:rPr sz="800" b="0" i="0">
                <a:solidFill>
                  <a:srgbClr val="FFFFFF"/>
                </a:solidFill>
                <a:latin typeface="Arial"/>
              </a:rPr>
              <a:t>Convert proven demand: high-value segments in priority markets and a flatter seasonal curve</a:t>
            </a:r>
          </a:p>
        </p:txBody>
      </p:sp>
      <p:cxnSp>
        <p:nvCxnSpPr>
          <p:cNvPr id="11" name="Connector 10"/>
          <p:cNvCxnSpPr/>
          <p:nvPr/>
        </p:nvCxnSpPr>
        <p:spPr>
          <a:xfrm>
            <a:off x="6053327" y="1600200"/>
            <a:ext cx="0" cy="164592"/>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206240" y="1764792"/>
            <a:ext cx="3694176" cy="566928"/>
          </a:xfrm>
          <a:prstGeom prst="rect">
            <a:avLst/>
          </a:prstGeom>
          <a:solidFill>
            <a:srgbClr val="29ABE2"/>
          </a:solidFill>
          <a:ln>
            <a:noFill/>
          </a:ln>
        </p:spPr>
        <p:txBody>
          <a:bodyPr rtlCol="0" anchor="ctr" wrap="square" lIns="36576" rIns="36576" tIns="21945" bIns="21945"/>
          <a:lstStyle/>
          <a:p>
            <a:pPr algn="ctr">
              <a:spcAft>
                <a:spcPts val="100"/>
              </a:spcAft>
            </a:pPr>
            <a:r>
              <a:rPr sz="1100" b="1" i="0">
                <a:solidFill>
                  <a:srgbClr val="FFFFFF"/>
                </a:solidFill>
                <a:latin typeface="Arial"/>
              </a:rPr>
              <a:t>TRANSFORM SUPPLY</a:t>
            </a:r>
          </a:p>
          <a:p>
            <a:pPr algn="ctr">
              <a:spcAft>
                <a:spcPts val="0"/>
              </a:spcAft>
            </a:pPr>
            <a:r>
              <a:rPr sz="800" b="0" i="0">
                <a:solidFill>
                  <a:srgbClr val="FFFFFF"/>
                </a:solidFill>
                <a:latin typeface="Arial"/>
              </a:rPr>
              <a:t>Remove the mobility, infrastructure and product constraints that cap capacity to convert demand</a:t>
            </a:r>
          </a:p>
        </p:txBody>
      </p:sp>
      <p:cxnSp>
        <p:nvCxnSpPr>
          <p:cNvPr id="13" name="Connector 12"/>
          <p:cNvCxnSpPr/>
          <p:nvPr/>
        </p:nvCxnSpPr>
        <p:spPr>
          <a:xfrm>
            <a:off x="9875519" y="1600200"/>
            <a:ext cx="0" cy="164592"/>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8028431" y="1764792"/>
            <a:ext cx="3694176" cy="566928"/>
          </a:xfrm>
          <a:prstGeom prst="rect">
            <a:avLst/>
          </a:prstGeom>
          <a:solidFill>
            <a:srgbClr val="29ABE2"/>
          </a:solidFill>
          <a:ln>
            <a:noFill/>
          </a:ln>
        </p:spPr>
        <p:txBody>
          <a:bodyPr rtlCol="0" anchor="ctr" wrap="square" lIns="36576" rIns="36576" tIns="21945" bIns="21945"/>
          <a:lstStyle/>
          <a:p>
            <a:pPr algn="ctr">
              <a:spcAft>
                <a:spcPts val="100"/>
              </a:spcAft>
            </a:pPr>
            <a:r>
              <a:rPr sz="1100" b="1" i="0">
                <a:solidFill>
                  <a:srgbClr val="FFFFFF"/>
                </a:solidFill>
                <a:latin typeface="Arial"/>
              </a:rPr>
              <a:t>BUILD ENABLING CAPABILITY</a:t>
            </a:r>
          </a:p>
          <a:p>
            <a:pPr algn="ctr">
              <a:spcAft>
                <a:spcPts val="0"/>
              </a:spcAft>
            </a:pPr>
            <a:r>
              <a:rPr sz="800" b="0" i="0">
                <a:solidFill>
                  <a:srgbClr val="FFFFFF"/>
                </a:solidFill>
                <a:latin typeface="Arial"/>
              </a:rPr>
              <a:t>Coordinate institutions, investment and communities so growth is governed, financed and shared</a:t>
            </a:r>
          </a:p>
        </p:txBody>
      </p:sp>
      <p:cxnSp>
        <p:nvCxnSpPr>
          <p:cNvPr id="15" name="Connector 14"/>
          <p:cNvCxnSpPr/>
          <p:nvPr/>
        </p:nvCxnSpPr>
        <p:spPr>
          <a:xfrm>
            <a:off x="2231136" y="1682495"/>
            <a:ext cx="7644383"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4048"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Traveller, Brand and Proposition</a:t>
            </a:r>
          </a:p>
        </p:txBody>
      </p:sp>
      <p:cxnSp>
        <p:nvCxnSpPr>
          <p:cNvPr id="17" name="Connector 16"/>
          <p:cNvCxnSpPr/>
          <p:nvPr/>
        </p:nvCxnSpPr>
        <p:spPr>
          <a:xfrm>
            <a:off x="1275588"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2295144"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Source Market Growth and Diversification</a:t>
            </a:r>
          </a:p>
        </p:txBody>
      </p:sp>
      <p:cxnSp>
        <p:nvCxnSpPr>
          <p:cNvPr id="19" name="Connector 18"/>
          <p:cNvCxnSpPr/>
          <p:nvPr/>
        </p:nvCxnSpPr>
        <p:spPr>
          <a:xfrm>
            <a:off x="3186684"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206240"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Accessibility, Connectivity and Infrastructure</a:t>
            </a:r>
          </a:p>
        </p:txBody>
      </p:sp>
      <p:cxnSp>
        <p:nvCxnSpPr>
          <p:cNvPr id="21" name="Connector 20"/>
          <p:cNvCxnSpPr/>
          <p:nvPr/>
        </p:nvCxnSpPr>
        <p:spPr>
          <a:xfrm>
            <a:off x="5097779"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117336"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Product and Destination Capacity</a:t>
            </a:r>
          </a:p>
        </p:txBody>
      </p:sp>
      <p:cxnSp>
        <p:nvCxnSpPr>
          <p:cNvPr id="23" name="Connector 22"/>
          <p:cNvCxnSpPr/>
          <p:nvPr/>
        </p:nvCxnSpPr>
        <p:spPr>
          <a:xfrm>
            <a:off x="7008875"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028431"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Inclusion and Sustainability</a:t>
            </a:r>
          </a:p>
        </p:txBody>
      </p:sp>
      <p:cxnSp>
        <p:nvCxnSpPr>
          <p:cNvPr id="25" name="Connector 24"/>
          <p:cNvCxnSpPr/>
          <p:nvPr/>
        </p:nvCxnSpPr>
        <p:spPr>
          <a:xfrm>
            <a:off x="8919972"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9939528" y="2423160"/>
            <a:ext cx="1783080" cy="41148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Governance, Leadership and Investment</a:t>
            </a:r>
          </a:p>
        </p:txBody>
      </p:sp>
      <p:cxnSp>
        <p:nvCxnSpPr>
          <p:cNvPr id="27" name="Connector 26"/>
          <p:cNvCxnSpPr/>
          <p:nvPr/>
        </p:nvCxnSpPr>
        <p:spPr>
          <a:xfrm>
            <a:off x="10831067" y="233172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384048" y="2926080"/>
            <a:ext cx="1783080" cy="603504"/>
          </a:xfrm>
          <a:prstGeom prst="rect">
            <a:avLst/>
          </a:prstGeom>
          <a:solidFill>
            <a:srgbClr val="FFFFFF"/>
          </a:solidFill>
          <a:ln w="9525">
            <a:solidFill>
              <a:srgbClr val="7F7F7F"/>
            </a:solidFill>
          </a:ln>
        </p:spPr>
        <p:txBody>
          <a:bodyPr rtlCol="0" anchor="ctr"/>
          <a:lstStyle/>
          <a:p>
            <a:pPr algn="ctr"/>
          </a:p>
        </p:txBody>
      </p:sp>
      <p:sp>
        <p:nvSpPr>
          <p:cNvPr id="29" name="Rectangle 28"/>
          <p:cNvSpPr/>
          <p:nvPr/>
        </p:nvSpPr>
        <p:spPr>
          <a:xfrm>
            <a:off x="384048" y="2926080"/>
            <a:ext cx="82296" cy="603504"/>
          </a:xfrm>
          <a:prstGeom prst="rect">
            <a:avLst/>
          </a:prstGeom>
          <a:solidFill>
            <a:srgbClr val="F2A900"/>
          </a:solidFill>
          <a:ln>
            <a:noFill/>
          </a:ln>
        </p:spPr>
        <p:txBody>
          <a:bodyPr rtlCol="0" anchor="ctr"/>
          <a:lstStyle/>
          <a:p>
            <a:pPr algn="ctr"/>
          </a:p>
        </p:txBody>
      </p:sp>
      <p:sp>
        <p:nvSpPr>
          <p:cNvPr id="30" name="TextBox 29"/>
          <p:cNvSpPr txBox="1"/>
          <p:nvPr/>
        </p:nvSpPr>
        <p:spPr>
          <a:xfrm>
            <a:off x="493776" y="2944368"/>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Target the four priority high-value traveller segments</a:t>
            </a:r>
          </a:p>
        </p:txBody>
      </p:sp>
      <p:sp>
        <p:nvSpPr>
          <p:cNvPr id="31" name="Oval 30"/>
          <p:cNvSpPr/>
          <p:nvPr/>
        </p:nvSpPr>
        <p:spPr>
          <a:xfrm>
            <a:off x="1709928" y="3383280"/>
            <a:ext cx="82296" cy="82296"/>
          </a:xfrm>
          <a:prstGeom prst="ellipse">
            <a:avLst/>
          </a:prstGeom>
          <a:solidFill>
            <a:srgbClr val="1F497D"/>
          </a:solidFill>
          <a:ln w="9525">
            <a:solidFill>
              <a:srgbClr val="1F497D"/>
            </a:solidFill>
          </a:ln>
        </p:spPr>
        <p:txBody>
          <a:bodyPr rtlCol="0" anchor="ctr"/>
          <a:lstStyle/>
          <a:p>
            <a:pPr algn="ctr"/>
          </a:p>
        </p:txBody>
      </p:sp>
      <p:sp>
        <p:nvSpPr>
          <p:cNvPr id="32" name="Oval 31"/>
          <p:cNvSpPr/>
          <p:nvPr/>
        </p:nvSpPr>
        <p:spPr>
          <a:xfrm>
            <a:off x="1824228" y="3383280"/>
            <a:ext cx="82296" cy="82296"/>
          </a:xfrm>
          <a:prstGeom prst="ellipse">
            <a:avLst/>
          </a:prstGeom>
          <a:solidFill>
            <a:srgbClr val="FFFFFF"/>
          </a:solidFill>
          <a:ln w="9525">
            <a:solidFill>
              <a:srgbClr val="1F497D"/>
            </a:solidFill>
          </a:ln>
        </p:spPr>
        <p:txBody>
          <a:bodyPr rtlCol="0" anchor="ctr"/>
          <a:lstStyle/>
          <a:p>
            <a:pPr algn="ctr"/>
          </a:p>
        </p:txBody>
      </p:sp>
      <p:sp>
        <p:nvSpPr>
          <p:cNvPr id="33" name="Oval 32"/>
          <p:cNvSpPr/>
          <p:nvPr/>
        </p:nvSpPr>
        <p:spPr>
          <a:xfrm>
            <a:off x="1938528" y="3383280"/>
            <a:ext cx="82296" cy="82296"/>
          </a:xfrm>
          <a:prstGeom prst="ellipse">
            <a:avLst/>
          </a:prstGeom>
          <a:solidFill>
            <a:srgbClr val="FFFFFF"/>
          </a:solidFill>
          <a:ln w="9525">
            <a:solidFill>
              <a:srgbClr val="1F497D"/>
            </a:solidFill>
          </a:ln>
        </p:spPr>
        <p:txBody>
          <a:bodyPr rtlCol="0" anchor="ctr"/>
          <a:lstStyle/>
          <a:p>
            <a:pPr algn="ctr"/>
          </a:p>
        </p:txBody>
      </p:sp>
      <p:sp>
        <p:nvSpPr>
          <p:cNvPr id="34" name="TextBox 33"/>
          <p:cNvSpPr txBox="1"/>
          <p:nvPr/>
        </p:nvSpPr>
        <p:spPr>
          <a:xfrm>
            <a:off x="493776" y="3337560"/>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1a</a:t>
            </a:r>
          </a:p>
        </p:txBody>
      </p:sp>
      <p:sp>
        <p:nvSpPr>
          <p:cNvPr id="35" name="Rectangle 34"/>
          <p:cNvSpPr/>
          <p:nvPr/>
        </p:nvSpPr>
        <p:spPr>
          <a:xfrm>
            <a:off x="384048" y="3602736"/>
            <a:ext cx="1783080" cy="603504"/>
          </a:xfrm>
          <a:prstGeom prst="rect">
            <a:avLst/>
          </a:prstGeom>
          <a:solidFill>
            <a:srgbClr val="FFFFFF"/>
          </a:solidFill>
          <a:ln w="9525">
            <a:solidFill>
              <a:srgbClr val="7F7F7F"/>
            </a:solidFill>
          </a:ln>
        </p:spPr>
        <p:txBody>
          <a:bodyPr rtlCol="0" anchor="ctr"/>
          <a:lstStyle/>
          <a:p>
            <a:pPr algn="ctr"/>
          </a:p>
        </p:txBody>
      </p:sp>
      <p:sp>
        <p:nvSpPr>
          <p:cNvPr id="36" name="Rectangle 35"/>
          <p:cNvSpPr/>
          <p:nvPr/>
        </p:nvSpPr>
        <p:spPr>
          <a:xfrm>
            <a:off x="384048" y="3602736"/>
            <a:ext cx="82296" cy="603504"/>
          </a:xfrm>
          <a:prstGeom prst="rect">
            <a:avLst/>
          </a:prstGeom>
          <a:solidFill>
            <a:srgbClr val="F2A900"/>
          </a:solidFill>
          <a:ln>
            <a:noFill/>
          </a:ln>
        </p:spPr>
        <p:txBody>
          <a:bodyPr rtlCol="0" anchor="ctr"/>
          <a:lstStyle/>
          <a:p>
            <a:pPr algn="ctr"/>
          </a:p>
        </p:txBody>
      </p:sp>
      <p:sp>
        <p:nvSpPr>
          <p:cNvPr id="37" name="TextBox 36"/>
          <p:cNvSpPr txBox="1"/>
          <p:nvPr/>
        </p:nvSpPr>
        <p:spPr>
          <a:xfrm>
            <a:off x="493776" y="3621024"/>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Extend Cape Town's brand equity to the province</a:t>
            </a:r>
          </a:p>
        </p:txBody>
      </p:sp>
      <p:sp>
        <p:nvSpPr>
          <p:cNvPr id="38" name="Oval 37"/>
          <p:cNvSpPr/>
          <p:nvPr/>
        </p:nvSpPr>
        <p:spPr>
          <a:xfrm>
            <a:off x="1709928" y="4059936"/>
            <a:ext cx="82296" cy="82296"/>
          </a:xfrm>
          <a:prstGeom prst="ellipse">
            <a:avLst/>
          </a:prstGeom>
          <a:solidFill>
            <a:srgbClr val="1F497D"/>
          </a:solidFill>
          <a:ln w="9525">
            <a:solidFill>
              <a:srgbClr val="1F497D"/>
            </a:solidFill>
          </a:ln>
        </p:spPr>
        <p:txBody>
          <a:bodyPr rtlCol="0" anchor="ctr"/>
          <a:lstStyle/>
          <a:p>
            <a:pPr algn="ctr"/>
          </a:p>
        </p:txBody>
      </p:sp>
      <p:sp>
        <p:nvSpPr>
          <p:cNvPr id="39" name="Oval 38"/>
          <p:cNvSpPr/>
          <p:nvPr/>
        </p:nvSpPr>
        <p:spPr>
          <a:xfrm>
            <a:off x="1824228" y="4059936"/>
            <a:ext cx="82296" cy="82296"/>
          </a:xfrm>
          <a:prstGeom prst="ellipse">
            <a:avLst/>
          </a:prstGeom>
          <a:solidFill>
            <a:srgbClr val="FFFFFF"/>
          </a:solidFill>
          <a:ln w="9525">
            <a:solidFill>
              <a:srgbClr val="1F497D"/>
            </a:solidFill>
          </a:ln>
        </p:spPr>
        <p:txBody>
          <a:bodyPr rtlCol="0" anchor="ctr"/>
          <a:lstStyle/>
          <a:p>
            <a:pPr algn="ctr"/>
          </a:p>
        </p:txBody>
      </p:sp>
      <p:sp>
        <p:nvSpPr>
          <p:cNvPr id="40" name="Oval 39"/>
          <p:cNvSpPr/>
          <p:nvPr/>
        </p:nvSpPr>
        <p:spPr>
          <a:xfrm>
            <a:off x="1938528" y="4059936"/>
            <a:ext cx="82296" cy="82296"/>
          </a:xfrm>
          <a:prstGeom prst="ellipse">
            <a:avLst/>
          </a:prstGeom>
          <a:solidFill>
            <a:srgbClr val="FFFFFF"/>
          </a:solidFill>
          <a:ln w="9525">
            <a:solidFill>
              <a:srgbClr val="1F497D"/>
            </a:solidFill>
          </a:ln>
        </p:spPr>
        <p:txBody>
          <a:bodyPr rtlCol="0" anchor="ctr"/>
          <a:lstStyle/>
          <a:p>
            <a:pPr algn="ctr"/>
          </a:p>
        </p:txBody>
      </p:sp>
      <p:sp>
        <p:nvSpPr>
          <p:cNvPr id="41" name="TextBox 40"/>
          <p:cNvSpPr txBox="1"/>
          <p:nvPr/>
        </p:nvSpPr>
        <p:spPr>
          <a:xfrm>
            <a:off x="493776" y="4014216"/>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1b</a:t>
            </a:r>
          </a:p>
        </p:txBody>
      </p:sp>
      <p:sp>
        <p:nvSpPr>
          <p:cNvPr id="42" name="Rectangle 41"/>
          <p:cNvSpPr/>
          <p:nvPr/>
        </p:nvSpPr>
        <p:spPr>
          <a:xfrm>
            <a:off x="384048" y="4279392"/>
            <a:ext cx="1783080" cy="603504"/>
          </a:xfrm>
          <a:prstGeom prst="rect">
            <a:avLst/>
          </a:prstGeom>
          <a:solidFill>
            <a:srgbClr val="FFFFFF"/>
          </a:solidFill>
          <a:ln w="9525">
            <a:solidFill>
              <a:srgbClr val="7F7F7F"/>
            </a:solidFill>
          </a:ln>
        </p:spPr>
        <p:txBody>
          <a:bodyPr rtlCol="0" anchor="ctr"/>
          <a:lstStyle/>
          <a:p>
            <a:pPr algn="ctr"/>
          </a:p>
        </p:txBody>
      </p:sp>
      <p:sp>
        <p:nvSpPr>
          <p:cNvPr id="43" name="Rectangle 42"/>
          <p:cNvSpPr/>
          <p:nvPr/>
        </p:nvSpPr>
        <p:spPr>
          <a:xfrm>
            <a:off x="384048" y="4279392"/>
            <a:ext cx="82296" cy="603504"/>
          </a:xfrm>
          <a:prstGeom prst="rect">
            <a:avLst/>
          </a:prstGeom>
          <a:solidFill>
            <a:srgbClr val="2E9E44"/>
          </a:solidFill>
          <a:ln>
            <a:noFill/>
          </a:ln>
        </p:spPr>
        <p:txBody>
          <a:bodyPr rtlCol="0" anchor="ctr"/>
          <a:lstStyle/>
          <a:p>
            <a:pPr algn="ctr"/>
          </a:p>
        </p:txBody>
      </p:sp>
      <p:sp>
        <p:nvSpPr>
          <p:cNvPr id="44" name="TextBox 43"/>
          <p:cNvSpPr txBox="1"/>
          <p:nvPr/>
        </p:nvSpPr>
        <p:spPr>
          <a:xfrm>
            <a:off x="493776" y="4297679"/>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Flatten seasonality with MICE and regional spread</a:t>
            </a:r>
          </a:p>
        </p:txBody>
      </p:sp>
      <p:sp>
        <p:nvSpPr>
          <p:cNvPr id="45" name="Oval 44"/>
          <p:cNvSpPr/>
          <p:nvPr/>
        </p:nvSpPr>
        <p:spPr>
          <a:xfrm>
            <a:off x="1709928" y="4736592"/>
            <a:ext cx="82296" cy="82296"/>
          </a:xfrm>
          <a:prstGeom prst="ellipse">
            <a:avLst/>
          </a:prstGeom>
          <a:solidFill>
            <a:srgbClr val="1F497D"/>
          </a:solidFill>
          <a:ln w="9525">
            <a:solidFill>
              <a:srgbClr val="1F497D"/>
            </a:solidFill>
          </a:ln>
        </p:spPr>
        <p:txBody>
          <a:bodyPr rtlCol="0" anchor="ctr"/>
          <a:lstStyle/>
          <a:p>
            <a:pPr algn="ctr"/>
          </a:p>
        </p:txBody>
      </p:sp>
      <p:sp>
        <p:nvSpPr>
          <p:cNvPr id="46" name="Oval 45"/>
          <p:cNvSpPr/>
          <p:nvPr/>
        </p:nvSpPr>
        <p:spPr>
          <a:xfrm>
            <a:off x="1824228" y="4736592"/>
            <a:ext cx="82296" cy="82296"/>
          </a:xfrm>
          <a:prstGeom prst="ellipse">
            <a:avLst/>
          </a:prstGeom>
          <a:solidFill>
            <a:srgbClr val="1F497D"/>
          </a:solidFill>
          <a:ln w="9525">
            <a:solidFill>
              <a:srgbClr val="1F497D"/>
            </a:solidFill>
          </a:ln>
        </p:spPr>
        <p:txBody>
          <a:bodyPr rtlCol="0" anchor="ctr"/>
          <a:lstStyle/>
          <a:p>
            <a:pPr algn="ctr"/>
          </a:p>
        </p:txBody>
      </p:sp>
      <p:sp>
        <p:nvSpPr>
          <p:cNvPr id="47" name="Oval 46"/>
          <p:cNvSpPr/>
          <p:nvPr/>
        </p:nvSpPr>
        <p:spPr>
          <a:xfrm>
            <a:off x="1938528" y="4736592"/>
            <a:ext cx="82296" cy="82296"/>
          </a:xfrm>
          <a:prstGeom prst="ellipse">
            <a:avLst/>
          </a:prstGeom>
          <a:solidFill>
            <a:srgbClr val="1F497D"/>
          </a:solidFill>
          <a:ln w="9525">
            <a:solidFill>
              <a:srgbClr val="1F497D"/>
            </a:solidFill>
          </a:ln>
        </p:spPr>
        <p:txBody>
          <a:bodyPr rtlCol="0" anchor="ctr"/>
          <a:lstStyle/>
          <a:p>
            <a:pPr algn="ctr"/>
          </a:p>
        </p:txBody>
      </p:sp>
      <p:sp>
        <p:nvSpPr>
          <p:cNvPr id="48" name="TextBox 47"/>
          <p:cNvSpPr txBox="1"/>
          <p:nvPr/>
        </p:nvSpPr>
        <p:spPr>
          <a:xfrm>
            <a:off x="493776" y="4690872"/>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1c</a:t>
            </a:r>
          </a:p>
        </p:txBody>
      </p:sp>
      <p:sp>
        <p:nvSpPr>
          <p:cNvPr id="49" name="Rectangle 48"/>
          <p:cNvSpPr/>
          <p:nvPr/>
        </p:nvSpPr>
        <p:spPr>
          <a:xfrm>
            <a:off x="384048" y="4956048"/>
            <a:ext cx="1783080" cy="603504"/>
          </a:xfrm>
          <a:prstGeom prst="rect">
            <a:avLst/>
          </a:prstGeom>
          <a:solidFill>
            <a:srgbClr val="FFFFFF"/>
          </a:solidFill>
          <a:ln w="9525">
            <a:solidFill>
              <a:srgbClr val="7F7F7F"/>
            </a:solidFill>
          </a:ln>
        </p:spPr>
        <p:txBody>
          <a:bodyPr rtlCol="0" anchor="ctr"/>
          <a:lstStyle/>
          <a:p>
            <a:pPr algn="ctr"/>
          </a:p>
        </p:txBody>
      </p:sp>
      <p:sp>
        <p:nvSpPr>
          <p:cNvPr id="50" name="Rectangle 49"/>
          <p:cNvSpPr/>
          <p:nvPr/>
        </p:nvSpPr>
        <p:spPr>
          <a:xfrm>
            <a:off x="384048" y="4956048"/>
            <a:ext cx="82296" cy="603504"/>
          </a:xfrm>
          <a:prstGeom prst="rect">
            <a:avLst/>
          </a:prstGeom>
          <a:solidFill>
            <a:srgbClr val="2E9E44"/>
          </a:solidFill>
          <a:ln>
            <a:noFill/>
          </a:ln>
        </p:spPr>
        <p:txBody>
          <a:bodyPr rtlCol="0" anchor="ctr"/>
          <a:lstStyle/>
          <a:p>
            <a:pPr algn="ctr"/>
          </a:p>
        </p:txBody>
      </p:sp>
      <p:sp>
        <p:nvSpPr>
          <p:cNvPr id="51" name="TextBox 50"/>
          <p:cNvSpPr txBox="1"/>
          <p:nvPr/>
        </p:nvSpPr>
        <p:spPr>
          <a:xfrm>
            <a:off x="493776" y="4974336"/>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Embed the destination in market-native booking platforms</a:t>
            </a:r>
          </a:p>
        </p:txBody>
      </p:sp>
      <p:sp>
        <p:nvSpPr>
          <p:cNvPr id="52" name="Oval 51"/>
          <p:cNvSpPr/>
          <p:nvPr/>
        </p:nvSpPr>
        <p:spPr>
          <a:xfrm>
            <a:off x="1709928" y="5413248"/>
            <a:ext cx="82296" cy="82296"/>
          </a:xfrm>
          <a:prstGeom prst="ellipse">
            <a:avLst/>
          </a:prstGeom>
          <a:solidFill>
            <a:srgbClr val="1F497D"/>
          </a:solidFill>
          <a:ln w="9525">
            <a:solidFill>
              <a:srgbClr val="1F497D"/>
            </a:solidFill>
          </a:ln>
        </p:spPr>
        <p:txBody>
          <a:bodyPr rtlCol="0" anchor="ctr"/>
          <a:lstStyle/>
          <a:p>
            <a:pPr algn="ctr"/>
          </a:p>
        </p:txBody>
      </p:sp>
      <p:sp>
        <p:nvSpPr>
          <p:cNvPr id="53" name="Oval 52"/>
          <p:cNvSpPr/>
          <p:nvPr/>
        </p:nvSpPr>
        <p:spPr>
          <a:xfrm>
            <a:off x="1824228" y="5413248"/>
            <a:ext cx="82296" cy="82296"/>
          </a:xfrm>
          <a:prstGeom prst="ellipse">
            <a:avLst/>
          </a:prstGeom>
          <a:solidFill>
            <a:srgbClr val="1F497D"/>
          </a:solidFill>
          <a:ln w="9525">
            <a:solidFill>
              <a:srgbClr val="1F497D"/>
            </a:solidFill>
          </a:ln>
        </p:spPr>
        <p:txBody>
          <a:bodyPr rtlCol="0" anchor="ctr"/>
          <a:lstStyle/>
          <a:p>
            <a:pPr algn="ctr"/>
          </a:p>
        </p:txBody>
      </p:sp>
      <p:sp>
        <p:nvSpPr>
          <p:cNvPr id="54" name="Oval 53"/>
          <p:cNvSpPr/>
          <p:nvPr/>
        </p:nvSpPr>
        <p:spPr>
          <a:xfrm>
            <a:off x="1938528" y="5413248"/>
            <a:ext cx="82296" cy="82296"/>
          </a:xfrm>
          <a:prstGeom prst="ellipse">
            <a:avLst/>
          </a:prstGeom>
          <a:solidFill>
            <a:srgbClr val="FFFFFF"/>
          </a:solidFill>
          <a:ln w="9525">
            <a:solidFill>
              <a:srgbClr val="1F497D"/>
            </a:solidFill>
          </a:ln>
        </p:spPr>
        <p:txBody>
          <a:bodyPr rtlCol="0" anchor="ctr"/>
          <a:lstStyle/>
          <a:p>
            <a:pPr algn="ctr"/>
          </a:p>
        </p:txBody>
      </p:sp>
      <p:sp>
        <p:nvSpPr>
          <p:cNvPr id="55" name="TextBox 54"/>
          <p:cNvSpPr txBox="1"/>
          <p:nvPr/>
        </p:nvSpPr>
        <p:spPr>
          <a:xfrm>
            <a:off x="493776" y="5367528"/>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1d</a:t>
            </a:r>
          </a:p>
        </p:txBody>
      </p:sp>
      <p:sp>
        <p:nvSpPr>
          <p:cNvPr id="56" name="Rectangle 55"/>
          <p:cNvSpPr/>
          <p:nvPr/>
        </p:nvSpPr>
        <p:spPr>
          <a:xfrm>
            <a:off x="2295144" y="2926080"/>
            <a:ext cx="1783080" cy="603504"/>
          </a:xfrm>
          <a:prstGeom prst="rect">
            <a:avLst/>
          </a:prstGeom>
          <a:solidFill>
            <a:srgbClr val="FFFFFF"/>
          </a:solidFill>
          <a:ln w="9525">
            <a:solidFill>
              <a:srgbClr val="7F7F7F"/>
            </a:solidFill>
          </a:ln>
        </p:spPr>
        <p:txBody>
          <a:bodyPr rtlCol="0" anchor="ctr"/>
          <a:lstStyle/>
          <a:p>
            <a:pPr algn="ctr"/>
          </a:p>
        </p:txBody>
      </p:sp>
      <p:sp>
        <p:nvSpPr>
          <p:cNvPr id="57" name="Rectangle 56"/>
          <p:cNvSpPr/>
          <p:nvPr/>
        </p:nvSpPr>
        <p:spPr>
          <a:xfrm>
            <a:off x="2295144" y="2926080"/>
            <a:ext cx="82296" cy="603504"/>
          </a:xfrm>
          <a:prstGeom prst="rect">
            <a:avLst/>
          </a:prstGeom>
          <a:solidFill>
            <a:srgbClr val="F2A900"/>
          </a:solidFill>
          <a:ln>
            <a:noFill/>
          </a:ln>
        </p:spPr>
        <p:txBody>
          <a:bodyPr rtlCol="0" anchor="ctr"/>
          <a:lstStyle/>
          <a:p>
            <a:pPr algn="ctr"/>
          </a:p>
        </p:txBody>
      </p:sp>
      <p:sp>
        <p:nvSpPr>
          <p:cNvPr id="58" name="TextBox 57"/>
          <p:cNvSpPr txBox="1"/>
          <p:nvPr/>
        </p:nvSpPr>
        <p:spPr>
          <a:xfrm>
            <a:off x="2404872" y="2944368"/>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Grow priority markets (India, China, Gulf, ASEAN)</a:t>
            </a:r>
          </a:p>
        </p:txBody>
      </p:sp>
      <p:sp>
        <p:nvSpPr>
          <p:cNvPr id="59" name="Oval 58"/>
          <p:cNvSpPr/>
          <p:nvPr/>
        </p:nvSpPr>
        <p:spPr>
          <a:xfrm>
            <a:off x="3621024" y="3383280"/>
            <a:ext cx="82296" cy="82296"/>
          </a:xfrm>
          <a:prstGeom prst="ellipse">
            <a:avLst/>
          </a:prstGeom>
          <a:solidFill>
            <a:srgbClr val="1F497D"/>
          </a:solidFill>
          <a:ln w="9525">
            <a:solidFill>
              <a:srgbClr val="1F497D"/>
            </a:solidFill>
          </a:ln>
        </p:spPr>
        <p:txBody>
          <a:bodyPr rtlCol="0" anchor="ctr"/>
          <a:lstStyle/>
          <a:p>
            <a:pPr algn="ctr"/>
          </a:p>
        </p:txBody>
      </p:sp>
      <p:sp>
        <p:nvSpPr>
          <p:cNvPr id="60" name="Oval 59"/>
          <p:cNvSpPr/>
          <p:nvPr/>
        </p:nvSpPr>
        <p:spPr>
          <a:xfrm>
            <a:off x="3735324" y="3383280"/>
            <a:ext cx="82296" cy="82296"/>
          </a:xfrm>
          <a:prstGeom prst="ellipse">
            <a:avLst/>
          </a:prstGeom>
          <a:solidFill>
            <a:srgbClr val="1F497D"/>
          </a:solidFill>
          <a:ln w="9525">
            <a:solidFill>
              <a:srgbClr val="1F497D"/>
            </a:solidFill>
          </a:ln>
        </p:spPr>
        <p:txBody>
          <a:bodyPr rtlCol="0" anchor="ctr"/>
          <a:lstStyle/>
          <a:p>
            <a:pPr algn="ctr"/>
          </a:p>
        </p:txBody>
      </p:sp>
      <p:sp>
        <p:nvSpPr>
          <p:cNvPr id="61" name="Oval 60"/>
          <p:cNvSpPr/>
          <p:nvPr/>
        </p:nvSpPr>
        <p:spPr>
          <a:xfrm>
            <a:off x="3849624" y="3383280"/>
            <a:ext cx="82296" cy="82296"/>
          </a:xfrm>
          <a:prstGeom prst="ellipse">
            <a:avLst/>
          </a:prstGeom>
          <a:solidFill>
            <a:srgbClr val="1F497D"/>
          </a:solidFill>
          <a:ln w="9525">
            <a:solidFill>
              <a:srgbClr val="1F497D"/>
            </a:solidFill>
          </a:ln>
        </p:spPr>
        <p:txBody>
          <a:bodyPr rtlCol="0" anchor="ctr"/>
          <a:lstStyle/>
          <a:p>
            <a:pPr algn="ctr"/>
          </a:p>
        </p:txBody>
      </p:sp>
      <p:sp>
        <p:nvSpPr>
          <p:cNvPr id="62" name="TextBox 61"/>
          <p:cNvSpPr txBox="1"/>
          <p:nvPr/>
        </p:nvSpPr>
        <p:spPr>
          <a:xfrm>
            <a:off x="2404872" y="3337560"/>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1e</a:t>
            </a:r>
          </a:p>
        </p:txBody>
      </p:sp>
      <p:sp>
        <p:nvSpPr>
          <p:cNvPr id="63" name="Rectangle 62"/>
          <p:cNvSpPr/>
          <p:nvPr/>
        </p:nvSpPr>
        <p:spPr>
          <a:xfrm>
            <a:off x="2295144" y="3602736"/>
            <a:ext cx="1783080" cy="603504"/>
          </a:xfrm>
          <a:prstGeom prst="rect">
            <a:avLst/>
          </a:prstGeom>
          <a:solidFill>
            <a:srgbClr val="FFFFFF"/>
          </a:solidFill>
          <a:ln w="9525">
            <a:solidFill>
              <a:srgbClr val="7F7F7F"/>
            </a:solidFill>
          </a:ln>
        </p:spPr>
        <p:txBody>
          <a:bodyPr rtlCol="0" anchor="ctr"/>
          <a:lstStyle/>
          <a:p>
            <a:pPr algn="ctr"/>
          </a:p>
        </p:txBody>
      </p:sp>
      <p:sp>
        <p:nvSpPr>
          <p:cNvPr id="64" name="Rectangle 63"/>
          <p:cNvSpPr/>
          <p:nvPr/>
        </p:nvSpPr>
        <p:spPr>
          <a:xfrm>
            <a:off x="2295144" y="3602736"/>
            <a:ext cx="82296" cy="603504"/>
          </a:xfrm>
          <a:prstGeom prst="rect">
            <a:avLst/>
          </a:prstGeom>
          <a:solidFill>
            <a:srgbClr val="2E9E44"/>
          </a:solidFill>
          <a:ln>
            <a:noFill/>
          </a:ln>
        </p:spPr>
        <p:txBody>
          <a:bodyPr rtlCol="0" anchor="ctr"/>
          <a:lstStyle/>
          <a:p>
            <a:pPr algn="ctr"/>
          </a:p>
        </p:txBody>
      </p:sp>
      <p:sp>
        <p:nvSpPr>
          <p:cNvPr id="65" name="TextBox 64"/>
          <p:cNvSpPr txBox="1"/>
          <p:nvPr/>
        </p:nvSpPr>
        <p:spPr>
          <a:xfrm>
            <a:off x="2404872" y="3621024"/>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Increase yield in mature markets (UK, Europe, N. America)</a:t>
            </a:r>
          </a:p>
        </p:txBody>
      </p:sp>
      <p:sp>
        <p:nvSpPr>
          <p:cNvPr id="66" name="Oval 65"/>
          <p:cNvSpPr/>
          <p:nvPr/>
        </p:nvSpPr>
        <p:spPr>
          <a:xfrm>
            <a:off x="3621024" y="4059936"/>
            <a:ext cx="82296" cy="82296"/>
          </a:xfrm>
          <a:prstGeom prst="ellipse">
            <a:avLst/>
          </a:prstGeom>
          <a:solidFill>
            <a:srgbClr val="1F497D"/>
          </a:solidFill>
          <a:ln w="9525">
            <a:solidFill>
              <a:srgbClr val="1F497D"/>
            </a:solidFill>
          </a:ln>
        </p:spPr>
        <p:txBody>
          <a:bodyPr rtlCol="0" anchor="ctr"/>
          <a:lstStyle/>
          <a:p>
            <a:pPr algn="ctr"/>
          </a:p>
        </p:txBody>
      </p:sp>
      <p:sp>
        <p:nvSpPr>
          <p:cNvPr id="67" name="Oval 66"/>
          <p:cNvSpPr/>
          <p:nvPr/>
        </p:nvSpPr>
        <p:spPr>
          <a:xfrm>
            <a:off x="3735324" y="4059936"/>
            <a:ext cx="82296" cy="82296"/>
          </a:xfrm>
          <a:prstGeom prst="ellipse">
            <a:avLst/>
          </a:prstGeom>
          <a:solidFill>
            <a:srgbClr val="1F497D"/>
          </a:solidFill>
          <a:ln w="9525">
            <a:solidFill>
              <a:srgbClr val="1F497D"/>
            </a:solidFill>
          </a:ln>
        </p:spPr>
        <p:txBody>
          <a:bodyPr rtlCol="0" anchor="ctr"/>
          <a:lstStyle/>
          <a:p>
            <a:pPr algn="ctr"/>
          </a:p>
        </p:txBody>
      </p:sp>
      <p:sp>
        <p:nvSpPr>
          <p:cNvPr id="68" name="Oval 67"/>
          <p:cNvSpPr/>
          <p:nvPr/>
        </p:nvSpPr>
        <p:spPr>
          <a:xfrm>
            <a:off x="3849624" y="4059936"/>
            <a:ext cx="82296" cy="82296"/>
          </a:xfrm>
          <a:prstGeom prst="ellipse">
            <a:avLst/>
          </a:prstGeom>
          <a:solidFill>
            <a:srgbClr val="FFFFFF"/>
          </a:solidFill>
          <a:ln w="9525">
            <a:solidFill>
              <a:srgbClr val="1F497D"/>
            </a:solidFill>
          </a:ln>
        </p:spPr>
        <p:txBody>
          <a:bodyPr rtlCol="0" anchor="ctr"/>
          <a:lstStyle/>
          <a:p>
            <a:pPr algn="ctr"/>
          </a:p>
        </p:txBody>
      </p:sp>
      <p:sp>
        <p:nvSpPr>
          <p:cNvPr id="69" name="TextBox 68"/>
          <p:cNvSpPr txBox="1"/>
          <p:nvPr/>
        </p:nvSpPr>
        <p:spPr>
          <a:xfrm>
            <a:off x="2404872" y="4014216"/>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1f</a:t>
            </a:r>
          </a:p>
        </p:txBody>
      </p:sp>
      <p:sp>
        <p:nvSpPr>
          <p:cNvPr id="70" name="Rectangle 69"/>
          <p:cNvSpPr/>
          <p:nvPr/>
        </p:nvSpPr>
        <p:spPr>
          <a:xfrm>
            <a:off x="2295144" y="4279392"/>
            <a:ext cx="1783080" cy="603504"/>
          </a:xfrm>
          <a:prstGeom prst="rect">
            <a:avLst/>
          </a:prstGeom>
          <a:solidFill>
            <a:srgbClr val="FFFFFF"/>
          </a:solidFill>
          <a:ln w="9525">
            <a:solidFill>
              <a:srgbClr val="7F7F7F"/>
            </a:solidFill>
          </a:ln>
        </p:spPr>
        <p:txBody>
          <a:bodyPr rtlCol="0" anchor="ctr"/>
          <a:lstStyle/>
          <a:p>
            <a:pPr algn="ctr"/>
          </a:p>
        </p:txBody>
      </p:sp>
      <p:sp>
        <p:nvSpPr>
          <p:cNvPr id="71" name="Rectangle 70"/>
          <p:cNvSpPr/>
          <p:nvPr/>
        </p:nvSpPr>
        <p:spPr>
          <a:xfrm>
            <a:off x="2295144" y="4279392"/>
            <a:ext cx="82296" cy="603504"/>
          </a:xfrm>
          <a:prstGeom prst="rect">
            <a:avLst/>
          </a:prstGeom>
          <a:solidFill>
            <a:srgbClr val="2E9E44"/>
          </a:solidFill>
          <a:ln>
            <a:noFill/>
          </a:ln>
        </p:spPr>
        <p:txBody>
          <a:bodyPr rtlCol="0" anchor="ctr"/>
          <a:lstStyle/>
          <a:p>
            <a:pPr algn="ctr"/>
          </a:p>
        </p:txBody>
      </p:sp>
      <p:sp>
        <p:nvSpPr>
          <p:cNvPr id="72" name="TextBox 71"/>
          <p:cNvSpPr txBox="1"/>
          <p:nvPr/>
        </p:nvSpPr>
        <p:spPr>
          <a:xfrm>
            <a:off x="2404872" y="4297679"/>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Grow regional top-up and counter-seasonal demand (Africa)</a:t>
            </a:r>
          </a:p>
        </p:txBody>
      </p:sp>
      <p:sp>
        <p:nvSpPr>
          <p:cNvPr id="73" name="Oval 72"/>
          <p:cNvSpPr/>
          <p:nvPr/>
        </p:nvSpPr>
        <p:spPr>
          <a:xfrm>
            <a:off x="3621024" y="4736592"/>
            <a:ext cx="82296" cy="82296"/>
          </a:xfrm>
          <a:prstGeom prst="ellipse">
            <a:avLst/>
          </a:prstGeom>
          <a:solidFill>
            <a:srgbClr val="1F497D"/>
          </a:solidFill>
          <a:ln w="9525">
            <a:solidFill>
              <a:srgbClr val="1F497D"/>
            </a:solidFill>
          </a:ln>
        </p:spPr>
        <p:txBody>
          <a:bodyPr rtlCol="0" anchor="ctr"/>
          <a:lstStyle/>
          <a:p>
            <a:pPr algn="ctr"/>
          </a:p>
        </p:txBody>
      </p:sp>
      <p:sp>
        <p:nvSpPr>
          <p:cNvPr id="74" name="Oval 73"/>
          <p:cNvSpPr/>
          <p:nvPr/>
        </p:nvSpPr>
        <p:spPr>
          <a:xfrm>
            <a:off x="3735324" y="4736592"/>
            <a:ext cx="82296" cy="82296"/>
          </a:xfrm>
          <a:prstGeom prst="ellipse">
            <a:avLst/>
          </a:prstGeom>
          <a:solidFill>
            <a:srgbClr val="1F497D"/>
          </a:solidFill>
          <a:ln w="9525">
            <a:solidFill>
              <a:srgbClr val="1F497D"/>
            </a:solidFill>
          </a:ln>
        </p:spPr>
        <p:txBody>
          <a:bodyPr rtlCol="0" anchor="ctr"/>
          <a:lstStyle/>
          <a:p>
            <a:pPr algn="ctr"/>
          </a:p>
        </p:txBody>
      </p:sp>
      <p:sp>
        <p:nvSpPr>
          <p:cNvPr id="75" name="Oval 74"/>
          <p:cNvSpPr/>
          <p:nvPr/>
        </p:nvSpPr>
        <p:spPr>
          <a:xfrm>
            <a:off x="3849624" y="4736592"/>
            <a:ext cx="82296" cy="82296"/>
          </a:xfrm>
          <a:prstGeom prst="ellipse">
            <a:avLst/>
          </a:prstGeom>
          <a:solidFill>
            <a:srgbClr val="FFFFFF"/>
          </a:solidFill>
          <a:ln w="9525">
            <a:solidFill>
              <a:srgbClr val="1F497D"/>
            </a:solidFill>
          </a:ln>
        </p:spPr>
        <p:txBody>
          <a:bodyPr rtlCol="0" anchor="ctr"/>
          <a:lstStyle/>
          <a:p>
            <a:pPr algn="ctr"/>
          </a:p>
        </p:txBody>
      </p:sp>
      <p:sp>
        <p:nvSpPr>
          <p:cNvPr id="76" name="TextBox 75"/>
          <p:cNvSpPr txBox="1"/>
          <p:nvPr/>
        </p:nvSpPr>
        <p:spPr>
          <a:xfrm>
            <a:off x="2404872" y="4690872"/>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1g</a:t>
            </a:r>
          </a:p>
        </p:txBody>
      </p:sp>
      <p:sp>
        <p:nvSpPr>
          <p:cNvPr id="77" name="Rectangle 76"/>
          <p:cNvSpPr/>
          <p:nvPr/>
        </p:nvSpPr>
        <p:spPr>
          <a:xfrm>
            <a:off x="4206240" y="2926080"/>
            <a:ext cx="1783080" cy="603504"/>
          </a:xfrm>
          <a:prstGeom prst="rect">
            <a:avLst/>
          </a:prstGeom>
          <a:solidFill>
            <a:srgbClr val="FFFFFF"/>
          </a:solidFill>
          <a:ln w="9525">
            <a:solidFill>
              <a:srgbClr val="7F7F7F"/>
            </a:solidFill>
          </a:ln>
        </p:spPr>
        <p:txBody>
          <a:bodyPr rtlCol="0" anchor="ctr"/>
          <a:lstStyle/>
          <a:p>
            <a:pPr algn="ctr"/>
          </a:p>
        </p:txBody>
      </p:sp>
      <p:sp>
        <p:nvSpPr>
          <p:cNvPr id="78" name="Rectangle 77"/>
          <p:cNvSpPr/>
          <p:nvPr/>
        </p:nvSpPr>
        <p:spPr>
          <a:xfrm>
            <a:off x="4206240" y="2926080"/>
            <a:ext cx="82296" cy="603504"/>
          </a:xfrm>
          <a:prstGeom prst="rect">
            <a:avLst/>
          </a:prstGeom>
          <a:solidFill>
            <a:srgbClr val="2E9E44"/>
          </a:solidFill>
          <a:ln>
            <a:noFill/>
          </a:ln>
        </p:spPr>
        <p:txBody>
          <a:bodyPr rtlCol="0" anchor="ctr"/>
          <a:lstStyle/>
          <a:p>
            <a:pPr algn="ctr"/>
          </a:p>
        </p:txBody>
      </p:sp>
      <p:sp>
        <p:nvSpPr>
          <p:cNvPr id="79" name="TextBox 78"/>
          <p:cNvSpPr txBox="1"/>
          <p:nvPr/>
        </p:nvSpPr>
        <p:spPr>
          <a:xfrm>
            <a:off x="4315968" y="2944368"/>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Close the air access and cruise capacity gaps</a:t>
            </a:r>
          </a:p>
        </p:txBody>
      </p:sp>
      <p:sp>
        <p:nvSpPr>
          <p:cNvPr id="80" name="Oval 79"/>
          <p:cNvSpPr/>
          <p:nvPr/>
        </p:nvSpPr>
        <p:spPr>
          <a:xfrm>
            <a:off x="5532120" y="3383280"/>
            <a:ext cx="82296" cy="82296"/>
          </a:xfrm>
          <a:prstGeom prst="ellipse">
            <a:avLst/>
          </a:prstGeom>
          <a:solidFill>
            <a:srgbClr val="1F497D"/>
          </a:solidFill>
          <a:ln w="9525">
            <a:solidFill>
              <a:srgbClr val="1F497D"/>
            </a:solidFill>
          </a:ln>
        </p:spPr>
        <p:txBody>
          <a:bodyPr rtlCol="0" anchor="ctr"/>
          <a:lstStyle/>
          <a:p>
            <a:pPr algn="ctr"/>
          </a:p>
        </p:txBody>
      </p:sp>
      <p:sp>
        <p:nvSpPr>
          <p:cNvPr id="81" name="Oval 80"/>
          <p:cNvSpPr/>
          <p:nvPr/>
        </p:nvSpPr>
        <p:spPr>
          <a:xfrm>
            <a:off x="5646420" y="3383280"/>
            <a:ext cx="82296" cy="82296"/>
          </a:xfrm>
          <a:prstGeom prst="ellipse">
            <a:avLst/>
          </a:prstGeom>
          <a:solidFill>
            <a:srgbClr val="1F497D"/>
          </a:solidFill>
          <a:ln w="9525">
            <a:solidFill>
              <a:srgbClr val="1F497D"/>
            </a:solidFill>
          </a:ln>
        </p:spPr>
        <p:txBody>
          <a:bodyPr rtlCol="0" anchor="ctr"/>
          <a:lstStyle/>
          <a:p>
            <a:pPr algn="ctr"/>
          </a:p>
        </p:txBody>
      </p:sp>
      <p:sp>
        <p:nvSpPr>
          <p:cNvPr id="82" name="Oval 81"/>
          <p:cNvSpPr/>
          <p:nvPr/>
        </p:nvSpPr>
        <p:spPr>
          <a:xfrm>
            <a:off x="5760720" y="3383280"/>
            <a:ext cx="82296" cy="82296"/>
          </a:xfrm>
          <a:prstGeom prst="ellipse">
            <a:avLst/>
          </a:prstGeom>
          <a:solidFill>
            <a:srgbClr val="1F497D"/>
          </a:solidFill>
          <a:ln w="9525">
            <a:solidFill>
              <a:srgbClr val="1F497D"/>
            </a:solidFill>
          </a:ln>
        </p:spPr>
        <p:txBody>
          <a:bodyPr rtlCol="0" anchor="ctr"/>
          <a:lstStyle/>
          <a:p>
            <a:pPr algn="ctr"/>
          </a:p>
        </p:txBody>
      </p:sp>
      <p:sp>
        <p:nvSpPr>
          <p:cNvPr id="83" name="TextBox 82"/>
          <p:cNvSpPr txBox="1"/>
          <p:nvPr/>
        </p:nvSpPr>
        <p:spPr>
          <a:xfrm>
            <a:off x="4315968" y="3337560"/>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2a</a:t>
            </a:r>
          </a:p>
        </p:txBody>
      </p:sp>
      <p:sp>
        <p:nvSpPr>
          <p:cNvPr id="84" name="Rectangle 83"/>
          <p:cNvSpPr/>
          <p:nvPr/>
        </p:nvSpPr>
        <p:spPr>
          <a:xfrm>
            <a:off x="4206240" y="3602736"/>
            <a:ext cx="1783080" cy="603504"/>
          </a:xfrm>
          <a:prstGeom prst="rect">
            <a:avLst/>
          </a:prstGeom>
          <a:solidFill>
            <a:srgbClr val="FFFFFF"/>
          </a:solidFill>
          <a:ln w="9525">
            <a:solidFill>
              <a:srgbClr val="7F7F7F"/>
            </a:solidFill>
          </a:ln>
        </p:spPr>
        <p:txBody>
          <a:bodyPr rtlCol="0" anchor="ctr"/>
          <a:lstStyle/>
          <a:p>
            <a:pPr algn="ctr"/>
          </a:p>
        </p:txBody>
      </p:sp>
      <p:sp>
        <p:nvSpPr>
          <p:cNvPr id="85" name="Rectangle 84"/>
          <p:cNvSpPr/>
          <p:nvPr/>
        </p:nvSpPr>
        <p:spPr>
          <a:xfrm>
            <a:off x="4206240" y="3602736"/>
            <a:ext cx="82296" cy="603504"/>
          </a:xfrm>
          <a:prstGeom prst="rect">
            <a:avLst/>
          </a:prstGeom>
          <a:solidFill>
            <a:srgbClr val="2E9E44"/>
          </a:solidFill>
          <a:ln>
            <a:noFill/>
          </a:ln>
        </p:spPr>
        <p:txBody>
          <a:bodyPr rtlCol="0" anchor="ctr"/>
          <a:lstStyle/>
          <a:p>
            <a:pPr algn="ctr"/>
          </a:p>
        </p:txBody>
      </p:sp>
      <p:sp>
        <p:nvSpPr>
          <p:cNvPr id="86" name="TextBox 85"/>
          <p:cNvSpPr txBox="1"/>
          <p:nvPr/>
        </p:nvSpPr>
        <p:spPr>
          <a:xfrm>
            <a:off x="4315968" y="3621024"/>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Accelerate tourism-enabling internal mobility</a:t>
            </a:r>
          </a:p>
        </p:txBody>
      </p:sp>
      <p:sp>
        <p:nvSpPr>
          <p:cNvPr id="87" name="Oval 86"/>
          <p:cNvSpPr/>
          <p:nvPr/>
        </p:nvSpPr>
        <p:spPr>
          <a:xfrm>
            <a:off x="5532120" y="4059936"/>
            <a:ext cx="82296" cy="82296"/>
          </a:xfrm>
          <a:prstGeom prst="ellipse">
            <a:avLst/>
          </a:prstGeom>
          <a:solidFill>
            <a:srgbClr val="1F497D"/>
          </a:solidFill>
          <a:ln w="9525">
            <a:solidFill>
              <a:srgbClr val="1F497D"/>
            </a:solidFill>
          </a:ln>
        </p:spPr>
        <p:txBody>
          <a:bodyPr rtlCol="0" anchor="ctr"/>
          <a:lstStyle/>
          <a:p>
            <a:pPr algn="ctr"/>
          </a:p>
        </p:txBody>
      </p:sp>
      <p:sp>
        <p:nvSpPr>
          <p:cNvPr id="88" name="Oval 87"/>
          <p:cNvSpPr/>
          <p:nvPr/>
        </p:nvSpPr>
        <p:spPr>
          <a:xfrm>
            <a:off x="5646420" y="4059936"/>
            <a:ext cx="82296" cy="82296"/>
          </a:xfrm>
          <a:prstGeom prst="ellipse">
            <a:avLst/>
          </a:prstGeom>
          <a:solidFill>
            <a:srgbClr val="1F497D"/>
          </a:solidFill>
          <a:ln w="9525">
            <a:solidFill>
              <a:srgbClr val="1F497D"/>
            </a:solidFill>
          </a:ln>
        </p:spPr>
        <p:txBody>
          <a:bodyPr rtlCol="0" anchor="ctr"/>
          <a:lstStyle/>
          <a:p>
            <a:pPr algn="ctr"/>
          </a:p>
        </p:txBody>
      </p:sp>
      <p:sp>
        <p:nvSpPr>
          <p:cNvPr id="89" name="Oval 88"/>
          <p:cNvSpPr/>
          <p:nvPr/>
        </p:nvSpPr>
        <p:spPr>
          <a:xfrm>
            <a:off x="5760720" y="4059936"/>
            <a:ext cx="82296" cy="82296"/>
          </a:xfrm>
          <a:prstGeom prst="ellipse">
            <a:avLst/>
          </a:prstGeom>
          <a:solidFill>
            <a:srgbClr val="1F497D"/>
          </a:solidFill>
          <a:ln w="9525">
            <a:solidFill>
              <a:srgbClr val="1F497D"/>
            </a:solidFill>
          </a:ln>
        </p:spPr>
        <p:txBody>
          <a:bodyPr rtlCol="0" anchor="ctr"/>
          <a:lstStyle/>
          <a:p>
            <a:pPr algn="ctr"/>
          </a:p>
        </p:txBody>
      </p:sp>
      <p:sp>
        <p:nvSpPr>
          <p:cNvPr id="90" name="TextBox 89"/>
          <p:cNvSpPr txBox="1"/>
          <p:nvPr/>
        </p:nvSpPr>
        <p:spPr>
          <a:xfrm>
            <a:off x="4315968" y="4014216"/>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2b</a:t>
            </a:r>
          </a:p>
        </p:txBody>
      </p:sp>
      <p:sp>
        <p:nvSpPr>
          <p:cNvPr id="91" name="Rectangle 90"/>
          <p:cNvSpPr/>
          <p:nvPr/>
        </p:nvSpPr>
        <p:spPr>
          <a:xfrm>
            <a:off x="4206240" y="4279392"/>
            <a:ext cx="1783080" cy="603504"/>
          </a:xfrm>
          <a:prstGeom prst="rect">
            <a:avLst/>
          </a:prstGeom>
          <a:solidFill>
            <a:srgbClr val="FFFFFF"/>
          </a:solidFill>
          <a:ln w="9525">
            <a:solidFill>
              <a:srgbClr val="7F7F7F"/>
            </a:solidFill>
          </a:ln>
        </p:spPr>
        <p:txBody>
          <a:bodyPr rtlCol="0" anchor="ctr"/>
          <a:lstStyle/>
          <a:p>
            <a:pPr algn="ctr"/>
          </a:p>
        </p:txBody>
      </p:sp>
      <p:sp>
        <p:nvSpPr>
          <p:cNvPr id="92" name="Rectangle 91"/>
          <p:cNvSpPr/>
          <p:nvPr/>
        </p:nvSpPr>
        <p:spPr>
          <a:xfrm>
            <a:off x="4206240" y="4279392"/>
            <a:ext cx="82296" cy="603504"/>
          </a:xfrm>
          <a:prstGeom prst="rect">
            <a:avLst/>
          </a:prstGeom>
          <a:solidFill>
            <a:srgbClr val="2E9E44"/>
          </a:solidFill>
          <a:ln>
            <a:noFill/>
          </a:ln>
        </p:spPr>
        <p:txBody>
          <a:bodyPr rtlCol="0" anchor="ctr"/>
          <a:lstStyle/>
          <a:p>
            <a:pPr algn="ctr"/>
          </a:p>
        </p:txBody>
      </p:sp>
      <p:sp>
        <p:nvSpPr>
          <p:cNvPr id="93" name="TextBox 92"/>
          <p:cNvSpPr txBox="1"/>
          <p:nvPr/>
        </p:nvSpPr>
        <p:spPr>
          <a:xfrm>
            <a:off x="4315968" y="4297679"/>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Lead removal of infrastructure, visa and safety deficits</a:t>
            </a:r>
          </a:p>
        </p:txBody>
      </p:sp>
      <p:sp>
        <p:nvSpPr>
          <p:cNvPr id="94" name="Oval 93"/>
          <p:cNvSpPr/>
          <p:nvPr/>
        </p:nvSpPr>
        <p:spPr>
          <a:xfrm>
            <a:off x="5532120" y="4736592"/>
            <a:ext cx="82296" cy="82296"/>
          </a:xfrm>
          <a:prstGeom prst="ellipse">
            <a:avLst/>
          </a:prstGeom>
          <a:solidFill>
            <a:srgbClr val="1F497D"/>
          </a:solidFill>
          <a:ln w="9525">
            <a:solidFill>
              <a:srgbClr val="1F497D"/>
            </a:solidFill>
          </a:ln>
        </p:spPr>
        <p:txBody>
          <a:bodyPr rtlCol="0" anchor="ctr"/>
          <a:lstStyle/>
          <a:p>
            <a:pPr algn="ctr"/>
          </a:p>
        </p:txBody>
      </p:sp>
      <p:sp>
        <p:nvSpPr>
          <p:cNvPr id="95" name="Oval 94"/>
          <p:cNvSpPr/>
          <p:nvPr/>
        </p:nvSpPr>
        <p:spPr>
          <a:xfrm>
            <a:off x="5646420" y="4736592"/>
            <a:ext cx="82296" cy="82296"/>
          </a:xfrm>
          <a:prstGeom prst="ellipse">
            <a:avLst/>
          </a:prstGeom>
          <a:solidFill>
            <a:srgbClr val="1F497D"/>
          </a:solidFill>
          <a:ln w="9525">
            <a:solidFill>
              <a:srgbClr val="1F497D"/>
            </a:solidFill>
          </a:ln>
        </p:spPr>
        <p:txBody>
          <a:bodyPr rtlCol="0" anchor="ctr"/>
          <a:lstStyle/>
          <a:p>
            <a:pPr algn="ctr"/>
          </a:p>
        </p:txBody>
      </p:sp>
      <p:sp>
        <p:nvSpPr>
          <p:cNvPr id="96" name="Oval 95"/>
          <p:cNvSpPr/>
          <p:nvPr/>
        </p:nvSpPr>
        <p:spPr>
          <a:xfrm>
            <a:off x="5760720" y="4736592"/>
            <a:ext cx="82296" cy="82296"/>
          </a:xfrm>
          <a:prstGeom prst="ellipse">
            <a:avLst/>
          </a:prstGeom>
          <a:solidFill>
            <a:srgbClr val="1F497D"/>
          </a:solidFill>
          <a:ln w="9525">
            <a:solidFill>
              <a:srgbClr val="1F497D"/>
            </a:solidFill>
          </a:ln>
        </p:spPr>
        <p:txBody>
          <a:bodyPr rtlCol="0" anchor="ctr"/>
          <a:lstStyle/>
          <a:p>
            <a:pPr algn="ctr"/>
          </a:p>
        </p:txBody>
      </p:sp>
      <p:sp>
        <p:nvSpPr>
          <p:cNvPr id="97" name="TextBox 96"/>
          <p:cNvSpPr txBox="1"/>
          <p:nvPr/>
        </p:nvSpPr>
        <p:spPr>
          <a:xfrm>
            <a:off x="4315968" y="4690872"/>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2c</a:t>
            </a:r>
          </a:p>
        </p:txBody>
      </p:sp>
      <p:sp>
        <p:nvSpPr>
          <p:cNvPr id="98" name="Rectangle 97"/>
          <p:cNvSpPr/>
          <p:nvPr/>
        </p:nvSpPr>
        <p:spPr>
          <a:xfrm>
            <a:off x="6117336" y="2926080"/>
            <a:ext cx="1783080" cy="603504"/>
          </a:xfrm>
          <a:prstGeom prst="rect">
            <a:avLst/>
          </a:prstGeom>
          <a:solidFill>
            <a:srgbClr val="FFFFFF"/>
          </a:solidFill>
          <a:ln w="9525">
            <a:solidFill>
              <a:srgbClr val="7F7F7F"/>
            </a:solidFill>
          </a:ln>
        </p:spPr>
        <p:txBody>
          <a:bodyPr rtlCol="0" anchor="ctr"/>
          <a:lstStyle/>
          <a:p>
            <a:pPr algn="ctr"/>
          </a:p>
        </p:txBody>
      </p:sp>
      <p:sp>
        <p:nvSpPr>
          <p:cNvPr id="99" name="Rectangle 98"/>
          <p:cNvSpPr/>
          <p:nvPr/>
        </p:nvSpPr>
        <p:spPr>
          <a:xfrm>
            <a:off x="6117336" y="2926080"/>
            <a:ext cx="82296" cy="603504"/>
          </a:xfrm>
          <a:prstGeom prst="rect">
            <a:avLst/>
          </a:prstGeom>
          <a:solidFill>
            <a:srgbClr val="2E9E44"/>
          </a:solidFill>
          <a:ln>
            <a:noFill/>
          </a:ln>
        </p:spPr>
        <p:txBody>
          <a:bodyPr rtlCol="0" anchor="ctr"/>
          <a:lstStyle/>
          <a:p>
            <a:pPr algn="ctr"/>
          </a:p>
        </p:txBody>
      </p:sp>
      <p:sp>
        <p:nvSpPr>
          <p:cNvPr id="100" name="TextBox 99"/>
          <p:cNvSpPr txBox="1"/>
          <p:nvPr/>
        </p:nvSpPr>
        <p:spPr>
          <a:xfrm>
            <a:off x="6227064" y="2944368"/>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Support diversified route and product development</a:t>
            </a:r>
          </a:p>
        </p:txBody>
      </p:sp>
      <p:sp>
        <p:nvSpPr>
          <p:cNvPr id="101" name="Oval 100"/>
          <p:cNvSpPr/>
          <p:nvPr/>
        </p:nvSpPr>
        <p:spPr>
          <a:xfrm>
            <a:off x="7443215" y="3383280"/>
            <a:ext cx="82296" cy="82296"/>
          </a:xfrm>
          <a:prstGeom prst="ellipse">
            <a:avLst/>
          </a:prstGeom>
          <a:solidFill>
            <a:srgbClr val="1F497D"/>
          </a:solidFill>
          <a:ln w="9525">
            <a:solidFill>
              <a:srgbClr val="1F497D"/>
            </a:solidFill>
          </a:ln>
        </p:spPr>
        <p:txBody>
          <a:bodyPr rtlCol="0" anchor="ctr"/>
          <a:lstStyle/>
          <a:p>
            <a:pPr algn="ctr"/>
          </a:p>
        </p:txBody>
      </p:sp>
      <p:sp>
        <p:nvSpPr>
          <p:cNvPr id="102" name="Oval 101"/>
          <p:cNvSpPr/>
          <p:nvPr/>
        </p:nvSpPr>
        <p:spPr>
          <a:xfrm>
            <a:off x="7557515" y="3383280"/>
            <a:ext cx="82296" cy="82296"/>
          </a:xfrm>
          <a:prstGeom prst="ellipse">
            <a:avLst/>
          </a:prstGeom>
          <a:solidFill>
            <a:srgbClr val="1F497D"/>
          </a:solidFill>
          <a:ln w="9525">
            <a:solidFill>
              <a:srgbClr val="1F497D"/>
            </a:solidFill>
          </a:ln>
        </p:spPr>
        <p:txBody>
          <a:bodyPr rtlCol="0" anchor="ctr"/>
          <a:lstStyle/>
          <a:p>
            <a:pPr algn="ctr"/>
          </a:p>
        </p:txBody>
      </p:sp>
      <p:sp>
        <p:nvSpPr>
          <p:cNvPr id="103" name="Oval 102"/>
          <p:cNvSpPr/>
          <p:nvPr/>
        </p:nvSpPr>
        <p:spPr>
          <a:xfrm>
            <a:off x="7671815" y="3383280"/>
            <a:ext cx="82296" cy="82296"/>
          </a:xfrm>
          <a:prstGeom prst="ellipse">
            <a:avLst/>
          </a:prstGeom>
          <a:solidFill>
            <a:srgbClr val="FFFFFF"/>
          </a:solidFill>
          <a:ln w="9525">
            <a:solidFill>
              <a:srgbClr val="1F497D"/>
            </a:solidFill>
          </a:ln>
        </p:spPr>
        <p:txBody>
          <a:bodyPr rtlCol="0" anchor="ctr"/>
          <a:lstStyle/>
          <a:p>
            <a:pPr algn="ctr"/>
          </a:p>
        </p:txBody>
      </p:sp>
      <p:sp>
        <p:nvSpPr>
          <p:cNvPr id="104" name="TextBox 103"/>
          <p:cNvSpPr txBox="1"/>
          <p:nvPr/>
        </p:nvSpPr>
        <p:spPr>
          <a:xfrm>
            <a:off x="6227064" y="3337560"/>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2d</a:t>
            </a:r>
          </a:p>
        </p:txBody>
      </p:sp>
      <p:sp>
        <p:nvSpPr>
          <p:cNvPr id="105" name="Rectangle 104"/>
          <p:cNvSpPr/>
          <p:nvPr/>
        </p:nvSpPr>
        <p:spPr>
          <a:xfrm>
            <a:off x="6117336" y="3602736"/>
            <a:ext cx="1783080" cy="603504"/>
          </a:xfrm>
          <a:prstGeom prst="rect">
            <a:avLst/>
          </a:prstGeom>
          <a:solidFill>
            <a:srgbClr val="FFFFFF"/>
          </a:solidFill>
          <a:ln w="9525">
            <a:solidFill>
              <a:srgbClr val="7F7F7F"/>
            </a:solidFill>
          </a:ln>
        </p:spPr>
        <p:txBody>
          <a:bodyPr rtlCol="0" anchor="ctr"/>
          <a:lstStyle/>
          <a:p>
            <a:pPr algn="ctr"/>
          </a:p>
        </p:txBody>
      </p:sp>
      <p:sp>
        <p:nvSpPr>
          <p:cNvPr id="106" name="Rectangle 105"/>
          <p:cNvSpPr/>
          <p:nvPr/>
        </p:nvSpPr>
        <p:spPr>
          <a:xfrm>
            <a:off x="6117336" y="3602736"/>
            <a:ext cx="82296" cy="603504"/>
          </a:xfrm>
          <a:prstGeom prst="rect">
            <a:avLst/>
          </a:prstGeom>
          <a:solidFill>
            <a:srgbClr val="F2A900"/>
          </a:solidFill>
          <a:ln>
            <a:noFill/>
          </a:ln>
        </p:spPr>
        <p:txBody>
          <a:bodyPr rtlCol="0" anchor="ctr"/>
          <a:lstStyle/>
          <a:p>
            <a:pPr algn="ctr"/>
          </a:p>
        </p:txBody>
      </p:sp>
      <p:sp>
        <p:nvSpPr>
          <p:cNvPr id="107" name="TextBox 106"/>
          <p:cNvSpPr txBox="1"/>
          <p:nvPr/>
        </p:nvSpPr>
        <p:spPr>
          <a:xfrm>
            <a:off x="6227064" y="3621024"/>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Align visitor experience in-destination</a:t>
            </a:r>
          </a:p>
        </p:txBody>
      </p:sp>
      <p:sp>
        <p:nvSpPr>
          <p:cNvPr id="108" name="Oval 107"/>
          <p:cNvSpPr/>
          <p:nvPr/>
        </p:nvSpPr>
        <p:spPr>
          <a:xfrm>
            <a:off x="7443215" y="4059936"/>
            <a:ext cx="82296" cy="82296"/>
          </a:xfrm>
          <a:prstGeom prst="ellipse">
            <a:avLst/>
          </a:prstGeom>
          <a:solidFill>
            <a:srgbClr val="1F497D"/>
          </a:solidFill>
          <a:ln w="9525">
            <a:solidFill>
              <a:srgbClr val="1F497D"/>
            </a:solidFill>
          </a:ln>
        </p:spPr>
        <p:txBody>
          <a:bodyPr rtlCol="0" anchor="ctr"/>
          <a:lstStyle/>
          <a:p>
            <a:pPr algn="ctr"/>
          </a:p>
        </p:txBody>
      </p:sp>
      <p:sp>
        <p:nvSpPr>
          <p:cNvPr id="109" name="Oval 108"/>
          <p:cNvSpPr/>
          <p:nvPr/>
        </p:nvSpPr>
        <p:spPr>
          <a:xfrm>
            <a:off x="7557515" y="4059936"/>
            <a:ext cx="82296" cy="82296"/>
          </a:xfrm>
          <a:prstGeom prst="ellipse">
            <a:avLst/>
          </a:prstGeom>
          <a:solidFill>
            <a:srgbClr val="1F497D"/>
          </a:solidFill>
          <a:ln w="9525">
            <a:solidFill>
              <a:srgbClr val="1F497D"/>
            </a:solidFill>
          </a:ln>
        </p:spPr>
        <p:txBody>
          <a:bodyPr rtlCol="0" anchor="ctr"/>
          <a:lstStyle/>
          <a:p>
            <a:pPr algn="ctr"/>
          </a:p>
        </p:txBody>
      </p:sp>
      <p:sp>
        <p:nvSpPr>
          <p:cNvPr id="110" name="Oval 109"/>
          <p:cNvSpPr/>
          <p:nvPr/>
        </p:nvSpPr>
        <p:spPr>
          <a:xfrm>
            <a:off x="7671815" y="4059936"/>
            <a:ext cx="82296" cy="82296"/>
          </a:xfrm>
          <a:prstGeom prst="ellipse">
            <a:avLst/>
          </a:prstGeom>
          <a:solidFill>
            <a:srgbClr val="FFFFFF"/>
          </a:solidFill>
          <a:ln w="9525">
            <a:solidFill>
              <a:srgbClr val="1F497D"/>
            </a:solidFill>
          </a:ln>
        </p:spPr>
        <p:txBody>
          <a:bodyPr rtlCol="0" anchor="ctr"/>
          <a:lstStyle/>
          <a:p>
            <a:pPr algn="ctr"/>
          </a:p>
        </p:txBody>
      </p:sp>
      <p:sp>
        <p:nvSpPr>
          <p:cNvPr id="111" name="TextBox 110"/>
          <p:cNvSpPr txBox="1"/>
          <p:nvPr/>
        </p:nvSpPr>
        <p:spPr>
          <a:xfrm>
            <a:off x="6227064" y="4014216"/>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2e</a:t>
            </a:r>
          </a:p>
        </p:txBody>
      </p:sp>
      <p:sp>
        <p:nvSpPr>
          <p:cNvPr id="112" name="Rectangle 111"/>
          <p:cNvSpPr/>
          <p:nvPr/>
        </p:nvSpPr>
        <p:spPr>
          <a:xfrm>
            <a:off x="6117336" y="4279392"/>
            <a:ext cx="1783080" cy="603504"/>
          </a:xfrm>
          <a:prstGeom prst="rect">
            <a:avLst/>
          </a:prstGeom>
          <a:solidFill>
            <a:srgbClr val="FFFFFF"/>
          </a:solidFill>
          <a:ln w="9525">
            <a:solidFill>
              <a:srgbClr val="7F7F7F"/>
            </a:solidFill>
          </a:ln>
        </p:spPr>
        <p:txBody>
          <a:bodyPr rtlCol="0" anchor="ctr"/>
          <a:lstStyle/>
          <a:p>
            <a:pPr algn="ctr"/>
          </a:p>
        </p:txBody>
      </p:sp>
      <p:sp>
        <p:nvSpPr>
          <p:cNvPr id="113" name="Rectangle 112"/>
          <p:cNvSpPr/>
          <p:nvPr/>
        </p:nvSpPr>
        <p:spPr>
          <a:xfrm>
            <a:off x="6117336" y="4279392"/>
            <a:ext cx="82296" cy="603504"/>
          </a:xfrm>
          <a:prstGeom prst="rect">
            <a:avLst/>
          </a:prstGeom>
          <a:solidFill>
            <a:srgbClr val="2E9E44"/>
          </a:solidFill>
          <a:ln>
            <a:noFill/>
          </a:ln>
        </p:spPr>
        <p:txBody>
          <a:bodyPr rtlCol="0" anchor="ctr"/>
          <a:lstStyle/>
          <a:p>
            <a:pPr algn="ctr"/>
          </a:p>
        </p:txBody>
      </p:sp>
      <p:sp>
        <p:nvSpPr>
          <p:cNvPr id="114" name="TextBox 113"/>
          <p:cNvSpPr txBox="1"/>
          <p:nvPr/>
        </p:nvSpPr>
        <p:spPr>
          <a:xfrm>
            <a:off x="6227064" y="4297679"/>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Sustainably maximise nature-based and cultural attractions</a:t>
            </a:r>
          </a:p>
        </p:txBody>
      </p:sp>
      <p:sp>
        <p:nvSpPr>
          <p:cNvPr id="115" name="Oval 114"/>
          <p:cNvSpPr/>
          <p:nvPr/>
        </p:nvSpPr>
        <p:spPr>
          <a:xfrm>
            <a:off x="7443215" y="4736592"/>
            <a:ext cx="82296" cy="82296"/>
          </a:xfrm>
          <a:prstGeom prst="ellipse">
            <a:avLst/>
          </a:prstGeom>
          <a:solidFill>
            <a:srgbClr val="1F497D"/>
          </a:solidFill>
          <a:ln w="9525">
            <a:solidFill>
              <a:srgbClr val="1F497D"/>
            </a:solidFill>
          </a:ln>
        </p:spPr>
        <p:txBody>
          <a:bodyPr rtlCol="0" anchor="ctr"/>
          <a:lstStyle/>
          <a:p>
            <a:pPr algn="ctr"/>
          </a:p>
        </p:txBody>
      </p:sp>
      <p:sp>
        <p:nvSpPr>
          <p:cNvPr id="116" name="Oval 115"/>
          <p:cNvSpPr/>
          <p:nvPr/>
        </p:nvSpPr>
        <p:spPr>
          <a:xfrm>
            <a:off x="7557515" y="4736592"/>
            <a:ext cx="82296" cy="82296"/>
          </a:xfrm>
          <a:prstGeom prst="ellipse">
            <a:avLst/>
          </a:prstGeom>
          <a:solidFill>
            <a:srgbClr val="1F497D"/>
          </a:solidFill>
          <a:ln w="9525">
            <a:solidFill>
              <a:srgbClr val="1F497D"/>
            </a:solidFill>
          </a:ln>
        </p:spPr>
        <p:txBody>
          <a:bodyPr rtlCol="0" anchor="ctr"/>
          <a:lstStyle/>
          <a:p>
            <a:pPr algn="ctr"/>
          </a:p>
        </p:txBody>
      </p:sp>
      <p:sp>
        <p:nvSpPr>
          <p:cNvPr id="117" name="Oval 116"/>
          <p:cNvSpPr/>
          <p:nvPr/>
        </p:nvSpPr>
        <p:spPr>
          <a:xfrm>
            <a:off x="7671815" y="4736592"/>
            <a:ext cx="82296" cy="82296"/>
          </a:xfrm>
          <a:prstGeom prst="ellipse">
            <a:avLst/>
          </a:prstGeom>
          <a:solidFill>
            <a:srgbClr val="FFFFFF"/>
          </a:solidFill>
          <a:ln w="9525">
            <a:solidFill>
              <a:srgbClr val="1F497D"/>
            </a:solidFill>
          </a:ln>
        </p:spPr>
        <p:txBody>
          <a:bodyPr rtlCol="0" anchor="ctr"/>
          <a:lstStyle/>
          <a:p>
            <a:pPr algn="ctr"/>
          </a:p>
        </p:txBody>
      </p:sp>
      <p:sp>
        <p:nvSpPr>
          <p:cNvPr id="118" name="TextBox 117"/>
          <p:cNvSpPr txBox="1"/>
          <p:nvPr/>
        </p:nvSpPr>
        <p:spPr>
          <a:xfrm>
            <a:off x="6227064" y="4690872"/>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2f</a:t>
            </a:r>
          </a:p>
        </p:txBody>
      </p:sp>
      <p:sp>
        <p:nvSpPr>
          <p:cNvPr id="119" name="Rectangle 118"/>
          <p:cNvSpPr/>
          <p:nvPr/>
        </p:nvSpPr>
        <p:spPr>
          <a:xfrm>
            <a:off x="8028431" y="2926080"/>
            <a:ext cx="1783080" cy="603504"/>
          </a:xfrm>
          <a:prstGeom prst="rect">
            <a:avLst/>
          </a:prstGeom>
          <a:solidFill>
            <a:srgbClr val="FFFFFF"/>
          </a:solidFill>
          <a:ln w="9525">
            <a:solidFill>
              <a:srgbClr val="7F7F7F"/>
            </a:solidFill>
          </a:ln>
        </p:spPr>
        <p:txBody>
          <a:bodyPr rtlCol="0" anchor="ctr"/>
          <a:lstStyle/>
          <a:p>
            <a:pPr algn="ctr"/>
          </a:p>
        </p:txBody>
      </p:sp>
      <p:sp>
        <p:nvSpPr>
          <p:cNvPr id="120" name="Rectangle 119"/>
          <p:cNvSpPr/>
          <p:nvPr/>
        </p:nvSpPr>
        <p:spPr>
          <a:xfrm>
            <a:off x="8028431" y="2926080"/>
            <a:ext cx="82296" cy="603504"/>
          </a:xfrm>
          <a:prstGeom prst="rect">
            <a:avLst/>
          </a:prstGeom>
          <a:solidFill>
            <a:srgbClr val="2E9E44"/>
          </a:solidFill>
          <a:ln>
            <a:noFill/>
          </a:ln>
        </p:spPr>
        <p:txBody>
          <a:bodyPr rtlCol="0" anchor="ctr"/>
          <a:lstStyle/>
          <a:p>
            <a:pPr algn="ctr"/>
          </a:p>
        </p:txBody>
      </p:sp>
      <p:sp>
        <p:nvSpPr>
          <p:cNvPr id="121" name="TextBox 120"/>
          <p:cNvSpPr txBox="1"/>
          <p:nvPr/>
        </p:nvSpPr>
        <p:spPr>
          <a:xfrm>
            <a:off x="8138159" y="2944368"/>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Include MSMEs and communities in tourism value chains</a:t>
            </a:r>
          </a:p>
        </p:txBody>
      </p:sp>
      <p:sp>
        <p:nvSpPr>
          <p:cNvPr id="122" name="Oval 121"/>
          <p:cNvSpPr/>
          <p:nvPr/>
        </p:nvSpPr>
        <p:spPr>
          <a:xfrm>
            <a:off x="9354311" y="3383280"/>
            <a:ext cx="82296" cy="82296"/>
          </a:xfrm>
          <a:prstGeom prst="ellipse">
            <a:avLst/>
          </a:prstGeom>
          <a:solidFill>
            <a:srgbClr val="1F497D"/>
          </a:solidFill>
          <a:ln w="9525">
            <a:solidFill>
              <a:srgbClr val="1F497D"/>
            </a:solidFill>
          </a:ln>
        </p:spPr>
        <p:txBody>
          <a:bodyPr rtlCol="0" anchor="ctr"/>
          <a:lstStyle/>
          <a:p>
            <a:pPr algn="ctr"/>
          </a:p>
        </p:txBody>
      </p:sp>
      <p:sp>
        <p:nvSpPr>
          <p:cNvPr id="123" name="Oval 122"/>
          <p:cNvSpPr/>
          <p:nvPr/>
        </p:nvSpPr>
        <p:spPr>
          <a:xfrm>
            <a:off x="9468611" y="3383280"/>
            <a:ext cx="82296" cy="82296"/>
          </a:xfrm>
          <a:prstGeom prst="ellipse">
            <a:avLst/>
          </a:prstGeom>
          <a:solidFill>
            <a:srgbClr val="1F497D"/>
          </a:solidFill>
          <a:ln w="9525">
            <a:solidFill>
              <a:srgbClr val="1F497D"/>
            </a:solidFill>
          </a:ln>
        </p:spPr>
        <p:txBody>
          <a:bodyPr rtlCol="0" anchor="ctr"/>
          <a:lstStyle/>
          <a:p>
            <a:pPr algn="ctr"/>
          </a:p>
        </p:txBody>
      </p:sp>
      <p:sp>
        <p:nvSpPr>
          <p:cNvPr id="124" name="Oval 123"/>
          <p:cNvSpPr/>
          <p:nvPr/>
        </p:nvSpPr>
        <p:spPr>
          <a:xfrm>
            <a:off x="9582911" y="3383280"/>
            <a:ext cx="82296" cy="82296"/>
          </a:xfrm>
          <a:prstGeom prst="ellipse">
            <a:avLst/>
          </a:prstGeom>
          <a:solidFill>
            <a:srgbClr val="1F497D"/>
          </a:solidFill>
          <a:ln w="9525">
            <a:solidFill>
              <a:srgbClr val="1F497D"/>
            </a:solidFill>
          </a:ln>
        </p:spPr>
        <p:txBody>
          <a:bodyPr rtlCol="0" anchor="ctr"/>
          <a:lstStyle/>
          <a:p>
            <a:pPr algn="ctr"/>
          </a:p>
        </p:txBody>
      </p:sp>
      <p:sp>
        <p:nvSpPr>
          <p:cNvPr id="125" name="TextBox 124"/>
          <p:cNvSpPr txBox="1"/>
          <p:nvPr/>
        </p:nvSpPr>
        <p:spPr>
          <a:xfrm>
            <a:off x="8138159" y="3337560"/>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3a</a:t>
            </a:r>
          </a:p>
        </p:txBody>
      </p:sp>
      <p:sp>
        <p:nvSpPr>
          <p:cNvPr id="126" name="Rectangle 125"/>
          <p:cNvSpPr/>
          <p:nvPr/>
        </p:nvSpPr>
        <p:spPr>
          <a:xfrm>
            <a:off x="8028431" y="3602736"/>
            <a:ext cx="1783080" cy="603504"/>
          </a:xfrm>
          <a:prstGeom prst="rect">
            <a:avLst/>
          </a:prstGeom>
          <a:solidFill>
            <a:srgbClr val="FFFFFF"/>
          </a:solidFill>
          <a:ln w="9525">
            <a:solidFill>
              <a:srgbClr val="7F7F7F"/>
            </a:solidFill>
          </a:ln>
        </p:spPr>
        <p:txBody>
          <a:bodyPr rtlCol="0" anchor="ctr"/>
          <a:lstStyle/>
          <a:p>
            <a:pPr algn="ctr"/>
          </a:p>
        </p:txBody>
      </p:sp>
      <p:sp>
        <p:nvSpPr>
          <p:cNvPr id="127" name="Rectangle 126"/>
          <p:cNvSpPr/>
          <p:nvPr/>
        </p:nvSpPr>
        <p:spPr>
          <a:xfrm>
            <a:off x="8028431" y="3602736"/>
            <a:ext cx="82296" cy="603504"/>
          </a:xfrm>
          <a:prstGeom prst="rect">
            <a:avLst/>
          </a:prstGeom>
          <a:solidFill>
            <a:srgbClr val="FFFFFF"/>
          </a:solidFill>
          <a:ln w="9525">
            <a:solidFill>
              <a:srgbClr val="7F7F7F"/>
            </a:solidFill>
          </a:ln>
        </p:spPr>
        <p:txBody>
          <a:bodyPr rtlCol="0" anchor="ctr"/>
          <a:lstStyle/>
          <a:p>
            <a:pPr algn="ctr"/>
          </a:p>
        </p:txBody>
      </p:sp>
      <p:sp>
        <p:nvSpPr>
          <p:cNvPr id="128" name="TextBox 127"/>
          <p:cNvSpPr txBox="1"/>
          <p:nvPr/>
        </p:nvSpPr>
        <p:spPr>
          <a:xfrm>
            <a:off x="8138159" y="3621024"/>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Develop the tourism workforce and service skills</a:t>
            </a:r>
          </a:p>
        </p:txBody>
      </p:sp>
      <p:sp>
        <p:nvSpPr>
          <p:cNvPr id="129" name="Oval 128"/>
          <p:cNvSpPr/>
          <p:nvPr/>
        </p:nvSpPr>
        <p:spPr>
          <a:xfrm>
            <a:off x="9354311" y="4059936"/>
            <a:ext cx="82296" cy="82296"/>
          </a:xfrm>
          <a:prstGeom prst="ellipse">
            <a:avLst/>
          </a:prstGeom>
          <a:solidFill>
            <a:srgbClr val="1F497D"/>
          </a:solidFill>
          <a:ln w="9525">
            <a:solidFill>
              <a:srgbClr val="1F497D"/>
            </a:solidFill>
          </a:ln>
        </p:spPr>
        <p:txBody>
          <a:bodyPr rtlCol="0" anchor="ctr"/>
          <a:lstStyle/>
          <a:p>
            <a:pPr algn="ctr"/>
          </a:p>
        </p:txBody>
      </p:sp>
      <p:sp>
        <p:nvSpPr>
          <p:cNvPr id="130" name="Oval 129"/>
          <p:cNvSpPr/>
          <p:nvPr/>
        </p:nvSpPr>
        <p:spPr>
          <a:xfrm>
            <a:off x="9468611" y="4059936"/>
            <a:ext cx="82296" cy="82296"/>
          </a:xfrm>
          <a:prstGeom prst="ellipse">
            <a:avLst/>
          </a:prstGeom>
          <a:solidFill>
            <a:srgbClr val="FFFFFF"/>
          </a:solidFill>
          <a:ln w="9525">
            <a:solidFill>
              <a:srgbClr val="1F497D"/>
            </a:solidFill>
          </a:ln>
        </p:spPr>
        <p:txBody>
          <a:bodyPr rtlCol="0" anchor="ctr"/>
          <a:lstStyle/>
          <a:p>
            <a:pPr algn="ctr"/>
          </a:p>
        </p:txBody>
      </p:sp>
      <p:sp>
        <p:nvSpPr>
          <p:cNvPr id="131" name="Oval 130"/>
          <p:cNvSpPr/>
          <p:nvPr/>
        </p:nvSpPr>
        <p:spPr>
          <a:xfrm>
            <a:off x="9582911" y="4059936"/>
            <a:ext cx="82296" cy="82296"/>
          </a:xfrm>
          <a:prstGeom prst="ellipse">
            <a:avLst/>
          </a:prstGeom>
          <a:solidFill>
            <a:srgbClr val="FFFFFF"/>
          </a:solidFill>
          <a:ln w="9525">
            <a:solidFill>
              <a:srgbClr val="1F497D"/>
            </a:solidFill>
          </a:ln>
        </p:spPr>
        <p:txBody>
          <a:bodyPr rtlCol="0" anchor="ctr"/>
          <a:lstStyle/>
          <a:p>
            <a:pPr algn="ctr"/>
          </a:p>
        </p:txBody>
      </p:sp>
      <p:sp>
        <p:nvSpPr>
          <p:cNvPr id="132" name="TextBox 131"/>
          <p:cNvSpPr txBox="1"/>
          <p:nvPr/>
        </p:nvSpPr>
        <p:spPr>
          <a:xfrm>
            <a:off x="8138159" y="4014216"/>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3b</a:t>
            </a:r>
          </a:p>
        </p:txBody>
      </p:sp>
      <p:sp>
        <p:nvSpPr>
          <p:cNvPr id="133" name="Rectangle 132"/>
          <p:cNvSpPr/>
          <p:nvPr/>
        </p:nvSpPr>
        <p:spPr>
          <a:xfrm>
            <a:off x="8028431" y="4279392"/>
            <a:ext cx="1783080" cy="603504"/>
          </a:xfrm>
          <a:prstGeom prst="rect">
            <a:avLst/>
          </a:prstGeom>
          <a:solidFill>
            <a:srgbClr val="FFFFFF"/>
          </a:solidFill>
          <a:ln w="9525">
            <a:solidFill>
              <a:srgbClr val="7F7F7F"/>
            </a:solidFill>
          </a:ln>
        </p:spPr>
        <p:txBody>
          <a:bodyPr rtlCol="0" anchor="ctr"/>
          <a:lstStyle/>
          <a:p>
            <a:pPr algn="ctr"/>
          </a:p>
        </p:txBody>
      </p:sp>
      <p:sp>
        <p:nvSpPr>
          <p:cNvPr id="134" name="Rectangle 133"/>
          <p:cNvSpPr/>
          <p:nvPr/>
        </p:nvSpPr>
        <p:spPr>
          <a:xfrm>
            <a:off x="8028431" y="4279392"/>
            <a:ext cx="82296" cy="603504"/>
          </a:xfrm>
          <a:prstGeom prst="rect">
            <a:avLst/>
          </a:prstGeom>
          <a:solidFill>
            <a:srgbClr val="F2A900"/>
          </a:solidFill>
          <a:ln>
            <a:noFill/>
          </a:ln>
        </p:spPr>
        <p:txBody>
          <a:bodyPr rtlCol="0" anchor="ctr"/>
          <a:lstStyle/>
          <a:p>
            <a:pPr algn="ctr"/>
          </a:p>
        </p:txBody>
      </p:sp>
      <p:sp>
        <p:nvSpPr>
          <p:cNvPr id="135" name="TextBox 134"/>
          <p:cNvSpPr txBox="1"/>
          <p:nvPr/>
        </p:nvSpPr>
        <p:spPr>
          <a:xfrm>
            <a:off x="8138159" y="4297679"/>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Ensure sustainable and resilient destination management</a:t>
            </a:r>
          </a:p>
        </p:txBody>
      </p:sp>
      <p:sp>
        <p:nvSpPr>
          <p:cNvPr id="136" name="Oval 135"/>
          <p:cNvSpPr/>
          <p:nvPr/>
        </p:nvSpPr>
        <p:spPr>
          <a:xfrm>
            <a:off x="9354311" y="4736592"/>
            <a:ext cx="82296" cy="82296"/>
          </a:xfrm>
          <a:prstGeom prst="ellipse">
            <a:avLst/>
          </a:prstGeom>
          <a:solidFill>
            <a:srgbClr val="1F497D"/>
          </a:solidFill>
          <a:ln w="9525">
            <a:solidFill>
              <a:srgbClr val="1F497D"/>
            </a:solidFill>
          </a:ln>
        </p:spPr>
        <p:txBody>
          <a:bodyPr rtlCol="0" anchor="ctr"/>
          <a:lstStyle/>
          <a:p>
            <a:pPr algn="ctr"/>
          </a:p>
        </p:txBody>
      </p:sp>
      <p:sp>
        <p:nvSpPr>
          <p:cNvPr id="137" name="Oval 136"/>
          <p:cNvSpPr/>
          <p:nvPr/>
        </p:nvSpPr>
        <p:spPr>
          <a:xfrm>
            <a:off x="9468611" y="4736592"/>
            <a:ext cx="82296" cy="82296"/>
          </a:xfrm>
          <a:prstGeom prst="ellipse">
            <a:avLst/>
          </a:prstGeom>
          <a:solidFill>
            <a:srgbClr val="FFFFFF"/>
          </a:solidFill>
          <a:ln w="9525">
            <a:solidFill>
              <a:srgbClr val="1F497D"/>
            </a:solidFill>
          </a:ln>
        </p:spPr>
        <p:txBody>
          <a:bodyPr rtlCol="0" anchor="ctr"/>
          <a:lstStyle/>
          <a:p>
            <a:pPr algn="ctr"/>
          </a:p>
        </p:txBody>
      </p:sp>
      <p:sp>
        <p:nvSpPr>
          <p:cNvPr id="138" name="Oval 137"/>
          <p:cNvSpPr/>
          <p:nvPr/>
        </p:nvSpPr>
        <p:spPr>
          <a:xfrm>
            <a:off x="9582911" y="4736592"/>
            <a:ext cx="82296" cy="82296"/>
          </a:xfrm>
          <a:prstGeom prst="ellipse">
            <a:avLst/>
          </a:prstGeom>
          <a:solidFill>
            <a:srgbClr val="FFFFFF"/>
          </a:solidFill>
          <a:ln w="9525">
            <a:solidFill>
              <a:srgbClr val="1F497D"/>
            </a:solidFill>
          </a:ln>
        </p:spPr>
        <p:txBody>
          <a:bodyPr rtlCol="0" anchor="ctr"/>
          <a:lstStyle/>
          <a:p>
            <a:pPr algn="ctr"/>
          </a:p>
        </p:txBody>
      </p:sp>
      <p:sp>
        <p:nvSpPr>
          <p:cNvPr id="139" name="TextBox 138"/>
          <p:cNvSpPr txBox="1"/>
          <p:nvPr/>
        </p:nvSpPr>
        <p:spPr>
          <a:xfrm>
            <a:off x="8138159" y="4690872"/>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3c</a:t>
            </a:r>
          </a:p>
        </p:txBody>
      </p:sp>
      <p:sp>
        <p:nvSpPr>
          <p:cNvPr id="140" name="Rectangle 139"/>
          <p:cNvSpPr/>
          <p:nvPr/>
        </p:nvSpPr>
        <p:spPr>
          <a:xfrm>
            <a:off x="9939528" y="2926080"/>
            <a:ext cx="1783080" cy="603504"/>
          </a:xfrm>
          <a:prstGeom prst="rect">
            <a:avLst/>
          </a:prstGeom>
          <a:solidFill>
            <a:srgbClr val="FFFFFF"/>
          </a:solidFill>
          <a:ln w="9525">
            <a:solidFill>
              <a:srgbClr val="7F7F7F"/>
            </a:solidFill>
          </a:ln>
        </p:spPr>
        <p:txBody>
          <a:bodyPr rtlCol="0" anchor="ctr"/>
          <a:lstStyle/>
          <a:p>
            <a:pPr algn="ctr"/>
          </a:p>
        </p:txBody>
      </p:sp>
      <p:sp>
        <p:nvSpPr>
          <p:cNvPr id="141" name="Rectangle 140"/>
          <p:cNvSpPr/>
          <p:nvPr/>
        </p:nvSpPr>
        <p:spPr>
          <a:xfrm>
            <a:off x="9939528" y="2926080"/>
            <a:ext cx="82296" cy="603504"/>
          </a:xfrm>
          <a:prstGeom prst="rect">
            <a:avLst/>
          </a:prstGeom>
          <a:solidFill>
            <a:srgbClr val="2E9E44"/>
          </a:solidFill>
          <a:ln>
            <a:noFill/>
          </a:ln>
        </p:spPr>
        <p:txBody>
          <a:bodyPr rtlCol="0" anchor="ctr"/>
          <a:lstStyle/>
          <a:p>
            <a:pPr algn="ctr"/>
          </a:p>
        </p:txBody>
      </p:sp>
      <p:sp>
        <p:nvSpPr>
          <p:cNvPr id="142" name="TextBox 141"/>
          <p:cNvSpPr txBox="1"/>
          <p:nvPr/>
        </p:nvSpPr>
        <p:spPr>
          <a:xfrm>
            <a:off x="10049255" y="2944368"/>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Review institutional arrangements (local, provincial and national)</a:t>
            </a:r>
          </a:p>
        </p:txBody>
      </p:sp>
      <p:sp>
        <p:nvSpPr>
          <p:cNvPr id="143" name="Oval 142"/>
          <p:cNvSpPr/>
          <p:nvPr/>
        </p:nvSpPr>
        <p:spPr>
          <a:xfrm>
            <a:off x="11265407" y="3383280"/>
            <a:ext cx="82296" cy="82296"/>
          </a:xfrm>
          <a:prstGeom prst="ellipse">
            <a:avLst/>
          </a:prstGeom>
          <a:solidFill>
            <a:srgbClr val="1F497D"/>
          </a:solidFill>
          <a:ln w="9525">
            <a:solidFill>
              <a:srgbClr val="1F497D"/>
            </a:solidFill>
          </a:ln>
        </p:spPr>
        <p:txBody>
          <a:bodyPr rtlCol="0" anchor="ctr"/>
          <a:lstStyle/>
          <a:p>
            <a:pPr algn="ctr"/>
          </a:p>
        </p:txBody>
      </p:sp>
      <p:sp>
        <p:nvSpPr>
          <p:cNvPr id="144" name="Oval 143"/>
          <p:cNvSpPr/>
          <p:nvPr/>
        </p:nvSpPr>
        <p:spPr>
          <a:xfrm>
            <a:off x="11379707" y="3383280"/>
            <a:ext cx="82296" cy="82296"/>
          </a:xfrm>
          <a:prstGeom prst="ellipse">
            <a:avLst/>
          </a:prstGeom>
          <a:solidFill>
            <a:srgbClr val="1F497D"/>
          </a:solidFill>
          <a:ln w="9525">
            <a:solidFill>
              <a:srgbClr val="1F497D"/>
            </a:solidFill>
          </a:ln>
        </p:spPr>
        <p:txBody>
          <a:bodyPr rtlCol="0" anchor="ctr"/>
          <a:lstStyle/>
          <a:p>
            <a:pPr algn="ctr"/>
          </a:p>
        </p:txBody>
      </p:sp>
      <p:sp>
        <p:nvSpPr>
          <p:cNvPr id="145" name="Oval 144"/>
          <p:cNvSpPr/>
          <p:nvPr/>
        </p:nvSpPr>
        <p:spPr>
          <a:xfrm>
            <a:off x="11494007" y="3383280"/>
            <a:ext cx="82296" cy="82296"/>
          </a:xfrm>
          <a:prstGeom prst="ellipse">
            <a:avLst/>
          </a:prstGeom>
          <a:solidFill>
            <a:srgbClr val="1F497D"/>
          </a:solidFill>
          <a:ln w="9525">
            <a:solidFill>
              <a:srgbClr val="1F497D"/>
            </a:solidFill>
          </a:ln>
        </p:spPr>
        <p:txBody>
          <a:bodyPr rtlCol="0" anchor="ctr"/>
          <a:lstStyle/>
          <a:p>
            <a:pPr algn="ctr"/>
          </a:p>
        </p:txBody>
      </p:sp>
      <p:sp>
        <p:nvSpPr>
          <p:cNvPr id="146" name="TextBox 145"/>
          <p:cNvSpPr txBox="1"/>
          <p:nvPr/>
        </p:nvSpPr>
        <p:spPr>
          <a:xfrm>
            <a:off x="10049255" y="3337560"/>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3d</a:t>
            </a:r>
          </a:p>
        </p:txBody>
      </p:sp>
      <p:sp>
        <p:nvSpPr>
          <p:cNvPr id="147" name="Rectangle 146"/>
          <p:cNvSpPr/>
          <p:nvPr/>
        </p:nvSpPr>
        <p:spPr>
          <a:xfrm>
            <a:off x="9939528" y="3602736"/>
            <a:ext cx="1783080" cy="603504"/>
          </a:xfrm>
          <a:prstGeom prst="rect">
            <a:avLst/>
          </a:prstGeom>
          <a:solidFill>
            <a:srgbClr val="FFFFFF"/>
          </a:solidFill>
          <a:ln w="9525">
            <a:solidFill>
              <a:srgbClr val="7F7F7F"/>
            </a:solidFill>
          </a:ln>
        </p:spPr>
        <p:txBody>
          <a:bodyPr rtlCol="0" anchor="ctr"/>
          <a:lstStyle/>
          <a:p>
            <a:pPr algn="ctr"/>
          </a:p>
        </p:txBody>
      </p:sp>
      <p:sp>
        <p:nvSpPr>
          <p:cNvPr id="148" name="Rectangle 147"/>
          <p:cNvSpPr/>
          <p:nvPr/>
        </p:nvSpPr>
        <p:spPr>
          <a:xfrm>
            <a:off x="9939528" y="3602736"/>
            <a:ext cx="82296" cy="603504"/>
          </a:xfrm>
          <a:prstGeom prst="rect">
            <a:avLst/>
          </a:prstGeom>
          <a:solidFill>
            <a:srgbClr val="2E9E44"/>
          </a:solidFill>
          <a:ln>
            <a:noFill/>
          </a:ln>
        </p:spPr>
        <p:txBody>
          <a:bodyPr rtlCol="0" anchor="ctr"/>
          <a:lstStyle/>
          <a:p>
            <a:pPr algn="ctr"/>
          </a:p>
        </p:txBody>
      </p:sp>
      <p:sp>
        <p:nvSpPr>
          <p:cNvPr id="149" name="TextBox 148"/>
          <p:cNvSpPr txBox="1"/>
          <p:nvPr/>
        </p:nvSpPr>
        <p:spPr>
          <a:xfrm>
            <a:off x="10049255" y="3621024"/>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Strengthen industry and government collaboration</a:t>
            </a:r>
          </a:p>
        </p:txBody>
      </p:sp>
      <p:sp>
        <p:nvSpPr>
          <p:cNvPr id="150" name="Oval 149"/>
          <p:cNvSpPr/>
          <p:nvPr/>
        </p:nvSpPr>
        <p:spPr>
          <a:xfrm>
            <a:off x="11265407" y="4059936"/>
            <a:ext cx="82296" cy="82296"/>
          </a:xfrm>
          <a:prstGeom prst="ellipse">
            <a:avLst/>
          </a:prstGeom>
          <a:solidFill>
            <a:srgbClr val="1F497D"/>
          </a:solidFill>
          <a:ln w="9525">
            <a:solidFill>
              <a:srgbClr val="1F497D"/>
            </a:solidFill>
          </a:ln>
        </p:spPr>
        <p:txBody>
          <a:bodyPr rtlCol="0" anchor="ctr"/>
          <a:lstStyle/>
          <a:p>
            <a:pPr algn="ctr"/>
          </a:p>
        </p:txBody>
      </p:sp>
      <p:sp>
        <p:nvSpPr>
          <p:cNvPr id="151" name="Oval 150"/>
          <p:cNvSpPr/>
          <p:nvPr/>
        </p:nvSpPr>
        <p:spPr>
          <a:xfrm>
            <a:off x="11379707" y="4059936"/>
            <a:ext cx="82296" cy="82296"/>
          </a:xfrm>
          <a:prstGeom prst="ellipse">
            <a:avLst/>
          </a:prstGeom>
          <a:solidFill>
            <a:srgbClr val="1F497D"/>
          </a:solidFill>
          <a:ln w="9525">
            <a:solidFill>
              <a:srgbClr val="1F497D"/>
            </a:solidFill>
          </a:ln>
        </p:spPr>
        <p:txBody>
          <a:bodyPr rtlCol="0" anchor="ctr"/>
          <a:lstStyle/>
          <a:p>
            <a:pPr algn="ctr"/>
          </a:p>
        </p:txBody>
      </p:sp>
      <p:sp>
        <p:nvSpPr>
          <p:cNvPr id="152" name="Oval 151"/>
          <p:cNvSpPr/>
          <p:nvPr/>
        </p:nvSpPr>
        <p:spPr>
          <a:xfrm>
            <a:off x="11494007" y="4059936"/>
            <a:ext cx="82296" cy="82296"/>
          </a:xfrm>
          <a:prstGeom prst="ellipse">
            <a:avLst/>
          </a:prstGeom>
          <a:solidFill>
            <a:srgbClr val="1F497D"/>
          </a:solidFill>
          <a:ln w="9525">
            <a:solidFill>
              <a:srgbClr val="1F497D"/>
            </a:solidFill>
          </a:ln>
        </p:spPr>
        <p:txBody>
          <a:bodyPr rtlCol="0" anchor="ctr"/>
          <a:lstStyle/>
          <a:p>
            <a:pPr algn="ctr"/>
          </a:p>
        </p:txBody>
      </p:sp>
      <p:sp>
        <p:nvSpPr>
          <p:cNvPr id="153" name="TextBox 152"/>
          <p:cNvSpPr txBox="1"/>
          <p:nvPr/>
        </p:nvSpPr>
        <p:spPr>
          <a:xfrm>
            <a:off x="10049255" y="4014216"/>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3e</a:t>
            </a:r>
          </a:p>
        </p:txBody>
      </p:sp>
      <p:sp>
        <p:nvSpPr>
          <p:cNvPr id="154" name="Rectangle 153"/>
          <p:cNvSpPr/>
          <p:nvPr/>
        </p:nvSpPr>
        <p:spPr>
          <a:xfrm>
            <a:off x="9939528" y="4279392"/>
            <a:ext cx="1783080" cy="603504"/>
          </a:xfrm>
          <a:prstGeom prst="rect">
            <a:avLst/>
          </a:prstGeom>
          <a:solidFill>
            <a:srgbClr val="FFFFFF"/>
          </a:solidFill>
          <a:ln w="9525">
            <a:solidFill>
              <a:srgbClr val="7F7F7F"/>
            </a:solidFill>
          </a:ln>
        </p:spPr>
        <p:txBody>
          <a:bodyPr rtlCol="0" anchor="ctr"/>
          <a:lstStyle/>
          <a:p>
            <a:pPr algn="ctr"/>
          </a:p>
        </p:txBody>
      </p:sp>
      <p:sp>
        <p:nvSpPr>
          <p:cNvPr id="155" name="Rectangle 154"/>
          <p:cNvSpPr/>
          <p:nvPr/>
        </p:nvSpPr>
        <p:spPr>
          <a:xfrm>
            <a:off x="9939528" y="4279392"/>
            <a:ext cx="82296" cy="603504"/>
          </a:xfrm>
          <a:prstGeom prst="rect">
            <a:avLst/>
          </a:prstGeom>
          <a:solidFill>
            <a:srgbClr val="2E9E44"/>
          </a:solidFill>
          <a:ln>
            <a:noFill/>
          </a:ln>
        </p:spPr>
        <p:txBody>
          <a:bodyPr rtlCol="0" anchor="ctr"/>
          <a:lstStyle/>
          <a:p>
            <a:pPr algn="ctr"/>
          </a:p>
        </p:txBody>
      </p:sp>
      <p:sp>
        <p:nvSpPr>
          <p:cNvPr id="156" name="TextBox 155"/>
          <p:cNvSpPr txBox="1"/>
          <p:nvPr/>
        </p:nvSpPr>
        <p:spPr>
          <a:xfrm>
            <a:off x="10049255" y="4297679"/>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Expedite enabling policy and build the data layer</a:t>
            </a:r>
          </a:p>
        </p:txBody>
      </p:sp>
      <p:sp>
        <p:nvSpPr>
          <p:cNvPr id="157" name="Oval 156"/>
          <p:cNvSpPr/>
          <p:nvPr/>
        </p:nvSpPr>
        <p:spPr>
          <a:xfrm>
            <a:off x="11265407" y="4736592"/>
            <a:ext cx="82296" cy="82296"/>
          </a:xfrm>
          <a:prstGeom prst="ellipse">
            <a:avLst/>
          </a:prstGeom>
          <a:solidFill>
            <a:srgbClr val="1F497D"/>
          </a:solidFill>
          <a:ln w="9525">
            <a:solidFill>
              <a:srgbClr val="1F497D"/>
            </a:solidFill>
          </a:ln>
        </p:spPr>
        <p:txBody>
          <a:bodyPr rtlCol="0" anchor="ctr"/>
          <a:lstStyle/>
          <a:p>
            <a:pPr algn="ctr"/>
          </a:p>
        </p:txBody>
      </p:sp>
      <p:sp>
        <p:nvSpPr>
          <p:cNvPr id="158" name="Oval 157"/>
          <p:cNvSpPr/>
          <p:nvPr/>
        </p:nvSpPr>
        <p:spPr>
          <a:xfrm>
            <a:off x="11379707" y="4736592"/>
            <a:ext cx="82296" cy="82296"/>
          </a:xfrm>
          <a:prstGeom prst="ellipse">
            <a:avLst/>
          </a:prstGeom>
          <a:solidFill>
            <a:srgbClr val="1F497D"/>
          </a:solidFill>
          <a:ln w="9525">
            <a:solidFill>
              <a:srgbClr val="1F497D"/>
            </a:solidFill>
          </a:ln>
        </p:spPr>
        <p:txBody>
          <a:bodyPr rtlCol="0" anchor="ctr"/>
          <a:lstStyle/>
          <a:p>
            <a:pPr algn="ctr"/>
          </a:p>
        </p:txBody>
      </p:sp>
      <p:sp>
        <p:nvSpPr>
          <p:cNvPr id="159" name="Oval 158"/>
          <p:cNvSpPr/>
          <p:nvPr/>
        </p:nvSpPr>
        <p:spPr>
          <a:xfrm>
            <a:off x="11494007" y="4736592"/>
            <a:ext cx="82296" cy="82296"/>
          </a:xfrm>
          <a:prstGeom prst="ellipse">
            <a:avLst/>
          </a:prstGeom>
          <a:solidFill>
            <a:srgbClr val="1F497D"/>
          </a:solidFill>
          <a:ln w="9525">
            <a:solidFill>
              <a:srgbClr val="1F497D"/>
            </a:solidFill>
          </a:ln>
        </p:spPr>
        <p:txBody>
          <a:bodyPr rtlCol="0" anchor="ctr"/>
          <a:lstStyle/>
          <a:p>
            <a:pPr algn="ctr"/>
          </a:p>
        </p:txBody>
      </p:sp>
      <p:sp>
        <p:nvSpPr>
          <p:cNvPr id="160" name="TextBox 159"/>
          <p:cNvSpPr txBox="1"/>
          <p:nvPr/>
        </p:nvSpPr>
        <p:spPr>
          <a:xfrm>
            <a:off x="10049255" y="4690872"/>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3f</a:t>
            </a:r>
          </a:p>
        </p:txBody>
      </p:sp>
      <p:sp>
        <p:nvSpPr>
          <p:cNvPr id="161" name="Rectangle 160"/>
          <p:cNvSpPr/>
          <p:nvPr/>
        </p:nvSpPr>
        <p:spPr>
          <a:xfrm>
            <a:off x="9939528" y="4956048"/>
            <a:ext cx="1783080" cy="603504"/>
          </a:xfrm>
          <a:prstGeom prst="rect">
            <a:avLst/>
          </a:prstGeom>
          <a:solidFill>
            <a:srgbClr val="FFFFFF"/>
          </a:solidFill>
          <a:ln w="9525">
            <a:solidFill>
              <a:srgbClr val="7F7F7F"/>
            </a:solidFill>
          </a:ln>
        </p:spPr>
        <p:txBody>
          <a:bodyPr rtlCol="0" anchor="ctr"/>
          <a:lstStyle/>
          <a:p>
            <a:pPr algn="ctr"/>
          </a:p>
        </p:txBody>
      </p:sp>
      <p:sp>
        <p:nvSpPr>
          <p:cNvPr id="162" name="Rectangle 161"/>
          <p:cNvSpPr/>
          <p:nvPr/>
        </p:nvSpPr>
        <p:spPr>
          <a:xfrm>
            <a:off x="9939528" y="4956048"/>
            <a:ext cx="82296" cy="603504"/>
          </a:xfrm>
          <a:prstGeom prst="rect">
            <a:avLst/>
          </a:prstGeom>
          <a:solidFill>
            <a:srgbClr val="F2A900"/>
          </a:solidFill>
          <a:ln>
            <a:noFill/>
          </a:ln>
        </p:spPr>
        <p:txBody>
          <a:bodyPr rtlCol="0" anchor="ctr"/>
          <a:lstStyle/>
          <a:p>
            <a:pPr algn="ctr"/>
          </a:p>
        </p:txBody>
      </p:sp>
      <p:sp>
        <p:nvSpPr>
          <p:cNvPr id="163" name="TextBox 162"/>
          <p:cNvSpPr txBox="1"/>
          <p:nvPr/>
        </p:nvSpPr>
        <p:spPr>
          <a:xfrm>
            <a:off x="10049255" y="4974336"/>
            <a:ext cx="1636776" cy="420624"/>
          </a:xfrm>
          <a:prstGeom prst="rect">
            <a:avLst/>
          </a:prstGeom>
          <a:noFill/>
        </p:spPr>
        <p:txBody>
          <a:bodyPr wrap="square" anchor="t" lIns="18288" rIns="18288" tIns="10972" bIns="10972">
            <a:spAutoFit/>
          </a:bodyPr>
          <a:lstStyle/>
          <a:p>
            <a:pPr algn="l">
              <a:spcAft>
                <a:spcPts val="0"/>
              </a:spcAft>
            </a:pPr>
            <a:r>
              <a:rPr sz="800" b="0" i="0">
                <a:solidFill>
                  <a:srgbClr val="404040"/>
                </a:solidFill>
                <a:latin typeface="Arial"/>
              </a:rPr>
              <a:t>Crowd-in capital with targeted investment strategies</a:t>
            </a:r>
          </a:p>
        </p:txBody>
      </p:sp>
      <p:sp>
        <p:nvSpPr>
          <p:cNvPr id="164" name="Oval 163"/>
          <p:cNvSpPr/>
          <p:nvPr/>
        </p:nvSpPr>
        <p:spPr>
          <a:xfrm>
            <a:off x="11265407" y="5413248"/>
            <a:ext cx="82296" cy="82296"/>
          </a:xfrm>
          <a:prstGeom prst="ellipse">
            <a:avLst/>
          </a:prstGeom>
          <a:solidFill>
            <a:srgbClr val="1F497D"/>
          </a:solidFill>
          <a:ln w="9525">
            <a:solidFill>
              <a:srgbClr val="1F497D"/>
            </a:solidFill>
          </a:ln>
        </p:spPr>
        <p:txBody>
          <a:bodyPr rtlCol="0" anchor="ctr"/>
          <a:lstStyle/>
          <a:p>
            <a:pPr algn="ctr"/>
          </a:p>
        </p:txBody>
      </p:sp>
      <p:sp>
        <p:nvSpPr>
          <p:cNvPr id="165" name="Oval 164"/>
          <p:cNvSpPr/>
          <p:nvPr/>
        </p:nvSpPr>
        <p:spPr>
          <a:xfrm>
            <a:off x="11379707" y="5413248"/>
            <a:ext cx="82296" cy="82296"/>
          </a:xfrm>
          <a:prstGeom prst="ellipse">
            <a:avLst/>
          </a:prstGeom>
          <a:solidFill>
            <a:srgbClr val="FFFFFF"/>
          </a:solidFill>
          <a:ln w="9525">
            <a:solidFill>
              <a:srgbClr val="1F497D"/>
            </a:solidFill>
          </a:ln>
        </p:spPr>
        <p:txBody>
          <a:bodyPr rtlCol="0" anchor="ctr"/>
          <a:lstStyle/>
          <a:p>
            <a:pPr algn="ctr"/>
          </a:p>
        </p:txBody>
      </p:sp>
      <p:sp>
        <p:nvSpPr>
          <p:cNvPr id="166" name="Oval 165"/>
          <p:cNvSpPr/>
          <p:nvPr/>
        </p:nvSpPr>
        <p:spPr>
          <a:xfrm>
            <a:off x="11494007" y="5413248"/>
            <a:ext cx="82296" cy="82296"/>
          </a:xfrm>
          <a:prstGeom prst="ellipse">
            <a:avLst/>
          </a:prstGeom>
          <a:solidFill>
            <a:srgbClr val="FFFFFF"/>
          </a:solidFill>
          <a:ln w="9525">
            <a:solidFill>
              <a:srgbClr val="1F497D"/>
            </a:solidFill>
          </a:ln>
        </p:spPr>
        <p:txBody>
          <a:bodyPr rtlCol="0" anchor="ctr"/>
          <a:lstStyle/>
          <a:p>
            <a:pPr algn="ctr"/>
          </a:p>
        </p:txBody>
      </p:sp>
      <p:sp>
        <p:nvSpPr>
          <p:cNvPr id="167" name="TextBox 166"/>
          <p:cNvSpPr txBox="1"/>
          <p:nvPr/>
        </p:nvSpPr>
        <p:spPr>
          <a:xfrm>
            <a:off x="10049255" y="5367528"/>
            <a:ext cx="365760" cy="164592"/>
          </a:xfrm>
          <a:prstGeom prst="rect">
            <a:avLst/>
          </a:prstGeom>
          <a:noFill/>
        </p:spPr>
        <p:txBody>
          <a:bodyPr wrap="square" anchor="t" lIns="9144" rIns="9144" tIns="5486" bIns="5486">
            <a:spAutoFit/>
          </a:bodyPr>
          <a:lstStyle/>
          <a:p>
            <a:pPr algn="l">
              <a:spcAft>
                <a:spcPts val="0"/>
              </a:spcAft>
            </a:pPr>
            <a:r>
              <a:rPr sz="700" b="0" i="0">
                <a:solidFill>
                  <a:srgbClr val="7F7F7F"/>
                </a:solidFill>
                <a:latin typeface="Arial"/>
              </a:rPr>
              <a:t>3g</a:t>
            </a:r>
          </a:p>
        </p:txBody>
      </p:sp>
      <p:sp>
        <p:nvSpPr>
          <p:cNvPr id="168" name="TextBox 167"/>
          <p:cNvSpPr txBox="1"/>
          <p:nvPr/>
        </p:nvSpPr>
        <p:spPr>
          <a:xfrm>
            <a:off x="384048" y="5971032"/>
            <a:ext cx="868680" cy="228600"/>
          </a:xfrm>
          <a:prstGeom prst="rect">
            <a:avLst/>
          </a:prstGeom>
          <a:noFill/>
        </p:spPr>
        <p:txBody>
          <a:bodyPr wrap="square" anchor="t" lIns="36576" rIns="36576" tIns="21945" bIns="21945">
            <a:spAutoFit/>
          </a:bodyPr>
          <a:lstStyle/>
          <a:p>
            <a:pPr algn="l">
              <a:spcAft>
                <a:spcPts val="0"/>
              </a:spcAft>
            </a:pPr>
            <a:r>
              <a:rPr sz="800" b="1" i="0">
                <a:solidFill>
                  <a:srgbClr val="1F497D"/>
                </a:solidFill>
                <a:latin typeface="Arial"/>
              </a:rPr>
              <a:t>Our verdict:</a:t>
            </a:r>
          </a:p>
        </p:txBody>
      </p:sp>
      <p:sp>
        <p:nvSpPr>
          <p:cNvPr id="169" name="Rectangle 168"/>
          <p:cNvSpPr/>
          <p:nvPr/>
        </p:nvSpPr>
        <p:spPr>
          <a:xfrm>
            <a:off x="1252728" y="6016752"/>
            <a:ext cx="82296" cy="146304"/>
          </a:xfrm>
          <a:prstGeom prst="rect">
            <a:avLst/>
          </a:prstGeom>
          <a:solidFill>
            <a:srgbClr val="2E9E44"/>
          </a:solidFill>
          <a:ln>
            <a:noFill/>
          </a:ln>
        </p:spPr>
        <p:txBody>
          <a:bodyPr rtlCol="0" anchor="ctr"/>
          <a:lstStyle/>
          <a:p>
            <a:pPr algn="ctr"/>
          </a:p>
        </p:txBody>
      </p:sp>
      <p:sp>
        <p:nvSpPr>
          <p:cNvPr id="170" name="TextBox 169"/>
          <p:cNvSpPr txBox="1"/>
          <p:nvPr/>
        </p:nvSpPr>
        <p:spPr>
          <a:xfrm>
            <a:off x="1371600" y="5971032"/>
            <a:ext cx="1188720" cy="228600"/>
          </a:xfrm>
          <a:prstGeom prst="rect">
            <a:avLst/>
          </a:prstGeom>
          <a:noFill/>
        </p:spPr>
        <p:txBody>
          <a:bodyPr wrap="square" anchor="t" lIns="36576" rIns="36576" tIns="21945" bIns="21945">
            <a:spAutoFit/>
          </a:bodyPr>
          <a:lstStyle/>
          <a:p>
            <a:pPr algn="l">
              <a:spcAft>
                <a:spcPts val="0"/>
              </a:spcAft>
            </a:pPr>
            <a:r>
              <a:rPr sz="800" b="0" i="0">
                <a:solidFill>
                  <a:srgbClr val="404040"/>
                </a:solidFill>
                <a:latin typeface="Arial"/>
              </a:rPr>
              <a:t>Supported</a:t>
            </a:r>
          </a:p>
        </p:txBody>
      </p:sp>
      <p:sp>
        <p:nvSpPr>
          <p:cNvPr id="171" name="Rectangle 170"/>
          <p:cNvSpPr/>
          <p:nvPr/>
        </p:nvSpPr>
        <p:spPr>
          <a:xfrm>
            <a:off x="2487168" y="6016752"/>
            <a:ext cx="82296" cy="146304"/>
          </a:xfrm>
          <a:prstGeom prst="rect">
            <a:avLst/>
          </a:prstGeom>
          <a:solidFill>
            <a:srgbClr val="F2A900"/>
          </a:solidFill>
          <a:ln>
            <a:noFill/>
          </a:ln>
        </p:spPr>
        <p:txBody>
          <a:bodyPr rtlCol="0" anchor="ctr"/>
          <a:lstStyle/>
          <a:p>
            <a:pPr algn="ctr"/>
          </a:p>
        </p:txBody>
      </p:sp>
      <p:sp>
        <p:nvSpPr>
          <p:cNvPr id="172" name="TextBox 171"/>
          <p:cNvSpPr txBox="1"/>
          <p:nvPr/>
        </p:nvSpPr>
        <p:spPr>
          <a:xfrm>
            <a:off x="2606039" y="5971032"/>
            <a:ext cx="1188720" cy="228600"/>
          </a:xfrm>
          <a:prstGeom prst="rect">
            <a:avLst/>
          </a:prstGeom>
          <a:noFill/>
        </p:spPr>
        <p:txBody>
          <a:bodyPr wrap="square" anchor="t" lIns="36576" rIns="36576" tIns="21945" bIns="21945">
            <a:spAutoFit/>
          </a:bodyPr>
          <a:lstStyle/>
          <a:p>
            <a:pPr algn="l">
              <a:spcAft>
                <a:spcPts val="0"/>
              </a:spcAft>
            </a:pPr>
            <a:r>
              <a:rPr sz="800" b="0" i="0">
                <a:solidFill>
                  <a:srgbClr val="404040"/>
                </a:solidFill>
                <a:latin typeface="Arial"/>
              </a:rPr>
              <a:t>Partly supported</a:t>
            </a:r>
          </a:p>
        </p:txBody>
      </p:sp>
      <p:sp>
        <p:nvSpPr>
          <p:cNvPr id="173" name="Rectangle 172"/>
          <p:cNvSpPr/>
          <p:nvPr/>
        </p:nvSpPr>
        <p:spPr>
          <a:xfrm>
            <a:off x="3721608" y="6016752"/>
            <a:ext cx="82296" cy="146304"/>
          </a:xfrm>
          <a:prstGeom prst="rect">
            <a:avLst/>
          </a:prstGeom>
          <a:solidFill>
            <a:srgbClr val="D9262B"/>
          </a:solidFill>
          <a:ln>
            <a:noFill/>
          </a:ln>
        </p:spPr>
        <p:txBody>
          <a:bodyPr rtlCol="0" anchor="ctr"/>
          <a:lstStyle/>
          <a:p>
            <a:pPr algn="ctr"/>
          </a:p>
        </p:txBody>
      </p:sp>
      <p:sp>
        <p:nvSpPr>
          <p:cNvPr id="174" name="TextBox 173"/>
          <p:cNvSpPr txBox="1"/>
          <p:nvPr/>
        </p:nvSpPr>
        <p:spPr>
          <a:xfrm>
            <a:off x="3840480" y="5971032"/>
            <a:ext cx="1188720" cy="228600"/>
          </a:xfrm>
          <a:prstGeom prst="rect">
            <a:avLst/>
          </a:prstGeom>
          <a:noFill/>
        </p:spPr>
        <p:txBody>
          <a:bodyPr wrap="square" anchor="t" lIns="36576" rIns="36576" tIns="21945" bIns="21945">
            <a:spAutoFit/>
          </a:bodyPr>
          <a:lstStyle/>
          <a:p>
            <a:pPr algn="l">
              <a:spcAft>
                <a:spcPts val="0"/>
              </a:spcAft>
            </a:pPr>
            <a:r>
              <a:rPr sz="800" b="0" i="0">
                <a:solidFill>
                  <a:srgbClr val="404040"/>
                </a:solidFill>
                <a:latin typeface="Arial"/>
              </a:rPr>
              <a:t>Contradicted</a:t>
            </a:r>
          </a:p>
        </p:txBody>
      </p:sp>
      <p:sp>
        <p:nvSpPr>
          <p:cNvPr id="175" name="Rectangle 174"/>
          <p:cNvSpPr/>
          <p:nvPr/>
        </p:nvSpPr>
        <p:spPr>
          <a:xfrm>
            <a:off x="4956048" y="6016752"/>
            <a:ext cx="82296" cy="146304"/>
          </a:xfrm>
          <a:prstGeom prst="rect">
            <a:avLst/>
          </a:prstGeom>
          <a:solidFill>
            <a:srgbClr val="FFFFFF"/>
          </a:solidFill>
          <a:ln w="9525">
            <a:solidFill>
              <a:srgbClr val="7F7F7F"/>
            </a:solidFill>
          </a:ln>
        </p:spPr>
        <p:txBody>
          <a:bodyPr rtlCol="0" anchor="ctr"/>
          <a:lstStyle/>
          <a:p>
            <a:pPr algn="ctr"/>
          </a:p>
        </p:txBody>
      </p:sp>
      <p:sp>
        <p:nvSpPr>
          <p:cNvPr id="176" name="TextBox 175"/>
          <p:cNvSpPr txBox="1"/>
          <p:nvPr/>
        </p:nvSpPr>
        <p:spPr>
          <a:xfrm>
            <a:off x="5074920" y="5971032"/>
            <a:ext cx="1188720" cy="228600"/>
          </a:xfrm>
          <a:prstGeom prst="rect">
            <a:avLst/>
          </a:prstGeom>
          <a:noFill/>
        </p:spPr>
        <p:txBody>
          <a:bodyPr wrap="square" anchor="t" lIns="36576" rIns="36576" tIns="21945" bIns="21945">
            <a:spAutoFit/>
          </a:bodyPr>
          <a:lstStyle/>
          <a:p>
            <a:pPr algn="l">
              <a:spcAft>
                <a:spcPts val="0"/>
              </a:spcAft>
            </a:pPr>
            <a:r>
              <a:rPr sz="800" b="0" i="0">
                <a:solidFill>
                  <a:srgbClr val="404040"/>
                </a:solidFill>
                <a:latin typeface="Arial"/>
              </a:rPr>
              <a:t>Not yet tested</a:t>
            </a:r>
          </a:p>
        </p:txBody>
      </p:sp>
      <p:sp>
        <p:nvSpPr>
          <p:cNvPr id="177" name="TextBox 176"/>
          <p:cNvSpPr txBox="1"/>
          <p:nvPr/>
        </p:nvSpPr>
        <p:spPr>
          <a:xfrm>
            <a:off x="6373368" y="5971032"/>
            <a:ext cx="1280160" cy="228600"/>
          </a:xfrm>
          <a:prstGeom prst="rect">
            <a:avLst/>
          </a:prstGeom>
          <a:noFill/>
        </p:spPr>
        <p:txBody>
          <a:bodyPr wrap="square" anchor="t" lIns="36576" rIns="36576" tIns="21945" bIns="21945">
            <a:spAutoFit/>
          </a:bodyPr>
          <a:lstStyle/>
          <a:p>
            <a:pPr algn="l">
              <a:spcAft>
                <a:spcPts val="0"/>
              </a:spcAft>
            </a:pPr>
            <a:r>
              <a:rPr sz="800" b="1" i="0">
                <a:solidFill>
                  <a:srgbClr val="1F497D"/>
                </a:solidFill>
                <a:latin typeface="Arial"/>
              </a:rPr>
              <a:t>Evidence strength:</a:t>
            </a:r>
          </a:p>
        </p:txBody>
      </p:sp>
      <p:sp>
        <p:nvSpPr>
          <p:cNvPr id="178" name="Oval 177"/>
          <p:cNvSpPr/>
          <p:nvPr/>
        </p:nvSpPr>
        <p:spPr>
          <a:xfrm>
            <a:off x="7607808" y="6035040"/>
            <a:ext cx="82296" cy="82296"/>
          </a:xfrm>
          <a:prstGeom prst="ellipse">
            <a:avLst/>
          </a:prstGeom>
          <a:solidFill>
            <a:srgbClr val="1F497D"/>
          </a:solidFill>
          <a:ln w="9525">
            <a:solidFill>
              <a:srgbClr val="1F497D"/>
            </a:solidFill>
          </a:ln>
        </p:spPr>
        <p:txBody>
          <a:bodyPr rtlCol="0" anchor="ctr"/>
          <a:lstStyle/>
          <a:p>
            <a:pPr algn="ctr"/>
          </a:p>
        </p:txBody>
      </p:sp>
      <p:sp>
        <p:nvSpPr>
          <p:cNvPr id="179" name="Oval 178"/>
          <p:cNvSpPr/>
          <p:nvPr/>
        </p:nvSpPr>
        <p:spPr>
          <a:xfrm>
            <a:off x="7722108" y="6035040"/>
            <a:ext cx="82296" cy="82296"/>
          </a:xfrm>
          <a:prstGeom prst="ellipse">
            <a:avLst/>
          </a:prstGeom>
          <a:solidFill>
            <a:srgbClr val="1F497D"/>
          </a:solidFill>
          <a:ln w="9525">
            <a:solidFill>
              <a:srgbClr val="1F497D"/>
            </a:solidFill>
          </a:ln>
        </p:spPr>
        <p:txBody>
          <a:bodyPr rtlCol="0" anchor="ctr"/>
          <a:lstStyle/>
          <a:p>
            <a:pPr algn="ctr"/>
          </a:p>
        </p:txBody>
      </p:sp>
      <p:sp>
        <p:nvSpPr>
          <p:cNvPr id="180" name="Oval 179"/>
          <p:cNvSpPr/>
          <p:nvPr/>
        </p:nvSpPr>
        <p:spPr>
          <a:xfrm>
            <a:off x="7836408" y="6035040"/>
            <a:ext cx="82296" cy="82296"/>
          </a:xfrm>
          <a:prstGeom prst="ellipse">
            <a:avLst/>
          </a:prstGeom>
          <a:solidFill>
            <a:srgbClr val="1F497D"/>
          </a:solidFill>
          <a:ln w="9525">
            <a:solidFill>
              <a:srgbClr val="1F497D"/>
            </a:solidFill>
          </a:ln>
        </p:spPr>
        <p:txBody>
          <a:bodyPr rtlCol="0" anchor="ctr"/>
          <a:lstStyle/>
          <a:p>
            <a:pPr algn="ctr"/>
          </a:p>
        </p:txBody>
      </p:sp>
      <p:sp>
        <p:nvSpPr>
          <p:cNvPr id="181" name="TextBox 180"/>
          <p:cNvSpPr txBox="1"/>
          <p:nvPr/>
        </p:nvSpPr>
        <p:spPr>
          <a:xfrm>
            <a:off x="7936992" y="5971032"/>
            <a:ext cx="731520" cy="228600"/>
          </a:xfrm>
          <a:prstGeom prst="rect">
            <a:avLst/>
          </a:prstGeom>
          <a:noFill/>
        </p:spPr>
        <p:txBody>
          <a:bodyPr wrap="square" anchor="t" lIns="36576" rIns="36576" tIns="21945" bIns="21945">
            <a:spAutoFit/>
          </a:bodyPr>
          <a:lstStyle/>
          <a:p>
            <a:pPr algn="l">
              <a:spcAft>
                <a:spcPts val="0"/>
              </a:spcAft>
            </a:pPr>
            <a:r>
              <a:rPr sz="800" b="0" i="0">
                <a:solidFill>
                  <a:srgbClr val="404040"/>
                </a:solidFill>
                <a:latin typeface="Arial"/>
              </a:rPr>
              <a:t>Strong</a:t>
            </a:r>
          </a:p>
        </p:txBody>
      </p:sp>
      <p:sp>
        <p:nvSpPr>
          <p:cNvPr id="182" name="Oval 181"/>
          <p:cNvSpPr/>
          <p:nvPr/>
        </p:nvSpPr>
        <p:spPr>
          <a:xfrm>
            <a:off x="8613648" y="6035040"/>
            <a:ext cx="82296" cy="82296"/>
          </a:xfrm>
          <a:prstGeom prst="ellipse">
            <a:avLst/>
          </a:prstGeom>
          <a:solidFill>
            <a:srgbClr val="1F497D"/>
          </a:solidFill>
          <a:ln w="9525">
            <a:solidFill>
              <a:srgbClr val="1F497D"/>
            </a:solidFill>
          </a:ln>
        </p:spPr>
        <p:txBody>
          <a:bodyPr rtlCol="0" anchor="ctr"/>
          <a:lstStyle/>
          <a:p>
            <a:pPr algn="ctr"/>
          </a:p>
        </p:txBody>
      </p:sp>
      <p:sp>
        <p:nvSpPr>
          <p:cNvPr id="183" name="Oval 182"/>
          <p:cNvSpPr/>
          <p:nvPr/>
        </p:nvSpPr>
        <p:spPr>
          <a:xfrm>
            <a:off x="8727948" y="6035040"/>
            <a:ext cx="82296" cy="82296"/>
          </a:xfrm>
          <a:prstGeom prst="ellipse">
            <a:avLst/>
          </a:prstGeom>
          <a:solidFill>
            <a:srgbClr val="1F497D"/>
          </a:solidFill>
          <a:ln w="9525">
            <a:solidFill>
              <a:srgbClr val="1F497D"/>
            </a:solidFill>
          </a:ln>
        </p:spPr>
        <p:txBody>
          <a:bodyPr rtlCol="0" anchor="ctr"/>
          <a:lstStyle/>
          <a:p>
            <a:pPr algn="ctr"/>
          </a:p>
        </p:txBody>
      </p:sp>
      <p:sp>
        <p:nvSpPr>
          <p:cNvPr id="184" name="Oval 183"/>
          <p:cNvSpPr/>
          <p:nvPr/>
        </p:nvSpPr>
        <p:spPr>
          <a:xfrm>
            <a:off x="8842248" y="6035040"/>
            <a:ext cx="82296" cy="82296"/>
          </a:xfrm>
          <a:prstGeom prst="ellipse">
            <a:avLst/>
          </a:prstGeom>
          <a:solidFill>
            <a:srgbClr val="FFFFFF"/>
          </a:solidFill>
          <a:ln w="9525">
            <a:solidFill>
              <a:srgbClr val="1F497D"/>
            </a:solidFill>
          </a:ln>
        </p:spPr>
        <p:txBody>
          <a:bodyPr rtlCol="0" anchor="ctr"/>
          <a:lstStyle/>
          <a:p>
            <a:pPr algn="ctr"/>
          </a:p>
        </p:txBody>
      </p:sp>
      <p:sp>
        <p:nvSpPr>
          <p:cNvPr id="185" name="TextBox 184"/>
          <p:cNvSpPr txBox="1"/>
          <p:nvPr/>
        </p:nvSpPr>
        <p:spPr>
          <a:xfrm>
            <a:off x="8942832" y="5971032"/>
            <a:ext cx="731520" cy="228600"/>
          </a:xfrm>
          <a:prstGeom prst="rect">
            <a:avLst/>
          </a:prstGeom>
          <a:noFill/>
        </p:spPr>
        <p:txBody>
          <a:bodyPr wrap="square" anchor="t" lIns="36576" rIns="36576" tIns="21945" bIns="21945">
            <a:spAutoFit/>
          </a:bodyPr>
          <a:lstStyle/>
          <a:p>
            <a:pPr algn="l">
              <a:spcAft>
                <a:spcPts val="0"/>
              </a:spcAft>
            </a:pPr>
            <a:r>
              <a:rPr sz="800" b="0" i="0">
                <a:solidFill>
                  <a:srgbClr val="404040"/>
                </a:solidFill>
                <a:latin typeface="Arial"/>
              </a:rPr>
              <a:t>Moderate</a:t>
            </a:r>
          </a:p>
        </p:txBody>
      </p:sp>
      <p:sp>
        <p:nvSpPr>
          <p:cNvPr id="186" name="Oval 185"/>
          <p:cNvSpPr/>
          <p:nvPr/>
        </p:nvSpPr>
        <p:spPr>
          <a:xfrm>
            <a:off x="9619488" y="6035040"/>
            <a:ext cx="82296" cy="82296"/>
          </a:xfrm>
          <a:prstGeom prst="ellipse">
            <a:avLst/>
          </a:prstGeom>
          <a:solidFill>
            <a:srgbClr val="1F497D"/>
          </a:solidFill>
          <a:ln w="9525">
            <a:solidFill>
              <a:srgbClr val="1F497D"/>
            </a:solidFill>
          </a:ln>
        </p:spPr>
        <p:txBody>
          <a:bodyPr rtlCol="0" anchor="ctr"/>
          <a:lstStyle/>
          <a:p>
            <a:pPr algn="ctr"/>
          </a:p>
        </p:txBody>
      </p:sp>
      <p:sp>
        <p:nvSpPr>
          <p:cNvPr id="187" name="Oval 186"/>
          <p:cNvSpPr/>
          <p:nvPr/>
        </p:nvSpPr>
        <p:spPr>
          <a:xfrm>
            <a:off x="9733788" y="6035040"/>
            <a:ext cx="82296" cy="82296"/>
          </a:xfrm>
          <a:prstGeom prst="ellipse">
            <a:avLst/>
          </a:prstGeom>
          <a:solidFill>
            <a:srgbClr val="FFFFFF"/>
          </a:solidFill>
          <a:ln w="9525">
            <a:solidFill>
              <a:srgbClr val="1F497D"/>
            </a:solidFill>
          </a:ln>
        </p:spPr>
        <p:txBody>
          <a:bodyPr rtlCol="0" anchor="ctr"/>
          <a:lstStyle/>
          <a:p>
            <a:pPr algn="ctr"/>
          </a:p>
        </p:txBody>
      </p:sp>
      <p:sp>
        <p:nvSpPr>
          <p:cNvPr id="188" name="Oval 187"/>
          <p:cNvSpPr/>
          <p:nvPr/>
        </p:nvSpPr>
        <p:spPr>
          <a:xfrm>
            <a:off x="9848088" y="6035040"/>
            <a:ext cx="82296" cy="82296"/>
          </a:xfrm>
          <a:prstGeom prst="ellipse">
            <a:avLst/>
          </a:prstGeom>
          <a:solidFill>
            <a:srgbClr val="FFFFFF"/>
          </a:solidFill>
          <a:ln w="9525">
            <a:solidFill>
              <a:srgbClr val="1F497D"/>
            </a:solidFill>
          </a:ln>
        </p:spPr>
        <p:txBody>
          <a:bodyPr rtlCol="0" anchor="ctr"/>
          <a:lstStyle/>
          <a:p>
            <a:pPr algn="ctr"/>
          </a:p>
        </p:txBody>
      </p:sp>
      <p:sp>
        <p:nvSpPr>
          <p:cNvPr id="189" name="TextBox 188"/>
          <p:cNvSpPr txBox="1"/>
          <p:nvPr/>
        </p:nvSpPr>
        <p:spPr>
          <a:xfrm>
            <a:off x="9948672" y="5971032"/>
            <a:ext cx="731520" cy="228600"/>
          </a:xfrm>
          <a:prstGeom prst="rect">
            <a:avLst/>
          </a:prstGeom>
          <a:noFill/>
        </p:spPr>
        <p:txBody>
          <a:bodyPr wrap="square" anchor="t" lIns="36576" rIns="36576" tIns="21945" bIns="21945">
            <a:spAutoFit/>
          </a:bodyPr>
          <a:lstStyle/>
          <a:p>
            <a:pPr algn="l">
              <a:spcAft>
                <a:spcPts val="0"/>
              </a:spcAft>
            </a:pPr>
            <a:r>
              <a:rPr sz="800" b="0" i="0">
                <a:solidFill>
                  <a:srgbClr val="404040"/>
                </a:solidFill>
                <a:latin typeface="Arial"/>
              </a:rPr>
              <a:t>Thin</a:t>
            </a:r>
          </a:p>
        </p:txBody>
      </p:sp>
      <p:sp>
        <p:nvSpPr>
          <p:cNvPr id="190" name="Rectangle 189"/>
          <p:cNvSpPr/>
          <p:nvPr/>
        </p:nvSpPr>
        <p:spPr>
          <a:xfrm>
            <a:off x="9189720" y="1170432"/>
            <a:ext cx="2615184" cy="402336"/>
          </a:xfrm>
          <a:prstGeom prst="rect">
            <a:avLst/>
          </a:prstGeom>
          <a:solidFill>
            <a:srgbClr val="FFFFFF"/>
          </a:solidFill>
          <a:ln w="9525">
            <a:solidFill>
              <a:srgbClr val="D9262B"/>
            </a:solidFill>
          </a:ln>
        </p:spPr>
        <p:txBody>
          <a:bodyPr rtlCol="0" anchor="ctr" wrap="square" lIns="36576" rIns="36576" tIns="21945" bIns="21945"/>
          <a:lstStyle/>
          <a:p>
            <a:pPr algn="l">
              <a:spcAft>
                <a:spcPts val="0"/>
              </a:spcAft>
            </a:pPr>
            <a:r>
              <a:rPr sz="900" b="1" i="0">
                <a:solidFill>
                  <a:srgbClr val="D9262B"/>
                </a:solidFill>
                <a:latin typeface="Arial"/>
              </a:rPr>
              <a:t>Goal: </a:t>
            </a:r>
            <a:r>
              <a:rPr sz="900" b="0" i="0">
                <a:solidFill>
                  <a:srgbClr val="404040"/>
                </a:solidFill>
                <a:latin typeface="Arial"/>
              </a:rPr>
              <a:t>no modelled path reaches 2.8m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Five patterns run across every workstream and should shape the final recommendations</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CROSS-CUTTING THEMES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Demand-Side Analysis (Letsema/Skift, Jun 2026); Infrastructure Report (Jun 2026); SME &amp; Community Inclusion Plan (Sep 2026); Stakeholder Insights Report (Mar 2026); Global Benchmarking Report (Mar 2026); MIDAS Aviation, Aviation Market Assessment (Mar 2026)</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21</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84048" y="1234440"/>
            <a:ext cx="11420856" cy="841248"/>
          </a:xfrm>
          <a:prstGeom prst="rect">
            <a:avLst/>
          </a:prstGeom>
          <a:solidFill>
            <a:srgbClr val="F2F2F2"/>
          </a:solidFill>
          <a:ln>
            <a:noFill/>
          </a:ln>
        </p:spPr>
        <p:txBody>
          <a:bodyPr rtlCol="0" anchor="ctr"/>
          <a:lstStyle/>
          <a:p>
            <a:pPr algn="ctr"/>
          </a:p>
        </p:txBody>
      </p:sp>
      <p:sp>
        <p:nvSpPr>
          <p:cNvPr id="9" name="TextBox 8"/>
          <p:cNvSpPr txBox="1"/>
          <p:nvPr/>
        </p:nvSpPr>
        <p:spPr>
          <a:xfrm>
            <a:off x="502920" y="1234440"/>
            <a:ext cx="731520" cy="841248"/>
          </a:xfrm>
          <a:prstGeom prst="rect">
            <a:avLst/>
          </a:prstGeom>
          <a:noFill/>
        </p:spPr>
        <p:txBody>
          <a:bodyPr wrap="square" anchor="ctr" lIns="36576" rIns="36576" tIns="21945" bIns="21945">
            <a:spAutoFit/>
          </a:bodyPr>
          <a:lstStyle/>
          <a:p>
            <a:pPr algn="l">
              <a:spcAft>
                <a:spcPts val="0"/>
              </a:spcAft>
            </a:pPr>
            <a:r>
              <a:rPr sz="2600" b="1" i="0">
                <a:solidFill>
                  <a:srgbClr val="00AEEF"/>
                </a:solidFill>
                <a:latin typeface="Arial"/>
              </a:rPr>
              <a:t>01</a:t>
            </a:r>
          </a:p>
        </p:txBody>
      </p:sp>
      <p:sp>
        <p:nvSpPr>
          <p:cNvPr id="10" name="TextBox 9"/>
          <p:cNvSpPr txBox="1"/>
          <p:nvPr/>
        </p:nvSpPr>
        <p:spPr>
          <a:xfrm>
            <a:off x="1280160" y="1307592"/>
            <a:ext cx="3566160" cy="731520"/>
          </a:xfrm>
          <a:prstGeom prst="rect">
            <a:avLst/>
          </a:prstGeom>
          <a:noFill/>
        </p:spPr>
        <p:txBody>
          <a:bodyPr wrap="square" anchor="ctr" lIns="36576" rIns="36576" tIns="21945" bIns="21945">
            <a:spAutoFit/>
          </a:bodyPr>
          <a:lstStyle/>
          <a:p>
            <a:pPr algn="l">
              <a:spcAft>
                <a:spcPts val="0"/>
              </a:spcAft>
            </a:pPr>
            <a:r>
              <a:rPr sz="1250" b="1" i="0">
                <a:solidFill>
                  <a:srgbClr val="1F497D"/>
                </a:solidFill>
                <a:latin typeface="Arial"/>
              </a:rPr>
              <a:t>Conversion, not awareness, is the constraint</a:t>
            </a:r>
          </a:p>
        </p:txBody>
      </p:sp>
      <p:sp>
        <p:nvSpPr>
          <p:cNvPr id="11" name="TextBox 10"/>
          <p:cNvSpPr txBox="1"/>
          <p:nvPr/>
        </p:nvSpPr>
        <p:spPr>
          <a:xfrm>
            <a:off x="4937760" y="1307592"/>
            <a:ext cx="4572000" cy="731520"/>
          </a:xfrm>
          <a:prstGeom prst="rect">
            <a:avLst/>
          </a:prstGeom>
          <a:noFill/>
        </p:spPr>
        <p:txBody>
          <a:bodyPr wrap="square" anchor="ctr" lIns="36576" rIns="36576" tIns="21945" bIns="21945">
            <a:spAutoFit/>
          </a:bodyPr>
          <a:lstStyle/>
          <a:p>
            <a:pPr algn="l">
              <a:spcAft>
                <a:spcPts val="0"/>
              </a:spcAft>
            </a:pPr>
            <a:r>
              <a:rPr sz="1050" b="0" i="0">
                <a:solidFill>
                  <a:srgbClr val="404040"/>
                </a:solidFill>
                <a:latin typeface="Arial"/>
              </a:rPr>
              <a:t>Growth markets travel indirectly already; communities sit beside demand; rural product is invisible on OTAs.</a:t>
            </a:r>
          </a:p>
        </p:txBody>
      </p:sp>
      <p:sp>
        <p:nvSpPr>
          <p:cNvPr id="12" name="TextBox 11"/>
          <p:cNvSpPr txBox="1"/>
          <p:nvPr/>
        </p:nvSpPr>
        <p:spPr>
          <a:xfrm>
            <a:off x="9601200" y="1307592"/>
            <a:ext cx="2148840" cy="731520"/>
          </a:xfrm>
          <a:prstGeom prst="rect">
            <a:avLst/>
          </a:prstGeom>
          <a:noFill/>
        </p:spPr>
        <p:txBody>
          <a:bodyPr wrap="square" anchor="ctr" lIns="36576" rIns="36576" tIns="21945" bIns="21945">
            <a:spAutoFit/>
          </a:bodyPr>
          <a:lstStyle/>
          <a:p>
            <a:pPr algn="l">
              <a:spcAft>
                <a:spcPts val="0"/>
              </a:spcAft>
            </a:pPr>
            <a:r>
              <a:rPr sz="850" b="0" i="1">
                <a:solidFill>
                  <a:srgbClr val="7F7F7F"/>
                </a:solidFill>
                <a:latin typeface="Arial"/>
              </a:rPr>
              <a:t>Evidence: Demand-Side; SME plan; Infrastructure</a:t>
            </a:r>
          </a:p>
        </p:txBody>
      </p:sp>
      <p:sp>
        <p:nvSpPr>
          <p:cNvPr id="13" name="Rectangle 12"/>
          <p:cNvSpPr/>
          <p:nvPr/>
        </p:nvSpPr>
        <p:spPr>
          <a:xfrm>
            <a:off x="384048" y="2148840"/>
            <a:ext cx="11420856" cy="841248"/>
          </a:xfrm>
          <a:prstGeom prst="rect">
            <a:avLst/>
          </a:prstGeom>
          <a:solidFill>
            <a:srgbClr val="F2F2F2"/>
          </a:solidFill>
          <a:ln>
            <a:noFill/>
          </a:ln>
        </p:spPr>
        <p:txBody>
          <a:bodyPr rtlCol="0" anchor="ctr"/>
          <a:lstStyle/>
          <a:p>
            <a:pPr algn="ctr"/>
          </a:p>
        </p:txBody>
      </p:sp>
      <p:sp>
        <p:nvSpPr>
          <p:cNvPr id="14" name="TextBox 13"/>
          <p:cNvSpPr txBox="1"/>
          <p:nvPr/>
        </p:nvSpPr>
        <p:spPr>
          <a:xfrm>
            <a:off x="502920" y="2148840"/>
            <a:ext cx="731520" cy="841248"/>
          </a:xfrm>
          <a:prstGeom prst="rect">
            <a:avLst/>
          </a:prstGeom>
          <a:noFill/>
        </p:spPr>
        <p:txBody>
          <a:bodyPr wrap="square" anchor="ctr" lIns="36576" rIns="36576" tIns="21945" bIns="21945">
            <a:spAutoFit/>
          </a:bodyPr>
          <a:lstStyle/>
          <a:p>
            <a:pPr algn="l">
              <a:spcAft>
                <a:spcPts val="0"/>
              </a:spcAft>
            </a:pPr>
            <a:r>
              <a:rPr sz="2600" b="1" i="0">
                <a:solidFill>
                  <a:srgbClr val="00AEEF"/>
                </a:solidFill>
                <a:latin typeface="Arial"/>
              </a:rPr>
              <a:t>02</a:t>
            </a:r>
          </a:p>
        </p:txBody>
      </p:sp>
      <p:sp>
        <p:nvSpPr>
          <p:cNvPr id="15" name="TextBox 14"/>
          <p:cNvSpPr txBox="1"/>
          <p:nvPr/>
        </p:nvSpPr>
        <p:spPr>
          <a:xfrm>
            <a:off x="1280160" y="2221992"/>
            <a:ext cx="3566160" cy="731520"/>
          </a:xfrm>
          <a:prstGeom prst="rect">
            <a:avLst/>
          </a:prstGeom>
          <a:noFill/>
        </p:spPr>
        <p:txBody>
          <a:bodyPr wrap="square" anchor="ctr" lIns="36576" rIns="36576" tIns="21945" bIns="21945">
            <a:spAutoFit/>
          </a:bodyPr>
          <a:lstStyle/>
          <a:p>
            <a:pPr algn="l">
              <a:spcAft>
                <a:spcPts val="0"/>
              </a:spcAft>
            </a:pPr>
            <a:r>
              <a:rPr sz="1250" b="1" i="0">
                <a:solidFill>
                  <a:srgbClr val="1F497D"/>
                </a:solidFill>
                <a:latin typeface="Arial"/>
              </a:rPr>
              <a:t>Cape Town absorbs the growth</a:t>
            </a:r>
          </a:p>
        </p:txBody>
      </p:sp>
      <p:sp>
        <p:nvSpPr>
          <p:cNvPr id="16" name="TextBox 15"/>
          <p:cNvSpPr txBox="1"/>
          <p:nvPr/>
        </p:nvSpPr>
        <p:spPr>
          <a:xfrm>
            <a:off x="4937760" y="2221992"/>
            <a:ext cx="4572000" cy="731520"/>
          </a:xfrm>
          <a:prstGeom prst="rect">
            <a:avLst/>
          </a:prstGeom>
          <a:noFill/>
        </p:spPr>
        <p:txBody>
          <a:bodyPr wrap="square" anchor="ctr" lIns="36576" rIns="36576" tIns="21945" bIns="21945">
            <a:spAutoFit/>
          </a:bodyPr>
          <a:lstStyle/>
          <a:p>
            <a:pPr algn="l">
              <a:spcAft>
                <a:spcPts val="0"/>
              </a:spcAft>
            </a:pPr>
            <a:r>
              <a:rPr sz="1050" b="0" i="0">
                <a:solidFill>
                  <a:srgbClr val="404040"/>
                </a:solidFill>
                <a:latin typeface="Arial"/>
              </a:rPr>
              <a:t>Readiness, accessibility and bookability fall with distance; the N2 is a single spine; spend concentrates in the Metro.</a:t>
            </a:r>
          </a:p>
        </p:txBody>
      </p:sp>
      <p:sp>
        <p:nvSpPr>
          <p:cNvPr id="17" name="TextBox 16"/>
          <p:cNvSpPr txBox="1"/>
          <p:nvPr/>
        </p:nvSpPr>
        <p:spPr>
          <a:xfrm>
            <a:off x="9601200" y="2221992"/>
            <a:ext cx="2148840" cy="731520"/>
          </a:xfrm>
          <a:prstGeom prst="rect">
            <a:avLst/>
          </a:prstGeom>
          <a:noFill/>
        </p:spPr>
        <p:txBody>
          <a:bodyPr wrap="square" anchor="ctr" lIns="36576" rIns="36576" tIns="21945" bIns="21945">
            <a:spAutoFit/>
          </a:bodyPr>
          <a:lstStyle/>
          <a:p>
            <a:pPr algn="l">
              <a:spcAft>
                <a:spcPts val="0"/>
              </a:spcAft>
            </a:pPr>
            <a:r>
              <a:rPr sz="850" b="0" i="1">
                <a:solidFill>
                  <a:srgbClr val="7F7F7F"/>
                </a:solidFill>
                <a:latin typeface="Arial"/>
              </a:rPr>
              <a:t>Evidence: Infrastructure; factbases; Stakeholders</a:t>
            </a:r>
          </a:p>
        </p:txBody>
      </p:sp>
      <p:sp>
        <p:nvSpPr>
          <p:cNvPr id="18" name="Rectangle 17"/>
          <p:cNvSpPr/>
          <p:nvPr/>
        </p:nvSpPr>
        <p:spPr>
          <a:xfrm>
            <a:off x="384048" y="3063240"/>
            <a:ext cx="11420856" cy="841248"/>
          </a:xfrm>
          <a:prstGeom prst="rect">
            <a:avLst/>
          </a:prstGeom>
          <a:solidFill>
            <a:srgbClr val="F2F2F2"/>
          </a:solidFill>
          <a:ln>
            <a:noFill/>
          </a:ln>
        </p:spPr>
        <p:txBody>
          <a:bodyPr rtlCol="0" anchor="ctr"/>
          <a:lstStyle/>
          <a:p>
            <a:pPr algn="ctr"/>
          </a:p>
        </p:txBody>
      </p:sp>
      <p:sp>
        <p:nvSpPr>
          <p:cNvPr id="19" name="TextBox 18"/>
          <p:cNvSpPr txBox="1"/>
          <p:nvPr/>
        </p:nvSpPr>
        <p:spPr>
          <a:xfrm>
            <a:off x="502920" y="3063240"/>
            <a:ext cx="731520" cy="841248"/>
          </a:xfrm>
          <a:prstGeom prst="rect">
            <a:avLst/>
          </a:prstGeom>
          <a:noFill/>
        </p:spPr>
        <p:txBody>
          <a:bodyPr wrap="square" anchor="ctr" lIns="36576" rIns="36576" tIns="21945" bIns="21945">
            <a:spAutoFit/>
          </a:bodyPr>
          <a:lstStyle/>
          <a:p>
            <a:pPr algn="l">
              <a:spcAft>
                <a:spcPts val="0"/>
              </a:spcAft>
            </a:pPr>
            <a:r>
              <a:rPr sz="2600" b="1" i="0">
                <a:solidFill>
                  <a:srgbClr val="00AEEF"/>
                </a:solidFill>
                <a:latin typeface="Arial"/>
              </a:rPr>
              <a:t>03</a:t>
            </a:r>
          </a:p>
        </p:txBody>
      </p:sp>
      <p:sp>
        <p:nvSpPr>
          <p:cNvPr id="20" name="TextBox 19"/>
          <p:cNvSpPr txBox="1"/>
          <p:nvPr/>
        </p:nvSpPr>
        <p:spPr>
          <a:xfrm>
            <a:off x="1280160" y="3136392"/>
            <a:ext cx="3566160" cy="731520"/>
          </a:xfrm>
          <a:prstGeom prst="rect">
            <a:avLst/>
          </a:prstGeom>
          <a:noFill/>
        </p:spPr>
        <p:txBody>
          <a:bodyPr wrap="square" anchor="ctr" lIns="36576" rIns="36576" tIns="21945" bIns="21945">
            <a:spAutoFit/>
          </a:bodyPr>
          <a:lstStyle/>
          <a:p>
            <a:pPr algn="l">
              <a:spcAft>
                <a:spcPts val="0"/>
              </a:spcAft>
            </a:pPr>
            <a:r>
              <a:rPr sz="1250" b="1" i="0">
                <a:solidFill>
                  <a:srgbClr val="1F497D"/>
                </a:solidFill>
                <a:latin typeface="Arial"/>
              </a:rPr>
              <a:t>Seasonality is the cheapest capacity</a:t>
            </a:r>
          </a:p>
        </p:txBody>
      </p:sp>
      <p:sp>
        <p:nvSpPr>
          <p:cNvPr id="21" name="TextBox 20"/>
          <p:cNvSpPr txBox="1"/>
          <p:nvPr/>
        </p:nvSpPr>
        <p:spPr>
          <a:xfrm>
            <a:off x="4937760" y="3136392"/>
            <a:ext cx="4572000" cy="731520"/>
          </a:xfrm>
          <a:prstGeom prst="rect">
            <a:avLst/>
          </a:prstGeom>
          <a:noFill/>
        </p:spPr>
        <p:txBody>
          <a:bodyPr wrap="square" anchor="ctr" lIns="36576" rIns="36576" tIns="21945" bIns="21945">
            <a:spAutoFit/>
          </a:bodyPr>
          <a:lstStyle/>
          <a:p>
            <a:pPr algn="l">
              <a:spcAft>
                <a:spcPts val="0"/>
              </a:spcAft>
            </a:pPr>
            <a:r>
              <a:rPr sz="1050" b="0" i="0">
                <a:solidFill>
                  <a:srgbClr val="404040"/>
                </a:solidFill>
                <a:latin typeface="Arial"/>
              </a:rPr>
              <a:t>Airlines and venues have green-season space; MICE peaks May-Nov; events outside the Metro are thin.</a:t>
            </a:r>
          </a:p>
        </p:txBody>
      </p:sp>
      <p:sp>
        <p:nvSpPr>
          <p:cNvPr id="22" name="TextBox 21"/>
          <p:cNvSpPr txBox="1"/>
          <p:nvPr/>
        </p:nvSpPr>
        <p:spPr>
          <a:xfrm>
            <a:off x="9601200" y="3136392"/>
            <a:ext cx="2148840" cy="731520"/>
          </a:xfrm>
          <a:prstGeom prst="rect">
            <a:avLst/>
          </a:prstGeom>
          <a:noFill/>
        </p:spPr>
        <p:txBody>
          <a:bodyPr wrap="square" anchor="ctr" lIns="36576" rIns="36576" tIns="21945" bIns="21945">
            <a:spAutoFit/>
          </a:bodyPr>
          <a:lstStyle/>
          <a:p>
            <a:pPr algn="l">
              <a:spcAft>
                <a:spcPts val="0"/>
              </a:spcAft>
            </a:pPr>
            <a:r>
              <a:rPr sz="850" b="0" i="1">
                <a:solidFill>
                  <a:srgbClr val="7F7F7F"/>
                </a:solidFill>
                <a:latin typeface="Arial"/>
              </a:rPr>
              <a:t>Evidence: Demand-Side; MIDAS; Stakeholders</a:t>
            </a:r>
          </a:p>
        </p:txBody>
      </p:sp>
      <p:sp>
        <p:nvSpPr>
          <p:cNvPr id="23" name="Rectangle 22"/>
          <p:cNvSpPr/>
          <p:nvPr/>
        </p:nvSpPr>
        <p:spPr>
          <a:xfrm>
            <a:off x="384048" y="3977639"/>
            <a:ext cx="11420856" cy="841248"/>
          </a:xfrm>
          <a:prstGeom prst="rect">
            <a:avLst/>
          </a:prstGeom>
          <a:solidFill>
            <a:srgbClr val="F2F2F2"/>
          </a:solidFill>
          <a:ln>
            <a:noFill/>
          </a:ln>
        </p:spPr>
        <p:txBody>
          <a:bodyPr rtlCol="0" anchor="ctr"/>
          <a:lstStyle/>
          <a:p>
            <a:pPr algn="ctr"/>
          </a:p>
        </p:txBody>
      </p:sp>
      <p:sp>
        <p:nvSpPr>
          <p:cNvPr id="24" name="TextBox 23"/>
          <p:cNvSpPr txBox="1"/>
          <p:nvPr/>
        </p:nvSpPr>
        <p:spPr>
          <a:xfrm>
            <a:off x="502920" y="3977639"/>
            <a:ext cx="731520" cy="841248"/>
          </a:xfrm>
          <a:prstGeom prst="rect">
            <a:avLst/>
          </a:prstGeom>
          <a:noFill/>
        </p:spPr>
        <p:txBody>
          <a:bodyPr wrap="square" anchor="ctr" lIns="36576" rIns="36576" tIns="21945" bIns="21945">
            <a:spAutoFit/>
          </a:bodyPr>
          <a:lstStyle/>
          <a:p>
            <a:pPr algn="l">
              <a:spcAft>
                <a:spcPts val="0"/>
              </a:spcAft>
            </a:pPr>
            <a:r>
              <a:rPr sz="2600" b="1" i="0">
                <a:solidFill>
                  <a:srgbClr val="00AEEF"/>
                </a:solidFill>
                <a:latin typeface="Arial"/>
              </a:rPr>
              <a:t>04</a:t>
            </a:r>
          </a:p>
        </p:txBody>
      </p:sp>
      <p:sp>
        <p:nvSpPr>
          <p:cNvPr id="25" name="TextBox 24"/>
          <p:cNvSpPr txBox="1"/>
          <p:nvPr/>
        </p:nvSpPr>
        <p:spPr>
          <a:xfrm>
            <a:off x="1280160" y="4050791"/>
            <a:ext cx="3566160" cy="731520"/>
          </a:xfrm>
          <a:prstGeom prst="rect">
            <a:avLst/>
          </a:prstGeom>
          <a:noFill/>
        </p:spPr>
        <p:txBody>
          <a:bodyPr wrap="square" anchor="ctr" lIns="36576" rIns="36576" tIns="21945" bIns="21945">
            <a:spAutoFit/>
          </a:bodyPr>
          <a:lstStyle/>
          <a:p>
            <a:pPr algn="l">
              <a:spcAft>
                <a:spcPts val="0"/>
              </a:spcAft>
            </a:pPr>
            <a:r>
              <a:rPr sz="1250" b="1" i="0">
                <a:solidFill>
                  <a:srgbClr val="1F497D"/>
                </a:solidFill>
                <a:latin typeface="Arial"/>
              </a:rPr>
              <a:t>The decisive levers sit outside Wesgro</a:t>
            </a:r>
          </a:p>
        </p:txBody>
      </p:sp>
      <p:sp>
        <p:nvSpPr>
          <p:cNvPr id="26" name="TextBox 25"/>
          <p:cNvSpPr txBox="1"/>
          <p:nvPr/>
        </p:nvSpPr>
        <p:spPr>
          <a:xfrm>
            <a:off x="4937760" y="4050791"/>
            <a:ext cx="4572000" cy="731520"/>
          </a:xfrm>
          <a:prstGeom prst="rect">
            <a:avLst/>
          </a:prstGeom>
          <a:noFill/>
        </p:spPr>
        <p:txBody>
          <a:bodyPr wrap="square" anchor="ctr" lIns="36576" rIns="36576" tIns="21945" bIns="21945">
            <a:spAutoFit/>
          </a:bodyPr>
          <a:lstStyle/>
          <a:p>
            <a:pPr algn="l">
              <a:spcAft>
                <a:spcPts val="0"/>
              </a:spcAft>
            </a:pPr>
            <a:r>
              <a:rPr sz="1050" b="0" i="0">
                <a:solidFill>
                  <a:srgbClr val="404040"/>
                </a:solidFill>
                <a:latin typeface="Arial"/>
              </a:rPr>
              <a:t>Air rights, visas, policing, rail and municipal funding are national or municipal; coordination bodies are proposed, not operating.</a:t>
            </a:r>
          </a:p>
        </p:txBody>
      </p:sp>
      <p:sp>
        <p:nvSpPr>
          <p:cNvPr id="27" name="TextBox 26"/>
          <p:cNvSpPr txBox="1"/>
          <p:nvPr/>
        </p:nvSpPr>
        <p:spPr>
          <a:xfrm>
            <a:off x="9601200" y="4050791"/>
            <a:ext cx="2148840" cy="731520"/>
          </a:xfrm>
          <a:prstGeom prst="rect">
            <a:avLst/>
          </a:prstGeom>
          <a:noFill/>
        </p:spPr>
        <p:txBody>
          <a:bodyPr wrap="square" anchor="ctr" lIns="36576" rIns="36576" tIns="21945" bIns="21945">
            <a:spAutoFit/>
          </a:bodyPr>
          <a:lstStyle/>
          <a:p>
            <a:pPr algn="l">
              <a:spcAft>
                <a:spcPts val="0"/>
              </a:spcAft>
            </a:pPr>
            <a:r>
              <a:rPr sz="850" b="0" i="1">
                <a:solidFill>
                  <a:srgbClr val="7F7F7F"/>
                </a:solidFill>
                <a:latin typeface="Arial"/>
              </a:rPr>
              <a:t>Evidence: Factbases; Stakeholders; Benchmarks</a:t>
            </a:r>
          </a:p>
        </p:txBody>
      </p:sp>
      <p:sp>
        <p:nvSpPr>
          <p:cNvPr id="28" name="Rectangle 27"/>
          <p:cNvSpPr/>
          <p:nvPr/>
        </p:nvSpPr>
        <p:spPr>
          <a:xfrm>
            <a:off x="384048" y="4892040"/>
            <a:ext cx="11420856" cy="841248"/>
          </a:xfrm>
          <a:prstGeom prst="rect">
            <a:avLst/>
          </a:prstGeom>
          <a:solidFill>
            <a:srgbClr val="F2F2F2"/>
          </a:solidFill>
          <a:ln>
            <a:noFill/>
          </a:ln>
        </p:spPr>
        <p:txBody>
          <a:bodyPr rtlCol="0" anchor="ctr"/>
          <a:lstStyle/>
          <a:p>
            <a:pPr algn="ctr"/>
          </a:p>
        </p:txBody>
      </p:sp>
      <p:sp>
        <p:nvSpPr>
          <p:cNvPr id="29" name="TextBox 28"/>
          <p:cNvSpPr txBox="1"/>
          <p:nvPr/>
        </p:nvSpPr>
        <p:spPr>
          <a:xfrm>
            <a:off x="502920" y="4892040"/>
            <a:ext cx="731520" cy="841248"/>
          </a:xfrm>
          <a:prstGeom prst="rect">
            <a:avLst/>
          </a:prstGeom>
          <a:noFill/>
        </p:spPr>
        <p:txBody>
          <a:bodyPr wrap="square" anchor="ctr" lIns="36576" rIns="36576" tIns="21945" bIns="21945">
            <a:spAutoFit/>
          </a:bodyPr>
          <a:lstStyle/>
          <a:p>
            <a:pPr algn="l">
              <a:spcAft>
                <a:spcPts val="0"/>
              </a:spcAft>
            </a:pPr>
            <a:r>
              <a:rPr sz="2600" b="1" i="0">
                <a:solidFill>
                  <a:srgbClr val="00AEEF"/>
                </a:solidFill>
                <a:latin typeface="Arial"/>
              </a:rPr>
              <a:t>05</a:t>
            </a:r>
          </a:p>
        </p:txBody>
      </p:sp>
      <p:sp>
        <p:nvSpPr>
          <p:cNvPr id="30" name="TextBox 29"/>
          <p:cNvSpPr txBox="1"/>
          <p:nvPr/>
        </p:nvSpPr>
        <p:spPr>
          <a:xfrm>
            <a:off x="1280160" y="4965192"/>
            <a:ext cx="3566160" cy="731520"/>
          </a:xfrm>
          <a:prstGeom prst="rect">
            <a:avLst/>
          </a:prstGeom>
          <a:noFill/>
        </p:spPr>
        <p:txBody>
          <a:bodyPr wrap="square" anchor="ctr" lIns="36576" rIns="36576" tIns="21945" bIns="21945">
            <a:spAutoFit/>
          </a:bodyPr>
          <a:lstStyle/>
          <a:p>
            <a:pPr algn="l">
              <a:spcAft>
                <a:spcPts val="0"/>
              </a:spcAft>
            </a:pPr>
            <a:r>
              <a:rPr sz="1250" b="1" i="0">
                <a:solidFill>
                  <a:srgbClr val="1F497D"/>
                </a:solidFill>
                <a:latin typeface="Arial"/>
              </a:rPr>
              <a:t>We cannot yet measure what we are targeting</a:t>
            </a:r>
          </a:p>
        </p:txBody>
      </p:sp>
      <p:sp>
        <p:nvSpPr>
          <p:cNvPr id="31" name="TextBox 30"/>
          <p:cNvSpPr txBox="1"/>
          <p:nvPr/>
        </p:nvSpPr>
        <p:spPr>
          <a:xfrm>
            <a:off x="4937760" y="4965192"/>
            <a:ext cx="4572000" cy="731520"/>
          </a:xfrm>
          <a:prstGeom prst="rect">
            <a:avLst/>
          </a:prstGeom>
          <a:noFill/>
        </p:spPr>
        <p:txBody>
          <a:bodyPr wrap="square" anchor="ctr" lIns="36576" rIns="36576" tIns="21945" bIns="21945">
            <a:spAutoFit/>
          </a:bodyPr>
          <a:lstStyle/>
          <a:p>
            <a:pPr algn="l">
              <a:spcAft>
                <a:spcPts val="0"/>
              </a:spcAft>
            </a:pPr>
            <a:r>
              <a:rPr sz="1050" b="0" i="0">
                <a:solidFill>
                  <a:srgbClr val="404040"/>
                </a:solidFill>
                <a:latin typeface="Arial"/>
              </a:rPr>
              <a:t>At least six baselines; no provincial tourism GDP or jobs method; no spend projection in the model.</a:t>
            </a:r>
          </a:p>
        </p:txBody>
      </p:sp>
      <p:sp>
        <p:nvSpPr>
          <p:cNvPr id="32" name="TextBox 31"/>
          <p:cNvSpPr txBox="1"/>
          <p:nvPr/>
        </p:nvSpPr>
        <p:spPr>
          <a:xfrm>
            <a:off x="9601200" y="4965192"/>
            <a:ext cx="2148840" cy="731520"/>
          </a:xfrm>
          <a:prstGeom prst="rect">
            <a:avLst/>
          </a:prstGeom>
          <a:noFill/>
        </p:spPr>
        <p:txBody>
          <a:bodyPr wrap="square" anchor="ctr" lIns="36576" rIns="36576" tIns="21945" bIns="21945">
            <a:spAutoFit/>
          </a:bodyPr>
          <a:lstStyle/>
          <a:p>
            <a:pPr algn="l">
              <a:spcAft>
                <a:spcPts val="0"/>
              </a:spcAft>
            </a:pPr>
            <a:r>
              <a:rPr sz="850" b="0" i="1">
                <a:solidFill>
                  <a:srgbClr val="7F7F7F"/>
                </a:solidFill>
                <a:latin typeface="Arial"/>
              </a:rPr>
              <a:t>Evidence: Diagnostic; factbases; Stakeholders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Six tensions need a team position before we draft; each changes what we recommend</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TENSIONS AND TRADE-OFFS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Stakeholder Insights Report (Mar 2026) pp24, 36, 39, 46; Demand-Side Analysis (Letsema/Skift, Jun 2026); MIDAS Aviation, Aviation Market Assessment (Mar 2026); mobility and municipal factbases</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22</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11420856" cy="4480560"/>
        </p:xfrm>
        <a:graphic>
          <a:graphicData uri="http://schemas.openxmlformats.org/drawingml/2006/table">
            <a:tbl>
              <a:tblPr firstRow="1" bandRow="0">
                <a:tableStyleId>{5C22544A-7EE6-4342-B048-85BDC9FD1C3A}</a:tableStyleId>
              </a:tblPr>
              <a:tblGrid>
                <a:gridCol w="2377440"/>
                <a:gridCol w="4754880"/>
                <a:gridCol w="4288536"/>
              </a:tblGrid>
              <a:tr h="640080">
                <a:tc>
                  <a:txBody>
                    <a:bodyPr wrap="square"/>
                    <a:lstStyle/>
                    <a:p>
                      <a:pPr algn="l"/>
                      <a:r>
                        <a:rPr sz="1050" b="1" i="0">
                          <a:solidFill>
                            <a:srgbClr val="FFFFFF"/>
                          </a:solidFill>
                          <a:latin typeface="Arial"/>
                        </a:rPr>
                        <a:t>Tension</a:t>
                      </a:r>
                    </a:p>
                  </a:txBody>
                  <a:tcPr marL="54864" marR="54864" marT="27432" marB="27432" anchor="ctr">
                    <a:solidFill>
                      <a:srgbClr val="1F497D"/>
                    </a:solidFill>
                  </a:tcPr>
                </a:tc>
                <a:tc>
                  <a:txBody>
                    <a:bodyPr wrap="square"/>
                    <a:lstStyle/>
                    <a:p>
                      <a:pPr algn="l"/>
                      <a:r>
                        <a:rPr sz="1050" b="1" i="0">
                          <a:solidFill>
                            <a:srgbClr val="FFFFFF"/>
                          </a:solidFill>
                          <a:latin typeface="Arial"/>
                        </a:rPr>
                        <a:t>What pulls each way</a:t>
                      </a:r>
                    </a:p>
                  </a:txBody>
                  <a:tcPr marL="54864" marR="54864" marT="27432" marB="27432" anchor="ctr">
                    <a:solidFill>
                      <a:srgbClr val="1F497D"/>
                    </a:solidFill>
                  </a:tcPr>
                </a:tc>
                <a:tc>
                  <a:txBody>
                    <a:bodyPr wrap="square"/>
                    <a:lstStyle/>
                    <a:p>
                      <a:pPr algn="l"/>
                      <a:r>
                        <a:rPr sz="1050" b="1" i="0">
                          <a:solidFill>
                            <a:srgbClr val="FFFFFF"/>
                          </a:solidFill>
                          <a:latin typeface="Arial"/>
                        </a:rPr>
                        <a:t>Proposed default for discussion</a:t>
                      </a:r>
                    </a:p>
                  </a:txBody>
                  <a:tcPr marL="54864" marR="54864" marT="27432" marB="27432" anchor="ctr">
                    <a:solidFill>
                      <a:srgbClr val="1F497D"/>
                    </a:solidFill>
                  </a:tcPr>
                </a:tc>
              </a:tr>
              <a:tr h="640080">
                <a:tc>
                  <a:txBody>
                    <a:bodyPr wrap="square"/>
                    <a:lstStyle/>
                    <a:p>
                      <a:pPr algn="l"/>
                      <a:r>
                        <a:rPr sz="1050" b="1" i="0">
                          <a:solidFill>
                            <a:srgbClr val="1F497D"/>
                          </a:solidFill>
                          <a:latin typeface="Arial"/>
                        </a:rPr>
                        <a:t>Volume or value?</a:t>
                      </a:r>
                    </a:p>
                  </a:txBody>
                  <a:tcPr marL="54864" marR="54864" marT="27432" marB="27432" anchor="ctr">
                    <a:solidFill>
                      <a:srgbClr val="FFFFFF"/>
                    </a:solidFill>
                  </a:tcPr>
                </a:tc>
                <a:tc>
                  <a:txBody>
                    <a:bodyPr wrap="square"/>
                    <a:lstStyle/>
                    <a:p>
                      <a:pPr algn="l"/>
                      <a:r>
                        <a:rPr sz="1050" b="0" i="0">
                          <a:solidFill>
                            <a:srgbClr val="404040"/>
                          </a:solidFill>
                          <a:latin typeface="Arial"/>
                        </a:rPr>
                        <a:t>An arrivals target drives volume; DEDAT and the benchmarks argue for spend and yield.</a:t>
                      </a:r>
                    </a:p>
                  </a:txBody>
                  <a:tcPr marL="54864" marR="54864" marT="27432" marB="27432" anchor="ctr">
                    <a:solidFill>
                      <a:srgbClr val="FFFFFF"/>
                    </a:solidFill>
                  </a:tcPr>
                </a:tc>
                <a:tc>
                  <a:txBody>
                    <a:bodyPr wrap="square"/>
                    <a:lstStyle/>
                    <a:p>
                      <a:pPr algn="l"/>
                      <a:r>
                        <a:rPr sz="1050" b="0" i="0">
                          <a:solidFill>
                            <a:srgbClr val="1F497D"/>
                          </a:solidFill>
                          <a:latin typeface="Arial"/>
                        </a:rPr>
                        <a:t>Keep arrivals as the headline; add spend per visitor and length of stay as co-equal KPIs.</a:t>
                      </a:r>
                    </a:p>
                  </a:txBody>
                  <a:tcPr marL="54864" marR="54864" marT="27432" marB="27432" anchor="ctr">
                    <a:solidFill>
                      <a:srgbClr val="FFFFFF"/>
                    </a:solidFill>
                  </a:tcPr>
                </a:tc>
              </a:tr>
              <a:tr h="640080">
                <a:tc>
                  <a:txBody>
                    <a:bodyPr wrap="square"/>
                    <a:lstStyle/>
                    <a:p>
                      <a:pPr algn="l"/>
                      <a:r>
                        <a:rPr sz="1050" b="1" i="0">
                          <a:solidFill>
                            <a:srgbClr val="1F497D"/>
                          </a:solidFill>
                          <a:latin typeface="Arial"/>
                        </a:rPr>
                        <a:t>Air first or ground first?</a:t>
                      </a:r>
                    </a:p>
                  </a:txBody>
                  <a:tcPr marL="54864" marR="54864" marT="27432" marB="27432" anchor="ctr">
                    <a:solidFill>
                      <a:srgbClr val="F2F2F2"/>
                    </a:solidFill>
                  </a:tcPr>
                </a:tc>
                <a:tc>
                  <a:txBody>
                    <a:bodyPr wrap="square"/>
                    <a:lstStyle/>
                    <a:p>
                      <a:pPr algn="l"/>
                      <a:r>
                        <a:rPr sz="1050" b="0" i="0">
                          <a:solidFill>
                            <a:srgbClr val="404040"/>
                          </a:solidFill>
                          <a:latin typeface="Arial"/>
                        </a:rPr>
                        <a:t>Demand-Side treats seats as the ceiling; the factbases put ground access, safety and visas first.</a:t>
                      </a:r>
                    </a:p>
                  </a:txBody>
                  <a:tcPr marL="54864" marR="54864" marT="27432" marB="27432" anchor="ctr">
                    <a:solidFill>
                      <a:srgbClr val="F2F2F2"/>
                    </a:solidFill>
                  </a:tcPr>
                </a:tc>
                <a:tc>
                  <a:txBody>
                    <a:bodyPr wrap="square"/>
                    <a:lstStyle/>
                    <a:p>
                      <a:pPr algn="l"/>
                      <a:r>
                        <a:rPr sz="1050" b="0" i="0">
                          <a:solidFill>
                            <a:srgbClr val="1F497D"/>
                          </a:solidFill>
                          <a:latin typeface="Arial"/>
                        </a:rPr>
                        <a:t>Ground and visa conversion now; air capacity as the post-2030 constraint.</a:t>
                      </a:r>
                    </a:p>
                  </a:txBody>
                  <a:tcPr marL="54864" marR="54864" marT="27432" marB="27432" anchor="ctr">
                    <a:solidFill>
                      <a:srgbClr val="F2F2F2"/>
                    </a:solidFill>
                  </a:tcPr>
                </a:tc>
              </a:tr>
              <a:tr h="640080">
                <a:tc>
                  <a:txBody>
                    <a:bodyPr wrap="square"/>
                    <a:lstStyle/>
                    <a:p>
                      <a:pPr algn="l"/>
                      <a:r>
                        <a:rPr sz="1050" b="1" i="0">
                          <a:solidFill>
                            <a:srgbClr val="1F497D"/>
                          </a:solidFill>
                          <a:latin typeface="Arial"/>
                        </a:rPr>
                        <a:t>New markets or mature markets?</a:t>
                      </a:r>
                    </a:p>
                  </a:txBody>
                  <a:tcPr marL="54864" marR="54864" marT="27432" marB="27432" anchor="ctr">
                    <a:solidFill>
                      <a:srgbClr val="FFFFFF"/>
                    </a:solidFill>
                  </a:tcPr>
                </a:tc>
                <a:tc>
                  <a:txBody>
                    <a:bodyPr wrap="square"/>
                    <a:lstStyle/>
                    <a:p>
                      <a:pPr algn="l"/>
                      <a:r>
                        <a:rPr sz="1050" b="0" i="0">
                          <a:solidFill>
                            <a:srgbClr val="404040"/>
                          </a:solidFill>
                          <a:latin typeface="Arial"/>
                        </a:rPr>
                        <a:t>India and China are long-dated; mature markets carry 61-63% and still have headroom.</a:t>
                      </a:r>
                    </a:p>
                  </a:txBody>
                  <a:tcPr marL="54864" marR="54864" marT="27432" marB="27432" anchor="ctr">
                    <a:solidFill>
                      <a:srgbClr val="FFFFFF"/>
                    </a:solidFill>
                  </a:tcPr>
                </a:tc>
                <a:tc>
                  <a:txBody>
                    <a:bodyPr wrap="square"/>
                    <a:lstStyle/>
                    <a:p>
                      <a:pPr algn="l"/>
                      <a:r>
                        <a:rPr sz="1050" b="0" i="0">
                          <a:solidFill>
                            <a:srgbClr val="1F497D"/>
                          </a:solidFill>
                          <a:latin typeface="Arial"/>
                        </a:rPr>
                        <a:t>Defend and deepen mature markets; build India and China as options.</a:t>
                      </a:r>
                    </a:p>
                  </a:txBody>
                  <a:tcPr marL="54864" marR="54864" marT="27432" marB="27432" anchor="ctr">
                    <a:solidFill>
                      <a:srgbClr val="FFFFFF"/>
                    </a:solidFill>
                  </a:tcPr>
                </a:tc>
              </a:tr>
              <a:tr h="640080">
                <a:tc>
                  <a:txBody>
                    <a:bodyPr wrap="square"/>
                    <a:lstStyle/>
                    <a:p>
                      <a:pPr algn="l"/>
                      <a:r>
                        <a:rPr sz="1050" b="1" i="0">
                          <a:solidFill>
                            <a:srgbClr val="1F497D"/>
                          </a:solidFill>
                          <a:latin typeface="Arial"/>
                        </a:rPr>
                        <a:t>Growth or carrying capacity?</a:t>
                      </a:r>
                    </a:p>
                  </a:txBody>
                  <a:tcPr marL="54864" marR="54864" marT="27432" marB="27432" anchor="ctr">
                    <a:solidFill>
                      <a:srgbClr val="F2F2F2"/>
                    </a:solidFill>
                  </a:tcPr>
                </a:tc>
                <a:tc>
                  <a:txBody>
                    <a:bodyPr wrap="square"/>
                    <a:lstStyle/>
                    <a:p>
                      <a:pPr algn="l"/>
                      <a:r>
                        <a:rPr sz="1050" b="0" i="0">
                          <a:solidFill>
                            <a:srgbClr val="404040"/>
                          </a:solidFill>
                          <a:latin typeface="Arial"/>
                        </a:rPr>
                        <a:t>Flagship nature sites are at capacity; more volume there is "neither feasible nor desirable".</a:t>
                      </a:r>
                    </a:p>
                  </a:txBody>
                  <a:tcPr marL="54864" marR="54864" marT="27432" marB="27432" anchor="ctr">
                    <a:solidFill>
                      <a:srgbClr val="F2F2F2"/>
                    </a:solidFill>
                  </a:tcPr>
                </a:tc>
                <a:tc>
                  <a:txBody>
                    <a:bodyPr wrap="square"/>
                    <a:lstStyle/>
                    <a:p>
                      <a:pPr algn="l"/>
                      <a:r>
                        <a:rPr sz="1050" b="0" i="0">
                          <a:solidFill>
                            <a:srgbClr val="1F497D"/>
                          </a:solidFill>
                          <a:latin typeface="Arial"/>
                        </a:rPr>
                        <a:t>Route growth to new product and corridors; cap flagship peaks.</a:t>
                      </a:r>
                    </a:p>
                  </a:txBody>
                  <a:tcPr marL="54864" marR="54864" marT="27432" marB="27432" anchor="ctr">
                    <a:solidFill>
                      <a:srgbClr val="F2F2F2"/>
                    </a:solidFill>
                  </a:tcPr>
                </a:tc>
              </a:tr>
              <a:tr h="640080">
                <a:tc>
                  <a:txBody>
                    <a:bodyPr wrap="square"/>
                    <a:lstStyle/>
                    <a:p>
                      <a:pPr algn="l"/>
                      <a:r>
                        <a:rPr sz="1050" b="1" i="0">
                          <a:solidFill>
                            <a:srgbClr val="1F497D"/>
                          </a:solidFill>
                          <a:latin typeface="Arial"/>
                        </a:rPr>
                        <a:t>Marketing or development?</a:t>
                      </a:r>
                    </a:p>
                  </a:txBody>
                  <a:tcPr marL="54864" marR="54864" marT="27432" marB="27432" anchor="ctr">
                    <a:solidFill>
                      <a:srgbClr val="FFFFFF"/>
                    </a:solidFill>
                  </a:tcPr>
                </a:tc>
                <a:tc>
                  <a:txBody>
                    <a:bodyPr wrap="square"/>
                    <a:lstStyle/>
                    <a:p>
                      <a:pPr algn="l"/>
                      <a:r>
                        <a:rPr sz="1050" b="0" i="0">
                          <a:solidFill>
                            <a:srgbClr val="404040"/>
                          </a:solidFill>
                          <a:latin typeface="Arial"/>
                        </a:rPr>
                        <a:t>Districts say budgets and forums favour marketing; DEDAT says marketing is underfunded.</a:t>
                      </a:r>
                    </a:p>
                  </a:txBody>
                  <a:tcPr marL="54864" marR="54864" marT="27432" marB="27432" anchor="ctr">
                    <a:solidFill>
                      <a:srgbClr val="FFFFFF"/>
                    </a:solidFill>
                  </a:tcPr>
                </a:tc>
                <a:tc>
                  <a:txBody>
                    <a:bodyPr wrap="square"/>
                    <a:lstStyle/>
                    <a:p>
                      <a:pPr algn="l"/>
                      <a:r>
                        <a:rPr sz="1050" b="0" i="0">
                          <a:solidFill>
                            <a:srgbClr val="1F497D"/>
                          </a:solidFill>
                          <a:latin typeface="Arial"/>
                        </a:rPr>
                        <a:t>Fund conversion marketing tied to routes, and development through corridors.</a:t>
                      </a:r>
                    </a:p>
                  </a:txBody>
                  <a:tcPr marL="54864" marR="54864" marT="27432" marB="27432" anchor="ctr">
                    <a:solidFill>
                      <a:srgbClr val="FFFFFF"/>
                    </a:solidFill>
                  </a:tcPr>
                </a:tc>
              </a:tr>
              <a:tr h="640080">
                <a:tc>
                  <a:txBody>
                    <a:bodyPr wrap="square"/>
                    <a:lstStyle/>
                    <a:p>
                      <a:pPr algn="l"/>
                      <a:r>
                        <a:rPr sz="1050" b="1" i="0">
                          <a:solidFill>
                            <a:srgbClr val="1F497D"/>
                          </a:solidFill>
                          <a:latin typeface="Arial"/>
                        </a:rPr>
                        <a:t>Lead or enable?</a:t>
                      </a:r>
                    </a:p>
                  </a:txBody>
                  <a:tcPr marL="54864" marR="54864" marT="27432" marB="27432" anchor="ctr">
                    <a:solidFill>
                      <a:srgbClr val="F2F2F2"/>
                    </a:solidFill>
                  </a:tcPr>
                </a:tc>
                <a:tc>
                  <a:txBody>
                    <a:bodyPr wrap="square"/>
                    <a:lstStyle/>
                    <a:p>
                      <a:pPr algn="l"/>
                      <a:r>
                        <a:rPr sz="1050" b="0" i="0">
                          <a:solidFill>
                            <a:srgbClr val="404040"/>
                          </a:solidFill>
                          <a:latin typeface="Arial"/>
                        </a:rPr>
                        <a:t>Wesgro owns few of the decisive levers but carries the target.</a:t>
                      </a:r>
                    </a:p>
                  </a:txBody>
                  <a:tcPr marL="54864" marR="54864" marT="27432" marB="27432" anchor="ctr">
                    <a:solidFill>
                      <a:srgbClr val="F2F2F2"/>
                    </a:solidFill>
                  </a:tcPr>
                </a:tc>
                <a:tc>
                  <a:txBody>
                    <a:bodyPr wrap="square"/>
                    <a:lstStyle/>
                    <a:p>
                      <a:pPr algn="l"/>
                      <a:r>
                        <a:rPr sz="1050" b="0" i="0">
                          <a:solidFill>
                            <a:srgbClr val="1F497D"/>
                          </a:solidFill>
                          <a:latin typeface="Arial"/>
                        </a:rPr>
                        <a:t>Wesgro orchestrates and advocates; owners are named by tier.</a:t>
                      </a:r>
                    </a:p>
                  </a:txBody>
                  <a:tcPr marL="54864" marR="54864" marT="27432" marB="27432" anchor="ctr">
                    <a:solidFill>
                      <a:srgbClr val="F2F2F2"/>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Working position: doubling is possible only as a system shift from volume to captured value</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THE "SO WHAT"</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Letsema synthesis for discussion; not yet agreed by the team</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23</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84048" y="1188720"/>
            <a:ext cx="11420856" cy="1143000"/>
          </a:xfrm>
          <a:prstGeom prst="rect">
            <a:avLst/>
          </a:prstGeom>
          <a:solidFill>
            <a:srgbClr val="1F497D"/>
          </a:solidFill>
          <a:ln>
            <a:noFill/>
          </a:ln>
        </p:spPr>
        <p:txBody>
          <a:bodyPr rtlCol="0" anchor="ctr"/>
          <a:lstStyle/>
          <a:p>
            <a:pPr algn="ctr"/>
          </a:p>
        </p:txBody>
      </p:sp>
      <p:sp>
        <p:nvSpPr>
          <p:cNvPr id="9" name="TextBox 8"/>
          <p:cNvSpPr txBox="1"/>
          <p:nvPr/>
        </p:nvSpPr>
        <p:spPr>
          <a:xfrm>
            <a:off x="640080" y="1188720"/>
            <a:ext cx="10972800" cy="1143000"/>
          </a:xfrm>
          <a:prstGeom prst="rect">
            <a:avLst/>
          </a:prstGeom>
          <a:noFill/>
        </p:spPr>
        <p:txBody>
          <a:bodyPr wrap="square" anchor="ctr" lIns="36576" rIns="36576" tIns="21945" bIns="21945">
            <a:spAutoFit/>
          </a:bodyPr>
          <a:lstStyle/>
          <a:p>
            <a:pPr algn="l">
              <a:spcAft>
                <a:spcPts val="0"/>
              </a:spcAft>
            </a:pPr>
            <a:r>
              <a:rPr sz="1300" b="1" i="0">
                <a:solidFill>
                  <a:srgbClr val="FFFFFF"/>
                </a:solidFill>
                <a:latin typeface="Arial"/>
              </a:rPr>
              <a:t>The Western Cape is capture-poor, not demand-poor. On current levers it reaches roughly 2.2m-2.5m arrivals by 2035. Closing the gap to 2.8m depends on converting existing demand better, spreading it across the year and the province, and coordinating the actors who hold the levers.</a:t>
            </a:r>
          </a:p>
        </p:txBody>
      </p:sp>
      <p:sp>
        <p:nvSpPr>
          <p:cNvPr id="10" name="TextBox 9"/>
          <p:cNvSpPr txBox="1"/>
          <p:nvPr/>
        </p:nvSpPr>
        <p:spPr>
          <a:xfrm>
            <a:off x="384048" y="2468880"/>
            <a:ext cx="1133856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WHAT MUST BE TRUE</a:t>
            </a:r>
          </a:p>
        </p:txBody>
      </p:sp>
      <p:sp>
        <p:nvSpPr>
          <p:cNvPr id="11" name="Rectangle 10"/>
          <p:cNvSpPr/>
          <p:nvPr/>
        </p:nvSpPr>
        <p:spPr>
          <a:xfrm>
            <a:off x="384048" y="2788920"/>
            <a:ext cx="3703320" cy="384048"/>
          </a:xfrm>
          <a:prstGeom prst="rect">
            <a:avLst/>
          </a:prstGeom>
          <a:solidFill>
            <a:srgbClr val="00AEEF"/>
          </a:solidFill>
          <a:ln>
            <a:noFill/>
          </a:ln>
        </p:spPr>
        <p:txBody>
          <a:bodyPr rtlCol="0" anchor="ctr"/>
          <a:lstStyle/>
          <a:p>
            <a:pPr algn="ctr"/>
          </a:p>
        </p:txBody>
      </p:sp>
      <p:sp>
        <p:nvSpPr>
          <p:cNvPr id="12" name="TextBox 11"/>
          <p:cNvSpPr txBox="1"/>
          <p:nvPr/>
        </p:nvSpPr>
        <p:spPr>
          <a:xfrm>
            <a:off x="521207" y="2788920"/>
            <a:ext cx="3474720" cy="384048"/>
          </a:xfrm>
          <a:prstGeom prst="rect">
            <a:avLst/>
          </a:prstGeom>
          <a:noFill/>
        </p:spPr>
        <p:txBody>
          <a:bodyPr wrap="square" anchor="ctr" lIns="36576" rIns="36576" tIns="21945" bIns="21945">
            <a:spAutoFit/>
          </a:bodyPr>
          <a:lstStyle/>
          <a:p>
            <a:pPr algn="l">
              <a:spcAft>
                <a:spcPts val="0"/>
              </a:spcAft>
            </a:pPr>
            <a:r>
              <a:rPr sz="1200" b="1" i="0">
                <a:solidFill>
                  <a:srgbClr val="FFFFFF"/>
                </a:solidFill>
                <a:latin typeface="Arial"/>
              </a:rPr>
              <a:t>By 2028</a:t>
            </a:r>
          </a:p>
        </p:txBody>
      </p:sp>
      <p:sp>
        <p:nvSpPr>
          <p:cNvPr id="13" name="Rectangle 12"/>
          <p:cNvSpPr/>
          <p:nvPr/>
        </p:nvSpPr>
        <p:spPr>
          <a:xfrm>
            <a:off x="384048" y="3172968"/>
            <a:ext cx="3703320" cy="2514600"/>
          </a:xfrm>
          <a:prstGeom prst="rect">
            <a:avLst/>
          </a:prstGeom>
          <a:solidFill>
            <a:srgbClr val="F2F2F2"/>
          </a:solidFill>
          <a:ln>
            <a:noFill/>
          </a:ln>
        </p:spPr>
        <p:txBody>
          <a:bodyPr rtlCol="0" anchor="ctr"/>
          <a:lstStyle/>
          <a:p>
            <a:pPr algn="ctr"/>
          </a:p>
        </p:txBody>
      </p:sp>
      <p:sp>
        <p:nvSpPr>
          <p:cNvPr id="14" name="TextBox 13"/>
          <p:cNvSpPr txBox="1"/>
          <p:nvPr/>
        </p:nvSpPr>
        <p:spPr>
          <a:xfrm>
            <a:off x="493776" y="3291840"/>
            <a:ext cx="3520440" cy="2377440"/>
          </a:xfrm>
          <a:prstGeom prst="rect">
            <a:avLst/>
          </a:prstGeom>
          <a:noFill/>
        </p:spPr>
        <p:txBody>
          <a:bodyPr wrap="square" anchor="t" lIns="36576" rIns="36576" tIns="21945" bIns="21945">
            <a:spAutoFit/>
          </a:bodyPr>
          <a:lstStyle/>
          <a:p>
            <a:pPr algn="l" marL="146304" indent="-146304">
              <a:spcAft>
                <a:spcPts val="700"/>
              </a:spcAft>
              <a:buClr>
                <a:srgbClr val="00AEEF"/>
              </a:buClr>
              <a:buFont typeface="Arial"/>
              <a:buChar char="•"/>
            </a:pPr>
            <a:r>
              <a:rPr sz="1050" b="0" i="0">
                <a:solidFill>
                  <a:srgbClr val="404040"/>
                </a:solidFill>
                <a:latin typeface="Arial"/>
              </a:rPr>
              <a:t>One agreed target metric and baseline, tracked quarterly</a:t>
            </a:r>
          </a:p>
          <a:p>
            <a:pPr algn="l" marL="146304" indent="-146304">
              <a:spcAft>
                <a:spcPts val="700"/>
              </a:spcAft>
              <a:buClr>
                <a:srgbClr val="00AEEF"/>
              </a:buClr>
              <a:buFont typeface="Arial"/>
              <a:buChar char="•"/>
            </a:pPr>
            <a:r>
              <a:rPr sz="1050" b="0" i="0">
                <a:solidFill>
                  <a:srgbClr val="404040"/>
                </a:solidFill>
                <a:latin typeface="Arial"/>
              </a:rPr>
              <a:t>A green-season events and MICE pipeline in place</a:t>
            </a:r>
          </a:p>
          <a:p>
            <a:pPr algn="l" marL="146304" indent="-146304">
              <a:spcAft>
                <a:spcPts val="700"/>
              </a:spcAft>
              <a:buClr>
                <a:srgbClr val="00AEEF"/>
              </a:buClr>
              <a:buFont typeface="Arial"/>
              <a:buChar char="•"/>
            </a:pPr>
            <a:r>
              <a:rPr sz="1050" b="0" i="0">
                <a:solidFill>
                  <a:srgbClr val="404040"/>
                </a:solidFill>
                <a:latin typeface="Arial"/>
              </a:rPr>
              <a:t>Conversion marketing tied to routes and native platforms</a:t>
            </a:r>
          </a:p>
          <a:p>
            <a:pPr algn="l" marL="146304" indent="-146304">
              <a:spcAft>
                <a:spcPts val="700"/>
              </a:spcAft>
              <a:buClr>
                <a:srgbClr val="00AEEF"/>
              </a:buClr>
              <a:buFont typeface="Arial"/>
              <a:buChar char="•"/>
            </a:pPr>
            <a:r>
              <a:rPr sz="1050" b="0" i="0">
                <a:solidFill>
                  <a:srgbClr val="404040"/>
                </a:solidFill>
                <a:latin typeface="Arial"/>
              </a:rPr>
              <a:t>Visa and safety interventions with named national owners</a:t>
            </a:r>
          </a:p>
        </p:txBody>
      </p:sp>
      <p:sp>
        <p:nvSpPr>
          <p:cNvPr id="15" name="Rectangle 14"/>
          <p:cNvSpPr/>
          <p:nvPr/>
        </p:nvSpPr>
        <p:spPr>
          <a:xfrm>
            <a:off x="4242816" y="2788920"/>
            <a:ext cx="3703320" cy="384048"/>
          </a:xfrm>
          <a:prstGeom prst="rect">
            <a:avLst/>
          </a:prstGeom>
          <a:solidFill>
            <a:srgbClr val="00AEEF"/>
          </a:solidFill>
          <a:ln>
            <a:noFill/>
          </a:ln>
        </p:spPr>
        <p:txBody>
          <a:bodyPr rtlCol="0" anchor="ctr"/>
          <a:lstStyle/>
          <a:p>
            <a:pPr algn="ctr"/>
          </a:p>
        </p:txBody>
      </p:sp>
      <p:sp>
        <p:nvSpPr>
          <p:cNvPr id="16" name="TextBox 15"/>
          <p:cNvSpPr txBox="1"/>
          <p:nvPr/>
        </p:nvSpPr>
        <p:spPr>
          <a:xfrm>
            <a:off x="4379976" y="2788920"/>
            <a:ext cx="3474720" cy="384048"/>
          </a:xfrm>
          <a:prstGeom prst="rect">
            <a:avLst/>
          </a:prstGeom>
          <a:noFill/>
        </p:spPr>
        <p:txBody>
          <a:bodyPr wrap="square" anchor="ctr" lIns="36576" rIns="36576" tIns="21945" bIns="21945">
            <a:spAutoFit/>
          </a:bodyPr>
          <a:lstStyle/>
          <a:p>
            <a:pPr algn="l">
              <a:spcAft>
                <a:spcPts val="0"/>
              </a:spcAft>
            </a:pPr>
            <a:r>
              <a:rPr sz="1200" b="1" i="0">
                <a:solidFill>
                  <a:srgbClr val="FFFFFF"/>
                </a:solidFill>
                <a:latin typeface="Arial"/>
              </a:rPr>
              <a:t>By 2030</a:t>
            </a:r>
          </a:p>
        </p:txBody>
      </p:sp>
      <p:sp>
        <p:nvSpPr>
          <p:cNvPr id="17" name="Rectangle 16"/>
          <p:cNvSpPr/>
          <p:nvPr/>
        </p:nvSpPr>
        <p:spPr>
          <a:xfrm>
            <a:off x="4242816" y="3172968"/>
            <a:ext cx="3703320" cy="2514600"/>
          </a:xfrm>
          <a:prstGeom prst="rect">
            <a:avLst/>
          </a:prstGeom>
          <a:solidFill>
            <a:srgbClr val="F2F2F2"/>
          </a:solidFill>
          <a:ln>
            <a:noFill/>
          </a:ln>
        </p:spPr>
        <p:txBody>
          <a:bodyPr rtlCol="0" anchor="ctr"/>
          <a:lstStyle/>
          <a:p>
            <a:pPr algn="ctr"/>
          </a:p>
        </p:txBody>
      </p:sp>
      <p:sp>
        <p:nvSpPr>
          <p:cNvPr id="18" name="TextBox 17"/>
          <p:cNvSpPr txBox="1"/>
          <p:nvPr/>
        </p:nvSpPr>
        <p:spPr>
          <a:xfrm>
            <a:off x="4352544" y="3291840"/>
            <a:ext cx="3520440" cy="2377440"/>
          </a:xfrm>
          <a:prstGeom prst="rect">
            <a:avLst/>
          </a:prstGeom>
          <a:noFill/>
        </p:spPr>
        <p:txBody>
          <a:bodyPr wrap="square" anchor="t" lIns="36576" rIns="36576" tIns="21945" bIns="21945">
            <a:spAutoFit/>
          </a:bodyPr>
          <a:lstStyle/>
          <a:p>
            <a:pPr algn="l" marL="146304" indent="-146304">
              <a:spcAft>
                <a:spcPts val="700"/>
              </a:spcAft>
              <a:buClr>
                <a:srgbClr val="00AEEF"/>
              </a:buClr>
              <a:buFont typeface="Arial"/>
              <a:buChar char="•"/>
            </a:pPr>
            <a:r>
              <a:rPr sz="1050" b="0" i="0">
                <a:solidFill>
                  <a:srgbClr val="404040"/>
                </a:solidFill>
                <a:latin typeface="Arial"/>
              </a:rPr>
              <a:t>Hub carriers add frequency through the 1.8m seat ceiling</a:t>
            </a:r>
          </a:p>
          <a:p>
            <a:pPr algn="l" marL="146304" indent="-146304">
              <a:spcAft>
                <a:spcPts val="700"/>
              </a:spcAft>
              <a:buClr>
                <a:srgbClr val="00AEEF"/>
              </a:buClr>
              <a:buFont typeface="Arial"/>
              <a:buChar char="•"/>
            </a:pPr>
            <a:r>
              <a:rPr sz="1050" b="0" i="0">
                <a:solidFill>
                  <a:srgbClr val="404040"/>
                </a:solidFill>
                <a:latin typeface="Arial"/>
              </a:rPr>
              <a:t>Two or three touring corridors investment-ready and bookable</a:t>
            </a:r>
          </a:p>
          <a:p>
            <a:pPr algn="l" marL="146304" indent="-146304">
              <a:spcAft>
                <a:spcPts val="700"/>
              </a:spcAft>
              <a:buClr>
                <a:srgbClr val="00AEEF"/>
              </a:buClr>
              <a:buFont typeface="Arial"/>
              <a:buChar char="•"/>
            </a:pPr>
            <a:r>
              <a:rPr sz="1050" b="0" i="0">
                <a:solidFill>
                  <a:srgbClr val="404040"/>
                </a:solidFill>
                <a:latin typeface="Arial"/>
              </a:rPr>
              <a:t>Community selling routes proven in pilots, then scaled</a:t>
            </a:r>
          </a:p>
          <a:p>
            <a:pPr algn="l" marL="146304" indent="-146304">
              <a:spcAft>
                <a:spcPts val="700"/>
              </a:spcAft>
              <a:buClr>
                <a:srgbClr val="00AEEF"/>
              </a:buClr>
              <a:buFont typeface="Arial"/>
              <a:buChar char="•"/>
            </a:pPr>
            <a:r>
              <a:rPr sz="1050" b="0" i="0">
                <a:solidFill>
                  <a:srgbClr val="404040"/>
                </a:solidFill>
                <a:latin typeface="Arial"/>
              </a:rPr>
              <a:t>A coordination body with shared KPIs operating</a:t>
            </a:r>
          </a:p>
        </p:txBody>
      </p:sp>
      <p:sp>
        <p:nvSpPr>
          <p:cNvPr id="19" name="Rectangle 18"/>
          <p:cNvSpPr/>
          <p:nvPr/>
        </p:nvSpPr>
        <p:spPr>
          <a:xfrm>
            <a:off x="8101583" y="2788920"/>
            <a:ext cx="3703320" cy="384048"/>
          </a:xfrm>
          <a:prstGeom prst="rect">
            <a:avLst/>
          </a:prstGeom>
          <a:solidFill>
            <a:srgbClr val="00AEEF"/>
          </a:solidFill>
          <a:ln>
            <a:noFill/>
          </a:ln>
        </p:spPr>
        <p:txBody>
          <a:bodyPr rtlCol="0" anchor="ctr"/>
          <a:lstStyle/>
          <a:p>
            <a:pPr algn="ctr"/>
          </a:p>
        </p:txBody>
      </p:sp>
      <p:sp>
        <p:nvSpPr>
          <p:cNvPr id="20" name="TextBox 19"/>
          <p:cNvSpPr txBox="1"/>
          <p:nvPr/>
        </p:nvSpPr>
        <p:spPr>
          <a:xfrm>
            <a:off x="8238744" y="2788920"/>
            <a:ext cx="3474720" cy="384048"/>
          </a:xfrm>
          <a:prstGeom prst="rect">
            <a:avLst/>
          </a:prstGeom>
          <a:noFill/>
        </p:spPr>
        <p:txBody>
          <a:bodyPr wrap="square" anchor="ctr" lIns="36576" rIns="36576" tIns="21945" bIns="21945">
            <a:spAutoFit/>
          </a:bodyPr>
          <a:lstStyle/>
          <a:p>
            <a:pPr algn="l">
              <a:spcAft>
                <a:spcPts val="0"/>
              </a:spcAft>
            </a:pPr>
            <a:r>
              <a:rPr sz="1200" b="1" i="0">
                <a:solidFill>
                  <a:srgbClr val="FFFFFF"/>
                </a:solidFill>
                <a:latin typeface="Arial"/>
              </a:rPr>
              <a:t>By 2035</a:t>
            </a:r>
          </a:p>
        </p:txBody>
      </p:sp>
      <p:sp>
        <p:nvSpPr>
          <p:cNvPr id="21" name="Rectangle 20"/>
          <p:cNvSpPr/>
          <p:nvPr/>
        </p:nvSpPr>
        <p:spPr>
          <a:xfrm>
            <a:off x="8101583" y="3172968"/>
            <a:ext cx="3703320" cy="2514600"/>
          </a:xfrm>
          <a:prstGeom prst="rect">
            <a:avLst/>
          </a:prstGeom>
          <a:solidFill>
            <a:srgbClr val="F2F2F2"/>
          </a:solidFill>
          <a:ln>
            <a:noFill/>
          </a:ln>
        </p:spPr>
        <p:txBody>
          <a:bodyPr rtlCol="0" anchor="ctr"/>
          <a:lstStyle/>
          <a:p>
            <a:pPr algn="ctr"/>
          </a:p>
        </p:txBody>
      </p:sp>
      <p:sp>
        <p:nvSpPr>
          <p:cNvPr id="22" name="TextBox 21"/>
          <p:cNvSpPr txBox="1"/>
          <p:nvPr/>
        </p:nvSpPr>
        <p:spPr>
          <a:xfrm>
            <a:off x="8211311" y="3291840"/>
            <a:ext cx="3520440" cy="2377440"/>
          </a:xfrm>
          <a:prstGeom prst="rect">
            <a:avLst/>
          </a:prstGeom>
          <a:noFill/>
        </p:spPr>
        <p:txBody>
          <a:bodyPr wrap="square" anchor="t" lIns="36576" rIns="36576" tIns="21945" bIns="21945">
            <a:spAutoFit/>
          </a:bodyPr>
          <a:lstStyle/>
          <a:p>
            <a:pPr algn="l" marL="146304" indent="-146304">
              <a:spcAft>
                <a:spcPts val="700"/>
              </a:spcAft>
              <a:buClr>
                <a:srgbClr val="00AEEF"/>
              </a:buClr>
              <a:buFont typeface="Arial"/>
              <a:buChar char="•"/>
            </a:pPr>
            <a:r>
              <a:rPr sz="1050" b="0" i="0">
                <a:solidFill>
                  <a:srgbClr val="404040"/>
                </a:solidFill>
                <a:latin typeface="Arial"/>
              </a:rPr>
              <a:t>Direct India service and a China route in operation</a:t>
            </a:r>
          </a:p>
          <a:p>
            <a:pPr algn="l" marL="146304" indent="-146304">
              <a:spcAft>
                <a:spcPts val="700"/>
              </a:spcAft>
              <a:buClr>
                <a:srgbClr val="00AEEF"/>
              </a:buClr>
              <a:buFont typeface="Arial"/>
              <a:buChar char="•"/>
            </a:pPr>
            <a:r>
              <a:rPr sz="1050" b="0" i="0">
                <a:solidFill>
                  <a:srgbClr val="404040"/>
                </a:solidFill>
                <a:latin typeface="Arial"/>
              </a:rPr>
              <a:t>Spend per visitor and length of stay rising faster than arrivals</a:t>
            </a:r>
          </a:p>
          <a:p>
            <a:pPr algn="l" marL="146304" indent="-146304">
              <a:spcAft>
                <a:spcPts val="700"/>
              </a:spcAft>
              <a:buClr>
                <a:srgbClr val="00AEEF"/>
              </a:buClr>
              <a:buFont typeface="Arial"/>
              <a:buChar char="•"/>
            </a:pPr>
            <a:r>
              <a:rPr sz="1050" b="0" i="0">
                <a:solidFill>
                  <a:srgbClr val="404040"/>
                </a:solidFill>
                <a:latin typeface="Arial"/>
              </a:rPr>
              <a:t>A second gateway (Cape Winelands or George) carrying growth</a:t>
            </a:r>
          </a:p>
          <a:p>
            <a:pPr algn="l" marL="146304" indent="-146304">
              <a:spcAft>
                <a:spcPts val="700"/>
              </a:spcAft>
              <a:buClr>
                <a:srgbClr val="00AEEF"/>
              </a:buClr>
              <a:buFont typeface="Arial"/>
              <a:buChar char="•"/>
            </a:pPr>
            <a:r>
              <a:rPr sz="1050" b="0" i="0">
                <a:solidFill>
                  <a:srgbClr val="404040"/>
                </a:solidFill>
                <a:latin typeface="Arial"/>
              </a:rPr>
              <a:t>Growth outside the Metro rising as a share of the total</a:t>
            </a:r>
          </a:p>
        </p:txBody>
      </p:sp>
      <p:sp>
        <p:nvSpPr>
          <p:cNvPr id="23" name="TextBox 22"/>
          <p:cNvSpPr txBox="1"/>
          <p:nvPr/>
        </p:nvSpPr>
        <p:spPr>
          <a:xfrm>
            <a:off x="384048" y="5779008"/>
            <a:ext cx="11338560" cy="411480"/>
          </a:xfrm>
          <a:prstGeom prst="rect">
            <a:avLst/>
          </a:prstGeom>
          <a:noFill/>
        </p:spPr>
        <p:txBody>
          <a:bodyPr wrap="square" anchor="t" lIns="36576" rIns="36576" tIns="21945" bIns="21945">
            <a:spAutoFit/>
          </a:bodyPr>
          <a:lstStyle/>
          <a:p>
            <a:pPr algn="l">
              <a:spcAft>
                <a:spcPts val="0"/>
              </a:spcAft>
            </a:pPr>
            <a:r>
              <a:rPr sz="1050" b="0" i="1">
                <a:solidFill>
                  <a:srgbClr val="7F7F7F"/>
                </a:solidFill>
                <a:latin typeface="Arial"/>
              </a:rPr>
              <a:t>If any condition fails, the honest answer is a lower target or a longer horizon, and the final report should say so.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divider_bg.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2697480"/>
            <a:ext cx="12191695" cy="1463040"/>
          </a:xfrm>
          <a:prstGeom prst="rect">
            <a:avLst/>
          </a:prstGeom>
          <a:solidFill>
            <a:srgbClr val="009FDF">
              <a:alpha val="78000"/>
            </a:srgbClr>
          </a:solidFill>
          <a:ln>
            <a:noFill/>
          </a:ln>
        </p:spPr>
        <p:txBody>
          <a:bodyPr rtlCol="0" anchor="ctr"/>
          <a:lstStyle/>
          <a:p>
            <a:pPr algn="ctr"/>
          </a:p>
        </p:txBody>
      </p:sp>
      <p:sp>
        <p:nvSpPr>
          <p:cNvPr id="2" name="Title 1"/>
          <p:cNvSpPr>
            <a:spLocks noGrp="1"/>
          </p:cNvSpPr>
          <p:nvPr>
            <p:ph type="title"/>
          </p:nvPr>
        </p:nvSpPr>
        <p:spPr>
          <a:xfrm>
            <a:off x="1097280" y="2788920"/>
            <a:ext cx="10058400" cy="731520"/>
          </a:xfrm>
        </p:spPr>
        <p:txBody>
          <a:bodyPr anchor="ctr"/>
          <a:lstStyle/>
          <a:p>
            <a:pPr algn="l"/>
            <a:r>
              <a:rPr sz="3200" b="1" i="0">
                <a:solidFill>
                  <a:srgbClr val="FFFFFF"/>
                </a:solidFill>
                <a:latin typeface="Arial"/>
              </a:rPr>
              <a:t>Gaps</a:t>
            </a:r>
          </a:p>
        </p:txBody>
      </p:sp>
      <p:sp>
        <p:nvSpPr>
          <p:cNvPr id="5" name="TextBox 4"/>
          <p:cNvSpPr txBox="1"/>
          <p:nvPr/>
        </p:nvSpPr>
        <p:spPr>
          <a:xfrm>
            <a:off x="1097280" y="3520440"/>
            <a:ext cx="10058400" cy="457200"/>
          </a:xfrm>
          <a:prstGeom prst="rect">
            <a:avLst/>
          </a:prstGeom>
          <a:noFill/>
        </p:spPr>
        <p:txBody>
          <a:bodyPr wrap="square" anchor="t" lIns="36576" rIns="36576" tIns="21945" bIns="21945">
            <a:spAutoFit/>
          </a:bodyPr>
          <a:lstStyle/>
          <a:p>
            <a:pPr algn="l">
              <a:spcAft>
                <a:spcPts val="0"/>
              </a:spcAft>
            </a:pPr>
            <a:r>
              <a:rPr sz="1400" b="0" i="0">
                <a:solidFill>
                  <a:srgbClr val="FFFFFF"/>
                </a:solidFill>
                <a:latin typeface="Arial"/>
              </a:rPr>
              <a:t>Where the evidence is thin, and how we close it</a:t>
            </a:r>
          </a:p>
        </p:txBody>
      </p:sp>
      <p:sp>
        <p:nvSpPr>
          <p:cNvPr id="6" name="TextBox 5"/>
          <p:cNvSpPr txBox="1"/>
          <p:nvPr/>
        </p:nvSpPr>
        <p:spPr>
          <a:xfrm>
            <a:off x="411480" y="2788920"/>
            <a:ext cx="731520" cy="731520"/>
          </a:xfrm>
          <a:prstGeom prst="rect">
            <a:avLst/>
          </a:prstGeom>
          <a:noFill/>
        </p:spPr>
        <p:txBody>
          <a:bodyPr wrap="square" anchor="ctr" lIns="36576" rIns="36576" tIns="21945" bIns="21945">
            <a:spAutoFit/>
          </a:bodyPr>
          <a:lstStyle/>
          <a:p>
            <a:pPr algn="l">
              <a:spcAft>
                <a:spcPts val="400"/>
              </a:spcAft>
            </a:pPr>
            <a:r>
              <a:rPr sz="3200" b="0" i="0">
                <a:solidFill>
                  <a:srgbClr val="FFFFFF"/>
                </a:solidFill>
                <a:latin typeface="Arial"/>
              </a:rPr>
              <a:t>04</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D9D9D9"/>
                </a:solidFill>
                <a:latin typeface="Arial"/>
              </a:rPr>
              <a:t>DRAFT FOR DISCUSSION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Marketing, investment returns and the spend and jobs evidence are the gaps that weaken the report</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GAP MAP</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RFP SCM002-2025 s2-4 and SLA Annexure B tested against all inputs received</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25</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11420856" cy="4718304"/>
        </p:xfrm>
        <a:graphic>
          <a:graphicData uri="http://schemas.openxmlformats.org/drawingml/2006/table">
            <a:tbl>
              <a:tblPr firstRow="1" bandRow="0">
                <a:tableStyleId>{5C22544A-7EE6-4342-B048-85BDC9FD1C3A}</a:tableStyleId>
              </a:tblPr>
              <a:tblGrid>
                <a:gridCol w="2743200"/>
                <a:gridCol w="914400"/>
                <a:gridCol w="5029200"/>
                <a:gridCol w="2734056"/>
              </a:tblGrid>
              <a:tr h="393192">
                <a:tc>
                  <a:txBody>
                    <a:bodyPr wrap="square"/>
                    <a:lstStyle/>
                    <a:p>
                      <a:pPr algn="l"/>
                      <a:r>
                        <a:rPr sz="1000" b="1" i="0">
                          <a:solidFill>
                            <a:srgbClr val="FFFFFF"/>
                          </a:solidFill>
                          <a:latin typeface="Arial"/>
                        </a:rPr>
                        <a:t>Gap</a:t>
                      </a:r>
                    </a:p>
                  </a:txBody>
                  <a:tcPr marL="54864" marR="54864" marT="27432" marB="27432" anchor="ctr">
                    <a:solidFill>
                      <a:srgbClr val="1F497D"/>
                    </a:solidFill>
                  </a:tcPr>
                </a:tc>
                <a:tc>
                  <a:txBody>
                    <a:bodyPr wrap="square"/>
                    <a:lstStyle/>
                    <a:p>
                      <a:pPr algn="l"/>
                      <a:r>
                        <a:rPr sz="1000" b="1" i="0">
                          <a:solidFill>
                            <a:srgbClr val="FFFFFF"/>
                          </a:solidFill>
                          <a:latin typeface="Arial"/>
                        </a:rPr>
                        <a:t>Rating</a:t>
                      </a:r>
                    </a:p>
                  </a:txBody>
                  <a:tcPr marL="54864" marR="54864" marT="27432" marB="27432" anchor="ctr">
                    <a:solidFill>
                      <a:srgbClr val="1F497D"/>
                    </a:solidFill>
                  </a:tcPr>
                </a:tc>
                <a:tc>
                  <a:txBody>
                    <a:bodyPr wrap="square"/>
                    <a:lstStyle/>
                    <a:p>
                      <a:pPr algn="l"/>
                      <a:r>
                        <a:rPr sz="1000" b="1" i="0">
                          <a:solidFill>
                            <a:srgbClr val="FFFFFF"/>
                          </a:solidFill>
                          <a:latin typeface="Arial"/>
                        </a:rPr>
                        <a:t>What is missing</a:t>
                      </a:r>
                    </a:p>
                  </a:txBody>
                  <a:tcPr marL="54864" marR="54864" marT="27432" marB="27432" anchor="ctr">
                    <a:solidFill>
                      <a:srgbClr val="1F497D"/>
                    </a:solidFill>
                  </a:tcPr>
                </a:tc>
                <a:tc>
                  <a:txBody>
                    <a:bodyPr wrap="square"/>
                    <a:lstStyle/>
                    <a:p>
                      <a:pPr algn="l"/>
                      <a:r>
                        <a:rPr sz="1000" b="1" i="0">
                          <a:solidFill>
                            <a:srgbClr val="FFFFFF"/>
                          </a:solidFill>
                          <a:latin typeface="Arial"/>
                        </a:rPr>
                        <a:t>Requirement at risk</a:t>
                      </a:r>
                    </a:p>
                  </a:txBody>
                  <a:tcPr marL="54864" marR="54864" marT="27432" marB="27432" anchor="ctr">
                    <a:solidFill>
                      <a:srgbClr val="1F497D"/>
                    </a:solidFill>
                  </a:tcPr>
                </a:tc>
              </a:tr>
              <a:tr h="393192">
                <a:tc>
                  <a:txBody>
                    <a:bodyPr wrap="square"/>
                    <a:lstStyle/>
                    <a:p>
                      <a:pPr algn="l"/>
                      <a:r>
                        <a:rPr sz="1000" b="1" i="0">
                          <a:solidFill>
                            <a:srgbClr val="1F497D"/>
                          </a:solidFill>
                          <a:latin typeface="Arial"/>
                        </a:rPr>
                        <a:t>Marketing and brand</a:t>
                      </a:r>
                    </a:p>
                  </a:txBody>
                  <a:tcPr marL="54864" marR="54864" marT="27432" marB="27432" anchor="ctr">
                    <a:solidFill>
                      <a:srgbClr val="FFFFFF"/>
                    </a:solidFill>
                  </a:tcPr>
                </a:tc>
                <a:tc>
                  <a:txBody>
                    <a:bodyPr wrap="square"/>
                    <a:lstStyle/>
                    <a:p>
                      <a:pPr algn="l"/>
                      <a:r>
                        <a:rPr sz="1000" b="1" i="0">
                          <a:solidFill>
                            <a:srgbClr val="FFFFFF"/>
                          </a:solidFill>
                          <a:latin typeface="Arial"/>
                        </a:rPr>
                        <a:t>Critical</a:t>
                      </a:r>
                    </a:p>
                  </a:txBody>
                  <a:tcPr marL="54864" marR="54864" marT="27432" marB="27432" anchor="ctr">
                    <a:solidFill>
                      <a:srgbClr val="D9262B"/>
                    </a:solidFill>
                  </a:tcPr>
                </a:tc>
                <a:tc>
                  <a:txBody>
                    <a:bodyPr wrap="square"/>
                    <a:lstStyle/>
                    <a:p>
                      <a:pPr algn="l"/>
                      <a:r>
                        <a:rPr sz="1000" b="0" i="0">
                          <a:solidFill>
                            <a:srgbClr val="404040"/>
                          </a:solidFill>
                          <a:latin typeface="Arial"/>
                        </a:rPr>
                        <a:t>No audit of spend, channels, campaign return or brand health; segments not sized</a:t>
                      </a:r>
                    </a:p>
                  </a:txBody>
                  <a:tcPr marL="54864" marR="54864" marT="27432" marB="27432" anchor="ctr">
                    <a:solidFill>
                      <a:srgbClr val="FFFFFF"/>
                    </a:solidFill>
                  </a:tcPr>
                </a:tc>
                <a:tc>
                  <a:txBody>
                    <a:bodyPr wrap="square"/>
                    <a:lstStyle/>
                    <a:p>
                      <a:pPr algn="l"/>
                      <a:r>
                        <a:rPr sz="1000" b="0" i="0">
                          <a:solidFill>
                            <a:srgbClr val="7F7F7F"/>
                          </a:solidFill>
                          <a:latin typeface="Arial"/>
                        </a:rPr>
                        <a:t>SLA 4.1 marketing recommendations</a:t>
                      </a:r>
                    </a:p>
                  </a:txBody>
                  <a:tcPr marL="54864" marR="54864" marT="27432" marB="27432" anchor="ctr">
                    <a:solidFill>
                      <a:srgbClr val="FFFFFF"/>
                    </a:solidFill>
                  </a:tcPr>
                </a:tc>
              </a:tr>
              <a:tr h="393192">
                <a:tc>
                  <a:txBody>
                    <a:bodyPr wrap="square"/>
                    <a:lstStyle/>
                    <a:p>
                      <a:pPr algn="l"/>
                      <a:r>
                        <a:rPr sz="1000" b="1" i="0">
                          <a:solidFill>
                            <a:srgbClr val="1F497D"/>
                          </a:solidFill>
                          <a:latin typeface="Arial"/>
                        </a:rPr>
                        <a:t>Target metric and baseline</a:t>
                      </a:r>
                    </a:p>
                  </a:txBody>
                  <a:tcPr marL="54864" marR="54864" marT="27432" marB="27432" anchor="ctr">
                    <a:solidFill>
                      <a:srgbClr val="F2F2F2"/>
                    </a:solidFill>
                  </a:tcPr>
                </a:tc>
                <a:tc>
                  <a:txBody>
                    <a:bodyPr wrap="square"/>
                    <a:lstStyle/>
                    <a:p>
                      <a:pPr algn="l"/>
                      <a:r>
                        <a:rPr sz="1000" b="1" i="0">
                          <a:solidFill>
                            <a:srgbClr val="FFFFFF"/>
                          </a:solidFill>
                          <a:latin typeface="Arial"/>
                        </a:rPr>
                        <a:t>Critical</a:t>
                      </a:r>
                    </a:p>
                  </a:txBody>
                  <a:tcPr marL="54864" marR="54864" marT="27432" marB="27432" anchor="ctr">
                    <a:solidFill>
                      <a:srgbClr val="D9262B"/>
                    </a:solidFill>
                  </a:tcPr>
                </a:tc>
                <a:tc>
                  <a:txBody>
                    <a:bodyPr wrap="square"/>
                    <a:lstStyle/>
                    <a:p>
                      <a:pPr algn="l"/>
                      <a:r>
                        <a:rPr sz="1000" b="0" i="0">
                          <a:solidFill>
                            <a:srgbClr val="404040"/>
                          </a:solidFill>
                          <a:latin typeface="Arial"/>
                        </a:rPr>
                        <a:t>Six or more baselines; goal not reconciled to any one source</a:t>
                      </a:r>
                    </a:p>
                  </a:txBody>
                  <a:tcPr marL="54864" marR="54864" marT="27432" marB="27432" anchor="ctr">
                    <a:solidFill>
                      <a:srgbClr val="F2F2F2"/>
                    </a:solidFill>
                  </a:tcPr>
                </a:tc>
                <a:tc>
                  <a:txBody>
                    <a:bodyPr wrap="square"/>
                    <a:lstStyle/>
                    <a:p>
                      <a:pPr algn="l"/>
                      <a:r>
                        <a:rPr sz="1000" b="0" i="0">
                          <a:solidFill>
                            <a:srgbClr val="7F7F7F"/>
                          </a:solidFill>
                          <a:latin typeface="Arial"/>
                        </a:rPr>
                        <a:t>Final report, M&amp;E toolkit</a:t>
                      </a:r>
                    </a:p>
                  </a:txBody>
                  <a:tcPr marL="54864" marR="54864" marT="27432" marB="27432" anchor="ctr">
                    <a:solidFill>
                      <a:srgbClr val="F2F2F2"/>
                    </a:solidFill>
                  </a:tcPr>
                </a:tc>
              </a:tr>
              <a:tr h="393192">
                <a:tc>
                  <a:txBody>
                    <a:bodyPr wrap="square"/>
                    <a:lstStyle/>
                    <a:p>
                      <a:pPr algn="l"/>
                      <a:r>
                        <a:rPr sz="1000" b="1" i="0">
                          <a:solidFill>
                            <a:srgbClr val="1F497D"/>
                          </a:solidFill>
                          <a:latin typeface="Arial"/>
                        </a:rPr>
                        <a:t>Spend, yield and jobs</a:t>
                      </a:r>
                    </a:p>
                  </a:txBody>
                  <a:tcPr marL="54864" marR="54864" marT="27432" marB="27432" anchor="ctr">
                    <a:solidFill>
                      <a:srgbClr val="FFFFFF"/>
                    </a:solidFill>
                  </a:tcPr>
                </a:tc>
                <a:tc>
                  <a:txBody>
                    <a:bodyPr wrap="square"/>
                    <a:lstStyle/>
                    <a:p>
                      <a:pPr algn="l"/>
                      <a:r>
                        <a:rPr sz="1000" b="1" i="0">
                          <a:solidFill>
                            <a:srgbClr val="FFFFFF"/>
                          </a:solidFill>
                          <a:latin typeface="Arial"/>
                        </a:rPr>
                        <a:t>Critical</a:t>
                      </a:r>
                    </a:p>
                  </a:txBody>
                  <a:tcPr marL="54864" marR="54864" marT="27432" marB="27432" anchor="ctr">
                    <a:solidFill>
                      <a:srgbClr val="D9262B"/>
                    </a:solidFill>
                  </a:tcPr>
                </a:tc>
                <a:tc>
                  <a:txBody>
                    <a:bodyPr wrap="square"/>
                    <a:lstStyle/>
                    <a:p>
                      <a:pPr algn="l"/>
                      <a:r>
                        <a:rPr sz="1000" b="0" i="0">
                          <a:solidFill>
                            <a:srgbClr val="404040"/>
                          </a:solidFill>
                          <a:latin typeface="Arial"/>
                        </a:rPr>
                        <a:t>Model projects arrivals only; 300,000 jobs goal untested</a:t>
                      </a:r>
                    </a:p>
                  </a:txBody>
                  <a:tcPr marL="54864" marR="54864" marT="27432" marB="27432" anchor="ctr">
                    <a:solidFill>
                      <a:srgbClr val="FFFFFF"/>
                    </a:solidFill>
                  </a:tcPr>
                </a:tc>
                <a:tc>
                  <a:txBody>
                    <a:bodyPr wrap="square"/>
                    <a:lstStyle/>
                    <a:p>
                      <a:pPr algn="l"/>
                      <a:r>
                        <a:rPr sz="1000" b="0" i="0">
                          <a:solidFill>
                            <a:srgbClr val="7F7F7F"/>
                          </a:solidFill>
                          <a:latin typeface="Arial"/>
                        </a:rPr>
                        <a:t>G4J alignment; M&amp;E targets</a:t>
                      </a:r>
                    </a:p>
                  </a:txBody>
                  <a:tcPr marL="54864" marR="54864" marT="27432" marB="27432" anchor="ctr">
                    <a:solidFill>
                      <a:srgbClr val="FFFFFF"/>
                    </a:solidFill>
                  </a:tcPr>
                </a:tc>
              </a:tr>
              <a:tr h="393192">
                <a:tc>
                  <a:txBody>
                    <a:bodyPr wrap="square"/>
                    <a:lstStyle/>
                    <a:p>
                      <a:pPr algn="l"/>
                      <a:r>
                        <a:rPr sz="1000" b="1" i="0">
                          <a:solidFill>
                            <a:srgbClr val="1F497D"/>
                          </a:solidFill>
                          <a:latin typeface="Arial"/>
                        </a:rPr>
                        <a:t>Investment pipeline and ROI</a:t>
                      </a:r>
                    </a:p>
                  </a:txBody>
                  <a:tcPr marL="54864" marR="54864" marT="27432" marB="27432" anchor="ctr">
                    <a:solidFill>
                      <a:srgbClr val="F2F2F2"/>
                    </a:solidFill>
                  </a:tcPr>
                </a:tc>
                <a:tc>
                  <a:txBody>
                    <a:bodyPr wrap="square"/>
                    <a:lstStyle/>
                    <a:p>
                      <a:pPr algn="l"/>
                      <a:r>
                        <a:rPr sz="1000" b="1" i="0">
                          <a:solidFill>
                            <a:srgbClr val="FFFFFF"/>
                          </a:solidFill>
                          <a:latin typeface="Arial"/>
                        </a:rPr>
                        <a:t>Critical</a:t>
                      </a:r>
                    </a:p>
                  </a:txBody>
                  <a:tcPr marL="54864" marR="54864" marT="27432" marB="27432" anchor="ctr">
                    <a:solidFill>
                      <a:srgbClr val="D9262B"/>
                    </a:solidFill>
                  </a:tcPr>
                </a:tc>
                <a:tc>
                  <a:txBody>
                    <a:bodyPr wrap="square"/>
                    <a:lstStyle/>
                    <a:p>
                      <a:pPr algn="l"/>
                      <a:r>
                        <a:rPr sz="1000" b="0" i="0">
                          <a:solidFill>
                            <a:srgbClr val="404040"/>
                          </a:solidFill>
                          <a:latin typeface="Arial"/>
                        </a:rPr>
                        <a:t>Assets and readiness mapped; no ranked upgrades or returns</a:t>
                      </a:r>
                    </a:p>
                  </a:txBody>
                  <a:tcPr marL="54864" marR="54864" marT="27432" marB="27432" anchor="ctr">
                    <a:solidFill>
                      <a:srgbClr val="F2F2F2"/>
                    </a:solidFill>
                  </a:tcPr>
                </a:tc>
                <a:tc>
                  <a:txBody>
                    <a:bodyPr wrap="square"/>
                    <a:lstStyle/>
                    <a:p>
                      <a:pPr algn="l"/>
                      <a:r>
                        <a:rPr sz="1000" b="0" i="0">
                          <a:solidFill>
                            <a:srgbClr val="7F7F7F"/>
                          </a:solidFill>
                          <a:latin typeface="Arial"/>
                        </a:rPr>
                        <a:t>SLA 4.2 ROI projections</a:t>
                      </a:r>
                    </a:p>
                  </a:txBody>
                  <a:tcPr marL="54864" marR="54864" marT="27432" marB="27432" anchor="ctr">
                    <a:solidFill>
                      <a:srgbClr val="F2F2F2"/>
                    </a:solidFill>
                  </a:tcPr>
                </a:tc>
              </a:tr>
              <a:tr h="393192">
                <a:tc>
                  <a:txBody>
                    <a:bodyPr wrap="square"/>
                    <a:lstStyle/>
                    <a:p>
                      <a:pPr algn="l"/>
                      <a:r>
                        <a:rPr sz="1000" b="1" i="0">
                          <a:solidFill>
                            <a:srgbClr val="1F497D"/>
                          </a:solidFill>
                          <a:latin typeface="Arial"/>
                        </a:rPr>
                        <a:t>M&amp;E toolkit</a:t>
                      </a:r>
                    </a:p>
                  </a:txBody>
                  <a:tcPr marL="54864" marR="54864" marT="27432" marB="27432" anchor="ctr">
                    <a:solidFill>
                      <a:srgbClr val="FFFFFF"/>
                    </a:solidFill>
                  </a:tcPr>
                </a:tc>
                <a:tc>
                  <a:txBody>
                    <a:bodyPr wrap="square"/>
                    <a:lstStyle/>
                    <a:p>
                      <a:pPr algn="l"/>
                      <a:r>
                        <a:rPr sz="1000" b="1" i="0">
                          <a:solidFill>
                            <a:srgbClr val="FFFFFF"/>
                          </a:solidFill>
                          <a:latin typeface="Arial"/>
                        </a:rPr>
                        <a:t>Critical</a:t>
                      </a:r>
                    </a:p>
                  </a:txBody>
                  <a:tcPr marL="54864" marR="54864" marT="27432" marB="27432" anchor="ctr">
                    <a:solidFill>
                      <a:srgbClr val="D9262B"/>
                    </a:solidFill>
                  </a:tcPr>
                </a:tc>
                <a:tc>
                  <a:txBody>
                    <a:bodyPr wrap="square"/>
                    <a:lstStyle/>
                    <a:p>
                      <a:pPr algn="l"/>
                      <a:r>
                        <a:rPr sz="1000" b="0" i="0">
                          <a:solidFill>
                            <a:srgbClr val="404040"/>
                          </a:solidFill>
                          <a:latin typeface="Arial"/>
                        </a:rPr>
                        <a:t>Not tabled</a:t>
                      </a:r>
                    </a:p>
                  </a:txBody>
                  <a:tcPr marL="54864" marR="54864" marT="27432" marB="27432" anchor="ctr">
                    <a:solidFill>
                      <a:srgbClr val="FFFFFF"/>
                    </a:solidFill>
                  </a:tcPr>
                </a:tc>
                <a:tc>
                  <a:txBody>
                    <a:bodyPr wrap="square"/>
                    <a:lstStyle/>
                    <a:p>
                      <a:pPr algn="l"/>
                      <a:r>
                        <a:rPr sz="1000" b="0" i="0">
                          <a:solidFill>
                            <a:srgbClr val="7F7F7F"/>
                          </a:solidFill>
                          <a:latin typeface="Arial"/>
                        </a:rPr>
                        <a:t>SLA 4.4 deliverable</a:t>
                      </a:r>
                    </a:p>
                  </a:txBody>
                  <a:tcPr marL="54864" marR="54864" marT="27432" marB="27432" anchor="ctr">
                    <a:solidFill>
                      <a:srgbClr val="FFFFFF"/>
                    </a:solidFill>
                  </a:tcPr>
                </a:tc>
              </a:tr>
              <a:tr h="393192">
                <a:tc>
                  <a:txBody>
                    <a:bodyPr wrap="square"/>
                    <a:lstStyle/>
                    <a:p>
                      <a:pPr algn="l"/>
                      <a:r>
                        <a:rPr sz="1000" b="1" i="0">
                          <a:solidFill>
                            <a:srgbClr val="1F497D"/>
                          </a:solidFill>
                          <a:latin typeface="Arial"/>
                        </a:rPr>
                        <a:t>Mega and business events</a:t>
                      </a:r>
                    </a:p>
                  </a:txBody>
                  <a:tcPr marL="54864" marR="54864" marT="27432" marB="27432" anchor="ctr">
                    <a:solidFill>
                      <a:srgbClr val="F2F2F2"/>
                    </a:solidFill>
                  </a:tcPr>
                </a:tc>
                <a:tc>
                  <a:txBody>
                    <a:bodyPr wrap="square"/>
                    <a:lstStyle/>
                    <a:p>
                      <a:pPr algn="l"/>
                      <a:r>
                        <a:rPr sz="1000" b="1" i="0">
                          <a:solidFill>
                            <a:srgbClr val="262626"/>
                          </a:solidFill>
                          <a:latin typeface="Arial"/>
                        </a:rPr>
                        <a:t>Material</a:t>
                      </a:r>
                    </a:p>
                  </a:txBody>
                  <a:tcPr marL="54864" marR="54864" marT="27432" marB="27432" anchor="ctr">
                    <a:solidFill>
                      <a:srgbClr val="F2A900"/>
                    </a:solidFill>
                  </a:tcPr>
                </a:tc>
                <a:tc>
                  <a:txBody>
                    <a:bodyPr wrap="square"/>
                    <a:lstStyle/>
                    <a:p>
                      <a:pPr algn="l"/>
                      <a:r>
                        <a:rPr sz="1000" b="0" i="0">
                          <a:solidFill>
                            <a:srgbClr val="404040"/>
                          </a:solidFill>
                          <a:latin typeface="Arial"/>
                        </a:rPr>
                        <a:t>MICE covered; mega-event pipeline and bidding strategy absent</a:t>
                      </a:r>
                    </a:p>
                  </a:txBody>
                  <a:tcPr marL="54864" marR="54864" marT="27432" marB="27432" anchor="ctr">
                    <a:solidFill>
                      <a:srgbClr val="F2F2F2"/>
                    </a:solidFill>
                  </a:tcPr>
                </a:tc>
                <a:tc>
                  <a:txBody>
                    <a:bodyPr wrap="square"/>
                    <a:lstStyle/>
                    <a:p>
                      <a:pPr algn="l"/>
                      <a:r>
                        <a:rPr sz="1000" b="0" i="0">
                          <a:solidFill>
                            <a:srgbClr val="7F7F7F"/>
                          </a:solidFill>
                          <a:latin typeface="Arial"/>
                        </a:rPr>
                        <a:t>Tree 1c; RFP s2</a:t>
                      </a:r>
                    </a:p>
                  </a:txBody>
                  <a:tcPr marL="54864" marR="54864" marT="27432" marB="27432" anchor="ctr">
                    <a:solidFill>
                      <a:srgbClr val="F2F2F2"/>
                    </a:solidFill>
                  </a:tcPr>
                </a:tc>
              </a:tr>
              <a:tr h="393192">
                <a:tc>
                  <a:txBody>
                    <a:bodyPr wrap="square"/>
                    <a:lstStyle/>
                    <a:p>
                      <a:pPr algn="l"/>
                      <a:r>
                        <a:rPr sz="1000" b="1" i="0">
                          <a:solidFill>
                            <a:srgbClr val="1F497D"/>
                          </a:solidFill>
                          <a:latin typeface="Arial"/>
                        </a:rPr>
                        <a:t>Safety and visas</a:t>
                      </a:r>
                    </a:p>
                  </a:txBody>
                  <a:tcPr marL="54864" marR="54864" marT="27432" marB="27432" anchor="ctr">
                    <a:solidFill>
                      <a:srgbClr val="FFFFFF"/>
                    </a:solidFill>
                  </a:tcPr>
                </a:tc>
                <a:tc>
                  <a:txBody>
                    <a:bodyPr wrap="square"/>
                    <a:lstStyle/>
                    <a:p>
                      <a:pPr algn="l"/>
                      <a:r>
                        <a:rPr sz="1000" b="1" i="0">
                          <a:solidFill>
                            <a:srgbClr val="262626"/>
                          </a:solidFill>
                          <a:latin typeface="Arial"/>
                        </a:rPr>
                        <a:t>Material</a:t>
                      </a:r>
                    </a:p>
                  </a:txBody>
                  <a:tcPr marL="54864" marR="54864" marT="27432" marB="27432" anchor="ctr">
                    <a:solidFill>
                      <a:srgbClr val="F2A900"/>
                    </a:solidFill>
                  </a:tcPr>
                </a:tc>
                <a:tc>
                  <a:txBody>
                    <a:bodyPr wrap="square"/>
                    <a:lstStyle/>
                    <a:p>
                      <a:pPr algn="l"/>
                      <a:r>
                        <a:rPr sz="1000" b="0" i="0">
                          <a:solidFill>
                            <a:srgbClr val="404040"/>
                          </a:solidFill>
                          <a:latin typeface="Arial"/>
                        </a:rPr>
                        <a:t>Perception and modelled evidence only; DHA and SAPS not engaged</a:t>
                      </a:r>
                    </a:p>
                  </a:txBody>
                  <a:tcPr marL="54864" marR="54864" marT="27432" marB="27432" anchor="ctr">
                    <a:solidFill>
                      <a:srgbClr val="FFFFFF"/>
                    </a:solidFill>
                  </a:tcPr>
                </a:tc>
                <a:tc>
                  <a:txBody>
                    <a:bodyPr wrap="square"/>
                    <a:lstStyle/>
                    <a:p>
                      <a:pPr algn="l"/>
                      <a:r>
                        <a:rPr sz="1000" b="0" i="0">
                          <a:solidFill>
                            <a:srgbClr val="7F7F7F"/>
                          </a:solidFill>
                          <a:latin typeface="Arial"/>
                        </a:rPr>
                        <a:t>Tree 2c</a:t>
                      </a:r>
                    </a:p>
                  </a:txBody>
                  <a:tcPr marL="54864" marR="54864" marT="27432" marB="27432" anchor="ctr">
                    <a:solidFill>
                      <a:srgbClr val="FFFFFF"/>
                    </a:solidFill>
                  </a:tcPr>
                </a:tc>
              </a:tr>
              <a:tr h="393192">
                <a:tc>
                  <a:txBody>
                    <a:bodyPr wrap="square"/>
                    <a:lstStyle/>
                    <a:p>
                      <a:pPr algn="l"/>
                      <a:r>
                        <a:rPr sz="1000" b="1" i="0">
                          <a:solidFill>
                            <a:srgbClr val="1F497D"/>
                          </a:solidFill>
                          <a:latin typeface="Arial"/>
                        </a:rPr>
                        <a:t>Skills and workforce</a:t>
                      </a:r>
                    </a:p>
                  </a:txBody>
                  <a:tcPr marL="54864" marR="54864" marT="27432" marB="27432" anchor="ctr">
                    <a:solidFill>
                      <a:srgbClr val="F2F2F2"/>
                    </a:solidFill>
                  </a:tcPr>
                </a:tc>
                <a:tc>
                  <a:txBody>
                    <a:bodyPr wrap="square"/>
                    <a:lstStyle/>
                    <a:p>
                      <a:pPr algn="l"/>
                      <a:r>
                        <a:rPr sz="1000" b="1" i="0">
                          <a:solidFill>
                            <a:srgbClr val="262626"/>
                          </a:solidFill>
                          <a:latin typeface="Arial"/>
                        </a:rPr>
                        <a:t>Material</a:t>
                      </a:r>
                    </a:p>
                  </a:txBody>
                  <a:tcPr marL="54864" marR="54864" marT="27432" marB="27432" anchor="ctr">
                    <a:solidFill>
                      <a:srgbClr val="F2A900"/>
                    </a:solidFill>
                  </a:tcPr>
                </a:tc>
                <a:tc>
                  <a:txBody>
                    <a:bodyPr wrap="square"/>
                    <a:lstStyle/>
                    <a:p>
                      <a:pPr algn="l"/>
                      <a:r>
                        <a:rPr sz="1000" b="0" i="0">
                          <a:solidFill>
                            <a:srgbClr val="404040"/>
                          </a:solidFill>
                          <a:latin typeface="Arial"/>
                        </a:rPr>
                        <a:t>No labour supply or training analysis</a:t>
                      </a:r>
                    </a:p>
                  </a:txBody>
                  <a:tcPr marL="54864" marR="54864" marT="27432" marB="27432" anchor="ctr">
                    <a:solidFill>
                      <a:srgbClr val="F2F2F2"/>
                    </a:solidFill>
                  </a:tcPr>
                </a:tc>
                <a:tc>
                  <a:txBody>
                    <a:bodyPr wrap="square"/>
                    <a:lstStyle/>
                    <a:p>
                      <a:pPr algn="l"/>
                      <a:r>
                        <a:rPr sz="1000" b="0" i="0">
                          <a:solidFill>
                            <a:srgbClr val="7F7F7F"/>
                          </a:solidFill>
                          <a:latin typeface="Arial"/>
                        </a:rPr>
                        <a:t>Tree 3b; RFP s3.3</a:t>
                      </a:r>
                    </a:p>
                  </a:txBody>
                  <a:tcPr marL="54864" marR="54864" marT="27432" marB="27432" anchor="ctr">
                    <a:solidFill>
                      <a:srgbClr val="F2F2F2"/>
                    </a:solidFill>
                  </a:tcPr>
                </a:tc>
              </a:tr>
              <a:tr h="393192">
                <a:tc>
                  <a:txBody>
                    <a:bodyPr wrap="square"/>
                    <a:lstStyle/>
                    <a:p>
                      <a:pPr algn="l"/>
                      <a:r>
                        <a:rPr sz="1000" b="1" i="0">
                          <a:solidFill>
                            <a:srgbClr val="1F497D"/>
                          </a:solidFill>
                          <a:latin typeface="Arial"/>
                        </a:rPr>
                        <a:t>Roles across government tiers</a:t>
                      </a:r>
                    </a:p>
                  </a:txBody>
                  <a:tcPr marL="54864" marR="54864" marT="27432" marB="27432" anchor="ctr">
                    <a:solidFill>
                      <a:srgbClr val="FFFFFF"/>
                    </a:solidFill>
                  </a:tcPr>
                </a:tc>
                <a:tc>
                  <a:txBody>
                    <a:bodyPr wrap="square"/>
                    <a:lstStyle/>
                    <a:p>
                      <a:pPr algn="l"/>
                      <a:r>
                        <a:rPr sz="1000" b="1" i="0">
                          <a:solidFill>
                            <a:srgbClr val="262626"/>
                          </a:solidFill>
                          <a:latin typeface="Arial"/>
                        </a:rPr>
                        <a:t>Material</a:t>
                      </a:r>
                    </a:p>
                  </a:txBody>
                  <a:tcPr marL="54864" marR="54864" marT="27432" marB="27432" anchor="ctr">
                    <a:solidFill>
                      <a:srgbClr val="F2A900"/>
                    </a:solidFill>
                  </a:tcPr>
                </a:tc>
                <a:tc>
                  <a:txBody>
                    <a:bodyPr wrap="square"/>
                    <a:lstStyle/>
                    <a:p>
                      <a:pPr algn="l"/>
                      <a:r>
                        <a:rPr sz="1000" b="0" i="0">
                          <a:solidFill>
                            <a:srgbClr val="404040"/>
                          </a:solidFill>
                          <a:latin typeface="Arial"/>
                        </a:rPr>
                        <a:t>Mandates described; no responsibility map</a:t>
                      </a:r>
                    </a:p>
                  </a:txBody>
                  <a:tcPr marL="54864" marR="54864" marT="27432" marB="27432" anchor="ctr">
                    <a:solidFill>
                      <a:srgbClr val="FFFFFF"/>
                    </a:solidFill>
                  </a:tcPr>
                </a:tc>
                <a:tc>
                  <a:txBody>
                    <a:bodyPr wrap="square"/>
                    <a:lstStyle/>
                    <a:p>
                      <a:pPr algn="l"/>
                      <a:r>
                        <a:rPr sz="1000" b="0" i="0">
                          <a:solidFill>
                            <a:srgbClr val="7F7F7F"/>
                          </a:solidFill>
                          <a:latin typeface="Arial"/>
                        </a:rPr>
                        <a:t>SLA 4.8 roadmap</a:t>
                      </a:r>
                    </a:p>
                  </a:txBody>
                  <a:tcPr marL="54864" marR="54864" marT="27432" marB="27432" anchor="ctr">
                    <a:solidFill>
                      <a:srgbClr val="FFFFFF"/>
                    </a:solidFill>
                  </a:tcPr>
                </a:tc>
              </a:tr>
              <a:tr h="393192">
                <a:tc>
                  <a:txBody>
                    <a:bodyPr wrap="square"/>
                    <a:lstStyle/>
                    <a:p>
                      <a:pPr algn="l"/>
                      <a:r>
                        <a:rPr sz="1000" b="1" i="0">
                          <a:solidFill>
                            <a:srgbClr val="1F497D"/>
                          </a:solidFill>
                          <a:latin typeface="Arial"/>
                        </a:rPr>
                        <a:t>Stakeholder coverage</a:t>
                      </a:r>
                    </a:p>
                  </a:txBody>
                  <a:tcPr marL="54864" marR="54864" marT="27432" marB="27432" anchor="ctr">
                    <a:solidFill>
                      <a:srgbClr val="F2F2F2"/>
                    </a:solidFill>
                  </a:tcPr>
                </a:tc>
                <a:tc>
                  <a:txBody>
                    <a:bodyPr wrap="square"/>
                    <a:lstStyle/>
                    <a:p>
                      <a:pPr algn="l"/>
                      <a:r>
                        <a:rPr sz="1000" b="1" i="0">
                          <a:solidFill>
                            <a:srgbClr val="262626"/>
                          </a:solidFill>
                          <a:latin typeface="Arial"/>
                        </a:rPr>
                        <a:t>Material</a:t>
                      </a:r>
                    </a:p>
                  </a:txBody>
                  <a:tcPr marL="54864" marR="54864" marT="27432" marB="27432" anchor="ctr">
                    <a:solidFill>
                      <a:srgbClr val="F2A900"/>
                    </a:solidFill>
                  </a:tcPr>
                </a:tc>
                <a:tc>
                  <a:txBody>
                    <a:bodyPr wrap="square"/>
                    <a:lstStyle/>
                    <a:p>
                      <a:pPr algn="l"/>
                      <a:r>
                        <a:rPr sz="1000" b="0" i="0">
                          <a:solidFill>
                            <a:srgbClr val="404040"/>
                          </a:solidFill>
                          <a:latin typeface="Arial"/>
                        </a:rPr>
                        <a:t>Airlines, trade, SA Tourism, City, DHA and Wesgro not yet heard</a:t>
                      </a:r>
                    </a:p>
                  </a:txBody>
                  <a:tcPr marL="54864" marR="54864" marT="27432" marB="27432" anchor="ctr">
                    <a:solidFill>
                      <a:srgbClr val="F2F2F2"/>
                    </a:solidFill>
                  </a:tcPr>
                </a:tc>
                <a:tc>
                  <a:txBody>
                    <a:bodyPr wrap="square"/>
                    <a:lstStyle/>
                    <a:p>
                      <a:pPr algn="l"/>
                      <a:r>
                        <a:rPr sz="1000" b="0" i="0">
                          <a:solidFill>
                            <a:srgbClr val="7F7F7F"/>
                          </a:solidFill>
                          <a:latin typeface="Arial"/>
                        </a:rPr>
                        <a:t>SLA 3.6; 10 interactions</a:t>
                      </a:r>
                    </a:p>
                  </a:txBody>
                  <a:tcPr marL="54864" marR="54864" marT="27432" marB="27432" anchor="ctr">
                    <a:solidFill>
                      <a:srgbClr val="F2F2F2"/>
                    </a:solidFill>
                  </a:tcPr>
                </a:tc>
              </a:tr>
              <a:tr h="393192">
                <a:tc>
                  <a:txBody>
                    <a:bodyPr wrap="square"/>
                    <a:lstStyle/>
                    <a:p>
                      <a:pPr algn="l"/>
                      <a:r>
                        <a:rPr sz="1000" b="1" i="0">
                          <a:solidFill>
                            <a:srgbClr val="1F497D"/>
                          </a:solidFill>
                          <a:latin typeface="Arial"/>
                        </a:rPr>
                        <a:t>Cruise, ASEAN, Brazil, sustainability, technology</a:t>
                      </a:r>
                    </a:p>
                  </a:txBody>
                  <a:tcPr marL="54864" marR="54864" marT="27432" marB="27432" anchor="ctr">
                    <a:solidFill>
                      <a:srgbClr val="FFFFFF"/>
                    </a:solidFill>
                  </a:tcPr>
                </a:tc>
                <a:tc>
                  <a:txBody>
                    <a:bodyPr wrap="square"/>
                    <a:lstStyle/>
                    <a:p>
                      <a:pPr algn="l"/>
                      <a:r>
                        <a:rPr sz="1000" b="1" i="0">
                          <a:solidFill>
                            <a:srgbClr val="262626"/>
                          </a:solidFill>
                          <a:latin typeface="Arial"/>
                        </a:rPr>
                        <a:t>Material</a:t>
                      </a:r>
                    </a:p>
                  </a:txBody>
                  <a:tcPr marL="54864" marR="54864" marT="27432" marB="27432" anchor="ctr">
                    <a:solidFill>
                      <a:srgbClr val="F2A900"/>
                    </a:solidFill>
                  </a:tcPr>
                </a:tc>
                <a:tc>
                  <a:txBody>
                    <a:bodyPr wrap="square"/>
                    <a:lstStyle/>
                    <a:p>
                      <a:pPr algn="l"/>
                      <a:r>
                        <a:rPr sz="1000" b="0" i="0">
                          <a:solidFill>
                            <a:srgbClr val="404040"/>
                          </a:solidFill>
                          <a:latin typeface="Arial"/>
                        </a:rPr>
                        <a:t>Touched in factbases or trends only</a:t>
                      </a:r>
                    </a:p>
                  </a:txBody>
                  <a:tcPr marL="54864" marR="54864" marT="27432" marB="27432" anchor="ctr">
                    <a:solidFill>
                      <a:srgbClr val="FFFFFF"/>
                    </a:solidFill>
                  </a:tcPr>
                </a:tc>
                <a:tc>
                  <a:txBody>
                    <a:bodyPr wrap="square"/>
                    <a:lstStyle/>
                    <a:p>
                      <a:pPr algn="l"/>
                      <a:r>
                        <a:rPr sz="1000" b="0" i="0">
                          <a:solidFill>
                            <a:srgbClr val="7F7F7F"/>
                          </a:solidFill>
                          <a:latin typeface="Arial"/>
                        </a:rPr>
                        <a:t>RFP s2</a:t>
                      </a:r>
                    </a:p>
                  </a:txBody>
                  <a:tcPr marL="54864" marR="54864" marT="27432" marB="27432"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Marketing is the largest gap: the tree leans on it, yet no workstream has analysed it</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MARKETING AND BRAND</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Demand-Side Analysis (Letsema/Skift, Jun 2026) pp43-55; Current State Diagnostic v2 (Dec 2025) pp22-23; Stakeholder Insights Report (Mar 2026); Global Benchmarking Report (Mar 2026); Cape brand identity concept (2026); DSE factbase (Wesgro 2026-30 plan)</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26</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84048" y="1188720"/>
            <a:ext cx="3703320" cy="2926080"/>
          </a:xfrm>
          <a:prstGeom prst="rect">
            <a:avLst/>
          </a:prstGeom>
          <a:solidFill>
            <a:srgbClr val="F2F2F2"/>
          </a:solidFill>
          <a:ln>
            <a:noFill/>
          </a:ln>
        </p:spPr>
        <p:txBody>
          <a:bodyPr rtlCol="0" anchor="ctr"/>
          <a:lstStyle/>
          <a:p>
            <a:pPr algn="ctr"/>
          </a:p>
        </p:txBody>
      </p:sp>
      <p:sp>
        <p:nvSpPr>
          <p:cNvPr id="9" name="Rectangle 8"/>
          <p:cNvSpPr/>
          <p:nvPr/>
        </p:nvSpPr>
        <p:spPr>
          <a:xfrm>
            <a:off x="384048" y="1188720"/>
            <a:ext cx="54864" cy="2926080"/>
          </a:xfrm>
          <a:prstGeom prst="rect">
            <a:avLst/>
          </a:prstGeom>
          <a:solidFill>
            <a:srgbClr val="00AEEF"/>
          </a:solidFill>
          <a:ln>
            <a:noFill/>
          </a:ln>
        </p:spPr>
        <p:txBody>
          <a:bodyPr rtlCol="0" anchor="ctr"/>
          <a:lstStyle/>
          <a:p>
            <a:pPr algn="ctr"/>
          </a:p>
        </p:txBody>
      </p:sp>
      <p:sp>
        <p:nvSpPr>
          <p:cNvPr id="10" name="TextBox 9"/>
          <p:cNvSpPr txBox="1"/>
          <p:nvPr/>
        </p:nvSpPr>
        <p:spPr>
          <a:xfrm>
            <a:off x="548640" y="1280160"/>
            <a:ext cx="34290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What we already know</a:t>
            </a:r>
          </a:p>
        </p:txBody>
      </p:sp>
      <p:sp>
        <p:nvSpPr>
          <p:cNvPr id="11" name="TextBox 10"/>
          <p:cNvSpPr txBox="1"/>
          <p:nvPr/>
        </p:nvSpPr>
        <p:spPr>
          <a:xfrm>
            <a:off x="548640" y="1600200"/>
            <a:ext cx="3429000" cy="2423160"/>
          </a:xfrm>
          <a:prstGeom prst="rect">
            <a:avLst/>
          </a:prstGeom>
          <a:noFill/>
        </p:spPr>
        <p:txBody>
          <a:bodyPr wrap="square" anchor="t" lIns="36576" rIns="36576" tIns="21945" bIns="21945">
            <a:spAutoFit/>
          </a:bodyPr>
          <a:lstStyle/>
          <a:p>
            <a:pPr algn="l" marL="146304" indent="-146304">
              <a:spcAft>
                <a:spcPts val="500"/>
              </a:spcAft>
              <a:buClr>
                <a:srgbClr val="00AEEF"/>
              </a:buClr>
              <a:buFont typeface="Arial"/>
              <a:buChar char="•"/>
            </a:pPr>
            <a:r>
              <a:rPr sz="1000" b="0" i="0">
                <a:solidFill>
                  <a:srgbClr val="404040"/>
                </a:solidFill>
                <a:latin typeface="Arial"/>
              </a:rPr>
              <a:t>Platform maps for China, India and the Gulf</a:t>
            </a:r>
          </a:p>
          <a:p>
            <a:pPr algn="l" marL="146304" indent="-146304">
              <a:spcAft>
                <a:spcPts val="500"/>
              </a:spcAft>
              <a:buClr>
                <a:srgbClr val="00AEEF"/>
              </a:buClr>
              <a:buFont typeface="Arial"/>
              <a:buChar char="•"/>
            </a:pPr>
            <a:r>
              <a:rPr sz="1000" b="0" i="0">
                <a:solidFill>
                  <a:srgbClr val="404040"/>
                </a:solidFill>
                <a:latin typeface="Arial"/>
              </a:rPr>
              <a:t>Advice to shift from awareness to trade-led conversion</a:t>
            </a:r>
          </a:p>
          <a:p>
            <a:pPr algn="l" marL="146304" indent="-146304">
              <a:spcAft>
                <a:spcPts val="500"/>
              </a:spcAft>
              <a:buClr>
                <a:srgbClr val="00AEEF"/>
              </a:buClr>
              <a:buFont typeface="Arial"/>
              <a:buChar char="•"/>
            </a:pPr>
            <a:r>
              <a:rPr sz="1000" b="0" i="0">
                <a:solidFill>
                  <a:srgbClr val="404040"/>
                </a:solidFill>
                <a:latin typeface="Arial"/>
              </a:rPr>
              <a:t>Search and sentiment signals (wine, Stellenbosch, airport)</a:t>
            </a:r>
          </a:p>
          <a:p>
            <a:pPr algn="l" marL="146304" indent="-146304">
              <a:spcAft>
                <a:spcPts val="500"/>
              </a:spcAft>
              <a:buClr>
                <a:srgbClr val="00AEEF"/>
              </a:buClr>
              <a:buFont typeface="Arial"/>
              <a:buChar char="•"/>
            </a:pPr>
            <a:r>
              <a:rPr sz="1000" b="0" i="0">
                <a:solidFill>
                  <a:srgbClr val="404040"/>
                </a:solidFill>
                <a:latin typeface="Arial"/>
              </a:rPr>
              <a:t>NZ ties marketing to routes (~NZ$55m return, 2023/24)</a:t>
            </a:r>
          </a:p>
          <a:p>
            <a:pPr algn="l" marL="146304" indent="-146304">
              <a:spcAft>
                <a:spcPts val="500"/>
              </a:spcAft>
              <a:buClr>
                <a:srgbClr val="00AEEF"/>
              </a:buClr>
              <a:buFont typeface="Arial"/>
              <a:buChar char="•"/>
            </a:pPr>
            <a:r>
              <a:rPr sz="1000" b="0" i="0">
                <a:solidFill>
                  <a:srgbClr val="404040"/>
                </a:solidFill>
                <a:latin typeface="Arial"/>
              </a:rPr>
              <a:t>Wesgro plans 3 campaigns and 12,500 trade engagements</a:t>
            </a:r>
          </a:p>
        </p:txBody>
      </p:sp>
      <p:sp>
        <p:nvSpPr>
          <p:cNvPr id="12" name="Rectangle 11"/>
          <p:cNvSpPr/>
          <p:nvPr/>
        </p:nvSpPr>
        <p:spPr>
          <a:xfrm>
            <a:off x="4242816" y="1188720"/>
            <a:ext cx="3703320" cy="2926080"/>
          </a:xfrm>
          <a:prstGeom prst="rect">
            <a:avLst/>
          </a:prstGeom>
          <a:solidFill>
            <a:srgbClr val="F2F2F2"/>
          </a:solidFill>
          <a:ln>
            <a:noFill/>
          </a:ln>
        </p:spPr>
        <p:txBody>
          <a:bodyPr rtlCol="0" anchor="ctr"/>
          <a:lstStyle/>
          <a:p>
            <a:pPr algn="ctr"/>
          </a:p>
        </p:txBody>
      </p:sp>
      <p:sp>
        <p:nvSpPr>
          <p:cNvPr id="13" name="Rectangle 12"/>
          <p:cNvSpPr/>
          <p:nvPr/>
        </p:nvSpPr>
        <p:spPr>
          <a:xfrm>
            <a:off x="4242816" y="1188720"/>
            <a:ext cx="54864" cy="2926080"/>
          </a:xfrm>
          <a:prstGeom prst="rect">
            <a:avLst/>
          </a:prstGeom>
          <a:solidFill>
            <a:srgbClr val="00AEEF"/>
          </a:solidFill>
          <a:ln>
            <a:noFill/>
          </a:ln>
        </p:spPr>
        <p:txBody>
          <a:bodyPr rtlCol="0" anchor="ctr"/>
          <a:lstStyle/>
          <a:p>
            <a:pPr algn="ctr"/>
          </a:p>
        </p:txBody>
      </p:sp>
      <p:sp>
        <p:nvSpPr>
          <p:cNvPr id="14" name="TextBox 13"/>
          <p:cNvSpPr txBox="1"/>
          <p:nvPr/>
        </p:nvSpPr>
        <p:spPr>
          <a:xfrm>
            <a:off x="4407407" y="1280160"/>
            <a:ext cx="34290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What is missing</a:t>
            </a:r>
          </a:p>
        </p:txBody>
      </p:sp>
      <p:sp>
        <p:nvSpPr>
          <p:cNvPr id="15" name="TextBox 14"/>
          <p:cNvSpPr txBox="1"/>
          <p:nvPr/>
        </p:nvSpPr>
        <p:spPr>
          <a:xfrm>
            <a:off x="4407407" y="1600200"/>
            <a:ext cx="3429000" cy="2423160"/>
          </a:xfrm>
          <a:prstGeom prst="rect">
            <a:avLst/>
          </a:prstGeom>
          <a:noFill/>
        </p:spPr>
        <p:txBody>
          <a:bodyPr wrap="square" anchor="t" lIns="36576" rIns="36576" tIns="21945" bIns="21945">
            <a:spAutoFit/>
          </a:bodyPr>
          <a:lstStyle/>
          <a:p>
            <a:pPr algn="l" marL="146304" indent="-146304">
              <a:spcAft>
                <a:spcPts val="500"/>
              </a:spcAft>
              <a:buClr>
                <a:srgbClr val="00AEEF"/>
              </a:buClr>
              <a:buFont typeface="Arial"/>
              <a:buChar char="•"/>
            </a:pPr>
            <a:r>
              <a:rPr sz="1000" b="0" i="0">
                <a:solidFill>
                  <a:srgbClr val="404040"/>
                </a:solidFill>
                <a:latin typeface="Arial"/>
              </a:rPr>
              <a:t>Spend, mix and return of current marketing</a:t>
            </a:r>
          </a:p>
          <a:p>
            <a:pPr algn="l" marL="146304" indent="-146304">
              <a:spcAft>
                <a:spcPts val="500"/>
              </a:spcAft>
              <a:buClr>
                <a:srgbClr val="00AEEF"/>
              </a:buClr>
              <a:buFont typeface="Arial"/>
              <a:buChar char="•"/>
            </a:pPr>
            <a:r>
              <a:rPr sz="1000" b="0" i="0">
                <a:solidFill>
                  <a:srgbClr val="404040"/>
                </a:solidFill>
                <a:latin typeface="Arial"/>
              </a:rPr>
              <a:t>Brand health and perception by market</a:t>
            </a:r>
          </a:p>
          <a:p>
            <a:pPr algn="l" marL="146304" indent="-146304">
              <a:spcAft>
                <a:spcPts val="500"/>
              </a:spcAft>
              <a:buClr>
                <a:srgbClr val="00AEEF"/>
              </a:buClr>
              <a:buFont typeface="Arial"/>
              <a:buChar char="•"/>
            </a:pPr>
            <a:r>
              <a:rPr sz="1000" b="0" i="0">
                <a:solidFill>
                  <a:srgbClr val="404040"/>
                </a:solidFill>
                <a:latin typeface="Arial"/>
              </a:rPr>
              <a:t>Segment sizing and archetype fit</a:t>
            </a:r>
          </a:p>
          <a:p>
            <a:pPr algn="l" marL="146304" indent="-146304">
              <a:spcAft>
                <a:spcPts val="500"/>
              </a:spcAft>
              <a:buClr>
                <a:srgbClr val="00AEEF"/>
              </a:buClr>
              <a:buFont typeface="Arial"/>
              <a:buChar char="•"/>
            </a:pPr>
            <a:r>
              <a:rPr sz="1000" b="0" i="0">
                <a:solidFill>
                  <a:srgbClr val="404040"/>
                </a:solidFill>
                <a:latin typeface="Arial"/>
              </a:rPr>
              <a:t>Roles of Wesgro, SA Tourism and Cape Town Tourism</a:t>
            </a:r>
          </a:p>
          <a:p>
            <a:pPr algn="l" marL="146304" indent="-146304">
              <a:spcAft>
                <a:spcPts val="500"/>
              </a:spcAft>
              <a:buClr>
                <a:srgbClr val="00AEEF"/>
              </a:buClr>
              <a:buFont typeface="Arial"/>
              <a:buChar char="•"/>
            </a:pPr>
            <a:r>
              <a:rPr sz="1000" b="0" i="0">
                <a:solidFill>
                  <a:srgbClr val="404040"/>
                </a:solidFill>
                <a:latin typeface="Arial"/>
              </a:rPr>
              <a:t>Peer budget benchmarks; test of "The Cape" concept</a:t>
            </a:r>
          </a:p>
        </p:txBody>
      </p:sp>
      <p:sp>
        <p:nvSpPr>
          <p:cNvPr id="16" name="Rectangle 15"/>
          <p:cNvSpPr/>
          <p:nvPr/>
        </p:nvSpPr>
        <p:spPr>
          <a:xfrm>
            <a:off x="8101583" y="1188720"/>
            <a:ext cx="3703320" cy="2926080"/>
          </a:xfrm>
          <a:prstGeom prst="rect">
            <a:avLst/>
          </a:prstGeom>
          <a:solidFill>
            <a:srgbClr val="F2F2F2"/>
          </a:solidFill>
          <a:ln>
            <a:noFill/>
          </a:ln>
        </p:spPr>
        <p:txBody>
          <a:bodyPr rtlCol="0" anchor="ctr"/>
          <a:lstStyle/>
          <a:p>
            <a:pPr algn="ctr"/>
          </a:p>
        </p:txBody>
      </p:sp>
      <p:sp>
        <p:nvSpPr>
          <p:cNvPr id="17" name="Rectangle 16"/>
          <p:cNvSpPr/>
          <p:nvPr/>
        </p:nvSpPr>
        <p:spPr>
          <a:xfrm>
            <a:off x="8101583" y="1188720"/>
            <a:ext cx="54864" cy="2926080"/>
          </a:xfrm>
          <a:prstGeom prst="rect">
            <a:avLst/>
          </a:prstGeom>
          <a:solidFill>
            <a:srgbClr val="00AEEF"/>
          </a:solidFill>
          <a:ln>
            <a:noFill/>
          </a:ln>
        </p:spPr>
        <p:txBody>
          <a:bodyPr rtlCol="0" anchor="ctr"/>
          <a:lstStyle/>
          <a:p>
            <a:pPr algn="ctr"/>
          </a:p>
        </p:txBody>
      </p:sp>
      <p:sp>
        <p:nvSpPr>
          <p:cNvPr id="18" name="TextBox 17"/>
          <p:cNvSpPr txBox="1"/>
          <p:nvPr/>
        </p:nvSpPr>
        <p:spPr>
          <a:xfrm>
            <a:off x="8266175" y="1280160"/>
            <a:ext cx="3429000" cy="292608"/>
          </a:xfrm>
          <a:prstGeom prst="rect">
            <a:avLst/>
          </a:prstGeom>
          <a:noFill/>
        </p:spPr>
        <p:txBody>
          <a:bodyPr wrap="square" anchor="t" lIns="36576" rIns="36576" tIns="21945" bIns="21945">
            <a:spAutoFit/>
          </a:bodyPr>
          <a:lstStyle/>
          <a:p>
            <a:pPr algn="l">
              <a:spcAft>
                <a:spcPts val="0"/>
              </a:spcAft>
            </a:pPr>
            <a:r>
              <a:rPr sz="1100" b="1" i="0">
                <a:solidFill>
                  <a:srgbClr val="1F497D"/>
                </a:solidFill>
                <a:latin typeface="Arial"/>
              </a:rPr>
              <a:t>Questions to answer</a:t>
            </a:r>
          </a:p>
        </p:txBody>
      </p:sp>
      <p:sp>
        <p:nvSpPr>
          <p:cNvPr id="19" name="TextBox 18"/>
          <p:cNvSpPr txBox="1"/>
          <p:nvPr/>
        </p:nvSpPr>
        <p:spPr>
          <a:xfrm>
            <a:off x="8266175" y="1600200"/>
            <a:ext cx="3429000" cy="2423160"/>
          </a:xfrm>
          <a:prstGeom prst="rect">
            <a:avLst/>
          </a:prstGeom>
          <a:noFill/>
        </p:spPr>
        <p:txBody>
          <a:bodyPr wrap="square" anchor="t" lIns="36576" rIns="36576" tIns="21945" bIns="21945">
            <a:spAutoFit/>
          </a:bodyPr>
          <a:lstStyle/>
          <a:p>
            <a:pPr algn="l" marL="146304" indent="-146304">
              <a:spcAft>
                <a:spcPts val="500"/>
              </a:spcAft>
              <a:buClr>
                <a:srgbClr val="00AEEF"/>
              </a:buClr>
              <a:buFont typeface="Arial"/>
              <a:buChar char="•"/>
            </a:pPr>
            <a:r>
              <a:rPr sz="1000" b="0" i="0">
                <a:solidFill>
                  <a:srgbClr val="404040"/>
                </a:solidFill>
                <a:latin typeface="Arial"/>
              </a:rPr>
              <a:t>Which markets and segments earn the next rand?</a:t>
            </a:r>
          </a:p>
          <a:p>
            <a:pPr algn="l" marL="146304" indent="-146304">
              <a:spcAft>
                <a:spcPts val="500"/>
              </a:spcAft>
              <a:buClr>
                <a:srgbClr val="00AEEF"/>
              </a:buClr>
              <a:buFont typeface="Arial"/>
              <a:buChar char="•"/>
            </a:pPr>
            <a:r>
              <a:rPr sz="1000" b="0" i="0">
                <a:solidFill>
                  <a:srgbClr val="404040"/>
                </a:solidFill>
                <a:latin typeface="Arial"/>
              </a:rPr>
              <a:t>What brand architecture serves the province?</a:t>
            </a:r>
          </a:p>
          <a:p>
            <a:pPr algn="l" marL="146304" indent="-146304">
              <a:spcAft>
                <a:spcPts val="500"/>
              </a:spcAft>
              <a:buClr>
                <a:srgbClr val="00AEEF"/>
              </a:buClr>
              <a:buFont typeface="Arial"/>
              <a:buChar char="•"/>
            </a:pPr>
            <a:r>
              <a:rPr sz="1000" b="0" i="0">
                <a:solidFill>
                  <a:srgbClr val="404040"/>
                </a:solidFill>
                <a:latin typeface="Arial"/>
              </a:rPr>
              <a:t>How should marketing link to route deals?</a:t>
            </a:r>
          </a:p>
          <a:p>
            <a:pPr algn="l" marL="146304" indent="-146304">
              <a:spcAft>
                <a:spcPts val="500"/>
              </a:spcAft>
              <a:buClr>
                <a:srgbClr val="00AEEF"/>
              </a:buClr>
              <a:buFont typeface="Arial"/>
              <a:buChar char="•"/>
            </a:pPr>
            <a:r>
              <a:rPr sz="1000" b="0" i="0">
                <a:solidFill>
                  <a:srgbClr val="404040"/>
                </a:solidFill>
                <a:latin typeface="Arial"/>
              </a:rPr>
              <a:t>What KPIs prove conversion, not reach?</a:t>
            </a:r>
          </a:p>
        </p:txBody>
      </p:sp>
      <p:graphicFrame>
        <p:nvGraphicFramePr>
          <p:cNvPr id="20" name="Table 19"/>
          <p:cNvGraphicFramePr>
            <a:graphicFrameLocks noGrp="1"/>
          </p:cNvGraphicFramePr>
          <p:nvPr/>
        </p:nvGraphicFramePr>
        <p:xfrm>
          <a:off x="384048" y="4251960"/>
          <a:ext cx="11420856" cy="1389888"/>
        </p:xfrm>
        <a:graphic>
          <a:graphicData uri="http://schemas.openxmlformats.org/drawingml/2006/table">
            <a:tbl>
              <a:tblPr firstRow="1" bandRow="0">
                <a:tableStyleId>{5C22544A-7EE6-4342-B048-85BDC9FD1C3A}</a:tableStyleId>
              </a:tblPr>
              <a:tblGrid>
                <a:gridCol w="3291840"/>
                <a:gridCol w="5751576"/>
                <a:gridCol w="1097280"/>
                <a:gridCol w="1280160"/>
              </a:tblGrid>
              <a:tr h="347472">
                <a:tc>
                  <a:txBody>
                    <a:bodyPr wrap="square"/>
                    <a:lstStyle/>
                    <a:p>
                      <a:pPr algn="l"/>
                      <a:r>
                        <a:rPr sz="1000" b="1" i="0">
                          <a:solidFill>
                            <a:srgbClr val="FFFFFF"/>
                          </a:solidFill>
                          <a:latin typeface="Arial"/>
                        </a:rPr>
                        <a:t>Option to close the gap</a:t>
                      </a:r>
                    </a:p>
                  </a:txBody>
                  <a:tcPr marL="54864" marR="54864" marT="27432" marB="27432" anchor="ctr">
                    <a:solidFill>
                      <a:srgbClr val="1F497D"/>
                    </a:solidFill>
                  </a:tcPr>
                </a:tc>
                <a:tc>
                  <a:txBody>
                    <a:bodyPr wrap="square"/>
                    <a:lstStyle/>
                    <a:p>
                      <a:pPr algn="l"/>
                      <a:r>
                        <a:rPr sz="1000" b="1" i="0">
                          <a:solidFill>
                            <a:srgbClr val="FFFFFF"/>
                          </a:solidFill>
                          <a:latin typeface="Arial"/>
                        </a:rPr>
                        <a:t>What it delivers</a:t>
                      </a:r>
                    </a:p>
                  </a:txBody>
                  <a:tcPr marL="54864" marR="54864" marT="27432" marB="27432" anchor="ctr">
                    <a:solidFill>
                      <a:srgbClr val="1F497D"/>
                    </a:solidFill>
                  </a:tcPr>
                </a:tc>
                <a:tc>
                  <a:txBody>
                    <a:bodyPr wrap="square"/>
                    <a:lstStyle/>
                    <a:p>
                      <a:pPr algn="l"/>
                      <a:r>
                        <a:rPr sz="1000" b="1" i="0">
                          <a:solidFill>
                            <a:srgbClr val="FFFFFF"/>
                          </a:solidFill>
                          <a:latin typeface="Arial"/>
                        </a:rPr>
                        <a:t>Effort</a:t>
                      </a:r>
                    </a:p>
                  </a:txBody>
                  <a:tcPr marL="54864" marR="54864" marT="27432" marB="27432" anchor="ctr">
                    <a:solidFill>
                      <a:srgbClr val="1F497D"/>
                    </a:solidFill>
                  </a:tcPr>
                </a:tc>
                <a:tc>
                  <a:txBody>
                    <a:bodyPr wrap="square"/>
                    <a:lstStyle/>
                    <a:p>
                      <a:pPr algn="l"/>
                      <a:r>
                        <a:rPr sz="1000" b="1" i="0">
                          <a:solidFill>
                            <a:srgbClr val="FFFFFF"/>
                          </a:solidFill>
                          <a:latin typeface="Arial"/>
                        </a:rPr>
                        <a:t>Ready by</a:t>
                      </a:r>
                    </a:p>
                  </a:txBody>
                  <a:tcPr marL="54864" marR="54864" marT="27432" marB="27432" anchor="ctr">
                    <a:solidFill>
                      <a:srgbClr val="1F497D"/>
                    </a:solidFill>
                  </a:tcPr>
                </a:tc>
              </a:tr>
              <a:tr h="347472">
                <a:tc>
                  <a:txBody>
                    <a:bodyPr wrap="square"/>
                    <a:lstStyle/>
                    <a:p>
                      <a:pPr algn="l"/>
                      <a:r>
                        <a:rPr sz="1000" b="1" i="0">
                          <a:solidFill>
                            <a:srgbClr val="1F497D"/>
                          </a:solidFill>
                          <a:latin typeface="Arial"/>
                        </a:rPr>
                        <a:t>A. Rapid marketing and brand audit</a:t>
                      </a:r>
                    </a:p>
                  </a:txBody>
                  <a:tcPr marL="54864" marR="54864" marT="27432" marB="27432" anchor="ctr">
                    <a:solidFill>
                      <a:srgbClr val="FFFFFF"/>
                    </a:solidFill>
                  </a:tcPr>
                </a:tc>
                <a:tc>
                  <a:txBody>
                    <a:bodyPr wrap="square"/>
                    <a:lstStyle/>
                    <a:p>
                      <a:pPr algn="l"/>
                      <a:r>
                        <a:rPr sz="1000" b="0" i="0">
                          <a:solidFill>
                            <a:srgbClr val="404040"/>
                          </a:solidFill>
                          <a:latin typeface="Arial"/>
                        </a:rPr>
                        <a:t>Spend, channel and KPI baseline from Wesgro data; 4-5 interviews</a:t>
                      </a:r>
                    </a:p>
                  </a:txBody>
                  <a:tcPr marL="54864" marR="54864" marT="27432" marB="27432" anchor="ctr">
                    <a:solidFill>
                      <a:srgbClr val="FFFFFF"/>
                    </a:solidFill>
                  </a:tcPr>
                </a:tc>
                <a:tc>
                  <a:txBody>
                    <a:bodyPr wrap="square"/>
                    <a:lstStyle/>
                    <a:p>
                      <a:pPr algn="l"/>
                      <a:r>
                        <a:rPr sz="1000" b="0" i="0">
                          <a:solidFill>
                            <a:srgbClr val="404040"/>
                          </a:solidFill>
                          <a:latin typeface="Arial"/>
                        </a:rPr>
                        <a:t>Medium</a:t>
                      </a:r>
                    </a:p>
                  </a:txBody>
                  <a:tcPr marL="54864" marR="54864" marT="27432" marB="27432" anchor="ctr">
                    <a:solidFill>
                      <a:srgbClr val="FFFFFF"/>
                    </a:solidFill>
                  </a:tcPr>
                </a:tc>
                <a:tc>
                  <a:txBody>
                    <a:bodyPr wrap="square"/>
                    <a:lstStyle/>
                    <a:p>
                      <a:pPr algn="l"/>
                      <a:r>
                        <a:rPr sz="1000" b="0" i="0">
                          <a:solidFill>
                            <a:srgbClr val="404040"/>
                          </a:solidFill>
                          <a:latin typeface="Arial"/>
                        </a:rPr>
                        <a:t>Week 3</a:t>
                      </a:r>
                    </a:p>
                  </a:txBody>
                  <a:tcPr marL="54864" marR="54864" marT="27432" marB="27432" anchor="ctr">
                    <a:solidFill>
                      <a:srgbClr val="FFFFFF"/>
                    </a:solidFill>
                  </a:tcPr>
                </a:tc>
              </a:tr>
              <a:tr h="347472">
                <a:tc>
                  <a:txBody>
                    <a:bodyPr wrap="square"/>
                    <a:lstStyle/>
                    <a:p>
                      <a:pPr algn="l"/>
                      <a:r>
                        <a:rPr sz="1000" b="1" i="0">
                          <a:solidFill>
                            <a:srgbClr val="1F497D"/>
                          </a:solidFill>
                          <a:latin typeface="Arial"/>
                        </a:rPr>
                        <a:t>B. Peer benchmark of DMO marketing</a:t>
                      </a:r>
                    </a:p>
                  </a:txBody>
                  <a:tcPr marL="54864" marR="54864" marT="27432" marB="27432" anchor="ctr">
                    <a:solidFill>
                      <a:srgbClr val="F2F2F2"/>
                    </a:solidFill>
                  </a:tcPr>
                </a:tc>
                <a:tc>
                  <a:txBody>
                    <a:bodyPr wrap="square"/>
                    <a:lstStyle/>
                    <a:p>
                      <a:pPr algn="l"/>
                      <a:r>
                        <a:rPr sz="1000" b="0" i="0">
                          <a:solidFill>
                            <a:srgbClr val="404040"/>
                          </a:solidFill>
                          <a:latin typeface="Arial"/>
                        </a:rPr>
                        <a:t>Budgets, models and route-linked marketing from the six comparators</a:t>
                      </a:r>
                    </a:p>
                  </a:txBody>
                  <a:tcPr marL="54864" marR="54864" marT="27432" marB="27432" anchor="ctr">
                    <a:solidFill>
                      <a:srgbClr val="F2F2F2"/>
                    </a:solidFill>
                  </a:tcPr>
                </a:tc>
                <a:tc>
                  <a:txBody>
                    <a:bodyPr wrap="square"/>
                    <a:lstStyle/>
                    <a:p>
                      <a:pPr algn="l"/>
                      <a:r>
                        <a:rPr sz="1000" b="0" i="0">
                          <a:solidFill>
                            <a:srgbClr val="404040"/>
                          </a:solidFill>
                          <a:latin typeface="Arial"/>
                        </a:rPr>
                        <a:t>Low</a:t>
                      </a:r>
                    </a:p>
                  </a:txBody>
                  <a:tcPr marL="54864" marR="54864" marT="27432" marB="27432" anchor="ctr">
                    <a:solidFill>
                      <a:srgbClr val="F2F2F2"/>
                    </a:solidFill>
                  </a:tcPr>
                </a:tc>
                <a:tc>
                  <a:txBody>
                    <a:bodyPr wrap="square"/>
                    <a:lstStyle/>
                    <a:p>
                      <a:pPr algn="l"/>
                      <a:r>
                        <a:rPr sz="1000" b="0" i="0">
                          <a:solidFill>
                            <a:srgbClr val="404040"/>
                          </a:solidFill>
                          <a:latin typeface="Arial"/>
                        </a:rPr>
                        <a:t>Week 3</a:t>
                      </a:r>
                    </a:p>
                  </a:txBody>
                  <a:tcPr marL="54864" marR="54864" marT="27432" marB="27432" anchor="ctr">
                    <a:solidFill>
                      <a:srgbClr val="F2F2F2"/>
                    </a:solidFill>
                  </a:tcPr>
                </a:tc>
              </a:tr>
              <a:tr h="347472">
                <a:tc>
                  <a:txBody>
                    <a:bodyPr wrap="square"/>
                    <a:lstStyle/>
                    <a:p>
                      <a:pPr algn="l"/>
                      <a:r>
                        <a:rPr sz="1000" b="1" i="0">
                          <a:solidFill>
                            <a:srgbClr val="1F497D"/>
                          </a:solidFill>
                          <a:latin typeface="Arial"/>
                        </a:rPr>
                        <a:t>C. Brand and trade workshop</a:t>
                      </a:r>
                    </a:p>
                  </a:txBody>
                  <a:tcPr marL="54864" marR="54864" marT="27432" marB="27432" anchor="ctr">
                    <a:solidFill>
                      <a:srgbClr val="FFFFFF"/>
                    </a:solidFill>
                  </a:tcPr>
                </a:tc>
                <a:tc>
                  <a:txBody>
                    <a:bodyPr wrap="square"/>
                    <a:lstStyle/>
                    <a:p>
                      <a:pPr algn="l"/>
                      <a:r>
                        <a:rPr sz="1000" b="0" i="0">
                          <a:solidFill>
                            <a:srgbClr val="404040"/>
                          </a:solidFill>
                          <a:latin typeface="Arial"/>
                        </a:rPr>
                        <a:t>Tests "The Cape" and conversion levers with trade and Skift</a:t>
                      </a:r>
                    </a:p>
                  </a:txBody>
                  <a:tcPr marL="54864" marR="54864" marT="27432" marB="27432" anchor="ctr">
                    <a:solidFill>
                      <a:srgbClr val="FFFFFF"/>
                    </a:solidFill>
                  </a:tcPr>
                </a:tc>
                <a:tc>
                  <a:txBody>
                    <a:bodyPr wrap="square"/>
                    <a:lstStyle/>
                    <a:p>
                      <a:pPr algn="l"/>
                      <a:r>
                        <a:rPr sz="1000" b="0" i="0">
                          <a:solidFill>
                            <a:srgbClr val="404040"/>
                          </a:solidFill>
                          <a:latin typeface="Arial"/>
                        </a:rPr>
                        <a:t>Low</a:t>
                      </a:r>
                    </a:p>
                  </a:txBody>
                  <a:tcPr marL="54864" marR="54864" marT="27432" marB="27432" anchor="ctr">
                    <a:solidFill>
                      <a:srgbClr val="FFFFFF"/>
                    </a:solidFill>
                  </a:tcPr>
                </a:tc>
                <a:tc>
                  <a:txBody>
                    <a:bodyPr wrap="square"/>
                    <a:lstStyle/>
                    <a:p>
                      <a:pPr algn="l"/>
                      <a:r>
                        <a:rPr sz="1000" b="0" i="0">
                          <a:solidFill>
                            <a:srgbClr val="404040"/>
                          </a:solidFill>
                          <a:latin typeface="Arial"/>
                        </a:rPr>
                        <a:t>Week 4</a:t>
                      </a:r>
                    </a:p>
                  </a:txBody>
                  <a:tcPr marL="54864" marR="54864" marT="27432" marB="27432" anchor="ctr">
                    <a:solidFill>
                      <a:srgbClr val="FFFFFF"/>
                    </a:solidFill>
                  </a:tcPr>
                </a:tc>
              </a:tr>
            </a:tbl>
          </a:graphicData>
        </a:graphic>
      </p:graphicFrame>
      <p:sp>
        <p:nvSpPr>
          <p:cNvPr id="21" name="Rectangle 20"/>
          <p:cNvSpPr/>
          <p:nvPr/>
        </p:nvSpPr>
        <p:spPr>
          <a:xfrm>
            <a:off x="384048" y="5788152"/>
            <a:ext cx="11420856" cy="420624"/>
          </a:xfrm>
          <a:prstGeom prst="rect">
            <a:avLst/>
          </a:prstGeom>
          <a:solidFill>
            <a:srgbClr val="1F497D"/>
          </a:solidFill>
          <a:ln>
            <a:noFill/>
          </a:ln>
        </p:spPr>
        <p:txBody>
          <a:bodyPr rtlCol="0" anchor="ctr"/>
          <a:lstStyle/>
          <a:p>
            <a:pPr algn="ctr"/>
          </a:p>
        </p:txBody>
      </p:sp>
      <p:sp>
        <p:nvSpPr>
          <p:cNvPr id="22" name="TextBox 21"/>
          <p:cNvSpPr txBox="1"/>
          <p:nvPr/>
        </p:nvSpPr>
        <p:spPr>
          <a:xfrm>
            <a:off x="548640" y="5788152"/>
            <a:ext cx="11064240" cy="420624"/>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Recommendation: run A and B together and use C to validate. Skift leads, given its brand and marketing specialists.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Most gaps can close within four weeks if we scope tightly and bound the rest as limitations</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CLOSING THE GAPS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Letsema proposal for discussion</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27</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11420855" cy="4389120"/>
        </p:xfrm>
        <a:graphic>
          <a:graphicData uri="http://schemas.openxmlformats.org/drawingml/2006/table">
            <a:tbl>
              <a:tblPr firstRow="1" bandRow="0">
                <a:tableStyleId>{5C22544A-7EE6-4342-B048-85BDC9FD1C3A}</a:tableStyleId>
              </a:tblPr>
              <a:tblGrid>
                <a:gridCol w="2743200"/>
                <a:gridCol w="1097280"/>
                <a:gridCol w="4572000"/>
                <a:gridCol w="1911095"/>
                <a:gridCol w="1097280"/>
              </a:tblGrid>
              <a:tr h="438912">
                <a:tc>
                  <a:txBody>
                    <a:bodyPr wrap="square"/>
                    <a:lstStyle/>
                    <a:p>
                      <a:pPr algn="l"/>
                      <a:r>
                        <a:rPr sz="1000" b="1" i="0">
                          <a:solidFill>
                            <a:srgbClr val="FFFFFF"/>
                          </a:solidFill>
                          <a:latin typeface="Arial"/>
                        </a:rPr>
                        <a:t>Gap</a:t>
                      </a:r>
                    </a:p>
                  </a:txBody>
                  <a:tcPr marL="54864" marR="54864" marT="27432" marB="27432" anchor="ctr">
                    <a:solidFill>
                      <a:srgbClr val="1F497D"/>
                    </a:solidFill>
                  </a:tcPr>
                </a:tc>
                <a:tc>
                  <a:txBody>
                    <a:bodyPr wrap="square"/>
                    <a:lstStyle/>
                    <a:p>
                      <a:pPr algn="l"/>
                      <a:r>
                        <a:rPr sz="1000" b="1" i="0">
                          <a:solidFill>
                            <a:srgbClr val="FFFFFF"/>
                          </a:solidFill>
                          <a:latin typeface="Arial"/>
                        </a:rPr>
                        <a:t>Response</a:t>
                      </a:r>
                    </a:p>
                  </a:txBody>
                  <a:tcPr marL="54864" marR="54864" marT="27432" marB="27432" anchor="ctr">
                    <a:solidFill>
                      <a:srgbClr val="1F497D"/>
                    </a:solidFill>
                  </a:tcPr>
                </a:tc>
                <a:tc>
                  <a:txBody>
                    <a:bodyPr wrap="square"/>
                    <a:lstStyle/>
                    <a:p>
                      <a:pPr algn="l"/>
                      <a:r>
                        <a:rPr sz="1000" b="1" i="0">
                          <a:solidFill>
                            <a:srgbClr val="FFFFFF"/>
                          </a:solidFill>
                          <a:latin typeface="Arial"/>
                        </a:rPr>
                        <a:t>Scope</a:t>
                      </a:r>
                    </a:p>
                  </a:txBody>
                  <a:tcPr marL="54864" marR="54864" marT="27432" marB="27432" anchor="ctr">
                    <a:solidFill>
                      <a:srgbClr val="1F497D"/>
                    </a:solidFill>
                  </a:tcPr>
                </a:tc>
                <a:tc>
                  <a:txBody>
                    <a:bodyPr wrap="square"/>
                    <a:lstStyle/>
                    <a:p>
                      <a:pPr algn="l"/>
                      <a:r>
                        <a:rPr sz="1000" b="1" i="0">
                          <a:solidFill>
                            <a:srgbClr val="FFFFFF"/>
                          </a:solidFill>
                          <a:latin typeface="Arial"/>
                        </a:rPr>
                        <a:t>Owner (role)</a:t>
                      </a:r>
                    </a:p>
                  </a:txBody>
                  <a:tcPr marL="54864" marR="54864" marT="27432" marB="27432" anchor="ctr">
                    <a:solidFill>
                      <a:srgbClr val="1F497D"/>
                    </a:solidFill>
                  </a:tcPr>
                </a:tc>
                <a:tc>
                  <a:txBody>
                    <a:bodyPr wrap="square"/>
                    <a:lstStyle/>
                    <a:p>
                      <a:pPr algn="l"/>
                      <a:r>
                        <a:rPr sz="1000" b="1" i="0">
                          <a:solidFill>
                            <a:srgbClr val="FFFFFF"/>
                          </a:solidFill>
                          <a:latin typeface="Arial"/>
                        </a:rPr>
                        <a:t>Done by</a:t>
                      </a:r>
                    </a:p>
                  </a:txBody>
                  <a:tcPr marL="54864" marR="54864" marT="27432" marB="27432" anchor="ctr">
                    <a:solidFill>
                      <a:srgbClr val="1F497D"/>
                    </a:solidFill>
                  </a:tcPr>
                </a:tc>
              </a:tr>
              <a:tr h="438912">
                <a:tc>
                  <a:txBody>
                    <a:bodyPr wrap="square"/>
                    <a:lstStyle/>
                    <a:p>
                      <a:pPr algn="l"/>
                      <a:r>
                        <a:rPr sz="1000" b="1" i="0">
                          <a:solidFill>
                            <a:srgbClr val="1F497D"/>
                          </a:solidFill>
                          <a:latin typeface="Arial"/>
                        </a:rPr>
                        <a:t>Target metric and baseline</a:t>
                      </a:r>
                    </a:p>
                  </a:txBody>
                  <a:tcPr marL="54864" marR="54864" marT="27432" marB="27432" anchor="ctr">
                    <a:solidFill>
                      <a:srgbClr val="FFFFFF"/>
                    </a:solidFill>
                  </a:tcPr>
                </a:tc>
                <a:tc>
                  <a:txBody>
                    <a:bodyPr wrap="square"/>
                    <a:lstStyle/>
                    <a:p>
                      <a:pPr algn="l"/>
                      <a:r>
                        <a:rPr sz="1000" b="1" i="0">
                          <a:solidFill>
                            <a:srgbClr val="FFFFFF"/>
                          </a:solidFill>
                          <a:latin typeface="Arial"/>
                        </a:rPr>
                        <a:t>Analyse</a:t>
                      </a:r>
                    </a:p>
                  </a:txBody>
                  <a:tcPr marL="54864" marR="54864" marT="27432" marB="27432" anchor="ctr">
                    <a:solidFill>
                      <a:srgbClr val="00AEEF"/>
                    </a:solidFill>
                  </a:tcPr>
                </a:tc>
                <a:tc>
                  <a:txBody>
                    <a:bodyPr wrap="square"/>
                    <a:lstStyle/>
                    <a:p>
                      <a:pPr algn="l"/>
                      <a:r>
                        <a:rPr sz="1000" b="0" i="0">
                          <a:solidFill>
                            <a:srgbClr val="404040"/>
                          </a:solidFill>
                          <a:latin typeface="Arial"/>
                        </a:rPr>
                        <a:t>Reconcile sources; propose one metric and base year</a:t>
                      </a:r>
                    </a:p>
                  </a:txBody>
                  <a:tcPr marL="54864" marR="54864" marT="27432" marB="27432" anchor="ctr">
                    <a:solidFill>
                      <a:srgbClr val="FFFFFF"/>
                    </a:solidFill>
                  </a:tcPr>
                </a:tc>
                <a:tc>
                  <a:txBody>
                    <a:bodyPr wrap="square"/>
                    <a:lstStyle/>
                    <a:p>
                      <a:pPr algn="l"/>
                      <a:r>
                        <a:rPr sz="1000" b="0" i="0">
                          <a:solidFill>
                            <a:srgbClr val="404040"/>
                          </a:solidFill>
                          <a:latin typeface="Arial"/>
                        </a:rPr>
                        <a:t>Engagement manager</a:t>
                      </a:r>
                    </a:p>
                  </a:txBody>
                  <a:tcPr marL="54864" marR="54864" marT="27432" marB="27432" anchor="ctr">
                    <a:solidFill>
                      <a:srgbClr val="FFFFFF"/>
                    </a:solidFill>
                  </a:tcPr>
                </a:tc>
                <a:tc>
                  <a:txBody>
                    <a:bodyPr wrap="square"/>
                    <a:lstStyle/>
                    <a:p>
                      <a:pPr algn="l"/>
                      <a:r>
                        <a:rPr sz="1000" b="0" i="0">
                          <a:solidFill>
                            <a:srgbClr val="404040"/>
                          </a:solidFill>
                          <a:latin typeface="Arial"/>
                        </a:rPr>
                        <a:t>Week 2</a:t>
                      </a:r>
                    </a:p>
                  </a:txBody>
                  <a:tcPr marL="54864" marR="54864" marT="27432" marB="27432" anchor="ctr">
                    <a:solidFill>
                      <a:srgbClr val="FFFFFF"/>
                    </a:solidFill>
                  </a:tcPr>
                </a:tc>
              </a:tr>
              <a:tr h="438912">
                <a:tc>
                  <a:txBody>
                    <a:bodyPr wrap="square"/>
                    <a:lstStyle/>
                    <a:p>
                      <a:pPr algn="l"/>
                      <a:r>
                        <a:rPr sz="1000" b="1" i="0">
                          <a:solidFill>
                            <a:srgbClr val="1F497D"/>
                          </a:solidFill>
                          <a:latin typeface="Arial"/>
                        </a:rPr>
                        <a:t>Marketing and brand</a:t>
                      </a:r>
                    </a:p>
                  </a:txBody>
                  <a:tcPr marL="54864" marR="54864" marT="27432" marB="27432" anchor="ctr">
                    <a:solidFill>
                      <a:srgbClr val="F2F2F2"/>
                    </a:solidFill>
                  </a:tcPr>
                </a:tc>
                <a:tc>
                  <a:txBody>
                    <a:bodyPr wrap="square"/>
                    <a:lstStyle/>
                    <a:p>
                      <a:pPr algn="l"/>
                      <a:r>
                        <a:rPr sz="1000" b="1" i="0">
                          <a:solidFill>
                            <a:srgbClr val="FFFFFF"/>
                          </a:solidFill>
                          <a:latin typeface="Arial"/>
                        </a:rPr>
                        <a:t>Analyse</a:t>
                      </a:r>
                    </a:p>
                  </a:txBody>
                  <a:tcPr marL="54864" marR="54864" marT="27432" marB="27432" anchor="ctr">
                    <a:solidFill>
                      <a:srgbClr val="00AEEF"/>
                    </a:solidFill>
                  </a:tcPr>
                </a:tc>
                <a:tc>
                  <a:txBody>
                    <a:bodyPr wrap="square"/>
                    <a:lstStyle/>
                    <a:p>
                      <a:pPr algn="l"/>
                      <a:r>
                        <a:rPr sz="1000" b="0" i="0">
                          <a:solidFill>
                            <a:srgbClr val="404040"/>
                          </a:solidFill>
                          <a:latin typeface="Arial"/>
                        </a:rPr>
                        <a:t>Options A and B, validated through C</a:t>
                      </a:r>
                    </a:p>
                  </a:txBody>
                  <a:tcPr marL="54864" marR="54864" marT="27432" marB="27432" anchor="ctr">
                    <a:solidFill>
                      <a:srgbClr val="F2F2F2"/>
                    </a:solidFill>
                  </a:tcPr>
                </a:tc>
                <a:tc>
                  <a:txBody>
                    <a:bodyPr wrap="square"/>
                    <a:lstStyle/>
                    <a:p>
                      <a:pPr algn="l"/>
                      <a:r>
                        <a:rPr sz="1000" b="0" i="0">
                          <a:solidFill>
                            <a:srgbClr val="404040"/>
                          </a:solidFill>
                          <a:latin typeface="Arial"/>
                        </a:rPr>
                        <a:t>Skift lead</a:t>
                      </a:r>
                    </a:p>
                  </a:txBody>
                  <a:tcPr marL="54864" marR="54864" marT="27432" marB="27432" anchor="ctr">
                    <a:solidFill>
                      <a:srgbClr val="F2F2F2"/>
                    </a:solidFill>
                  </a:tcPr>
                </a:tc>
                <a:tc>
                  <a:txBody>
                    <a:bodyPr wrap="square"/>
                    <a:lstStyle/>
                    <a:p>
                      <a:pPr algn="l"/>
                      <a:r>
                        <a:rPr sz="1000" b="0" i="0">
                          <a:solidFill>
                            <a:srgbClr val="404040"/>
                          </a:solidFill>
                          <a:latin typeface="Arial"/>
                        </a:rPr>
                        <a:t>Week 4</a:t>
                      </a:r>
                    </a:p>
                  </a:txBody>
                  <a:tcPr marL="54864" marR="54864" marT="27432" marB="27432" anchor="ctr">
                    <a:solidFill>
                      <a:srgbClr val="F2F2F2"/>
                    </a:solidFill>
                  </a:tcPr>
                </a:tc>
              </a:tr>
              <a:tr h="438912">
                <a:tc>
                  <a:txBody>
                    <a:bodyPr wrap="square"/>
                    <a:lstStyle/>
                    <a:p>
                      <a:pPr algn="l"/>
                      <a:r>
                        <a:rPr sz="1000" b="1" i="0">
                          <a:solidFill>
                            <a:srgbClr val="1F497D"/>
                          </a:solidFill>
                          <a:latin typeface="Arial"/>
                        </a:rPr>
                        <a:t>Spend, yield and jobs</a:t>
                      </a:r>
                    </a:p>
                  </a:txBody>
                  <a:tcPr marL="54864" marR="54864" marT="27432" marB="27432" anchor="ctr">
                    <a:solidFill>
                      <a:srgbClr val="FFFFFF"/>
                    </a:solidFill>
                  </a:tcPr>
                </a:tc>
                <a:tc>
                  <a:txBody>
                    <a:bodyPr wrap="square"/>
                    <a:lstStyle/>
                    <a:p>
                      <a:pPr algn="l"/>
                      <a:r>
                        <a:rPr sz="1000" b="1" i="0">
                          <a:solidFill>
                            <a:srgbClr val="FFFFFF"/>
                          </a:solidFill>
                          <a:latin typeface="Arial"/>
                        </a:rPr>
                        <a:t>Analyse</a:t>
                      </a:r>
                    </a:p>
                  </a:txBody>
                  <a:tcPr marL="54864" marR="54864" marT="27432" marB="27432" anchor="ctr">
                    <a:solidFill>
                      <a:srgbClr val="00AEEF"/>
                    </a:solidFill>
                  </a:tcPr>
                </a:tc>
                <a:tc>
                  <a:txBody>
                    <a:bodyPr wrap="square"/>
                    <a:lstStyle/>
                    <a:p>
                      <a:pPr algn="l"/>
                      <a:r>
                        <a:rPr sz="1000" b="0" i="0">
                          <a:solidFill>
                            <a:srgbClr val="404040"/>
                          </a:solidFill>
                          <a:latin typeface="Arial"/>
                        </a:rPr>
                        <a:t>Extend the scenario model with spend per visitor and job multipliers</a:t>
                      </a:r>
                    </a:p>
                  </a:txBody>
                  <a:tcPr marL="54864" marR="54864" marT="27432" marB="27432" anchor="ctr">
                    <a:solidFill>
                      <a:srgbClr val="FFFFFF"/>
                    </a:solidFill>
                  </a:tcPr>
                </a:tc>
                <a:tc>
                  <a:txBody>
                    <a:bodyPr wrap="square"/>
                    <a:lstStyle/>
                    <a:p>
                      <a:pPr algn="l"/>
                      <a:r>
                        <a:rPr sz="1000" b="0" i="0">
                          <a:solidFill>
                            <a:srgbClr val="404040"/>
                          </a:solidFill>
                          <a:latin typeface="Arial"/>
                        </a:rPr>
                        <a:t>Demand analyst</a:t>
                      </a:r>
                    </a:p>
                  </a:txBody>
                  <a:tcPr marL="54864" marR="54864" marT="27432" marB="27432" anchor="ctr">
                    <a:solidFill>
                      <a:srgbClr val="FFFFFF"/>
                    </a:solidFill>
                  </a:tcPr>
                </a:tc>
                <a:tc>
                  <a:txBody>
                    <a:bodyPr wrap="square"/>
                    <a:lstStyle/>
                    <a:p>
                      <a:pPr algn="l"/>
                      <a:r>
                        <a:rPr sz="1000" b="0" i="0">
                          <a:solidFill>
                            <a:srgbClr val="404040"/>
                          </a:solidFill>
                          <a:latin typeface="Arial"/>
                        </a:rPr>
                        <a:t>Week 4</a:t>
                      </a:r>
                    </a:p>
                  </a:txBody>
                  <a:tcPr marL="54864" marR="54864" marT="27432" marB="27432" anchor="ctr">
                    <a:solidFill>
                      <a:srgbClr val="FFFFFF"/>
                    </a:solidFill>
                  </a:tcPr>
                </a:tc>
              </a:tr>
              <a:tr h="438912">
                <a:tc>
                  <a:txBody>
                    <a:bodyPr wrap="square"/>
                    <a:lstStyle/>
                    <a:p>
                      <a:pPr algn="l"/>
                      <a:r>
                        <a:rPr sz="1000" b="1" i="0">
                          <a:solidFill>
                            <a:srgbClr val="1F497D"/>
                          </a:solidFill>
                          <a:latin typeface="Arial"/>
                        </a:rPr>
                        <a:t>Investment pipeline and ROI</a:t>
                      </a:r>
                    </a:p>
                  </a:txBody>
                  <a:tcPr marL="54864" marR="54864" marT="27432" marB="27432" anchor="ctr">
                    <a:solidFill>
                      <a:srgbClr val="F2F2F2"/>
                    </a:solidFill>
                  </a:tcPr>
                </a:tc>
                <a:tc>
                  <a:txBody>
                    <a:bodyPr wrap="square"/>
                    <a:lstStyle/>
                    <a:p>
                      <a:pPr algn="l"/>
                      <a:r>
                        <a:rPr sz="1000" b="1" i="0">
                          <a:solidFill>
                            <a:srgbClr val="FFFFFF"/>
                          </a:solidFill>
                          <a:latin typeface="Arial"/>
                        </a:rPr>
                        <a:t>Analyse</a:t>
                      </a:r>
                    </a:p>
                  </a:txBody>
                  <a:tcPr marL="54864" marR="54864" marT="27432" marB="27432" anchor="ctr">
                    <a:solidFill>
                      <a:srgbClr val="00AEEF"/>
                    </a:solidFill>
                  </a:tcPr>
                </a:tc>
                <a:tc>
                  <a:txBody>
                    <a:bodyPr wrap="square"/>
                    <a:lstStyle/>
                    <a:p>
                      <a:pPr algn="l"/>
                      <a:r>
                        <a:rPr sz="1000" b="0" i="0">
                          <a:solidFill>
                            <a:srgbClr val="404040"/>
                          </a:solidFill>
                          <a:latin typeface="Arial"/>
                        </a:rPr>
                        <a:t>Rank corridor upgrades; indicative ROI for the top five</a:t>
                      </a:r>
                    </a:p>
                  </a:txBody>
                  <a:tcPr marL="54864" marR="54864" marT="27432" marB="27432" anchor="ctr">
                    <a:solidFill>
                      <a:srgbClr val="F2F2F2"/>
                    </a:solidFill>
                  </a:tcPr>
                </a:tc>
                <a:tc>
                  <a:txBody>
                    <a:bodyPr wrap="square"/>
                    <a:lstStyle/>
                    <a:p>
                      <a:pPr algn="l"/>
                      <a:r>
                        <a:rPr sz="1000" b="0" i="0">
                          <a:solidFill>
                            <a:srgbClr val="404040"/>
                          </a:solidFill>
                          <a:latin typeface="Arial"/>
                        </a:rPr>
                        <a:t>Supply lead</a:t>
                      </a:r>
                    </a:p>
                  </a:txBody>
                  <a:tcPr marL="54864" marR="54864" marT="27432" marB="27432" anchor="ctr">
                    <a:solidFill>
                      <a:srgbClr val="F2F2F2"/>
                    </a:solidFill>
                  </a:tcPr>
                </a:tc>
                <a:tc>
                  <a:txBody>
                    <a:bodyPr wrap="square"/>
                    <a:lstStyle/>
                    <a:p>
                      <a:pPr algn="l"/>
                      <a:r>
                        <a:rPr sz="1000" b="0" i="0">
                          <a:solidFill>
                            <a:srgbClr val="404040"/>
                          </a:solidFill>
                          <a:latin typeface="Arial"/>
                        </a:rPr>
                        <a:t>Week 4</a:t>
                      </a:r>
                    </a:p>
                  </a:txBody>
                  <a:tcPr marL="54864" marR="54864" marT="27432" marB="27432" anchor="ctr">
                    <a:solidFill>
                      <a:srgbClr val="F2F2F2"/>
                    </a:solidFill>
                  </a:tcPr>
                </a:tc>
              </a:tr>
              <a:tr h="438912">
                <a:tc>
                  <a:txBody>
                    <a:bodyPr wrap="square"/>
                    <a:lstStyle/>
                    <a:p>
                      <a:pPr algn="l"/>
                      <a:r>
                        <a:rPr sz="1000" b="1" i="0">
                          <a:solidFill>
                            <a:srgbClr val="1F497D"/>
                          </a:solidFill>
                          <a:latin typeface="Arial"/>
                        </a:rPr>
                        <a:t>M&amp;E toolkit</a:t>
                      </a:r>
                    </a:p>
                  </a:txBody>
                  <a:tcPr marL="54864" marR="54864" marT="27432" marB="27432" anchor="ctr">
                    <a:solidFill>
                      <a:srgbClr val="FFFFFF"/>
                    </a:solidFill>
                  </a:tcPr>
                </a:tc>
                <a:tc>
                  <a:txBody>
                    <a:bodyPr wrap="square"/>
                    <a:lstStyle/>
                    <a:p>
                      <a:pPr algn="l"/>
                      <a:r>
                        <a:rPr sz="1000" b="1" i="0">
                          <a:solidFill>
                            <a:srgbClr val="FFFFFF"/>
                          </a:solidFill>
                          <a:latin typeface="Arial"/>
                        </a:rPr>
                        <a:t>Deliver</a:t>
                      </a:r>
                    </a:p>
                  </a:txBody>
                  <a:tcPr marL="54864" marR="54864" marT="27432" marB="27432" anchor="ctr">
                    <a:solidFill>
                      <a:srgbClr val="1F497D"/>
                    </a:solidFill>
                  </a:tcPr>
                </a:tc>
                <a:tc>
                  <a:txBody>
                    <a:bodyPr wrap="square"/>
                    <a:lstStyle/>
                    <a:p>
                      <a:pPr algn="l"/>
                      <a:r>
                        <a:rPr sz="1000" b="0" i="0">
                          <a:solidFill>
                            <a:srgbClr val="404040"/>
                          </a:solidFill>
                          <a:latin typeface="Arial"/>
                        </a:rPr>
                        <a:t>Finalise indicators, baselines and templates on the agreed metric</a:t>
                      </a:r>
                    </a:p>
                  </a:txBody>
                  <a:tcPr marL="54864" marR="54864" marT="27432" marB="27432" anchor="ctr">
                    <a:solidFill>
                      <a:srgbClr val="FFFFFF"/>
                    </a:solidFill>
                  </a:tcPr>
                </a:tc>
                <a:tc>
                  <a:txBody>
                    <a:bodyPr wrap="square"/>
                    <a:lstStyle/>
                    <a:p>
                      <a:pPr algn="l"/>
                      <a:r>
                        <a:rPr sz="1000" b="0" i="0">
                          <a:solidFill>
                            <a:srgbClr val="404040"/>
                          </a:solidFill>
                          <a:latin typeface="Arial"/>
                        </a:rPr>
                        <a:t>M&amp;E lead</a:t>
                      </a:r>
                    </a:p>
                  </a:txBody>
                  <a:tcPr marL="54864" marR="54864" marT="27432" marB="27432" anchor="ctr">
                    <a:solidFill>
                      <a:srgbClr val="FFFFFF"/>
                    </a:solidFill>
                  </a:tcPr>
                </a:tc>
                <a:tc>
                  <a:txBody>
                    <a:bodyPr wrap="square"/>
                    <a:lstStyle/>
                    <a:p>
                      <a:pPr algn="l"/>
                      <a:r>
                        <a:rPr sz="1000" b="0" i="0">
                          <a:solidFill>
                            <a:srgbClr val="404040"/>
                          </a:solidFill>
                          <a:latin typeface="Arial"/>
                        </a:rPr>
                        <a:t>Week 4</a:t>
                      </a:r>
                    </a:p>
                  </a:txBody>
                  <a:tcPr marL="54864" marR="54864" marT="27432" marB="27432" anchor="ctr">
                    <a:solidFill>
                      <a:srgbClr val="FFFFFF"/>
                    </a:solidFill>
                  </a:tcPr>
                </a:tc>
              </a:tr>
              <a:tr h="438912">
                <a:tc>
                  <a:txBody>
                    <a:bodyPr wrap="square"/>
                    <a:lstStyle/>
                    <a:p>
                      <a:pPr algn="l"/>
                      <a:r>
                        <a:rPr sz="1000" b="1" i="0">
                          <a:solidFill>
                            <a:srgbClr val="1F497D"/>
                          </a:solidFill>
                          <a:latin typeface="Arial"/>
                        </a:rPr>
                        <a:t>Stakeholder coverage</a:t>
                      </a:r>
                    </a:p>
                  </a:txBody>
                  <a:tcPr marL="54864" marR="54864" marT="27432" marB="27432" anchor="ctr">
                    <a:solidFill>
                      <a:srgbClr val="F2F2F2"/>
                    </a:solidFill>
                  </a:tcPr>
                </a:tc>
                <a:tc>
                  <a:txBody>
                    <a:bodyPr wrap="square"/>
                    <a:lstStyle/>
                    <a:p>
                      <a:pPr algn="l"/>
                      <a:r>
                        <a:rPr sz="1000" b="1" i="0">
                          <a:solidFill>
                            <a:srgbClr val="FFFFFF"/>
                          </a:solidFill>
                          <a:latin typeface="Arial"/>
                        </a:rPr>
                        <a:t>Interview</a:t>
                      </a:r>
                    </a:p>
                  </a:txBody>
                  <a:tcPr marL="54864" marR="54864" marT="27432" marB="27432" anchor="ctr">
                    <a:solidFill>
                      <a:srgbClr val="4F81BD"/>
                    </a:solidFill>
                  </a:tcPr>
                </a:tc>
                <a:tc>
                  <a:txBody>
                    <a:bodyPr wrap="square"/>
                    <a:lstStyle/>
                    <a:p>
                      <a:pPr algn="l"/>
                      <a:r>
                        <a:rPr sz="1000" b="0" i="0">
                          <a:solidFill>
                            <a:srgbClr val="404040"/>
                          </a:solidFill>
                          <a:latin typeface="Arial"/>
                        </a:rPr>
                        <a:t>Airlines, trade, SA Tourism, City, DHA and Wesgro executives</a:t>
                      </a:r>
                    </a:p>
                  </a:txBody>
                  <a:tcPr marL="54864" marR="54864" marT="27432" marB="27432" anchor="ctr">
                    <a:solidFill>
                      <a:srgbClr val="F2F2F2"/>
                    </a:solidFill>
                  </a:tcPr>
                </a:tc>
                <a:tc>
                  <a:txBody>
                    <a:bodyPr wrap="square"/>
                    <a:lstStyle/>
                    <a:p>
                      <a:pPr algn="l"/>
                      <a:r>
                        <a:rPr sz="1000" b="0" i="0">
                          <a:solidFill>
                            <a:srgbClr val="404040"/>
                          </a:solidFill>
                          <a:latin typeface="Arial"/>
                        </a:rPr>
                        <a:t>Partner</a:t>
                      </a:r>
                    </a:p>
                  </a:txBody>
                  <a:tcPr marL="54864" marR="54864" marT="27432" marB="27432" anchor="ctr">
                    <a:solidFill>
                      <a:srgbClr val="F2F2F2"/>
                    </a:solidFill>
                  </a:tcPr>
                </a:tc>
                <a:tc>
                  <a:txBody>
                    <a:bodyPr wrap="square"/>
                    <a:lstStyle/>
                    <a:p>
                      <a:pPr algn="l"/>
                      <a:r>
                        <a:rPr sz="1000" b="0" i="0">
                          <a:solidFill>
                            <a:srgbClr val="404040"/>
                          </a:solidFill>
                          <a:latin typeface="Arial"/>
                        </a:rPr>
                        <a:t>Week 4</a:t>
                      </a:r>
                    </a:p>
                  </a:txBody>
                  <a:tcPr marL="54864" marR="54864" marT="27432" marB="27432" anchor="ctr">
                    <a:solidFill>
                      <a:srgbClr val="F2F2F2"/>
                    </a:solidFill>
                  </a:tcPr>
                </a:tc>
              </a:tr>
              <a:tr h="438912">
                <a:tc>
                  <a:txBody>
                    <a:bodyPr wrap="square"/>
                    <a:lstStyle/>
                    <a:p>
                      <a:pPr algn="l"/>
                      <a:r>
                        <a:rPr sz="1000" b="1" i="0">
                          <a:solidFill>
                            <a:srgbClr val="1F497D"/>
                          </a:solidFill>
                          <a:latin typeface="Arial"/>
                        </a:rPr>
                        <a:t>Mega events</a:t>
                      </a:r>
                    </a:p>
                  </a:txBody>
                  <a:tcPr marL="54864" marR="54864" marT="27432" marB="27432" anchor="ctr">
                    <a:solidFill>
                      <a:srgbClr val="FFFFFF"/>
                    </a:solidFill>
                  </a:tcPr>
                </a:tc>
                <a:tc>
                  <a:txBody>
                    <a:bodyPr wrap="square"/>
                    <a:lstStyle/>
                    <a:p>
                      <a:pPr algn="l"/>
                      <a:r>
                        <a:rPr sz="1000" b="1" i="0">
                          <a:solidFill>
                            <a:srgbClr val="FFFFFF"/>
                          </a:solidFill>
                          <a:latin typeface="Arial"/>
                        </a:rPr>
                        <a:t>Benchmark</a:t>
                      </a:r>
                    </a:p>
                  </a:txBody>
                  <a:tcPr marL="54864" marR="54864" marT="27432" marB="27432" anchor="ctr">
                    <a:solidFill>
                      <a:srgbClr val="4F81BD"/>
                    </a:solidFill>
                  </a:tcPr>
                </a:tc>
                <a:tc>
                  <a:txBody>
                    <a:bodyPr wrap="square"/>
                    <a:lstStyle/>
                    <a:p>
                      <a:pPr algn="l"/>
                      <a:r>
                        <a:rPr sz="1000" b="0" i="0">
                          <a:solidFill>
                            <a:srgbClr val="404040"/>
                          </a:solidFill>
                          <a:latin typeface="Arial"/>
                        </a:rPr>
                        <a:t>Melbourne model against the Wesgro events pipeline</a:t>
                      </a:r>
                    </a:p>
                  </a:txBody>
                  <a:tcPr marL="54864" marR="54864" marT="27432" marB="27432" anchor="ctr">
                    <a:solidFill>
                      <a:srgbClr val="FFFFFF"/>
                    </a:solidFill>
                  </a:tcPr>
                </a:tc>
                <a:tc>
                  <a:txBody>
                    <a:bodyPr wrap="square"/>
                    <a:lstStyle/>
                    <a:p>
                      <a:pPr algn="l"/>
                      <a:r>
                        <a:rPr sz="1000" b="0" i="0">
                          <a:solidFill>
                            <a:srgbClr val="404040"/>
                          </a:solidFill>
                          <a:latin typeface="Arial"/>
                        </a:rPr>
                        <a:t>Demand analyst</a:t>
                      </a:r>
                    </a:p>
                  </a:txBody>
                  <a:tcPr marL="54864" marR="54864" marT="27432" marB="27432" anchor="ctr">
                    <a:solidFill>
                      <a:srgbClr val="FFFFFF"/>
                    </a:solidFill>
                  </a:tcPr>
                </a:tc>
                <a:tc>
                  <a:txBody>
                    <a:bodyPr wrap="square"/>
                    <a:lstStyle/>
                    <a:p>
                      <a:pPr algn="l"/>
                      <a:r>
                        <a:rPr sz="1000" b="0" i="0">
                          <a:solidFill>
                            <a:srgbClr val="404040"/>
                          </a:solidFill>
                          <a:latin typeface="Arial"/>
                        </a:rPr>
                        <a:t>Week 3</a:t>
                      </a:r>
                    </a:p>
                  </a:txBody>
                  <a:tcPr marL="54864" marR="54864" marT="27432" marB="27432" anchor="ctr">
                    <a:solidFill>
                      <a:srgbClr val="FFFFFF"/>
                    </a:solidFill>
                  </a:tcPr>
                </a:tc>
              </a:tr>
              <a:tr h="438912">
                <a:tc>
                  <a:txBody>
                    <a:bodyPr wrap="square"/>
                    <a:lstStyle/>
                    <a:p>
                      <a:pPr algn="l"/>
                      <a:r>
                        <a:rPr sz="1000" b="1" i="0">
                          <a:solidFill>
                            <a:srgbClr val="1F497D"/>
                          </a:solidFill>
                          <a:latin typeface="Arial"/>
                        </a:rPr>
                        <a:t>Safety and visas</a:t>
                      </a:r>
                    </a:p>
                  </a:txBody>
                  <a:tcPr marL="54864" marR="54864" marT="27432" marB="27432" anchor="ctr">
                    <a:solidFill>
                      <a:srgbClr val="F2F2F2"/>
                    </a:solidFill>
                  </a:tcPr>
                </a:tc>
                <a:tc>
                  <a:txBody>
                    <a:bodyPr wrap="square"/>
                    <a:lstStyle/>
                    <a:p>
                      <a:pPr algn="l"/>
                      <a:r>
                        <a:rPr sz="1000" b="1" i="0">
                          <a:solidFill>
                            <a:srgbClr val="FFFFFF"/>
                          </a:solidFill>
                          <a:latin typeface="Arial"/>
                        </a:rPr>
                        <a:t>Bound</a:t>
                      </a:r>
                    </a:p>
                  </a:txBody>
                  <a:tcPr marL="54864" marR="54864" marT="27432" marB="27432" anchor="ctr">
                    <a:solidFill>
                      <a:srgbClr val="7F7F7F"/>
                    </a:solidFill>
                  </a:tcPr>
                </a:tc>
                <a:tc>
                  <a:txBody>
                    <a:bodyPr wrap="square"/>
                    <a:lstStyle/>
                    <a:p>
                      <a:pPr algn="l"/>
                      <a:r>
                        <a:rPr sz="1000" b="0" i="0">
                          <a:solidFill>
                            <a:srgbClr val="404040"/>
                          </a:solidFill>
                          <a:latin typeface="Arial"/>
                        </a:rPr>
                        <a:t>Use existing modelled evidence; name national owners</a:t>
                      </a:r>
                    </a:p>
                  </a:txBody>
                  <a:tcPr marL="54864" marR="54864" marT="27432" marB="27432" anchor="ctr">
                    <a:solidFill>
                      <a:srgbClr val="F2F2F2"/>
                    </a:solidFill>
                  </a:tcPr>
                </a:tc>
                <a:tc>
                  <a:txBody>
                    <a:bodyPr wrap="square"/>
                    <a:lstStyle/>
                    <a:p>
                      <a:pPr algn="l"/>
                      <a:r>
                        <a:rPr sz="1000" b="0" i="0">
                          <a:solidFill>
                            <a:srgbClr val="404040"/>
                          </a:solidFill>
                          <a:latin typeface="Arial"/>
                        </a:rPr>
                        <a:t>Engagement manager</a:t>
                      </a:r>
                    </a:p>
                  </a:txBody>
                  <a:tcPr marL="54864" marR="54864" marT="27432" marB="27432" anchor="ctr">
                    <a:solidFill>
                      <a:srgbClr val="F2F2F2"/>
                    </a:solidFill>
                  </a:tcPr>
                </a:tc>
                <a:tc>
                  <a:txBody>
                    <a:bodyPr wrap="square"/>
                    <a:lstStyle/>
                    <a:p>
                      <a:pPr algn="l"/>
                      <a:r>
                        <a:rPr sz="1000" b="0" i="0">
                          <a:solidFill>
                            <a:srgbClr val="404040"/>
                          </a:solidFill>
                          <a:latin typeface="Arial"/>
                        </a:rPr>
                        <a:t>Week 3</a:t>
                      </a:r>
                    </a:p>
                  </a:txBody>
                  <a:tcPr marL="54864" marR="54864" marT="27432" marB="27432" anchor="ctr">
                    <a:solidFill>
                      <a:srgbClr val="F2F2F2"/>
                    </a:solidFill>
                  </a:tcPr>
                </a:tc>
              </a:tr>
              <a:tr h="438912">
                <a:tc>
                  <a:txBody>
                    <a:bodyPr wrap="square"/>
                    <a:lstStyle/>
                    <a:p>
                      <a:pPr algn="l"/>
                      <a:r>
                        <a:rPr sz="1000" b="1" i="0">
                          <a:solidFill>
                            <a:srgbClr val="1F497D"/>
                          </a:solidFill>
                          <a:latin typeface="Arial"/>
                        </a:rPr>
                        <a:t>Skills, sustainability, technology</a:t>
                      </a:r>
                    </a:p>
                  </a:txBody>
                  <a:tcPr marL="54864" marR="54864" marT="27432" marB="27432" anchor="ctr">
                    <a:solidFill>
                      <a:srgbClr val="FFFFFF"/>
                    </a:solidFill>
                  </a:tcPr>
                </a:tc>
                <a:tc>
                  <a:txBody>
                    <a:bodyPr wrap="square"/>
                    <a:lstStyle/>
                    <a:p>
                      <a:pPr algn="l"/>
                      <a:r>
                        <a:rPr sz="1000" b="1" i="0">
                          <a:solidFill>
                            <a:srgbClr val="FFFFFF"/>
                          </a:solidFill>
                          <a:latin typeface="Arial"/>
                        </a:rPr>
                        <a:t>Bound</a:t>
                      </a:r>
                    </a:p>
                  </a:txBody>
                  <a:tcPr marL="54864" marR="54864" marT="27432" marB="27432" anchor="ctr">
                    <a:solidFill>
                      <a:srgbClr val="7F7F7F"/>
                    </a:solidFill>
                  </a:tcPr>
                </a:tc>
                <a:tc>
                  <a:txBody>
                    <a:bodyPr wrap="square"/>
                    <a:lstStyle/>
                    <a:p>
                      <a:pPr algn="l"/>
                      <a:r>
                        <a:rPr sz="1000" b="0" i="0">
                          <a:solidFill>
                            <a:srgbClr val="404040"/>
                          </a:solidFill>
                          <a:latin typeface="Arial"/>
                        </a:rPr>
                        <a:t>State as limitations with next steps</a:t>
                      </a:r>
                    </a:p>
                  </a:txBody>
                  <a:tcPr marL="54864" marR="54864" marT="27432" marB="27432" anchor="ctr">
                    <a:solidFill>
                      <a:srgbClr val="FFFFFF"/>
                    </a:solidFill>
                  </a:tcPr>
                </a:tc>
                <a:tc>
                  <a:txBody>
                    <a:bodyPr wrap="square"/>
                    <a:lstStyle/>
                    <a:p>
                      <a:pPr algn="l"/>
                      <a:r>
                        <a:rPr sz="1000" b="0" i="0">
                          <a:solidFill>
                            <a:srgbClr val="404040"/>
                          </a:solidFill>
                          <a:latin typeface="Arial"/>
                        </a:rPr>
                        <a:t>Engagement manager</a:t>
                      </a:r>
                    </a:p>
                  </a:txBody>
                  <a:tcPr marL="54864" marR="54864" marT="27432" marB="27432" anchor="ctr">
                    <a:solidFill>
                      <a:srgbClr val="FFFFFF"/>
                    </a:solidFill>
                  </a:tcPr>
                </a:tc>
                <a:tc>
                  <a:txBody>
                    <a:bodyPr wrap="square"/>
                    <a:lstStyle/>
                    <a:p>
                      <a:pPr algn="l"/>
                      <a:r>
                        <a:rPr sz="1000" b="0" i="0">
                          <a:solidFill>
                            <a:srgbClr val="404040"/>
                          </a:solidFill>
                          <a:latin typeface="Arial"/>
                        </a:rPr>
                        <a:t>Week 5</a:t>
                      </a:r>
                    </a:p>
                  </a:txBody>
                  <a:tcPr marL="54864" marR="54864" marT="27432" marB="27432" anchor="ctr">
                    <a:solidFill>
                      <a:srgbClr val="FFFFFF"/>
                    </a:solidFill>
                  </a:tcPr>
                </a:tc>
              </a:tr>
            </a:tbl>
          </a:graphicData>
        </a:graphic>
      </p:graphicFrame>
      <p:sp>
        <p:nvSpPr>
          <p:cNvPr id="9" name="TextBox 8"/>
          <p:cNvSpPr txBox="1"/>
          <p:nvPr/>
        </p:nvSpPr>
        <p:spPr>
          <a:xfrm>
            <a:off x="384048" y="5760720"/>
            <a:ext cx="11338560" cy="365760"/>
          </a:xfrm>
          <a:prstGeom prst="rect">
            <a:avLst/>
          </a:prstGeom>
          <a:noFill/>
        </p:spPr>
        <p:txBody>
          <a:bodyPr wrap="square" anchor="t" lIns="36576" rIns="36576" tIns="21945" bIns="21945">
            <a:spAutoFit/>
          </a:bodyPr>
          <a:lstStyle/>
          <a:p>
            <a:pPr algn="l">
              <a:spcAft>
                <a:spcPts val="0"/>
              </a:spcAft>
            </a:pPr>
            <a:r>
              <a:rPr sz="950" b="0" i="1">
                <a:solidFill>
                  <a:srgbClr val="7F7F7F"/>
                </a:solidFill>
                <a:latin typeface="Arial"/>
              </a:rPr>
              <a:t>Weeks run from the week of 12 October 2026. Work after 31 October depends on the contract extension.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divider_bg.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2697480"/>
            <a:ext cx="12191695" cy="1463040"/>
          </a:xfrm>
          <a:prstGeom prst="rect">
            <a:avLst/>
          </a:prstGeom>
          <a:solidFill>
            <a:srgbClr val="009FDF">
              <a:alpha val="78000"/>
            </a:srgbClr>
          </a:solidFill>
          <a:ln>
            <a:noFill/>
          </a:ln>
        </p:spPr>
        <p:txBody>
          <a:bodyPr rtlCol="0" anchor="ctr"/>
          <a:lstStyle/>
          <a:p>
            <a:pPr algn="ctr"/>
          </a:p>
        </p:txBody>
      </p:sp>
      <p:sp>
        <p:nvSpPr>
          <p:cNvPr id="2" name="Title 1"/>
          <p:cNvSpPr>
            <a:spLocks noGrp="1"/>
          </p:cNvSpPr>
          <p:nvPr>
            <p:ph type="title"/>
          </p:nvPr>
        </p:nvSpPr>
        <p:spPr>
          <a:xfrm>
            <a:off x="1097280" y="2788920"/>
            <a:ext cx="10058400" cy="731520"/>
          </a:xfrm>
        </p:spPr>
        <p:txBody>
          <a:bodyPr anchor="ctr"/>
          <a:lstStyle/>
          <a:p>
            <a:pPr algn="l"/>
            <a:r>
              <a:rPr sz="3200" b="1" i="0">
                <a:solidFill>
                  <a:srgbClr val="FFFFFF"/>
                </a:solidFill>
                <a:latin typeface="Arial"/>
              </a:rPr>
              <a:t>Toward the final recommendations</a:t>
            </a:r>
          </a:p>
        </p:txBody>
      </p:sp>
      <p:sp>
        <p:nvSpPr>
          <p:cNvPr id="5" name="TextBox 4"/>
          <p:cNvSpPr txBox="1"/>
          <p:nvPr/>
        </p:nvSpPr>
        <p:spPr>
          <a:xfrm>
            <a:off x="1097280" y="3520440"/>
            <a:ext cx="10058400" cy="457200"/>
          </a:xfrm>
          <a:prstGeom prst="rect">
            <a:avLst/>
          </a:prstGeom>
          <a:noFill/>
        </p:spPr>
        <p:txBody>
          <a:bodyPr wrap="square" anchor="t" lIns="36576" rIns="36576" tIns="21945" bIns="21945">
            <a:spAutoFit/>
          </a:bodyPr>
          <a:lstStyle/>
          <a:p>
            <a:pPr algn="l">
              <a:spcAft>
                <a:spcPts val="0"/>
              </a:spcAft>
            </a:pPr>
            <a:r>
              <a:rPr sz="1400" b="0" i="0">
                <a:solidFill>
                  <a:srgbClr val="FFFFFF"/>
                </a:solidFill>
                <a:latin typeface="Arial"/>
              </a:rPr>
              <a:t>Structure, emerging themes and the decisions we need today</a:t>
            </a:r>
          </a:p>
        </p:txBody>
      </p:sp>
      <p:sp>
        <p:nvSpPr>
          <p:cNvPr id="6" name="TextBox 5"/>
          <p:cNvSpPr txBox="1"/>
          <p:nvPr/>
        </p:nvSpPr>
        <p:spPr>
          <a:xfrm>
            <a:off x="411480" y="2788920"/>
            <a:ext cx="731520" cy="731520"/>
          </a:xfrm>
          <a:prstGeom prst="rect">
            <a:avLst/>
          </a:prstGeom>
          <a:noFill/>
        </p:spPr>
        <p:txBody>
          <a:bodyPr wrap="square" anchor="ctr" lIns="36576" rIns="36576" tIns="21945" bIns="21945">
            <a:spAutoFit/>
          </a:bodyPr>
          <a:lstStyle/>
          <a:p>
            <a:pPr algn="l">
              <a:spcAft>
                <a:spcPts val="400"/>
              </a:spcAft>
            </a:pPr>
            <a:r>
              <a:rPr sz="3200" b="0" i="0">
                <a:solidFill>
                  <a:srgbClr val="FFFFFF"/>
                </a:solidFill>
                <a:latin typeface="Arial"/>
              </a:rPr>
              <a:t>05</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D9D9D9"/>
                </a:solidFill>
                <a:latin typeface="Arial"/>
              </a:rPr>
              <a:t>DRAFT FOR DISCUSSION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We propose organising recommendations by pillar and horizon, with an owner for every action</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STRUCTURE OF THE FINAL REPORT</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SLA Annexure B 1.1.14 (roadmap with roles across national, provincial, district and local government and the private sector, timelines and risks)</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29</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84048" y="1188720"/>
            <a:ext cx="3703320" cy="2880360"/>
          </a:xfrm>
          <a:prstGeom prst="rect">
            <a:avLst/>
          </a:prstGeom>
          <a:solidFill>
            <a:srgbClr val="DCEEF7"/>
          </a:solidFill>
          <a:ln w="19050">
            <a:solidFill>
              <a:srgbClr val="00AEEF"/>
            </a:solidFill>
          </a:ln>
        </p:spPr>
        <p:txBody>
          <a:bodyPr rtlCol="0" anchor="ctr"/>
          <a:lstStyle/>
          <a:p>
            <a:pPr algn="ctr"/>
          </a:p>
        </p:txBody>
      </p:sp>
      <p:sp>
        <p:nvSpPr>
          <p:cNvPr id="9" name="TextBox 8"/>
          <p:cNvSpPr txBox="1"/>
          <p:nvPr/>
        </p:nvSpPr>
        <p:spPr>
          <a:xfrm>
            <a:off x="521207" y="1280160"/>
            <a:ext cx="3474720" cy="274320"/>
          </a:xfrm>
          <a:prstGeom prst="rect">
            <a:avLst/>
          </a:prstGeom>
          <a:noFill/>
        </p:spPr>
        <p:txBody>
          <a:bodyPr wrap="square" anchor="t" lIns="36576" rIns="36576" tIns="21945" bIns="21945">
            <a:spAutoFit/>
          </a:bodyPr>
          <a:lstStyle/>
          <a:p>
            <a:pPr algn="l">
              <a:spcAft>
                <a:spcPts val="0"/>
              </a:spcAft>
            </a:pPr>
            <a:r>
              <a:rPr sz="900" b="1" i="0">
                <a:solidFill>
                  <a:srgbClr val="00AEEF"/>
                </a:solidFill>
                <a:latin typeface="Arial"/>
              </a:rPr>
              <a:t>OPTION 1 (PREFERRED)</a:t>
            </a:r>
          </a:p>
        </p:txBody>
      </p:sp>
      <p:sp>
        <p:nvSpPr>
          <p:cNvPr id="10" name="TextBox 9"/>
          <p:cNvSpPr txBox="1"/>
          <p:nvPr/>
        </p:nvSpPr>
        <p:spPr>
          <a:xfrm>
            <a:off x="521207" y="1554480"/>
            <a:ext cx="3474720" cy="365760"/>
          </a:xfrm>
          <a:prstGeom prst="rect">
            <a:avLst/>
          </a:prstGeom>
          <a:noFill/>
        </p:spPr>
        <p:txBody>
          <a:bodyPr wrap="square" anchor="t" lIns="36576" rIns="36576" tIns="21945" bIns="21945">
            <a:spAutoFit/>
          </a:bodyPr>
          <a:lstStyle/>
          <a:p>
            <a:pPr algn="l">
              <a:spcAft>
                <a:spcPts val="0"/>
              </a:spcAft>
            </a:pPr>
            <a:r>
              <a:rPr sz="1400" b="1" i="0">
                <a:solidFill>
                  <a:srgbClr val="1F497D"/>
                </a:solidFill>
                <a:latin typeface="Arial"/>
              </a:rPr>
              <a:t>By pillar and horizon</a:t>
            </a:r>
          </a:p>
        </p:txBody>
      </p:sp>
      <p:sp>
        <p:nvSpPr>
          <p:cNvPr id="11" name="TextBox 10"/>
          <p:cNvSpPr txBox="1"/>
          <p:nvPr/>
        </p:nvSpPr>
        <p:spPr>
          <a:xfrm>
            <a:off x="521207" y="2011680"/>
            <a:ext cx="3474720" cy="2011680"/>
          </a:xfrm>
          <a:prstGeom prst="rect">
            <a:avLst/>
          </a:prstGeom>
          <a:noFill/>
        </p:spPr>
        <p:txBody>
          <a:bodyPr wrap="square" anchor="t" lIns="36576" rIns="36576" tIns="21945" bIns="21945">
            <a:spAutoFit/>
          </a:bodyPr>
          <a:lstStyle/>
          <a:p>
            <a:pPr algn="l" marL="146304" indent="-146304">
              <a:spcAft>
                <a:spcPts val="600"/>
              </a:spcAft>
              <a:buClr>
                <a:srgbClr val="00AEEF"/>
              </a:buClr>
              <a:buFont typeface="Arial"/>
              <a:buChar char="•"/>
            </a:pPr>
            <a:r>
              <a:rPr sz="1050" b="0" i="0">
                <a:solidFill>
                  <a:srgbClr val="404040"/>
                </a:solidFill>
                <a:latin typeface="Arial"/>
              </a:rPr>
              <a:t>Three pillars, each with 2028, 2030 and 2035 actions</a:t>
            </a:r>
          </a:p>
          <a:p>
            <a:pPr algn="l" marL="146304" indent="-146304">
              <a:spcAft>
                <a:spcPts val="600"/>
              </a:spcAft>
              <a:buClr>
                <a:srgbClr val="00AEEF"/>
              </a:buClr>
              <a:buFont typeface="Arial"/>
              <a:buChar char="•"/>
            </a:pPr>
            <a:r>
              <a:rPr sz="1050" b="0" i="0">
                <a:solidFill>
                  <a:srgbClr val="404040"/>
                </a:solidFill>
                <a:latin typeface="Arial"/>
              </a:rPr>
              <a:t>Traceable from tree to evidence to action</a:t>
            </a:r>
          </a:p>
          <a:p>
            <a:pPr algn="l" marL="146304" indent="-146304">
              <a:spcAft>
                <a:spcPts val="600"/>
              </a:spcAft>
              <a:buClr>
                <a:srgbClr val="00AEEF"/>
              </a:buClr>
              <a:buFont typeface="Arial"/>
              <a:buChar char="•"/>
            </a:pPr>
            <a:r>
              <a:rPr sz="1050" b="0" i="0">
                <a:solidFill>
                  <a:srgbClr val="404040"/>
                </a:solidFill>
                <a:latin typeface="Arial"/>
              </a:rPr>
              <a:t>Owner by tier on every action</a:t>
            </a:r>
          </a:p>
          <a:p>
            <a:pPr algn="l" marL="146304" indent="-146304">
              <a:spcAft>
                <a:spcPts val="600"/>
              </a:spcAft>
              <a:buClr>
                <a:srgbClr val="00AEEF"/>
              </a:buClr>
              <a:buFont typeface="Arial"/>
              <a:buChar char="•"/>
            </a:pPr>
            <a:r>
              <a:rPr sz="1050" b="0" i="0">
                <a:solidFill>
                  <a:srgbClr val="404040"/>
                </a:solidFill>
                <a:latin typeface="Arial"/>
              </a:rPr>
              <a:t>Risk: longer document</a:t>
            </a:r>
          </a:p>
        </p:txBody>
      </p:sp>
      <p:sp>
        <p:nvSpPr>
          <p:cNvPr id="12" name="Rectangle 11"/>
          <p:cNvSpPr/>
          <p:nvPr/>
        </p:nvSpPr>
        <p:spPr>
          <a:xfrm>
            <a:off x="4242816" y="1188720"/>
            <a:ext cx="3703320" cy="2880360"/>
          </a:xfrm>
          <a:prstGeom prst="rect">
            <a:avLst/>
          </a:prstGeom>
          <a:solidFill>
            <a:srgbClr val="F2F2F2"/>
          </a:solidFill>
          <a:ln>
            <a:noFill/>
          </a:ln>
        </p:spPr>
        <p:txBody>
          <a:bodyPr rtlCol="0" anchor="ctr"/>
          <a:lstStyle/>
          <a:p>
            <a:pPr algn="ctr"/>
          </a:p>
        </p:txBody>
      </p:sp>
      <p:sp>
        <p:nvSpPr>
          <p:cNvPr id="13" name="TextBox 12"/>
          <p:cNvSpPr txBox="1"/>
          <p:nvPr/>
        </p:nvSpPr>
        <p:spPr>
          <a:xfrm>
            <a:off x="4379976" y="1280160"/>
            <a:ext cx="3474720" cy="274320"/>
          </a:xfrm>
          <a:prstGeom prst="rect">
            <a:avLst/>
          </a:prstGeom>
          <a:noFill/>
        </p:spPr>
        <p:txBody>
          <a:bodyPr wrap="square" anchor="t" lIns="36576" rIns="36576" tIns="21945" bIns="21945">
            <a:spAutoFit/>
          </a:bodyPr>
          <a:lstStyle/>
          <a:p>
            <a:pPr algn="l">
              <a:spcAft>
                <a:spcPts val="0"/>
              </a:spcAft>
            </a:pPr>
            <a:r>
              <a:rPr sz="900" b="1" i="0">
                <a:solidFill>
                  <a:srgbClr val="7F7F7F"/>
                </a:solidFill>
                <a:latin typeface="Arial"/>
              </a:rPr>
              <a:t>OPTION 2</a:t>
            </a:r>
          </a:p>
        </p:txBody>
      </p:sp>
      <p:sp>
        <p:nvSpPr>
          <p:cNvPr id="14" name="TextBox 13"/>
          <p:cNvSpPr txBox="1"/>
          <p:nvPr/>
        </p:nvSpPr>
        <p:spPr>
          <a:xfrm>
            <a:off x="4379976" y="1554480"/>
            <a:ext cx="3474720" cy="365760"/>
          </a:xfrm>
          <a:prstGeom prst="rect">
            <a:avLst/>
          </a:prstGeom>
          <a:noFill/>
        </p:spPr>
        <p:txBody>
          <a:bodyPr wrap="square" anchor="t" lIns="36576" rIns="36576" tIns="21945" bIns="21945">
            <a:spAutoFit/>
          </a:bodyPr>
          <a:lstStyle/>
          <a:p>
            <a:pPr algn="l">
              <a:spcAft>
                <a:spcPts val="0"/>
              </a:spcAft>
            </a:pPr>
            <a:r>
              <a:rPr sz="1400" b="1" i="0">
                <a:solidFill>
                  <a:srgbClr val="1F497D"/>
                </a:solidFill>
                <a:latin typeface="Arial"/>
              </a:rPr>
              <a:t>By actor</a:t>
            </a:r>
          </a:p>
        </p:txBody>
      </p:sp>
      <p:sp>
        <p:nvSpPr>
          <p:cNvPr id="15" name="TextBox 14"/>
          <p:cNvSpPr txBox="1"/>
          <p:nvPr/>
        </p:nvSpPr>
        <p:spPr>
          <a:xfrm>
            <a:off x="4379976" y="2011680"/>
            <a:ext cx="3474720" cy="2011680"/>
          </a:xfrm>
          <a:prstGeom prst="rect">
            <a:avLst/>
          </a:prstGeom>
          <a:noFill/>
        </p:spPr>
        <p:txBody>
          <a:bodyPr wrap="square" anchor="t" lIns="36576" rIns="36576" tIns="21945" bIns="21945">
            <a:spAutoFit/>
          </a:bodyPr>
          <a:lstStyle/>
          <a:p>
            <a:pPr algn="l" marL="146304" indent="-146304">
              <a:spcAft>
                <a:spcPts val="600"/>
              </a:spcAft>
              <a:buClr>
                <a:srgbClr val="00AEEF"/>
              </a:buClr>
              <a:buFont typeface="Arial"/>
              <a:buChar char="•"/>
            </a:pPr>
            <a:r>
              <a:rPr sz="1050" b="0" i="0">
                <a:solidFill>
                  <a:srgbClr val="404040"/>
                </a:solidFill>
                <a:latin typeface="Arial"/>
              </a:rPr>
              <a:t>Separate chapters for Wesgro, WCG, municipalities, national and industry</a:t>
            </a:r>
          </a:p>
          <a:p>
            <a:pPr algn="l" marL="146304" indent="-146304">
              <a:spcAft>
                <a:spcPts val="600"/>
              </a:spcAft>
              <a:buClr>
                <a:srgbClr val="00AEEF"/>
              </a:buClr>
              <a:buFont typeface="Arial"/>
              <a:buChar char="•"/>
            </a:pPr>
            <a:r>
              <a:rPr sz="1050" b="0" i="0">
                <a:solidFill>
                  <a:srgbClr val="404040"/>
                </a:solidFill>
                <a:latin typeface="Arial"/>
              </a:rPr>
              <a:t>Easy to hand over</a:t>
            </a:r>
          </a:p>
          <a:p>
            <a:pPr algn="l" marL="146304" indent="-146304">
              <a:spcAft>
                <a:spcPts val="600"/>
              </a:spcAft>
              <a:buClr>
                <a:srgbClr val="00AEEF"/>
              </a:buClr>
              <a:buFont typeface="Arial"/>
              <a:buChar char="•"/>
            </a:pPr>
            <a:r>
              <a:rPr sz="1050" b="0" i="0">
                <a:solidFill>
                  <a:srgbClr val="404040"/>
                </a:solidFill>
                <a:latin typeface="Arial"/>
              </a:rPr>
              <a:t>Risk: loses the causal logic and the system view</a:t>
            </a:r>
          </a:p>
        </p:txBody>
      </p:sp>
      <p:sp>
        <p:nvSpPr>
          <p:cNvPr id="16" name="Rectangle 15"/>
          <p:cNvSpPr/>
          <p:nvPr/>
        </p:nvSpPr>
        <p:spPr>
          <a:xfrm>
            <a:off x="8101583" y="1188720"/>
            <a:ext cx="3703320" cy="2880360"/>
          </a:xfrm>
          <a:prstGeom prst="rect">
            <a:avLst/>
          </a:prstGeom>
          <a:solidFill>
            <a:srgbClr val="F2F2F2"/>
          </a:solidFill>
          <a:ln>
            <a:noFill/>
          </a:ln>
        </p:spPr>
        <p:txBody>
          <a:bodyPr rtlCol="0" anchor="ctr"/>
          <a:lstStyle/>
          <a:p>
            <a:pPr algn="ctr"/>
          </a:p>
        </p:txBody>
      </p:sp>
      <p:sp>
        <p:nvSpPr>
          <p:cNvPr id="17" name="TextBox 16"/>
          <p:cNvSpPr txBox="1"/>
          <p:nvPr/>
        </p:nvSpPr>
        <p:spPr>
          <a:xfrm>
            <a:off x="8238744" y="1280160"/>
            <a:ext cx="3474720" cy="274320"/>
          </a:xfrm>
          <a:prstGeom prst="rect">
            <a:avLst/>
          </a:prstGeom>
          <a:noFill/>
        </p:spPr>
        <p:txBody>
          <a:bodyPr wrap="square" anchor="t" lIns="36576" rIns="36576" tIns="21945" bIns="21945">
            <a:spAutoFit/>
          </a:bodyPr>
          <a:lstStyle/>
          <a:p>
            <a:pPr algn="l">
              <a:spcAft>
                <a:spcPts val="0"/>
              </a:spcAft>
            </a:pPr>
            <a:r>
              <a:rPr sz="900" b="1" i="0">
                <a:solidFill>
                  <a:srgbClr val="7F7F7F"/>
                </a:solidFill>
                <a:latin typeface="Arial"/>
              </a:rPr>
              <a:t>OPTION 3</a:t>
            </a:r>
          </a:p>
        </p:txBody>
      </p:sp>
      <p:sp>
        <p:nvSpPr>
          <p:cNvPr id="18" name="TextBox 17"/>
          <p:cNvSpPr txBox="1"/>
          <p:nvPr/>
        </p:nvSpPr>
        <p:spPr>
          <a:xfrm>
            <a:off x="8238744" y="1554480"/>
            <a:ext cx="3474720" cy="365760"/>
          </a:xfrm>
          <a:prstGeom prst="rect">
            <a:avLst/>
          </a:prstGeom>
          <a:noFill/>
        </p:spPr>
        <p:txBody>
          <a:bodyPr wrap="square" anchor="t" lIns="36576" rIns="36576" tIns="21945" bIns="21945">
            <a:spAutoFit/>
          </a:bodyPr>
          <a:lstStyle/>
          <a:p>
            <a:pPr algn="l">
              <a:spcAft>
                <a:spcPts val="0"/>
              </a:spcAft>
            </a:pPr>
            <a:r>
              <a:rPr sz="1400" b="1" i="0">
                <a:solidFill>
                  <a:srgbClr val="1F497D"/>
                </a:solidFill>
                <a:latin typeface="Arial"/>
              </a:rPr>
              <a:t>By market</a:t>
            </a:r>
          </a:p>
        </p:txBody>
      </p:sp>
      <p:sp>
        <p:nvSpPr>
          <p:cNvPr id="19" name="TextBox 18"/>
          <p:cNvSpPr txBox="1"/>
          <p:nvPr/>
        </p:nvSpPr>
        <p:spPr>
          <a:xfrm>
            <a:off x="8238744" y="2011680"/>
            <a:ext cx="3474720" cy="2011680"/>
          </a:xfrm>
          <a:prstGeom prst="rect">
            <a:avLst/>
          </a:prstGeom>
          <a:noFill/>
        </p:spPr>
        <p:txBody>
          <a:bodyPr wrap="square" anchor="t" lIns="36576" rIns="36576" tIns="21945" bIns="21945">
            <a:spAutoFit/>
          </a:bodyPr>
          <a:lstStyle/>
          <a:p>
            <a:pPr algn="l" marL="146304" indent="-146304">
              <a:spcAft>
                <a:spcPts val="600"/>
              </a:spcAft>
              <a:buClr>
                <a:srgbClr val="00AEEF"/>
              </a:buClr>
              <a:buFont typeface="Arial"/>
              <a:buChar char="•"/>
            </a:pPr>
            <a:r>
              <a:rPr sz="1050" b="0" i="0">
                <a:solidFill>
                  <a:srgbClr val="404040"/>
                </a:solidFill>
                <a:latin typeface="Arial"/>
              </a:rPr>
              <a:t>Chapters for mature, growth and regional markets</a:t>
            </a:r>
          </a:p>
          <a:p>
            <a:pPr algn="l" marL="146304" indent="-146304">
              <a:spcAft>
                <a:spcPts val="600"/>
              </a:spcAft>
              <a:buClr>
                <a:srgbClr val="00AEEF"/>
              </a:buClr>
              <a:buFont typeface="Arial"/>
              <a:buChar char="•"/>
            </a:pPr>
            <a:r>
              <a:rPr sz="1050" b="0" i="0">
                <a:solidFill>
                  <a:srgbClr val="404040"/>
                </a:solidFill>
                <a:latin typeface="Arial"/>
              </a:rPr>
              <a:t>Aligns to how Wesgro sells</a:t>
            </a:r>
          </a:p>
          <a:p>
            <a:pPr algn="l" marL="146304" indent="-146304">
              <a:spcAft>
                <a:spcPts val="600"/>
              </a:spcAft>
              <a:buClr>
                <a:srgbClr val="00AEEF"/>
              </a:buClr>
              <a:buFont typeface="Arial"/>
              <a:buChar char="•"/>
            </a:pPr>
            <a:r>
              <a:rPr sz="1050" b="0" i="0">
                <a:solidFill>
                  <a:srgbClr val="404040"/>
                </a:solidFill>
                <a:latin typeface="Arial"/>
              </a:rPr>
              <a:t>Risk: under-weights supply and enabling levers</a:t>
            </a:r>
          </a:p>
        </p:txBody>
      </p:sp>
      <p:sp>
        <p:nvSpPr>
          <p:cNvPr id="20" name="TextBox 19"/>
          <p:cNvSpPr txBox="1"/>
          <p:nvPr/>
        </p:nvSpPr>
        <p:spPr>
          <a:xfrm>
            <a:off x="384048" y="4206240"/>
            <a:ext cx="1133856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PROPOSED REPORT SPINE</a:t>
            </a:r>
          </a:p>
        </p:txBody>
      </p:sp>
      <p:sp>
        <p:nvSpPr>
          <p:cNvPr id="21" name="Pentagon 20"/>
          <p:cNvSpPr/>
          <p:nvPr/>
        </p:nvSpPr>
        <p:spPr>
          <a:xfrm>
            <a:off x="384048" y="4526280"/>
            <a:ext cx="1568849" cy="822960"/>
          </a:xfrm>
          <a:prstGeom prst="homePlate">
            <a:avLst/>
          </a:prstGeom>
          <a:solidFill>
            <a:srgbClr val="1F497D"/>
          </a:solidFill>
          <a:ln>
            <a:noFill/>
          </a:ln>
        </p:spPr>
        <p:txBody>
          <a:bodyPr rtlCol="0" anchor="ctr" wrap="square" lIns="64008" rIns="64008" tIns="38404" bIns="38404"/>
          <a:lstStyle/>
          <a:p>
            <a:pPr algn="l">
              <a:spcAft>
                <a:spcPts val="0"/>
              </a:spcAft>
            </a:pPr>
            <a:r>
              <a:rPr sz="950" b="1" i="0">
                <a:solidFill>
                  <a:srgbClr val="FFFFFF"/>
                </a:solidFill>
                <a:latin typeface="Arial"/>
              </a:rPr>
              <a:t>1. The answer and the target</a:t>
            </a:r>
          </a:p>
        </p:txBody>
      </p:sp>
      <p:sp>
        <p:nvSpPr>
          <p:cNvPr id="22" name="Pentagon 21"/>
          <p:cNvSpPr/>
          <p:nvPr/>
        </p:nvSpPr>
        <p:spPr>
          <a:xfrm>
            <a:off x="2026049" y="4526280"/>
            <a:ext cx="1568849" cy="822960"/>
          </a:xfrm>
          <a:prstGeom prst="homePlate">
            <a:avLst/>
          </a:prstGeom>
          <a:solidFill>
            <a:srgbClr val="00AEEF"/>
          </a:solidFill>
          <a:ln>
            <a:noFill/>
          </a:ln>
        </p:spPr>
        <p:txBody>
          <a:bodyPr rtlCol="0" anchor="ctr" wrap="square" lIns="64008" rIns="64008" tIns="38404" bIns="38404"/>
          <a:lstStyle/>
          <a:p>
            <a:pPr algn="l">
              <a:spcAft>
                <a:spcPts val="0"/>
              </a:spcAft>
            </a:pPr>
            <a:r>
              <a:rPr sz="950" b="1" i="0">
                <a:solidFill>
                  <a:srgbClr val="FFFFFF"/>
                </a:solidFill>
                <a:latin typeface="Arial"/>
              </a:rPr>
              <a:t>2. What we found</a:t>
            </a:r>
          </a:p>
        </p:txBody>
      </p:sp>
      <p:sp>
        <p:nvSpPr>
          <p:cNvPr id="23" name="Pentagon 22"/>
          <p:cNvSpPr/>
          <p:nvPr/>
        </p:nvSpPr>
        <p:spPr>
          <a:xfrm>
            <a:off x="3668050" y="4526280"/>
            <a:ext cx="1568849" cy="822960"/>
          </a:xfrm>
          <a:prstGeom prst="homePlate">
            <a:avLst/>
          </a:prstGeom>
          <a:solidFill>
            <a:srgbClr val="00AEEF"/>
          </a:solidFill>
          <a:ln>
            <a:noFill/>
          </a:ln>
        </p:spPr>
        <p:txBody>
          <a:bodyPr rtlCol="0" anchor="ctr" wrap="square" lIns="64008" rIns="64008" tIns="38404" bIns="38404"/>
          <a:lstStyle/>
          <a:p>
            <a:pPr algn="l">
              <a:spcAft>
                <a:spcPts val="0"/>
              </a:spcAft>
            </a:pPr>
            <a:r>
              <a:rPr sz="950" b="1" i="0">
                <a:solidFill>
                  <a:srgbClr val="FFFFFF"/>
                </a:solidFill>
                <a:latin typeface="Arial"/>
              </a:rPr>
              <a:t>3. Reshape demand</a:t>
            </a:r>
          </a:p>
        </p:txBody>
      </p:sp>
      <p:sp>
        <p:nvSpPr>
          <p:cNvPr id="24" name="Pentagon 23"/>
          <p:cNvSpPr/>
          <p:nvPr/>
        </p:nvSpPr>
        <p:spPr>
          <a:xfrm>
            <a:off x="5310051" y="4526280"/>
            <a:ext cx="1568849" cy="822960"/>
          </a:xfrm>
          <a:prstGeom prst="homePlate">
            <a:avLst/>
          </a:prstGeom>
          <a:solidFill>
            <a:srgbClr val="00AEEF"/>
          </a:solidFill>
          <a:ln>
            <a:noFill/>
          </a:ln>
        </p:spPr>
        <p:txBody>
          <a:bodyPr rtlCol="0" anchor="ctr" wrap="square" lIns="64008" rIns="64008" tIns="38404" bIns="38404"/>
          <a:lstStyle/>
          <a:p>
            <a:pPr algn="l">
              <a:spcAft>
                <a:spcPts val="0"/>
              </a:spcAft>
            </a:pPr>
            <a:r>
              <a:rPr sz="950" b="1" i="0">
                <a:solidFill>
                  <a:srgbClr val="FFFFFF"/>
                </a:solidFill>
                <a:latin typeface="Arial"/>
              </a:rPr>
              <a:t>4. Transform supply</a:t>
            </a:r>
          </a:p>
        </p:txBody>
      </p:sp>
      <p:sp>
        <p:nvSpPr>
          <p:cNvPr id="25" name="Pentagon 24"/>
          <p:cNvSpPr/>
          <p:nvPr/>
        </p:nvSpPr>
        <p:spPr>
          <a:xfrm>
            <a:off x="6952052" y="4526280"/>
            <a:ext cx="1568849" cy="822960"/>
          </a:xfrm>
          <a:prstGeom prst="homePlate">
            <a:avLst/>
          </a:prstGeom>
          <a:solidFill>
            <a:srgbClr val="00AEEF"/>
          </a:solidFill>
          <a:ln>
            <a:noFill/>
          </a:ln>
        </p:spPr>
        <p:txBody>
          <a:bodyPr rtlCol="0" anchor="ctr" wrap="square" lIns="64008" rIns="64008" tIns="38404" bIns="38404"/>
          <a:lstStyle/>
          <a:p>
            <a:pPr algn="l">
              <a:spcAft>
                <a:spcPts val="0"/>
              </a:spcAft>
            </a:pPr>
            <a:r>
              <a:rPr sz="950" b="1" i="0">
                <a:solidFill>
                  <a:srgbClr val="FFFFFF"/>
                </a:solidFill>
                <a:latin typeface="Arial"/>
              </a:rPr>
              <a:t>5. Build enabling capability</a:t>
            </a:r>
          </a:p>
        </p:txBody>
      </p:sp>
      <p:sp>
        <p:nvSpPr>
          <p:cNvPr id="26" name="Pentagon 25"/>
          <p:cNvSpPr/>
          <p:nvPr/>
        </p:nvSpPr>
        <p:spPr>
          <a:xfrm>
            <a:off x="8594053" y="4526280"/>
            <a:ext cx="1568849" cy="822960"/>
          </a:xfrm>
          <a:prstGeom prst="homePlate">
            <a:avLst/>
          </a:prstGeom>
          <a:solidFill>
            <a:srgbClr val="1F497D"/>
          </a:solidFill>
          <a:ln>
            <a:noFill/>
          </a:ln>
        </p:spPr>
        <p:txBody>
          <a:bodyPr rtlCol="0" anchor="ctr" wrap="square" lIns="64008" rIns="64008" tIns="38404" bIns="38404"/>
          <a:lstStyle/>
          <a:p>
            <a:pPr algn="l">
              <a:spcAft>
                <a:spcPts val="0"/>
              </a:spcAft>
            </a:pPr>
            <a:r>
              <a:rPr sz="950" b="1" i="0">
                <a:solidFill>
                  <a:srgbClr val="FFFFFF"/>
                </a:solidFill>
                <a:latin typeface="Arial"/>
              </a:rPr>
              <a:t>6. Roadmap, owners and risks</a:t>
            </a:r>
          </a:p>
        </p:txBody>
      </p:sp>
      <p:sp>
        <p:nvSpPr>
          <p:cNvPr id="27" name="Pentagon 26"/>
          <p:cNvSpPr/>
          <p:nvPr/>
        </p:nvSpPr>
        <p:spPr>
          <a:xfrm>
            <a:off x="10236054" y="4526280"/>
            <a:ext cx="1568849" cy="822960"/>
          </a:xfrm>
          <a:prstGeom prst="homePlate">
            <a:avLst/>
          </a:prstGeom>
          <a:solidFill>
            <a:srgbClr val="00AEEF"/>
          </a:solidFill>
          <a:ln>
            <a:noFill/>
          </a:ln>
        </p:spPr>
        <p:txBody>
          <a:bodyPr rtlCol="0" anchor="ctr" wrap="square" lIns="64008" rIns="64008" tIns="38404" bIns="38404"/>
          <a:lstStyle/>
          <a:p>
            <a:pPr algn="l">
              <a:spcAft>
                <a:spcPts val="0"/>
              </a:spcAft>
            </a:pPr>
            <a:r>
              <a:rPr sz="950" b="1" i="0">
                <a:solidFill>
                  <a:srgbClr val="FFFFFF"/>
                </a:solidFill>
                <a:latin typeface="Arial"/>
              </a:rPr>
              <a:t>7. M&amp;E and next steps</a:t>
            </a:r>
          </a:p>
        </p:txBody>
      </p:sp>
      <p:sp>
        <p:nvSpPr>
          <p:cNvPr id="28" name="TextBox 27"/>
          <p:cNvSpPr txBox="1"/>
          <p:nvPr/>
        </p:nvSpPr>
        <p:spPr>
          <a:xfrm>
            <a:off x="384048" y="5486400"/>
            <a:ext cx="11338560" cy="548640"/>
          </a:xfrm>
          <a:prstGeom prst="rect">
            <a:avLst/>
          </a:prstGeom>
          <a:noFill/>
        </p:spPr>
        <p:txBody>
          <a:bodyPr wrap="square" anchor="t" lIns="36576" rIns="36576" tIns="21945" bIns="21945">
            <a:spAutoFit/>
          </a:bodyPr>
          <a:lstStyle/>
          <a:p>
            <a:pPr algn="l">
              <a:spcAft>
                <a:spcPts val="0"/>
              </a:spcAft>
            </a:pPr>
            <a:r>
              <a:rPr sz="1000" b="0" i="1">
                <a:solidFill>
                  <a:srgbClr val="7F7F7F"/>
                </a:solidFill>
                <a:latin typeface="Arial"/>
              </a:rPr>
              <a:t>Appendices: data sets, methodology, stakeholder inputs and growth projections, as the SLA requires.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Seven themes are emerging; four are firm and three depend on closing a gap</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EMERGING RECOMMENDATION THEMES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Letsema synthesis; evidence ratings from the hypothesis scorecard</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30</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11420856" cy="4535424"/>
        </p:xfrm>
        <a:graphic>
          <a:graphicData uri="http://schemas.openxmlformats.org/drawingml/2006/table">
            <a:tbl>
              <a:tblPr firstRow="1" bandRow="0">
                <a:tableStyleId>{5C22544A-7EE6-4342-B048-85BDC9FD1C3A}</a:tableStyleId>
              </a:tblPr>
              <a:tblGrid>
                <a:gridCol w="2377440"/>
                <a:gridCol w="5843016"/>
                <a:gridCol w="1188720"/>
                <a:gridCol w="1005840"/>
                <a:gridCol w="1005840"/>
              </a:tblGrid>
              <a:tr h="566928">
                <a:tc>
                  <a:txBody>
                    <a:bodyPr wrap="square"/>
                    <a:lstStyle/>
                    <a:p>
                      <a:pPr algn="l"/>
                      <a:r>
                        <a:rPr sz="1050" b="1" i="0">
                          <a:solidFill>
                            <a:srgbClr val="FFFFFF"/>
                          </a:solidFill>
                          <a:latin typeface="Arial"/>
                        </a:rPr>
                        <a:t>Theme</a:t>
                      </a:r>
                    </a:p>
                  </a:txBody>
                  <a:tcPr marL="54864" marR="54864" marT="27432" marB="27432" anchor="ctr">
                    <a:solidFill>
                      <a:srgbClr val="1F497D"/>
                    </a:solidFill>
                  </a:tcPr>
                </a:tc>
                <a:tc>
                  <a:txBody>
                    <a:bodyPr wrap="square"/>
                    <a:lstStyle/>
                    <a:p>
                      <a:pPr algn="l"/>
                      <a:r>
                        <a:rPr sz="1050" b="1" i="0">
                          <a:solidFill>
                            <a:srgbClr val="FFFFFF"/>
                          </a:solidFill>
                          <a:latin typeface="Arial"/>
                        </a:rPr>
                        <a:t>In one line</a:t>
                      </a:r>
                    </a:p>
                  </a:txBody>
                  <a:tcPr marL="54864" marR="54864" marT="27432" marB="27432" anchor="ctr">
                    <a:solidFill>
                      <a:srgbClr val="1F497D"/>
                    </a:solidFill>
                  </a:tcPr>
                </a:tc>
                <a:tc>
                  <a:txBody>
                    <a:bodyPr wrap="square"/>
                    <a:lstStyle/>
                    <a:p>
                      <a:pPr algn="l"/>
                      <a:r>
                        <a:rPr sz="1050" b="1" i="0">
                          <a:solidFill>
                            <a:srgbClr val="FFFFFF"/>
                          </a:solidFill>
                          <a:latin typeface="Arial"/>
                        </a:rPr>
                        <a:t>Status</a:t>
                      </a:r>
                    </a:p>
                  </a:txBody>
                  <a:tcPr marL="54864" marR="54864" marT="27432" marB="27432" anchor="ctr">
                    <a:solidFill>
                      <a:srgbClr val="1F497D"/>
                    </a:solidFill>
                  </a:tcPr>
                </a:tc>
                <a:tc>
                  <a:txBody>
                    <a:bodyPr wrap="square"/>
                    <a:lstStyle/>
                    <a:p>
                      <a:pPr algn="l"/>
                      <a:r>
                        <a:rPr sz="1050" b="1" i="0">
                          <a:solidFill>
                            <a:srgbClr val="FFFFFF"/>
                          </a:solidFill>
                          <a:latin typeface="Arial"/>
                        </a:rPr>
                        <a:t>Evidence</a:t>
                      </a:r>
                    </a:p>
                  </a:txBody>
                  <a:tcPr marL="54864" marR="54864" marT="27432" marB="27432" anchor="ctr">
                    <a:solidFill>
                      <a:srgbClr val="1F497D"/>
                    </a:solidFill>
                  </a:tcPr>
                </a:tc>
                <a:tc>
                  <a:txBody>
                    <a:bodyPr wrap="square"/>
                    <a:lstStyle/>
                    <a:p>
                      <a:pPr algn="l"/>
                      <a:r>
                        <a:rPr sz="1050" b="1" i="0">
                          <a:solidFill>
                            <a:srgbClr val="FFFFFF"/>
                          </a:solidFill>
                          <a:latin typeface="Arial"/>
                        </a:rPr>
                        <a:t>Tree link</a:t>
                      </a:r>
                    </a:p>
                  </a:txBody>
                  <a:tcPr marL="54864" marR="54864" marT="27432" marB="27432" anchor="ctr">
                    <a:solidFill>
                      <a:srgbClr val="1F497D"/>
                    </a:solidFill>
                  </a:tcPr>
                </a:tc>
              </a:tr>
              <a:tr h="566928">
                <a:tc>
                  <a:txBody>
                    <a:bodyPr wrap="square"/>
                    <a:lstStyle/>
                    <a:p>
                      <a:pPr algn="l"/>
                      <a:r>
                        <a:rPr sz="1050" b="1" i="0">
                          <a:solidFill>
                            <a:srgbClr val="1F497D"/>
                          </a:solidFill>
                          <a:latin typeface="Arial"/>
                        </a:rPr>
                        <a:t>Fix the target</a:t>
                      </a:r>
                    </a:p>
                  </a:txBody>
                  <a:tcPr marL="54864" marR="54864" marT="27432" marB="27432" anchor="ctr">
                    <a:solidFill>
                      <a:srgbClr val="FFFFFF"/>
                    </a:solidFill>
                  </a:tcPr>
                </a:tc>
                <a:tc>
                  <a:txBody>
                    <a:bodyPr wrap="square"/>
                    <a:lstStyle/>
                    <a:p>
                      <a:pPr algn="l"/>
                      <a:r>
                        <a:rPr sz="1050" b="0" i="0">
                          <a:solidFill>
                            <a:srgbClr val="404040"/>
                          </a:solidFill>
                          <a:latin typeface="Arial"/>
                        </a:rPr>
                        <a:t>Adopt one arrivals metric with spend and length-of-stay co-targets, tracked quarterly.</a:t>
                      </a:r>
                    </a:p>
                  </a:txBody>
                  <a:tcPr marL="54864" marR="54864" marT="27432" marB="27432" anchor="ctr">
                    <a:solidFill>
                      <a:srgbClr val="FFFFFF"/>
                    </a:solidFill>
                  </a:tcPr>
                </a:tc>
                <a:tc>
                  <a:txBody>
                    <a:bodyPr wrap="square"/>
                    <a:lstStyle/>
                    <a:p>
                      <a:pPr algn="l"/>
                      <a:r>
                        <a:rPr sz="1050" b="1" i="0">
                          <a:solidFill>
                            <a:srgbClr val="FFFFFF"/>
                          </a:solidFill>
                          <a:latin typeface="Arial"/>
                        </a:rPr>
                        <a:t>Firm</a:t>
                      </a:r>
                    </a:p>
                  </a:txBody>
                  <a:tcPr marL="54864" marR="54864" marT="27432" marB="27432" anchor="ctr">
                    <a:solidFill>
                      <a:srgbClr val="2E9E44"/>
                    </a:solidFill>
                  </a:tcPr>
                </a:tc>
                <a:tc>
                  <a:txBody>
                    <a:bodyPr wrap="square"/>
                    <a:lstStyle/>
                    <a:p>
                      <a:pPr algn="l"/>
                      <a:r>
                        <a:rPr sz="1050" b="0" i="0">
                          <a:solidFill>
                            <a:srgbClr val="404040"/>
                          </a:solidFill>
                          <a:latin typeface="Arial"/>
                        </a:rPr>
                        <a:t>Strong</a:t>
                      </a:r>
                    </a:p>
                  </a:txBody>
                  <a:tcPr marL="54864" marR="54864" marT="27432" marB="27432" anchor="ctr">
                    <a:solidFill>
                      <a:srgbClr val="FFFFFF"/>
                    </a:solidFill>
                  </a:tcPr>
                </a:tc>
                <a:tc>
                  <a:txBody>
                    <a:bodyPr wrap="square"/>
                    <a:lstStyle/>
                    <a:p>
                      <a:pPr algn="l"/>
                      <a:r>
                        <a:rPr sz="1050" b="0" i="0">
                          <a:solidFill>
                            <a:srgbClr val="7F7F7F"/>
                          </a:solidFill>
                          <a:latin typeface="Arial"/>
                        </a:rPr>
                        <a:t>3f</a:t>
                      </a:r>
                    </a:p>
                  </a:txBody>
                  <a:tcPr marL="54864" marR="54864" marT="27432" marB="27432" anchor="ctr">
                    <a:solidFill>
                      <a:srgbClr val="FFFFFF"/>
                    </a:solidFill>
                  </a:tcPr>
                </a:tc>
              </a:tr>
              <a:tr h="566928">
                <a:tc>
                  <a:txBody>
                    <a:bodyPr wrap="square"/>
                    <a:lstStyle/>
                    <a:p>
                      <a:pPr algn="l"/>
                      <a:r>
                        <a:rPr sz="1050" b="1" i="0">
                          <a:solidFill>
                            <a:srgbClr val="1F497D"/>
                          </a:solidFill>
                          <a:latin typeface="Arial"/>
                        </a:rPr>
                        <a:t>Build a green-season engine</a:t>
                      </a:r>
                    </a:p>
                  </a:txBody>
                  <a:tcPr marL="54864" marR="54864" marT="27432" marB="27432" anchor="ctr">
                    <a:solidFill>
                      <a:srgbClr val="F2F2F2"/>
                    </a:solidFill>
                  </a:tcPr>
                </a:tc>
                <a:tc>
                  <a:txBody>
                    <a:bodyPr wrap="square"/>
                    <a:lstStyle/>
                    <a:p>
                      <a:pPr algn="l"/>
                      <a:r>
                        <a:rPr sz="1050" b="0" i="0">
                          <a:solidFill>
                            <a:srgbClr val="404040"/>
                          </a:solidFill>
                          <a:latin typeface="Arial"/>
                        </a:rPr>
                        <a:t>A single events, MICE and bidding pipeline across Wesgro, the Convention Bureau, City and Province.</a:t>
                      </a:r>
                    </a:p>
                  </a:txBody>
                  <a:tcPr marL="54864" marR="54864" marT="27432" marB="27432" anchor="ctr">
                    <a:solidFill>
                      <a:srgbClr val="F2F2F2"/>
                    </a:solidFill>
                  </a:tcPr>
                </a:tc>
                <a:tc>
                  <a:txBody>
                    <a:bodyPr wrap="square"/>
                    <a:lstStyle/>
                    <a:p>
                      <a:pPr algn="l"/>
                      <a:r>
                        <a:rPr sz="1050" b="1" i="0">
                          <a:solidFill>
                            <a:srgbClr val="FFFFFF"/>
                          </a:solidFill>
                          <a:latin typeface="Arial"/>
                        </a:rPr>
                        <a:t>Firm</a:t>
                      </a:r>
                    </a:p>
                  </a:txBody>
                  <a:tcPr marL="54864" marR="54864" marT="27432" marB="27432" anchor="ctr">
                    <a:solidFill>
                      <a:srgbClr val="2E9E44"/>
                    </a:solidFill>
                  </a:tcPr>
                </a:tc>
                <a:tc>
                  <a:txBody>
                    <a:bodyPr wrap="square"/>
                    <a:lstStyle/>
                    <a:p>
                      <a:pPr algn="l"/>
                      <a:r>
                        <a:rPr sz="1050" b="0" i="0">
                          <a:solidFill>
                            <a:srgbClr val="404040"/>
                          </a:solidFill>
                          <a:latin typeface="Arial"/>
                        </a:rPr>
                        <a:t>Strong</a:t>
                      </a:r>
                    </a:p>
                  </a:txBody>
                  <a:tcPr marL="54864" marR="54864" marT="27432" marB="27432" anchor="ctr">
                    <a:solidFill>
                      <a:srgbClr val="F2F2F2"/>
                    </a:solidFill>
                  </a:tcPr>
                </a:tc>
                <a:tc>
                  <a:txBody>
                    <a:bodyPr wrap="square"/>
                    <a:lstStyle/>
                    <a:p>
                      <a:pPr algn="l"/>
                      <a:r>
                        <a:rPr sz="1050" b="0" i="0">
                          <a:solidFill>
                            <a:srgbClr val="7F7F7F"/>
                          </a:solidFill>
                          <a:latin typeface="Arial"/>
                        </a:rPr>
                        <a:t>1c</a:t>
                      </a:r>
                    </a:p>
                  </a:txBody>
                  <a:tcPr marL="54864" marR="54864" marT="27432" marB="27432" anchor="ctr">
                    <a:solidFill>
                      <a:srgbClr val="F2F2F2"/>
                    </a:solidFill>
                  </a:tcPr>
                </a:tc>
              </a:tr>
              <a:tr h="566928">
                <a:tc>
                  <a:txBody>
                    <a:bodyPr wrap="square"/>
                    <a:lstStyle/>
                    <a:p>
                      <a:pPr algn="l"/>
                      <a:r>
                        <a:rPr sz="1050" b="1" i="0">
                          <a:solidFill>
                            <a:srgbClr val="1F497D"/>
                          </a:solidFill>
                          <a:latin typeface="Arial"/>
                        </a:rPr>
                        <a:t>Sell where travellers book</a:t>
                      </a:r>
                    </a:p>
                  </a:txBody>
                  <a:tcPr marL="54864" marR="54864" marT="27432" marB="27432" anchor="ctr">
                    <a:solidFill>
                      <a:srgbClr val="FFFFFF"/>
                    </a:solidFill>
                  </a:tcPr>
                </a:tc>
                <a:tc>
                  <a:txBody>
                    <a:bodyPr wrap="square"/>
                    <a:lstStyle/>
                    <a:p>
                      <a:pPr algn="l"/>
                      <a:r>
                        <a:rPr sz="1050" b="0" i="0">
                          <a:solidFill>
                            <a:srgbClr val="404040"/>
                          </a:solidFill>
                          <a:latin typeface="Arial"/>
                        </a:rPr>
                        <a:t>Shift marketing to trade-led conversion on native platforms, tied to route deals.</a:t>
                      </a:r>
                    </a:p>
                  </a:txBody>
                  <a:tcPr marL="54864" marR="54864" marT="27432" marB="27432" anchor="ctr">
                    <a:solidFill>
                      <a:srgbClr val="FFFFFF"/>
                    </a:solidFill>
                  </a:tcPr>
                </a:tc>
                <a:tc>
                  <a:txBody>
                    <a:bodyPr wrap="square"/>
                    <a:lstStyle/>
                    <a:p>
                      <a:pPr algn="l"/>
                      <a:r>
                        <a:rPr sz="1050" b="1" i="0">
                          <a:solidFill>
                            <a:srgbClr val="262626"/>
                          </a:solidFill>
                          <a:latin typeface="Arial"/>
                        </a:rPr>
                        <a:t>Conditional</a:t>
                      </a:r>
                    </a:p>
                  </a:txBody>
                  <a:tcPr marL="54864" marR="54864" marT="27432" marB="27432" anchor="ctr">
                    <a:solidFill>
                      <a:srgbClr val="F2A900"/>
                    </a:solidFill>
                  </a:tcPr>
                </a:tc>
                <a:tc>
                  <a:txBody>
                    <a:bodyPr wrap="square"/>
                    <a:lstStyle/>
                    <a:p>
                      <a:pPr algn="l"/>
                      <a:r>
                        <a:rPr sz="1050" b="0" i="0">
                          <a:solidFill>
                            <a:srgbClr val="404040"/>
                          </a:solidFill>
                          <a:latin typeface="Arial"/>
                        </a:rPr>
                        <a:t>Moderate</a:t>
                      </a:r>
                    </a:p>
                  </a:txBody>
                  <a:tcPr marL="54864" marR="54864" marT="27432" marB="27432" anchor="ctr">
                    <a:solidFill>
                      <a:srgbClr val="FFFFFF"/>
                    </a:solidFill>
                  </a:tcPr>
                </a:tc>
                <a:tc>
                  <a:txBody>
                    <a:bodyPr wrap="square"/>
                    <a:lstStyle/>
                    <a:p>
                      <a:pPr algn="l"/>
                      <a:r>
                        <a:rPr sz="1050" b="0" i="0">
                          <a:solidFill>
                            <a:srgbClr val="7F7F7F"/>
                          </a:solidFill>
                          <a:latin typeface="Arial"/>
                        </a:rPr>
                        <a:t>1d</a:t>
                      </a:r>
                    </a:p>
                  </a:txBody>
                  <a:tcPr marL="54864" marR="54864" marT="27432" marB="27432" anchor="ctr">
                    <a:solidFill>
                      <a:srgbClr val="FFFFFF"/>
                    </a:solidFill>
                  </a:tcPr>
                </a:tc>
              </a:tr>
              <a:tr h="566928">
                <a:tc>
                  <a:txBody>
                    <a:bodyPr wrap="square"/>
                    <a:lstStyle/>
                    <a:p>
                      <a:pPr algn="l"/>
                      <a:r>
                        <a:rPr sz="1050" b="1" i="0">
                          <a:solidFill>
                            <a:srgbClr val="1F497D"/>
                          </a:solidFill>
                          <a:latin typeface="Arial"/>
                        </a:rPr>
                        <a:t>Back two or three corridors</a:t>
                      </a:r>
                    </a:p>
                  </a:txBody>
                  <a:tcPr marL="54864" marR="54864" marT="27432" marB="27432" anchor="ctr">
                    <a:solidFill>
                      <a:srgbClr val="F2F2F2"/>
                    </a:solidFill>
                  </a:tcPr>
                </a:tc>
                <a:tc>
                  <a:txBody>
                    <a:bodyPr wrap="square"/>
                    <a:lstStyle/>
                    <a:p>
                      <a:pPr algn="l"/>
                      <a:r>
                        <a:rPr sz="1050" b="0" i="0">
                          <a:solidFill>
                            <a:srgbClr val="404040"/>
                          </a:solidFill>
                          <a:latin typeface="Arial"/>
                        </a:rPr>
                        <a:t>Package, invest in and make bookable the routes beyond Cape Town, with self-drive and shuttle readiness.</a:t>
                      </a:r>
                    </a:p>
                  </a:txBody>
                  <a:tcPr marL="54864" marR="54864" marT="27432" marB="27432" anchor="ctr">
                    <a:solidFill>
                      <a:srgbClr val="F2F2F2"/>
                    </a:solidFill>
                  </a:tcPr>
                </a:tc>
                <a:tc>
                  <a:txBody>
                    <a:bodyPr wrap="square"/>
                    <a:lstStyle/>
                    <a:p>
                      <a:pPr algn="l"/>
                      <a:r>
                        <a:rPr sz="1050" b="1" i="0">
                          <a:solidFill>
                            <a:srgbClr val="262626"/>
                          </a:solidFill>
                          <a:latin typeface="Arial"/>
                        </a:rPr>
                        <a:t>Conditional</a:t>
                      </a:r>
                    </a:p>
                  </a:txBody>
                  <a:tcPr marL="54864" marR="54864" marT="27432" marB="27432" anchor="ctr">
                    <a:solidFill>
                      <a:srgbClr val="F2A900"/>
                    </a:solidFill>
                  </a:tcPr>
                </a:tc>
                <a:tc>
                  <a:txBody>
                    <a:bodyPr wrap="square"/>
                    <a:lstStyle/>
                    <a:p>
                      <a:pPr algn="l"/>
                      <a:r>
                        <a:rPr sz="1050" b="0" i="0">
                          <a:solidFill>
                            <a:srgbClr val="404040"/>
                          </a:solidFill>
                          <a:latin typeface="Arial"/>
                        </a:rPr>
                        <a:t>Moderate</a:t>
                      </a:r>
                    </a:p>
                  </a:txBody>
                  <a:tcPr marL="54864" marR="54864" marT="27432" marB="27432" anchor="ctr">
                    <a:solidFill>
                      <a:srgbClr val="F2F2F2"/>
                    </a:solidFill>
                  </a:tcPr>
                </a:tc>
                <a:tc>
                  <a:txBody>
                    <a:bodyPr wrap="square"/>
                    <a:lstStyle/>
                    <a:p>
                      <a:pPr algn="l"/>
                      <a:r>
                        <a:rPr sz="1050" b="0" i="0">
                          <a:solidFill>
                            <a:srgbClr val="7F7F7F"/>
                          </a:solidFill>
                          <a:latin typeface="Arial"/>
                        </a:rPr>
                        <a:t>2b, 2d</a:t>
                      </a:r>
                    </a:p>
                  </a:txBody>
                  <a:tcPr marL="54864" marR="54864" marT="27432" marB="27432" anchor="ctr">
                    <a:solidFill>
                      <a:srgbClr val="F2F2F2"/>
                    </a:solidFill>
                  </a:tcPr>
                </a:tc>
              </a:tr>
              <a:tr h="566928">
                <a:tc>
                  <a:txBody>
                    <a:bodyPr wrap="square"/>
                    <a:lstStyle/>
                    <a:p>
                      <a:pPr algn="l"/>
                      <a:r>
                        <a:rPr sz="1050" b="1" i="0">
                          <a:solidFill>
                            <a:srgbClr val="1F497D"/>
                          </a:solidFill>
                          <a:latin typeface="Arial"/>
                        </a:rPr>
                        <a:t>Clear the conversion blockers</a:t>
                      </a:r>
                    </a:p>
                  </a:txBody>
                  <a:tcPr marL="54864" marR="54864" marT="27432" marB="27432" anchor="ctr">
                    <a:solidFill>
                      <a:srgbClr val="FFFFFF"/>
                    </a:solidFill>
                  </a:tcPr>
                </a:tc>
                <a:tc>
                  <a:txBody>
                    <a:bodyPr wrap="square"/>
                    <a:lstStyle/>
                    <a:p>
                      <a:pPr algn="l"/>
                      <a:r>
                        <a:rPr sz="1050" b="0" i="0">
                          <a:solidFill>
                            <a:srgbClr val="404040"/>
                          </a:solidFill>
                          <a:latin typeface="Arial"/>
                        </a:rPr>
                        <a:t>Evidence-led advocacy on visas, safety and ground access with named national owners.</a:t>
                      </a:r>
                    </a:p>
                  </a:txBody>
                  <a:tcPr marL="54864" marR="54864" marT="27432" marB="27432" anchor="ctr">
                    <a:solidFill>
                      <a:srgbClr val="FFFFFF"/>
                    </a:solidFill>
                  </a:tcPr>
                </a:tc>
                <a:tc>
                  <a:txBody>
                    <a:bodyPr wrap="square"/>
                    <a:lstStyle/>
                    <a:p>
                      <a:pPr algn="l"/>
                      <a:r>
                        <a:rPr sz="1050" b="1" i="0">
                          <a:solidFill>
                            <a:srgbClr val="FFFFFF"/>
                          </a:solidFill>
                          <a:latin typeface="Arial"/>
                        </a:rPr>
                        <a:t>Firm</a:t>
                      </a:r>
                    </a:p>
                  </a:txBody>
                  <a:tcPr marL="54864" marR="54864" marT="27432" marB="27432" anchor="ctr">
                    <a:solidFill>
                      <a:srgbClr val="2E9E44"/>
                    </a:solidFill>
                  </a:tcPr>
                </a:tc>
                <a:tc>
                  <a:txBody>
                    <a:bodyPr wrap="square"/>
                    <a:lstStyle/>
                    <a:p>
                      <a:pPr algn="l"/>
                      <a:r>
                        <a:rPr sz="1050" b="0" i="0">
                          <a:solidFill>
                            <a:srgbClr val="404040"/>
                          </a:solidFill>
                          <a:latin typeface="Arial"/>
                        </a:rPr>
                        <a:t>Strong</a:t>
                      </a:r>
                    </a:p>
                  </a:txBody>
                  <a:tcPr marL="54864" marR="54864" marT="27432" marB="27432" anchor="ctr">
                    <a:solidFill>
                      <a:srgbClr val="FFFFFF"/>
                    </a:solidFill>
                  </a:tcPr>
                </a:tc>
                <a:tc>
                  <a:txBody>
                    <a:bodyPr wrap="square"/>
                    <a:lstStyle/>
                    <a:p>
                      <a:pPr algn="l"/>
                      <a:r>
                        <a:rPr sz="1050" b="0" i="0">
                          <a:solidFill>
                            <a:srgbClr val="7F7F7F"/>
                          </a:solidFill>
                          <a:latin typeface="Arial"/>
                        </a:rPr>
                        <a:t>2c</a:t>
                      </a:r>
                    </a:p>
                  </a:txBody>
                  <a:tcPr marL="54864" marR="54864" marT="27432" marB="27432" anchor="ctr">
                    <a:solidFill>
                      <a:srgbClr val="FFFFFF"/>
                    </a:solidFill>
                  </a:tcPr>
                </a:tc>
              </a:tr>
              <a:tr h="566928">
                <a:tc>
                  <a:txBody>
                    <a:bodyPr wrap="square"/>
                    <a:lstStyle/>
                    <a:p>
                      <a:pPr algn="l"/>
                      <a:r>
                        <a:rPr sz="1050" b="1" i="0">
                          <a:solidFill>
                            <a:srgbClr val="1F497D"/>
                          </a:solidFill>
                          <a:latin typeface="Arial"/>
                        </a:rPr>
                        <a:t>Seller with a stake</a:t>
                      </a:r>
                    </a:p>
                  </a:txBody>
                  <a:tcPr marL="54864" marR="54864" marT="27432" marB="27432" anchor="ctr">
                    <a:solidFill>
                      <a:srgbClr val="F2F2F2"/>
                    </a:solidFill>
                  </a:tcPr>
                </a:tc>
                <a:tc>
                  <a:txBody>
                    <a:bodyPr wrap="square"/>
                    <a:lstStyle/>
                    <a:p>
                      <a:pPr algn="l"/>
                      <a:r>
                        <a:rPr sz="1050" b="0" i="0">
                          <a:solidFill>
                            <a:srgbClr val="404040"/>
                          </a:solidFill>
                          <a:latin typeface="Arial"/>
                        </a:rPr>
                        <a:t>Pilot community selling routes with safety gates before any capital spend.</a:t>
                      </a:r>
                    </a:p>
                  </a:txBody>
                  <a:tcPr marL="54864" marR="54864" marT="27432" marB="27432" anchor="ctr">
                    <a:solidFill>
                      <a:srgbClr val="F2F2F2"/>
                    </a:solidFill>
                  </a:tcPr>
                </a:tc>
                <a:tc>
                  <a:txBody>
                    <a:bodyPr wrap="square"/>
                    <a:lstStyle/>
                    <a:p>
                      <a:pPr algn="l"/>
                      <a:r>
                        <a:rPr sz="1050" b="1" i="0">
                          <a:solidFill>
                            <a:srgbClr val="FFFFFF"/>
                          </a:solidFill>
                          <a:latin typeface="Arial"/>
                        </a:rPr>
                        <a:t>Firm</a:t>
                      </a:r>
                    </a:p>
                  </a:txBody>
                  <a:tcPr marL="54864" marR="54864" marT="27432" marB="27432" anchor="ctr">
                    <a:solidFill>
                      <a:srgbClr val="2E9E44"/>
                    </a:solidFill>
                  </a:tcPr>
                </a:tc>
                <a:tc>
                  <a:txBody>
                    <a:bodyPr wrap="square"/>
                    <a:lstStyle/>
                    <a:p>
                      <a:pPr algn="l"/>
                      <a:r>
                        <a:rPr sz="1050" b="0" i="0">
                          <a:solidFill>
                            <a:srgbClr val="404040"/>
                          </a:solidFill>
                          <a:latin typeface="Arial"/>
                        </a:rPr>
                        <a:t>Strong</a:t>
                      </a:r>
                    </a:p>
                  </a:txBody>
                  <a:tcPr marL="54864" marR="54864" marT="27432" marB="27432" anchor="ctr">
                    <a:solidFill>
                      <a:srgbClr val="F2F2F2"/>
                    </a:solidFill>
                  </a:tcPr>
                </a:tc>
                <a:tc>
                  <a:txBody>
                    <a:bodyPr wrap="square"/>
                    <a:lstStyle/>
                    <a:p>
                      <a:pPr algn="l"/>
                      <a:r>
                        <a:rPr sz="1050" b="0" i="0">
                          <a:solidFill>
                            <a:srgbClr val="7F7F7F"/>
                          </a:solidFill>
                          <a:latin typeface="Arial"/>
                        </a:rPr>
                        <a:t>3a</a:t>
                      </a:r>
                    </a:p>
                  </a:txBody>
                  <a:tcPr marL="54864" marR="54864" marT="27432" marB="27432" anchor="ctr">
                    <a:solidFill>
                      <a:srgbClr val="F2F2F2"/>
                    </a:solidFill>
                  </a:tcPr>
                </a:tc>
              </a:tr>
              <a:tr h="566928">
                <a:tc>
                  <a:txBody>
                    <a:bodyPr wrap="square"/>
                    <a:lstStyle/>
                    <a:p>
                      <a:pPr algn="l"/>
                      <a:r>
                        <a:rPr sz="1050" b="1" i="0">
                          <a:solidFill>
                            <a:srgbClr val="1F497D"/>
                          </a:solidFill>
                          <a:latin typeface="Arial"/>
                        </a:rPr>
                        <a:t>Orchestrate the system</a:t>
                      </a:r>
                    </a:p>
                  </a:txBody>
                  <a:tcPr marL="54864" marR="54864" marT="27432" marB="27432" anchor="ctr">
                    <a:solidFill>
                      <a:srgbClr val="FFFFFF"/>
                    </a:solidFill>
                  </a:tcPr>
                </a:tc>
                <a:tc>
                  <a:txBody>
                    <a:bodyPr wrap="square"/>
                    <a:lstStyle/>
                    <a:p>
                      <a:pPr algn="l"/>
                      <a:r>
                        <a:rPr sz="1050" b="0" i="0">
                          <a:solidFill>
                            <a:srgbClr val="404040"/>
                          </a:solidFill>
                          <a:latin typeface="Arial"/>
                        </a:rPr>
                        <a:t>A coordination body on the Air Access model, with shared KPIs and a data layer.</a:t>
                      </a:r>
                    </a:p>
                  </a:txBody>
                  <a:tcPr marL="54864" marR="54864" marT="27432" marB="27432" anchor="ctr">
                    <a:solidFill>
                      <a:srgbClr val="FFFFFF"/>
                    </a:solidFill>
                  </a:tcPr>
                </a:tc>
                <a:tc>
                  <a:txBody>
                    <a:bodyPr wrap="square"/>
                    <a:lstStyle/>
                    <a:p>
                      <a:pPr algn="l"/>
                      <a:r>
                        <a:rPr sz="1050" b="1" i="0">
                          <a:solidFill>
                            <a:srgbClr val="262626"/>
                          </a:solidFill>
                          <a:latin typeface="Arial"/>
                        </a:rPr>
                        <a:t>Conditional</a:t>
                      </a:r>
                    </a:p>
                  </a:txBody>
                  <a:tcPr marL="54864" marR="54864" marT="27432" marB="27432" anchor="ctr">
                    <a:solidFill>
                      <a:srgbClr val="F2A900"/>
                    </a:solidFill>
                  </a:tcPr>
                </a:tc>
                <a:tc>
                  <a:txBody>
                    <a:bodyPr wrap="square"/>
                    <a:lstStyle/>
                    <a:p>
                      <a:pPr algn="l"/>
                      <a:r>
                        <a:rPr sz="1050" b="0" i="0">
                          <a:solidFill>
                            <a:srgbClr val="404040"/>
                          </a:solidFill>
                          <a:latin typeface="Arial"/>
                        </a:rPr>
                        <a:t>Strong</a:t>
                      </a:r>
                    </a:p>
                  </a:txBody>
                  <a:tcPr marL="54864" marR="54864" marT="27432" marB="27432" anchor="ctr">
                    <a:solidFill>
                      <a:srgbClr val="FFFFFF"/>
                    </a:solidFill>
                  </a:tcPr>
                </a:tc>
                <a:tc>
                  <a:txBody>
                    <a:bodyPr wrap="square"/>
                    <a:lstStyle/>
                    <a:p>
                      <a:pPr algn="l"/>
                      <a:r>
                        <a:rPr sz="1050" b="0" i="0">
                          <a:solidFill>
                            <a:srgbClr val="7F7F7F"/>
                          </a:solidFill>
                          <a:latin typeface="Arial"/>
                        </a:rPr>
                        <a:t>3d-3f</a:t>
                      </a:r>
                    </a:p>
                  </a:txBody>
                  <a:tcPr marL="54864" marR="54864" marT="27432" marB="27432"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Eight questions to settle today, grouped by what we need to decide</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DISCUSSION GUIDE</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Letsema</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31</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84048" y="1234440"/>
            <a:ext cx="5641848" cy="2148840"/>
          </a:xfrm>
          <a:prstGeom prst="rect">
            <a:avLst/>
          </a:prstGeom>
          <a:solidFill>
            <a:srgbClr val="F2F2F2"/>
          </a:solidFill>
          <a:ln>
            <a:noFill/>
          </a:ln>
        </p:spPr>
        <p:txBody>
          <a:bodyPr rtlCol="0" anchor="ctr"/>
          <a:lstStyle/>
          <a:p>
            <a:pPr algn="ctr"/>
          </a:p>
        </p:txBody>
      </p:sp>
      <p:sp>
        <p:nvSpPr>
          <p:cNvPr id="9" name="Rectangle 8"/>
          <p:cNvSpPr/>
          <p:nvPr/>
        </p:nvSpPr>
        <p:spPr>
          <a:xfrm>
            <a:off x="384048" y="1234440"/>
            <a:ext cx="5641848" cy="457200"/>
          </a:xfrm>
          <a:prstGeom prst="rect">
            <a:avLst/>
          </a:prstGeom>
          <a:solidFill>
            <a:srgbClr val="1F497D"/>
          </a:solidFill>
          <a:ln>
            <a:noFill/>
          </a:ln>
        </p:spPr>
        <p:txBody>
          <a:bodyPr rtlCol="0" anchor="ctr"/>
          <a:lstStyle/>
          <a:p>
            <a:pPr algn="ctr"/>
          </a:p>
        </p:txBody>
      </p:sp>
      <p:sp>
        <p:nvSpPr>
          <p:cNvPr id="10" name="TextBox 9"/>
          <p:cNvSpPr txBox="1"/>
          <p:nvPr/>
        </p:nvSpPr>
        <p:spPr>
          <a:xfrm>
            <a:off x="521207" y="1234440"/>
            <a:ext cx="5394960" cy="457200"/>
          </a:xfrm>
          <a:prstGeom prst="rect">
            <a:avLst/>
          </a:prstGeom>
          <a:noFill/>
        </p:spPr>
        <p:txBody>
          <a:bodyPr wrap="square" anchor="ctr" lIns="36576" rIns="36576" tIns="21945" bIns="21945">
            <a:spAutoFit/>
          </a:bodyPr>
          <a:lstStyle/>
          <a:p>
            <a:pPr algn="l">
              <a:spcAft>
                <a:spcPts val="0"/>
              </a:spcAft>
            </a:pPr>
            <a:r>
              <a:rPr sz="1200" b="1" i="0">
                <a:solidFill>
                  <a:srgbClr val="FFFFFF"/>
                </a:solidFill>
                <a:latin typeface="Arial"/>
              </a:rPr>
              <a:t>Are we answering the right question?</a:t>
            </a:r>
          </a:p>
        </p:txBody>
      </p:sp>
      <p:sp>
        <p:nvSpPr>
          <p:cNvPr id="11" name="TextBox 10"/>
          <p:cNvSpPr txBox="1"/>
          <p:nvPr/>
        </p:nvSpPr>
        <p:spPr>
          <a:xfrm>
            <a:off x="521207" y="1828800"/>
            <a:ext cx="5394960" cy="1463040"/>
          </a:xfrm>
          <a:prstGeom prst="rect">
            <a:avLst/>
          </a:prstGeom>
          <a:noFill/>
        </p:spPr>
        <p:txBody>
          <a:bodyPr wrap="square" anchor="t" lIns="36576" rIns="36576" tIns="21945" bIns="21945">
            <a:spAutoFit/>
          </a:bodyPr>
          <a:lstStyle/>
          <a:p>
            <a:pPr algn="l">
              <a:spcAft>
                <a:spcPts val="1000"/>
              </a:spcAft>
            </a:pPr>
            <a:r>
              <a:rPr sz="1150" b="1" i="0">
                <a:solidFill>
                  <a:srgbClr val="00AEEF"/>
                </a:solidFill>
                <a:latin typeface="Arial"/>
              </a:rPr>
              <a:t>Q1  </a:t>
            </a:r>
            <a:r>
              <a:rPr sz="1150" b="0" i="0">
                <a:solidFill>
                  <a:srgbClr val="404040"/>
                </a:solidFill>
                <a:latin typeface="Arial"/>
              </a:rPr>
              <a:t>Which single metric and base year do we hold the target to?</a:t>
            </a:r>
          </a:p>
          <a:p>
            <a:pPr algn="l">
              <a:spcAft>
                <a:spcPts val="1000"/>
              </a:spcAft>
            </a:pPr>
            <a:r>
              <a:rPr sz="1150" b="1" i="0">
                <a:solidFill>
                  <a:srgbClr val="00AEEF"/>
                </a:solidFill>
                <a:latin typeface="Arial"/>
              </a:rPr>
              <a:t>Q2  </a:t>
            </a:r>
            <a:r>
              <a:rPr sz="1150" b="0" i="0">
                <a:solidFill>
                  <a:srgbClr val="404040"/>
                </a:solidFill>
                <a:latin typeface="Arial"/>
              </a:rPr>
              <a:t>Do we present the gap to 2.8m honestly, or reframe the goal?</a:t>
            </a:r>
          </a:p>
        </p:txBody>
      </p:sp>
      <p:sp>
        <p:nvSpPr>
          <p:cNvPr id="12" name="Rectangle 11"/>
          <p:cNvSpPr/>
          <p:nvPr/>
        </p:nvSpPr>
        <p:spPr>
          <a:xfrm>
            <a:off x="6163056" y="1234440"/>
            <a:ext cx="5641848" cy="2148840"/>
          </a:xfrm>
          <a:prstGeom prst="rect">
            <a:avLst/>
          </a:prstGeom>
          <a:solidFill>
            <a:srgbClr val="F2F2F2"/>
          </a:solidFill>
          <a:ln>
            <a:noFill/>
          </a:ln>
        </p:spPr>
        <p:txBody>
          <a:bodyPr rtlCol="0" anchor="ctr"/>
          <a:lstStyle/>
          <a:p>
            <a:pPr algn="ctr"/>
          </a:p>
        </p:txBody>
      </p:sp>
      <p:sp>
        <p:nvSpPr>
          <p:cNvPr id="13" name="Rectangle 12"/>
          <p:cNvSpPr/>
          <p:nvPr/>
        </p:nvSpPr>
        <p:spPr>
          <a:xfrm>
            <a:off x="6163056" y="1234440"/>
            <a:ext cx="5641848" cy="457200"/>
          </a:xfrm>
          <a:prstGeom prst="rect">
            <a:avLst/>
          </a:prstGeom>
          <a:solidFill>
            <a:srgbClr val="1F497D"/>
          </a:solidFill>
          <a:ln>
            <a:noFill/>
          </a:ln>
        </p:spPr>
        <p:txBody>
          <a:bodyPr rtlCol="0" anchor="ctr"/>
          <a:lstStyle/>
          <a:p>
            <a:pPr algn="ctr"/>
          </a:p>
        </p:txBody>
      </p:sp>
      <p:sp>
        <p:nvSpPr>
          <p:cNvPr id="14" name="TextBox 13"/>
          <p:cNvSpPr txBox="1"/>
          <p:nvPr/>
        </p:nvSpPr>
        <p:spPr>
          <a:xfrm>
            <a:off x="6300216" y="1234440"/>
            <a:ext cx="5394960" cy="457200"/>
          </a:xfrm>
          <a:prstGeom prst="rect">
            <a:avLst/>
          </a:prstGeom>
          <a:noFill/>
        </p:spPr>
        <p:txBody>
          <a:bodyPr wrap="square" anchor="ctr" lIns="36576" rIns="36576" tIns="21945" bIns="21945">
            <a:spAutoFit/>
          </a:bodyPr>
          <a:lstStyle/>
          <a:p>
            <a:pPr algn="l">
              <a:spcAft>
                <a:spcPts val="0"/>
              </a:spcAft>
            </a:pPr>
            <a:r>
              <a:rPr sz="1200" b="1" i="0">
                <a:solidFill>
                  <a:srgbClr val="FFFFFF"/>
                </a:solidFill>
                <a:latin typeface="Arial"/>
              </a:rPr>
              <a:t>Do the findings hold up?</a:t>
            </a:r>
          </a:p>
        </p:txBody>
      </p:sp>
      <p:sp>
        <p:nvSpPr>
          <p:cNvPr id="15" name="TextBox 14"/>
          <p:cNvSpPr txBox="1"/>
          <p:nvPr/>
        </p:nvSpPr>
        <p:spPr>
          <a:xfrm>
            <a:off x="6300216" y="1828800"/>
            <a:ext cx="5394960" cy="1463040"/>
          </a:xfrm>
          <a:prstGeom prst="rect">
            <a:avLst/>
          </a:prstGeom>
          <a:noFill/>
        </p:spPr>
        <p:txBody>
          <a:bodyPr wrap="square" anchor="t" lIns="36576" rIns="36576" tIns="21945" bIns="21945">
            <a:spAutoFit/>
          </a:bodyPr>
          <a:lstStyle/>
          <a:p>
            <a:pPr algn="l">
              <a:spcAft>
                <a:spcPts val="1000"/>
              </a:spcAft>
            </a:pPr>
            <a:r>
              <a:rPr sz="1150" b="1" i="0">
                <a:solidFill>
                  <a:srgbClr val="00AEEF"/>
                </a:solidFill>
                <a:latin typeface="Arial"/>
              </a:rPr>
              <a:t>Q3  </a:t>
            </a:r>
            <a:r>
              <a:rPr sz="1150" b="0" i="0">
                <a:solidFill>
                  <a:srgbClr val="404040"/>
                </a:solidFill>
                <a:latin typeface="Arial"/>
              </a:rPr>
              <a:t>Which constraint binds first: air, ground access, safety or visas?</a:t>
            </a:r>
          </a:p>
          <a:p>
            <a:pPr algn="l">
              <a:spcAft>
                <a:spcPts val="1000"/>
              </a:spcAft>
            </a:pPr>
            <a:r>
              <a:rPr sz="1150" b="1" i="0">
                <a:solidFill>
                  <a:srgbClr val="00AEEF"/>
                </a:solidFill>
                <a:latin typeface="Arial"/>
              </a:rPr>
              <a:t>Q4  </a:t>
            </a:r>
            <a:r>
              <a:rPr sz="1150" b="0" i="0">
                <a:solidFill>
                  <a:srgbClr val="404040"/>
                </a:solidFill>
                <a:latin typeface="Arial"/>
              </a:rPr>
              <a:t>Is the tree's claim that demand is "proven" still defensible?</a:t>
            </a:r>
          </a:p>
        </p:txBody>
      </p:sp>
      <p:sp>
        <p:nvSpPr>
          <p:cNvPr id="16" name="Rectangle 15"/>
          <p:cNvSpPr/>
          <p:nvPr/>
        </p:nvSpPr>
        <p:spPr>
          <a:xfrm>
            <a:off x="384048" y="3566160"/>
            <a:ext cx="5641848" cy="2148840"/>
          </a:xfrm>
          <a:prstGeom prst="rect">
            <a:avLst/>
          </a:prstGeom>
          <a:solidFill>
            <a:srgbClr val="F2F2F2"/>
          </a:solidFill>
          <a:ln>
            <a:noFill/>
          </a:ln>
        </p:spPr>
        <p:txBody>
          <a:bodyPr rtlCol="0" anchor="ctr"/>
          <a:lstStyle/>
          <a:p>
            <a:pPr algn="ctr"/>
          </a:p>
        </p:txBody>
      </p:sp>
      <p:sp>
        <p:nvSpPr>
          <p:cNvPr id="17" name="Rectangle 16"/>
          <p:cNvSpPr/>
          <p:nvPr/>
        </p:nvSpPr>
        <p:spPr>
          <a:xfrm>
            <a:off x="384048" y="3566160"/>
            <a:ext cx="5641848" cy="457200"/>
          </a:xfrm>
          <a:prstGeom prst="rect">
            <a:avLst/>
          </a:prstGeom>
          <a:solidFill>
            <a:srgbClr val="1F497D"/>
          </a:solidFill>
          <a:ln>
            <a:noFill/>
          </a:ln>
        </p:spPr>
        <p:txBody>
          <a:bodyPr rtlCol="0" anchor="ctr"/>
          <a:lstStyle/>
          <a:p>
            <a:pPr algn="ctr"/>
          </a:p>
        </p:txBody>
      </p:sp>
      <p:sp>
        <p:nvSpPr>
          <p:cNvPr id="18" name="TextBox 17"/>
          <p:cNvSpPr txBox="1"/>
          <p:nvPr/>
        </p:nvSpPr>
        <p:spPr>
          <a:xfrm>
            <a:off x="521207" y="3566160"/>
            <a:ext cx="5394960" cy="457200"/>
          </a:xfrm>
          <a:prstGeom prst="rect">
            <a:avLst/>
          </a:prstGeom>
          <a:noFill/>
        </p:spPr>
        <p:txBody>
          <a:bodyPr wrap="square" anchor="ctr" lIns="36576" rIns="36576" tIns="21945" bIns="21945">
            <a:spAutoFit/>
          </a:bodyPr>
          <a:lstStyle/>
          <a:p>
            <a:pPr algn="l">
              <a:spcAft>
                <a:spcPts val="0"/>
              </a:spcAft>
            </a:pPr>
            <a:r>
              <a:rPr sz="1200" b="1" i="0">
                <a:solidFill>
                  <a:srgbClr val="FFFFFF"/>
                </a:solidFill>
                <a:latin typeface="Arial"/>
              </a:rPr>
              <a:t>What are we missing?</a:t>
            </a:r>
          </a:p>
        </p:txBody>
      </p:sp>
      <p:sp>
        <p:nvSpPr>
          <p:cNvPr id="19" name="TextBox 18"/>
          <p:cNvSpPr txBox="1"/>
          <p:nvPr/>
        </p:nvSpPr>
        <p:spPr>
          <a:xfrm>
            <a:off x="521207" y="4160520"/>
            <a:ext cx="5394960" cy="1463040"/>
          </a:xfrm>
          <a:prstGeom prst="rect">
            <a:avLst/>
          </a:prstGeom>
          <a:noFill/>
        </p:spPr>
        <p:txBody>
          <a:bodyPr wrap="square" anchor="t" lIns="36576" rIns="36576" tIns="21945" bIns="21945">
            <a:spAutoFit/>
          </a:bodyPr>
          <a:lstStyle/>
          <a:p>
            <a:pPr algn="l">
              <a:spcAft>
                <a:spcPts val="1000"/>
              </a:spcAft>
            </a:pPr>
            <a:r>
              <a:rPr sz="1150" b="1" i="0">
                <a:solidFill>
                  <a:srgbClr val="00AEEF"/>
                </a:solidFill>
                <a:latin typeface="Arial"/>
              </a:rPr>
              <a:t>Q5  </a:t>
            </a:r>
            <a:r>
              <a:rPr sz="1150" b="0" i="0">
                <a:solidFill>
                  <a:srgbClr val="404040"/>
                </a:solidFill>
                <a:latin typeface="Arial"/>
              </a:rPr>
              <a:t>Do we commit to the marketing and brand audit, and who leads it?</a:t>
            </a:r>
          </a:p>
          <a:p>
            <a:pPr algn="l">
              <a:spcAft>
                <a:spcPts val="1000"/>
              </a:spcAft>
            </a:pPr>
            <a:r>
              <a:rPr sz="1150" b="1" i="0">
                <a:solidFill>
                  <a:srgbClr val="00AEEF"/>
                </a:solidFill>
                <a:latin typeface="Arial"/>
              </a:rPr>
              <a:t>Q6  </a:t>
            </a:r>
            <a:r>
              <a:rPr sz="1150" b="0" i="0">
                <a:solidFill>
                  <a:srgbClr val="404040"/>
                </a:solidFill>
                <a:latin typeface="Arial"/>
              </a:rPr>
              <a:t>Which gaps do we bound as limitations rather than analyse?</a:t>
            </a:r>
          </a:p>
        </p:txBody>
      </p:sp>
      <p:sp>
        <p:nvSpPr>
          <p:cNvPr id="20" name="Rectangle 19"/>
          <p:cNvSpPr/>
          <p:nvPr/>
        </p:nvSpPr>
        <p:spPr>
          <a:xfrm>
            <a:off x="6163056" y="3566160"/>
            <a:ext cx="5641848" cy="2148840"/>
          </a:xfrm>
          <a:prstGeom prst="rect">
            <a:avLst/>
          </a:prstGeom>
          <a:solidFill>
            <a:srgbClr val="F2F2F2"/>
          </a:solidFill>
          <a:ln>
            <a:noFill/>
          </a:ln>
        </p:spPr>
        <p:txBody>
          <a:bodyPr rtlCol="0" anchor="ctr"/>
          <a:lstStyle/>
          <a:p>
            <a:pPr algn="ctr"/>
          </a:p>
        </p:txBody>
      </p:sp>
      <p:sp>
        <p:nvSpPr>
          <p:cNvPr id="21" name="Rectangle 20"/>
          <p:cNvSpPr/>
          <p:nvPr/>
        </p:nvSpPr>
        <p:spPr>
          <a:xfrm>
            <a:off x="6163056" y="3566160"/>
            <a:ext cx="5641848" cy="457200"/>
          </a:xfrm>
          <a:prstGeom prst="rect">
            <a:avLst/>
          </a:prstGeom>
          <a:solidFill>
            <a:srgbClr val="1F497D"/>
          </a:solidFill>
          <a:ln>
            <a:noFill/>
          </a:ln>
        </p:spPr>
        <p:txBody>
          <a:bodyPr rtlCol="0" anchor="ctr"/>
          <a:lstStyle/>
          <a:p>
            <a:pPr algn="ctr"/>
          </a:p>
        </p:txBody>
      </p:sp>
      <p:sp>
        <p:nvSpPr>
          <p:cNvPr id="22" name="TextBox 21"/>
          <p:cNvSpPr txBox="1"/>
          <p:nvPr/>
        </p:nvSpPr>
        <p:spPr>
          <a:xfrm>
            <a:off x="6300216" y="3566160"/>
            <a:ext cx="5394960" cy="457200"/>
          </a:xfrm>
          <a:prstGeom prst="rect">
            <a:avLst/>
          </a:prstGeom>
          <a:noFill/>
        </p:spPr>
        <p:txBody>
          <a:bodyPr wrap="square" anchor="ctr" lIns="36576" rIns="36576" tIns="21945" bIns="21945">
            <a:spAutoFit/>
          </a:bodyPr>
          <a:lstStyle/>
          <a:p>
            <a:pPr algn="l">
              <a:spcAft>
                <a:spcPts val="0"/>
              </a:spcAft>
            </a:pPr>
            <a:r>
              <a:rPr sz="1200" b="1" i="0">
                <a:solidFill>
                  <a:srgbClr val="FFFFFF"/>
                </a:solidFill>
                <a:latin typeface="Arial"/>
              </a:rPr>
              <a:t>What would we recommend, and to whom?</a:t>
            </a:r>
          </a:p>
        </p:txBody>
      </p:sp>
      <p:sp>
        <p:nvSpPr>
          <p:cNvPr id="23" name="TextBox 22"/>
          <p:cNvSpPr txBox="1"/>
          <p:nvPr/>
        </p:nvSpPr>
        <p:spPr>
          <a:xfrm>
            <a:off x="6300216" y="4160520"/>
            <a:ext cx="5394960" cy="1463040"/>
          </a:xfrm>
          <a:prstGeom prst="rect">
            <a:avLst/>
          </a:prstGeom>
          <a:noFill/>
        </p:spPr>
        <p:txBody>
          <a:bodyPr wrap="square" anchor="t" lIns="36576" rIns="36576" tIns="21945" bIns="21945">
            <a:spAutoFit/>
          </a:bodyPr>
          <a:lstStyle/>
          <a:p>
            <a:pPr algn="l">
              <a:spcAft>
                <a:spcPts val="1000"/>
              </a:spcAft>
            </a:pPr>
            <a:r>
              <a:rPr sz="1150" b="1" i="0">
                <a:solidFill>
                  <a:srgbClr val="00AEEF"/>
                </a:solidFill>
                <a:latin typeface="Arial"/>
              </a:rPr>
              <a:t>Q7  </a:t>
            </a:r>
            <a:r>
              <a:rPr sz="1150" b="0" i="0">
                <a:solidFill>
                  <a:srgbClr val="404040"/>
                </a:solidFill>
                <a:latin typeface="Arial"/>
              </a:rPr>
              <a:t>Which structure serves Exco and the Board best?</a:t>
            </a:r>
          </a:p>
          <a:p>
            <a:pPr algn="l">
              <a:spcAft>
                <a:spcPts val="1000"/>
              </a:spcAft>
            </a:pPr>
            <a:r>
              <a:rPr sz="1150" b="1" i="0">
                <a:solidFill>
                  <a:srgbClr val="00AEEF"/>
                </a:solidFill>
                <a:latin typeface="Arial"/>
              </a:rPr>
              <a:t>Q8  </a:t>
            </a:r>
            <a:r>
              <a:rPr sz="1150" b="0" i="0">
                <a:solidFill>
                  <a:srgbClr val="404040"/>
                </a:solidFill>
                <a:latin typeface="Arial"/>
              </a:rPr>
              <a:t>What is Wesgro's role where it does not own the lever?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We need six decisions today to start drafting with confidence</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DECISIONS REQUESTED TODAY</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Letsema</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32</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84048" y="1234440"/>
            <a:ext cx="3703320" cy="2057400"/>
          </a:xfrm>
          <a:prstGeom prst="rect">
            <a:avLst/>
          </a:prstGeom>
          <a:solidFill>
            <a:srgbClr val="DCEEF7"/>
          </a:solidFill>
          <a:ln>
            <a:noFill/>
          </a:ln>
        </p:spPr>
        <p:txBody>
          <a:bodyPr rtlCol="0" anchor="ctr"/>
          <a:lstStyle/>
          <a:p>
            <a:pPr algn="ctr"/>
          </a:p>
        </p:txBody>
      </p:sp>
      <p:sp>
        <p:nvSpPr>
          <p:cNvPr id="9" name="TextBox 8"/>
          <p:cNvSpPr txBox="1"/>
          <p:nvPr/>
        </p:nvSpPr>
        <p:spPr>
          <a:xfrm>
            <a:off x="566928" y="1371600"/>
            <a:ext cx="640080" cy="548640"/>
          </a:xfrm>
          <a:prstGeom prst="rect">
            <a:avLst/>
          </a:prstGeom>
          <a:noFill/>
        </p:spPr>
        <p:txBody>
          <a:bodyPr wrap="square" anchor="t" lIns="36576" rIns="36576" tIns="21945" bIns="21945">
            <a:spAutoFit/>
          </a:bodyPr>
          <a:lstStyle/>
          <a:p>
            <a:pPr algn="l">
              <a:spcAft>
                <a:spcPts val="0"/>
              </a:spcAft>
            </a:pPr>
            <a:r>
              <a:rPr sz="2800" b="1" i="0">
                <a:solidFill>
                  <a:srgbClr val="00AEEF"/>
                </a:solidFill>
                <a:latin typeface="Arial"/>
              </a:rPr>
              <a:t>1</a:t>
            </a:r>
          </a:p>
        </p:txBody>
      </p:sp>
      <p:sp>
        <p:nvSpPr>
          <p:cNvPr id="10" name="TextBox 9"/>
          <p:cNvSpPr txBox="1"/>
          <p:nvPr/>
        </p:nvSpPr>
        <p:spPr>
          <a:xfrm>
            <a:off x="566928" y="1965960"/>
            <a:ext cx="3383280" cy="365760"/>
          </a:xfrm>
          <a:prstGeom prst="rect">
            <a:avLst/>
          </a:prstGeom>
          <a:noFill/>
        </p:spPr>
        <p:txBody>
          <a:bodyPr wrap="square" anchor="t" lIns="36576" rIns="36576" tIns="21945" bIns="21945">
            <a:spAutoFit/>
          </a:bodyPr>
          <a:lstStyle/>
          <a:p>
            <a:pPr algn="l">
              <a:spcAft>
                <a:spcPts val="0"/>
              </a:spcAft>
            </a:pPr>
            <a:r>
              <a:rPr sz="1300" b="1" i="0">
                <a:solidFill>
                  <a:srgbClr val="1F497D"/>
                </a:solidFill>
                <a:latin typeface="Arial"/>
              </a:rPr>
              <a:t>Target</a:t>
            </a:r>
          </a:p>
        </p:txBody>
      </p:sp>
      <p:sp>
        <p:nvSpPr>
          <p:cNvPr id="11" name="TextBox 10"/>
          <p:cNvSpPr txBox="1"/>
          <p:nvPr/>
        </p:nvSpPr>
        <p:spPr>
          <a:xfrm>
            <a:off x="566928" y="2331720"/>
            <a:ext cx="3383280" cy="868680"/>
          </a:xfrm>
          <a:prstGeom prst="rect">
            <a:avLst/>
          </a:prstGeom>
          <a:noFill/>
        </p:spPr>
        <p:txBody>
          <a:bodyPr wrap="square" anchor="t" lIns="36576" rIns="36576" tIns="21945" bIns="21945">
            <a:spAutoFit/>
          </a:bodyPr>
          <a:lstStyle/>
          <a:p>
            <a:pPr algn="l">
              <a:spcAft>
                <a:spcPts val="0"/>
              </a:spcAft>
            </a:pPr>
            <a:r>
              <a:rPr sz="1100" b="0" i="0">
                <a:solidFill>
                  <a:srgbClr val="404040"/>
                </a:solidFill>
                <a:latin typeface="Arial"/>
              </a:rPr>
              <a:t>Agree the headline metric, base year and source for the 2035 goal.</a:t>
            </a:r>
          </a:p>
        </p:txBody>
      </p:sp>
      <p:sp>
        <p:nvSpPr>
          <p:cNvPr id="12" name="Rectangle 11"/>
          <p:cNvSpPr/>
          <p:nvPr/>
        </p:nvSpPr>
        <p:spPr>
          <a:xfrm>
            <a:off x="3630168" y="1463040"/>
            <a:ext cx="256032" cy="256032"/>
          </a:xfrm>
          <a:prstGeom prst="rect">
            <a:avLst/>
          </a:prstGeom>
          <a:solidFill>
            <a:srgbClr val="FFFFFF"/>
          </a:solidFill>
          <a:ln w="15875">
            <a:solidFill>
              <a:srgbClr val="1F497D"/>
            </a:solidFill>
          </a:ln>
        </p:spPr>
        <p:txBody>
          <a:bodyPr rtlCol="0" anchor="ctr"/>
          <a:lstStyle/>
          <a:p>
            <a:pPr algn="ctr"/>
          </a:p>
        </p:txBody>
      </p:sp>
      <p:sp>
        <p:nvSpPr>
          <p:cNvPr id="13" name="Rectangle 12"/>
          <p:cNvSpPr/>
          <p:nvPr/>
        </p:nvSpPr>
        <p:spPr>
          <a:xfrm>
            <a:off x="4242816" y="1234440"/>
            <a:ext cx="3703320" cy="2057400"/>
          </a:xfrm>
          <a:prstGeom prst="rect">
            <a:avLst/>
          </a:prstGeom>
          <a:solidFill>
            <a:srgbClr val="DCEEF7"/>
          </a:solidFill>
          <a:ln>
            <a:noFill/>
          </a:ln>
        </p:spPr>
        <p:txBody>
          <a:bodyPr rtlCol="0" anchor="ctr"/>
          <a:lstStyle/>
          <a:p>
            <a:pPr algn="ctr"/>
          </a:p>
        </p:txBody>
      </p:sp>
      <p:sp>
        <p:nvSpPr>
          <p:cNvPr id="14" name="TextBox 13"/>
          <p:cNvSpPr txBox="1"/>
          <p:nvPr/>
        </p:nvSpPr>
        <p:spPr>
          <a:xfrm>
            <a:off x="4425696" y="1371600"/>
            <a:ext cx="640080" cy="548640"/>
          </a:xfrm>
          <a:prstGeom prst="rect">
            <a:avLst/>
          </a:prstGeom>
          <a:noFill/>
        </p:spPr>
        <p:txBody>
          <a:bodyPr wrap="square" anchor="t" lIns="36576" rIns="36576" tIns="21945" bIns="21945">
            <a:spAutoFit/>
          </a:bodyPr>
          <a:lstStyle/>
          <a:p>
            <a:pPr algn="l">
              <a:spcAft>
                <a:spcPts val="0"/>
              </a:spcAft>
            </a:pPr>
            <a:r>
              <a:rPr sz="2800" b="1" i="0">
                <a:solidFill>
                  <a:srgbClr val="00AEEF"/>
                </a:solidFill>
                <a:latin typeface="Arial"/>
              </a:rPr>
              <a:t>2</a:t>
            </a:r>
          </a:p>
        </p:txBody>
      </p:sp>
      <p:sp>
        <p:nvSpPr>
          <p:cNvPr id="15" name="TextBox 14"/>
          <p:cNvSpPr txBox="1"/>
          <p:nvPr/>
        </p:nvSpPr>
        <p:spPr>
          <a:xfrm>
            <a:off x="4425696" y="1965960"/>
            <a:ext cx="3383280" cy="365760"/>
          </a:xfrm>
          <a:prstGeom prst="rect">
            <a:avLst/>
          </a:prstGeom>
          <a:noFill/>
        </p:spPr>
        <p:txBody>
          <a:bodyPr wrap="square" anchor="t" lIns="36576" rIns="36576" tIns="21945" bIns="21945">
            <a:spAutoFit/>
          </a:bodyPr>
          <a:lstStyle/>
          <a:p>
            <a:pPr algn="l">
              <a:spcAft>
                <a:spcPts val="0"/>
              </a:spcAft>
            </a:pPr>
            <a:r>
              <a:rPr sz="1300" b="1" i="0">
                <a:solidFill>
                  <a:srgbClr val="1F497D"/>
                </a:solidFill>
                <a:latin typeface="Arial"/>
              </a:rPr>
              <a:t>Position on the gap</a:t>
            </a:r>
          </a:p>
        </p:txBody>
      </p:sp>
      <p:sp>
        <p:nvSpPr>
          <p:cNvPr id="16" name="TextBox 15"/>
          <p:cNvSpPr txBox="1"/>
          <p:nvPr/>
        </p:nvSpPr>
        <p:spPr>
          <a:xfrm>
            <a:off x="4425696" y="2331720"/>
            <a:ext cx="3383280" cy="868680"/>
          </a:xfrm>
          <a:prstGeom prst="rect">
            <a:avLst/>
          </a:prstGeom>
          <a:noFill/>
        </p:spPr>
        <p:txBody>
          <a:bodyPr wrap="square" anchor="t" lIns="36576" rIns="36576" tIns="21945" bIns="21945">
            <a:spAutoFit/>
          </a:bodyPr>
          <a:lstStyle/>
          <a:p>
            <a:pPr algn="l">
              <a:spcAft>
                <a:spcPts val="0"/>
              </a:spcAft>
            </a:pPr>
            <a:r>
              <a:rPr sz="1100" b="0" i="0">
                <a:solidFill>
                  <a:srgbClr val="404040"/>
                </a:solidFill>
                <a:latin typeface="Arial"/>
              </a:rPr>
              <a:t>Agree how the final report treats the shortfall to 2.8m.</a:t>
            </a:r>
          </a:p>
        </p:txBody>
      </p:sp>
      <p:sp>
        <p:nvSpPr>
          <p:cNvPr id="17" name="Rectangle 16"/>
          <p:cNvSpPr/>
          <p:nvPr/>
        </p:nvSpPr>
        <p:spPr>
          <a:xfrm>
            <a:off x="7488936" y="1463040"/>
            <a:ext cx="256032" cy="256032"/>
          </a:xfrm>
          <a:prstGeom prst="rect">
            <a:avLst/>
          </a:prstGeom>
          <a:solidFill>
            <a:srgbClr val="FFFFFF"/>
          </a:solidFill>
          <a:ln w="15875">
            <a:solidFill>
              <a:srgbClr val="1F497D"/>
            </a:solidFill>
          </a:ln>
        </p:spPr>
        <p:txBody>
          <a:bodyPr rtlCol="0" anchor="ctr"/>
          <a:lstStyle/>
          <a:p>
            <a:pPr algn="ctr"/>
          </a:p>
        </p:txBody>
      </p:sp>
      <p:sp>
        <p:nvSpPr>
          <p:cNvPr id="18" name="Rectangle 17"/>
          <p:cNvSpPr/>
          <p:nvPr/>
        </p:nvSpPr>
        <p:spPr>
          <a:xfrm>
            <a:off x="8101583" y="1234440"/>
            <a:ext cx="3703320" cy="2057400"/>
          </a:xfrm>
          <a:prstGeom prst="rect">
            <a:avLst/>
          </a:prstGeom>
          <a:solidFill>
            <a:srgbClr val="DCEEF7"/>
          </a:solidFill>
          <a:ln>
            <a:noFill/>
          </a:ln>
        </p:spPr>
        <p:txBody>
          <a:bodyPr rtlCol="0" anchor="ctr"/>
          <a:lstStyle/>
          <a:p>
            <a:pPr algn="ctr"/>
          </a:p>
        </p:txBody>
      </p:sp>
      <p:sp>
        <p:nvSpPr>
          <p:cNvPr id="19" name="TextBox 18"/>
          <p:cNvSpPr txBox="1"/>
          <p:nvPr/>
        </p:nvSpPr>
        <p:spPr>
          <a:xfrm>
            <a:off x="8284463" y="1371600"/>
            <a:ext cx="640080" cy="548640"/>
          </a:xfrm>
          <a:prstGeom prst="rect">
            <a:avLst/>
          </a:prstGeom>
          <a:noFill/>
        </p:spPr>
        <p:txBody>
          <a:bodyPr wrap="square" anchor="t" lIns="36576" rIns="36576" tIns="21945" bIns="21945">
            <a:spAutoFit/>
          </a:bodyPr>
          <a:lstStyle/>
          <a:p>
            <a:pPr algn="l">
              <a:spcAft>
                <a:spcPts val="0"/>
              </a:spcAft>
            </a:pPr>
            <a:r>
              <a:rPr sz="2800" b="1" i="0">
                <a:solidFill>
                  <a:srgbClr val="00AEEF"/>
                </a:solidFill>
                <a:latin typeface="Arial"/>
              </a:rPr>
              <a:t>3</a:t>
            </a:r>
          </a:p>
        </p:txBody>
      </p:sp>
      <p:sp>
        <p:nvSpPr>
          <p:cNvPr id="20" name="TextBox 19"/>
          <p:cNvSpPr txBox="1"/>
          <p:nvPr/>
        </p:nvSpPr>
        <p:spPr>
          <a:xfrm>
            <a:off x="8284463" y="1965960"/>
            <a:ext cx="3383280" cy="365760"/>
          </a:xfrm>
          <a:prstGeom prst="rect">
            <a:avLst/>
          </a:prstGeom>
          <a:noFill/>
        </p:spPr>
        <p:txBody>
          <a:bodyPr wrap="square" anchor="t" lIns="36576" rIns="36576" tIns="21945" bIns="21945">
            <a:spAutoFit/>
          </a:bodyPr>
          <a:lstStyle/>
          <a:p>
            <a:pPr algn="l">
              <a:spcAft>
                <a:spcPts val="0"/>
              </a:spcAft>
            </a:pPr>
            <a:r>
              <a:rPr sz="1300" b="1" i="0">
                <a:solidFill>
                  <a:srgbClr val="1F497D"/>
                </a:solidFill>
                <a:latin typeface="Arial"/>
              </a:rPr>
              <a:t>Marketing gap</a:t>
            </a:r>
          </a:p>
        </p:txBody>
      </p:sp>
      <p:sp>
        <p:nvSpPr>
          <p:cNvPr id="21" name="TextBox 20"/>
          <p:cNvSpPr txBox="1"/>
          <p:nvPr/>
        </p:nvSpPr>
        <p:spPr>
          <a:xfrm>
            <a:off x="8284463" y="2331720"/>
            <a:ext cx="3383280" cy="868680"/>
          </a:xfrm>
          <a:prstGeom prst="rect">
            <a:avLst/>
          </a:prstGeom>
          <a:noFill/>
        </p:spPr>
        <p:txBody>
          <a:bodyPr wrap="square" anchor="t" lIns="36576" rIns="36576" tIns="21945" bIns="21945">
            <a:spAutoFit/>
          </a:bodyPr>
          <a:lstStyle/>
          <a:p>
            <a:pPr algn="l">
              <a:spcAft>
                <a:spcPts val="0"/>
              </a:spcAft>
            </a:pPr>
            <a:r>
              <a:rPr sz="1100" b="0" i="0">
                <a:solidFill>
                  <a:srgbClr val="404040"/>
                </a:solidFill>
                <a:latin typeface="Arial"/>
              </a:rPr>
              <a:t>Approve the marketing and brand work (options A to C) and its lead.</a:t>
            </a:r>
          </a:p>
        </p:txBody>
      </p:sp>
      <p:sp>
        <p:nvSpPr>
          <p:cNvPr id="22" name="Rectangle 21"/>
          <p:cNvSpPr/>
          <p:nvPr/>
        </p:nvSpPr>
        <p:spPr>
          <a:xfrm>
            <a:off x="11347704" y="1463040"/>
            <a:ext cx="256032" cy="256032"/>
          </a:xfrm>
          <a:prstGeom prst="rect">
            <a:avLst/>
          </a:prstGeom>
          <a:solidFill>
            <a:srgbClr val="FFFFFF"/>
          </a:solidFill>
          <a:ln w="15875">
            <a:solidFill>
              <a:srgbClr val="1F497D"/>
            </a:solidFill>
          </a:ln>
        </p:spPr>
        <p:txBody>
          <a:bodyPr rtlCol="0" anchor="ctr"/>
          <a:lstStyle/>
          <a:p>
            <a:pPr algn="ctr"/>
          </a:p>
        </p:txBody>
      </p:sp>
      <p:sp>
        <p:nvSpPr>
          <p:cNvPr id="23" name="Rectangle 22"/>
          <p:cNvSpPr/>
          <p:nvPr/>
        </p:nvSpPr>
        <p:spPr>
          <a:xfrm>
            <a:off x="384048" y="3474720"/>
            <a:ext cx="3703320" cy="2057400"/>
          </a:xfrm>
          <a:prstGeom prst="rect">
            <a:avLst/>
          </a:prstGeom>
          <a:solidFill>
            <a:srgbClr val="DCEEF7"/>
          </a:solidFill>
          <a:ln>
            <a:noFill/>
          </a:ln>
        </p:spPr>
        <p:txBody>
          <a:bodyPr rtlCol="0" anchor="ctr"/>
          <a:lstStyle/>
          <a:p>
            <a:pPr algn="ctr"/>
          </a:p>
        </p:txBody>
      </p:sp>
      <p:sp>
        <p:nvSpPr>
          <p:cNvPr id="24" name="TextBox 23"/>
          <p:cNvSpPr txBox="1"/>
          <p:nvPr/>
        </p:nvSpPr>
        <p:spPr>
          <a:xfrm>
            <a:off x="566928" y="3611880"/>
            <a:ext cx="640080" cy="548640"/>
          </a:xfrm>
          <a:prstGeom prst="rect">
            <a:avLst/>
          </a:prstGeom>
          <a:noFill/>
        </p:spPr>
        <p:txBody>
          <a:bodyPr wrap="square" anchor="t" lIns="36576" rIns="36576" tIns="21945" bIns="21945">
            <a:spAutoFit/>
          </a:bodyPr>
          <a:lstStyle/>
          <a:p>
            <a:pPr algn="l">
              <a:spcAft>
                <a:spcPts val="0"/>
              </a:spcAft>
            </a:pPr>
            <a:r>
              <a:rPr sz="2800" b="1" i="0">
                <a:solidFill>
                  <a:srgbClr val="00AEEF"/>
                </a:solidFill>
                <a:latin typeface="Arial"/>
              </a:rPr>
              <a:t>4</a:t>
            </a:r>
          </a:p>
        </p:txBody>
      </p:sp>
      <p:sp>
        <p:nvSpPr>
          <p:cNvPr id="25" name="TextBox 24"/>
          <p:cNvSpPr txBox="1"/>
          <p:nvPr/>
        </p:nvSpPr>
        <p:spPr>
          <a:xfrm>
            <a:off x="566928" y="4206240"/>
            <a:ext cx="3383280" cy="365760"/>
          </a:xfrm>
          <a:prstGeom prst="rect">
            <a:avLst/>
          </a:prstGeom>
          <a:noFill/>
        </p:spPr>
        <p:txBody>
          <a:bodyPr wrap="square" anchor="t" lIns="36576" rIns="36576" tIns="21945" bIns="21945">
            <a:spAutoFit/>
          </a:bodyPr>
          <a:lstStyle/>
          <a:p>
            <a:pPr algn="l">
              <a:spcAft>
                <a:spcPts val="0"/>
              </a:spcAft>
            </a:pPr>
            <a:r>
              <a:rPr sz="1300" b="1" i="0">
                <a:solidFill>
                  <a:srgbClr val="1F497D"/>
                </a:solidFill>
                <a:latin typeface="Arial"/>
              </a:rPr>
              <a:t>Bounded gaps</a:t>
            </a:r>
          </a:p>
        </p:txBody>
      </p:sp>
      <p:sp>
        <p:nvSpPr>
          <p:cNvPr id="26" name="TextBox 25"/>
          <p:cNvSpPr txBox="1"/>
          <p:nvPr/>
        </p:nvSpPr>
        <p:spPr>
          <a:xfrm>
            <a:off x="566928" y="4572000"/>
            <a:ext cx="3383280" cy="868680"/>
          </a:xfrm>
          <a:prstGeom prst="rect">
            <a:avLst/>
          </a:prstGeom>
          <a:noFill/>
        </p:spPr>
        <p:txBody>
          <a:bodyPr wrap="square" anchor="t" lIns="36576" rIns="36576" tIns="21945" bIns="21945">
            <a:spAutoFit/>
          </a:bodyPr>
          <a:lstStyle/>
          <a:p>
            <a:pPr algn="l">
              <a:spcAft>
                <a:spcPts val="0"/>
              </a:spcAft>
            </a:pPr>
            <a:r>
              <a:rPr sz="1100" b="0" i="0">
                <a:solidFill>
                  <a:srgbClr val="404040"/>
                </a:solidFill>
                <a:latin typeface="Arial"/>
              </a:rPr>
              <a:t>Accept which gaps are stated as limitations rather than analysed.</a:t>
            </a:r>
          </a:p>
        </p:txBody>
      </p:sp>
      <p:sp>
        <p:nvSpPr>
          <p:cNvPr id="27" name="Rectangle 26"/>
          <p:cNvSpPr/>
          <p:nvPr/>
        </p:nvSpPr>
        <p:spPr>
          <a:xfrm>
            <a:off x="3630168" y="3703320"/>
            <a:ext cx="256032" cy="256032"/>
          </a:xfrm>
          <a:prstGeom prst="rect">
            <a:avLst/>
          </a:prstGeom>
          <a:solidFill>
            <a:srgbClr val="FFFFFF"/>
          </a:solidFill>
          <a:ln w="15875">
            <a:solidFill>
              <a:srgbClr val="1F497D"/>
            </a:solidFill>
          </a:ln>
        </p:spPr>
        <p:txBody>
          <a:bodyPr rtlCol="0" anchor="ctr"/>
          <a:lstStyle/>
          <a:p>
            <a:pPr algn="ctr"/>
          </a:p>
        </p:txBody>
      </p:sp>
      <p:sp>
        <p:nvSpPr>
          <p:cNvPr id="28" name="Rectangle 27"/>
          <p:cNvSpPr/>
          <p:nvPr/>
        </p:nvSpPr>
        <p:spPr>
          <a:xfrm>
            <a:off x="4242816" y="3474720"/>
            <a:ext cx="3703320" cy="2057400"/>
          </a:xfrm>
          <a:prstGeom prst="rect">
            <a:avLst/>
          </a:prstGeom>
          <a:solidFill>
            <a:srgbClr val="DCEEF7"/>
          </a:solidFill>
          <a:ln>
            <a:noFill/>
          </a:ln>
        </p:spPr>
        <p:txBody>
          <a:bodyPr rtlCol="0" anchor="ctr"/>
          <a:lstStyle/>
          <a:p>
            <a:pPr algn="ctr"/>
          </a:p>
        </p:txBody>
      </p:sp>
      <p:sp>
        <p:nvSpPr>
          <p:cNvPr id="29" name="TextBox 28"/>
          <p:cNvSpPr txBox="1"/>
          <p:nvPr/>
        </p:nvSpPr>
        <p:spPr>
          <a:xfrm>
            <a:off x="4425696" y="3611880"/>
            <a:ext cx="640080" cy="548640"/>
          </a:xfrm>
          <a:prstGeom prst="rect">
            <a:avLst/>
          </a:prstGeom>
          <a:noFill/>
        </p:spPr>
        <p:txBody>
          <a:bodyPr wrap="square" anchor="t" lIns="36576" rIns="36576" tIns="21945" bIns="21945">
            <a:spAutoFit/>
          </a:bodyPr>
          <a:lstStyle/>
          <a:p>
            <a:pPr algn="l">
              <a:spcAft>
                <a:spcPts val="0"/>
              </a:spcAft>
            </a:pPr>
            <a:r>
              <a:rPr sz="2800" b="1" i="0">
                <a:solidFill>
                  <a:srgbClr val="00AEEF"/>
                </a:solidFill>
                <a:latin typeface="Arial"/>
              </a:rPr>
              <a:t>5</a:t>
            </a:r>
          </a:p>
        </p:txBody>
      </p:sp>
      <p:sp>
        <p:nvSpPr>
          <p:cNvPr id="30" name="TextBox 29"/>
          <p:cNvSpPr txBox="1"/>
          <p:nvPr/>
        </p:nvSpPr>
        <p:spPr>
          <a:xfrm>
            <a:off x="4425696" y="4206240"/>
            <a:ext cx="3383280" cy="365760"/>
          </a:xfrm>
          <a:prstGeom prst="rect">
            <a:avLst/>
          </a:prstGeom>
          <a:noFill/>
        </p:spPr>
        <p:txBody>
          <a:bodyPr wrap="square" anchor="t" lIns="36576" rIns="36576" tIns="21945" bIns="21945">
            <a:spAutoFit/>
          </a:bodyPr>
          <a:lstStyle/>
          <a:p>
            <a:pPr algn="l">
              <a:spcAft>
                <a:spcPts val="0"/>
              </a:spcAft>
            </a:pPr>
            <a:r>
              <a:rPr sz="1300" b="1" i="0">
                <a:solidFill>
                  <a:srgbClr val="1F497D"/>
                </a:solidFill>
                <a:latin typeface="Arial"/>
              </a:rPr>
              <a:t>Report structure</a:t>
            </a:r>
          </a:p>
        </p:txBody>
      </p:sp>
      <p:sp>
        <p:nvSpPr>
          <p:cNvPr id="31" name="TextBox 30"/>
          <p:cNvSpPr txBox="1"/>
          <p:nvPr/>
        </p:nvSpPr>
        <p:spPr>
          <a:xfrm>
            <a:off x="4425696" y="4572000"/>
            <a:ext cx="3383280" cy="868680"/>
          </a:xfrm>
          <a:prstGeom prst="rect">
            <a:avLst/>
          </a:prstGeom>
          <a:noFill/>
        </p:spPr>
        <p:txBody>
          <a:bodyPr wrap="square" anchor="t" lIns="36576" rIns="36576" tIns="21945" bIns="21945">
            <a:spAutoFit/>
          </a:bodyPr>
          <a:lstStyle/>
          <a:p>
            <a:pPr algn="l">
              <a:spcAft>
                <a:spcPts val="0"/>
              </a:spcAft>
            </a:pPr>
            <a:r>
              <a:rPr sz="1100" b="0" i="0">
                <a:solidFill>
                  <a:srgbClr val="404040"/>
                </a:solidFill>
                <a:latin typeface="Arial"/>
              </a:rPr>
              <a:t>Confirm the pillar and horizon structure, with owners by tier.</a:t>
            </a:r>
          </a:p>
        </p:txBody>
      </p:sp>
      <p:sp>
        <p:nvSpPr>
          <p:cNvPr id="32" name="Rectangle 31"/>
          <p:cNvSpPr/>
          <p:nvPr/>
        </p:nvSpPr>
        <p:spPr>
          <a:xfrm>
            <a:off x="7488936" y="3703320"/>
            <a:ext cx="256032" cy="256032"/>
          </a:xfrm>
          <a:prstGeom prst="rect">
            <a:avLst/>
          </a:prstGeom>
          <a:solidFill>
            <a:srgbClr val="FFFFFF"/>
          </a:solidFill>
          <a:ln w="15875">
            <a:solidFill>
              <a:srgbClr val="1F497D"/>
            </a:solidFill>
          </a:ln>
        </p:spPr>
        <p:txBody>
          <a:bodyPr rtlCol="0" anchor="ctr"/>
          <a:lstStyle/>
          <a:p>
            <a:pPr algn="ctr"/>
          </a:p>
        </p:txBody>
      </p:sp>
      <p:sp>
        <p:nvSpPr>
          <p:cNvPr id="33" name="Rectangle 32"/>
          <p:cNvSpPr/>
          <p:nvPr/>
        </p:nvSpPr>
        <p:spPr>
          <a:xfrm>
            <a:off x="8101583" y="3474720"/>
            <a:ext cx="3703320" cy="2057400"/>
          </a:xfrm>
          <a:prstGeom prst="rect">
            <a:avLst/>
          </a:prstGeom>
          <a:solidFill>
            <a:srgbClr val="DCEEF7"/>
          </a:solidFill>
          <a:ln>
            <a:noFill/>
          </a:ln>
        </p:spPr>
        <p:txBody>
          <a:bodyPr rtlCol="0" anchor="ctr"/>
          <a:lstStyle/>
          <a:p>
            <a:pPr algn="ctr"/>
          </a:p>
        </p:txBody>
      </p:sp>
      <p:sp>
        <p:nvSpPr>
          <p:cNvPr id="34" name="TextBox 33"/>
          <p:cNvSpPr txBox="1"/>
          <p:nvPr/>
        </p:nvSpPr>
        <p:spPr>
          <a:xfrm>
            <a:off x="8284463" y="3611880"/>
            <a:ext cx="640080" cy="548640"/>
          </a:xfrm>
          <a:prstGeom prst="rect">
            <a:avLst/>
          </a:prstGeom>
          <a:noFill/>
        </p:spPr>
        <p:txBody>
          <a:bodyPr wrap="square" anchor="t" lIns="36576" rIns="36576" tIns="21945" bIns="21945">
            <a:spAutoFit/>
          </a:bodyPr>
          <a:lstStyle/>
          <a:p>
            <a:pPr algn="l">
              <a:spcAft>
                <a:spcPts val="0"/>
              </a:spcAft>
            </a:pPr>
            <a:r>
              <a:rPr sz="2800" b="1" i="0">
                <a:solidFill>
                  <a:srgbClr val="00AEEF"/>
                </a:solidFill>
                <a:latin typeface="Arial"/>
              </a:rPr>
              <a:t>6</a:t>
            </a:r>
          </a:p>
        </p:txBody>
      </p:sp>
      <p:sp>
        <p:nvSpPr>
          <p:cNvPr id="35" name="TextBox 34"/>
          <p:cNvSpPr txBox="1"/>
          <p:nvPr/>
        </p:nvSpPr>
        <p:spPr>
          <a:xfrm>
            <a:off x="8284463" y="4206240"/>
            <a:ext cx="3383280" cy="365760"/>
          </a:xfrm>
          <a:prstGeom prst="rect">
            <a:avLst/>
          </a:prstGeom>
          <a:noFill/>
        </p:spPr>
        <p:txBody>
          <a:bodyPr wrap="square" anchor="t" lIns="36576" rIns="36576" tIns="21945" bIns="21945">
            <a:spAutoFit/>
          </a:bodyPr>
          <a:lstStyle/>
          <a:p>
            <a:pPr algn="l">
              <a:spcAft>
                <a:spcPts val="0"/>
              </a:spcAft>
            </a:pPr>
            <a:r>
              <a:rPr sz="1300" b="1" i="0">
                <a:solidFill>
                  <a:srgbClr val="1F497D"/>
                </a:solidFill>
                <a:latin typeface="Arial"/>
              </a:rPr>
              <a:t>Contract and timeline</a:t>
            </a:r>
          </a:p>
        </p:txBody>
      </p:sp>
      <p:sp>
        <p:nvSpPr>
          <p:cNvPr id="36" name="TextBox 35"/>
          <p:cNvSpPr txBox="1"/>
          <p:nvPr/>
        </p:nvSpPr>
        <p:spPr>
          <a:xfrm>
            <a:off x="8284463" y="4572000"/>
            <a:ext cx="3383280" cy="868680"/>
          </a:xfrm>
          <a:prstGeom prst="rect">
            <a:avLst/>
          </a:prstGeom>
          <a:noFill/>
        </p:spPr>
        <p:txBody>
          <a:bodyPr wrap="square" anchor="t" lIns="36576" rIns="36576" tIns="21945" bIns="21945">
            <a:spAutoFit/>
          </a:bodyPr>
          <a:lstStyle/>
          <a:p>
            <a:pPr algn="l">
              <a:spcAft>
                <a:spcPts val="0"/>
              </a:spcAft>
            </a:pPr>
            <a:r>
              <a:rPr sz="1100" b="0" i="0">
                <a:solidFill>
                  <a:srgbClr val="404040"/>
                </a:solidFill>
                <a:latin typeface="Arial"/>
              </a:rPr>
              <a:t>Confirm the extension route and the six-week plan.</a:t>
            </a:r>
          </a:p>
        </p:txBody>
      </p:sp>
      <p:sp>
        <p:nvSpPr>
          <p:cNvPr id="37" name="Rectangle 36"/>
          <p:cNvSpPr/>
          <p:nvPr/>
        </p:nvSpPr>
        <p:spPr>
          <a:xfrm>
            <a:off x="11347704" y="3703320"/>
            <a:ext cx="256032" cy="256032"/>
          </a:xfrm>
          <a:prstGeom prst="rect">
            <a:avLst/>
          </a:prstGeom>
          <a:solidFill>
            <a:srgbClr val="FFFFFF"/>
          </a:solidFill>
          <a:ln w="15875">
            <a:solidFill>
              <a:srgbClr val="1F497D"/>
            </a:solidFill>
          </a:ln>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divider_bg.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2697480"/>
            <a:ext cx="12191695" cy="1463040"/>
          </a:xfrm>
          <a:prstGeom prst="rect">
            <a:avLst/>
          </a:prstGeom>
          <a:solidFill>
            <a:srgbClr val="009FDF">
              <a:alpha val="78000"/>
            </a:srgbClr>
          </a:solidFill>
          <a:ln>
            <a:noFill/>
          </a:ln>
        </p:spPr>
        <p:txBody>
          <a:bodyPr rtlCol="0" anchor="ctr"/>
          <a:lstStyle/>
          <a:p>
            <a:pPr algn="ctr"/>
          </a:p>
        </p:txBody>
      </p:sp>
      <p:sp>
        <p:nvSpPr>
          <p:cNvPr id="2" name="Title 1"/>
          <p:cNvSpPr>
            <a:spLocks noGrp="1"/>
          </p:cNvSpPr>
          <p:nvPr>
            <p:ph type="title"/>
          </p:nvPr>
        </p:nvSpPr>
        <p:spPr>
          <a:xfrm>
            <a:off x="1097280" y="2788920"/>
            <a:ext cx="10058400" cy="731520"/>
          </a:xfrm>
        </p:spPr>
        <p:txBody>
          <a:bodyPr anchor="ctr"/>
          <a:lstStyle/>
          <a:p>
            <a:pPr algn="l"/>
            <a:r>
              <a:rPr sz="3200" b="1" i="0">
                <a:solidFill>
                  <a:srgbClr val="FFFFFF"/>
                </a:solidFill>
                <a:latin typeface="Arial"/>
              </a:rPr>
              <a:t>The next six weeks</a:t>
            </a:r>
          </a:p>
        </p:txBody>
      </p:sp>
      <p:sp>
        <p:nvSpPr>
          <p:cNvPr id="5" name="TextBox 4"/>
          <p:cNvSpPr txBox="1"/>
          <p:nvPr/>
        </p:nvSpPr>
        <p:spPr>
          <a:xfrm>
            <a:off x="1097280" y="3520440"/>
            <a:ext cx="10058400" cy="457200"/>
          </a:xfrm>
          <a:prstGeom prst="rect">
            <a:avLst/>
          </a:prstGeom>
          <a:noFill/>
        </p:spPr>
        <p:txBody>
          <a:bodyPr wrap="square" anchor="t" lIns="36576" rIns="36576" tIns="21945" bIns="21945">
            <a:spAutoFit/>
          </a:bodyPr>
          <a:lstStyle/>
          <a:p>
            <a:pPr algn="l">
              <a:spcAft>
                <a:spcPts val="0"/>
              </a:spcAft>
            </a:pPr>
            <a:r>
              <a:rPr sz="1400" b="0" i="0">
                <a:solidFill>
                  <a:srgbClr val="FFFFFF"/>
                </a:solidFill>
                <a:latin typeface="Arial"/>
              </a:rPr>
              <a:t>From aligned findings to the final report</a:t>
            </a:r>
          </a:p>
        </p:txBody>
      </p:sp>
      <p:sp>
        <p:nvSpPr>
          <p:cNvPr id="6" name="TextBox 5"/>
          <p:cNvSpPr txBox="1"/>
          <p:nvPr/>
        </p:nvSpPr>
        <p:spPr>
          <a:xfrm>
            <a:off x="411480" y="2788920"/>
            <a:ext cx="731520" cy="731520"/>
          </a:xfrm>
          <a:prstGeom prst="rect">
            <a:avLst/>
          </a:prstGeom>
          <a:noFill/>
        </p:spPr>
        <p:txBody>
          <a:bodyPr wrap="square" anchor="ctr" lIns="36576" rIns="36576" tIns="21945" bIns="21945">
            <a:spAutoFit/>
          </a:bodyPr>
          <a:lstStyle/>
          <a:p>
            <a:pPr algn="l">
              <a:spcAft>
                <a:spcPts val="400"/>
              </a:spcAft>
            </a:pPr>
            <a:r>
              <a:rPr sz="3200" b="0" i="0">
                <a:solidFill>
                  <a:srgbClr val="FFFFFF"/>
                </a:solidFill>
                <a:latin typeface="Arial"/>
              </a:rPr>
              <a:t>06</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D9D9D9"/>
                </a:solidFill>
                <a:latin typeface="Arial"/>
              </a:rPr>
              <a:t>DRAFT FOR DISCUSSION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Six weeks take us from aligned findings to a final report at Steercom, subject to the extension</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NEXT SIX WEEKS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Letsema proposal. Weeks assume this session in the week of 12 October 2026; dates shift with the session date.</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34</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3218688" y="1188720"/>
            <a:ext cx="1403604" cy="438912"/>
          </a:xfrm>
          <a:prstGeom prst="rect">
            <a:avLst/>
          </a:prstGeom>
          <a:solidFill>
            <a:srgbClr val="1F497D"/>
          </a:solidFill>
          <a:ln>
            <a:noFill/>
          </a:ln>
        </p:spPr>
        <p:txBody>
          <a:bodyPr rtlCol="0" anchor="ctr" wrap="square" lIns="36576" rIns="36576" tIns="21945" bIns="21945"/>
          <a:lstStyle/>
          <a:p>
            <a:pPr algn="ctr">
              <a:spcAft>
                <a:spcPts val="0"/>
              </a:spcAft>
            </a:pPr>
            <a:r>
              <a:rPr sz="950" b="1" i="0">
                <a:solidFill>
                  <a:srgbClr val="FFFFFF"/>
                </a:solidFill>
                <a:latin typeface="Arial"/>
              </a:rPr>
              <a:t>W1</a:t>
            </a:r>
          </a:p>
          <a:p>
            <a:pPr algn="ctr">
              <a:spcAft>
                <a:spcPts val="0"/>
              </a:spcAft>
            </a:pPr>
            <a:r>
              <a:rPr sz="850" b="0" i="0">
                <a:solidFill>
                  <a:srgbClr val="FFFFFF"/>
                </a:solidFill>
                <a:latin typeface="Arial"/>
              </a:rPr>
              <a:t>12 Oct</a:t>
            </a:r>
          </a:p>
        </p:txBody>
      </p:sp>
      <p:sp>
        <p:nvSpPr>
          <p:cNvPr id="9" name="Rectangle 8"/>
          <p:cNvSpPr/>
          <p:nvPr/>
        </p:nvSpPr>
        <p:spPr>
          <a:xfrm>
            <a:off x="4649724" y="1188720"/>
            <a:ext cx="1403604" cy="438912"/>
          </a:xfrm>
          <a:prstGeom prst="rect">
            <a:avLst/>
          </a:prstGeom>
          <a:solidFill>
            <a:srgbClr val="1F497D"/>
          </a:solidFill>
          <a:ln>
            <a:noFill/>
          </a:ln>
        </p:spPr>
        <p:txBody>
          <a:bodyPr rtlCol="0" anchor="ctr" wrap="square" lIns="36576" rIns="36576" tIns="21945" bIns="21945"/>
          <a:lstStyle/>
          <a:p>
            <a:pPr algn="ctr">
              <a:spcAft>
                <a:spcPts val="0"/>
              </a:spcAft>
            </a:pPr>
            <a:r>
              <a:rPr sz="950" b="1" i="0">
                <a:solidFill>
                  <a:srgbClr val="FFFFFF"/>
                </a:solidFill>
                <a:latin typeface="Arial"/>
              </a:rPr>
              <a:t>W2</a:t>
            </a:r>
          </a:p>
          <a:p>
            <a:pPr algn="ctr">
              <a:spcAft>
                <a:spcPts val="0"/>
              </a:spcAft>
            </a:pPr>
            <a:r>
              <a:rPr sz="850" b="0" i="0">
                <a:solidFill>
                  <a:srgbClr val="FFFFFF"/>
                </a:solidFill>
                <a:latin typeface="Arial"/>
              </a:rPr>
              <a:t>19 Oct</a:t>
            </a:r>
          </a:p>
        </p:txBody>
      </p:sp>
      <p:sp>
        <p:nvSpPr>
          <p:cNvPr id="10" name="Rectangle 9"/>
          <p:cNvSpPr/>
          <p:nvPr/>
        </p:nvSpPr>
        <p:spPr>
          <a:xfrm>
            <a:off x="6080760" y="1188720"/>
            <a:ext cx="1403604" cy="438912"/>
          </a:xfrm>
          <a:prstGeom prst="rect">
            <a:avLst/>
          </a:prstGeom>
          <a:solidFill>
            <a:srgbClr val="1F497D"/>
          </a:solidFill>
          <a:ln>
            <a:noFill/>
          </a:ln>
        </p:spPr>
        <p:txBody>
          <a:bodyPr rtlCol="0" anchor="ctr" wrap="square" lIns="36576" rIns="36576" tIns="21945" bIns="21945"/>
          <a:lstStyle/>
          <a:p>
            <a:pPr algn="ctr">
              <a:spcAft>
                <a:spcPts val="0"/>
              </a:spcAft>
            </a:pPr>
            <a:r>
              <a:rPr sz="950" b="1" i="0">
                <a:solidFill>
                  <a:srgbClr val="FFFFFF"/>
                </a:solidFill>
                <a:latin typeface="Arial"/>
              </a:rPr>
              <a:t>W3</a:t>
            </a:r>
          </a:p>
          <a:p>
            <a:pPr algn="ctr">
              <a:spcAft>
                <a:spcPts val="0"/>
              </a:spcAft>
            </a:pPr>
            <a:r>
              <a:rPr sz="850" b="0" i="0">
                <a:solidFill>
                  <a:srgbClr val="FFFFFF"/>
                </a:solidFill>
                <a:latin typeface="Arial"/>
              </a:rPr>
              <a:t>26 Oct</a:t>
            </a:r>
          </a:p>
        </p:txBody>
      </p:sp>
      <p:sp>
        <p:nvSpPr>
          <p:cNvPr id="11" name="Rectangle 10"/>
          <p:cNvSpPr/>
          <p:nvPr/>
        </p:nvSpPr>
        <p:spPr>
          <a:xfrm>
            <a:off x="7511796" y="1188720"/>
            <a:ext cx="1403604" cy="438912"/>
          </a:xfrm>
          <a:prstGeom prst="rect">
            <a:avLst/>
          </a:prstGeom>
          <a:solidFill>
            <a:srgbClr val="1F497D"/>
          </a:solidFill>
          <a:ln>
            <a:noFill/>
          </a:ln>
        </p:spPr>
        <p:txBody>
          <a:bodyPr rtlCol="0" anchor="ctr" wrap="square" lIns="36576" rIns="36576" tIns="21945" bIns="21945"/>
          <a:lstStyle/>
          <a:p>
            <a:pPr algn="ctr">
              <a:spcAft>
                <a:spcPts val="0"/>
              </a:spcAft>
            </a:pPr>
            <a:r>
              <a:rPr sz="950" b="1" i="0">
                <a:solidFill>
                  <a:srgbClr val="FFFFFF"/>
                </a:solidFill>
                <a:latin typeface="Arial"/>
              </a:rPr>
              <a:t>W4</a:t>
            </a:r>
          </a:p>
          <a:p>
            <a:pPr algn="ctr">
              <a:spcAft>
                <a:spcPts val="0"/>
              </a:spcAft>
            </a:pPr>
            <a:r>
              <a:rPr sz="850" b="0" i="0">
                <a:solidFill>
                  <a:srgbClr val="FFFFFF"/>
                </a:solidFill>
                <a:latin typeface="Arial"/>
              </a:rPr>
              <a:t>2 Nov</a:t>
            </a:r>
          </a:p>
        </p:txBody>
      </p:sp>
      <p:sp>
        <p:nvSpPr>
          <p:cNvPr id="12" name="Rectangle 11"/>
          <p:cNvSpPr/>
          <p:nvPr/>
        </p:nvSpPr>
        <p:spPr>
          <a:xfrm>
            <a:off x="8942832" y="1188720"/>
            <a:ext cx="1403604" cy="438912"/>
          </a:xfrm>
          <a:prstGeom prst="rect">
            <a:avLst/>
          </a:prstGeom>
          <a:solidFill>
            <a:srgbClr val="1F497D"/>
          </a:solidFill>
          <a:ln>
            <a:noFill/>
          </a:ln>
        </p:spPr>
        <p:txBody>
          <a:bodyPr rtlCol="0" anchor="ctr" wrap="square" lIns="36576" rIns="36576" tIns="21945" bIns="21945"/>
          <a:lstStyle/>
          <a:p>
            <a:pPr algn="ctr">
              <a:spcAft>
                <a:spcPts val="0"/>
              </a:spcAft>
            </a:pPr>
            <a:r>
              <a:rPr sz="950" b="1" i="0">
                <a:solidFill>
                  <a:srgbClr val="FFFFFF"/>
                </a:solidFill>
                <a:latin typeface="Arial"/>
              </a:rPr>
              <a:t>W5</a:t>
            </a:r>
          </a:p>
          <a:p>
            <a:pPr algn="ctr">
              <a:spcAft>
                <a:spcPts val="0"/>
              </a:spcAft>
            </a:pPr>
            <a:r>
              <a:rPr sz="850" b="0" i="0">
                <a:solidFill>
                  <a:srgbClr val="FFFFFF"/>
                </a:solidFill>
                <a:latin typeface="Arial"/>
              </a:rPr>
              <a:t>9 Nov</a:t>
            </a:r>
          </a:p>
        </p:txBody>
      </p:sp>
      <p:sp>
        <p:nvSpPr>
          <p:cNvPr id="13" name="Rectangle 12"/>
          <p:cNvSpPr/>
          <p:nvPr/>
        </p:nvSpPr>
        <p:spPr>
          <a:xfrm>
            <a:off x="10373868" y="1188720"/>
            <a:ext cx="1403604" cy="438912"/>
          </a:xfrm>
          <a:prstGeom prst="rect">
            <a:avLst/>
          </a:prstGeom>
          <a:solidFill>
            <a:srgbClr val="1F497D"/>
          </a:solidFill>
          <a:ln>
            <a:noFill/>
          </a:ln>
        </p:spPr>
        <p:txBody>
          <a:bodyPr rtlCol="0" anchor="ctr" wrap="square" lIns="36576" rIns="36576" tIns="21945" bIns="21945"/>
          <a:lstStyle/>
          <a:p>
            <a:pPr algn="ctr">
              <a:spcAft>
                <a:spcPts val="0"/>
              </a:spcAft>
            </a:pPr>
            <a:r>
              <a:rPr sz="950" b="1" i="0">
                <a:solidFill>
                  <a:srgbClr val="FFFFFF"/>
                </a:solidFill>
                <a:latin typeface="Arial"/>
              </a:rPr>
              <a:t>W6</a:t>
            </a:r>
          </a:p>
          <a:p>
            <a:pPr algn="ctr">
              <a:spcAft>
                <a:spcPts val="0"/>
              </a:spcAft>
            </a:pPr>
            <a:r>
              <a:rPr sz="850" b="0" i="0">
                <a:solidFill>
                  <a:srgbClr val="FFFFFF"/>
                </a:solidFill>
                <a:latin typeface="Arial"/>
              </a:rPr>
              <a:t>16 Nov</a:t>
            </a:r>
          </a:p>
        </p:txBody>
      </p:sp>
      <p:sp>
        <p:nvSpPr>
          <p:cNvPr id="14" name="Rectangle 13"/>
          <p:cNvSpPr/>
          <p:nvPr/>
        </p:nvSpPr>
        <p:spPr>
          <a:xfrm>
            <a:off x="384048" y="1188720"/>
            <a:ext cx="2788920" cy="438912"/>
          </a:xfrm>
          <a:prstGeom prst="rect">
            <a:avLst/>
          </a:prstGeom>
          <a:solidFill>
            <a:srgbClr val="1F497D"/>
          </a:solidFill>
          <a:ln>
            <a:noFill/>
          </a:ln>
        </p:spPr>
        <p:txBody>
          <a:bodyPr rtlCol="0" anchor="ctr" wrap="square" lIns="36576" rIns="36576" tIns="21945" bIns="21945"/>
          <a:lstStyle/>
          <a:p>
            <a:pPr algn="l">
              <a:spcAft>
                <a:spcPts val="400"/>
              </a:spcAft>
            </a:pPr>
            <a:r>
              <a:rPr sz="1000" b="1" i="0">
                <a:solidFill>
                  <a:srgbClr val="FFFFFF"/>
                </a:solidFill>
                <a:latin typeface="Arial"/>
              </a:rPr>
              <a:t>Workstream</a:t>
            </a:r>
          </a:p>
        </p:txBody>
      </p:sp>
      <p:sp>
        <p:nvSpPr>
          <p:cNvPr id="15" name="Rectangle 14"/>
          <p:cNvSpPr/>
          <p:nvPr/>
        </p:nvSpPr>
        <p:spPr>
          <a:xfrm>
            <a:off x="384048" y="1700784"/>
            <a:ext cx="11420856" cy="347472"/>
          </a:xfrm>
          <a:prstGeom prst="rect">
            <a:avLst/>
          </a:prstGeom>
          <a:solidFill>
            <a:srgbClr val="F2F2F2"/>
          </a:solidFill>
          <a:ln>
            <a:noFill/>
          </a:ln>
        </p:spPr>
        <p:txBody>
          <a:bodyPr rtlCol="0" anchor="ctr"/>
          <a:lstStyle/>
          <a:p>
            <a:pPr algn="ctr"/>
          </a:p>
        </p:txBody>
      </p:sp>
      <p:sp>
        <p:nvSpPr>
          <p:cNvPr id="16" name="TextBox 15"/>
          <p:cNvSpPr txBox="1"/>
          <p:nvPr/>
        </p:nvSpPr>
        <p:spPr>
          <a:xfrm>
            <a:off x="457200" y="1700784"/>
            <a:ext cx="2743200" cy="347472"/>
          </a:xfrm>
          <a:prstGeom prst="rect">
            <a:avLst/>
          </a:prstGeom>
          <a:noFill/>
        </p:spPr>
        <p:txBody>
          <a:bodyPr wrap="square" anchor="ctr" lIns="36576" rIns="36576" tIns="21945" bIns="21945">
            <a:spAutoFit/>
          </a:bodyPr>
          <a:lstStyle/>
          <a:p>
            <a:pPr algn="l">
              <a:spcAft>
                <a:spcPts val="0"/>
              </a:spcAft>
            </a:pPr>
            <a:r>
              <a:rPr sz="950" b="1" i="0">
                <a:solidFill>
                  <a:srgbClr val="1F497D"/>
                </a:solidFill>
                <a:latin typeface="Arial"/>
              </a:rPr>
              <a:t>Alignment and governance</a:t>
            </a:r>
          </a:p>
        </p:txBody>
      </p:sp>
      <p:sp>
        <p:nvSpPr>
          <p:cNvPr id="17" name="Rectangle 16"/>
          <p:cNvSpPr/>
          <p:nvPr/>
        </p:nvSpPr>
        <p:spPr>
          <a:xfrm>
            <a:off x="3255264" y="1755648"/>
            <a:ext cx="1357884" cy="237744"/>
          </a:xfrm>
          <a:prstGeom prst="rect">
            <a:avLst/>
          </a:prstGeom>
          <a:solidFill>
            <a:srgbClr val="1F497D"/>
          </a:solidFill>
          <a:ln>
            <a:noFill/>
          </a:ln>
        </p:spPr>
        <p:txBody>
          <a:bodyPr rtlCol="0" anchor="ctr" wrap="square" lIns="54864" rIns="54864" tIns="32918" bIns="32918"/>
          <a:lstStyle/>
          <a:p>
            <a:pPr algn="l">
              <a:spcAft>
                <a:spcPts val="0"/>
              </a:spcAft>
            </a:pPr>
            <a:r>
              <a:rPr sz="850" b="1" i="0">
                <a:solidFill>
                  <a:srgbClr val="FFFFFF"/>
                </a:solidFill>
                <a:latin typeface="Arial"/>
              </a:rPr>
              <a:t>This session</a:t>
            </a:r>
          </a:p>
        </p:txBody>
      </p:sp>
      <p:sp>
        <p:nvSpPr>
          <p:cNvPr id="18" name="Diamond 17"/>
          <p:cNvSpPr/>
          <p:nvPr/>
        </p:nvSpPr>
        <p:spPr>
          <a:xfrm>
            <a:off x="6857085" y="1801368"/>
            <a:ext cx="164592" cy="164592"/>
          </a:xfrm>
          <a:prstGeom prst="diamond">
            <a:avLst/>
          </a:prstGeom>
          <a:solidFill>
            <a:srgbClr val="F2A900"/>
          </a:solidFill>
          <a:ln>
            <a:noFill/>
          </a:ln>
        </p:spPr>
        <p:txBody>
          <a:bodyPr rtlCol="0" anchor="ctr"/>
          <a:lstStyle/>
          <a:p>
            <a:pPr algn="ctr"/>
          </a:p>
        </p:txBody>
      </p:sp>
      <p:sp>
        <p:nvSpPr>
          <p:cNvPr id="19" name="Rectangle 18"/>
          <p:cNvSpPr/>
          <p:nvPr/>
        </p:nvSpPr>
        <p:spPr>
          <a:xfrm>
            <a:off x="384048" y="2084832"/>
            <a:ext cx="11420856" cy="347472"/>
          </a:xfrm>
          <a:prstGeom prst="rect">
            <a:avLst/>
          </a:prstGeom>
          <a:solidFill>
            <a:srgbClr val="F2F2F2"/>
          </a:solidFill>
          <a:ln>
            <a:noFill/>
          </a:ln>
        </p:spPr>
        <p:txBody>
          <a:bodyPr rtlCol="0" anchor="ctr"/>
          <a:lstStyle/>
          <a:p>
            <a:pPr algn="ctr"/>
          </a:p>
        </p:txBody>
      </p:sp>
      <p:sp>
        <p:nvSpPr>
          <p:cNvPr id="20" name="TextBox 19"/>
          <p:cNvSpPr txBox="1"/>
          <p:nvPr/>
        </p:nvSpPr>
        <p:spPr>
          <a:xfrm>
            <a:off x="457200" y="2084832"/>
            <a:ext cx="2743200" cy="347472"/>
          </a:xfrm>
          <a:prstGeom prst="rect">
            <a:avLst/>
          </a:prstGeom>
          <a:noFill/>
        </p:spPr>
        <p:txBody>
          <a:bodyPr wrap="square" anchor="ctr" lIns="36576" rIns="36576" tIns="21945" bIns="21945">
            <a:spAutoFit/>
          </a:bodyPr>
          <a:lstStyle/>
          <a:p>
            <a:pPr algn="l">
              <a:spcAft>
                <a:spcPts val="0"/>
              </a:spcAft>
            </a:pPr>
            <a:r>
              <a:rPr sz="950" b="1" i="0">
                <a:solidFill>
                  <a:srgbClr val="1F497D"/>
                </a:solidFill>
                <a:latin typeface="Arial"/>
              </a:rPr>
              <a:t>Target and baseline reconciliation</a:t>
            </a:r>
          </a:p>
        </p:txBody>
      </p:sp>
      <p:sp>
        <p:nvSpPr>
          <p:cNvPr id="21" name="Rectangle 20"/>
          <p:cNvSpPr/>
          <p:nvPr/>
        </p:nvSpPr>
        <p:spPr>
          <a:xfrm>
            <a:off x="3255264" y="2139696"/>
            <a:ext cx="2788920" cy="237744"/>
          </a:xfrm>
          <a:prstGeom prst="rect">
            <a:avLst/>
          </a:prstGeom>
          <a:solidFill>
            <a:srgbClr val="00AEEF"/>
          </a:solidFill>
          <a:ln>
            <a:noFill/>
          </a:ln>
        </p:spPr>
        <p:txBody>
          <a:bodyPr rtlCol="0" anchor="ctr" wrap="square" lIns="54864" rIns="54864" tIns="32918" bIns="32918"/>
          <a:lstStyle/>
          <a:p>
            <a:pPr algn="l">
              <a:spcAft>
                <a:spcPts val="0"/>
              </a:spcAft>
            </a:pPr>
            <a:r>
              <a:rPr sz="850" b="1" i="0">
                <a:solidFill>
                  <a:srgbClr val="FFFFFF"/>
                </a:solidFill>
                <a:latin typeface="Arial"/>
              </a:rPr>
              <a:t>Metric, base year, source</a:t>
            </a:r>
          </a:p>
        </p:txBody>
      </p:sp>
      <p:sp>
        <p:nvSpPr>
          <p:cNvPr id="22" name="Diamond 21"/>
          <p:cNvSpPr/>
          <p:nvPr/>
        </p:nvSpPr>
        <p:spPr>
          <a:xfrm>
            <a:off x="5855360" y="2185416"/>
            <a:ext cx="164592" cy="164592"/>
          </a:xfrm>
          <a:prstGeom prst="diamond">
            <a:avLst/>
          </a:prstGeom>
          <a:solidFill>
            <a:srgbClr val="F2A900"/>
          </a:solidFill>
          <a:ln>
            <a:noFill/>
          </a:ln>
        </p:spPr>
        <p:txBody>
          <a:bodyPr rtlCol="0" anchor="ctr"/>
          <a:lstStyle/>
          <a:p>
            <a:pPr algn="ctr"/>
          </a:p>
        </p:txBody>
      </p:sp>
      <p:sp>
        <p:nvSpPr>
          <p:cNvPr id="23" name="Rectangle 22"/>
          <p:cNvSpPr/>
          <p:nvPr/>
        </p:nvSpPr>
        <p:spPr>
          <a:xfrm>
            <a:off x="384048" y="2468880"/>
            <a:ext cx="11420856" cy="347472"/>
          </a:xfrm>
          <a:prstGeom prst="rect">
            <a:avLst/>
          </a:prstGeom>
          <a:solidFill>
            <a:srgbClr val="F2F2F2"/>
          </a:solidFill>
          <a:ln>
            <a:noFill/>
          </a:ln>
        </p:spPr>
        <p:txBody>
          <a:bodyPr rtlCol="0" anchor="ctr"/>
          <a:lstStyle/>
          <a:p>
            <a:pPr algn="ctr"/>
          </a:p>
        </p:txBody>
      </p:sp>
      <p:sp>
        <p:nvSpPr>
          <p:cNvPr id="24" name="TextBox 23"/>
          <p:cNvSpPr txBox="1"/>
          <p:nvPr/>
        </p:nvSpPr>
        <p:spPr>
          <a:xfrm>
            <a:off x="457200" y="2468880"/>
            <a:ext cx="2743200" cy="347472"/>
          </a:xfrm>
          <a:prstGeom prst="rect">
            <a:avLst/>
          </a:prstGeom>
          <a:noFill/>
        </p:spPr>
        <p:txBody>
          <a:bodyPr wrap="square" anchor="ctr" lIns="36576" rIns="36576" tIns="21945" bIns="21945">
            <a:spAutoFit/>
          </a:bodyPr>
          <a:lstStyle/>
          <a:p>
            <a:pPr algn="l">
              <a:spcAft>
                <a:spcPts val="0"/>
              </a:spcAft>
            </a:pPr>
            <a:r>
              <a:rPr sz="950" b="1" i="0">
                <a:solidFill>
                  <a:srgbClr val="1F497D"/>
                </a:solidFill>
                <a:latin typeface="Arial"/>
              </a:rPr>
              <a:t>Marketing and brand (A to C)</a:t>
            </a:r>
          </a:p>
        </p:txBody>
      </p:sp>
      <p:sp>
        <p:nvSpPr>
          <p:cNvPr id="25" name="Rectangle 24"/>
          <p:cNvSpPr/>
          <p:nvPr/>
        </p:nvSpPr>
        <p:spPr>
          <a:xfrm>
            <a:off x="3255264" y="2523744"/>
            <a:ext cx="4219956" cy="237744"/>
          </a:xfrm>
          <a:prstGeom prst="rect">
            <a:avLst/>
          </a:prstGeom>
          <a:solidFill>
            <a:srgbClr val="00AEEF"/>
          </a:solidFill>
          <a:ln>
            <a:noFill/>
          </a:ln>
        </p:spPr>
        <p:txBody>
          <a:bodyPr rtlCol="0" anchor="ctr" wrap="square" lIns="54864" rIns="54864" tIns="32918" bIns="32918"/>
          <a:lstStyle/>
          <a:p>
            <a:pPr algn="l">
              <a:spcAft>
                <a:spcPts val="0"/>
              </a:spcAft>
            </a:pPr>
            <a:r>
              <a:rPr sz="850" b="1" i="0">
                <a:solidFill>
                  <a:srgbClr val="FFFFFF"/>
                </a:solidFill>
                <a:latin typeface="Arial"/>
              </a:rPr>
              <a:t>Audit and peer benchmark</a:t>
            </a:r>
          </a:p>
        </p:txBody>
      </p:sp>
      <p:sp>
        <p:nvSpPr>
          <p:cNvPr id="26" name="Rectangle 25"/>
          <p:cNvSpPr/>
          <p:nvPr/>
        </p:nvSpPr>
        <p:spPr>
          <a:xfrm>
            <a:off x="7548371" y="2523744"/>
            <a:ext cx="1357884" cy="237744"/>
          </a:xfrm>
          <a:prstGeom prst="rect">
            <a:avLst/>
          </a:prstGeom>
          <a:solidFill>
            <a:srgbClr val="4F81BD"/>
          </a:solidFill>
          <a:ln>
            <a:noFill/>
          </a:ln>
        </p:spPr>
        <p:txBody>
          <a:bodyPr rtlCol="0" anchor="ctr" wrap="square" lIns="54864" rIns="54864" tIns="32918" bIns="32918"/>
          <a:lstStyle/>
          <a:p>
            <a:pPr algn="l">
              <a:spcAft>
                <a:spcPts val="0"/>
              </a:spcAft>
            </a:pPr>
            <a:r>
              <a:rPr sz="850" b="1" i="0">
                <a:solidFill>
                  <a:srgbClr val="FFFFFF"/>
                </a:solidFill>
                <a:latin typeface="Arial"/>
              </a:rPr>
              <a:t>Workshop</a:t>
            </a:r>
          </a:p>
        </p:txBody>
      </p:sp>
      <p:sp>
        <p:nvSpPr>
          <p:cNvPr id="27" name="Rectangle 26"/>
          <p:cNvSpPr/>
          <p:nvPr/>
        </p:nvSpPr>
        <p:spPr>
          <a:xfrm>
            <a:off x="384048" y="2852928"/>
            <a:ext cx="11420856" cy="347472"/>
          </a:xfrm>
          <a:prstGeom prst="rect">
            <a:avLst/>
          </a:prstGeom>
          <a:solidFill>
            <a:srgbClr val="F2F2F2"/>
          </a:solidFill>
          <a:ln>
            <a:noFill/>
          </a:ln>
        </p:spPr>
        <p:txBody>
          <a:bodyPr rtlCol="0" anchor="ctr"/>
          <a:lstStyle/>
          <a:p>
            <a:pPr algn="ctr"/>
          </a:p>
        </p:txBody>
      </p:sp>
      <p:sp>
        <p:nvSpPr>
          <p:cNvPr id="28" name="TextBox 27"/>
          <p:cNvSpPr txBox="1"/>
          <p:nvPr/>
        </p:nvSpPr>
        <p:spPr>
          <a:xfrm>
            <a:off x="457200" y="2852928"/>
            <a:ext cx="2743200" cy="347472"/>
          </a:xfrm>
          <a:prstGeom prst="rect">
            <a:avLst/>
          </a:prstGeom>
          <a:noFill/>
        </p:spPr>
        <p:txBody>
          <a:bodyPr wrap="square" anchor="ctr" lIns="36576" rIns="36576" tIns="21945" bIns="21945">
            <a:spAutoFit/>
          </a:bodyPr>
          <a:lstStyle/>
          <a:p>
            <a:pPr algn="l">
              <a:spcAft>
                <a:spcPts val="0"/>
              </a:spcAft>
            </a:pPr>
            <a:r>
              <a:rPr sz="950" b="1" i="0">
                <a:solidFill>
                  <a:srgbClr val="1F497D"/>
                </a:solidFill>
                <a:latin typeface="Arial"/>
              </a:rPr>
              <a:t>Spend, jobs and investment ROI</a:t>
            </a:r>
          </a:p>
        </p:txBody>
      </p:sp>
      <p:sp>
        <p:nvSpPr>
          <p:cNvPr id="29" name="Rectangle 28"/>
          <p:cNvSpPr/>
          <p:nvPr/>
        </p:nvSpPr>
        <p:spPr>
          <a:xfrm>
            <a:off x="4686300" y="2907792"/>
            <a:ext cx="4219956" cy="237744"/>
          </a:xfrm>
          <a:prstGeom prst="rect">
            <a:avLst/>
          </a:prstGeom>
          <a:solidFill>
            <a:srgbClr val="00AEEF"/>
          </a:solidFill>
          <a:ln>
            <a:noFill/>
          </a:ln>
        </p:spPr>
        <p:txBody>
          <a:bodyPr rtlCol="0" anchor="ctr" wrap="square" lIns="54864" rIns="54864" tIns="32918" bIns="32918"/>
          <a:lstStyle/>
          <a:p>
            <a:pPr algn="l">
              <a:spcAft>
                <a:spcPts val="0"/>
              </a:spcAft>
            </a:pPr>
            <a:r>
              <a:rPr sz="850" b="1" i="0">
                <a:solidFill>
                  <a:srgbClr val="FFFFFF"/>
                </a:solidFill>
                <a:latin typeface="Arial"/>
              </a:rPr>
              <a:t>Model extension; corridor ROI</a:t>
            </a:r>
          </a:p>
        </p:txBody>
      </p:sp>
      <p:sp>
        <p:nvSpPr>
          <p:cNvPr id="30" name="Rectangle 29"/>
          <p:cNvSpPr/>
          <p:nvPr/>
        </p:nvSpPr>
        <p:spPr>
          <a:xfrm>
            <a:off x="384048" y="3236976"/>
            <a:ext cx="11420856" cy="347472"/>
          </a:xfrm>
          <a:prstGeom prst="rect">
            <a:avLst/>
          </a:prstGeom>
          <a:solidFill>
            <a:srgbClr val="F2F2F2"/>
          </a:solidFill>
          <a:ln>
            <a:noFill/>
          </a:ln>
        </p:spPr>
        <p:txBody>
          <a:bodyPr rtlCol="0" anchor="ctr"/>
          <a:lstStyle/>
          <a:p>
            <a:pPr algn="ctr"/>
          </a:p>
        </p:txBody>
      </p:sp>
      <p:sp>
        <p:nvSpPr>
          <p:cNvPr id="31" name="TextBox 30"/>
          <p:cNvSpPr txBox="1"/>
          <p:nvPr/>
        </p:nvSpPr>
        <p:spPr>
          <a:xfrm>
            <a:off x="457200" y="3236976"/>
            <a:ext cx="2743200" cy="347472"/>
          </a:xfrm>
          <a:prstGeom prst="rect">
            <a:avLst/>
          </a:prstGeom>
          <a:noFill/>
        </p:spPr>
        <p:txBody>
          <a:bodyPr wrap="square" anchor="ctr" lIns="36576" rIns="36576" tIns="21945" bIns="21945">
            <a:spAutoFit/>
          </a:bodyPr>
          <a:lstStyle/>
          <a:p>
            <a:pPr algn="l">
              <a:spcAft>
                <a:spcPts val="0"/>
              </a:spcAft>
            </a:pPr>
            <a:r>
              <a:rPr sz="950" b="1" i="0">
                <a:solidFill>
                  <a:srgbClr val="1F497D"/>
                </a:solidFill>
                <a:latin typeface="Arial"/>
              </a:rPr>
              <a:t>M&amp;E toolkit</a:t>
            </a:r>
          </a:p>
        </p:txBody>
      </p:sp>
      <p:sp>
        <p:nvSpPr>
          <p:cNvPr id="32" name="Rectangle 31"/>
          <p:cNvSpPr/>
          <p:nvPr/>
        </p:nvSpPr>
        <p:spPr>
          <a:xfrm>
            <a:off x="4686300" y="3291840"/>
            <a:ext cx="4219956" cy="237744"/>
          </a:xfrm>
          <a:prstGeom prst="rect">
            <a:avLst/>
          </a:prstGeom>
          <a:solidFill>
            <a:srgbClr val="00AEEF"/>
          </a:solidFill>
          <a:ln>
            <a:noFill/>
          </a:ln>
        </p:spPr>
        <p:txBody>
          <a:bodyPr rtlCol="0" anchor="ctr" wrap="square" lIns="54864" rIns="54864" tIns="32918" bIns="32918"/>
          <a:lstStyle/>
          <a:p>
            <a:pPr algn="l">
              <a:spcAft>
                <a:spcPts val="0"/>
              </a:spcAft>
            </a:pPr>
            <a:r>
              <a:rPr sz="850" b="1" i="0">
                <a:solidFill>
                  <a:srgbClr val="FFFFFF"/>
                </a:solidFill>
                <a:latin typeface="Arial"/>
              </a:rPr>
              <a:t>Indicators, baselines, templates</a:t>
            </a:r>
          </a:p>
        </p:txBody>
      </p:sp>
      <p:sp>
        <p:nvSpPr>
          <p:cNvPr id="33" name="Diamond 32"/>
          <p:cNvSpPr/>
          <p:nvPr/>
        </p:nvSpPr>
        <p:spPr>
          <a:xfrm>
            <a:off x="8717432" y="3337560"/>
            <a:ext cx="164592" cy="164592"/>
          </a:xfrm>
          <a:prstGeom prst="diamond">
            <a:avLst/>
          </a:prstGeom>
          <a:solidFill>
            <a:srgbClr val="F2A900"/>
          </a:solidFill>
          <a:ln>
            <a:noFill/>
          </a:ln>
        </p:spPr>
        <p:txBody>
          <a:bodyPr rtlCol="0" anchor="ctr"/>
          <a:lstStyle/>
          <a:p>
            <a:pPr algn="ctr"/>
          </a:p>
        </p:txBody>
      </p:sp>
      <p:sp>
        <p:nvSpPr>
          <p:cNvPr id="34" name="Rectangle 33"/>
          <p:cNvSpPr/>
          <p:nvPr/>
        </p:nvSpPr>
        <p:spPr>
          <a:xfrm>
            <a:off x="384048" y="3621024"/>
            <a:ext cx="11420856" cy="347472"/>
          </a:xfrm>
          <a:prstGeom prst="rect">
            <a:avLst/>
          </a:prstGeom>
          <a:solidFill>
            <a:srgbClr val="F2F2F2"/>
          </a:solidFill>
          <a:ln>
            <a:noFill/>
          </a:ln>
        </p:spPr>
        <p:txBody>
          <a:bodyPr rtlCol="0" anchor="ctr"/>
          <a:lstStyle/>
          <a:p>
            <a:pPr algn="ctr"/>
          </a:p>
        </p:txBody>
      </p:sp>
      <p:sp>
        <p:nvSpPr>
          <p:cNvPr id="35" name="TextBox 34"/>
          <p:cNvSpPr txBox="1"/>
          <p:nvPr/>
        </p:nvSpPr>
        <p:spPr>
          <a:xfrm>
            <a:off x="457200" y="3621024"/>
            <a:ext cx="2743200" cy="347472"/>
          </a:xfrm>
          <a:prstGeom prst="rect">
            <a:avLst/>
          </a:prstGeom>
          <a:noFill/>
        </p:spPr>
        <p:txBody>
          <a:bodyPr wrap="square" anchor="ctr" lIns="36576" rIns="36576" tIns="21945" bIns="21945">
            <a:spAutoFit/>
          </a:bodyPr>
          <a:lstStyle/>
          <a:p>
            <a:pPr algn="l">
              <a:spcAft>
                <a:spcPts val="0"/>
              </a:spcAft>
            </a:pPr>
            <a:r>
              <a:rPr sz="950" b="1" i="0">
                <a:solidFill>
                  <a:srgbClr val="1F497D"/>
                </a:solidFill>
                <a:latin typeface="Arial"/>
              </a:rPr>
              <a:t>Stakeholder validation</a:t>
            </a:r>
          </a:p>
        </p:txBody>
      </p:sp>
      <p:sp>
        <p:nvSpPr>
          <p:cNvPr id="36" name="Rectangle 35"/>
          <p:cNvSpPr/>
          <p:nvPr/>
        </p:nvSpPr>
        <p:spPr>
          <a:xfrm>
            <a:off x="4686300" y="3675887"/>
            <a:ext cx="4219956" cy="237744"/>
          </a:xfrm>
          <a:prstGeom prst="rect">
            <a:avLst/>
          </a:prstGeom>
          <a:solidFill>
            <a:srgbClr val="4F81BD"/>
          </a:solidFill>
          <a:ln>
            <a:noFill/>
          </a:ln>
        </p:spPr>
        <p:txBody>
          <a:bodyPr rtlCol="0" anchor="ctr" wrap="square" lIns="54864" rIns="54864" tIns="32918" bIns="32918"/>
          <a:lstStyle/>
          <a:p>
            <a:pPr algn="l">
              <a:spcAft>
                <a:spcPts val="0"/>
              </a:spcAft>
            </a:pPr>
            <a:r>
              <a:rPr sz="850" b="1" i="0">
                <a:solidFill>
                  <a:srgbClr val="FFFFFF"/>
                </a:solidFill>
                <a:latin typeface="Arial"/>
              </a:rPr>
              <a:t>Airlines, trade, SA Tourism, City, DHA</a:t>
            </a:r>
          </a:p>
        </p:txBody>
      </p:sp>
      <p:sp>
        <p:nvSpPr>
          <p:cNvPr id="37" name="Rectangle 36"/>
          <p:cNvSpPr/>
          <p:nvPr/>
        </p:nvSpPr>
        <p:spPr>
          <a:xfrm>
            <a:off x="384048" y="4005072"/>
            <a:ext cx="11420856" cy="347472"/>
          </a:xfrm>
          <a:prstGeom prst="rect">
            <a:avLst/>
          </a:prstGeom>
          <a:solidFill>
            <a:srgbClr val="F2F2F2"/>
          </a:solidFill>
          <a:ln>
            <a:noFill/>
          </a:ln>
        </p:spPr>
        <p:txBody>
          <a:bodyPr rtlCol="0" anchor="ctr"/>
          <a:lstStyle/>
          <a:p>
            <a:pPr algn="ctr"/>
          </a:p>
        </p:txBody>
      </p:sp>
      <p:sp>
        <p:nvSpPr>
          <p:cNvPr id="38" name="TextBox 37"/>
          <p:cNvSpPr txBox="1"/>
          <p:nvPr/>
        </p:nvSpPr>
        <p:spPr>
          <a:xfrm>
            <a:off x="457200" y="4005072"/>
            <a:ext cx="2743200" cy="347472"/>
          </a:xfrm>
          <a:prstGeom prst="rect">
            <a:avLst/>
          </a:prstGeom>
          <a:noFill/>
        </p:spPr>
        <p:txBody>
          <a:bodyPr wrap="square" anchor="ctr" lIns="36576" rIns="36576" tIns="21945" bIns="21945">
            <a:spAutoFit/>
          </a:bodyPr>
          <a:lstStyle/>
          <a:p>
            <a:pPr algn="l">
              <a:spcAft>
                <a:spcPts val="0"/>
              </a:spcAft>
            </a:pPr>
            <a:r>
              <a:rPr sz="950" b="1" i="0">
                <a:solidFill>
                  <a:srgbClr val="1F497D"/>
                </a:solidFill>
                <a:latin typeface="Arial"/>
              </a:rPr>
              <a:t>Final recommendations and roadmap</a:t>
            </a:r>
          </a:p>
        </p:txBody>
      </p:sp>
      <p:sp>
        <p:nvSpPr>
          <p:cNvPr id="39" name="Rectangle 38"/>
          <p:cNvSpPr/>
          <p:nvPr/>
        </p:nvSpPr>
        <p:spPr>
          <a:xfrm>
            <a:off x="6117336" y="4059935"/>
            <a:ext cx="4219956" cy="237744"/>
          </a:xfrm>
          <a:prstGeom prst="rect">
            <a:avLst/>
          </a:prstGeom>
          <a:solidFill>
            <a:srgbClr val="1F497D"/>
          </a:solidFill>
          <a:ln>
            <a:noFill/>
          </a:ln>
        </p:spPr>
        <p:txBody>
          <a:bodyPr rtlCol="0" anchor="ctr" wrap="square" lIns="54864" rIns="54864" tIns="32918" bIns="32918"/>
          <a:lstStyle/>
          <a:p>
            <a:pPr algn="l">
              <a:spcAft>
                <a:spcPts val="0"/>
              </a:spcAft>
            </a:pPr>
            <a:r>
              <a:rPr sz="850" b="1" i="0">
                <a:solidFill>
                  <a:srgbClr val="FFFFFF"/>
                </a:solidFill>
                <a:latin typeface="Arial"/>
              </a:rPr>
              <a:t>Draft, test, refine with owners</a:t>
            </a:r>
          </a:p>
        </p:txBody>
      </p:sp>
      <p:sp>
        <p:nvSpPr>
          <p:cNvPr id="40" name="Rectangle 39"/>
          <p:cNvSpPr/>
          <p:nvPr/>
        </p:nvSpPr>
        <p:spPr>
          <a:xfrm>
            <a:off x="384048" y="4389120"/>
            <a:ext cx="11420856" cy="347472"/>
          </a:xfrm>
          <a:prstGeom prst="rect">
            <a:avLst/>
          </a:prstGeom>
          <a:solidFill>
            <a:srgbClr val="F2F2F2"/>
          </a:solidFill>
          <a:ln>
            <a:noFill/>
          </a:ln>
        </p:spPr>
        <p:txBody>
          <a:bodyPr rtlCol="0" anchor="ctr"/>
          <a:lstStyle/>
          <a:p>
            <a:pPr algn="ctr"/>
          </a:p>
        </p:txBody>
      </p:sp>
      <p:sp>
        <p:nvSpPr>
          <p:cNvPr id="41" name="TextBox 40"/>
          <p:cNvSpPr txBox="1"/>
          <p:nvPr/>
        </p:nvSpPr>
        <p:spPr>
          <a:xfrm>
            <a:off x="457200" y="4389120"/>
            <a:ext cx="2743200" cy="347472"/>
          </a:xfrm>
          <a:prstGeom prst="rect">
            <a:avLst/>
          </a:prstGeom>
          <a:noFill/>
        </p:spPr>
        <p:txBody>
          <a:bodyPr wrap="square" anchor="ctr" lIns="36576" rIns="36576" tIns="21945" bIns="21945">
            <a:spAutoFit/>
          </a:bodyPr>
          <a:lstStyle/>
          <a:p>
            <a:pPr algn="l">
              <a:spcAft>
                <a:spcPts val="0"/>
              </a:spcAft>
            </a:pPr>
            <a:r>
              <a:rPr sz="950" b="1" i="0">
                <a:solidFill>
                  <a:srgbClr val="1F497D"/>
                </a:solidFill>
                <a:latin typeface="Arial"/>
              </a:rPr>
              <a:t>Final report and approvals</a:t>
            </a:r>
          </a:p>
        </p:txBody>
      </p:sp>
      <p:sp>
        <p:nvSpPr>
          <p:cNvPr id="42" name="Rectangle 41"/>
          <p:cNvSpPr/>
          <p:nvPr/>
        </p:nvSpPr>
        <p:spPr>
          <a:xfrm>
            <a:off x="7548371" y="4443983"/>
            <a:ext cx="2788920" cy="237744"/>
          </a:xfrm>
          <a:prstGeom prst="rect">
            <a:avLst/>
          </a:prstGeom>
          <a:solidFill>
            <a:srgbClr val="1F497D"/>
          </a:solidFill>
          <a:ln>
            <a:noFill/>
          </a:ln>
        </p:spPr>
        <p:txBody>
          <a:bodyPr rtlCol="0" anchor="ctr" wrap="square" lIns="54864" rIns="54864" tIns="32918" bIns="32918"/>
          <a:lstStyle/>
          <a:p>
            <a:pPr algn="l">
              <a:spcAft>
                <a:spcPts val="0"/>
              </a:spcAft>
            </a:pPr>
            <a:r>
              <a:rPr sz="850" b="1" i="0">
                <a:solidFill>
                  <a:srgbClr val="FFFFFF"/>
                </a:solidFill>
                <a:latin typeface="Arial"/>
              </a:rPr>
              <a:t>Draft report</a:t>
            </a:r>
          </a:p>
        </p:txBody>
      </p:sp>
      <p:sp>
        <p:nvSpPr>
          <p:cNvPr id="43" name="Rectangle 42"/>
          <p:cNvSpPr/>
          <p:nvPr/>
        </p:nvSpPr>
        <p:spPr>
          <a:xfrm>
            <a:off x="10410444" y="4443983"/>
            <a:ext cx="1357884" cy="237744"/>
          </a:xfrm>
          <a:prstGeom prst="rect">
            <a:avLst/>
          </a:prstGeom>
          <a:solidFill>
            <a:srgbClr val="1F497D"/>
          </a:solidFill>
          <a:ln>
            <a:noFill/>
          </a:ln>
        </p:spPr>
        <p:txBody>
          <a:bodyPr rtlCol="0" anchor="ctr" wrap="square" lIns="54864" rIns="54864" tIns="32918" bIns="32918"/>
          <a:lstStyle/>
          <a:p>
            <a:pPr algn="l">
              <a:spcAft>
                <a:spcPts val="0"/>
              </a:spcAft>
            </a:pPr>
            <a:r>
              <a:rPr sz="850" b="1" i="0">
                <a:solidFill>
                  <a:srgbClr val="FFFFFF"/>
                </a:solidFill>
                <a:latin typeface="Arial"/>
              </a:rPr>
              <a:t>Exco, Board</a:t>
            </a:r>
          </a:p>
        </p:txBody>
      </p:sp>
      <p:sp>
        <p:nvSpPr>
          <p:cNvPr id="44" name="Diamond 43"/>
          <p:cNvSpPr/>
          <p:nvPr/>
        </p:nvSpPr>
        <p:spPr>
          <a:xfrm>
            <a:off x="10148468" y="4489704"/>
            <a:ext cx="164592" cy="164592"/>
          </a:xfrm>
          <a:prstGeom prst="diamond">
            <a:avLst/>
          </a:prstGeom>
          <a:solidFill>
            <a:srgbClr val="F2A900"/>
          </a:solidFill>
          <a:ln>
            <a:noFill/>
          </a:ln>
        </p:spPr>
        <p:txBody>
          <a:bodyPr rtlCol="0" anchor="ctr"/>
          <a:lstStyle/>
          <a:p>
            <a:pPr algn="ctr"/>
          </a:p>
        </p:txBody>
      </p:sp>
      <p:sp>
        <p:nvSpPr>
          <p:cNvPr id="45" name="Diamond 44"/>
          <p:cNvSpPr/>
          <p:nvPr/>
        </p:nvSpPr>
        <p:spPr>
          <a:xfrm>
            <a:off x="11579504" y="4489704"/>
            <a:ext cx="164592" cy="164592"/>
          </a:xfrm>
          <a:prstGeom prst="diamond">
            <a:avLst/>
          </a:prstGeom>
          <a:solidFill>
            <a:srgbClr val="F2A900"/>
          </a:solidFill>
          <a:ln>
            <a:noFill/>
          </a:ln>
        </p:spPr>
        <p:txBody>
          <a:bodyPr rtlCol="0" anchor="ctr"/>
          <a:lstStyle/>
          <a:p>
            <a:pPr algn="ctr"/>
          </a:p>
        </p:txBody>
      </p:sp>
      <p:sp>
        <p:nvSpPr>
          <p:cNvPr id="46" name="Rectangle 45"/>
          <p:cNvSpPr/>
          <p:nvPr/>
        </p:nvSpPr>
        <p:spPr>
          <a:xfrm>
            <a:off x="384048" y="4773168"/>
            <a:ext cx="11420856" cy="347472"/>
          </a:xfrm>
          <a:prstGeom prst="rect">
            <a:avLst/>
          </a:prstGeom>
          <a:solidFill>
            <a:srgbClr val="F2F2F2"/>
          </a:solidFill>
          <a:ln>
            <a:noFill/>
          </a:ln>
        </p:spPr>
        <p:txBody>
          <a:bodyPr rtlCol="0" anchor="ctr"/>
          <a:lstStyle/>
          <a:p>
            <a:pPr algn="ctr"/>
          </a:p>
        </p:txBody>
      </p:sp>
      <p:sp>
        <p:nvSpPr>
          <p:cNvPr id="47" name="TextBox 46"/>
          <p:cNvSpPr txBox="1"/>
          <p:nvPr/>
        </p:nvSpPr>
        <p:spPr>
          <a:xfrm>
            <a:off x="457200" y="4773168"/>
            <a:ext cx="2743200" cy="347472"/>
          </a:xfrm>
          <a:prstGeom prst="rect">
            <a:avLst/>
          </a:prstGeom>
          <a:noFill/>
        </p:spPr>
        <p:txBody>
          <a:bodyPr wrap="square" anchor="ctr" lIns="36576" rIns="36576" tIns="21945" bIns="21945">
            <a:spAutoFit/>
          </a:bodyPr>
          <a:lstStyle/>
          <a:p>
            <a:pPr algn="l">
              <a:spcAft>
                <a:spcPts val="0"/>
              </a:spcAft>
            </a:pPr>
            <a:r>
              <a:rPr sz="950" b="1" i="0">
                <a:solidFill>
                  <a:srgbClr val="1F497D"/>
                </a:solidFill>
                <a:latin typeface="Arial"/>
              </a:rPr>
              <a:t>Knowledge transfer and launch</a:t>
            </a:r>
          </a:p>
        </p:txBody>
      </p:sp>
      <p:sp>
        <p:nvSpPr>
          <p:cNvPr id="48" name="Rectangle 47"/>
          <p:cNvSpPr/>
          <p:nvPr/>
        </p:nvSpPr>
        <p:spPr>
          <a:xfrm>
            <a:off x="8979408" y="4828031"/>
            <a:ext cx="2788920" cy="237744"/>
          </a:xfrm>
          <a:prstGeom prst="rect">
            <a:avLst/>
          </a:prstGeom>
          <a:solidFill>
            <a:srgbClr val="7F7F7F"/>
          </a:solidFill>
          <a:ln>
            <a:noFill/>
          </a:ln>
        </p:spPr>
        <p:txBody>
          <a:bodyPr rtlCol="0" anchor="ctr" wrap="square" lIns="54864" rIns="54864" tIns="32918" bIns="32918"/>
          <a:lstStyle/>
          <a:p>
            <a:pPr algn="l">
              <a:spcAft>
                <a:spcPts val="0"/>
              </a:spcAft>
            </a:pPr>
            <a:r>
              <a:rPr sz="850" b="1" i="0">
                <a:solidFill>
                  <a:srgbClr val="FFFFFF"/>
                </a:solidFill>
                <a:latin typeface="Arial"/>
              </a:rPr>
              <a:t>Plan sessions; set launch date</a:t>
            </a:r>
          </a:p>
        </p:txBody>
      </p:sp>
      <p:cxnSp>
        <p:nvCxnSpPr>
          <p:cNvPr id="49" name="Connector 48"/>
          <p:cNvCxnSpPr/>
          <p:nvPr/>
        </p:nvCxnSpPr>
        <p:spPr>
          <a:xfrm>
            <a:off x="7297140" y="1645920"/>
            <a:ext cx="0" cy="3557016"/>
          </a:xfrm>
          <a:prstGeom prst="line">
            <a:avLst/>
          </a:prstGeom>
          <a:ln w="25400">
            <a:solidFill>
              <a:srgbClr val="D9262B"/>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382740" y="5202936"/>
            <a:ext cx="1828800" cy="274320"/>
          </a:xfrm>
          <a:prstGeom prst="rect">
            <a:avLst/>
          </a:prstGeom>
          <a:noFill/>
        </p:spPr>
        <p:txBody>
          <a:bodyPr wrap="square" anchor="t" lIns="36576" rIns="36576" tIns="21945" bIns="21945">
            <a:spAutoFit/>
          </a:bodyPr>
          <a:lstStyle/>
          <a:p>
            <a:pPr algn="ctr">
              <a:spcAft>
                <a:spcPts val="0"/>
              </a:spcAft>
            </a:pPr>
            <a:r>
              <a:rPr sz="850" b="1" i="0">
                <a:solidFill>
                  <a:srgbClr val="D9262B"/>
                </a:solidFill>
                <a:latin typeface="Arial"/>
              </a:rPr>
              <a:t>Contract end 31 Oct</a:t>
            </a:r>
          </a:p>
        </p:txBody>
      </p:sp>
      <p:sp>
        <p:nvSpPr>
          <p:cNvPr id="51" name="Diamond 50"/>
          <p:cNvSpPr/>
          <p:nvPr/>
        </p:nvSpPr>
        <p:spPr>
          <a:xfrm>
            <a:off x="429768" y="5266944"/>
            <a:ext cx="146304" cy="146304"/>
          </a:xfrm>
          <a:prstGeom prst="diamond">
            <a:avLst/>
          </a:prstGeom>
          <a:solidFill>
            <a:srgbClr val="F2A900"/>
          </a:solidFill>
          <a:ln>
            <a:noFill/>
          </a:ln>
        </p:spPr>
        <p:txBody>
          <a:bodyPr rtlCol="0" anchor="ctr"/>
          <a:lstStyle/>
          <a:p>
            <a:pPr algn="ctr"/>
          </a:p>
        </p:txBody>
      </p:sp>
      <p:sp>
        <p:nvSpPr>
          <p:cNvPr id="52" name="TextBox 51"/>
          <p:cNvSpPr txBox="1"/>
          <p:nvPr/>
        </p:nvSpPr>
        <p:spPr>
          <a:xfrm>
            <a:off x="612647" y="5202936"/>
            <a:ext cx="2286000" cy="274320"/>
          </a:xfrm>
          <a:prstGeom prst="rect">
            <a:avLst/>
          </a:prstGeom>
          <a:noFill/>
        </p:spPr>
        <p:txBody>
          <a:bodyPr wrap="square" anchor="t" lIns="36576" rIns="36576" tIns="21945" bIns="21945">
            <a:spAutoFit/>
          </a:bodyPr>
          <a:lstStyle/>
          <a:p>
            <a:pPr algn="l">
              <a:spcAft>
                <a:spcPts val="0"/>
              </a:spcAft>
            </a:pPr>
            <a:r>
              <a:rPr sz="850" b="0" i="0">
                <a:solidFill>
                  <a:srgbClr val="404040"/>
                </a:solidFill>
                <a:latin typeface="Arial"/>
              </a:rPr>
              <a:t>Milestone or decision point</a:t>
            </a:r>
          </a:p>
        </p:txBody>
      </p:sp>
      <p:sp>
        <p:nvSpPr>
          <p:cNvPr id="53" name="TextBox 52"/>
          <p:cNvSpPr txBox="1"/>
          <p:nvPr/>
        </p:nvSpPr>
        <p:spPr>
          <a:xfrm>
            <a:off x="384048" y="5541264"/>
            <a:ext cx="1828800" cy="274320"/>
          </a:xfrm>
          <a:prstGeom prst="rect">
            <a:avLst/>
          </a:prstGeom>
          <a:noFill/>
        </p:spPr>
        <p:txBody>
          <a:bodyPr wrap="square" anchor="t" lIns="36576" rIns="36576" tIns="21945" bIns="21945">
            <a:spAutoFit/>
          </a:bodyPr>
          <a:lstStyle/>
          <a:p>
            <a:pPr algn="l">
              <a:spcAft>
                <a:spcPts val="0"/>
              </a:spcAft>
            </a:pPr>
            <a:r>
              <a:rPr sz="950" b="1" i="0">
                <a:solidFill>
                  <a:srgbClr val="1F497D"/>
                </a:solidFill>
                <a:latin typeface="Arial"/>
              </a:rPr>
              <a:t>RISKS TO THE PLAN</a:t>
            </a:r>
          </a:p>
        </p:txBody>
      </p:sp>
      <p:sp>
        <p:nvSpPr>
          <p:cNvPr id="54" name="TextBox 53"/>
          <p:cNvSpPr txBox="1"/>
          <p:nvPr/>
        </p:nvSpPr>
        <p:spPr>
          <a:xfrm>
            <a:off x="384048" y="5815583"/>
            <a:ext cx="3749039" cy="502920"/>
          </a:xfrm>
          <a:prstGeom prst="rect">
            <a:avLst/>
          </a:prstGeom>
          <a:noFill/>
        </p:spPr>
        <p:txBody>
          <a:bodyPr wrap="square" anchor="t" lIns="36576" rIns="36576" tIns="21945" bIns="21945">
            <a:spAutoFit/>
          </a:bodyPr>
          <a:lstStyle/>
          <a:p>
            <a:pPr algn="l">
              <a:spcAft>
                <a:spcPts val="0"/>
              </a:spcAft>
            </a:pPr>
            <a:r>
              <a:rPr sz="900" b="1" i="0">
                <a:solidFill>
                  <a:srgbClr val="D9262B"/>
                </a:solidFill>
                <a:latin typeface="Arial"/>
              </a:rPr>
              <a:t>Contract term: </a:t>
            </a:r>
            <a:r>
              <a:rPr sz="900" b="0" i="0">
                <a:solidFill>
                  <a:srgbClr val="404040"/>
                </a:solidFill>
                <a:latin typeface="Arial"/>
              </a:rPr>
              <a:t>No extension by 31 Oct stops work; raise with Wesgro this week.</a:t>
            </a:r>
          </a:p>
        </p:txBody>
      </p:sp>
      <p:sp>
        <p:nvSpPr>
          <p:cNvPr id="55" name="TextBox 54"/>
          <p:cNvSpPr txBox="1"/>
          <p:nvPr/>
        </p:nvSpPr>
        <p:spPr>
          <a:xfrm>
            <a:off x="4197096" y="5815583"/>
            <a:ext cx="3749039" cy="502920"/>
          </a:xfrm>
          <a:prstGeom prst="rect">
            <a:avLst/>
          </a:prstGeom>
          <a:noFill/>
        </p:spPr>
        <p:txBody>
          <a:bodyPr wrap="square" anchor="t" lIns="36576" rIns="36576" tIns="21945" bIns="21945">
            <a:spAutoFit/>
          </a:bodyPr>
          <a:lstStyle/>
          <a:p>
            <a:pPr algn="l">
              <a:spcAft>
                <a:spcPts val="0"/>
              </a:spcAft>
            </a:pPr>
            <a:r>
              <a:rPr sz="900" b="1" i="0">
                <a:solidFill>
                  <a:srgbClr val="D9262B"/>
                </a:solidFill>
                <a:latin typeface="Arial"/>
              </a:rPr>
              <a:t>Access to stakeholders: </a:t>
            </a:r>
            <a:r>
              <a:rPr sz="900" b="0" i="0">
                <a:solidFill>
                  <a:srgbClr val="404040"/>
                </a:solidFill>
                <a:latin typeface="Arial"/>
              </a:rPr>
              <a:t>Airlines, DHA and SA Tourism may not engage in time; use written inputs.</a:t>
            </a:r>
          </a:p>
        </p:txBody>
      </p:sp>
      <p:sp>
        <p:nvSpPr>
          <p:cNvPr id="56" name="TextBox 55"/>
          <p:cNvSpPr txBox="1"/>
          <p:nvPr/>
        </p:nvSpPr>
        <p:spPr>
          <a:xfrm>
            <a:off x="8010144" y="5815583"/>
            <a:ext cx="3749039" cy="502920"/>
          </a:xfrm>
          <a:prstGeom prst="rect">
            <a:avLst/>
          </a:prstGeom>
          <a:noFill/>
        </p:spPr>
        <p:txBody>
          <a:bodyPr wrap="square" anchor="t" lIns="36576" rIns="36576" tIns="21945" bIns="21945">
            <a:spAutoFit/>
          </a:bodyPr>
          <a:lstStyle/>
          <a:p>
            <a:pPr algn="l">
              <a:spcAft>
                <a:spcPts val="0"/>
              </a:spcAft>
            </a:pPr>
            <a:r>
              <a:rPr sz="900" b="1" i="0">
                <a:solidFill>
                  <a:srgbClr val="D9262B"/>
                </a:solidFill>
                <a:latin typeface="Arial"/>
              </a:rPr>
              <a:t>Data reconciliation: </a:t>
            </a:r>
            <a:r>
              <a:rPr sz="900" b="0" i="0">
                <a:solidFill>
                  <a:srgbClr val="404040"/>
                </a:solidFill>
                <a:latin typeface="Arial"/>
              </a:rPr>
              <a:t>Baseline sources may not reconcile; agree a documented convention.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divider_bg.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2697480"/>
            <a:ext cx="12191695" cy="1463040"/>
          </a:xfrm>
          <a:prstGeom prst="rect">
            <a:avLst/>
          </a:prstGeom>
          <a:solidFill>
            <a:srgbClr val="009FDF">
              <a:alpha val="78000"/>
            </a:srgbClr>
          </a:solidFill>
          <a:ln>
            <a:noFill/>
          </a:ln>
        </p:spPr>
        <p:txBody>
          <a:bodyPr rtlCol="0" anchor="ctr"/>
          <a:lstStyle/>
          <a:p>
            <a:pPr algn="ctr"/>
          </a:p>
        </p:txBody>
      </p:sp>
      <p:sp>
        <p:nvSpPr>
          <p:cNvPr id="2" name="Title 1"/>
          <p:cNvSpPr>
            <a:spLocks noGrp="1"/>
          </p:cNvSpPr>
          <p:nvPr>
            <p:ph type="title"/>
          </p:nvPr>
        </p:nvSpPr>
        <p:spPr>
          <a:xfrm>
            <a:off x="1097280" y="2788920"/>
            <a:ext cx="10058400" cy="731520"/>
          </a:xfrm>
        </p:spPr>
        <p:txBody>
          <a:bodyPr anchor="ctr"/>
          <a:lstStyle/>
          <a:p>
            <a:pPr algn="l"/>
            <a:r>
              <a:rPr sz="3200" b="1" i="0">
                <a:solidFill>
                  <a:srgbClr val="FFFFFF"/>
                </a:solidFill>
                <a:latin typeface="Arial"/>
              </a:rPr>
              <a:t>Appendix</a:t>
            </a:r>
          </a:p>
        </p:txBody>
      </p:sp>
      <p:sp>
        <p:nvSpPr>
          <p:cNvPr id="5" name="TextBox 4"/>
          <p:cNvSpPr txBox="1"/>
          <p:nvPr/>
        </p:nvSpPr>
        <p:spPr>
          <a:xfrm>
            <a:off x="1097280" y="3520440"/>
            <a:ext cx="10058400" cy="457200"/>
          </a:xfrm>
          <a:prstGeom prst="rect">
            <a:avLst/>
          </a:prstGeom>
          <a:noFill/>
        </p:spPr>
        <p:txBody>
          <a:bodyPr wrap="square" anchor="t" lIns="36576" rIns="36576" tIns="21945" bIns="21945">
            <a:spAutoFit/>
          </a:bodyPr>
          <a:lstStyle/>
          <a:p>
            <a:pPr algn="l">
              <a:spcAft>
                <a:spcPts val="0"/>
              </a:spcAft>
            </a:pPr>
            <a:r>
              <a:rPr sz="1400" b="0" i="0">
                <a:solidFill>
                  <a:srgbClr val="FFFFFF"/>
                </a:solidFill>
                <a:latin typeface="Arial"/>
              </a:rPr>
              <a:t>Evidence table, input register and data issues</a:t>
            </a:r>
          </a:p>
        </p:txBody>
      </p:sp>
      <p:sp>
        <p:nvSpPr>
          <p:cNvPr id="6" name="TextBox 5"/>
          <p:cNvSpPr txBox="1"/>
          <p:nvPr/>
        </p:nvSpPr>
        <p:spPr>
          <a:xfrm>
            <a:off x="411480" y="2788920"/>
            <a:ext cx="731520" cy="731520"/>
          </a:xfrm>
          <a:prstGeom prst="rect">
            <a:avLst/>
          </a:prstGeom>
          <a:noFill/>
        </p:spPr>
        <p:txBody>
          <a:bodyPr wrap="square" anchor="ctr" lIns="36576" rIns="36576" tIns="21945" bIns="21945">
            <a:spAutoFit/>
          </a:bodyPr>
          <a:lstStyle/>
          <a:p>
            <a:pPr algn="l">
              <a:spcAft>
                <a:spcPts val="400"/>
              </a:spcAft>
            </a:pPr>
            <a:r>
              <a:rPr sz="3200" b="0" i="0">
                <a:solidFill>
                  <a:srgbClr val="FFFFFF"/>
                </a:solidFill>
                <a:latin typeface="Arial"/>
              </a:rPr>
              <a:t>07</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D9D9D9"/>
                </a:solidFill>
                <a:latin typeface="Arial"/>
              </a:rPr>
              <a:t>DRAFT FOR DISCUSSION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Evidence behind each verdict, with sources</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APPENDIX | EVIDENCE BY FOCUS AREA (1 OF 2)</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As cited per row</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36</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11420856" cy="5029200"/>
        </p:xfrm>
        <a:graphic>
          <a:graphicData uri="http://schemas.openxmlformats.org/drawingml/2006/table">
            <a:tbl>
              <a:tblPr firstRow="1" bandRow="0">
                <a:tableStyleId>{5C22544A-7EE6-4342-B048-85BDC9FD1C3A}</a:tableStyleId>
              </a:tblPr>
              <a:tblGrid>
                <a:gridCol w="411480"/>
                <a:gridCol w="2377440"/>
                <a:gridCol w="1188720"/>
                <a:gridCol w="777240"/>
                <a:gridCol w="4608576"/>
                <a:gridCol w="2057400"/>
              </a:tblGrid>
              <a:tr h="457200">
                <a:tc>
                  <a:txBody>
                    <a:bodyPr wrap="square"/>
                    <a:lstStyle/>
                    <a:p>
                      <a:pPr algn="l"/>
                      <a:r>
                        <a:rPr sz="850" b="1" i="0">
                          <a:solidFill>
                            <a:srgbClr val="FFFFFF"/>
                          </a:solidFill>
                          <a:latin typeface="Arial"/>
                        </a:rPr>
                        <a:t>Ref</a:t>
                      </a:r>
                    </a:p>
                  </a:txBody>
                  <a:tcPr marL="54864" marR="54864" marT="27432" marB="27432" anchor="ctr">
                    <a:solidFill>
                      <a:srgbClr val="1F497D"/>
                    </a:solidFill>
                  </a:tcPr>
                </a:tc>
                <a:tc>
                  <a:txBody>
                    <a:bodyPr wrap="square"/>
                    <a:lstStyle/>
                    <a:p>
                      <a:pPr algn="l"/>
                      <a:r>
                        <a:rPr sz="850" b="1" i="0">
                          <a:solidFill>
                            <a:srgbClr val="FFFFFF"/>
                          </a:solidFill>
                          <a:latin typeface="Arial"/>
                        </a:rPr>
                        <a:t>Focus area</a:t>
                      </a:r>
                    </a:p>
                  </a:txBody>
                  <a:tcPr marL="54864" marR="54864" marT="27432" marB="27432" anchor="ctr">
                    <a:solidFill>
                      <a:srgbClr val="1F497D"/>
                    </a:solidFill>
                  </a:tcPr>
                </a:tc>
                <a:tc>
                  <a:txBody>
                    <a:bodyPr wrap="square"/>
                    <a:lstStyle/>
                    <a:p>
                      <a:pPr algn="l"/>
                      <a:r>
                        <a:rPr sz="850" b="1" i="0">
                          <a:solidFill>
                            <a:srgbClr val="FFFFFF"/>
                          </a:solidFill>
                          <a:latin typeface="Arial"/>
                        </a:rPr>
                        <a:t>Verdict</a:t>
                      </a:r>
                    </a:p>
                  </a:txBody>
                  <a:tcPr marL="54864" marR="54864" marT="27432" marB="27432" anchor="ctr">
                    <a:solidFill>
                      <a:srgbClr val="1F497D"/>
                    </a:solidFill>
                  </a:tcPr>
                </a:tc>
                <a:tc>
                  <a:txBody>
                    <a:bodyPr wrap="square"/>
                    <a:lstStyle/>
                    <a:p>
                      <a:pPr algn="l"/>
                      <a:r>
                        <a:rPr sz="850" b="1" i="0">
                          <a:solidFill>
                            <a:srgbClr val="FFFFFF"/>
                          </a:solidFill>
                          <a:latin typeface="Arial"/>
                        </a:rPr>
                        <a:t>Evidence</a:t>
                      </a:r>
                    </a:p>
                  </a:txBody>
                  <a:tcPr marL="54864" marR="54864" marT="27432" marB="27432" anchor="ctr">
                    <a:solidFill>
                      <a:srgbClr val="1F497D"/>
                    </a:solidFill>
                  </a:tcPr>
                </a:tc>
                <a:tc>
                  <a:txBody>
                    <a:bodyPr wrap="square"/>
                    <a:lstStyle/>
                    <a:p>
                      <a:pPr algn="l"/>
                      <a:r>
                        <a:rPr sz="850" b="1" i="0">
                          <a:solidFill>
                            <a:srgbClr val="FFFFFF"/>
                          </a:solidFill>
                          <a:latin typeface="Arial"/>
                        </a:rPr>
                        <a:t>Key evidence</a:t>
                      </a:r>
                    </a:p>
                  </a:txBody>
                  <a:tcPr marL="54864" marR="54864" marT="27432" marB="27432" anchor="ctr">
                    <a:solidFill>
                      <a:srgbClr val="1F497D"/>
                    </a:solidFill>
                  </a:tcPr>
                </a:tc>
                <a:tc>
                  <a:txBody>
                    <a:bodyPr wrap="square"/>
                    <a:lstStyle/>
                    <a:p>
                      <a:pPr algn="l"/>
                      <a:r>
                        <a:rPr sz="850" b="1" i="0">
                          <a:solidFill>
                            <a:srgbClr val="FFFFFF"/>
                          </a:solidFill>
                          <a:latin typeface="Arial"/>
                        </a:rPr>
                        <a:t>Source</a:t>
                      </a:r>
                    </a:p>
                  </a:txBody>
                  <a:tcPr marL="54864" marR="54864" marT="27432" marB="27432" anchor="ctr">
                    <a:solidFill>
                      <a:srgbClr val="1F497D"/>
                    </a:solidFill>
                  </a:tcPr>
                </a:tc>
              </a:tr>
              <a:tr h="457200">
                <a:tc>
                  <a:txBody>
                    <a:bodyPr wrap="square"/>
                    <a:lstStyle/>
                    <a:p>
                      <a:pPr algn="l"/>
                      <a:r>
                        <a:rPr sz="850" b="0" i="0">
                          <a:solidFill>
                            <a:srgbClr val="7F7F7F"/>
                          </a:solidFill>
                          <a:latin typeface="Arial"/>
                        </a:rPr>
                        <a:t>1a</a:t>
                      </a:r>
                    </a:p>
                  </a:txBody>
                  <a:tcPr marL="54864" marR="54864" marT="27432" marB="27432" anchor="ctr">
                    <a:solidFill>
                      <a:srgbClr val="FFFFFF"/>
                    </a:solidFill>
                  </a:tcPr>
                </a:tc>
                <a:tc>
                  <a:txBody>
                    <a:bodyPr wrap="square"/>
                    <a:lstStyle/>
                    <a:p>
                      <a:pPr algn="l"/>
                      <a:r>
                        <a:rPr sz="850" b="1" i="0">
                          <a:solidFill>
                            <a:srgbClr val="1F497D"/>
                          </a:solidFill>
                          <a:latin typeface="Arial"/>
                        </a:rPr>
                        <a:t>Target the four priority high-value traveller segments</a:t>
                      </a:r>
                    </a:p>
                  </a:txBody>
                  <a:tcPr marL="54864" marR="54864" marT="27432" marB="27432" anchor="ctr">
                    <a:solidFill>
                      <a:srgbClr val="FFFFFF"/>
                    </a:solidFill>
                  </a:tcPr>
                </a:tc>
                <a:tc>
                  <a:txBody>
                    <a:bodyPr wrap="square"/>
                    <a:lstStyle/>
                    <a:p>
                      <a:pPr algn="l"/>
                      <a:r>
                        <a:rPr sz="850" b="1" i="0">
                          <a:solidFill>
                            <a:srgbClr val="262626"/>
                          </a:solidFill>
                          <a:latin typeface="Arial"/>
                        </a:rPr>
                        <a:t>Partly supported</a:t>
                      </a:r>
                    </a:p>
                  </a:txBody>
                  <a:tcPr marL="54864" marR="54864" marT="27432" marB="27432" anchor="ctr">
                    <a:solidFill>
                      <a:srgbClr val="F2A900"/>
                    </a:solidFill>
                  </a:tcPr>
                </a:tc>
                <a:tc>
                  <a:txBody>
                    <a:bodyPr wrap="square"/>
                    <a:lstStyle/>
                    <a:p>
                      <a:pPr algn="l"/>
                      <a:r>
                        <a:rPr sz="850" b="0" i="0">
                          <a:solidFill>
                            <a:srgbClr val="404040"/>
                          </a:solidFill>
                          <a:latin typeface="Arial"/>
                        </a:rPr>
                        <a:t>Thin</a:t>
                      </a:r>
                    </a:p>
                  </a:txBody>
                  <a:tcPr marL="54864" marR="54864" marT="27432" marB="27432" anchor="ctr">
                    <a:solidFill>
                      <a:srgbClr val="FFFFFF"/>
                    </a:solidFill>
                  </a:tcPr>
                </a:tc>
                <a:tc>
                  <a:txBody>
                    <a:bodyPr wrap="square"/>
                    <a:lstStyle/>
                    <a:p>
                      <a:pPr algn="l"/>
                      <a:r>
                        <a:rPr sz="850" b="0" i="0">
                          <a:solidFill>
                            <a:srgbClr val="404040"/>
                          </a:solidFill>
                          <a:latin typeface="Arial"/>
                        </a:rPr>
                        <a:t>Four Skift segments defined qualitatively in the Diagnostic; the archetype results promised in the Demand-Side work were not delivered.</a:t>
                      </a:r>
                    </a:p>
                  </a:txBody>
                  <a:tcPr marL="54864" marR="54864" marT="27432" marB="27432" anchor="ctr">
                    <a:solidFill>
                      <a:srgbClr val="FFFFFF"/>
                    </a:solidFill>
                  </a:tcPr>
                </a:tc>
                <a:tc>
                  <a:txBody>
                    <a:bodyPr wrap="square"/>
                    <a:lstStyle/>
                    <a:p>
                      <a:pPr algn="l"/>
                      <a:r>
                        <a:rPr sz="800" b="0" i="0">
                          <a:solidFill>
                            <a:srgbClr val="7F7F7F"/>
                          </a:solidFill>
                          <a:latin typeface="Arial"/>
                        </a:rPr>
                        <a:t>Diagnostic pp16-20; Demand-Side p6-7</a:t>
                      </a:r>
                    </a:p>
                  </a:txBody>
                  <a:tcPr marL="54864" marR="54864" marT="27432" marB="27432" anchor="ctr">
                    <a:solidFill>
                      <a:srgbClr val="FFFFFF"/>
                    </a:solidFill>
                  </a:tcPr>
                </a:tc>
              </a:tr>
              <a:tr h="457200">
                <a:tc>
                  <a:txBody>
                    <a:bodyPr wrap="square"/>
                    <a:lstStyle/>
                    <a:p>
                      <a:pPr algn="l"/>
                      <a:r>
                        <a:rPr sz="850" b="0" i="0">
                          <a:solidFill>
                            <a:srgbClr val="7F7F7F"/>
                          </a:solidFill>
                          <a:latin typeface="Arial"/>
                        </a:rPr>
                        <a:t>1b</a:t>
                      </a:r>
                    </a:p>
                  </a:txBody>
                  <a:tcPr marL="54864" marR="54864" marT="27432" marB="27432" anchor="ctr">
                    <a:solidFill>
                      <a:srgbClr val="F2F2F2"/>
                    </a:solidFill>
                  </a:tcPr>
                </a:tc>
                <a:tc>
                  <a:txBody>
                    <a:bodyPr wrap="square"/>
                    <a:lstStyle/>
                    <a:p>
                      <a:pPr algn="l"/>
                      <a:r>
                        <a:rPr sz="850" b="1" i="0">
                          <a:solidFill>
                            <a:srgbClr val="1F497D"/>
                          </a:solidFill>
                          <a:latin typeface="Arial"/>
                        </a:rPr>
                        <a:t>Extend Cape Town's brand equity to the province</a:t>
                      </a:r>
                    </a:p>
                  </a:txBody>
                  <a:tcPr marL="54864" marR="54864" marT="27432" marB="27432" anchor="ctr">
                    <a:solidFill>
                      <a:srgbClr val="F2F2F2"/>
                    </a:solidFill>
                  </a:tcPr>
                </a:tc>
                <a:tc>
                  <a:txBody>
                    <a:bodyPr wrap="square"/>
                    <a:lstStyle/>
                    <a:p>
                      <a:pPr algn="l"/>
                      <a:r>
                        <a:rPr sz="850" b="1" i="0">
                          <a:solidFill>
                            <a:srgbClr val="262626"/>
                          </a:solidFill>
                          <a:latin typeface="Arial"/>
                        </a:rPr>
                        <a:t>Partly supported</a:t>
                      </a:r>
                    </a:p>
                  </a:txBody>
                  <a:tcPr marL="54864" marR="54864" marT="27432" marB="27432" anchor="ctr">
                    <a:solidFill>
                      <a:srgbClr val="F2A900"/>
                    </a:solidFill>
                  </a:tcPr>
                </a:tc>
                <a:tc>
                  <a:txBody>
                    <a:bodyPr wrap="square"/>
                    <a:lstStyle/>
                    <a:p>
                      <a:pPr algn="l"/>
                      <a:r>
                        <a:rPr sz="850" b="0" i="0">
                          <a:solidFill>
                            <a:srgbClr val="404040"/>
                          </a:solidFill>
                          <a:latin typeface="Arial"/>
                        </a:rPr>
                        <a:t>Thin</a:t>
                      </a:r>
                    </a:p>
                  </a:txBody>
                  <a:tcPr marL="54864" marR="54864" marT="27432" marB="27432" anchor="ctr">
                    <a:solidFill>
                      <a:srgbClr val="F2F2F2"/>
                    </a:solidFill>
                  </a:tcPr>
                </a:tc>
                <a:tc>
                  <a:txBody>
                    <a:bodyPr wrap="square"/>
                    <a:lstStyle/>
                    <a:p>
                      <a:pPr algn="l"/>
                      <a:r>
                        <a:rPr sz="850" b="0" i="0">
                          <a:solidFill>
                            <a:srgbClr val="404040"/>
                          </a:solidFill>
                          <a:latin typeface="Arial"/>
                        </a:rPr>
                        <a:t>Concentration is evidenced (Cape Town takes 54% of tourist spend); no brand health, perception or campaign data exists to show brand is the fix.</a:t>
                      </a:r>
                    </a:p>
                  </a:txBody>
                  <a:tcPr marL="54864" marR="54864" marT="27432" marB="27432" anchor="ctr">
                    <a:solidFill>
                      <a:srgbClr val="F2F2F2"/>
                    </a:solidFill>
                  </a:tcPr>
                </a:tc>
                <a:tc>
                  <a:txBody>
                    <a:bodyPr wrap="square"/>
                    <a:lstStyle/>
                    <a:p>
                      <a:pPr algn="l"/>
                      <a:r>
                        <a:rPr sz="800" b="0" i="0">
                          <a:solidFill>
                            <a:srgbClr val="7F7F7F"/>
                          </a:solidFill>
                          <a:latin typeface="Arial"/>
                        </a:rPr>
                        <a:t>Municipal factbase; Cape brand identity concept; Stakeholder Insights p8</a:t>
                      </a:r>
                    </a:p>
                  </a:txBody>
                  <a:tcPr marL="54864" marR="54864" marT="27432" marB="27432" anchor="ctr">
                    <a:solidFill>
                      <a:srgbClr val="F2F2F2"/>
                    </a:solidFill>
                  </a:tcPr>
                </a:tc>
              </a:tr>
              <a:tr h="457200">
                <a:tc>
                  <a:txBody>
                    <a:bodyPr wrap="square"/>
                    <a:lstStyle/>
                    <a:p>
                      <a:pPr algn="l"/>
                      <a:r>
                        <a:rPr sz="850" b="0" i="0">
                          <a:solidFill>
                            <a:srgbClr val="7F7F7F"/>
                          </a:solidFill>
                          <a:latin typeface="Arial"/>
                        </a:rPr>
                        <a:t>1c</a:t>
                      </a:r>
                    </a:p>
                  </a:txBody>
                  <a:tcPr marL="54864" marR="54864" marT="27432" marB="27432" anchor="ctr">
                    <a:solidFill>
                      <a:srgbClr val="FFFFFF"/>
                    </a:solidFill>
                  </a:tcPr>
                </a:tc>
                <a:tc>
                  <a:txBody>
                    <a:bodyPr wrap="square"/>
                    <a:lstStyle/>
                    <a:p>
                      <a:pPr algn="l"/>
                      <a:r>
                        <a:rPr sz="850" b="1" i="0">
                          <a:solidFill>
                            <a:srgbClr val="1F497D"/>
                          </a:solidFill>
                          <a:latin typeface="Arial"/>
                        </a:rPr>
                        <a:t>Flatten seasonality with MICE and regional spread</a:t>
                      </a:r>
                    </a:p>
                  </a:txBody>
                  <a:tcPr marL="54864" marR="54864" marT="27432" marB="27432" anchor="ctr">
                    <a:solidFill>
                      <a:srgbClr val="FFFFFF"/>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Strong</a:t>
                      </a:r>
                    </a:p>
                  </a:txBody>
                  <a:tcPr marL="54864" marR="54864" marT="27432" marB="27432" anchor="ctr">
                    <a:solidFill>
                      <a:srgbClr val="FFFFFF"/>
                    </a:solidFill>
                  </a:tcPr>
                </a:tc>
                <a:tc>
                  <a:txBody>
                    <a:bodyPr wrap="square"/>
                    <a:lstStyle/>
                    <a:p>
                      <a:pPr algn="l"/>
                      <a:r>
                        <a:rPr sz="850" b="0" i="0">
                          <a:solidFill>
                            <a:srgbClr val="404040"/>
                          </a:solidFill>
                          <a:latin typeface="Arial"/>
                        </a:rPr>
                        <a:t>Oct-Mar carries 61% of overseas visitors; conferences peak May-Nov; Cape Town ranks 35th globally (ICCA 2024).</a:t>
                      </a:r>
                    </a:p>
                  </a:txBody>
                  <a:tcPr marL="54864" marR="54864" marT="27432" marB="27432" anchor="ctr">
                    <a:solidFill>
                      <a:srgbClr val="FFFFFF"/>
                    </a:solidFill>
                  </a:tcPr>
                </a:tc>
                <a:tc>
                  <a:txBody>
                    <a:bodyPr wrap="square"/>
                    <a:lstStyle/>
                    <a:p>
                      <a:pPr algn="l"/>
                      <a:r>
                        <a:rPr sz="800" b="0" i="0">
                          <a:solidFill>
                            <a:srgbClr val="7F7F7F"/>
                          </a:solidFill>
                          <a:latin typeface="Arial"/>
                        </a:rPr>
                        <a:t>Diagnostic p32; Demand-Side pp36-37</a:t>
                      </a:r>
                    </a:p>
                  </a:txBody>
                  <a:tcPr marL="54864" marR="54864" marT="27432" marB="27432" anchor="ctr">
                    <a:solidFill>
                      <a:srgbClr val="FFFFFF"/>
                    </a:solidFill>
                  </a:tcPr>
                </a:tc>
              </a:tr>
              <a:tr h="457200">
                <a:tc>
                  <a:txBody>
                    <a:bodyPr wrap="square"/>
                    <a:lstStyle/>
                    <a:p>
                      <a:pPr algn="l"/>
                      <a:r>
                        <a:rPr sz="850" b="0" i="0">
                          <a:solidFill>
                            <a:srgbClr val="7F7F7F"/>
                          </a:solidFill>
                          <a:latin typeface="Arial"/>
                        </a:rPr>
                        <a:t>1d</a:t>
                      </a:r>
                    </a:p>
                  </a:txBody>
                  <a:tcPr marL="54864" marR="54864" marT="27432" marB="27432" anchor="ctr">
                    <a:solidFill>
                      <a:srgbClr val="F2F2F2"/>
                    </a:solidFill>
                  </a:tcPr>
                </a:tc>
                <a:tc>
                  <a:txBody>
                    <a:bodyPr wrap="square"/>
                    <a:lstStyle/>
                    <a:p>
                      <a:pPr algn="l"/>
                      <a:r>
                        <a:rPr sz="850" b="1" i="0">
                          <a:solidFill>
                            <a:srgbClr val="1F497D"/>
                          </a:solidFill>
                          <a:latin typeface="Arial"/>
                        </a:rPr>
                        <a:t>Embed the destination in market-native booking platforms</a:t>
                      </a:r>
                    </a:p>
                  </a:txBody>
                  <a:tcPr marL="54864" marR="54864" marT="27432" marB="27432" anchor="ctr">
                    <a:solidFill>
                      <a:srgbClr val="F2F2F2"/>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Moderate</a:t>
                      </a:r>
                    </a:p>
                  </a:txBody>
                  <a:tcPr marL="54864" marR="54864" marT="27432" marB="27432" anchor="ctr">
                    <a:solidFill>
                      <a:srgbClr val="F2F2F2"/>
                    </a:solidFill>
                  </a:tcPr>
                </a:tc>
                <a:tc>
                  <a:txBody>
                    <a:bodyPr wrap="square"/>
                    <a:lstStyle/>
                    <a:p>
                      <a:pPr algn="l"/>
                      <a:r>
                        <a:rPr sz="850" b="0" i="0">
                          <a:solidFill>
                            <a:srgbClr val="404040"/>
                          </a:solidFill>
                          <a:latin typeface="Arial"/>
                        </a:rPr>
                        <a:t>Discovery and booking run through Douyin, Trip.com, MakeMyTrip and Almosafer; 70% of CapeNature bookings still come by phone.</a:t>
                      </a:r>
                    </a:p>
                  </a:txBody>
                  <a:tcPr marL="54864" marR="54864" marT="27432" marB="27432" anchor="ctr">
                    <a:solidFill>
                      <a:srgbClr val="F2F2F2"/>
                    </a:solidFill>
                  </a:tcPr>
                </a:tc>
                <a:tc>
                  <a:txBody>
                    <a:bodyPr wrap="square"/>
                    <a:lstStyle/>
                    <a:p>
                      <a:pPr algn="l"/>
                      <a:r>
                        <a:rPr sz="800" b="0" i="0">
                          <a:solidFill>
                            <a:srgbClr val="7F7F7F"/>
                          </a:solidFill>
                          <a:latin typeface="Arial"/>
                        </a:rPr>
                        <a:t>Demand-Side pp43-55; Stakeholder Insights p42</a:t>
                      </a:r>
                    </a:p>
                  </a:txBody>
                  <a:tcPr marL="54864" marR="54864" marT="27432" marB="27432" anchor="ctr">
                    <a:solidFill>
                      <a:srgbClr val="F2F2F2"/>
                    </a:solidFill>
                  </a:tcPr>
                </a:tc>
              </a:tr>
              <a:tr h="457200">
                <a:tc>
                  <a:txBody>
                    <a:bodyPr wrap="square"/>
                    <a:lstStyle/>
                    <a:p>
                      <a:pPr algn="l"/>
                      <a:r>
                        <a:rPr sz="850" b="0" i="0">
                          <a:solidFill>
                            <a:srgbClr val="7F7F7F"/>
                          </a:solidFill>
                          <a:latin typeface="Arial"/>
                        </a:rPr>
                        <a:t>1e</a:t>
                      </a:r>
                    </a:p>
                  </a:txBody>
                  <a:tcPr marL="54864" marR="54864" marT="27432" marB="27432" anchor="ctr">
                    <a:solidFill>
                      <a:srgbClr val="FFFFFF"/>
                    </a:solidFill>
                  </a:tcPr>
                </a:tc>
                <a:tc>
                  <a:txBody>
                    <a:bodyPr wrap="square"/>
                    <a:lstStyle/>
                    <a:p>
                      <a:pPr algn="l"/>
                      <a:r>
                        <a:rPr sz="850" b="1" i="0">
                          <a:solidFill>
                            <a:srgbClr val="1F497D"/>
                          </a:solidFill>
                          <a:latin typeface="Arial"/>
                        </a:rPr>
                        <a:t>Grow priority markets (India, China, Gulf, ASEAN)</a:t>
                      </a:r>
                    </a:p>
                  </a:txBody>
                  <a:tcPr marL="54864" marR="54864" marT="27432" marB="27432" anchor="ctr">
                    <a:solidFill>
                      <a:srgbClr val="FFFFFF"/>
                    </a:solidFill>
                  </a:tcPr>
                </a:tc>
                <a:tc>
                  <a:txBody>
                    <a:bodyPr wrap="square"/>
                    <a:lstStyle/>
                    <a:p>
                      <a:pPr algn="l"/>
                      <a:r>
                        <a:rPr sz="850" b="1" i="0">
                          <a:solidFill>
                            <a:srgbClr val="262626"/>
                          </a:solidFill>
                          <a:latin typeface="Arial"/>
                        </a:rPr>
                        <a:t>Partly supported</a:t>
                      </a:r>
                    </a:p>
                  </a:txBody>
                  <a:tcPr marL="54864" marR="54864" marT="27432" marB="27432" anchor="ctr">
                    <a:solidFill>
                      <a:srgbClr val="F2A900"/>
                    </a:solidFill>
                  </a:tcPr>
                </a:tc>
                <a:tc>
                  <a:txBody>
                    <a:bodyPr wrap="square"/>
                    <a:lstStyle/>
                    <a:p>
                      <a:pPr algn="l"/>
                      <a:r>
                        <a:rPr sz="850" b="0" i="0">
                          <a:solidFill>
                            <a:srgbClr val="404040"/>
                          </a:solidFill>
                          <a:latin typeface="Arial"/>
                        </a:rPr>
                        <a:t>Strong</a:t>
                      </a:r>
                    </a:p>
                  </a:txBody>
                  <a:tcPr marL="54864" marR="54864" marT="27432" marB="27432" anchor="ctr">
                    <a:solidFill>
                      <a:srgbClr val="FFFFFF"/>
                    </a:solidFill>
                  </a:tcPr>
                </a:tc>
                <a:tc>
                  <a:txBody>
                    <a:bodyPr wrap="square"/>
                    <a:lstStyle/>
                    <a:p>
                      <a:pPr algn="l"/>
                      <a:r>
                        <a:rPr sz="850" b="0" i="0">
                          <a:solidFill>
                            <a:srgbClr val="404040"/>
                          </a:solidFill>
                          <a:latin typeface="Arial"/>
                        </a:rPr>
                        <a:t>India (~71k) and China (~30k) already travel indirectly, but no direct route is likely before 2030 and ASEAN was not analysed.</a:t>
                      </a:r>
                    </a:p>
                  </a:txBody>
                  <a:tcPr marL="54864" marR="54864" marT="27432" marB="27432" anchor="ctr">
                    <a:solidFill>
                      <a:srgbClr val="FFFFFF"/>
                    </a:solidFill>
                  </a:tcPr>
                </a:tc>
                <a:tc>
                  <a:txBody>
                    <a:bodyPr wrap="square"/>
                    <a:lstStyle/>
                    <a:p>
                      <a:pPr algn="l"/>
                      <a:r>
                        <a:rPr sz="800" b="0" i="0">
                          <a:solidFill>
                            <a:srgbClr val="7F7F7F"/>
                          </a:solidFill>
                          <a:latin typeface="Arial"/>
                        </a:rPr>
                        <a:t>Demand-Side pp45-50; MIDAS pp24-27</a:t>
                      </a:r>
                    </a:p>
                  </a:txBody>
                  <a:tcPr marL="54864" marR="54864" marT="27432" marB="27432" anchor="ctr">
                    <a:solidFill>
                      <a:srgbClr val="FFFFFF"/>
                    </a:solidFill>
                  </a:tcPr>
                </a:tc>
              </a:tr>
              <a:tr h="457200">
                <a:tc>
                  <a:txBody>
                    <a:bodyPr wrap="square"/>
                    <a:lstStyle/>
                    <a:p>
                      <a:pPr algn="l"/>
                      <a:r>
                        <a:rPr sz="850" b="0" i="0">
                          <a:solidFill>
                            <a:srgbClr val="7F7F7F"/>
                          </a:solidFill>
                          <a:latin typeface="Arial"/>
                        </a:rPr>
                        <a:t>1f</a:t>
                      </a:r>
                    </a:p>
                  </a:txBody>
                  <a:tcPr marL="54864" marR="54864" marT="27432" marB="27432" anchor="ctr">
                    <a:solidFill>
                      <a:srgbClr val="F2F2F2"/>
                    </a:solidFill>
                  </a:tcPr>
                </a:tc>
                <a:tc>
                  <a:txBody>
                    <a:bodyPr wrap="square"/>
                    <a:lstStyle/>
                    <a:p>
                      <a:pPr algn="l"/>
                      <a:r>
                        <a:rPr sz="850" b="1" i="0">
                          <a:solidFill>
                            <a:srgbClr val="1F497D"/>
                          </a:solidFill>
                          <a:latin typeface="Arial"/>
                        </a:rPr>
                        <a:t>Increase yield in mature markets (UK, Europe, N. America)</a:t>
                      </a:r>
                    </a:p>
                  </a:txBody>
                  <a:tcPr marL="54864" marR="54864" marT="27432" marB="27432" anchor="ctr">
                    <a:solidFill>
                      <a:srgbClr val="F2F2F2"/>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Moderate</a:t>
                      </a:r>
                    </a:p>
                  </a:txBody>
                  <a:tcPr marL="54864" marR="54864" marT="27432" marB="27432" anchor="ctr">
                    <a:solidFill>
                      <a:srgbClr val="F2F2F2"/>
                    </a:solidFill>
                  </a:tcPr>
                </a:tc>
                <a:tc>
                  <a:txBody>
                    <a:bodyPr wrap="square"/>
                    <a:lstStyle/>
                    <a:p>
                      <a:pPr algn="l"/>
                      <a:r>
                        <a:rPr sz="850" b="0" i="0">
                          <a:solidFill>
                            <a:srgbClr val="404040"/>
                          </a:solidFill>
                          <a:latin typeface="Arial"/>
                        </a:rPr>
                        <a:t>The top five mature markets supply 61-63% of overseas arrivals and grow 2-4% a year; capture of their outbound trips is only 0.12-0.23%.</a:t>
                      </a:r>
                    </a:p>
                  </a:txBody>
                  <a:tcPr marL="54864" marR="54864" marT="27432" marB="27432" anchor="ctr">
                    <a:solidFill>
                      <a:srgbClr val="F2F2F2"/>
                    </a:solidFill>
                  </a:tcPr>
                </a:tc>
                <a:tc>
                  <a:txBody>
                    <a:bodyPr wrap="square"/>
                    <a:lstStyle/>
                    <a:p>
                      <a:pPr algn="l"/>
                      <a:r>
                        <a:rPr sz="800" b="0" i="0">
                          <a:solidFill>
                            <a:srgbClr val="7F7F7F"/>
                          </a:solidFill>
                          <a:latin typeface="Arial"/>
                        </a:rPr>
                        <a:t>Demand-Side p22; DSE factbase T4</a:t>
                      </a:r>
                    </a:p>
                  </a:txBody>
                  <a:tcPr marL="54864" marR="54864" marT="27432" marB="27432" anchor="ctr">
                    <a:solidFill>
                      <a:srgbClr val="F2F2F2"/>
                    </a:solidFill>
                  </a:tcPr>
                </a:tc>
              </a:tr>
              <a:tr h="457200">
                <a:tc>
                  <a:txBody>
                    <a:bodyPr wrap="square"/>
                    <a:lstStyle/>
                    <a:p>
                      <a:pPr algn="l"/>
                      <a:r>
                        <a:rPr sz="850" b="0" i="0">
                          <a:solidFill>
                            <a:srgbClr val="7F7F7F"/>
                          </a:solidFill>
                          <a:latin typeface="Arial"/>
                        </a:rPr>
                        <a:t>1g</a:t>
                      </a:r>
                    </a:p>
                  </a:txBody>
                  <a:tcPr marL="54864" marR="54864" marT="27432" marB="27432" anchor="ctr">
                    <a:solidFill>
                      <a:srgbClr val="FFFFFF"/>
                    </a:solidFill>
                  </a:tcPr>
                </a:tc>
                <a:tc>
                  <a:txBody>
                    <a:bodyPr wrap="square"/>
                    <a:lstStyle/>
                    <a:p>
                      <a:pPr algn="l"/>
                      <a:r>
                        <a:rPr sz="850" b="1" i="0">
                          <a:solidFill>
                            <a:srgbClr val="1F497D"/>
                          </a:solidFill>
                          <a:latin typeface="Arial"/>
                        </a:rPr>
                        <a:t>Grow regional top-up and counter-seasonal demand (Africa)</a:t>
                      </a:r>
                    </a:p>
                  </a:txBody>
                  <a:tcPr marL="54864" marR="54864" marT="27432" marB="27432" anchor="ctr">
                    <a:solidFill>
                      <a:srgbClr val="FFFFFF"/>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Moderate</a:t>
                      </a:r>
                    </a:p>
                  </a:txBody>
                  <a:tcPr marL="54864" marR="54864" marT="27432" marB="27432" anchor="ctr">
                    <a:solidFill>
                      <a:srgbClr val="FFFFFF"/>
                    </a:solidFill>
                  </a:tcPr>
                </a:tc>
                <a:tc>
                  <a:txBody>
                    <a:bodyPr wrap="square"/>
                    <a:lstStyle/>
                    <a:p>
                      <a:pPr algn="l"/>
                      <a:r>
                        <a:rPr sz="850" b="0" i="0">
                          <a:solidFill>
                            <a:srgbClr val="404040"/>
                          </a:solidFill>
                          <a:latin typeface="Arial"/>
                        </a:rPr>
                        <a:t>323,971 African arrivals in 2024, 62% from Zimbabwe and Namibia; Nigeria, Kenya and Ghana carry the largest addressable demand.</a:t>
                      </a:r>
                    </a:p>
                  </a:txBody>
                  <a:tcPr marL="54864" marR="54864" marT="27432" marB="27432" anchor="ctr">
                    <a:solidFill>
                      <a:srgbClr val="FFFFFF"/>
                    </a:solidFill>
                  </a:tcPr>
                </a:tc>
                <a:tc>
                  <a:txBody>
                    <a:bodyPr wrap="square"/>
                    <a:lstStyle/>
                    <a:p>
                      <a:pPr algn="l"/>
                      <a:r>
                        <a:rPr sz="800" b="0" i="0">
                          <a:solidFill>
                            <a:srgbClr val="7F7F7F"/>
                          </a:solidFill>
                          <a:latin typeface="Arial"/>
                        </a:rPr>
                        <a:t>Demand-Side pp27-30; Stakeholder Insights p9</a:t>
                      </a:r>
                    </a:p>
                  </a:txBody>
                  <a:tcPr marL="54864" marR="54864" marT="27432" marB="27432" anchor="ctr">
                    <a:solidFill>
                      <a:srgbClr val="FFFFFF"/>
                    </a:solidFill>
                  </a:tcPr>
                </a:tc>
              </a:tr>
              <a:tr h="457200">
                <a:tc>
                  <a:txBody>
                    <a:bodyPr wrap="square"/>
                    <a:lstStyle/>
                    <a:p>
                      <a:pPr algn="l"/>
                      <a:r>
                        <a:rPr sz="850" b="0" i="0">
                          <a:solidFill>
                            <a:srgbClr val="7F7F7F"/>
                          </a:solidFill>
                          <a:latin typeface="Arial"/>
                        </a:rPr>
                        <a:t>2a</a:t>
                      </a:r>
                    </a:p>
                  </a:txBody>
                  <a:tcPr marL="54864" marR="54864" marT="27432" marB="27432" anchor="ctr">
                    <a:solidFill>
                      <a:srgbClr val="F2F2F2"/>
                    </a:solidFill>
                  </a:tcPr>
                </a:tc>
                <a:tc>
                  <a:txBody>
                    <a:bodyPr wrap="square"/>
                    <a:lstStyle/>
                    <a:p>
                      <a:pPr algn="l"/>
                      <a:r>
                        <a:rPr sz="850" b="1" i="0">
                          <a:solidFill>
                            <a:srgbClr val="1F497D"/>
                          </a:solidFill>
                          <a:latin typeface="Arial"/>
                        </a:rPr>
                        <a:t>Close the air access and cruise capacity gaps</a:t>
                      </a:r>
                    </a:p>
                  </a:txBody>
                  <a:tcPr marL="54864" marR="54864" marT="27432" marB="27432" anchor="ctr">
                    <a:solidFill>
                      <a:srgbClr val="F2F2F2"/>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Strong</a:t>
                      </a:r>
                    </a:p>
                  </a:txBody>
                  <a:tcPr marL="54864" marR="54864" marT="27432" marB="27432" anchor="ctr">
                    <a:solidFill>
                      <a:srgbClr val="F2F2F2"/>
                    </a:solidFill>
                  </a:tcPr>
                </a:tc>
                <a:tc>
                  <a:txBody>
                    <a:bodyPr wrap="square"/>
                    <a:lstStyle/>
                    <a:p>
                      <a:pPr algn="l"/>
                      <a:r>
                        <a:rPr sz="850" b="0" i="0">
                          <a:solidFill>
                            <a:srgbClr val="404040"/>
                          </a:solidFill>
                          <a:latin typeface="Arial"/>
                        </a:rPr>
                        <a:t>Seat capacity caps arrivals near 1.8m around 2030; airlines see long-haul markets as mature and will lift fares before seats.</a:t>
                      </a:r>
                    </a:p>
                  </a:txBody>
                  <a:tcPr marL="54864" marR="54864" marT="27432" marB="27432" anchor="ctr">
                    <a:solidFill>
                      <a:srgbClr val="F2F2F2"/>
                    </a:solidFill>
                  </a:tcPr>
                </a:tc>
                <a:tc>
                  <a:txBody>
                    <a:bodyPr wrap="square"/>
                    <a:lstStyle/>
                    <a:p>
                      <a:pPr algn="l"/>
                      <a:r>
                        <a:rPr sz="800" b="0" i="0">
                          <a:solidFill>
                            <a:srgbClr val="7F7F7F"/>
                          </a:solidFill>
                          <a:latin typeface="Arial"/>
                        </a:rPr>
                        <a:t>Demand-Side p21; MIDAS conclusion; Mobility factbase</a:t>
                      </a:r>
                    </a:p>
                  </a:txBody>
                  <a:tcPr marL="54864" marR="54864" marT="27432" marB="27432" anchor="ctr">
                    <a:solidFill>
                      <a:srgbClr val="F2F2F2"/>
                    </a:solidFill>
                  </a:tcPr>
                </a:tc>
              </a:tr>
              <a:tr h="457200">
                <a:tc>
                  <a:txBody>
                    <a:bodyPr wrap="square"/>
                    <a:lstStyle/>
                    <a:p>
                      <a:pPr algn="l"/>
                      <a:r>
                        <a:rPr sz="850" b="0" i="0">
                          <a:solidFill>
                            <a:srgbClr val="7F7F7F"/>
                          </a:solidFill>
                          <a:latin typeface="Arial"/>
                        </a:rPr>
                        <a:t>2b</a:t>
                      </a:r>
                    </a:p>
                  </a:txBody>
                  <a:tcPr marL="54864" marR="54864" marT="27432" marB="27432" anchor="ctr">
                    <a:solidFill>
                      <a:srgbClr val="FFFFFF"/>
                    </a:solidFill>
                  </a:tcPr>
                </a:tc>
                <a:tc>
                  <a:txBody>
                    <a:bodyPr wrap="square"/>
                    <a:lstStyle/>
                    <a:p>
                      <a:pPr algn="l"/>
                      <a:r>
                        <a:rPr sz="850" b="1" i="0">
                          <a:solidFill>
                            <a:srgbClr val="1F497D"/>
                          </a:solidFill>
                          <a:latin typeface="Arial"/>
                        </a:rPr>
                        <a:t>Accelerate tourism-enabling internal mobility</a:t>
                      </a:r>
                    </a:p>
                  </a:txBody>
                  <a:tcPr marL="54864" marR="54864" marT="27432" marB="27432" anchor="ctr">
                    <a:solidFill>
                      <a:srgbClr val="FFFFFF"/>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Strong</a:t>
                      </a:r>
                    </a:p>
                  </a:txBody>
                  <a:tcPr marL="54864" marR="54864" marT="27432" marB="27432" anchor="ctr">
                    <a:solidFill>
                      <a:srgbClr val="FFFFFF"/>
                    </a:solidFill>
                  </a:tcPr>
                </a:tc>
                <a:tc>
                  <a:txBody>
                    <a:bodyPr wrap="square"/>
                    <a:lstStyle/>
                    <a:p>
                      <a:pPr algn="l"/>
                      <a:r>
                        <a:rPr sz="850" b="0" i="0">
                          <a:solidFill>
                            <a:srgbClr val="404040"/>
                          </a:solidFill>
                          <a:latin typeface="Arial"/>
                        </a:rPr>
                        <a:t>Tourists use public transport for 1.6% of trips; the N2 is the only continuous corridor; the MyCiTi airport link has been suspended since 2022.</a:t>
                      </a:r>
                    </a:p>
                  </a:txBody>
                  <a:tcPr marL="54864" marR="54864" marT="27432" marB="27432" anchor="ctr">
                    <a:solidFill>
                      <a:srgbClr val="FFFFFF"/>
                    </a:solidFill>
                  </a:tcPr>
                </a:tc>
                <a:tc>
                  <a:txBody>
                    <a:bodyPr wrap="square"/>
                    <a:lstStyle/>
                    <a:p>
                      <a:pPr algn="l"/>
                      <a:r>
                        <a:rPr sz="800" b="0" i="0">
                          <a:solidFill>
                            <a:srgbClr val="7F7F7F"/>
                          </a:solidFill>
                          <a:latin typeface="Arial"/>
                        </a:rPr>
                        <a:t>Mobility factbase (PLTF); Infrastructure Report</a:t>
                      </a:r>
                    </a:p>
                  </a:txBody>
                  <a:tcPr marL="54864" marR="54864" marT="27432" marB="27432" anchor="ctr">
                    <a:solidFill>
                      <a:srgbClr val="FFFFFF"/>
                    </a:solidFill>
                  </a:tcPr>
                </a:tc>
              </a:tr>
              <a:tr h="457200">
                <a:tc>
                  <a:txBody>
                    <a:bodyPr wrap="square"/>
                    <a:lstStyle/>
                    <a:p>
                      <a:pPr algn="l"/>
                      <a:r>
                        <a:rPr sz="850" b="0" i="0">
                          <a:solidFill>
                            <a:srgbClr val="7F7F7F"/>
                          </a:solidFill>
                          <a:latin typeface="Arial"/>
                        </a:rPr>
                        <a:t>2c</a:t>
                      </a:r>
                    </a:p>
                  </a:txBody>
                  <a:tcPr marL="54864" marR="54864" marT="27432" marB="27432" anchor="ctr">
                    <a:solidFill>
                      <a:srgbClr val="F2F2F2"/>
                    </a:solidFill>
                  </a:tcPr>
                </a:tc>
                <a:tc>
                  <a:txBody>
                    <a:bodyPr wrap="square"/>
                    <a:lstStyle/>
                    <a:p>
                      <a:pPr algn="l"/>
                      <a:r>
                        <a:rPr sz="850" b="1" i="0">
                          <a:solidFill>
                            <a:srgbClr val="1F497D"/>
                          </a:solidFill>
                          <a:latin typeface="Arial"/>
                        </a:rPr>
                        <a:t>Lead removal of infrastructure, visa and safety deficits</a:t>
                      </a:r>
                    </a:p>
                  </a:txBody>
                  <a:tcPr marL="54864" marR="54864" marT="27432" marB="27432" anchor="ctr">
                    <a:solidFill>
                      <a:srgbClr val="F2F2F2"/>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Strong</a:t>
                      </a:r>
                    </a:p>
                  </a:txBody>
                  <a:tcPr marL="54864" marR="54864" marT="27432" marB="27432" anchor="ctr">
                    <a:solidFill>
                      <a:srgbClr val="F2F2F2"/>
                    </a:solidFill>
                  </a:tcPr>
                </a:tc>
                <a:tc>
                  <a:txBody>
                    <a:bodyPr wrap="square"/>
                    <a:lstStyle/>
                    <a:p>
                      <a:pPr algn="l"/>
                      <a:r>
                        <a:rPr sz="850" b="0" i="0">
                          <a:solidFill>
                            <a:srgbClr val="404040"/>
                          </a:solidFill>
                          <a:latin typeface="Arial"/>
                        </a:rPr>
                        <a:t>Safety is the top demand dampener; the first-year eVisa approved 440 of 13,887 applications.</a:t>
                      </a:r>
                    </a:p>
                  </a:txBody>
                  <a:tcPr marL="54864" marR="54864" marT="27432" marB="27432" anchor="ctr">
                    <a:solidFill>
                      <a:srgbClr val="F2F2F2"/>
                    </a:solidFill>
                  </a:tcPr>
                </a:tc>
                <a:tc>
                  <a:txBody>
                    <a:bodyPr wrap="square"/>
                    <a:lstStyle/>
                    <a:p>
                      <a:pPr algn="l"/>
                      <a:r>
                        <a:rPr sz="800" b="0" i="0">
                          <a:solidFill>
                            <a:srgbClr val="7F7F7F"/>
                          </a:solidFill>
                          <a:latin typeface="Arial"/>
                        </a:rPr>
                        <a:t>Diagnostic p55; BDO visa study via Mobility factbase</a:t>
                      </a:r>
                    </a:p>
                  </a:txBody>
                  <a:tcPr marL="54864" marR="54864" marT="27432" marB="27432" anchor="ctr">
                    <a:solidFill>
                      <a:srgbClr val="F2F2F2"/>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Evidence behind each verdict, with sources (continued)</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APPENDIX | EVIDENCE BY FOCUS AREA (2 OF 2)</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As cited per row</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37</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11420856" cy="5029200"/>
        </p:xfrm>
        <a:graphic>
          <a:graphicData uri="http://schemas.openxmlformats.org/drawingml/2006/table">
            <a:tbl>
              <a:tblPr firstRow="1" bandRow="0">
                <a:tableStyleId>{5C22544A-7EE6-4342-B048-85BDC9FD1C3A}</a:tableStyleId>
              </a:tblPr>
              <a:tblGrid>
                <a:gridCol w="411480"/>
                <a:gridCol w="2377440"/>
                <a:gridCol w="1188720"/>
                <a:gridCol w="777240"/>
                <a:gridCol w="4608576"/>
                <a:gridCol w="2057400"/>
              </a:tblGrid>
              <a:tr h="457200">
                <a:tc>
                  <a:txBody>
                    <a:bodyPr wrap="square"/>
                    <a:lstStyle/>
                    <a:p>
                      <a:pPr algn="l"/>
                      <a:r>
                        <a:rPr sz="850" b="1" i="0">
                          <a:solidFill>
                            <a:srgbClr val="FFFFFF"/>
                          </a:solidFill>
                          <a:latin typeface="Arial"/>
                        </a:rPr>
                        <a:t>Ref</a:t>
                      </a:r>
                    </a:p>
                  </a:txBody>
                  <a:tcPr marL="54864" marR="54864" marT="27432" marB="27432" anchor="ctr">
                    <a:solidFill>
                      <a:srgbClr val="1F497D"/>
                    </a:solidFill>
                  </a:tcPr>
                </a:tc>
                <a:tc>
                  <a:txBody>
                    <a:bodyPr wrap="square"/>
                    <a:lstStyle/>
                    <a:p>
                      <a:pPr algn="l"/>
                      <a:r>
                        <a:rPr sz="850" b="1" i="0">
                          <a:solidFill>
                            <a:srgbClr val="FFFFFF"/>
                          </a:solidFill>
                          <a:latin typeface="Arial"/>
                        </a:rPr>
                        <a:t>Focus area</a:t>
                      </a:r>
                    </a:p>
                  </a:txBody>
                  <a:tcPr marL="54864" marR="54864" marT="27432" marB="27432" anchor="ctr">
                    <a:solidFill>
                      <a:srgbClr val="1F497D"/>
                    </a:solidFill>
                  </a:tcPr>
                </a:tc>
                <a:tc>
                  <a:txBody>
                    <a:bodyPr wrap="square"/>
                    <a:lstStyle/>
                    <a:p>
                      <a:pPr algn="l"/>
                      <a:r>
                        <a:rPr sz="850" b="1" i="0">
                          <a:solidFill>
                            <a:srgbClr val="FFFFFF"/>
                          </a:solidFill>
                          <a:latin typeface="Arial"/>
                        </a:rPr>
                        <a:t>Verdict</a:t>
                      </a:r>
                    </a:p>
                  </a:txBody>
                  <a:tcPr marL="54864" marR="54864" marT="27432" marB="27432" anchor="ctr">
                    <a:solidFill>
                      <a:srgbClr val="1F497D"/>
                    </a:solidFill>
                  </a:tcPr>
                </a:tc>
                <a:tc>
                  <a:txBody>
                    <a:bodyPr wrap="square"/>
                    <a:lstStyle/>
                    <a:p>
                      <a:pPr algn="l"/>
                      <a:r>
                        <a:rPr sz="850" b="1" i="0">
                          <a:solidFill>
                            <a:srgbClr val="FFFFFF"/>
                          </a:solidFill>
                          <a:latin typeface="Arial"/>
                        </a:rPr>
                        <a:t>Evidence</a:t>
                      </a:r>
                    </a:p>
                  </a:txBody>
                  <a:tcPr marL="54864" marR="54864" marT="27432" marB="27432" anchor="ctr">
                    <a:solidFill>
                      <a:srgbClr val="1F497D"/>
                    </a:solidFill>
                  </a:tcPr>
                </a:tc>
                <a:tc>
                  <a:txBody>
                    <a:bodyPr wrap="square"/>
                    <a:lstStyle/>
                    <a:p>
                      <a:pPr algn="l"/>
                      <a:r>
                        <a:rPr sz="850" b="1" i="0">
                          <a:solidFill>
                            <a:srgbClr val="FFFFFF"/>
                          </a:solidFill>
                          <a:latin typeface="Arial"/>
                        </a:rPr>
                        <a:t>Key evidence</a:t>
                      </a:r>
                    </a:p>
                  </a:txBody>
                  <a:tcPr marL="54864" marR="54864" marT="27432" marB="27432" anchor="ctr">
                    <a:solidFill>
                      <a:srgbClr val="1F497D"/>
                    </a:solidFill>
                  </a:tcPr>
                </a:tc>
                <a:tc>
                  <a:txBody>
                    <a:bodyPr wrap="square"/>
                    <a:lstStyle/>
                    <a:p>
                      <a:pPr algn="l"/>
                      <a:r>
                        <a:rPr sz="850" b="1" i="0">
                          <a:solidFill>
                            <a:srgbClr val="FFFFFF"/>
                          </a:solidFill>
                          <a:latin typeface="Arial"/>
                        </a:rPr>
                        <a:t>Source</a:t>
                      </a:r>
                    </a:p>
                  </a:txBody>
                  <a:tcPr marL="54864" marR="54864" marT="27432" marB="27432" anchor="ctr">
                    <a:solidFill>
                      <a:srgbClr val="1F497D"/>
                    </a:solidFill>
                  </a:tcPr>
                </a:tc>
              </a:tr>
              <a:tr h="457200">
                <a:tc>
                  <a:txBody>
                    <a:bodyPr wrap="square"/>
                    <a:lstStyle/>
                    <a:p>
                      <a:pPr algn="l"/>
                      <a:r>
                        <a:rPr sz="850" b="0" i="0">
                          <a:solidFill>
                            <a:srgbClr val="7F7F7F"/>
                          </a:solidFill>
                          <a:latin typeface="Arial"/>
                        </a:rPr>
                        <a:t>2d</a:t>
                      </a:r>
                    </a:p>
                  </a:txBody>
                  <a:tcPr marL="54864" marR="54864" marT="27432" marB="27432" anchor="ctr">
                    <a:solidFill>
                      <a:srgbClr val="FFFFFF"/>
                    </a:solidFill>
                  </a:tcPr>
                </a:tc>
                <a:tc>
                  <a:txBody>
                    <a:bodyPr wrap="square"/>
                    <a:lstStyle/>
                    <a:p>
                      <a:pPr algn="l"/>
                      <a:r>
                        <a:rPr sz="850" b="1" i="0">
                          <a:solidFill>
                            <a:srgbClr val="1F497D"/>
                          </a:solidFill>
                          <a:latin typeface="Arial"/>
                        </a:rPr>
                        <a:t>Support diversified route and product development</a:t>
                      </a:r>
                    </a:p>
                  </a:txBody>
                  <a:tcPr marL="54864" marR="54864" marT="27432" marB="27432" anchor="ctr">
                    <a:solidFill>
                      <a:srgbClr val="FFFFFF"/>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Moderate</a:t>
                      </a:r>
                    </a:p>
                  </a:txBody>
                  <a:tcPr marL="54864" marR="54864" marT="27432" marB="27432" anchor="ctr">
                    <a:solidFill>
                      <a:srgbClr val="FFFFFF"/>
                    </a:solidFill>
                  </a:tcPr>
                </a:tc>
                <a:tc>
                  <a:txBody>
                    <a:bodyPr wrap="square"/>
                    <a:lstStyle/>
                    <a:p>
                      <a:pPr algn="l"/>
                      <a:r>
                        <a:rPr sz="850" b="0" i="0">
                          <a:solidFill>
                            <a:srgbClr val="404040"/>
                          </a:solidFill>
                          <a:latin typeface="Arial"/>
                        </a:rPr>
                        <a:t>50,332 assets mapped: readiness and accessibility fall sharply with distance from Cape Town; six touring routes defined.</a:t>
                      </a:r>
                    </a:p>
                  </a:txBody>
                  <a:tcPr marL="54864" marR="54864" marT="27432" marB="27432" anchor="ctr">
                    <a:solidFill>
                      <a:srgbClr val="FFFFFF"/>
                    </a:solidFill>
                  </a:tcPr>
                </a:tc>
                <a:tc>
                  <a:txBody>
                    <a:bodyPr wrap="square"/>
                    <a:lstStyle/>
                    <a:p>
                      <a:pPr algn="l"/>
                      <a:r>
                        <a:rPr sz="800" b="0" i="0">
                          <a:solidFill>
                            <a:srgbClr val="7F7F7F"/>
                          </a:solidFill>
                          <a:latin typeface="Arial"/>
                        </a:rPr>
                        <a:t>Infrastructure Report (Jun 2026)</a:t>
                      </a:r>
                    </a:p>
                  </a:txBody>
                  <a:tcPr marL="54864" marR="54864" marT="27432" marB="27432" anchor="ctr">
                    <a:solidFill>
                      <a:srgbClr val="FFFFFF"/>
                    </a:solidFill>
                  </a:tcPr>
                </a:tc>
              </a:tr>
              <a:tr h="457200">
                <a:tc>
                  <a:txBody>
                    <a:bodyPr wrap="square"/>
                    <a:lstStyle/>
                    <a:p>
                      <a:pPr algn="l"/>
                      <a:r>
                        <a:rPr sz="850" b="0" i="0">
                          <a:solidFill>
                            <a:srgbClr val="7F7F7F"/>
                          </a:solidFill>
                          <a:latin typeface="Arial"/>
                        </a:rPr>
                        <a:t>2e</a:t>
                      </a:r>
                    </a:p>
                  </a:txBody>
                  <a:tcPr marL="54864" marR="54864" marT="27432" marB="27432" anchor="ctr">
                    <a:solidFill>
                      <a:srgbClr val="F2F2F2"/>
                    </a:solidFill>
                  </a:tcPr>
                </a:tc>
                <a:tc>
                  <a:txBody>
                    <a:bodyPr wrap="square"/>
                    <a:lstStyle/>
                    <a:p>
                      <a:pPr algn="l"/>
                      <a:r>
                        <a:rPr sz="850" b="1" i="0">
                          <a:solidFill>
                            <a:srgbClr val="1F497D"/>
                          </a:solidFill>
                          <a:latin typeface="Arial"/>
                        </a:rPr>
                        <a:t>Align visitor experience in-destination</a:t>
                      </a:r>
                    </a:p>
                  </a:txBody>
                  <a:tcPr marL="54864" marR="54864" marT="27432" marB="27432" anchor="ctr">
                    <a:solidFill>
                      <a:srgbClr val="F2F2F2"/>
                    </a:solidFill>
                  </a:tcPr>
                </a:tc>
                <a:tc>
                  <a:txBody>
                    <a:bodyPr wrap="square"/>
                    <a:lstStyle/>
                    <a:p>
                      <a:pPr algn="l"/>
                      <a:r>
                        <a:rPr sz="850" b="1" i="0">
                          <a:solidFill>
                            <a:srgbClr val="262626"/>
                          </a:solidFill>
                          <a:latin typeface="Arial"/>
                        </a:rPr>
                        <a:t>Partly supported</a:t>
                      </a:r>
                    </a:p>
                  </a:txBody>
                  <a:tcPr marL="54864" marR="54864" marT="27432" marB="27432" anchor="ctr">
                    <a:solidFill>
                      <a:srgbClr val="F2A900"/>
                    </a:solidFill>
                  </a:tcPr>
                </a:tc>
                <a:tc>
                  <a:txBody>
                    <a:bodyPr wrap="square"/>
                    <a:lstStyle/>
                    <a:p>
                      <a:pPr algn="l"/>
                      <a:r>
                        <a:rPr sz="850" b="0" i="0">
                          <a:solidFill>
                            <a:srgbClr val="404040"/>
                          </a:solidFill>
                          <a:latin typeface="Arial"/>
                        </a:rPr>
                        <a:t>Moderate</a:t>
                      </a:r>
                    </a:p>
                  </a:txBody>
                  <a:tcPr marL="54864" marR="54864" marT="27432" marB="27432" anchor="ctr">
                    <a:solidFill>
                      <a:srgbClr val="F2F2F2"/>
                    </a:solidFill>
                  </a:tcPr>
                </a:tc>
                <a:tc>
                  <a:txBody>
                    <a:bodyPr wrap="square"/>
                    <a:lstStyle/>
                    <a:p>
                      <a:pPr algn="l"/>
                      <a:r>
                        <a:rPr sz="850" b="0" i="0">
                          <a:solidFill>
                            <a:srgbClr val="404040"/>
                          </a:solidFill>
                          <a:latin typeface="Arial"/>
                        </a:rPr>
                        <a:t>Peak queues of up to three hours at the Cableway; uneven service and restaurant quality outside core nodes.</a:t>
                      </a:r>
                    </a:p>
                  </a:txBody>
                  <a:tcPr marL="54864" marR="54864" marT="27432" marB="27432" anchor="ctr">
                    <a:solidFill>
                      <a:srgbClr val="F2F2F2"/>
                    </a:solidFill>
                  </a:tcPr>
                </a:tc>
                <a:tc>
                  <a:txBody>
                    <a:bodyPr wrap="square"/>
                    <a:lstStyle/>
                    <a:p>
                      <a:pPr algn="l"/>
                      <a:r>
                        <a:rPr sz="800" b="0" i="0">
                          <a:solidFill>
                            <a:srgbClr val="7F7F7F"/>
                          </a:solidFill>
                          <a:latin typeface="Arial"/>
                        </a:rPr>
                        <a:t>Stakeholder Insights pp11, 36; Benchmark (Valencia, Singapore)</a:t>
                      </a:r>
                    </a:p>
                  </a:txBody>
                  <a:tcPr marL="54864" marR="54864" marT="27432" marB="27432" anchor="ctr">
                    <a:solidFill>
                      <a:srgbClr val="F2F2F2"/>
                    </a:solidFill>
                  </a:tcPr>
                </a:tc>
              </a:tr>
              <a:tr h="457200">
                <a:tc>
                  <a:txBody>
                    <a:bodyPr wrap="square"/>
                    <a:lstStyle/>
                    <a:p>
                      <a:pPr algn="l"/>
                      <a:r>
                        <a:rPr sz="850" b="0" i="0">
                          <a:solidFill>
                            <a:srgbClr val="7F7F7F"/>
                          </a:solidFill>
                          <a:latin typeface="Arial"/>
                        </a:rPr>
                        <a:t>2f</a:t>
                      </a:r>
                    </a:p>
                  </a:txBody>
                  <a:tcPr marL="54864" marR="54864" marT="27432" marB="27432" anchor="ctr">
                    <a:solidFill>
                      <a:srgbClr val="FFFFFF"/>
                    </a:solidFill>
                  </a:tcPr>
                </a:tc>
                <a:tc>
                  <a:txBody>
                    <a:bodyPr wrap="square"/>
                    <a:lstStyle/>
                    <a:p>
                      <a:pPr algn="l"/>
                      <a:r>
                        <a:rPr sz="850" b="1" i="0">
                          <a:solidFill>
                            <a:srgbClr val="1F497D"/>
                          </a:solidFill>
                          <a:latin typeface="Arial"/>
                        </a:rPr>
                        <a:t>Sustainably maximise nature-based and cultural attractions</a:t>
                      </a:r>
                    </a:p>
                  </a:txBody>
                  <a:tcPr marL="54864" marR="54864" marT="27432" marB="27432" anchor="ctr">
                    <a:solidFill>
                      <a:srgbClr val="FFFFFF"/>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Moderate</a:t>
                      </a:r>
                    </a:p>
                  </a:txBody>
                  <a:tcPr marL="54864" marR="54864" marT="27432" marB="27432" anchor="ctr">
                    <a:solidFill>
                      <a:srgbClr val="FFFFFF"/>
                    </a:solidFill>
                  </a:tcPr>
                </a:tc>
                <a:tc>
                  <a:txBody>
                    <a:bodyPr wrap="square"/>
                    <a:lstStyle/>
                    <a:p>
                      <a:pPr algn="l"/>
                      <a:r>
                        <a:rPr sz="850" b="0" i="0">
                          <a:solidFill>
                            <a:srgbClr val="404040"/>
                          </a:solidFill>
                          <a:latin typeface="Arial"/>
                        </a:rPr>
                        <a:t>Boulders and the Table Mountain summit are at capacity; weather costs Robben Island ~R16m a year.</a:t>
                      </a:r>
                    </a:p>
                  </a:txBody>
                  <a:tcPr marL="54864" marR="54864" marT="27432" marB="27432" anchor="ctr">
                    <a:solidFill>
                      <a:srgbClr val="FFFFFF"/>
                    </a:solidFill>
                  </a:tcPr>
                </a:tc>
                <a:tc>
                  <a:txBody>
                    <a:bodyPr wrap="square"/>
                    <a:lstStyle/>
                    <a:p>
                      <a:pPr algn="l"/>
                      <a:r>
                        <a:rPr sz="800" b="0" i="0">
                          <a:solidFill>
                            <a:srgbClr val="7F7F7F"/>
                          </a:solidFill>
                          <a:latin typeface="Arial"/>
                        </a:rPr>
                        <a:t>Stakeholder Insights pp24, 33, 36</a:t>
                      </a:r>
                    </a:p>
                  </a:txBody>
                  <a:tcPr marL="54864" marR="54864" marT="27432" marB="27432" anchor="ctr">
                    <a:solidFill>
                      <a:srgbClr val="FFFFFF"/>
                    </a:solidFill>
                  </a:tcPr>
                </a:tc>
              </a:tr>
              <a:tr h="457200">
                <a:tc>
                  <a:txBody>
                    <a:bodyPr wrap="square"/>
                    <a:lstStyle/>
                    <a:p>
                      <a:pPr algn="l"/>
                      <a:r>
                        <a:rPr sz="850" b="0" i="0">
                          <a:solidFill>
                            <a:srgbClr val="7F7F7F"/>
                          </a:solidFill>
                          <a:latin typeface="Arial"/>
                        </a:rPr>
                        <a:t>3a</a:t>
                      </a:r>
                    </a:p>
                  </a:txBody>
                  <a:tcPr marL="54864" marR="54864" marT="27432" marB="27432" anchor="ctr">
                    <a:solidFill>
                      <a:srgbClr val="F2F2F2"/>
                    </a:solidFill>
                  </a:tcPr>
                </a:tc>
                <a:tc>
                  <a:txBody>
                    <a:bodyPr wrap="square"/>
                    <a:lstStyle/>
                    <a:p>
                      <a:pPr algn="l"/>
                      <a:r>
                        <a:rPr sz="850" b="1" i="0">
                          <a:solidFill>
                            <a:srgbClr val="1F497D"/>
                          </a:solidFill>
                          <a:latin typeface="Arial"/>
                        </a:rPr>
                        <a:t>Include MSMEs and communities in tourism value chains</a:t>
                      </a:r>
                    </a:p>
                  </a:txBody>
                  <a:tcPr marL="54864" marR="54864" marT="27432" marB="27432" anchor="ctr">
                    <a:solidFill>
                      <a:srgbClr val="F2F2F2"/>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Strong</a:t>
                      </a:r>
                    </a:p>
                  </a:txBody>
                  <a:tcPr marL="54864" marR="54864" marT="27432" marB="27432" anchor="ctr">
                    <a:solidFill>
                      <a:srgbClr val="F2F2F2"/>
                    </a:solidFill>
                  </a:tcPr>
                </a:tc>
                <a:tc>
                  <a:txBody>
                    <a:bodyPr wrap="square"/>
                    <a:lstStyle/>
                    <a:p>
                      <a:pPr algn="l"/>
                      <a:r>
                        <a:rPr sz="850" b="0" i="0">
                          <a:solidFill>
                            <a:srgbClr val="404040"/>
                          </a:solidFill>
                          <a:latin typeface="Arial"/>
                        </a:rPr>
                        <a:t>20 priority communities hold 18.4% of residents but capture 0.02-0.04% of foreign visitor spend; organisation binds in 11 of 20.</a:t>
                      </a:r>
                    </a:p>
                  </a:txBody>
                  <a:tcPr marL="54864" marR="54864" marT="27432" marB="27432" anchor="ctr">
                    <a:solidFill>
                      <a:srgbClr val="F2F2F2"/>
                    </a:solidFill>
                  </a:tcPr>
                </a:tc>
                <a:tc>
                  <a:txBody>
                    <a:bodyPr wrap="square"/>
                    <a:lstStyle/>
                    <a:p>
                      <a:pPr algn="l"/>
                      <a:r>
                        <a:rPr sz="800" b="0" i="0">
                          <a:solidFill>
                            <a:srgbClr val="7F7F7F"/>
                          </a:solidFill>
                          <a:latin typeface="Arial"/>
                        </a:rPr>
                        <a:t>SME &amp; Community Inclusion Plan (Sep 2026)</a:t>
                      </a:r>
                    </a:p>
                  </a:txBody>
                  <a:tcPr marL="54864" marR="54864" marT="27432" marB="27432" anchor="ctr">
                    <a:solidFill>
                      <a:srgbClr val="F2F2F2"/>
                    </a:solidFill>
                  </a:tcPr>
                </a:tc>
              </a:tr>
              <a:tr h="457200">
                <a:tc>
                  <a:txBody>
                    <a:bodyPr wrap="square"/>
                    <a:lstStyle/>
                    <a:p>
                      <a:pPr algn="l"/>
                      <a:r>
                        <a:rPr sz="850" b="0" i="0">
                          <a:solidFill>
                            <a:srgbClr val="7F7F7F"/>
                          </a:solidFill>
                          <a:latin typeface="Arial"/>
                        </a:rPr>
                        <a:t>3b</a:t>
                      </a:r>
                    </a:p>
                  </a:txBody>
                  <a:tcPr marL="54864" marR="54864" marT="27432" marB="27432" anchor="ctr">
                    <a:solidFill>
                      <a:srgbClr val="FFFFFF"/>
                    </a:solidFill>
                  </a:tcPr>
                </a:tc>
                <a:tc>
                  <a:txBody>
                    <a:bodyPr wrap="square"/>
                    <a:lstStyle/>
                    <a:p>
                      <a:pPr algn="l"/>
                      <a:r>
                        <a:rPr sz="850" b="1" i="0">
                          <a:solidFill>
                            <a:srgbClr val="1F497D"/>
                          </a:solidFill>
                          <a:latin typeface="Arial"/>
                        </a:rPr>
                        <a:t>Develop the tourism workforce and service skills</a:t>
                      </a:r>
                    </a:p>
                  </a:txBody>
                  <a:tcPr marL="54864" marR="54864" marT="27432" marB="27432" anchor="ctr">
                    <a:solidFill>
                      <a:srgbClr val="FFFFFF"/>
                    </a:solidFill>
                  </a:tcPr>
                </a:tc>
                <a:tc>
                  <a:txBody>
                    <a:bodyPr wrap="square"/>
                    <a:lstStyle/>
                    <a:p>
                      <a:pPr algn="l"/>
                      <a:r>
                        <a:rPr sz="850" b="1" i="0">
                          <a:solidFill>
                            <a:srgbClr val="7F7F7F"/>
                          </a:solidFill>
                          <a:latin typeface="Arial"/>
                        </a:rPr>
                        <a:t>Not yet tested</a:t>
                      </a:r>
                    </a:p>
                  </a:txBody>
                  <a:tcPr marL="54864" marR="54864" marT="27432" marB="27432" anchor="ctr">
                    <a:solidFill>
                      <a:srgbClr val="FFFFFF"/>
                    </a:solidFill>
                  </a:tcPr>
                </a:tc>
                <a:tc>
                  <a:txBody>
                    <a:bodyPr wrap="square"/>
                    <a:lstStyle/>
                    <a:p>
                      <a:pPr algn="l"/>
                      <a:r>
                        <a:rPr sz="850" b="0" i="0">
                          <a:solidFill>
                            <a:srgbClr val="404040"/>
                          </a:solidFill>
                          <a:latin typeface="Arial"/>
                        </a:rPr>
                        <a:t>Thin</a:t>
                      </a:r>
                    </a:p>
                  </a:txBody>
                  <a:tcPr marL="54864" marR="54864" marT="27432" marB="27432" anchor="ctr">
                    <a:solidFill>
                      <a:srgbClr val="FFFFFF"/>
                    </a:solidFill>
                  </a:tcPr>
                </a:tc>
                <a:tc>
                  <a:txBody>
                    <a:bodyPr wrap="square"/>
                    <a:lstStyle/>
                    <a:p>
                      <a:pPr algn="l"/>
                      <a:r>
                        <a:rPr sz="850" b="0" i="0">
                          <a:solidFill>
                            <a:srgbClr val="404040"/>
                          </a:solidFill>
                          <a:latin typeface="Arial"/>
                        </a:rPr>
                        <a:t>Skills gaps surface anecdotally (CapeNature, guides, service quality); no labour supply or training analysis exists.</a:t>
                      </a:r>
                    </a:p>
                  </a:txBody>
                  <a:tcPr marL="54864" marR="54864" marT="27432" marB="27432" anchor="ctr">
                    <a:solidFill>
                      <a:srgbClr val="FFFFFF"/>
                    </a:solidFill>
                  </a:tcPr>
                </a:tc>
                <a:tc>
                  <a:txBody>
                    <a:bodyPr wrap="square"/>
                    <a:lstStyle/>
                    <a:p>
                      <a:pPr algn="l"/>
                      <a:r>
                        <a:rPr sz="800" b="0" i="0">
                          <a:solidFill>
                            <a:srgbClr val="7F7F7F"/>
                          </a:solidFill>
                          <a:latin typeface="Arial"/>
                        </a:rPr>
                        <a:t>Stakeholder Insights pp27, 43-44</a:t>
                      </a:r>
                    </a:p>
                  </a:txBody>
                  <a:tcPr marL="54864" marR="54864" marT="27432" marB="27432" anchor="ctr">
                    <a:solidFill>
                      <a:srgbClr val="FFFFFF"/>
                    </a:solidFill>
                  </a:tcPr>
                </a:tc>
              </a:tr>
              <a:tr h="457200">
                <a:tc>
                  <a:txBody>
                    <a:bodyPr wrap="square"/>
                    <a:lstStyle/>
                    <a:p>
                      <a:pPr algn="l"/>
                      <a:r>
                        <a:rPr sz="850" b="0" i="0">
                          <a:solidFill>
                            <a:srgbClr val="7F7F7F"/>
                          </a:solidFill>
                          <a:latin typeface="Arial"/>
                        </a:rPr>
                        <a:t>3c</a:t>
                      </a:r>
                    </a:p>
                  </a:txBody>
                  <a:tcPr marL="54864" marR="54864" marT="27432" marB="27432" anchor="ctr">
                    <a:solidFill>
                      <a:srgbClr val="F2F2F2"/>
                    </a:solidFill>
                  </a:tcPr>
                </a:tc>
                <a:tc>
                  <a:txBody>
                    <a:bodyPr wrap="square"/>
                    <a:lstStyle/>
                    <a:p>
                      <a:pPr algn="l"/>
                      <a:r>
                        <a:rPr sz="850" b="1" i="0">
                          <a:solidFill>
                            <a:srgbClr val="1F497D"/>
                          </a:solidFill>
                          <a:latin typeface="Arial"/>
                        </a:rPr>
                        <a:t>Ensure sustainable and resilient destination management</a:t>
                      </a:r>
                    </a:p>
                  </a:txBody>
                  <a:tcPr marL="54864" marR="54864" marT="27432" marB="27432" anchor="ctr">
                    <a:solidFill>
                      <a:srgbClr val="F2F2F2"/>
                    </a:solidFill>
                  </a:tcPr>
                </a:tc>
                <a:tc>
                  <a:txBody>
                    <a:bodyPr wrap="square"/>
                    <a:lstStyle/>
                    <a:p>
                      <a:pPr algn="l"/>
                      <a:r>
                        <a:rPr sz="850" b="1" i="0">
                          <a:solidFill>
                            <a:srgbClr val="262626"/>
                          </a:solidFill>
                          <a:latin typeface="Arial"/>
                        </a:rPr>
                        <a:t>Partly supported</a:t>
                      </a:r>
                    </a:p>
                  </a:txBody>
                  <a:tcPr marL="54864" marR="54864" marT="27432" marB="27432" anchor="ctr">
                    <a:solidFill>
                      <a:srgbClr val="F2A900"/>
                    </a:solidFill>
                  </a:tcPr>
                </a:tc>
                <a:tc>
                  <a:txBody>
                    <a:bodyPr wrap="square"/>
                    <a:lstStyle/>
                    <a:p>
                      <a:pPr algn="l"/>
                      <a:r>
                        <a:rPr sz="850" b="0" i="0">
                          <a:solidFill>
                            <a:srgbClr val="404040"/>
                          </a:solidFill>
                          <a:latin typeface="Arial"/>
                        </a:rPr>
                        <a:t>Thin</a:t>
                      </a:r>
                    </a:p>
                  </a:txBody>
                  <a:tcPr marL="54864" marR="54864" marT="27432" marB="27432" anchor="ctr">
                    <a:solidFill>
                      <a:srgbClr val="F2F2F2"/>
                    </a:solidFill>
                  </a:tcPr>
                </a:tc>
                <a:tc>
                  <a:txBody>
                    <a:bodyPr wrap="square"/>
                    <a:lstStyle/>
                    <a:p>
                      <a:pPr algn="l"/>
                      <a:r>
                        <a:rPr sz="850" b="0" i="0">
                          <a:solidFill>
                            <a:srgbClr val="404040"/>
                          </a:solidFill>
                          <a:latin typeface="Arial"/>
                        </a:rPr>
                        <a:t>Climate-driven closures, water limits and carrying capacity are documented; no carbon or resilience metrics exist.</a:t>
                      </a:r>
                    </a:p>
                  </a:txBody>
                  <a:tcPr marL="54864" marR="54864" marT="27432" marB="27432" anchor="ctr">
                    <a:solidFill>
                      <a:srgbClr val="F2F2F2"/>
                    </a:solidFill>
                  </a:tcPr>
                </a:tc>
                <a:tc>
                  <a:txBody>
                    <a:bodyPr wrap="square"/>
                    <a:lstStyle/>
                    <a:p>
                      <a:pPr algn="l"/>
                      <a:r>
                        <a:rPr sz="800" b="0" i="0">
                          <a:solidFill>
                            <a:srgbClr val="7F7F7F"/>
                          </a:solidFill>
                          <a:latin typeface="Arial"/>
                        </a:rPr>
                        <a:t>Diagnostic p53; Stakeholder Insights p12</a:t>
                      </a:r>
                    </a:p>
                  </a:txBody>
                  <a:tcPr marL="54864" marR="54864" marT="27432" marB="27432" anchor="ctr">
                    <a:solidFill>
                      <a:srgbClr val="F2F2F2"/>
                    </a:solidFill>
                  </a:tcPr>
                </a:tc>
              </a:tr>
              <a:tr h="457200">
                <a:tc>
                  <a:txBody>
                    <a:bodyPr wrap="square"/>
                    <a:lstStyle/>
                    <a:p>
                      <a:pPr algn="l"/>
                      <a:r>
                        <a:rPr sz="850" b="0" i="0">
                          <a:solidFill>
                            <a:srgbClr val="7F7F7F"/>
                          </a:solidFill>
                          <a:latin typeface="Arial"/>
                        </a:rPr>
                        <a:t>3d</a:t>
                      </a:r>
                    </a:p>
                  </a:txBody>
                  <a:tcPr marL="54864" marR="54864" marT="27432" marB="27432" anchor="ctr">
                    <a:solidFill>
                      <a:srgbClr val="FFFFFF"/>
                    </a:solidFill>
                  </a:tcPr>
                </a:tc>
                <a:tc>
                  <a:txBody>
                    <a:bodyPr wrap="square"/>
                    <a:lstStyle/>
                    <a:p>
                      <a:pPr algn="l"/>
                      <a:r>
                        <a:rPr sz="850" b="1" i="0">
                          <a:solidFill>
                            <a:srgbClr val="1F497D"/>
                          </a:solidFill>
                          <a:latin typeface="Arial"/>
                        </a:rPr>
                        <a:t>Review institutional arrangements (local, provincial and national)</a:t>
                      </a:r>
                    </a:p>
                  </a:txBody>
                  <a:tcPr marL="54864" marR="54864" marT="27432" marB="27432" anchor="ctr">
                    <a:solidFill>
                      <a:srgbClr val="FFFFFF"/>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Strong</a:t>
                      </a:r>
                    </a:p>
                  </a:txBody>
                  <a:tcPr marL="54864" marR="54864" marT="27432" marB="27432" anchor="ctr">
                    <a:solidFill>
                      <a:srgbClr val="FFFFFF"/>
                    </a:solidFill>
                  </a:tcPr>
                </a:tc>
                <a:tc>
                  <a:txBody>
                    <a:bodyPr wrap="square"/>
                    <a:lstStyle/>
                    <a:p>
                      <a:pPr algn="l"/>
                      <a:r>
                        <a:rPr sz="850" b="0" i="0">
                          <a:solidFill>
                            <a:srgbClr val="404040"/>
                          </a:solidFill>
                          <a:latin typeface="Arial"/>
                        </a:rPr>
                        <a:t>Airports, ports and visas sit with national bodies; the City's coordination cluster is only proposed; Circular 131 cut LTO funding.</a:t>
                      </a:r>
                    </a:p>
                  </a:txBody>
                  <a:tcPr marL="54864" marR="54864" marT="27432" marB="27432" anchor="ctr">
                    <a:solidFill>
                      <a:srgbClr val="FFFFFF"/>
                    </a:solidFill>
                  </a:tcPr>
                </a:tc>
                <a:tc>
                  <a:txBody>
                    <a:bodyPr wrap="square"/>
                    <a:lstStyle/>
                    <a:p>
                      <a:pPr algn="l"/>
                      <a:r>
                        <a:rPr sz="800" b="0" i="0">
                          <a:solidFill>
                            <a:srgbClr val="7F7F7F"/>
                          </a:solidFill>
                          <a:latin typeface="Arial"/>
                        </a:rPr>
                        <a:t>Municipal factbase; Stakeholder Insights pp13, 25</a:t>
                      </a:r>
                    </a:p>
                  </a:txBody>
                  <a:tcPr marL="54864" marR="54864" marT="27432" marB="27432" anchor="ctr">
                    <a:solidFill>
                      <a:srgbClr val="FFFFFF"/>
                    </a:solidFill>
                  </a:tcPr>
                </a:tc>
              </a:tr>
              <a:tr h="457200">
                <a:tc>
                  <a:txBody>
                    <a:bodyPr wrap="square"/>
                    <a:lstStyle/>
                    <a:p>
                      <a:pPr algn="l"/>
                      <a:r>
                        <a:rPr sz="850" b="0" i="0">
                          <a:solidFill>
                            <a:srgbClr val="7F7F7F"/>
                          </a:solidFill>
                          <a:latin typeface="Arial"/>
                        </a:rPr>
                        <a:t>3e</a:t>
                      </a:r>
                    </a:p>
                  </a:txBody>
                  <a:tcPr marL="54864" marR="54864" marT="27432" marB="27432" anchor="ctr">
                    <a:solidFill>
                      <a:srgbClr val="F2F2F2"/>
                    </a:solidFill>
                  </a:tcPr>
                </a:tc>
                <a:tc>
                  <a:txBody>
                    <a:bodyPr wrap="square"/>
                    <a:lstStyle/>
                    <a:p>
                      <a:pPr algn="l"/>
                      <a:r>
                        <a:rPr sz="850" b="1" i="0">
                          <a:solidFill>
                            <a:srgbClr val="1F497D"/>
                          </a:solidFill>
                          <a:latin typeface="Arial"/>
                        </a:rPr>
                        <a:t>Strengthen industry and government collaboration</a:t>
                      </a:r>
                    </a:p>
                  </a:txBody>
                  <a:tcPr marL="54864" marR="54864" marT="27432" marB="27432" anchor="ctr">
                    <a:solidFill>
                      <a:srgbClr val="F2F2F2"/>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Strong</a:t>
                      </a:r>
                    </a:p>
                  </a:txBody>
                  <a:tcPr marL="54864" marR="54864" marT="27432" marB="27432" anchor="ctr">
                    <a:solidFill>
                      <a:srgbClr val="F2F2F2"/>
                    </a:solidFill>
                  </a:tcPr>
                </a:tc>
                <a:tc>
                  <a:txBody>
                    <a:bodyPr wrap="square"/>
                    <a:lstStyle/>
                    <a:p>
                      <a:pPr algn="l"/>
                      <a:r>
                        <a:rPr sz="850" b="0" i="0">
                          <a:solidFill>
                            <a:srgbClr val="404040"/>
                          </a:solidFill>
                          <a:latin typeface="Arial"/>
                        </a:rPr>
                        <a:t>15 of 16 organisations raised collaboration; Cape Town Air Access shows a multi-agency model that works.</a:t>
                      </a:r>
                    </a:p>
                  </a:txBody>
                  <a:tcPr marL="54864" marR="54864" marT="27432" marB="27432" anchor="ctr">
                    <a:solidFill>
                      <a:srgbClr val="F2F2F2"/>
                    </a:solidFill>
                  </a:tcPr>
                </a:tc>
                <a:tc>
                  <a:txBody>
                    <a:bodyPr wrap="square"/>
                    <a:lstStyle/>
                    <a:p>
                      <a:pPr algn="l"/>
                      <a:r>
                        <a:rPr sz="800" b="0" i="0">
                          <a:solidFill>
                            <a:srgbClr val="7F7F7F"/>
                          </a:solidFill>
                          <a:latin typeface="Arial"/>
                        </a:rPr>
                        <a:t>Stakeholder Insights; MIDAS</a:t>
                      </a:r>
                    </a:p>
                  </a:txBody>
                  <a:tcPr marL="54864" marR="54864" marT="27432" marB="27432" anchor="ctr">
                    <a:solidFill>
                      <a:srgbClr val="F2F2F2"/>
                    </a:solidFill>
                  </a:tcPr>
                </a:tc>
              </a:tr>
              <a:tr h="457200">
                <a:tc>
                  <a:txBody>
                    <a:bodyPr wrap="square"/>
                    <a:lstStyle/>
                    <a:p>
                      <a:pPr algn="l"/>
                      <a:r>
                        <a:rPr sz="850" b="0" i="0">
                          <a:solidFill>
                            <a:srgbClr val="7F7F7F"/>
                          </a:solidFill>
                          <a:latin typeface="Arial"/>
                        </a:rPr>
                        <a:t>3f</a:t>
                      </a:r>
                    </a:p>
                  </a:txBody>
                  <a:tcPr marL="54864" marR="54864" marT="27432" marB="27432" anchor="ctr">
                    <a:solidFill>
                      <a:srgbClr val="FFFFFF"/>
                    </a:solidFill>
                  </a:tcPr>
                </a:tc>
                <a:tc>
                  <a:txBody>
                    <a:bodyPr wrap="square"/>
                    <a:lstStyle/>
                    <a:p>
                      <a:pPr algn="l"/>
                      <a:r>
                        <a:rPr sz="850" b="1" i="0">
                          <a:solidFill>
                            <a:srgbClr val="1F497D"/>
                          </a:solidFill>
                          <a:latin typeface="Arial"/>
                        </a:rPr>
                        <a:t>Expedite enabling policy and build the data layer</a:t>
                      </a:r>
                    </a:p>
                  </a:txBody>
                  <a:tcPr marL="54864" marR="54864" marT="27432" marB="27432" anchor="ctr">
                    <a:solidFill>
                      <a:srgbClr val="FFFFFF"/>
                    </a:solidFill>
                  </a:tcPr>
                </a:tc>
                <a:tc>
                  <a:txBody>
                    <a:bodyPr wrap="square"/>
                    <a:lstStyle/>
                    <a:p>
                      <a:pPr algn="l"/>
                      <a:r>
                        <a:rPr sz="850" b="1" i="0">
                          <a:solidFill>
                            <a:srgbClr val="FFFFFF"/>
                          </a:solidFill>
                          <a:latin typeface="Arial"/>
                        </a:rPr>
                        <a:t>Supported</a:t>
                      </a:r>
                    </a:p>
                  </a:txBody>
                  <a:tcPr marL="54864" marR="54864" marT="27432" marB="27432" anchor="ctr">
                    <a:solidFill>
                      <a:srgbClr val="2E9E44"/>
                    </a:solidFill>
                  </a:tcPr>
                </a:tc>
                <a:tc>
                  <a:txBody>
                    <a:bodyPr wrap="square"/>
                    <a:lstStyle/>
                    <a:p>
                      <a:pPr algn="l"/>
                      <a:r>
                        <a:rPr sz="850" b="0" i="0">
                          <a:solidFill>
                            <a:srgbClr val="404040"/>
                          </a:solidFill>
                          <a:latin typeface="Arial"/>
                        </a:rPr>
                        <a:t>Strong</a:t>
                      </a:r>
                    </a:p>
                  </a:txBody>
                  <a:tcPr marL="54864" marR="54864" marT="27432" marB="27432" anchor="ctr">
                    <a:solidFill>
                      <a:srgbClr val="FFFFFF"/>
                    </a:solidFill>
                  </a:tcPr>
                </a:tc>
                <a:tc>
                  <a:txBody>
                    <a:bodyPr wrap="square"/>
                    <a:lstStyle/>
                    <a:p>
                      <a:pPr algn="l"/>
                      <a:r>
                        <a:rPr sz="850" b="0" i="0">
                          <a:solidFill>
                            <a:srgbClr val="404040"/>
                          </a:solidFill>
                          <a:latin typeface="Arial"/>
                        </a:rPr>
                        <a:t>At least six competing arrivals baselines; no approved provincial tourism GDP or jobs method; data lagged and proxy-based.</a:t>
                      </a:r>
                    </a:p>
                  </a:txBody>
                  <a:tcPr marL="54864" marR="54864" marT="27432" marB="27432" anchor="ctr">
                    <a:solidFill>
                      <a:srgbClr val="FFFFFF"/>
                    </a:solidFill>
                  </a:tcPr>
                </a:tc>
                <a:tc>
                  <a:txBody>
                    <a:bodyPr wrap="square"/>
                    <a:lstStyle/>
                    <a:p>
                      <a:pPr algn="l"/>
                      <a:r>
                        <a:rPr sz="800" b="0" i="0">
                          <a:solidFill>
                            <a:srgbClr val="7F7F7F"/>
                          </a:solidFill>
                          <a:latin typeface="Arial"/>
                        </a:rPr>
                        <a:t>Stakeholder Insights p37; factbases</a:t>
                      </a:r>
                    </a:p>
                  </a:txBody>
                  <a:tcPr marL="54864" marR="54864" marT="27432" marB="27432" anchor="ctr">
                    <a:solidFill>
                      <a:srgbClr val="FFFFFF"/>
                    </a:solidFill>
                  </a:tcPr>
                </a:tc>
              </a:tr>
              <a:tr h="457200">
                <a:tc>
                  <a:txBody>
                    <a:bodyPr wrap="square"/>
                    <a:lstStyle/>
                    <a:p>
                      <a:pPr algn="l"/>
                      <a:r>
                        <a:rPr sz="850" b="0" i="0">
                          <a:solidFill>
                            <a:srgbClr val="7F7F7F"/>
                          </a:solidFill>
                          <a:latin typeface="Arial"/>
                        </a:rPr>
                        <a:t>3g</a:t>
                      </a:r>
                    </a:p>
                  </a:txBody>
                  <a:tcPr marL="54864" marR="54864" marT="27432" marB="27432" anchor="ctr">
                    <a:solidFill>
                      <a:srgbClr val="F2F2F2"/>
                    </a:solidFill>
                  </a:tcPr>
                </a:tc>
                <a:tc>
                  <a:txBody>
                    <a:bodyPr wrap="square"/>
                    <a:lstStyle/>
                    <a:p>
                      <a:pPr algn="l"/>
                      <a:r>
                        <a:rPr sz="850" b="1" i="0">
                          <a:solidFill>
                            <a:srgbClr val="1F497D"/>
                          </a:solidFill>
                          <a:latin typeface="Arial"/>
                        </a:rPr>
                        <a:t>Crowd-in capital with targeted investment strategies</a:t>
                      </a:r>
                    </a:p>
                  </a:txBody>
                  <a:tcPr marL="54864" marR="54864" marT="27432" marB="27432" anchor="ctr">
                    <a:solidFill>
                      <a:srgbClr val="F2F2F2"/>
                    </a:solidFill>
                  </a:tcPr>
                </a:tc>
                <a:tc>
                  <a:txBody>
                    <a:bodyPr wrap="square"/>
                    <a:lstStyle/>
                    <a:p>
                      <a:pPr algn="l"/>
                      <a:r>
                        <a:rPr sz="850" b="1" i="0">
                          <a:solidFill>
                            <a:srgbClr val="262626"/>
                          </a:solidFill>
                          <a:latin typeface="Arial"/>
                        </a:rPr>
                        <a:t>Partly supported</a:t>
                      </a:r>
                    </a:p>
                  </a:txBody>
                  <a:tcPr marL="54864" marR="54864" marT="27432" marB="27432" anchor="ctr">
                    <a:solidFill>
                      <a:srgbClr val="F2A900"/>
                    </a:solidFill>
                  </a:tcPr>
                </a:tc>
                <a:tc>
                  <a:txBody>
                    <a:bodyPr wrap="square"/>
                    <a:lstStyle/>
                    <a:p>
                      <a:pPr algn="l"/>
                      <a:r>
                        <a:rPr sz="850" b="0" i="0">
                          <a:solidFill>
                            <a:srgbClr val="404040"/>
                          </a:solidFill>
                          <a:latin typeface="Arial"/>
                        </a:rPr>
                        <a:t>Thin</a:t>
                      </a:r>
                    </a:p>
                  </a:txBody>
                  <a:tcPr marL="54864" marR="54864" marT="27432" marB="27432" anchor="ctr">
                    <a:solidFill>
                      <a:srgbClr val="F2F2F2"/>
                    </a:solidFill>
                  </a:tcPr>
                </a:tc>
                <a:tc>
                  <a:txBody>
                    <a:bodyPr wrap="square"/>
                    <a:lstStyle/>
                    <a:p>
                      <a:pPr algn="l"/>
                      <a:r>
                        <a:rPr sz="850" b="0" i="0">
                          <a:solidFill>
                            <a:srgbClr val="404040"/>
                          </a:solidFill>
                          <a:latin typeface="Arial"/>
                        </a:rPr>
                        <a:t>Funding sits below peers and a levy is being discussed; no costed pipeline or ROI exists in any deliverable.</a:t>
                      </a:r>
                    </a:p>
                  </a:txBody>
                  <a:tcPr marL="54864" marR="54864" marT="27432" marB="27432" anchor="ctr">
                    <a:solidFill>
                      <a:srgbClr val="F2F2F2"/>
                    </a:solidFill>
                  </a:tcPr>
                </a:tc>
                <a:tc>
                  <a:txBody>
                    <a:bodyPr wrap="square"/>
                    <a:lstStyle/>
                    <a:p>
                      <a:pPr algn="l"/>
                      <a:r>
                        <a:rPr sz="800" b="0" i="0">
                          <a:solidFill>
                            <a:srgbClr val="7F7F7F"/>
                          </a:solidFill>
                          <a:latin typeface="Arial"/>
                        </a:rPr>
                        <a:t>Stakeholder Insights p12; Infrastructure Report</a:t>
                      </a:r>
                    </a:p>
                  </a:txBody>
                  <a:tcPr marL="54864" marR="54864" marT="27432" marB="27432" anchor="ctr">
                    <a:solidFill>
                      <a:srgbClr val="F2F2F2"/>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Twelve inputs inform this pack; three are AI-assisted syntheses and need primary-source checks</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APPENDIX | INPUT REGISTER</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Documents as supplied for this session</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38</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11420856" cy="4754880"/>
        </p:xfrm>
        <a:graphic>
          <a:graphicData uri="http://schemas.openxmlformats.org/drawingml/2006/table">
            <a:tbl>
              <a:tblPr firstRow="1" bandRow="0">
                <a:tableStyleId>{5C22544A-7EE6-4342-B048-85BDC9FD1C3A}</a:tableStyleId>
              </a:tblPr>
              <a:tblGrid>
                <a:gridCol w="3291840"/>
                <a:gridCol w="1737360"/>
                <a:gridCol w="2194560"/>
                <a:gridCol w="4197096"/>
              </a:tblGrid>
              <a:tr h="365760">
                <a:tc>
                  <a:txBody>
                    <a:bodyPr wrap="square"/>
                    <a:lstStyle/>
                    <a:p>
                      <a:pPr algn="l"/>
                      <a:r>
                        <a:rPr sz="1000" b="1" i="0">
                          <a:solidFill>
                            <a:srgbClr val="FFFFFF"/>
                          </a:solidFill>
                          <a:latin typeface="Arial"/>
                        </a:rPr>
                        <a:t>Input</a:t>
                      </a:r>
                    </a:p>
                  </a:txBody>
                  <a:tcPr marL="54864" marR="54864" marT="27432" marB="27432" anchor="ctr">
                    <a:solidFill>
                      <a:srgbClr val="1F497D"/>
                    </a:solidFill>
                  </a:tcPr>
                </a:tc>
                <a:tc>
                  <a:txBody>
                    <a:bodyPr wrap="square"/>
                    <a:lstStyle/>
                    <a:p>
                      <a:pPr algn="l"/>
                      <a:r>
                        <a:rPr sz="1000" b="1" i="0">
                          <a:solidFill>
                            <a:srgbClr val="FFFFFF"/>
                          </a:solidFill>
                          <a:latin typeface="Arial"/>
                        </a:rPr>
                        <a:t>Dated</a:t>
                      </a:r>
                    </a:p>
                  </a:txBody>
                  <a:tcPr marL="54864" marR="54864" marT="27432" marB="27432" anchor="ctr">
                    <a:solidFill>
                      <a:srgbClr val="1F497D"/>
                    </a:solidFill>
                  </a:tcPr>
                </a:tc>
                <a:tc>
                  <a:txBody>
                    <a:bodyPr wrap="square"/>
                    <a:lstStyle/>
                    <a:p>
                      <a:pPr algn="l"/>
                      <a:r>
                        <a:rPr sz="1000" b="1" i="0">
                          <a:solidFill>
                            <a:srgbClr val="FFFFFF"/>
                          </a:solidFill>
                          <a:latin typeface="Arial"/>
                        </a:rPr>
                        <a:t>Status</a:t>
                      </a:r>
                    </a:p>
                  </a:txBody>
                  <a:tcPr marL="54864" marR="54864" marT="27432" marB="27432" anchor="ctr">
                    <a:solidFill>
                      <a:srgbClr val="1F497D"/>
                    </a:solidFill>
                  </a:tcPr>
                </a:tc>
                <a:tc>
                  <a:txBody>
                    <a:bodyPr wrap="square"/>
                    <a:lstStyle/>
                    <a:p>
                      <a:pPr algn="l"/>
                      <a:r>
                        <a:rPr sz="1000" b="1" i="0">
                          <a:solidFill>
                            <a:srgbClr val="FFFFFF"/>
                          </a:solidFill>
                          <a:latin typeface="Arial"/>
                        </a:rPr>
                        <a:t>Used for</a:t>
                      </a:r>
                    </a:p>
                  </a:txBody>
                  <a:tcPr marL="54864" marR="54864" marT="27432" marB="27432" anchor="ctr">
                    <a:solidFill>
                      <a:srgbClr val="1F497D"/>
                    </a:solidFill>
                  </a:tcPr>
                </a:tc>
              </a:tr>
              <a:tr h="365760">
                <a:tc>
                  <a:txBody>
                    <a:bodyPr wrap="square"/>
                    <a:lstStyle/>
                    <a:p>
                      <a:pPr algn="l"/>
                      <a:r>
                        <a:rPr sz="1000" b="1" i="0">
                          <a:solidFill>
                            <a:srgbClr val="1F497D"/>
                          </a:solidFill>
                          <a:latin typeface="Arial"/>
                        </a:rPr>
                        <a:t>Inception Report</a:t>
                      </a:r>
                    </a:p>
                  </a:txBody>
                  <a:tcPr marL="54864" marR="54864" marT="27432" marB="27432" anchor="ctr">
                    <a:solidFill>
                      <a:srgbClr val="FFFFFF"/>
                    </a:solidFill>
                  </a:tcPr>
                </a:tc>
                <a:tc>
                  <a:txBody>
                    <a:bodyPr wrap="square"/>
                    <a:lstStyle/>
                    <a:p>
                      <a:pPr algn="l"/>
                      <a:r>
                        <a:rPr sz="1000" b="0" i="0">
                          <a:solidFill>
                            <a:srgbClr val="404040"/>
                          </a:solidFill>
                          <a:latin typeface="Arial"/>
                        </a:rPr>
                        <a:t>Nov 2025</a:t>
                      </a:r>
                    </a:p>
                  </a:txBody>
                  <a:tcPr marL="54864" marR="54864" marT="27432" marB="27432" anchor="ctr">
                    <a:solidFill>
                      <a:srgbClr val="FFFFFF"/>
                    </a:solidFill>
                  </a:tcPr>
                </a:tc>
                <a:tc>
                  <a:txBody>
                    <a:bodyPr wrap="square"/>
                    <a:lstStyle/>
                    <a:p>
                      <a:pPr algn="l"/>
                      <a:r>
                        <a:rPr sz="1000" b="0" i="0">
                          <a:solidFill>
                            <a:srgbClr val="404040"/>
                          </a:solidFill>
                          <a:latin typeface="Arial"/>
                        </a:rPr>
                        <a:t>Final</a:t>
                      </a:r>
                    </a:p>
                  </a:txBody>
                  <a:tcPr marL="54864" marR="54864" marT="27432" marB="27432" anchor="ctr">
                    <a:solidFill>
                      <a:srgbClr val="FFFFFF"/>
                    </a:solidFill>
                  </a:tcPr>
                </a:tc>
                <a:tc>
                  <a:txBody>
                    <a:bodyPr wrap="square"/>
                    <a:lstStyle/>
                    <a:p>
                      <a:pPr algn="l"/>
                      <a:r>
                        <a:rPr sz="1000" b="0" i="0">
                          <a:solidFill>
                            <a:srgbClr val="404040"/>
                          </a:solidFill>
                          <a:latin typeface="Arial"/>
                        </a:rPr>
                        <a:t>Plan, team, benchmark shortlist</a:t>
                      </a:r>
                    </a:p>
                  </a:txBody>
                  <a:tcPr marL="54864" marR="54864" marT="27432" marB="27432" anchor="ctr">
                    <a:solidFill>
                      <a:srgbClr val="FFFFFF"/>
                    </a:solidFill>
                  </a:tcPr>
                </a:tc>
              </a:tr>
              <a:tr h="365760">
                <a:tc>
                  <a:txBody>
                    <a:bodyPr wrap="square"/>
                    <a:lstStyle/>
                    <a:p>
                      <a:pPr algn="l"/>
                      <a:r>
                        <a:rPr sz="1000" b="1" i="0">
                          <a:solidFill>
                            <a:srgbClr val="1F497D"/>
                          </a:solidFill>
                          <a:latin typeface="Arial"/>
                        </a:rPr>
                        <a:t>Current State Diagnostic v2</a:t>
                      </a:r>
                    </a:p>
                  </a:txBody>
                  <a:tcPr marL="54864" marR="54864" marT="27432" marB="27432" anchor="ctr">
                    <a:solidFill>
                      <a:srgbClr val="F2F2F2"/>
                    </a:solidFill>
                  </a:tcPr>
                </a:tc>
                <a:tc>
                  <a:txBody>
                    <a:bodyPr wrap="square"/>
                    <a:lstStyle/>
                    <a:p>
                      <a:pPr algn="l"/>
                      <a:r>
                        <a:rPr sz="1000" b="0" i="0">
                          <a:solidFill>
                            <a:srgbClr val="404040"/>
                          </a:solidFill>
                          <a:latin typeface="Arial"/>
                        </a:rPr>
                        <a:t>Dec 2025</a:t>
                      </a:r>
                    </a:p>
                  </a:txBody>
                  <a:tcPr marL="54864" marR="54864" marT="27432" marB="27432" anchor="ctr">
                    <a:solidFill>
                      <a:srgbClr val="F2F2F2"/>
                    </a:solidFill>
                  </a:tcPr>
                </a:tc>
                <a:tc>
                  <a:txBody>
                    <a:bodyPr wrap="square"/>
                    <a:lstStyle/>
                    <a:p>
                      <a:pPr algn="l"/>
                      <a:r>
                        <a:rPr sz="1000" b="0" i="0">
                          <a:solidFill>
                            <a:srgbClr val="404040"/>
                          </a:solidFill>
                          <a:latin typeface="Arial"/>
                        </a:rPr>
                        <a:t>Final</a:t>
                      </a:r>
                    </a:p>
                  </a:txBody>
                  <a:tcPr marL="54864" marR="54864" marT="27432" marB="27432" anchor="ctr">
                    <a:solidFill>
                      <a:srgbClr val="F2F2F2"/>
                    </a:solidFill>
                  </a:tcPr>
                </a:tc>
                <a:tc>
                  <a:txBody>
                    <a:bodyPr wrap="square"/>
                    <a:lstStyle/>
                    <a:p>
                      <a:pPr algn="l"/>
                      <a:r>
                        <a:rPr sz="1000" b="0" i="0">
                          <a:solidFill>
                            <a:srgbClr val="404040"/>
                          </a:solidFill>
                          <a:latin typeface="Arial"/>
                        </a:rPr>
                        <a:t>Baseline; first hypothesis tree</a:t>
                      </a:r>
                    </a:p>
                  </a:txBody>
                  <a:tcPr marL="54864" marR="54864" marT="27432" marB="27432" anchor="ctr">
                    <a:solidFill>
                      <a:srgbClr val="F2F2F2"/>
                    </a:solidFill>
                  </a:tcPr>
                </a:tc>
              </a:tr>
              <a:tr h="365760">
                <a:tc>
                  <a:txBody>
                    <a:bodyPr wrap="square"/>
                    <a:lstStyle/>
                    <a:p>
                      <a:pPr algn="l"/>
                      <a:r>
                        <a:rPr sz="1000" b="1" i="0">
                          <a:solidFill>
                            <a:srgbClr val="1F497D"/>
                          </a:solidFill>
                          <a:latin typeface="Arial"/>
                        </a:rPr>
                        <a:t>Global Benchmarking Report</a:t>
                      </a:r>
                    </a:p>
                  </a:txBody>
                  <a:tcPr marL="54864" marR="54864" marT="27432" marB="27432" anchor="ctr">
                    <a:solidFill>
                      <a:srgbClr val="FFFFFF"/>
                    </a:solidFill>
                  </a:tcPr>
                </a:tc>
                <a:tc>
                  <a:txBody>
                    <a:bodyPr wrap="square"/>
                    <a:lstStyle/>
                    <a:p>
                      <a:pPr algn="l"/>
                      <a:r>
                        <a:rPr sz="1000" b="0" i="0">
                          <a:solidFill>
                            <a:srgbClr val="404040"/>
                          </a:solidFill>
                          <a:latin typeface="Arial"/>
                        </a:rPr>
                        <a:t>Mar 2026</a:t>
                      </a:r>
                    </a:p>
                  </a:txBody>
                  <a:tcPr marL="54864" marR="54864" marT="27432" marB="27432" anchor="ctr">
                    <a:solidFill>
                      <a:srgbClr val="FFFFFF"/>
                    </a:solidFill>
                  </a:tcPr>
                </a:tc>
                <a:tc>
                  <a:txBody>
                    <a:bodyPr wrap="square"/>
                    <a:lstStyle/>
                    <a:p>
                      <a:pPr algn="l"/>
                      <a:r>
                        <a:rPr sz="1000" b="0" i="0">
                          <a:solidFill>
                            <a:srgbClr val="404040"/>
                          </a:solidFill>
                          <a:latin typeface="Arial"/>
                        </a:rPr>
                        <a:t>Final</a:t>
                      </a:r>
                    </a:p>
                  </a:txBody>
                  <a:tcPr marL="54864" marR="54864" marT="27432" marB="27432" anchor="ctr">
                    <a:solidFill>
                      <a:srgbClr val="FFFFFF"/>
                    </a:solidFill>
                  </a:tcPr>
                </a:tc>
                <a:tc>
                  <a:txBody>
                    <a:bodyPr wrap="square"/>
                    <a:lstStyle/>
                    <a:p>
                      <a:pPr algn="l"/>
                      <a:r>
                        <a:rPr sz="1000" b="0" i="0">
                          <a:solidFill>
                            <a:srgbClr val="404040"/>
                          </a:solidFill>
                          <a:latin typeface="Arial"/>
                        </a:rPr>
                        <a:t>Six comparators; system insight</a:t>
                      </a:r>
                    </a:p>
                  </a:txBody>
                  <a:tcPr marL="54864" marR="54864" marT="27432" marB="27432" anchor="ctr">
                    <a:solidFill>
                      <a:srgbClr val="FFFFFF"/>
                    </a:solidFill>
                  </a:tcPr>
                </a:tc>
              </a:tr>
              <a:tr h="365760">
                <a:tc>
                  <a:txBody>
                    <a:bodyPr wrap="square"/>
                    <a:lstStyle/>
                    <a:p>
                      <a:pPr algn="l"/>
                      <a:r>
                        <a:rPr sz="1000" b="1" i="0">
                          <a:solidFill>
                            <a:srgbClr val="1F497D"/>
                          </a:solidFill>
                          <a:latin typeface="Arial"/>
                        </a:rPr>
                        <a:t>Stakeholder Insights Report</a:t>
                      </a:r>
                    </a:p>
                  </a:txBody>
                  <a:tcPr marL="54864" marR="54864" marT="27432" marB="27432" anchor="ctr">
                    <a:solidFill>
                      <a:srgbClr val="F2F2F2"/>
                    </a:solidFill>
                  </a:tcPr>
                </a:tc>
                <a:tc>
                  <a:txBody>
                    <a:bodyPr wrap="square"/>
                    <a:lstStyle/>
                    <a:p>
                      <a:pPr algn="l"/>
                      <a:r>
                        <a:rPr sz="1000" b="0" i="0">
                          <a:solidFill>
                            <a:srgbClr val="404040"/>
                          </a:solidFill>
                          <a:latin typeface="Arial"/>
                        </a:rPr>
                        <a:t>Mar 2026</a:t>
                      </a:r>
                    </a:p>
                  </a:txBody>
                  <a:tcPr marL="54864" marR="54864" marT="27432" marB="27432" anchor="ctr">
                    <a:solidFill>
                      <a:srgbClr val="F2F2F2"/>
                    </a:solidFill>
                  </a:tcPr>
                </a:tc>
                <a:tc>
                  <a:txBody>
                    <a:bodyPr wrap="square"/>
                    <a:lstStyle/>
                    <a:p>
                      <a:pPr algn="l"/>
                      <a:r>
                        <a:rPr sz="1000" b="0" i="0">
                          <a:solidFill>
                            <a:srgbClr val="404040"/>
                          </a:solidFill>
                          <a:latin typeface="Arial"/>
                        </a:rPr>
                        <a:t>Phase 1</a:t>
                      </a:r>
                    </a:p>
                  </a:txBody>
                  <a:tcPr marL="54864" marR="54864" marT="27432" marB="27432" anchor="ctr">
                    <a:solidFill>
                      <a:srgbClr val="F2F2F2"/>
                    </a:solidFill>
                  </a:tcPr>
                </a:tc>
                <a:tc>
                  <a:txBody>
                    <a:bodyPr wrap="square"/>
                    <a:lstStyle/>
                    <a:p>
                      <a:pPr algn="l"/>
                      <a:r>
                        <a:rPr sz="1000" b="0" i="0">
                          <a:solidFill>
                            <a:srgbClr val="404040"/>
                          </a:solidFill>
                          <a:latin typeface="Arial"/>
                        </a:rPr>
                        <a:t>16 organisations; ~223 insights</a:t>
                      </a:r>
                    </a:p>
                  </a:txBody>
                  <a:tcPr marL="54864" marR="54864" marT="27432" marB="27432" anchor="ctr">
                    <a:solidFill>
                      <a:srgbClr val="F2F2F2"/>
                    </a:solidFill>
                  </a:tcPr>
                </a:tc>
              </a:tr>
              <a:tr h="365760">
                <a:tc>
                  <a:txBody>
                    <a:bodyPr wrap="square"/>
                    <a:lstStyle/>
                    <a:p>
                      <a:pPr algn="l"/>
                      <a:r>
                        <a:rPr sz="1000" b="1" i="0">
                          <a:solidFill>
                            <a:srgbClr val="1F497D"/>
                          </a:solidFill>
                          <a:latin typeface="Arial"/>
                        </a:rPr>
                        <a:t>MIDAS Aviation Market Assessment</a:t>
                      </a:r>
                    </a:p>
                  </a:txBody>
                  <a:tcPr marL="54864" marR="54864" marT="27432" marB="27432" anchor="ctr">
                    <a:solidFill>
                      <a:srgbClr val="FFFFFF"/>
                    </a:solidFill>
                  </a:tcPr>
                </a:tc>
                <a:tc>
                  <a:txBody>
                    <a:bodyPr wrap="square"/>
                    <a:lstStyle/>
                    <a:p>
                      <a:pPr algn="l"/>
                      <a:r>
                        <a:rPr sz="1000" b="0" i="0">
                          <a:solidFill>
                            <a:srgbClr val="404040"/>
                          </a:solidFill>
                          <a:latin typeface="Arial"/>
                        </a:rPr>
                        <a:t>Mar / Apr 2026</a:t>
                      </a:r>
                    </a:p>
                  </a:txBody>
                  <a:tcPr marL="54864" marR="54864" marT="27432" marB="27432" anchor="ctr">
                    <a:solidFill>
                      <a:srgbClr val="FFFFFF"/>
                    </a:solidFill>
                  </a:tcPr>
                </a:tc>
                <a:tc>
                  <a:txBody>
                    <a:bodyPr wrap="square"/>
                    <a:lstStyle/>
                    <a:p>
                      <a:pPr algn="l"/>
                      <a:r>
                        <a:rPr sz="1000" b="0" i="0">
                          <a:solidFill>
                            <a:srgbClr val="404040"/>
                          </a:solidFill>
                          <a:latin typeface="Arial"/>
                        </a:rPr>
                        <a:t>Final draft</a:t>
                      </a:r>
                    </a:p>
                  </a:txBody>
                  <a:tcPr marL="54864" marR="54864" marT="27432" marB="27432" anchor="ctr">
                    <a:solidFill>
                      <a:srgbClr val="FFFFFF"/>
                    </a:solidFill>
                  </a:tcPr>
                </a:tc>
                <a:tc>
                  <a:txBody>
                    <a:bodyPr wrap="square"/>
                    <a:lstStyle/>
                    <a:p>
                      <a:pPr algn="l"/>
                      <a:r>
                        <a:rPr sz="1000" b="0" i="0">
                          <a:solidFill>
                            <a:srgbClr val="404040"/>
                          </a:solidFill>
                          <a:latin typeface="Arial"/>
                        </a:rPr>
                        <a:t>Air capacity, routes, India and China</a:t>
                      </a:r>
                    </a:p>
                  </a:txBody>
                  <a:tcPr marL="54864" marR="54864" marT="27432" marB="27432" anchor="ctr">
                    <a:solidFill>
                      <a:srgbClr val="FFFFFF"/>
                    </a:solidFill>
                  </a:tcPr>
                </a:tc>
              </a:tr>
              <a:tr h="365760">
                <a:tc>
                  <a:txBody>
                    <a:bodyPr wrap="square"/>
                    <a:lstStyle/>
                    <a:p>
                      <a:pPr algn="l"/>
                      <a:r>
                        <a:rPr sz="1000" b="1" i="0">
                          <a:solidFill>
                            <a:srgbClr val="1F497D"/>
                          </a:solidFill>
                          <a:latin typeface="Arial"/>
                        </a:rPr>
                        <a:t>Demand-Side Analysis</a:t>
                      </a:r>
                    </a:p>
                  </a:txBody>
                  <a:tcPr marL="54864" marR="54864" marT="27432" marB="27432" anchor="ctr">
                    <a:solidFill>
                      <a:srgbClr val="F2F2F2"/>
                    </a:solidFill>
                  </a:tcPr>
                </a:tc>
                <a:tc>
                  <a:txBody>
                    <a:bodyPr wrap="square"/>
                    <a:lstStyle/>
                    <a:p>
                      <a:pPr algn="l"/>
                      <a:r>
                        <a:rPr sz="1000" b="0" i="0">
                          <a:solidFill>
                            <a:srgbClr val="404040"/>
                          </a:solidFill>
                          <a:latin typeface="Arial"/>
                        </a:rPr>
                        <a:t>Jun 2026</a:t>
                      </a:r>
                    </a:p>
                  </a:txBody>
                  <a:tcPr marL="54864" marR="54864" marT="27432" marB="27432" anchor="ctr">
                    <a:solidFill>
                      <a:srgbClr val="F2F2F2"/>
                    </a:solidFill>
                  </a:tcPr>
                </a:tc>
                <a:tc>
                  <a:txBody>
                    <a:bodyPr wrap="square"/>
                    <a:lstStyle/>
                    <a:p>
                      <a:pPr algn="l"/>
                      <a:r>
                        <a:rPr sz="1000" b="0" i="0">
                          <a:solidFill>
                            <a:srgbClr val="404040"/>
                          </a:solidFill>
                          <a:latin typeface="Arial"/>
                        </a:rPr>
                        <a:t>Final</a:t>
                      </a:r>
                    </a:p>
                  </a:txBody>
                  <a:tcPr marL="54864" marR="54864" marT="27432" marB="27432" anchor="ctr">
                    <a:solidFill>
                      <a:srgbClr val="F2F2F2"/>
                    </a:solidFill>
                  </a:tcPr>
                </a:tc>
                <a:tc>
                  <a:txBody>
                    <a:bodyPr wrap="square"/>
                    <a:lstStyle/>
                    <a:p>
                      <a:pPr algn="l"/>
                      <a:r>
                        <a:rPr sz="1000" b="0" i="0">
                          <a:solidFill>
                            <a:srgbClr val="404040"/>
                          </a:solidFill>
                          <a:latin typeface="Arial"/>
                        </a:rPr>
                        <a:t>Scenarios, markets, MICE, route to market</a:t>
                      </a:r>
                    </a:p>
                  </a:txBody>
                  <a:tcPr marL="54864" marR="54864" marT="27432" marB="27432" anchor="ctr">
                    <a:solidFill>
                      <a:srgbClr val="F2F2F2"/>
                    </a:solidFill>
                  </a:tcPr>
                </a:tc>
              </a:tr>
              <a:tr h="365760">
                <a:tc>
                  <a:txBody>
                    <a:bodyPr wrap="square"/>
                    <a:lstStyle/>
                    <a:p>
                      <a:pPr algn="l"/>
                      <a:r>
                        <a:rPr sz="1000" b="1" i="0">
                          <a:solidFill>
                            <a:srgbClr val="1F497D"/>
                          </a:solidFill>
                          <a:latin typeface="Arial"/>
                        </a:rPr>
                        <a:t>Infrastructure Report</a:t>
                      </a:r>
                    </a:p>
                  </a:txBody>
                  <a:tcPr marL="54864" marR="54864" marT="27432" marB="27432" anchor="ctr">
                    <a:solidFill>
                      <a:srgbClr val="FFFFFF"/>
                    </a:solidFill>
                  </a:tcPr>
                </a:tc>
                <a:tc>
                  <a:txBody>
                    <a:bodyPr wrap="square"/>
                    <a:lstStyle/>
                    <a:p>
                      <a:pPr algn="l"/>
                      <a:r>
                        <a:rPr sz="1000" b="0" i="0">
                          <a:solidFill>
                            <a:srgbClr val="404040"/>
                          </a:solidFill>
                          <a:latin typeface="Arial"/>
                        </a:rPr>
                        <a:t>Jun 2026</a:t>
                      </a:r>
                    </a:p>
                  </a:txBody>
                  <a:tcPr marL="54864" marR="54864" marT="27432" marB="27432" anchor="ctr">
                    <a:solidFill>
                      <a:srgbClr val="FFFFFF"/>
                    </a:solidFill>
                  </a:tcPr>
                </a:tc>
                <a:tc>
                  <a:txBody>
                    <a:bodyPr wrap="square"/>
                    <a:lstStyle/>
                    <a:p>
                      <a:pPr algn="l"/>
                      <a:r>
                        <a:rPr sz="1000" b="0" i="0">
                          <a:solidFill>
                            <a:srgbClr val="404040"/>
                          </a:solidFill>
                          <a:latin typeface="Arial"/>
                        </a:rPr>
                        <a:t>Draft</a:t>
                      </a:r>
                    </a:p>
                  </a:txBody>
                  <a:tcPr marL="54864" marR="54864" marT="27432" marB="27432" anchor="ctr">
                    <a:solidFill>
                      <a:srgbClr val="FFFFFF"/>
                    </a:solidFill>
                  </a:tcPr>
                </a:tc>
                <a:tc>
                  <a:txBody>
                    <a:bodyPr wrap="square"/>
                    <a:lstStyle/>
                    <a:p>
                      <a:pPr algn="l"/>
                      <a:r>
                        <a:rPr sz="1000" b="0" i="0">
                          <a:solidFill>
                            <a:srgbClr val="404040"/>
                          </a:solidFill>
                          <a:latin typeface="Arial"/>
                        </a:rPr>
                        <a:t>Asset base, readiness, routes; placeholder text remains</a:t>
                      </a:r>
                    </a:p>
                  </a:txBody>
                  <a:tcPr marL="54864" marR="54864" marT="27432" marB="27432" anchor="ctr">
                    <a:solidFill>
                      <a:srgbClr val="FFFFFF"/>
                    </a:solidFill>
                  </a:tcPr>
                </a:tc>
              </a:tr>
              <a:tr h="365760">
                <a:tc>
                  <a:txBody>
                    <a:bodyPr wrap="square"/>
                    <a:lstStyle/>
                    <a:p>
                      <a:pPr algn="l"/>
                      <a:r>
                        <a:rPr sz="1000" b="1" i="0">
                          <a:solidFill>
                            <a:srgbClr val="1F497D"/>
                          </a:solidFill>
                          <a:latin typeface="Arial"/>
                        </a:rPr>
                        <a:t>Hypothesis Tree v4</a:t>
                      </a:r>
                    </a:p>
                  </a:txBody>
                  <a:tcPr marL="54864" marR="54864" marT="27432" marB="27432" anchor="ctr">
                    <a:solidFill>
                      <a:srgbClr val="F2F2F2"/>
                    </a:solidFill>
                  </a:tcPr>
                </a:tc>
                <a:tc>
                  <a:txBody>
                    <a:bodyPr wrap="square"/>
                    <a:lstStyle/>
                    <a:p>
                      <a:pPr algn="l"/>
                      <a:r>
                        <a:rPr sz="1000" b="0" i="0">
                          <a:solidFill>
                            <a:srgbClr val="404040"/>
                          </a:solidFill>
                          <a:latin typeface="Arial"/>
                        </a:rPr>
                        <a:t>Jul 2026</a:t>
                      </a:r>
                    </a:p>
                  </a:txBody>
                  <a:tcPr marL="54864" marR="54864" marT="27432" marB="27432" anchor="ctr">
                    <a:solidFill>
                      <a:srgbClr val="F2F2F2"/>
                    </a:solidFill>
                  </a:tcPr>
                </a:tc>
                <a:tc>
                  <a:txBody>
                    <a:bodyPr wrap="square"/>
                    <a:lstStyle/>
                    <a:p>
                      <a:pPr algn="l"/>
                      <a:r>
                        <a:rPr sz="1000" b="0" i="0">
                          <a:solidFill>
                            <a:srgbClr val="404040"/>
                          </a:solidFill>
                          <a:latin typeface="Arial"/>
                        </a:rPr>
                        <a:t>Draft</a:t>
                      </a:r>
                    </a:p>
                  </a:txBody>
                  <a:tcPr marL="54864" marR="54864" marT="27432" marB="27432" anchor="ctr">
                    <a:solidFill>
                      <a:srgbClr val="F2F2F2"/>
                    </a:solidFill>
                  </a:tcPr>
                </a:tc>
                <a:tc>
                  <a:txBody>
                    <a:bodyPr wrap="square"/>
                    <a:lstStyle/>
                    <a:p>
                      <a:pPr algn="l"/>
                      <a:r>
                        <a:rPr sz="1000" b="0" i="0">
                          <a:solidFill>
                            <a:srgbClr val="404040"/>
                          </a:solidFill>
                          <a:latin typeface="Arial"/>
                        </a:rPr>
                        <a:t>Spine of this pack</a:t>
                      </a:r>
                    </a:p>
                  </a:txBody>
                  <a:tcPr marL="54864" marR="54864" marT="27432" marB="27432" anchor="ctr">
                    <a:solidFill>
                      <a:srgbClr val="F2F2F2"/>
                    </a:solidFill>
                  </a:tcPr>
                </a:tc>
              </a:tr>
              <a:tr h="365760">
                <a:tc>
                  <a:txBody>
                    <a:bodyPr wrap="square"/>
                    <a:lstStyle/>
                    <a:p>
                      <a:pPr algn="l"/>
                      <a:r>
                        <a:rPr sz="1000" b="1" i="0">
                          <a:solidFill>
                            <a:srgbClr val="1F497D"/>
                          </a:solidFill>
                          <a:latin typeface="Arial"/>
                        </a:rPr>
                        <a:t>SME &amp; Community Inclusion Plan</a:t>
                      </a:r>
                    </a:p>
                  </a:txBody>
                  <a:tcPr marL="54864" marR="54864" marT="27432" marB="27432" anchor="ctr">
                    <a:solidFill>
                      <a:srgbClr val="FFFFFF"/>
                    </a:solidFill>
                  </a:tcPr>
                </a:tc>
                <a:tc>
                  <a:txBody>
                    <a:bodyPr wrap="square"/>
                    <a:lstStyle/>
                    <a:p>
                      <a:pPr algn="l"/>
                      <a:r>
                        <a:rPr sz="1000" b="0" i="0">
                          <a:solidFill>
                            <a:srgbClr val="404040"/>
                          </a:solidFill>
                          <a:latin typeface="Arial"/>
                        </a:rPr>
                        <a:t>Sep 2026</a:t>
                      </a:r>
                    </a:p>
                  </a:txBody>
                  <a:tcPr marL="54864" marR="54864" marT="27432" marB="27432" anchor="ctr">
                    <a:solidFill>
                      <a:srgbClr val="FFFFFF"/>
                    </a:solidFill>
                  </a:tcPr>
                </a:tc>
                <a:tc>
                  <a:txBody>
                    <a:bodyPr wrap="square"/>
                    <a:lstStyle/>
                    <a:p>
                      <a:pPr algn="l"/>
                      <a:r>
                        <a:rPr sz="1000" b="0" i="0">
                          <a:solidFill>
                            <a:srgbClr val="404040"/>
                          </a:solidFill>
                          <a:latin typeface="Arial"/>
                        </a:rPr>
                        <a:t>Draft</a:t>
                      </a:r>
                    </a:p>
                  </a:txBody>
                  <a:tcPr marL="54864" marR="54864" marT="27432" marB="27432" anchor="ctr">
                    <a:solidFill>
                      <a:srgbClr val="FFFFFF"/>
                    </a:solidFill>
                  </a:tcPr>
                </a:tc>
                <a:tc>
                  <a:txBody>
                    <a:bodyPr wrap="square"/>
                    <a:lstStyle/>
                    <a:p>
                      <a:pPr algn="l"/>
                      <a:r>
                        <a:rPr sz="1000" b="0" i="0">
                          <a:solidFill>
                            <a:srgbClr val="404040"/>
                          </a:solidFill>
                          <a:latin typeface="Arial"/>
                        </a:rPr>
                        <a:t>107 communities; 20 shortlisted; 6 profiled</a:t>
                      </a:r>
                    </a:p>
                  </a:txBody>
                  <a:tcPr marL="54864" marR="54864" marT="27432" marB="27432" anchor="ctr">
                    <a:solidFill>
                      <a:srgbClr val="FFFFFF"/>
                    </a:solidFill>
                  </a:tcPr>
                </a:tc>
              </a:tr>
              <a:tr h="365760">
                <a:tc>
                  <a:txBody>
                    <a:bodyPr wrap="square"/>
                    <a:lstStyle/>
                    <a:p>
                      <a:pPr algn="l"/>
                      <a:r>
                        <a:rPr sz="1000" b="1" i="0">
                          <a:solidFill>
                            <a:srgbClr val="1F497D"/>
                          </a:solidFill>
                          <a:latin typeface="Arial"/>
                        </a:rPr>
                        <a:t>DSE, Mobility and Municipal factbases</a:t>
                      </a:r>
                    </a:p>
                  </a:txBody>
                  <a:tcPr marL="54864" marR="54864" marT="27432" marB="27432" anchor="ctr">
                    <a:solidFill>
                      <a:srgbClr val="F2F2F2"/>
                    </a:solidFill>
                  </a:tcPr>
                </a:tc>
                <a:tc>
                  <a:txBody>
                    <a:bodyPr wrap="square"/>
                    <a:lstStyle/>
                    <a:p>
                      <a:pPr algn="l"/>
                      <a:r>
                        <a:rPr sz="1000" b="0" i="0">
                          <a:solidFill>
                            <a:srgbClr val="404040"/>
                          </a:solidFill>
                          <a:latin typeface="Arial"/>
                        </a:rPr>
                        <a:t>Nov 2025 to Jul 2026</a:t>
                      </a:r>
                    </a:p>
                  </a:txBody>
                  <a:tcPr marL="54864" marR="54864" marT="27432" marB="27432" anchor="ctr">
                    <a:solidFill>
                      <a:srgbClr val="F2F2F2"/>
                    </a:solidFill>
                  </a:tcPr>
                </a:tc>
                <a:tc>
                  <a:txBody>
                    <a:bodyPr wrap="square"/>
                    <a:lstStyle/>
                    <a:p>
                      <a:pPr algn="l"/>
                      <a:r>
                        <a:rPr sz="1000" b="0" i="0">
                          <a:solidFill>
                            <a:srgbClr val="404040"/>
                          </a:solidFill>
                          <a:latin typeface="Arial"/>
                        </a:rPr>
                        <a:t>Working drafts (AI-assisted)</a:t>
                      </a:r>
                    </a:p>
                  </a:txBody>
                  <a:tcPr marL="54864" marR="54864" marT="27432" marB="27432" anchor="ctr">
                    <a:solidFill>
                      <a:srgbClr val="F2F2F2"/>
                    </a:solidFill>
                  </a:tcPr>
                </a:tc>
                <a:tc>
                  <a:txBody>
                    <a:bodyPr wrap="square"/>
                    <a:lstStyle/>
                    <a:p>
                      <a:pPr algn="l"/>
                      <a:r>
                        <a:rPr sz="1000" b="0" i="0">
                          <a:solidFill>
                            <a:srgbClr val="404040"/>
                          </a:solidFill>
                          <a:latin typeface="Arial"/>
                        </a:rPr>
                        <a:t>Targets, air, cruise, visas, mobility, mandates</a:t>
                      </a:r>
                    </a:p>
                  </a:txBody>
                  <a:tcPr marL="54864" marR="54864" marT="27432" marB="27432" anchor="ctr">
                    <a:solidFill>
                      <a:srgbClr val="F2F2F2"/>
                    </a:solidFill>
                  </a:tcPr>
                </a:tc>
              </a:tr>
              <a:tr h="365760">
                <a:tc>
                  <a:txBody>
                    <a:bodyPr wrap="square"/>
                    <a:lstStyle/>
                    <a:p>
                      <a:pPr algn="l"/>
                      <a:r>
                        <a:rPr sz="1000" b="1" i="0">
                          <a:solidFill>
                            <a:srgbClr val="1F497D"/>
                          </a:solidFill>
                          <a:latin typeface="Arial"/>
                        </a:rPr>
                        <a:t>Cape brand identity concept</a:t>
                      </a:r>
                    </a:p>
                  </a:txBody>
                  <a:tcPr marL="54864" marR="54864" marT="27432" marB="27432" anchor="ctr">
                    <a:solidFill>
                      <a:srgbClr val="FFFFFF"/>
                    </a:solidFill>
                  </a:tcPr>
                </a:tc>
                <a:tc>
                  <a:txBody>
                    <a:bodyPr wrap="square"/>
                    <a:lstStyle/>
                    <a:p>
                      <a:pPr algn="l"/>
                      <a:r>
                        <a:rPr sz="1000" b="0" i="0">
                          <a:solidFill>
                            <a:srgbClr val="404040"/>
                          </a:solidFill>
                          <a:latin typeface="Arial"/>
                        </a:rPr>
                        <a:t>2026</a:t>
                      </a:r>
                    </a:p>
                  </a:txBody>
                  <a:tcPr marL="54864" marR="54864" marT="27432" marB="27432" anchor="ctr">
                    <a:solidFill>
                      <a:srgbClr val="FFFFFF"/>
                    </a:solidFill>
                  </a:tcPr>
                </a:tc>
                <a:tc>
                  <a:txBody>
                    <a:bodyPr wrap="square"/>
                    <a:lstStyle/>
                    <a:p>
                      <a:pPr algn="l"/>
                      <a:r>
                        <a:rPr sz="1000" b="0" i="0">
                          <a:solidFill>
                            <a:srgbClr val="404040"/>
                          </a:solidFill>
                          <a:latin typeface="Arial"/>
                        </a:rPr>
                        <a:t>Concept</a:t>
                      </a:r>
                    </a:p>
                  </a:txBody>
                  <a:tcPr marL="54864" marR="54864" marT="27432" marB="27432" anchor="ctr">
                    <a:solidFill>
                      <a:srgbClr val="FFFFFF"/>
                    </a:solidFill>
                  </a:tcPr>
                </a:tc>
                <a:tc>
                  <a:txBody>
                    <a:bodyPr wrap="square"/>
                    <a:lstStyle/>
                    <a:p>
                      <a:pPr algn="l"/>
                      <a:r>
                        <a:rPr sz="1000" b="0" i="0">
                          <a:solidFill>
                            <a:srgbClr val="404040"/>
                          </a:solidFill>
                          <a:latin typeface="Arial"/>
                        </a:rPr>
                        <a:t>Strategy input for the brand hypothesis</a:t>
                      </a:r>
                    </a:p>
                  </a:txBody>
                  <a:tcPr marL="54864" marR="54864" marT="27432" marB="27432" anchor="ctr">
                    <a:solidFill>
                      <a:srgbClr val="FFFFFF"/>
                    </a:solidFill>
                  </a:tcPr>
                </a:tc>
              </a:tr>
              <a:tr h="365760">
                <a:tc>
                  <a:txBody>
                    <a:bodyPr wrap="square"/>
                    <a:lstStyle/>
                    <a:p>
                      <a:pPr algn="l"/>
                      <a:r>
                        <a:rPr sz="1000" b="1" i="0">
                          <a:solidFill>
                            <a:srgbClr val="1F497D"/>
                          </a:solidFill>
                          <a:latin typeface="Arial"/>
                        </a:rPr>
                        <a:t>RFP SCM002-2025 and signed SLA</a:t>
                      </a:r>
                    </a:p>
                  </a:txBody>
                  <a:tcPr marL="54864" marR="54864" marT="27432" marB="27432" anchor="ctr">
                    <a:solidFill>
                      <a:srgbClr val="F2F2F2"/>
                    </a:solidFill>
                  </a:tcPr>
                </a:tc>
                <a:tc>
                  <a:txBody>
                    <a:bodyPr wrap="square"/>
                    <a:lstStyle/>
                    <a:p>
                      <a:pPr algn="l"/>
                      <a:r>
                        <a:rPr sz="1000" b="0" i="0">
                          <a:solidFill>
                            <a:srgbClr val="404040"/>
                          </a:solidFill>
                          <a:latin typeface="Arial"/>
                        </a:rPr>
                        <a:t>Jul / Dec 2025</a:t>
                      </a:r>
                    </a:p>
                  </a:txBody>
                  <a:tcPr marL="54864" marR="54864" marT="27432" marB="27432" anchor="ctr">
                    <a:solidFill>
                      <a:srgbClr val="F2F2F2"/>
                    </a:solidFill>
                  </a:tcPr>
                </a:tc>
                <a:tc>
                  <a:txBody>
                    <a:bodyPr wrap="square"/>
                    <a:lstStyle/>
                    <a:p>
                      <a:pPr algn="l"/>
                      <a:r>
                        <a:rPr sz="1000" b="0" i="0">
                          <a:solidFill>
                            <a:srgbClr val="404040"/>
                          </a:solidFill>
                          <a:latin typeface="Arial"/>
                        </a:rPr>
                        <a:t>Final</a:t>
                      </a:r>
                    </a:p>
                  </a:txBody>
                  <a:tcPr marL="54864" marR="54864" marT="27432" marB="27432" anchor="ctr">
                    <a:solidFill>
                      <a:srgbClr val="F2F2F2"/>
                    </a:solidFill>
                  </a:tcPr>
                </a:tc>
                <a:tc>
                  <a:txBody>
                    <a:bodyPr wrap="square"/>
                    <a:lstStyle/>
                    <a:p>
                      <a:pPr algn="l"/>
                      <a:r>
                        <a:rPr sz="1000" b="0" i="0">
                          <a:solidFill>
                            <a:srgbClr val="404040"/>
                          </a:solidFill>
                          <a:latin typeface="Arial"/>
                        </a:rPr>
                        <a:t>Scope, deliverables, term, payment</a:t>
                      </a:r>
                    </a:p>
                  </a:txBody>
                  <a:tcPr marL="54864" marR="54864" marT="27432" marB="27432" anchor="ctr">
                    <a:solidFill>
                      <a:srgbClr val="F2F2F2"/>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84048" y="438912"/>
            <a:ext cx="11338560" cy="685800"/>
          </a:xfrm>
        </p:spPr>
        <p:txBody>
          <a:bodyPr wrap="square" anchor="t" lIns="0" rIns="0" tIns="0" bIns="0">
            <a:normAutofit/>
          </a:bodyPr>
          <a:lstStyle/>
          <a:p>
            <a:pPr algn="l"/>
            <a:r>
              <a:rPr sz="2000" b="1" i="0">
                <a:solidFill>
                  <a:srgbClr val="00AEEF"/>
                </a:solidFill>
                <a:latin typeface="Arial"/>
              </a:rPr>
              <a:t>Several inconsistencies across deliverables must be reconciled before figures go to the Board</a:t>
            </a:r>
          </a:p>
        </p:txBody>
      </p:sp>
      <p:sp>
        <p:nvSpPr>
          <p:cNvPr id="3" name="Topic"/>
          <p:cNvSpPr txBox="1"/>
          <p:nvPr/>
        </p:nvSpPr>
        <p:spPr>
          <a:xfrm>
            <a:off x="384048" y="201168"/>
            <a:ext cx="8686800" cy="274320"/>
          </a:xfrm>
          <a:prstGeom prst="rect">
            <a:avLst/>
          </a:prstGeom>
          <a:noFill/>
        </p:spPr>
        <p:txBody>
          <a:bodyPr wrap="square" anchor="t" lIns="36576" rIns="36576" tIns="21945" bIns="21945">
            <a:spAutoFit/>
          </a:bodyPr>
          <a:lstStyle/>
          <a:p>
            <a:pPr algn="l">
              <a:spcAft>
                <a:spcPts val="0"/>
              </a:spcAft>
            </a:pPr>
            <a:r>
              <a:rPr sz="1000" b="1" i="0">
                <a:solidFill>
                  <a:srgbClr val="1F497D"/>
                </a:solidFill>
                <a:latin typeface="Arial"/>
              </a:rPr>
              <a:t>APPENDIX | DATA ISSUES TO FIX BEFORE THE FINAL REPORT</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17320" y="6336792"/>
            <a:ext cx="9692640" cy="365760"/>
          </a:xfrm>
          <a:prstGeom prst="rect">
            <a:avLst/>
          </a:prstGeom>
          <a:noFill/>
        </p:spPr>
        <p:txBody>
          <a:bodyPr wrap="square" anchor="b" lIns="36576" rIns="36576" tIns="21945" bIns="21945">
            <a:spAutoFit/>
          </a:bodyPr>
          <a:lstStyle/>
          <a:p>
            <a:pPr algn="l">
              <a:spcAft>
                <a:spcPts val="0"/>
              </a:spcAft>
            </a:pPr>
            <a:r>
              <a:rPr sz="800" b="0" i="0">
                <a:solidFill>
                  <a:srgbClr val="7F7F7F"/>
                </a:solidFill>
                <a:latin typeface="Arial"/>
              </a:rPr>
              <a:t>Source: Letsema review of inputs</a:t>
            </a:r>
          </a:p>
        </p:txBody>
      </p:sp>
      <p:sp>
        <p:nvSpPr>
          <p:cNvPr id="6" name="Page number"/>
          <p:cNvSpPr txBox="1"/>
          <p:nvPr/>
        </p:nvSpPr>
        <p:spPr>
          <a:xfrm>
            <a:off x="11292840" y="6419088"/>
            <a:ext cx="54864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39</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384048" y="1188720"/>
          <a:ext cx="11420856" cy="4389120"/>
        </p:xfrm>
        <a:graphic>
          <a:graphicData uri="http://schemas.openxmlformats.org/drawingml/2006/table">
            <a:tbl>
              <a:tblPr firstRow="1" bandRow="0">
                <a:tableStyleId>{5C22544A-7EE6-4342-B048-85BDC9FD1C3A}</a:tableStyleId>
              </a:tblPr>
              <a:tblGrid>
                <a:gridCol w="2377440"/>
                <a:gridCol w="6217920"/>
                <a:gridCol w="2825496"/>
              </a:tblGrid>
              <a:tr h="438912">
                <a:tc>
                  <a:txBody>
                    <a:bodyPr wrap="square"/>
                    <a:lstStyle/>
                    <a:p>
                      <a:pPr algn="l"/>
                      <a:r>
                        <a:rPr sz="1000" b="1" i="0">
                          <a:solidFill>
                            <a:srgbClr val="FFFFFF"/>
                          </a:solidFill>
                          <a:latin typeface="Arial"/>
                        </a:rPr>
                        <a:t>Issue</a:t>
                      </a:r>
                    </a:p>
                  </a:txBody>
                  <a:tcPr marL="54864" marR="54864" marT="27432" marB="27432" anchor="ctr">
                    <a:solidFill>
                      <a:srgbClr val="1F497D"/>
                    </a:solidFill>
                  </a:tcPr>
                </a:tc>
                <a:tc>
                  <a:txBody>
                    <a:bodyPr wrap="square"/>
                    <a:lstStyle/>
                    <a:p>
                      <a:pPr algn="l"/>
                      <a:r>
                        <a:rPr sz="1000" b="1" i="0">
                          <a:solidFill>
                            <a:srgbClr val="FFFFFF"/>
                          </a:solidFill>
                          <a:latin typeface="Arial"/>
                        </a:rPr>
                        <a:t>What is wrong</a:t>
                      </a:r>
                    </a:p>
                  </a:txBody>
                  <a:tcPr marL="54864" marR="54864" marT="27432" marB="27432" anchor="ctr">
                    <a:solidFill>
                      <a:srgbClr val="1F497D"/>
                    </a:solidFill>
                  </a:tcPr>
                </a:tc>
                <a:tc>
                  <a:txBody>
                    <a:bodyPr wrap="square"/>
                    <a:lstStyle/>
                    <a:p>
                      <a:pPr algn="l"/>
                      <a:r>
                        <a:rPr sz="1000" b="1" i="0">
                          <a:solidFill>
                            <a:srgbClr val="FFFFFF"/>
                          </a:solidFill>
                          <a:latin typeface="Arial"/>
                        </a:rPr>
                        <a:t>Where</a:t>
                      </a:r>
                    </a:p>
                  </a:txBody>
                  <a:tcPr marL="54864" marR="54864" marT="27432" marB="27432" anchor="ctr">
                    <a:solidFill>
                      <a:srgbClr val="1F497D"/>
                    </a:solidFill>
                  </a:tcPr>
                </a:tc>
              </a:tr>
              <a:tr h="438912">
                <a:tc>
                  <a:txBody>
                    <a:bodyPr wrap="square"/>
                    <a:lstStyle/>
                    <a:p>
                      <a:pPr algn="l"/>
                      <a:r>
                        <a:rPr sz="1000" b="1" i="0">
                          <a:solidFill>
                            <a:srgbClr val="1F497D"/>
                          </a:solidFill>
                          <a:latin typeface="Arial"/>
                        </a:rPr>
                        <a:t>Arrivals baseline</a:t>
                      </a:r>
                    </a:p>
                  </a:txBody>
                  <a:tcPr marL="54864" marR="54864" marT="27432" marB="27432" anchor="ctr">
                    <a:solidFill>
                      <a:srgbClr val="FFFFFF"/>
                    </a:solidFill>
                  </a:tcPr>
                </a:tc>
                <a:tc>
                  <a:txBody>
                    <a:bodyPr wrap="square"/>
                    <a:lstStyle/>
                    <a:p>
                      <a:pPr algn="l"/>
                      <a:r>
                        <a:rPr sz="1000" b="0" i="0">
                          <a:solidFill>
                            <a:srgbClr val="404040"/>
                          </a:solidFill>
                          <a:latin typeface="Arial"/>
                        </a:rPr>
                        <a:t>Six or more figures for the same concept (see slide 6)</a:t>
                      </a:r>
                    </a:p>
                  </a:txBody>
                  <a:tcPr marL="54864" marR="54864" marT="27432" marB="27432" anchor="ctr">
                    <a:solidFill>
                      <a:srgbClr val="FFFFFF"/>
                    </a:solidFill>
                  </a:tcPr>
                </a:tc>
                <a:tc>
                  <a:txBody>
                    <a:bodyPr wrap="square"/>
                    <a:lstStyle/>
                    <a:p>
                      <a:pPr algn="l"/>
                      <a:r>
                        <a:rPr sz="1000" b="0" i="0">
                          <a:solidFill>
                            <a:srgbClr val="7F7F7F"/>
                          </a:solidFill>
                          <a:latin typeface="Arial"/>
                        </a:rPr>
                        <a:t>All</a:t>
                      </a:r>
                    </a:p>
                  </a:txBody>
                  <a:tcPr marL="54864" marR="54864" marT="27432" marB="27432" anchor="ctr">
                    <a:solidFill>
                      <a:srgbClr val="FFFFFF"/>
                    </a:solidFill>
                  </a:tcPr>
                </a:tc>
              </a:tr>
              <a:tr h="438912">
                <a:tc>
                  <a:txBody>
                    <a:bodyPr wrap="square"/>
                    <a:lstStyle/>
                    <a:p>
                      <a:pPr algn="l"/>
                      <a:r>
                        <a:rPr sz="1000" b="1" i="0">
                          <a:solidFill>
                            <a:srgbClr val="1F497D"/>
                          </a:solidFill>
                          <a:latin typeface="Arial"/>
                        </a:rPr>
                        <a:t>Top-five market share</a:t>
                      </a:r>
                    </a:p>
                  </a:txBody>
                  <a:tcPr marL="54864" marR="54864" marT="27432" marB="27432" anchor="ctr">
                    <a:solidFill>
                      <a:srgbClr val="F2F2F2"/>
                    </a:solidFill>
                  </a:tcPr>
                </a:tc>
                <a:tc>
                  <a:txBody>
                    <a:bodyPr wrap="square"/>
                    <a:lstStyle/>
                    <a:p>
                      <a:pPr algn="l"/>
                      <a:r>
                        <a:rPr sz="1000" b="0" i="0">
                          <a:solidFill>
                            <a:srgbClr val="404040"/>
                          </a:solidFill>
                          <a:latin typeface="Arial"/>
                        </a:rPr>
                        <a:t>61% in text and 63% in the chart</a:t>
                      </a:r>
                    </a:p>
                  </a:txBody>
                  <a:tcPr marL="54864" marR="54864" marT="27432" marB="27432" anchor="ctr">
                    <a:solidFill>
                      <a:srgbClr val="F2F2F2"/>
                    </a:solidFill>
                  </a:tcPr>
                </a:tc>
                <a:tc>
                  <a:txBody>
                    <a:bodyPr wrap="square"/>
                    <a:lstStyle/>
                    <a:p>
                      <a:pPr algn="l"/>
                      <a:r>
                        <a:rPr sz="1000" b="0" i="0">
                          <a:solidFill>
                            <a:srgbClr val="7F7F7F"/>
                          </a:solidFill>
                          <a:latin typeface="Arial"/>
                        </a:rPr>
                        <a:t>Demand-Side p13; Diagnostic p29</a:t>
                      </a:r>
                    </a:p>
                  </a:txBody>
                  <a:tcPr marL="54864" marR="54864" marT="27432" marB="27432" anchor="ctr">
                    <a:solidFill>
                      <a:srgbClr val="F2F2F2"/>
                    </a:solidFill>
                  </a:tcPr>
                </a:tc>
              </a:tr>
              <a:tr h="438912">
                <a:tc>
                  <a:txBody>
                    <a:bodyPr wrap="square"/>
                    <a:lstStyle/>
                    <a:p>
                      <a:pPr algn="l"/>
                      <a:r>
                        <a:rPr sz="1000" b="1" i="0">
                          <a:solidFill>
                            <a:srgbClr val="1F497D"/>
                          </a:solidFill>
                          <a:latin typeface="Arial"/>
                        </a:rPr>
                        <a:t>Seasonality</a:t>
                      </a:r>
                    </a:p>
                  </a:txBody>
                  <a:tcPr marL="54864" marR="54864" marT="27432" marB="27432" anchor="ctr">
                    <a:solidFill>
                      <a:srgbClr val="FFFFFF"/>
                    </a:solidFill>
                  </a:tcPr>
                </a:tc>
                <a:tc>
                  <a:txBody>
                    <a:bodyPr wrap="square"/>
                    <a:lstStyle/>
                    <a:p>
                      <a:pPr algn="l"/>
                      <a:r>
                        <a:rPr sz="1000" b="0" i="0">
                          <a:solidFill>
                            <a:srgbClr val="404040"/>
                          </a:solidFill>
                          <a:latin typeface="Arial"/>
                        </a:rPr>
                        <a:t>Monthly shares sum to ~105%; "Feb-Mar = 25%" not supported by the chart</a:t>
                      </a:r>
                    </a:p>
                  </a:txBody>
                  <a:tcPr marL="54864" marR="54864" marT="27432" marB="27432" anchor="ctr">
                    <a:solidFill>
                      <a:srgbClr val="FFFFFF"/>
                    </a:solidFill>
                  </a:tcPr>
                </a:tc>
                <a:tc>
                  <a:txBody>
                    <a:bodyPr wrap="square"/>
                    <a:lstStyle/>
                    <a:p>
                      <a:pPr algn="l"/>
                      <a:r>
                        <a:rPr sz="1000" b="0" i="0">
                          <a:solidFill>
                            <a:srgbClr val="7F7F7F"/>
                          </a:solidFill>
                          <a:latin typeface="Arial"/>
                        </a:rPr>
                        <a:t>Demand-Side p12</a:t>
                      </a:r>
                    </a:p>
                  </a:txBody>
                  <a:tcPr marL="54864" marR="54864" marT="27432" marB="27432" anchor="ctr">
                    <a:solidFill>
                      <a:srgbClr val="FFFFFF"/>
                    </a:solidFill>
                  </a:tcPr>
                </a:tc>
              </a:tr>
              <a:tr h="438912">
                <a:tc>
                  <a:txBody>
                    <a:bodyPr wrap="square"/>
                    <a:lstStyle/>
                    <a:p>
                      <a:pPr algn="l"/>
                      <a:r>
                        <a:rPr sz="1000" b="1" i="0">
                          <a:solidFill>
                            <a:srgbClr val="1F497D"/>
                          </a:solidFill>
                          <a:latin typeface="Arial"/>
                        </a:rPr>
                        <a:t>Length of stay</a:t>
                      </a:r>
                    </a:p>
                  </a:txBody>
                  <a:tcPr marL="54864" marR="54864" marT="27432" marB="27432" anchor="ctr">
                    <a:solidFill>
                      <a:srgbClr val="F2F2F2"/>
                    </a:solidFill>
                  </a:tcPr>
                </a:tc>
                <a:tc>
                  <a:txBody>
                    <a:bodyPr wrap="square"/>
                    <a:lstStyle/>
                    <a:p>
                      <a:pPr algn="l"/>
                      <a:r>
                        <a:rPr sz="1000" b="0" i="0">
                          <a:solidFill>
                            <a:srgbClr val="404040"/>
                          </a:solidFill>
                          <a:latin typeface="Arial"/>
                        </a:rPr>
                        <a:t>Plotted buckets sum to 48%; "60% stay 7+ days" not derivable</a:t>
                      </a:r>
                    </a:p>
                  </a:txBody>
                  <a:tcPr marL="54864" marR="54864" marT="27432" marB="27432" anchor="ctr">
                    <a:solidFill>
                      <a:srgbClr val="F2F2F2"/>
                    </a:solidFill>
                  </a:tcPr>
                </a:tc>
                <a:tc>
                  <a:txBody>
                    <a:bodyPr wrap="square"/>
                    <a:lstStyle/>
                    <a:p>
                      <a:pPr algn="l"/>
                      <a:r>
                        <a:rPr sz="1000" b="0" i="0">
                          <a:solidFill>
                            <a:srgbClr val="7F7F7F"/>
                          </a:solidFill>
                          <a:latin typeface="Arial"/>
                        </a:rPr>
                        <a:t>Diagnostic pp25-27</a:t>
                      </a:r>
                    </a:p>
                  </a:txBody>
                  <a:tcPr marL="54864" marR="54864" marT="27432" marB="27432" anchor="ctr">
                    <a:solidFill>
                      <a:srgbClr val="F2F2F2"/>
                    </a:solidFill>
                  </a:tcPr>
                </a:tc>
              </a:tr>
              <a:tr h="438912">
                <a:tc>
                  <a:txBody>
                    <a:bodyPr wrap="square"/>
                    <a:lstStyle/>
                    <a:p>
                      <a:pPr algn="l"/>
                      <a:r>
                        <a:rPr sz="1000" b="1" i="0">
                          <a:solidFill>
                            <a:srgbClr val="1F497D"/>
                          </a:solidFill>
                          <a:latin typeface="Arial"/>
                        </a:rPr>
                        <a:t>Doubling target</a:t>
                      </a:r>
                    </a:p>
                  </a:txBody>
                  <a:tcPr marL="54864" marR="54864" marT="27432" marB="27432" anchor="ctr">
                    <a:solidFill>
                      <a:srgbClr val="FFFFFF"/>
                    </a:solidFill>
                  </a:tcPr>
                </a:tc>
                <a:tc>
                  <a:txBody>
                    <a:bodyPr wrap="square"/>
                    <a:lstStyle/>
                    <a:p>
                      <a:pPr algn="l"/>
                      <a:r>
                        <a:rPr sz="1000" b="0" i="0">
                          <a:solidFill>
                            <a:srgbClr val="404040"/>
                          </a:solidFill>
                          <a:latin typeface="Arial"/>
                        </a:rPr>
                        <a:t>Diagnostic states 5.7m arrivals and R54.7bn by 2035 (Blueprint figures)</a:t>
                      </a:r>
                    </a:p>
                  </a:txBody>
                  <a:tcPr marL="54864" marR="54864" marT="27432" marB="27432" anchor="ctr">
                    <a:solidFill>
                      <a:srgbClr val="FFFFFF"/>
                    </a:solidFill>
                  </a:tcPr>
                </a:tc>
                <a:tc>
                  <a:txBody>
                    <a:bodyPr wrap="square"/>
                    <a:lstStyle/>
                    <a:p>
                      <a:pPr algn="l"/>
                      <a:r>
                        <a:rPr sz="1000" b="0" i="0">
                          <a:solidFill>
                            <a:srgbClr val="7F7F7F"/>
                          </a:solidFill>
                          <a:latin typeface="Arial"/>
                        </a:rPr>
                        <a:t>Diagnostic p5</a:t>
                      </a:r>
                    </a:p>
                  </a:txBody>
                  <a:tcPr marL="54864" marR="54864" marT="27432" marB="27432" anchor="ctr">
                    <a:solidFill>
                      <a:srgbClr val="FFFFFF"/>
                    </a:solidFill>
                  </a:tcPr>
                </a:tc>
              </a:tr>
              <a:tr h="438912">
                <a:tc>
                  <a:txBody>
                    <a:bodyPr wrap="square"/>
                    <a:lstStyle/>
                    <a:p>
                      <a:pPr algn="l"/>
                      <a:r>
                        <a:rPr sz="1000" b="1" i="0">
                          <a:solidFill>
                            <a:srgbClr val="1F497D"/>
                          </a:solidFill>
                          <a:latin typeface="Arial"/>
                        </a:rPr>
                        <a:t>Cruise chart</a:t>
                      </a:r>
                    </a:p>
                  </a:txBody>
                  <a:tcPr marL="54864" marR="54864" marT="27432" marB="27432" anchor="ctr">
                    <a:solidFill>
                      <a:srgbClr val="F2F2F2"/>
                    </a:solidFill>
                  </a:tcPr>
                </a:tc>
                <a:tc>
                  <a:txBody>
                    <a:bodyPr wrap="square"/>
                    <a:lstStyle/>
                    <a:p>
                      <a:pPr algn="l"/>
                      <a:r>
                        <a:rPr sz="1000" b="0" i="0">
                          <a:solidFill>
                            <a:srgbClr val="404040"/>
                          </a:solidFill>
                          <a:latin typeface="Arial"/>
                        </a:rPr>
                        <a:t>One value repeats across two series</a:t>
                      </a:r>
                    </a:p>
                  </a:txBody>
                  <a:tcPr marL="54864" marR="54864" marT="27432" marB="27432" anchor="ctr">
                    <a:solidFill>
                      <a:srgbClr val="F2F2F2"/>
                    </a:solidFill>
                  </a:tcPr>
                </a:tc>
                <a:tc>
                  <a:txBody>
                    <a:bodyPr wrap="square"/>
                    <a:lstStyle/>
                    <a:p>
                      <a:pPr algn="l"/>
                      <a:r>
                        <a:rPr sz="1000" b="0" i="0">
                          <a:solidFill>
                            <a:srgbClr val="7F7F7F"/>
                          </a:solidFill>
                          <a:latin typeface="Arial"/>
                        </a:rPr>
                        <a:t>Diagnostic p37</a:t>
                      </a:r>
                    </a:p>
                  </a:txBody>
                  <a:tcPr marL="54864" marR="54864" marT="27432" marB="27432" anchor="ctr">
                    <a:solidFill>
                      <a:srgbClr val="F2F2F2"/>
                    </a:solidFill>
                  </a:tcPr>
                </a:tc>
              </a:tr>
              <a:tr h="438912">
                <a:tc>
                  <a:txBody>
                    <a:bodyPr wrap="square"/>
                    <a:lstStyle/>
                    <a:p>
                      <a:pPr algn="l"/>
                      <a:r>
                        <a:rPr sz="1000" b="1" i="0">
                          <a:solidFill>
                            <a:srgbClr val="1F497D"/>
                          </a:solidFill>
                          <a:latin typeface="Arial"/>
                        </a:rPr>
                        <a:t>Inbound spend table</a:t>
                      </a:r>
                    </a:p>
                  </a:txBody>
                  <a:tcPr marL="54864" marR="54864" marT="27432" marB="27432" anchor="ctr">
                    <a:solidFill>
                      <a:srgbClr val="FFFFFF"/>
                    </a:solidFill>
                  </a:tcPr>
                </a:tc>
                <a:tc>
                  <a:txBody>
                    <a:bodyPr wrap="square"/>
                    <a:lstStyle/>
                    <a:p>
                      <a:pPr algn="l"/>
                      <a:r>
                        <a:rPr sz="1000" b="0" i="0">
                          <a:solidFill>
                            <a:srgbClr val="404040"/>
                          </a:solidFill>
                          <a:latin typeface="Arial"/>
                        </a:rPr>
                        <a:t>Outbound spend likely US$bn printed as US$m</a:t>
                      </a:r>
                    </a:p>
                  </a:txBody>
                  <a:tcPr marL="54864" marR="54864" marT="27432" marB="27432" anchor="ctr">
                    <a:solidFill>
                      <a:srgbClr val="FFFFFF"/>
                    </a:solidFill>
                  </a:tcPr>
                </a:tc>
                <a:tc>
                  <a:txBody>
                    <a:bodyPr wrap="square"/>
                    <a:lstStyle/>
                    <a:p>
                      <a:pPr algn="l"/>
                      <a:r>
                        <a:rPr sz="1000" b="0" i="0">
                          <a:solidFill>
                            <a:srgbClr val="7F7F7F"/>
                          </a:solidFill>
                          <a:latin typeface="Arial"/>
                        </a:rPr>
                        <a:t>DSE factbase T7</a:t>
                      </a:r>
                    </a:p>
                  </a:txBody>
                  <a:tcPr marL="54864" marR="54864" marT="27432" marB="27432" anchor="ctr">
                    <a:solidFill>
                      <a:srgbClr val="FFFFFF"/>
                    </a:solidFill>
                  </a:tcPr>
                </a:tc>
              </a:tr>
              <a:tr h="438912">
                <a:tc>
                  <a:txBody>
                    <a:bodyPr wrap="square"/>
                    <a:lstStyle/>
                    <a:p>
                      <a:pPr algn="l"/>
                      <a:r>
                        <a:rPr sz="1000" b="1" i="0">
                          <a:solidFill>
                            <a:srgbClr val="1F497D"/>
                          </a:solidFill>
                          <a:latin typeface="Arial"/>
                        </a:rPr>
                        <a:t>Infrastructure Report</a:t>
                      </a:r>
                    </a:p>
                  </a:txBody>
                  <a:tcPr marL="54864" marR="54864" marT="27432" marB="27432" anchor="ctr">
                    <a:solidFill>
                      <a:srgbClr val="F2F2F2"/>
                    </a:solidFill>
                  </a:tcPr>
                </a:tc>
                <a:tc>
                  <a:txBody>
                    <a:bodyPr wrap="square"/>
                    <a:lstStyle/>
                    <a:p>
                      <a:pPr algn="l"/>
                      <a:r>
                        <a:rPr sz="1000" b="0" i="0">
                          <a:solidFill>
                            <a:srgbClr val="404040"/>
                          </a:solidFill>
                          <a:latin typeface="Arial"/>
                        </a:rPr>
                        <a:t>Placeholder text ("xx", workshop copy) and one district deep dive only</a:t>
                      </a:r>
                    </a:p>
                  </a:txBody>
                  <a:tcPr marL="54864" marR="54864" marT="27432" marB="27432" anchor="ctr">
                    <a:solidFill>
                      <a:srgbClr val="F2F2F2"/>
                    </a:solidFill>
                  </a:tcPr>
                </a:tc>
                <a:tc>
                  <a:txBody>
                    <a:bodyPr wrap="square"/>
                    <a:lstStyle/>
                    <a:p>
                      <a:pPr algn="l"/>
                      <a:r>
                        <a:rPr sz="1000" b="0" i="0">
                          <a:solidFill>
                            <a:srgbClr val="7F7F7F"/>
                          </a:solidFill>
                          <a:latin typeface="Arial"/>
                        </a:rPr>
                        <a:t>Infrastructure Report (method slides)</a:t>
                      </a:r>
                    </a:p>
                  </a:txBody>
                  <a:tcPr marL="54864" marR="54864" marT="27432" marB="27432" anchor="ctr">
                    <a:solidFill>
                      <a:srgbClr val="F2F2F2"/>
                    </a:solidFill>
                  </a:tcPr>
                </a:tc>
              </a:tr>
              <a:tr h="438912">
                <a:tc>
                  <a:txBody>
                    <a:bodyPr wrap="square"/>
                    <a:lstStyle/>
                    <a:p>
                      <a:pPr algn="l"/>
                      <a:r>
                        <a:rPr sz="1000" b="1" i="0">
                          <a:solidFill>
                            <a:srgbClr val="1F497D"/>
                          </a:solidFill>
                          <a:latin typeface="Arial"/>
                        </a:rPr>
                        <a:t>Stakeholder report</a:t>
                      </a:r>
                    </a:p>
                  </a:txBody>
                  <a:tcPr marL="54864" marR="54864" marT="27432" marB="27432" anchor="ctr">
                    <a:solidFill>
                      <a:srgbClr val="FFFFFF"/>
                    </a:solidFill>
                  </a:tcPr>
                </a:tc>
                <a:tc>
                  <a:txBody>
                    <a:bodyPr wrap="square"/>
                    <a:lstStyle/>
                    <a:p>
                      <a:pPr algn="l"/>
                      <a:r>
                        <a:rPr sz="1000" b="0" i="0">
                          <a:solidFill>
                            <a:srgbClr val="404040"/>
                          </a:solidFill>
                          <a:latin typeface="Arial"/>
                        </a:rPr>
                        <a:t>Titled "Unlocking", not "Doubling"; no reference to the 2.8m goal</a:t>
                      </a:r>
                    </a:p>
                  </a:txBody>
                  <a:tcPr marL="54864" marR="54864" marT="27432" marB="27432" anchor="ctr">
                    <a:solidFill>
                      <a:srgbClr val="FFFFFF"/>
                    </a:solidFill>
                  </a:tcPr>
                </a:tc>
                <a:tc>
                  <a:txBody>
                    <a:bodyPr wrap="square"/>
                    <a:lstStyle/>
                    <a:p>
                      <a:pPr algn="l"/>
                      <a:r>
                        <a:rPr sz="1000" b="0" i="0">
                          <a:solidFill>
                            <a:srgbClr val="7F7F7F"/>
                          </a:solidFill>
                          <a:latin typeface="Arial"/>
                        </a:rPr>
                        <a:t>Stakeholder Insights</a:t>
                      </a:r>
                    </a:p>
                  </a:txBody>
                  <a:tcPr marL="54864" marR="54864" marT="27432" marB="27432"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nd_bg.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411480" y="2011680"/>
            <a:ext cx="5486400" cy="1280160"/>
          </a:xfrm>
          <a:prstGeom prst="rect">
            <a:avLst/>
          </a:prstGeom>
          <a:noFill/>
        </p:spPr>
        <p:txBody>
          <a:bodyPr wrap="square" anchor="t" lIns="0" rIns="0" tIns="0" bIns="0">
            <a:spAutoFit/>
          </a:bodyPr>
          <a:lstStyle/>
          <a:p>
            <a:pPr algn="l">
              <a:spcAft>
                <a:spcPts val="0"/>
              </a:spcAft>
            </a:pPr>
            <a:r>
              <a:rPr sz="8000" b="0" i="0">
                <a:solidFill>
                  <a:srgbClr val="FFFFFF"/>
                </a:solidFill>
                <a:latin typeface="Arial"/>
              </a:rPr>
              <a:t>END</a:t>
            </a:r>
          </a:p>
        </p:txBody>
      </p:sp>
      <p:sp>
        <p:nvSpPr>
          <p:cNvPr id="4" name="TextBox 3"/>
          <p:cNvSpPr txBox="1"/>
          <p:nvPr/>
        </p:nvSpPr>
        <p:spPr>
          <a:xfrm>
            <a:off x="457200" y="3246120"/>
            <a:ext cx="5486400" cy="548640"/>
          </a:xfrm>
          <a:prstGeom prst="rect">
            <a:avLst/>
          </a:prstGeom>
          <a:noFill/>
        </p:spPr>
        <p:txBody>
          <a:bodyPr wrap="square" anchor="t" lIns="0" rIns="0" tIns="0" bIns="0">
            <a:spAutoFit/>
          </a:bodyPr>
          <a:lstStyle/>
          <a:p>
            <a:pPr algn="l">
              <a:spcAft>
                <a:spcPts val="0"/>
              </a:spcAft>
            </a:pPr>
            <a:r>
              <a:rPr sz="2600" b="0" i="0">
                <a:solidFill>
                  <a:srgbClr val="FFFFFF"/>
                </a:solidFill>
                <a:latin typeface="Arial"/>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